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3"/>
  </p:notesMasterIdLst>
  <p:sldIdLst>
    <p:sldId id="256" r:id="rId2"/>
    <p:sldId id="710" r:id="rId3"/>
    <p:sldId id="544" r:id="rId4"/>
    <p:sldId id="545" r:id="rId5"/>
    <p:sldId id="546" r:id="rId6"/>
    <p:sldId id="547" r:id="rId7"/>
    <p:sldId id="548" r:id="rId8"/>
    <p:sldId id="555" r:id="rId9"/>
    <p:sldId id="557" r:id="rId10"/>
    <p:sldId id="558" r:id="rId11"/>
    <p:sldId id="560" r:id="rId12"/>
    <p:sldId id="562" r:id="rId13"/>
    <p:sldId id="565" r:id="rId14"/>
    <p:sldId id="566" r:id="rId15"/>
    <p:sldId id="693" r:id="rId16"/>
    <p:sldId id="852" r:id="rId17"/>
    <p:sldId id="853" r:id="rId18"/>
    <p:sldId id="569" r:id="rId19"/>
    <p:sldId id="570" r:id="rId20"/>
    <p:sldId id="714" r:id="rId21"/>
    <p:sldId id="715" r:id="rId22"/>
    <p:sldId id="716" r:id="rId23"/>
    <p:sldId id="717" r:id="rId24"/>
    <p:sldId id="574" r:id="rId25"/>
    <p:sldId id="576" r:id="rId26"/>
    <p:sldId id="578" r:id="rId27"/>
    <p:sldId id="580" r:id="rId28"/>
    <p:sldId id="583" r:id="rId29"/>
    <p:sldId id="585" r:id="rId30"/>
    <p:sldId id="586" r:id="rId31"/>
    <p:sldId id="856" r:id="rId32"/>
    <p:sldId id="718" r:id="rId33"/>
    <p:sldId id="593" r:id="rId34"/>
    <p:sldId id="695" r:id="rId35"/>
    <p:sldId id="596" r:id="rId36"/>
    <p:sldId id="600" r:id="rId37"/>
    <p:sldId id="601" r:id="rId38"/>
    <p:sldId id="602" r:id="rId39"/>
    <p:sldId id="603" r:id="rId40"/>
    <p:sldId id="604" r:id="rId41"/>
    <p:sldId id="813" r:id="rId42"/>
    <p:sldId id="821" r:id="rId43"/>
    <p:sldId id="727" r:id="rId44"/>
    <p:sldId id="728" r:id="rId45"/>
    <p:sldId id="829" r:id="rId46"/>
    <p:sldId id="857" r:id="rId47"/>
    <p:sldId id="735" r:id="rId48"/>
    <p:sldId id="736" r:id="rId49"/>
    <p:sldId id="737" r:id="rId50"/>
    <p:sldId id="738" r:id="rId51"/>
    <p:sldId id="850" r:id="rId52"/>
    <p:sldId id="846" r:id="rId53"/>
    <p:sldId id="740" r:id="rId54"/>
    <p:sldId id="741" r:id="rId55"/>
    <p:sldId id="742" r:id="rId56"/>
    <p:sldId id="750" r:id="rId57"/>
    <p:sldId id="749" r:id="rId58"/>
    <p:sldId id="746" r:id="rId59"/>
    <p:sldId id="751" r:id="rId60"/>
    <p:sldId id="752" r:id="rId61"/>
    <p:sldId id="753" r:id="rId62"/>
    <p:sldId id="748" r:id="rId63"/>
    <p:sldId id="754" r:id="rId64"/>
    <p:sldId id="815" r:id="rId65"/>
    <p:sldId id="814" r:id="rId66"/>
    <p:sldId id="789" r:id="rId67"/>
    <p:sldId id="755" r:id="rId68"/>
    <p:sldId id="756" r:id="rId69"/>
    <p:sldId id="757" r:id="rId70"/>
    <p:sldId id="758" r:id="rId71"/>
    <p:sldId id="827" r:id="rId72"/>
    <p:sldId id="826" r:id="rId73"/>
    <p:sldId id="759" r:id="rId74"/>
    <p:sldId id="760" r:id="rId75"/>
    <p:sldId id="786" r:id="rId76"/>
    <p:sldId id="787" r:id="rId77"/>
    <p:sldId id="788" r:id="rId78"/>
    <p:sldId id="790" r:id="rId79"/>
    <p:sldId id="791" r:id="rId80"/>
    <p:sldId id="797" r:id="rId81"/>
    <p:sldId id="798" r:id="rId8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刘 智杰" initials="刘" lastIdx="2" clrIdx="0"/>
  <p:cmAuthor id="2" name="Junmin JIANG" initials="JJ" lastIdx="1" clrIdx="1">
    <p:extLst>
      <p:ext uri="{19B8F6BF-5375-455C-9EA6-DF929625EA0E}">
        <p15:presenceInfo xmlns:p15="http://schemas.microsoft.com/office/powerpoint/2012/main" userId="S::jjiangah@connect.ust.hk::1537f55d-b781-4991-adb8-010fea1ed53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844" autoAdjust="0"/>
    <p:restoredTop sz="94660"/>
  </p:normalViewPr>
  <p:slideViewPr>
    <p:cSldViewPr snapToGrid="0">
      <p:cViewPr varScale="1">
        <p:scale>
          <a:sx n="88" d="100"/>
          <a:sy n="88" d="100"/>
        </p:scale>
        <p:origin x="96" y="1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commentAuthors" Target="commentAuthor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1-10-18T16:01:19.508" idx="1">
    <p:pos x="10" y="10"/>
    <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628296-B209-4162-AF4A-E323FDC1A48F}" type="datetimeFigureOut">
              <a:rPr lang="zh-CN" altLang="en-US" smtClean="0"/>
              <a:t>2025/11/12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6006A0-4049-417E-9E0D-DFA905CF9D1E}" type="slidenum">
              <a:rPr lang="zh-CN" altLang="en-US" smtClean="0"/>
              <a:t>‹#›</a:t>
            </a:fld>
            <a:endParaRPr lang="zh-CN" altLang="en-US"/>
          </a:p>
        </p:txBody>
      </p:sp>
    </p:spTree>
    <p:extLst>
      <p:ext uri="{BB962C8B-B14F-4D97-AF65-F5344CB8AC3E}">
        <p14:creationId xmlns:p14="http://schemas.microsoft.com/office/powerpoint/2010/main" val="3371934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a:extLst>
              <a:ext uri="{FF2B5EF4-FFF2-40B4-BE49-F238E27FC236}">
                <a16:creationId xmlns:a16="http://schemas.microsoft.com/office/drawing/2014/main" id="{BF3CE25B-7BF5-4DC0-9B3D-368E8FCC39C6}"/>
              </a:ext>
            </a:extLst>
          </p:cNvPr>
          <p:cNvSpPr>
            <a:spLocks noGrp="1" noRot="1" noChangeAspect="1" noChangeArrowheads="1" noTextEdit="1"/>
          </p:cNvSpPr>
          <p:nvPr>
            <p:ph type="sldImg"/>
          </p:nvPr>
        </p:nvSpPr>
        <p:spPr>
          <a:ln/>
        </p:spPr>
      </p:sp>
      <p:sp>
        <p:nvSpPr>
          <p:cNvPr id="24579" name="备注占位符 2">
            <a:extLst>
              <a:ext uri="{FF2B5EF4-FFF2-40B4-BE49-F238E27FC236}">
                <a16:creationId xmlns:a16="http://schemas.microsoft.com/office/drawing/2014/main" id="{46D481B3-5DA4-4C6F-9907-D9B4A4255450}"/>
              </a:ext>
            </a:extLst>
          </p:cNvPr>
          <p:cNvSpPr>
            <a:spLocks noGrp="1" noChangeArrowheads="1"/>
          </p:cNvSpPr>
          <p:nvPr>
            <p:ph type="body" idx="1"/>
          </p:nvPr>
        </p:nvSpPr>
        <p:spPr>
          <a:noFill/>
        </p:spPr>
        <p:txBody>
          <a:bodyPr/>
          <a:lstStyle/>
          <a:p>
            <a:pPr eaLnBrk="1" hangingPunct="1"/>
            <a:endParaRPr lang="zh-CN" altLang="en-US">
              <a:latin typeface="Arial" panose="020B0604020202020204" pitchFamily="34" charset="0"/>
            </a:endParaRPr>
          </a:p>
        </p:txBody>
      </p:sp>
      <p:sp>
        <p:nvSpPr>
          <p:cNvPr id="24580" name="灯片编号占位符 3">
            <a:extLst>
              <a:ext uri="{FF2B5EF4-FFF2-40B4-BE49-F238E27FC236}">
                <a16:creationId xmlns:a16="http://schemas.microsoft.com/office/drawing/2014/main" id="{F2E04F3A-8447-4DD2-A9D9-F56AFC45F643}"/>
              </a:ext>
            </a:extLst>
          </p:cNvPr>
          <p:cNvSpPr>
            <a:spLocks noGrp="1"/>
          </p:cNvSpPr>
          <p:nvPr>
            <p:ph type="sldNum" sz="quarter" idx="5"/>
          </p:nvPr>
        </p:nvSpPr>
        <p:spPr>
          <a:noFill/>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r"/>
            <a:fld id="{083E1DC8-30FD-4C95-9846-D6A113307A9D}" type="slidenum">
              <a:rPr lang="en-US" altLang="zh-CN">
                <a:latin typeface="Arial" panose="020B0604020202020204" pitchFamily="34" charset="0"/>
              </a:rPr>
              <a:pPr algn="r"/>
              <a:t>5</a:t>
            </a:fld>
            <a:endParaRPr lang="en-US" altLang="zh-CN">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a:extLst>
              <a:ext uri="{FF2B5EF4-FFF2-40B4-BE49-F238E27FC236}">
                <a16:creationId xmlns:a16="http://schemas.microsoft.com/office/drawing/2014/main" id="{3B4D3AF0-6474-491F-BA13-8B520AD26E6C}"/>
              </a:ext>
            </a:extLst>
          </p:cNvPr>
          <p:cNvSpPr>
            <a:spLocks noGrp="1" noRot="1" noChangeAspect="1" noChangeArrowheads="1" noTextEdit="1"/>
          </p:cNvSpPr>
          <p:nvPr>
            <p:ph type="sldImg"/>
          </p:nvPr>
        </p:nvSpPr>
        <p:spPr>
          <a:ln/>
        </p:spPr>
      </p:sp>
      <p:sp>
        <p:nvSpPr>
          <p:cNvPr id="33795" name="备注占位符 2">
            <a:extLst>
              <a:ext uri="{FF2B5EF4-FFF2-40B4-BE49-F238E27FC236}">
                <a16:creationId xmlns:a16="http://schemas.microsoft.com/office/drawing/2014/main" id="{47A8FC9E-1A61-4025-B2D6-B4E79E83366B}"/>
              </a:ext>
            </a:extLst>
          </p:cNvPr>
          <p:cNvSpPr>
            <a:spLocks noGrp="1" noChangeArrowheads="1"/>
          </p:cNvSpPr>
          <p:nvPr>
            <p:ph type="body" idx="1"/>
          </p:nvPr>
        </p:nvSpPr>
        <p:spPr>
          <a:noFill/>
        </p:spPr>
        <p:txBody>
          <a:bodyPr/>
          <a:lstStyle/>
          <a:p>
            <a:pPr eaLnBrk="1" hangingPunct="1"/>
            <a:endParaRPr lang="zh-CN" altLang="en-US">
              <a:latin typeface="Arial" panose="020B0604020202020204" pitchFamily="34" charset="0"/>
            </a:endParaRPr>
          </a:p>
        </p:txBody>
      </p:sp>
      <p:sp>
        <p:nvSpPr>
          <p:cNvPr id="33796" name="灯片编号占位符 3">
            <a:extLst>
              <a:ext uri="{FF2B5EF4-FFF2-40B4-BE49-F238E27FC236}">
                <a16:creationId xmlns:a16="http://schemas.microsoft.com/office/drawing/2014/main" id="{F25B9CFB-F37A-43E1-99A4-1F6284856620}"/>
              </a:ext>
            </a:extLst>
          </p:cNvPr>
          <p:cNvSpPr>
            <a:spLocks noGrp="1"/>
          </p:cNvSpPr>
          <p:nvPr>
            <p:ph type="sldNum" sz="quarter" idx="5"/>
          </p:nvPr>
        </p:nvSpPr>
        <p:spPr>
          <a:noFill/>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r"/>
            <a:fld id="{0950B53B-457D-493B-8912-FA63EC65D1FC}" type="slidenum">
              <a:rPr lang="en-US" altLang="zh-CN">
                <a:latin typeface="Arial" panose="020B0604020202020204" pitchFamily="34" charset="0"/>
              </a:rPr>
              <a:pPr algn="r"/>
              <a:t>13</a:t>
            </a:fld>
            <a:endParaRPr lang="en-US"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a:extLst>
              <a:ext uri="{FF2B5EF4-FFF2-40B4-BE49-F238E27FC236}">
                <a16:creationId xmlns:a16="http://schemas.microsoft.com/office/drawing/2014/main" id="{FB23C35C-DA6C-4A5C-BFA7-85BCA89C4E1D}"/>
              </a:ext>
            </a:extLst>
          </p:cNvPr>
          <p:cNvSpPr>
            <a:spLocks noGrp="1" noRot="1" noChangeAspect="1" noChangeArrowheads="1" noTextEdit="1"/>
          </p:cNvSpPr>
          <p:nvPr>
            <p:ph type="sldImg"/>
          </p:nvPr>
        </p:nvSpPr>
        <p:spPr>
          <a:ln/>
        </p:spPr>
      </p:sp>
      <p:sp>
        <p:nvSpPr>
          <p:cNvPr id="76803" name="备注占位符 2">
            <a:extLst>
              <a:ext uri="{FF2B5EF4-FFF2-40B4-BE49-F238E27FC236}">
                <a16:creationId xmlns:a16="http://schemas.microsoft.com/office/drawing/2014/main" id="{53E42F95-C6F3-4AB7-B3DF-FDBCF131D745}"/>
              </a:ext>
            </a:extLst>
          </p:cNvPr>
          <p:cNvSpPr>
            <a:spLocks noGrp="1" noChangeArrowheads="1"/>
          </p:cNvSpPr>
          <p:nvPr>
            <p:ph type="body" idx="1"/>
          </p:nvPr>
        </p:nvSpPr>
        <p:spPr>
          <a:noFill/>
        </p:spPr>
        <p:txBody>
          <a:bodyPr/>
          <a:lstStyle/>
          <a:p>
            <a:pPr eaLnBrk="1" hangingPunct="1"/>
            <a:endParaRPr lang="zh-CN" altLang="en-US">
              <a:latin typeface="Arial" panose="020B0604020202020204" pitchFamily="34" charset="0"/>
            </a:endParaRPr>
          </a:p>
        </p:txBody>
      </p:sp>
      <p:sp>
        <p:nvSpPr>
          <p:cNvPr id="76804" name="灯片编号占位符 3">
            <a:extLst>
              <a:ext uri="{FF2B5EF4-FFF2-40B4-BE49-F238E27FC236}">
                <a16:creationId xmlns:a16="http://schemas.microsoft.com/office/drawing/2014/main" id="{4B6214B3-55E4-4385-AA57-ECDC5EE9D6FE}"/>
              </a:ext>
            </a:extLst>
          </p:cNvPr>
          <p:cNvSpPr>
            <a:spLocks noGrp="1"/>
          </p:cNvSpPr>
          <p:nvPr>
            <p:ph type="sldNum" sz="quarter" idx="5"/>
          </p:nvPr>
        </p:nvSpPr>
        <p:spPr>
          <a:noFill/>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r"/>
            <a:fld id="{178EAB0A-B13A-41D1-95F1-5865BA4AEAC6}" type="slidenum">
              <a:rPr lang="en-US" altLang="zh-CN">
                <a:latin typeface="Arial" panose="020B0604020202020204" pitchFamily="34" charset="0"/>
              </a:rPr>
              <a:pPr algn="r"/>
              <a:t>40</a:t>
            </a:fld>
            <a:endParaRPr lang="en-US"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FD77952-CADB-400A-9928-F9827483D8DA}"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6178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5ABDAF6-56B4-4794-8CF8-DD66C9AB8E69}"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16656890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E13FFEB9-1CFA-4E60-8FF7-9FD2173A9390}"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213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840145"/>
          </a:xfrm>
        </p:spPr>
        <p:txBody>
          <a:bodyPr/>
          <a:lstStyle/>
          <a:p>
            <a:r>
              <a:rPr lang="zh-CN" altLang="en-US" dirty="0"/>
              <a:t>单击此处编辑母版标题样式</a:t>
            </a:r>
            <a:endParaRPr lang="en-US" dirty="0"/>
          </a:p>
        </p:txBody>
      </p:sp>
      <p:sp>
        <p:nvSpPr>
          <p:cNvPr id="3" name="Content Placeholder 2"/>
          <p:cNvSpPr>
            <a:spLocks noGrp="1"/>
          </p:cNvSpPr>
          <p:nvPr>
            <p:ph sz="half" idx="1"/>
          </p:nvPr>
        </p:nvSpPr>
        <p:spPr>
          <a:xfrm>
            <a:off x="822960" y="1347765"/>
            <a:ext cx="3703320" cy="4521329"/>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4" name="Content Placeholder 3"/>
          <p:cNvSpPr>
            <a:spLocks noGrp="1"/>
          </p:cNvSpPr>
          <p:nvPr>
            <p:ph sz="half" idx="2"/>
          </p:nvPr>
        </p:nvSpPr>
        <p:spPr>
          <a:xfrm>
            <a:off x="4663440" y="1347766"/>
            <a:ext cx="3703320" cy="4521330"/>
          </a:xfrm>
        </p:spPr>
        <p:txBody>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Date Placeholder 4"/>
          <p:cNvSpPr>
            <a:spLocks noGrp="1"/>
          </p:cNvSpPr>
          <p:nvPr>
            <p:ph type="dt" sz="half" idx="10"/>
          </p:nvPr>
        </p:nvSpPr>
        <p:spPr/>
        <p:txBody>
          <a:bodyPr/>
          <a:lstStyle/>
          <a:p>
            <a:fld id="{0F2F439F-7751-44F1-A8CE-7E4EA6BB2625}" type="datetime1">
              <a:rPr lang="zh-CN" altLang="en-US" smtClean="0"/>
              <a:t>2025/11/12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3699233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22960" y="2582334"/>
            <a:ext cx="3703320" cy="32867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63440" y="2582334"/>
            <a:ext cx="3703320" cy="328676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069529C0-BCF4-44DB-A99B-13F848A50487}" type="datetime1">
              <a:rPr lang="zh-CN" altLang="en-US" smtClean="0"/>
              <a:t>2025/11/12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3025325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AD13A05-0D10-4638-B86A-3FD0E1B9760A}" type="datetime1">
              <a:rPr lang="zh-CN" altLang="en-US" smtClean="0"/>
              <a:t>2025/11/12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841623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ECDC55C-47C7-41E6-B492-10E96568D379}" type="datetime1">
              <a:rPr lang="zh-CN" altLang="en-US" smtClean="0"/>
              <a:t>2025/11/12</a:t>
            </a:fld>
            <a:endParaRPr lang="zh-CN"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CN" altLang="en-US"/>
          </a:p>
        </p:txBody>
      </p:sp>
      <p:sp>
        <p:nvSpPr>
          <p:cNvPr id="9" name="Slide Number Placeholder 8"/>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4202934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F9370E98-F0DF-49FD-85C0-B8F7F055A0C5}" type="datetime1">
              <a:rPr lang="zh-CN" altLang="en-US" smtClean="0"/>
              <a:t>2025/11/12</a:t>
            </a:fld>
            <a:endParaRPr lang="zh-CN" alt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zh-CN"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3943547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BB4FD6D2-15D5-484C-BEC2-C6A95BB17B87}" type="datetime1">
              <a:rPr lang="zh-CN" altLang="en-US" smtClean="0"/>
              <a:t>2025/11/12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2341269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D37FCED4-9B9A-4BA6-B24F-B6535FA2EC88}"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404264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087F0CB0-9538-4E24-8B07-455D95F14660}" type="datetime1">
              <a:rPr lang="zh-CN" altLang="en-US" smtClean="0"/>
              <a:t>2025/11/12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2E77DEE-32E4-4009-988B-F2758F7B8AC2}" type="slidenum">
              <a:rPr lang="zh-CN" altLang="en-US" smtClean="0"/>
              <a:t>‹#›</a:t>
            </a:fld>
            <a:endParaRPr lang="zh-CN" altLang="en-US"/>
          </a:p>
        </p:txBody>
      </p:sp>
    </p:spTree>
    <p:extLst>
      <p:ext uri="{BB962C8B-B14F-4D97-AF65-F5344CB8AC3E}">
        <p14:creationId xmlns:p14="http://schemas.microsoft.com/office/powerpoint/2010/main" val="2512834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CN" altLang="en-US"/>
          </a:p>
        </p:txBody>
      </p:sp>
      <p:sp>
        <p:nvSpPr>
          <p:cNvPr id="2" name="Title Placeholder 1"/>
          <p:cNvSpPr>
            <a:spLocks noGrp="1"/>
          </p:cNvSpPr>
          <p:nvPr>
            <p:ph type="title"/>
          </p:nvPr>
        </p:nvSpPr>
        <p:spPr>
          <a:xfrm>
            <a:off x="822960" y="286605"/>
            <a:ext cx="7543800" cy="831478"/>
          </a:xfrm>
          <a:prstGeom prst="rect">
            <a:avLst/>
          </a:prstGeom>
        </p:spPr>
        <p:txBody>
          <a:bodyPr vert="horz" lIns="91440" tIns="45720" rIns="91440" bIns="45720" rtlCol="0" anchor="b">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22959" y="1230759"/>
            <a:ext cx="7543801" cy="4638335"/>
          </a:xfrm>
          <a:prstGeom prst="rect">
            <a:avLst/>
          </a:prstGeom>
        </p:spPr>
        <p:txBody>
          <a:bodyPr vert="horz" lIns="0" tIns="45720" rIns="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C7A62038-9DF7-4F97-B33D-D4E05CFD4025}" type="datetime1">
              <a:rPr lang="zh-CN" altLang="en-US" smtClean="0"/>
              <a:t>2025/11/12</a:t>
            </a:fld>
            <a:endParaRPr lang="zh-CN" alt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22E77DEE-32E4-4009-988B-F2758F7B8AC2}" type="slidenum">
              <a:rPr lang="zh-CN" altLang="en-US" smtClean="0"/>
              <a:t>‹#›</a:t>
            </a:fld>
            <a:endParaRPr lang="zh-CN" altLang="en-US"/>
          </a:p>
        </p:txBody>
      </p:sp>
      <p:cxnSp>
        <p:nvCxnSpPr>
          <p:cNvPr id="10" name="Straight Connector 9"/>
          <p:cNvCxnSpPr/>
          <p:nvPr/>
        </p:nvCxnSpPr>
        <p:spPr>
          <a:xfrm>
            <a:off x="834478" y="1126802"/>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16158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slide" Target="slide3.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slide" Target="slide4.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 Target="slide4.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 Target="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emf"/><Relationship Id="rId5" Type="http://schemas.openxmlformats.org/officeDocument/2006/relationships/oleObject" Target="../embeddings/oleObject2.bin"/><Relationship Id="rId4" Type="http://schemas.openxmlformats.org/officeDocument/2006/relationships/slide" Target="slide4.xml"/></Relationships>
</file>

<file path=ppt/slides/_rels/slide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slide" Target="slide4.xml"/><Relationship Id="rId4" Type="http://schemas.openxmlformats.org/officeDocument/2006/relationships/slide" Target="slide13.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8.emf"/></Relationships>
</file>

<file path=ppt/slides/_rels/slide1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 Target="slide4.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2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 Target="slide4.xml"/><Relationship Id="rId7" Type="http://schemas.openxmlformats.org/officeDocument/2006/relationships/slide" Target="slide12.xml"/><Relationship Id="rId2" Type="http://schemas.openxmlformats.org/officeDocument/2006/relationships/slide" Target="slide2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slide" Target="slide30.xml"/></Relationships>
</file>

<file path=ppt/slides/_rels/slide29.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 Target="slide21.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 Target="slide2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 Target="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 Target="slide4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 Target="slide4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 Target="slide4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slide" Target="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slide" Target="slide21.xml"/></Relationships>
</file>

<file path=ppt/slides/_rels/slide41.xml.rels><?xml version="1.0" encoding="UTF-8" standalone="yes"?>
<Relationships xmlns="http://schemas.openxmlformats.org/package/2006/relationships"><Relationship Id="rId3" Type="http://schemas.openxmlformats.org/officeDocument/2006/relationships/image" Target="../media/image15.wmf"/><Relationship Id="rId7" Type="http://schemas.openxmlformats.org/officeDocument/2006/relationships/slide" Target="slide39.xml"/><Relationship Id="rId2" Type="http://schemas.openxmlformats.org/officeDocument/2006/relationships/oleObject" Target="../embeddings/oleObject8.bin"/><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slide" Target="slide33.xml"/></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9.bin"/><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4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0.bin"/><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4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 Target="slide44.xml"/><Relationship Id="rId2" Type="http://schemas.openxmlformats.org/officeDocument/2006/relationships/slide" Target="slide5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 Target="slide5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1.bin"/><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slide" Target="slide50.xml"/></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 Target="slide5.xml"/><Relationship Id="rId1" Type="http://schemas.openxmlformats.org/officeDocument/2006/relationships/slideLayout" Target="../slideLayouts/slideLayout2.xml"/><Relationship Id="rId5" Type="http://schemas.openxmlformats.org/officeDocument/2006/relationships/slide" Target="slide50.xml"/><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 Target="slide62.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 Target="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3.wmf"/></Relationships>
</file>

<file path=ppt/slides/_rels/slide55.xml.rels><?xml version="1.0" encoding="UTF-8" standalone="yes"?>
<Relationships xmlns="http://schemas.openxmlformats.org/package/2006/relationships"><Relationship Id="rId3" Type="http://schemas.openxmlformats.org/officeDocument/2006/relationships/slide" Target="slide43.xml"/><Relationship Id="rId2" Type="http://schemas.openxmlformats.org/officeDocument/2006/relationships/slide" Target="slide5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5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5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slide" Target="slide5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4.png"/><Relationship Id="rId4" Type="http://schemas.openxmlformats.org/officeDocument/2006/relationships/image" Target="../media/image3.jpeg"/></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31.png"/><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slide" Target="slide65.xml"/><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oleObject" Target="../embeddings/oleObject14.bin"/><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slide" Target="slide61.xml"/><Relationship Id="rId5" Type="http://schemas.openxmlformats.org/officeDocument/2006/relationships/slide" Target="slide63.xml"/><Relationship Id="rId4" Type="http://schemas.openxmlformats.org/officeDocument/2006/relationships/image" Target="../media/image34.png"/></Relationships>
</file>

<file path=ppt/slides/_rels/slide6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8.png"/></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 Target="slide71.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39.png"/><Relationship Id="rId4" Type="http://schemas.openxmlformats.org/officeDocument/2006/relationships/image" Target="../media/image38.emf"/></Relationships>
</file>

<file path=ppt/slides/_rels/slide7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41.png"/><Relationship Id="rId7" Type="http://schemas.openxmlformats.org/officeDocument/2006/relationships/image" Target="../media/image3.jpe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slide" Target="slide57.xml"/></Relationships>
</file>

<file path=ppt/slides/_rels/slide7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7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slide" Target="slide78.xml"/><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28.png"/><Relationship Id="rId4" Type="http://schemas.openxmlformats.org/officeDocument/2006/relationships/slide" Target="slide58.xml"/></Relationships>
</file>

<file path=ppt/slides/_rels/slide75.xml.rels><?xml version="1.0" encoding="UTF-8" standalone="yes"?>
<Relationships xmlns="http://schemas.openxmlformats.org/package/2006/relationships"><Relationship Id="rId3" Type="http://schemas.openxmlformats.org/officeDocument/2006/relationships/slide" Target="slide49.xml"/><Relationship Id="rId2" Type="http://schemas.openxmlformats.org/officeDocument/2006/relationships/slide" Target="slide46.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png"/><Relationship Id="rId4" Type="http://schemas.openxmlformats.org/officeDocument/2006/relationships/image" Target="../media/image3.jpeg"/></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comments" Target="../comments/comment1.xml"/><Relationship Id="rId4" Type="http://schemas.openxmlformats.org/officeDocument/2006/relationships/slide" Target="slide76.xml"/></Relationships>
</file>

<file path=ppt/slides/_rels/slide7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slide" Target="slide7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eg"/></Relationships>
</file>

<file path=ppt/slides/_rels/slide79.xml.rels><?xml version="1.0" encoding="UTF-8" standalone="yes"?>
<Relationships xmlns="http://schemas.openxmlformats.org/package/2006/relationships"><Relationship Id="rId3" Type="http://schemas.openxmlformats.org/officeDocument/2006/relationships/slide" Target="slide73.xml"/><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81.xml.rels><?xml version="1.0" encoding="UTF-8" standalone="yes"?>
<Relationships xmlns="http://schemas.openxmlformats.org/package/2006/relationships"><Relationship Id="rId3" Type="http://schemas.openxmlformats.org/officeDocument/2006/relationships/image" Target="../media/image54.emf"/><Relationship Id="rId7" Type="http://schemas.openxmlformats.org/officeDocument/2006/relationships/image" Target="../media/image4.png"/><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55.emf"/><Relationship Id="rId4" Type="http://schemas.openxmlformats.org/officeDocument/2006/relationships/oleObject" Target="../embeddings/oleObject1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ACCC4B-A911-4865-8ECC-64FCB0295BD4}"/>
              </a:ext>
            </a:extLst>
          </p:cNvPr>
          <p:cNvSpPr>
            <a:spLocks noGrp="1"/>
          </p:cNvSpPr>
          <p:nvPr>
            <p:ph type="ctrTitle"/>
          </p:nvPr>
        </p:nvSpPr>
        <p:spPr>
          <a:xfrm>
            <a:off x="822960" y="758952"/>
            <a:ext cx="7543800" cy="2569464"/>
          </a:xfrm>
        </p:spPr>
        <p:txBody>
          <a:bodyPr>
            <a:normAutofit/>
          </a:bodyPr>
          <a:lstStyle/>
          <a:p>
            <a:pPr algn="ctr"/>
            <a:br>
              <a:rPr lang="en-US" altLang="zh-CN" sz="6000" dirty="0"/>
            </a:br>
            <a:r>
              <a:rPr lang="en-US" altLang="zh-CN" sz="6000" dirty="0"/>
              <a:t>EE351</a:t>
            </a:r>
            <a:br>
              <a:rPr lang="en-US" altLang="zh-CN" sz="6000" dirty="0"/>
            </a:br>
            <a:r>
              <a:rPr lang="zh-CN" altLang="en-US" sz="6000" dirty="0"/>
              <a:t>微机原理与微系统</a:t>
            </a:r>
          </a:p>
        </p:txBody>
      </p:sp>
      <p:sp>
        <p:nvSpPr>
          <p:cNvPr id="3" name="副标题 2">
            <a:extLst>
              <a:ext uri="{FF2B5EF4-FFF2-40B4-BE49-F238E27FC236}">
                <a16:creationId xmlns:a16="http://schemas.microsoft.com/office/drawing/2014/main" id="{E610E5B0-A14A-48D6-ABC9-A1B76EFEF56D}"/>
              </a:ext>
            </a:extLst>
          </p:cNvPr>
          <p:cNvSpPr>
            <a:spLocks noGrp="1"/>
          </p:cNvSpPr>
          <p:nvPr>
            <p:ph type="subTitle" idx="1"/>
          </p:nvPr>
        </p:nvSpPr>
        <p:spPr>
          <a:xfrm>
            <a:off x="822960" y="4606497"/>
            <a:ext cx="7543800" cy="1143000"/>
          </a:xfrm>
        </p:spPr>
        <p:txBody>
          <a:bodyPr/>
          <a:lstStyle/>
          <a:p>
            <a:pPr algn="ctr"/>
            <a:r>
              <a:rPr lang="zh-CN" altLang="en-US" dirty="0"/>
              <a:t>姜俊敏</a:t>
            </a:r>
            <a:endParaRPr lang="en-US" altLang="zh-CN" dirty="0"/>
          </a:p>
          <a:p>
            <a:pPr algn="ctr"/>
            <a:r>
              <a:rPr lang="zh-CN" altLang="en-US" dirty="0"/>
              <a:t>电子与电子工程系</a:t>
            </a:r>
          </a:p>
        </p:txBody>
      </p:sp>
      <p:sp>
        <p:nvSpPr>
          <p:cNvPr id="4" name="灯片编号占位符 3">
            <a:extLst>
              <a:ext uri="{FF2B5EF4-FFF2-40B4-BE49-F238E27FC236}">
                <a16:creationId xmlns:a16="http://schemas.microsoft.com/office/drawing/2014/main" id="{1D76DE94-02ED-4C6E-9C70-4E4BDE1365E7}"/>
              </a:ext>
            </a:extLst>
          </p:cNvPr>
          <p:cNvSpPr>
            <a:spLocks noGrp="1"/>
          </p:cNvSpPr>
          <p:nvPr>
            <p:ph type="sldNum" sz="quarter" idx="12"/>
          </p:nvPr>
        </p:nvSpPr>
        <p:spPr/>
        <p:txBody>
          <a:bodyPr/>
          <a:lstStyle/>
          <a:p>
            <a:fld id="{22E77DEE-32E4-4009-988B-F2758F7B8AC2}" type="slidenum">
              <a:rPr lang="zh-CN" altLang="en-US" smtClean="0"/>
              <a:t>1</a:t>
            </a:fld>
            <a:endParaRPr lang="zh-CN" altLang="en-US"/>
          </a:p>
        </p:txBody>
      </p:sp>
    </p:spTree>
    <p:extLst>
      <p:ext uri="{BB962C8B-B14F-4D97-AF65-F5344CB8AC3E}">
        <p14:creationId xmlns:p14="http://schemas.microsoft.com/office/powerpoint/2010/main" val="2642214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
            <a:extLst>
              <a:ext uri="{FF2B5EF4-FFF2-40B4-BE49-F238E27FC236}">
                <a16:creationId xmlns:a16="http://schemas.microsoft.com/office/drawing/2014/main" id="{63C5A5E8-2724-44A7-968B-EEE674ABBF1B}"/>
              </a:ext>
            </a:extLst>
          </p:cNvPr>
          <p:cNvSpPr>
            <a:spLocks noGrp="1" noChangeArrowheads="1"/>
          </p:cNvSpPr>
          <p:nvPr>
            <p:ph type="title"/>
          </p:nvPr>
        </p:nvSpPr>
        <p:spPr>
          <a:xfrm>
            <a:off x="625249" y="500064"/>
            <a:ext cx="7400243" cy="504825"/>
          </a:xfrm>
        </p:spPr>
        <p:txBody>
          <a:bodyPr vert="horz" lIns="91440" tIns="45720" rIns="91440" bIns="45720" rtlCol="0" anchor="b">
            <a:normAutofit fontScale="90000"/>
          </a:bodyPr>
          <a:lstStyle/>
          <a:p>
            <a:r>
              <a:rPr lang="zh-CN" altLang="en-US" sz="4000" dirty="0"/>
              <a:t>第四章 </a:t>
            </a:r>
            <a:r>
              <a:rPr lang="zh-CN" altLang="zh-CN" sz="4000" dirty="0"/>
              <a:t>单片机的硬件结构</a:t>
            </a:r>
            <a:endParaRPr lang="zh-CN" altLang="en-US" sz="4000" dirty="0"/>
          </a:p>
        </p:txBody>
      </p:sp>
      <p:sp>
        <p:nvSpPr>
          <p:cNvPr id="175107" name="Rectangle 3">
            <a:extLst>
              <a:ext uri="{FF2B5EF4-FFF2-40B4-BE49-F238E27FC236}">
                <a16:creationId xmlns:a16="http://schemas.microsoft.com/office/drawing/2014/main" id="{A8A340D9-F37C-4715-BB85-527655DCB694}"/>
              </a:ext>
            </a:extLst>
          </p:cNvPr>
          <p:cNvSpPr>
            <a:spLocks noGrp="1" noChangeArrowheads="1"/>
          </p:cNvSpPr>
          <p:nvPr>
            <p:ph idx="1"/>
          </p:nvPr>
        </p:nvSpPr>
        <p:spPr>
          <a:xfrm>
            <a:off x="203200" y="1204913"/>
            <a:ext cx="8780463" cy="4730750"/>
          </a:xfrm>
        </p:spPr>
        <p:txBody>
          <a:bodyPr>
            <a:normAutofit lnSpcReduction="10000"/>
          </a:bodyPr>
          <a:lstStyle/>
          <a:p>
            <a:pPr algn="ctr" eaLnBrk="1" hangingPunct="1">
              <a:lnSpc>
                <a:spcPct val="124000"/>
              </a:lnSpc>
              <a:spcAft>
                <a:spcPts val="1800"/>
              </a:spcAft>
              <a:buFontTx/>
              <a:buNone/>
            </a:pPr>
            <a:r>
              <a:rPr lang="zh-CN" altLang="en-US" sz="3600" dirty="0"/>
              <a:t>本章学习目标</a:t>
            </a:r>
          </a:p>
          <a:p>
            <a:pPr eaLnBrk="1" hangingPunct="1">
              <a:lnSpc>
                <a:spcPct val="124000"/>
              </a:lnSpc>
            </a:pPr>
            <a:r>
              <a:rPr lang="en-US" altLang="zh-CN" sz="3200" dirty="0"/>
              <a:t>4.1 </a:t>
            </a:r>
            <a:r>
              <a:rPr lang="zh-CN" altLang="en-US" sz="3200" dirty="0"/>
              <a:t>理解</a:t>
            </a:r>
            <a:r>
              <a:rPr lang="zh-CN" altLang="en-US" sz="3200" dirty="0">
                <a:hlinkClick r:id="rId2" action="ppaction://hlinksldjump"/>
              </a:rPr>
              <a:t>模型机的结构及工作过程 </a:t>
            </a:r>
            <a:endParaRPr lang="zh-CN" altLang="en-US" sz="3200" dirty="0"/>
          </a:p>
          <a:p>
            <a:pPr eaLnBrk="1" hangingPunct="1">
              <a:lnSpc>
                <a:spcPct val="124000"/>
              </a:lnSpc>
              <a:spcAft>
                <a:spcPct val="0"/>
              </a:spcAft>
            </a:pPr>
            <a:r>
              <a:rPr lang="en-US" altLang="zh-CN" sz="3200" dirty="0"/>
              <a:t>4.2 </a:t>
            </a:r>
            <a:r>
              <a:rPr lang="zh-CN" altLang="en-US" sz="3200" dirty="0"/>
              <a:t>掌握</a:t>
            </a:r>
            <a:r>
              <a:rPr lang="zh-CN" altLang="en-US" sz="3200" dirty="0">
                <a:hlinkClick r:id="rId3" action="ppaction://hlinksldjump"/>
              </a:rPr>
              <a:t>单片机的内部结构</a:t>
            </a:r>
            <a:endParaRPr lang="en-US" altLang="zh-CN" sz="3200" dirty="0"/>
          </a:p>
          <a:p>
            <a:pPr eaLnBrk="1" hangingPunct="1">
              <a:lnSpc>
                <a:spcPct val="124000"/>
              </a:lnSpc>
            </a:pPr>
            <a:r>
              <a:rPr lang="en-US" altLang="zh-CN" sz="3200" dirty="0"/>
              <a:t>4.3 </a:t>
            </a:r>
            <a:r>
              <a:rPr lang="zh-CN" altLang="en-US" sz="3200" dirty="0"/>
              <a:t>掌握</a:t>
            </a:r>
            <a:r>
              <a:rPr lang="zh-CN" altLang="en-US" sz="3200" dirty="0">
                <a:hlinkClick r:id="" action="ppaction://noaction"/>
              </a:rPr>
              <a:t>单片机存储器</a:t>
            </a:r>
            <a:endParaRPr lang="en-US" altLang="zh-CN" sz="3200" dirty="0"/>
          </a:p>
          <a:p>
            <a:pPr eaLnBrk="1" hangingPunct="1">
              <a:lnSpc>
                <a:spcPct val="124000"/>
              </a:lnSpc>
            </a:pPr>
            <a:r>
              <a:rPr lang="en-US" altLang="zh-CN" sz="3200" dirty="0"/>
              <a:t>4.4 </a:t>
            </a:r>
            <a:r>
              <a:rPr lang="zh-CN" altLang="en-US" sz="3200" dirty="0"/>
              <a:t>掌握</a:t>
            </a:r>
            <a:r>
              <a:rPr lang="zh-CN" altLang="en-US" sz="3200" dirty="0">
                <a:hlinkClick r:id="" action="ppaction://noaction"/>
              </a:rPr>
              <a:t>单片机的引脚（</a:t>
            </a:r>
            <a:r>
              <a:rPr lang="en-US" altLang="zh-CN" sz="3200" dirty="0">
                <a:hlinkClick r:id="" action="ppaction://noaction"/>
              </a:rPr>
              <a:t>I/O</a:t>
            </a:r>
            <a:r>
              <a:rPr lang="zh-CN" altLang="en-US" sz="3200" dirty="0">
                <a:hlinkClick r:id="" action="ppaction://noaction"/>
              </a:rPr>
              <a:t>口的使用）</a:t>
            </a:r>
            <a:endParaRPr lang="zh-CN" altLang="en-US" sz="3200" dirty="0"/>
          </a:p>
          <a:p>
            <a:pPr eaLnBrk="1" hangingPunct="1">
              <a:lnSpc>
                <a:spcPct val="124000"/>
              </a:lnSpc>
            </a:pPr>
            <a:r>
              <a:rPr lang="en-US" altLang="zh-CN" sz="3200" dirty="0"/>
              <a:t>4.5 </a:t>
            </a:r>
            <a:r>
              <a:rPr lang="zh-CN" altLang="en-US" sz="3200" dirty="0"/>
              <a:t>掌握</a:t>
            </a:r>
            <a:r>
              <a:rPr lang="zh-CN" altLang="en-US" sz="3200" dirty="0">
                <a:hlinkClick r:id="" action="ppaction://noaction"/>
              </a:rPr>
              <a:t>单片机应用系统的典型构成</a:t>
            </a:r>
            <a:endParaRPr lang="zh-CN" altLang="en-US" sz="3200" dirty="0"/>
          </a:p>
        </p:txBody>
      </p:sp>
      <p:sp>
        <p:nvSpPr>
          <p:cNvPr id="3" name="灯片编号占位符 2">
            <a:extLst>
              <a:ext uri="{FF2B5EF4-FFF2-40B4-BE49-F238E27FC236}">
                <a16:creationId xmlns:a16="http://schemas.microsoft.com/office/drawing/2014/main" id="{C46A706E-2ADE-4991-AEAE-8C8D1500BD53}"/>
              </a:ext>
            </a:extLst>
          </p:cNvPr>
          <p:cNvSpPr>
            <a:spLocks noGrp="1"/>
          </p:cNvSpPr>
          <p:nvPr>
            <p:ph type="sldNum" sz="quarter" idx="12"/>
          </p:nvPr>
        </p:nvSpPr>
        <p:spPr/>
        <p:txBody>
          <a:bodyPr/>
          <a:lstStyle/>
          <a:p>
            <a:fld id="{22E77DEE-32E4-4009-988B-F2758F7B8AC2}" type="slidenum">
              <a:rPr lang="zh-CN" altLang="en-US" smtClean="0"/>
              <a:t>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175107">
                                            <p:txEl>
                                              <p:pRg st="0" end="0"/>
                                            </p:txEl>
                                          </p:spTgt>
                                        </p:tgtEl>
                                        <p:attrNameLst>
                                          <p:attrName>style.visibility</p:attrName>
                                        </p:attrNameLst>
                                      </p:cBhvr>
                                      <p:to>
                                        <p:strVal val="visible"/>
                                      </p:to>
                                    </p:set>
                                    <p:anim calcmode="lin" valueType="num">
                                      <p:cBhvr additive="base">
                                        <p:cTn id="7" dur="500" fill="hold"/>
                                        <p:tgtEl>
                                          <p:spTgt spid="1751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510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5107">
                                            <p:txEl>
                                              <p:pRg st="1" end="1"/>
                                            </p:txEl>
                                          </p:spTgt>
                                        </p:tgtEl>
                                        <p:attrNameLst>
                                          <p:attrName>style.visibility</p:attrName>
                                        </p:attrNameLst>
                                      </p:cBhvr>
                                      <p:to>
                                        <p:strVal val="visible"/>
                                      </p:to>
                                    </p:set>
                                    <p:anim calcmode="lin" valueType="num">
                                      <p:cBhvr additive="base">
                                        <p:cTn id="11" dur="500" fill="hold"/>
                                        <p:tgtEl>
                                          <p:spTgt spid="17510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510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5107">
                                            <p:txEl>
                                              <p:pRg st="2" end="2"/>
                                            </p:txEl>
                                          </p:spTgt>
                                        </p:tgtEl>
                                        <p:attrNameLst>
                                          <p:attrName>style.visibility</p:attrName>
                                        </p:attrNameLst>
                                      </p:cBhvr>
                                      <p:to>
                                        <p:strVal val="visible"/>
                                      </p:to>
                                    </p:set>
                                    <p:anim calcmode="lin" valueType="num">
                                      <p:cBhvr additive="base">
                                        <p:cTn id="15" dur="500" fill="hold"/>
                                        <p:tgtEl>
                                          <p:spTgt spid="17510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75107">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75107">
                                            <p:txEl>
                                              <p:pRg st="3" end="3"/>
                                            </p:txEl>
                                          </p:spTgt>
                                        </p:tgtEl>
                                        <p:attrNameLst>
                                          <p:attrName>style.visibility</p:attrName>
                                        </p:attrNameLst>
                                      </p:cBhvr>
                                      <p:to>
                                        <p:strVal val="visible"/>
                                      </p:to>
                                    </p:set>
                                    <p:anim calcmode="lin" valueType="num">
                                      <p:cBhvr additive="base">
                                        <p:cTn id="19" dur="500" fill="hold"/>
                                        <p:tgtEl>
                                          <p:spTgt spid="17510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5107">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75107">
                                            <p:txEl>
                                              <p:pRg st="4" end="4"/>
                                            </p:txEl>
                                          </p:spTgt>
                                        </p:tgtEl>
                                        <p:attrNameLst>
                                          <p:attrName>style.visibility</p:attrName>
                                        </p:attrNameLst>
                                      </p:cBhvr>
                                      <p:to>
                                        <p:strVal val="visible"/>
                                      </p:to>
                                    </p:set>
                                    <p:anim calcmode="lin" valueType="num">
                                      <p:cBhvr additive="base">
                                        <p:cTn id="23" dur="500" fill="hold"/>
                                        <p:tgtEl>
                                          <p:spTgt spid="175107">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75107">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75107">
                                            <p:txEl>
                                              <p:pRg st="5" end="5"/>
                                            </p:txEl>
                                          </p:spTgt>
                                        </p:tgtEl>
                                        <p:attrNameLst>
                                          <p:attrName>style.visibility</p:attrName>
                                        </p:attrNameLst>
                                      </p:cBhvr>
                                      <p:to>
                                        <p:strVal val="visible"/>
                                      </p:to>
                                    </p:set>
                                    <p:anim calcmode="lin" valueType="num">
                                      <p:cBhvr additive="base">
                                        <p:cTn id="27" dur="500" fill="hold"/>
                                        <p:tgtEl>
                                          <p:spTgt spid="175107">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7510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D504F2C1-A212-4985-AF33-E5F122BD288C}"/>
              </a:ext>
            </a:extLst>
          </p:cNvPr>
          <p:cNvSpPr>
            <a:spLocks noGrp="1" noChangeArrowheads="1"/>
          </p:cNvSpPr>
          <p:nvPr>
            <p:ph type="title"/>
          </p:nvPr>
        </p:nvSpPr>
        <p:spPr>
          <a:xfrm>
            <a:off x="533627" y="450602"/>
            <a:ext cx="7377566" cy="504825"/>
          </a:xfrm>
        </p:spPr>
        <p:txBody>
          <a:bodyPr vert="horz" lIns="91440" tIns="45720" rIns="91440" bIns="45720" rtlCol="0" anchor="b">
            <a:normAutofit fontScale="90000"/>
          </a:bodyPr>
          <a:lstStyle/>
          <a:p>
            <a:r>
              <a:rPr lang="en-US" altLang="zh-CN" sz="4000" dirty="0"/>
              <a:t>4.1 </a:t>
            </a:r>
            <a:r>
              <a:rPr lang="zh-CN" altLang="en-US" sz="4000" dirty="0"/>
              <a:t>模型机的结构及工作过程</a:t>
            </a:r>
          </a:p>
        </p:txBody>
      </p:sp>
      <p:sp>
        <p:nvSpPr>
          <p:cNvPr id="176131" name="Rectangle 3">
            <a:extLst>
              <a:ext uri="{FF2B5EF4-FFF2-40B4-BE49-F238E27FC236}">
                <a16:creationId xmlns:a16="http://schemas.microsoft.com/office/drawing/2014/main" id="{DB23DF1D-4511-4A9A-B285-E366AF170A9B}"/>
              </a:ext>
            </a:extLst>
          </p:cNvPr>
          <p:cNvSpPr>
            <a:spLocks noGrp="1" noChangeArrowheads="1"/>
          </p:cNvSpPr>
          <p:nvPr>
            <p:ph type="body" idx="1"/>
          </p:nvPr>
        </p:nvSpPr>
        <p:spPr>
          <a:xfrm>
            <a:off x="469446" y="1151163"/>
            <a:ext cx="8113713" cy="4800602"/>
          </a:xfrm>
        </p:spPr>
        <p:txBody>
          <a:bodyPr/>
          <a:lstStyle/>
          <a:p>
            <a:pPr eaLnBrk="1" hangingPunct="1">
              <a:spcBef>
                <a:spcPct val="0"/>
              </a:spcBef>
              <a:spcAft>
                <a:spcPts val="1500"/>
              </a:spcAft>
              <a:buFontTx/>
              <a:buNone/>
            </a:pPr>
            <a:r>
              <a:rPr lang="en-US" altLang="zh-CN" sz="3200" dirty="0">
                <a:solidFill>
                  <a:srgbClr val="FF0000"/>
                </a:solidFill>
                <a:latin typeface="宋体" panose="02010600030101010101" pitchFamily="2" charset="-122"/>
              </a:rPr>
              <a:t>4.1.1</a:t>
            </a:r>
            <a:r>
              <a:rPr lang="zh-CN" altLang="en-US" sz="3200" dirty="0">
                <a:solidFill>
                  <a:srgbClr val="FF0000"/>
                </a:solidFill>
                <a:latin typeface="宋体" panose="02010600030101010101" pitchFamily="2" charset="-122"/>
              </a:rPr>
              <a:t>模型机的结构简介</a:t>
            </a:r>
            <a:endParaRPr lang="en-US" altLang="zh-CN" sz="3200" dirty="0">
              <a:solidFill>
                <a:srgbClr val="FF0000"/>
              </a:solidFill>
              <a:latin typeface="宋体" panose="02010600030101010101" pitchFamily="2" charset="-122"/>
            </a:endParaRPr>
          </a:p>
          <a:p>
            <a:pPr eaLnBrk="1" hangingPunct="1">
              <a:spcBef>
                <a:spcPct val="0"/>
              </a:spcBef>
              <a:spcAft>
                <a:spcPts val="1500"/>
              </a:spcAft>
              <a:buFontTx/>
              <a:buNone/>
            </a:pPr>
            <a:r>
              <a:rPr lang="zh-CN" altLang="en-US" sz="3200" dirty="0">
                <a:solidFill>
                  <a:srgbClr val="FF00FF"/>
                </a:solidFill>
                <a:latin typeface="宋体" panose="02010600030101010101" pitchFamily="2" charset="-122"/>
              </a:rPr>
              <a:t>微型计算机的结构模型（简称模型机）</a:t>
            </a:r>
            <a:r>
              <a:rPr lang="zh-CN" altLang="en-US" sz="3200" dirty="0">
                <a:latin typeface="宋体" panose="02010600030101010101" pitchFamily="2" charset="-122"/>
              </a:rPr>
              <a:t>。</a:t>
            </a:r>
          </a:p>
          <a:p>
            <a:pPr eaLnBrk="1" hangingPunct="1">
              <a:spcBef>
                <a:spcPct val="0"/>
              </a:spcBef>
              <a:spcAft>
                <a:spcPts val="1500"/>
              </a:spcAft>
              <a:buFontTx/>
              <a:buNone/>
            </a:pPr>
            <a:r>
              <a:rPr kumimoji="1" lang="zh-CN" altLang="en-US" sz="3200" dirty="0">
                <a:latin typeface="宋体" panose="02010600030101010101" pitchFamily="2" charset="-122"/>
              </a:rPr>
              <a:t>模型机的主要构成：</a:t>
            </a:r>
          </a:p>
          <a:p>
            <a:pPr marL="711200" lvl="2" indent="-347663" eaLnBrk="1" hangingPunct="1">
              <a:lnSpc>
                <a:spcPct val="114000"/>
              </a:lnSpc>
              <a:spcBef>
                <a:spcPct val="0"/>
              </a:spcBef>
              <a:spcAft>
                <a:spcPts val="1500"/>
              </a:spcAft>
              <a:buSzPct val="120000"/>
            </a:pPr>
            <a:r>
              <a:rPr kumimoji="1" lang="zh-CN" altLang="en-US" sz="3200" b="1" dirty="0">
                <a:solidFill>
                  <a:schemeClr val="accent2"/>
                </a:solidFill>
              </a:rPr>
              <a:t>三总线</a:t>
            </a:r>
            <a:r>
              <a:rPr kumimoji="1" lang="en-US" altLang="zh-CN" sz="3200" b="1" dirty="0"/>
              <a:t>(</a:t>
            </a:r>
            <a:r>
              <a:rPr kumimoji="1" lang="zh-CN" altLang="en-US" sz="3200" b="1" dirty="0"/>
              <a:t>地址总线、数据总线和控制总线</a:t>
            </a:r>
            <a:r>
              <a:rPr kumimoji="1" lang="en-US" altLang="zh-CN" sz="3200" b="1" dirty="0"/>
              <a:t>)</a:t>
            </a:r>
          </a:p>
          <a:p>
            <a:pPr marL="711200" lvl="2" indent="-347663" eaLnBrk="1" hangingPunct="1">
              <a:lnSpc>
                <a:spcPct val="114000"/>
              </a:lnSpc>
              <a:spcBef>
                <a:spcPct val="0"/>
              </a:spcBef>
              <a:spcAft>
                <a:spcPts val="1500"/>
              </a:spcAft>
              <a:buSzPct val="120000"/>
            </a:pPr>
            <a:r>
              <a:rPr kumimoji="1" lang="zh-CN" altLang="en-US" sz="3200" b="1" dirty="0">
                <a:solidFill>
                  <a:schemeClr val="accent2"/>
                </a:solidFill>
              </a:rPr>
              <a:t>中央处理器（</a:t>
            </a:r>
            <a:r>
              <a:rPr kumimoji="1" lang="en-US" altLang="zh-CN" sz="3200" b="1" dirty="0">
                <a:solidFill>
                  <a:schemeClr val="accent2"/>
                </a:solidFill>
              </a:rPr>
              <a:t>CPU</a:t>
            </a:r>
            <a:r>
              <a:rPr kumimoji="1" lang="zh-CN" altLang="en-US" sz="3200" b="1" dirty="0">
                <a:solidFill>
                  <a:schemeClr val="accent2"/>
                </a:solidFill>
              </a:rPr>
              <a:t>）</a:t>
            </a:r>
          </a:p>
          <a:p>
            <a:pPr marL="711200" lvl="2" indent="-347663" eaLnBrk="1" hangingPunct="1">
              <a:lnSpc>
                <a:spcPct val="114000"/>
              </a:lnSpc>
              <a:spcBef>
                <a:spcPct val="0"/>
              </a:spcBef>
              <a:spcAft>
                <a:spcPts val="1500"/>
              </a:spcAft>
              <a:buSzPct val="120000"/>
            </a:pPr>
            <a:r>
              <a:rPr kumimoji="1" lang="zh-CN" altLang="en-US" sz="3200" b="1" dirty="0">
                <a:solidFill>
                  <a:schemeClr val="accent2"/>
                </a:solidFill>
              </a:rPr>
              <a:t>存储器</a:t>
            </a:r>
          </a:p>
          <a:p>
            <a:pPr marL="711200" lvl="2" indent="-347663" eaLnBrk="1" hangingPunct="1">
              <a:lnSpc>
                <a:spcPct val="114000"/>
              </a:lnSpc>
              <a:spcBef>
                <a:spcPct val="0"/>
              </a:spcBef>
              <a:spcAft>
                <a:spcPts val="1500"/>
              </a:spcAft>
              <a:buSzPct val="120000"/>
            </a:pPr>
            <a:r>
              <a:rPr kumimoji="1" lang="en-US" altLang="zh-CN" sz="3200" b="1" dirty="0">
                <a:solidFill>
                  <a:schemeClr val="accent2"/>
                </a:solidFill>
              </a:rPr>
              <a:t>I/O</a:t>
            </a:r>
            <a:r>
              <a:rPr kumimoji="1" lang="zh-CN" altLang="en-US" sz="3200" b="1" dirty="0">
                <a:solidFill>
                  <a:schemeClr val="accent2"/>
                </a:solidFill>
              </a:rPr>
              <a:t>接口</a:t>
            </a:r>
            <a:endParaRPr kumimoji="1" lang="en-US" altLang="zh-CN" sz="3200" dirty="0"/>
          </a:p>
        </p:txBody>
      </p:sp>
      <p:sp>
        <p:nvSpPr>
          <p:cNvPr id="4" name="灯片编号占位符 3">
            <a:extLst>
              <a:ext uri="{FF2B5EF4-FFF2-40B4-BE49-F238E27FC236}">
                <a16:creationId xmlns:a16="http://schemas.microsoft.com/office/drawing/2014/main" id="{B8B53A24-955A-4F67-80A1-18A455CFF1AE}"/>
              </a:ext>
            </a:extLst>
          </p:cNvPr>
          <p:cNvSpPr>
            <a:spLocks noGrp="1"/>
          </p:cNvSpPr>
          <p:nvPr>
            <p:ph type="sldNum" sz="quarter" idx="12"/>
          </p:nvPr>
        </p:nvSpPr>
        <p:spPr/>
        <p:txBody>
          <a:bodyPr/>
          <a:lstStyle/>
          <a:p>
            <a:fld id="{22E77DEE-32E4-4009-988B-F2758F7B8AC2}" type="slidenum">
              <a:rPr lang="zh-CN" altLang="en-US" smtClean="0"/>
              <a:t>3</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176131">
                                            <p:txEl>
                                              <p:pRg st="0" end="0"/>
                                            </p:txEl>
                                          </p:spTgt>
                                        </p:tgtEl>
                                        <p:attrNameLst>
                                          <p:attrName>style.visibility</p:attrName>
                                        </p:attrNameLst>
                                      </p:cBhvr>
                                      <p:to>
                                        <p:strVal val="visible"/>
                                      </p:to>
                                    </p:set>
                                    <p:anim calcmode="lin" valueType="num">
                                      <p:cBhvr additive="base">
                                        <p:cTn id="7" dur="500" fill="hold"/>
                                        <p:tgtEl>
                                          <p:spTgt spid="1761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613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6131">
                                            <p:txEl>
                                              <p:pRg st="1" end="1"/>
                                            </p:txEl>
                                          </p:spTgt>
                                        </p:tgtEl>
                                        <p:attrNameLst>
                                          <p:attrName>style.visibility</p:attrName>
                                        </p:attrNameLst>
                                      </p:cBhvr>
                                      <p:to>
                                        <p:strVal val="visible"/>
                                      </p:to>
                                    </p:set>
                                    <p:anim calcmode="lin" valueType="num">
                                      <p:cBhvr additive="base">
                                        <p:cTn id="11" dur="500" fill="hold"/>
                                        <p:tgtEl>
                                          <p:spTgt spid="17613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613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6131">
                                            <p:txEl>
                                              <p:pRg st="2" end="2"/>
                                            </p:txEl>
                                          </p:spTgt>
                                        </p:tgtEl>
                                        <p:attrNameLst>
                                          <p:attrName>style.visibility</p:attrName>
                                        </p:attrNameLst>
                                      </p:cBhvr>
                                      <p:to>
                                        <p:strVal val="visible"/>
                                      </p:to>
                                    </p:set>
                                    <p:anim calcmode="lin" valueType="num">
                                      <p:cBhvr additive="base">
                                        <p:cTn id="15" dur="500" fill="hold"/>
                                        <p:tgtEl>
                                          <p:spTgt spid="17613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7613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76131">
                                            <p:txEl>
                                              <p:pRg st="3" end="3"/>
                                            </p:txEl>
                                          </p:spTgt>
                                        </p:tgtEl>
                                        <p:attrNameLst>
                                          <p:attrName>style.visibility</p:attrName>
                                        </p:attrNameLst>
                                      </p:cBhvr>
                                      <p:to>
                                        <p:strVal val="visible"/>
                                      </p:to>
                                    </p:set>
                                    <p:anim calcmode="lin" valueType="num">
                                      <p:cBhvr additive="base">
                                        <p:cTn id="19" dur="500" fill="hold"/>
                                        <p:tgtEl>
                                          <p:spTgt spid="17613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6131">
                                            <p:txEl>
                                              <p:pRg st="3" end="3"/>
                                            </p:txEl>
                                          </p:spTgt>
                                        </p:tgtEl>
                                        <p:attrNameLst>
                                          <p:attrName>ppt_y</p:attrName>
                                        </p:attrNameLst>
                                      </p:cBhvr>
                                      <p:tavLst>
                                        <p:tav tm="0">
                                          <p:val>
                                            <p:strVal val="1+#ppt_h/2"/>
                                          </p:val>
                                        </p:tav>
                                        <p:tav tm="100000">
                                          <p:val>
                                            <p:strVal val="#ppt_y"/>
                                          </p:val>
                                        </p:tav>
                                      </p:tavLst>
                                    </p:anim>
                                  </p:childTnLst>
                                </p:cTn>
                              </p:par>
                            </p:childTnLst>
                          </p:cTn>
                        </p:par>
                        <p:par>
                          <p:cTn id="21" fill="hold" nodeType="afterGroup">
                            <p:stCondLst>
                              <p:cond delay="500"/>
                            </p:stCondLst>
                            <p:childTnLst>
                              <p:par>
                                <p:cTn id="22" presetID="2" presetClass="entr" presetSubtype="4" fill="hold" nodeType="afterEffect">
                                  <p:stCondLst>
                                    <p:cond delay="0"/>
                                  </p:stCondLst>
                                  <p:childTnLst>
                                    <p:set>
                                      <p:cBhvr>
                                        <p:cTn id="23" dur="1" fill="hold">
                                          <p:stCondLst>
                                            <p:cond delay="0"/>
                                          </p:stCondLst>
                                        </p:cTn>
                                        <p:tgtEl>
                                          <p:spTgt spid="176131">
                                            <p:txEl>
                                              <p:pRg st="4" end="4"/>
                                            </p:txEl>
                                          </p:spTgt>
                                        </p:tgtEl>
                                        <p:attrNameLst>
                                          <p:attrName>style.visibility</p:attrName>
                                        </p:attrNameLst>
                                      </p:cBhvr>
                                      <p:to>
                                        <p:strVal val="visible"/>
                                      </p:to>
                                    </p:set>
                                    <p:anim calcmode="lin" valueType="num">
                                      <p:cBhvr additive="base">
                                        <p:cTn id="24" dur="500" fill="hold"/>
                                        <p:tgtEl>
                                          <p:spTgt spid="176131">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76131">
                                            <p:txEl>
                                              <p:pRg st="4" end="4"/>
                                            </p:txEl>
                                          </p:spTgt>
                                        </p:tgtEl>
                                        <p:attrNameLst>
                                          <p:attrName>ppt_y</p:attrName>
                                        </p:attrNameLst>
                                      </p:cBhvr>
                                      <p:tavLst>
                                        <p:tav tm="0">
                                          <p:val>
                                            <p:strVal val="1+#ppt_h/2"/>
                                          </p:val>
                                        </p:tav>
                                        <p:tav tm="100000">
                                          <p:val>
                                            <p:strVal val="#ppt_y"/>
                                          </p:val>
                                        </p:tav>
                                      </p:tavLst>
                                    </p:anim>
                                  </p:childTnLst>
                                </p:cTn>
                              </p:par>
                            </p:childTnLst>
                          </p:cTn>
                        </p:par>
                        <p:par>
                          <p:cTn id="26" fill="hold" nodeType="afterGroup">
                            <p:stCondLst>
                              <p:cond delay="1000"/>
                            </p:stCondLst>
                            <p:childTnLst>
                              <p:par>
                                <p:cTn id="27" presetID="2" presetClass="entr" presetSubtype="4" fill="hold" nodeType="afterEffect">
                                  <p:stCondLst>
                                    <p:cond delay="0"/>
                                  </p:stCondLst>
                                  <p:childTnLst>
                                    <p:set>
                                      <p:cBhvr>
                                        <p:cTn id="28" dur="1" fill="hold">
                                          <p:stCondLst>
                                            <p:cond delay="0"/>
                                          </p:stCondLst>
                                        </p:cTn>
                                        <p:tgtEl>
                                          <p:spTgt spid="176131">
                                            <p:txEl>
                                              <p:pRg st="5" end="5"/>
                                            </p:txEl>
                                          </p:spTgt>
                                        </p:tgtEl>
                                        <p:attrNameLst>
                                          <p:attrName>style.visibility</p:attrName>
                                        </p:attrNameLst>
                                      </p:cBhvr>
                                      <p:to>
                                        <p:strVal val="visible"/>
                                      </p:to>
                                    </p:set>
                                    <p:anim calcmode="lin" valueType="num">
                                      <p:cBhvr additive="base">
                                        <p:cTn id="29" dur="500" fill="hold"/>
                                        <p:tgtEl>
                                          <p:spTgt spid="17613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76131">
                                            <p:txEl>
                                              <p:pRg st="5" end="5"/>
                                            </p:txEl>
                                          </p:spTgt>
                                        </p:tgtEl>
                                        <p:attrNameLst>
                                          <p:attrName>ppt_y</p:attrName>
                                        </p:attrNameLst>
                                      </p:cBhvr>
                                      <p:tavLst>
                                        <p:tav tm="0">
                                          <p:val>
                                            <p:strVal val="1+#ppt_h/2"/>
                                          </p:val>
                                        </p:tav>
                                        <p:tav tm="100000">
                                          <p:val>
                                            <p:strVal val="#ppt_y"/>
                                          </p:val>
                                        </p:tav>
                                      </p:tavLst>
                                    </p:anim>
                                  </p:childTnLst>
                                </p:cTn>
                              </p:par>
                            </p:childTnLst>
                          </p:cTn>
                        </p:par>
                        <p:par>
                          <p:cTn id="31" fill="hold" nodeType="afterGroup">
                            <p:stCondLst>
                              <p:cond delay="1500"/>
                            </p:stCondLst>
                            <p:childTnLst>
                              <p:par>
                                <p:cTn id="32" presetID="2" presetClass="entr" presetSubtype="4" fill="hold" nodeType="afterEffect">
                                  <p:stCondLst>
                                    <p:cond delay="0"/>
                                  </p:stCondLst>
                                  <p:childTnLst>
                                    <p:set>
                                      <p:cBhvr>
                                        <p:cTn id="33" dur="1" fill="hold">
                                          <p:stCondLst>
                                            <p:cond delay="0"/>
                                          </p:stCondLst>
                                        </p:cTn>
                                        <p:tgtEl>
                                          <p:spTgt spid="176131">
                                            <p:txEl>
                                              <p:pRg st="6" end="6"/>
                                            </p:txEl>
                                          </p:spTgt>
                                        </p:tgtEl>
                                        <p:attrNameLst>
                                          <p:attrName>style.visibility</p:attrName>
                                        </p:attrNameLst>
                                      </p:cBhvr>
                                      <p:to>
                                        <p:strVal val="visible"/>
                                      </p:to>
                                    </p:set>
                                    <p:anim calcmode="lin" valueType="num">
                                      <p:cBhvr additive="base">
                                        <p:cTn id="34" dur="500" fill="hold"/>
                                        <p:tgtEl>
                                          <p:spTgt spid="176131">
                                            <p:txEl>
                                              <p:pRg st="6" end="6"/>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7613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a:extLst>
              <a:ext uri="{FF2B5EF4-FFF2-40B4-BE49-F238E27FC236}">
                <a16:creationId xmlns:a16="http://schemas.microsoft.com/office/drawing/2014/main" id="{C47FC388-EA1C-4C53-9646-CEED7789D5A8}"/>
              </a:ext>
            </a:extLst>
          </p:cNvPr>
          <p:cNvSpPr>
            <a:spLocks noGrp="1" noChangeArrowheads="1"/>
          </p:cNvSpPr>
          <p:nvPr>
            <p:ph type="title"/>
          </p:nvPr>
        </p:nvSpPr>
        <p:spPr>
          <a:xfrm>
            <a:off x="362177" y="506867"/>
            <a:ext cx="8229600" cy="504825"/>
          </a:xfrm>
        </p:spPr>
        <p:txBody>
          <a:bodyPr vert="horz" lIns="91440" tIns="45720" rIns="91440" bIns="45720" rtlCol="0" anchor="b">
            <a:normAutofit fontScale="90000"/>
          </a:bodyPr>
          <a:lstStyle/>
          <a:p>
            <a:r>
              <a:rPr lang="en-US" altLang="zh-CN" sz="4000" dirty="0"/>
              <a:t>4.1.1</a:t>
            </a:r>
            <a:r>
              <a:rPr lang="zh-CN" altLang="en-US" sz="4000" dirty="0"/>
              <a:t>模型机的结构简介</a:t>
            </a:r>
          </a:p>
        </p:txBody>
      </p:sp>
      <p:sp>
        <p:nvSpPr>
          <p:cNvPr id="22531" name="Rectangle 5">
            <a:extLst>
              <a:ext uri="{FF2B5EF4-FFF2-40B4-BE49-F238E27FC236}">
                <a16:creationId xmlns:a16="http://schemas.microsoft.com/office/drawing/2014/main" id="{1866E846-0C33-47E3-8343-D019F211F4F4}"/>
              </a:ext>
            </a:extLst>
          </p:cNvPr>
          <p:cNvSpPr>
            <a:spLocks noChangeArrowheads="1"/>
          </p:cNvSpPr>
          <p:nvPr/>
        </p:nvSpPr>
        <p:spPr bwMode="auto">
          <a:xfrm>
            <a:off x="0" y="2043113"/>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428036" name="Object 4">
            <a:extLst>
              <a:ext uri="{FF2B5EF4-FFF2-40B4-BE49-F238E27FC236}">
                <a16:creationId xmlns:a16="http://schemas.microsoft.com/office/drawing/2014/main" id="{DB6B13D2-3659-4280-87AA-39B49997B38A}"/>
              </a:ext>
            </a:extLst>
          </p:cNvPr>
          <p:cNvGraphicFramePr>
            <a:graphicFrameLocks noChangeAspect="1"/>
          </p:cNvGraphicFramePr>
          <p:nvPr>
            <p:extLst>
              <p:ext uri="{D42A27DB-BD31-4B8C-83A1-F6EECF244321}">
                <p14:modId xmlns:p14="http://schemas.microsoft.com/office/powerpoint/2010/main" val="3215701592"/>
              </p:ext>
            </p:extLst>
          </p:nvPr>
        </p:nvGraphicFramePr>
        <p:xfrm>
          <a:off x="-552944" y="872786"/>
          <a:ext cx="9750426" cy="5907087"/>
        </p:xfrm>
        <a:graphic>
          <a:graphicData uri="http://schemas.openxmlformats.org/presentationml/2006/ole">
            <mc:AlternateContent xmlns:mc="http://schemas.openxmlformats.org/markup-compatibility/2006">
              <mc:Choice xmlns:v="urn:schemas-microsoft-com:vml" Requires="v">
                <p:oleObj name="Visio" r:id="rId2" imgW="4597626" imgH="2768743" progId="Visio.Drawing.11">
                  <p:embed/>
                </p:oleObj>
              </mc:Choice>
              <mc:Fallback>
                <p:oleObj name="Visio" r:id="rId2" imgW="4597626" imgH="2768743" progId="Visio.Drawing.11">
                  <p:embed/>
                  <p:pic>
                    <p:nvPicPr>
                      <p:cNvPr id="428036" name="Object 4">
                        <a:extLst>
                          <a:ext uri="{FF2B5EF4-FFF2-40B4-BE49-F238E27FC236}">
                            <a16:creationId xmlns:a16="http://schemas.microsoft.com/office/drawing/2014/main" id="{DB6B13D2-3659-4280-87AA-39B49997B38A}"/>
                          </a:ext>
                        </a:extLst>
                      </p:cNvPr>
                      <p:cNvPicPr>
                        <a:picLocks noChangeAspect="1" noChangeArrowheads="1"/>
                      </p:cNvPicPr>
                      <p:nvPr/>
                    </p:nvPicPr>
                    <p:blipFill>
                      <a:blip r:embed="rId3"/>
                      <a:srcRect/>
                      <a:stretch>
                        <a:fillRect/>
                      </a:stretch>
                    </p:blipFill>
                    <p:spPr bwMode="auto">
                      <a:xfrm>
                        <a:off x="-552944" y="872786"/>
                        <a:ext cx="9750426" cy="5907087"/>
                      </a:xfrm>
                      <a:prstGeom prst="rect">
                        <a:avLst/>
                      </a:prstGeom>
                      <a:noFill/>
                      <a:ln>
                        <a:noFill/>
                      </a:ln>
                    </p:spPr>
                  </p:pic>
                </p:oleObj>
              </mc:Fallback>
            </mc:AlternateContent>
          </a:graphicData>
        </a:graphic>
      </p:graphicFrame>
      <p:sp>
        <p:nvSpPr>
          <p:cNvPr id="5" name="矩形 4">
            <a:extLst>
              <a:ext uri="{FF2B5EF4-FFF2-40B4-BE49-F238E27FC236}">
                <a16:creationId xmlns:a16="http://schemas.microsoft.com/office/drawing/2014/main" id="{006B90E5-C72D-4D70-85BF-FBA9CB31BABC}"/>
              </a:ext>
            </a:extLst>
          </p:cNvPr>
          <p:cNvSpPr/>
          <p:nvPr/>
        </p:nvSpPr>
        <p:spPr>
          <a:xfrm>
            <a:off x="4165600" y="5754688"/>
            <a:ext cx="1857375" cy="490537"/>
          </a:xfrm>
          <a:prstGeom prst="rect">
            <a:avLst/>
          </a:prstGeom>
          <a:ln>
            <a:solidFill>
              <a:schemeClr val="bg1">
                <a:lumMod val="50000"/>
              </a:schemeClr>
            </a:solidFill>
          </a:ln>
        </p:spPr>
        <p:txBody>
          <a:bodyPr lIns="0" tIns="0" rIns="0" bIns="0">
            <a:spAutoFit/>
          </a:bodyPr>
          <a:lstStyle/>
          <a:p>
            <a:pPr marL="0" lvl="2" algn="ctr" eaLnBrk="1" hangingPunct="1">
              <a:lnSpc>
                <a:spcPct val="114000"/>
              </a:lnSpc>
              <a:spcBef>
                <a:spcPts val="0"/>
              </a:spcBef>
              <a:spcAft>
                <a:spcPts val="1500"/>
              </a:spcAft>
              <a:buSzPct val="120000"/>
              <a:defRPr/>
            </a:pPr>
            <a:r>
              <a:rPr kumimoji="1" lang="en-US" altLang="zh-CN" sz="3200" b="1" dirty="0">
                <a:solidFill>
                  <a:schemeClr val="accent2"/>
                </a:solidFill>
                <a:latin typeface="宋体" charset="-122"/>
              </a:rPr>
              <a:t>I/O</a:t>
            </a:r>
            <a:r>
              <a:rPr kumimoji="1" lang="zh-CN" altLang="en-US" sz="3200" b="1" dirty="0">
                <a:solidFill>
                  <a:schemeClr val="accent2"/>
                </a:solidFill>
                <a:latin typeface="宋体" charset="-122"/>
              </a:rPr>
              <a:t>接口</a:t>
            </a:r>
            <a:endParaRPr kumimoji="1" lang="en-US" altLang="zh-CN" sz="3200" dirty="0">
              <a:latin typeface="宋体" charset="-122"/>
            </a:endParaRPr>
          </a:p>
        </p:txBody>
      </p:sp>
      <p:sp>
        <p:nvSpPr>
          <p:cNvPr id="3" name="矩形 2">
            <a:extLst>
              <a:ext uri="{FF2B5EF4-FFF2-40B4-BE49-F238E27FC236}">
                <a16:creationId xmlns:a16="http://schemas.microsoft.com/office/drawing/2014/main" id="{BDE15414-6B08-4F28-A2D4-0E8C266719DA}"/>
              </a:ext>
            </a:extLst>
          </p:cNvPr>
          <p:cNvSpPr>
            <a:spLocks noChangeArrowheads="1"/>
          </p:cNvSpPr>
          <p:nvPr/>
        </p:nvSpPr>
        <p:spPr bwMode="auto">
          <a:xfrm>
            <a:off x="261938" y="1712913"/>
            <a:ext cx="1436687" cy="4310062"/>
          </a:xfrm>
          <a:prstGeom prst="rect">
            <a:avLst/>
          </a:prstGeom>
          <a:noFill/>
          <a:ln w="9525" algn="ctr">
            <a:solidFill>
              <a:srgbClr val="FF00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 name="矩形 9">
            <a:extLst>
              <a:ext uri="{FF2B5EF4-FFF2-40B4-BE49-F238E27FC236}">
                <a16:creationId xmlns:a16="http://schemas.microsoft.com/office/drawing/2014/main" id="{DEB31B00-35D5-4183-BB08-6F79DA6E83CE}"/>
              </a:ext>
            </a:extLst>
          </p:cNvPr>
          <p:cNvSpPr>
            <a:spLocks noChangeArrowheads="1"/>
          </p:cNvSpPr>
          <p:nvPr/>
        </p:nvSpPr>
        <p:spPr bwMode="auto">
          <a:xfrm>
            <a:off x="2017713" y="1712913"/>
            <a:ext cx="2032000" cy="4310062"/>
          </a:xfrm>
          <a:prstGeom prst="rect">
            <a:avLst/>
          </a:prstGeom>
          <a:noFill/>
          <a:ln w="9525" algn="ctr">
            <a:solidFill>
              <a:srgbClr val="FF00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 name="矩形 6">
            <a:extLst>
              <a:ext uri="{FF2B5EF4-FFF2-40B4-BE49-F238E27FC236}">
                <a16:creationId xmlns:a16="http://schemas.microsoft.com/office/drawing/2014/main" id="{D3ED5B10-BD6A-4930-9E2B-1A14B0BB6CE4}"/>
              </a:ext>
            </a:extLst>
          </p:cNvPr>
          <p:cNvSpPr>
            <a:spLocks noChangeArrowheads="1"/>
          </p:cNvSpPr>
          <p:nvPr/>
        </p:nvSpPr>
        <p:spPr bwMode="auto">
          <a:xfrm>
            <a:off x="473075" y="5939462"/>
            <a:ext cx="29749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CC3300"/>
                </a:solidFill>
                <a:latin typeface="宋体" panose="02010600030101010101" pitchFamily="2" charset="-122"/>
              </a:rPr>
              <a:t>运算器</a:t>
            </a:r>
            <a:r>
              <a:rPr lang="zh-CN" altLang="en-US" sz="2400" b="1" dirty="0">
                <a:latin typeface="宋体" panose="02010600030101010101" pitchFamily="2" charset="-122"/>
              </a:rPr>
              <a:t>      </a:t>
            </a:r>
            <a:r>
              <a:rPr lang="zh-CN" altLang="en-US" sz="2400" b="1" dirty="0">
                <a:solidFill>
                  <a:srgbClr val="CC3300"/>
                </a:solidFill>
                <a:latin typeface="宋体" panose="02010600030101010101" pitchFamily="2" charset="-122"/>
              </a:rPr>
              <a:t>控制器</a:t>
            </a:r>
            <a:endParaRPr lang="zh-CN" altLang="en-US" sz="2400" b="1" dirty="0"/>
          </a:p>
        </p:txBody>
      </p:sp>
      <p:graphicFrame>
        <p:nvGraphicFramePr>
          <p:cNvPr id="12" name="Group 81">
            <a:extLst>
              <a:ext uri="{FF2B5EF4-FFF2-40B4-BE49-F238E27FC236}">
                <a16:creationId xmlns:a16="http://schemas.microsoft.com/office/drawing/2014/main" id="{BC13E0A0-53DD-4501-B4C3-DD891B29581B}"/>
              </a:ext>
            </a:extLst>
          </p:cNvPr>
          <p:cNvGraphicFramePr>
            <a:graphicFrameLocks noGrp="1"/>
          </p:cNvGraphicFramePr>
          <p:nvPr>
            <p:extLst>
              <p:ext uri="{D42A27DB-BD31-4B8C-83A1-F6EECF244321}">
                <p14:modId xmlns:p14="http://schemas.microsoft.com/office/powerpoint/2010/main" val="1783891812"/>
              </p:ext>
            </p:extLst>
          </p:nvPr>
        </p:nvGraphicFramePr>
        <p:xfrm>
          <a:off x="5204960" y="559480"/>
          <a:ext cx="2097087" cy="401638"/>
        </p:xfrm>
        <a:graphic>
          <a:graphicData uri="http://schemas.openxmlformats.org/drawingml/2006/table">
            <a:tbl>
              <a:tblPr/>
              <a:tblGrid>
                <a:gridCol w="2097087">
                  <a:extLst>
                    <a:ext uri="{9D8B030D-6E8A-4147-A177-3AD203B41FA5}">
                      <a16:colId xmlns:a16="http://schemas.microsoft.com/office/drawing/2014/main" val="20000"/>
                    </a:ext>
                  </a:extLst>
                </a:gridCol>
              </a:tblGrid>
              <a:tr h="401638">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400" b="1" i="0" u="none" strike="noStrike" cap="none" normalizeH="0" baseline="0" dirty="0">
                          <a:ln>
                            <a:noFill/>
                          </a:ln>
                          <a:solidFill>
                            <a:srgbClr val="0000CC"/>
                          </a:solidFill>
                          <a:effectLst/>
                          <a:latin typeface="Times New Roman" pitchFamily="18" charset="0"/>
                          <a:ea typeface="宋体" charset="-122"/>
                          <a:cs typeface="Times New Roman" pitchFamily="18" charset="0"/>
                        </a:rPr>
                        <a:t>MOV A</a:t>
                      </a:r>
                      <a:r>
                        <a:rPr kumimoji="0" lang="en-US" altLang="zh-CN" sz="2400" b="1" i="0" u="none" strike="noStrike" cap="none" normalizeH="0" baseline="0" dirty="0">
                          <a:ln>
                            <a:noFill/>
                          </a:ln>
                          <a:solidFill>
                            <a:srgbClr val="0000CC"/>
                          </a:solidFill>
                          <a:effectLst/>
                          <a:latin typeface="Times New Roman" pitchFamily="18" charset="0"/>
                          <a:ea typeface="宋体" charset="-122"/>
                          <a:cs typeface="Times New Roman" pitchFamily="18" charset="0"/>
                        </a:rPr>
                        <a:t>, </a:t>
                      </a:r>
                      <a:r>
                        <a:rPr kumimoji="0" lang="en-US" altLang="zh-CN" sz="2400" b="1" i="0" u="none" strike="noStrike" cap="none" normalizeH="0" baseline="0" dirty="0">
                          <a:ln>
                            <a:noFill/>
                          </a:ln>
                          <a:solidFill>
                            <a:srgbClr val="FF0000"/>
                          </a:solidFill>
                          <a:effectLst/>
                          <a:latin typeface="Times New Roman" pitchFamily="18" charset="0"/>
                          <a:ea typeface="宋体" charset="-122"/>
                          <a:cs typeface="Times New Roman" pitchFamily="18" charset="0"/>
                        </a:rPr>
                        <a:t>#</a:t>
                      </a:r>
                      <a:r>
                        <a:rPr kumimoji="0" lang="pt-BR" altLang="zh-CN" sz="2400" b="1" i="0" u="none" strike="noStrike" cap="none" normalizeH="0" baseline="0" dirty="0">
                          <a:ln>
                            <a:noFill/>
                          </a:ln>
                          <a:solidFill>
                            <a:srgbClr val="0000CC"/>
                          </a:solidFill>
                          <a:effectLst/>
                          <a:latin typeface="Times New Roman" pitchFamily="18" charset="0"/>
                          <a:ea typeface="宋体" charset="-122"/>
                          <a:cs typeface="Times New Roman" pitchFamily="18" charset="0"/>
                        </a:rPr>
                        <a:t>07H</a:t>
                      </a:r>
                    </a:p>
                  </a:txBody>
                  <a:tcPr marL="91430" marR="9143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13" name="表格 12">
            <a:extLst>
              <a:ext uri="{FF2B5EF4-FFF2-40B4-BE49-F238E27FC236}">
                <a16:creationId xmlns:a16="http://schemas.microsoft.com/office/drawing/2014/main" id="{BE23878D-F26D-47BF-B7B0-2726EB8F9133}"/>
              </a:ext>
            </a:extLst>
          </p:cNvPr>
          <p:cNvGraphicFramePr>
            <a:graphicFrameLocks noGrp="1"/>
          </p:cNvGraphicFramePr>
          <p:nvPr>
            <p:extLst>
              <p:ext uri="{D42A27DB-BD31-4B8C-83A1-F6EECF244321}">
                <p14:modId xmlns:p14="http://schemas.microsoft.com/office/powerpoint/2010/main" val="1258263182"/>
              </p:ext>
            </p:extLst>
          </p:nvPr>
        </p:nvGraphicFramePr>
        <p:xfrm>
          <a:off x="7324272" y="209436"/>
          <a:ext cx="1733550" cy="731838"/>
        </p:xfrm>
        <a:graphic>
          <a:graphicData uri="http://schemas.openxmlformats.org/drawingml/2006/table">
            <a:tbl>
              <a:tblPr/>
              <a:tblGrid>
                <a:gridCol w="1733550">
                  <a:extLst>
                    <a:ext uri="{9D8B030D-6E8A-4147-A177-3AD203B41FA5}">
                      <a16:colId xmlns:a16="http://schemas.microsoft.com/office/drawing/2014/main" val="20000"/>
                    </a:ext>
                  </a:extLst>
                </a:gridCol>
              </a:tblGrid>
              <a:tr h="365919">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9900CC"/>
                          </a:solidFill>
                          <a:effectLst/>
                          <a:latin typeface="Times New Roman" pitchFamily="18" charset="0"/>
                          <a:ea typeface="宋体" charset="-122"/>
                          <a:cs typeface="Times New Roman" pitchFamily="18" charset="0"/>
                        </a:rPr>
                        <a:t>机器码</a:t>
                      </a:r>
                    </a:p>
                  </a:txBody>
                  <a:tcPr marL="91476" marR="9147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5919">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400" b="1" i="0" u="none" strike="noStrike" cap="none" normalizeH="0" baseline="0" dirty="0">
                          <a:ln>
                            <a:noFill/>
                          </a:ln>
                          <a:solidFill>
                            <a:srgbClr val="9900CC"/>
                          </a:solidFill>
                          <a:effectLst/>
                          <a:latin typeface="Times New Roman" pitchFamily="18" charset="0"/>
                          <a:ea typeface="宋体" charset="-122"/>
                          <a:cs typeface="Times New Roman" pitchFamily="18" charset="0"/>
                        </a:rPr>
                        <a:t>B0H  07H</a:t>
                      </a:r>
                    </a:p>
                  </a:txBody>
                  <a:tcPr marL="91476" marR="91476"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14" name="矩形 13">
            <a:extLst>
              <a:ext uri="{FF2B5EF4-FFF2-40B4-BE49-F238E27FC236}">
                <a16:creationId xmlns:a16="http://schemas.microsoft.com/office/drawing/2014/main" id="{3453F0F4-FD81-4469-8C4B-6D7B848B8155}"/>
              </a:ext>
            </a:extLst>
          </p:cNvPr>
          <p:cNvSpPr>
            <a:spLocks noChangeArrowheads="1"/>
          </p:cNvSpPr>
          <p:nvPr/>
        </p:nvSpPr>
        <p:spPr bwMode="auto">
          <a:xfrm>
            <a:off x="5168447" y="113393"/>
            <a:ext cx="20367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dirty="0">
                <a:solidFill>
                  <a:srgbClr val="3D41D1"/>
                </a:solidFill>
              </a:rPr>
              <a:t>8086</a:t>
            </a:r>
            <a:r>
              <a:rPr lang="zh-CN" altLang="en-US" sz="2400" b="1" dirty="0">
                <a:solidFill>
                  <a:srgbClr val="3D41D1"/>
                </a:solidFill>
              </a:rPr>
              <a:t>汇编语言</a:t>
            </a:r>
          </a:p>
        </p:txBody>
      </p:sp>
      <p:grpSp>
        <p:nvGrpSpPr>
          <p:cNvPr id="11" name="组合 10">
            <a:extLst>
              <a:ext uri="{FF2B5EF4-FFF2-40B4-BE49-F238E27FC236}">
                <a16:creationId xmlns:a16="http://schemas.microsoft.com/office/drawing/2014/main" id="{E352600F-1F50-4DD8-A0C2-ED0BD97FF08D}"/>
              </a:ext>
            </a:extLst>
          </p:cNvPr>
          <p:cNvGrpSpPr>
            <a:grpSpLocks/>
          </p:cNvGrpSpPr>
          <p:nvPr/>
        </p:nvGrpSpPr>
        <p:grpSpPr bwMode="auto">
          <a:xfrm>
            <a:off x="4230688" y="2752725"/>
            <a:ext cx="1485900" cy="3038475"/>
            <a:chOff x="4285672" y="2743201"/>
            <a:chExt cx="1487057" cy="3038766"/>
          </a:xfrm>
        </p:grpSpPr>
        <p:sp>
          <p:nvSpPr>
            <p:cNvPr id="22558" name="箭头: 上下 19">
              <a:extLst>
                <a:ext uri="{FF2B5EF4-FFF2-40B4-BE49-F238E27FC236}">
                  <a16:creationId xmlns:a16="http://schemas.microsoft.com/office/drawing/2014/main" id="{3C5BF3C3-52E2-4B97-BDBE-8B158E83F831}"/>
                </a:ext>
              </a:extLst>
            </p:cNvPr>
            <p:cNvSpPr>
              <a:spLocks noChangeArrowheads="1"/>
            </p:cNvSpPr>
            <p:nvPr/>
          </p:nvSpPr>
          <p:spPr bwMode="auto">
            <a:xfrm>
              <a:off x="4285672" y="2743201"/>
              <a:ext cx="157017" cy="3038766"/>
            </a:xfrm>
            <a:prstGeom prst="upDownArrow">
              <a:avLst>
                <a:gd name="adj1" fmla="val 50000"/>
                <a:gd name="adj2" fmla="val 75172"/>
              </a:avLst>
            </a:prstGeom>
            <a:noFill/>
            <a:ln w="9525" algn="ctr">
              <a:solidFill>
                <a:srgbClr val="0000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59" name="箭头: 上下 20">
              <a:extLst>
                <a:ext uri="{FF2B5EF4-FFF2-40B4-BE49-F238E27FC236}">
                  <a16:creationId xmlns:a16="http://schemas.microsoft.com/office/drawing/2014/main" id="{65EFDA2B-6D5C-456B-922D-6D144E5434FE}"/>
                </a:ext>
              </a:extLst>
            </p:cNvPr>
            <p:cNvSpPr>
              <a:spLocks noChangeArrowheads="1"/>
            </p:cNvSpPr>
            <p:nvPr/>
          </p:nvSpPr>
          <p:spPr bwMode="auto">
            <a:xfrm>
              <a:off x="5597239" y="3846944"/>
              <a:ext cx="175490" cy="1916548"/>
            </a:xfrm>
            <a:prstGeom prst="upDownArrow">
              <a:avLst>
                <a:gd name="adj1" fmla="val 50000"/>
                <a:gd name="adj2" fmla="val 75184"/>
              </a:avLst>
            </a:prstGeom>
            <a:noFill/>
            <a:ln w="9525" algn="ctr">
              <a:solidFill>
                <a:srgbClr val="0000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60" name="箭头: 上下 21">
              <a:extLst>
                <a:ext uri="{FF2B5EF4-FFF2-40B4-BE49-F238E27FC236}">
                  <a16:creationId xmlns:a16="http://schemas.microsoft.com/office/drawing/2014/main" id="{83D09F50-5A49-4EE4-99EE-E3C3A5E78AF6}"/>
                </a:ext>
              </a:extLst>
            </p:cNvPr>
            <p:cNvSpPr>
              <a:spLocks noChangeArrowheads="1"/>
            </p:cNvSpPr>
            <p:nvPr/>
          </p:nvSpPr>
          <p:spPr bwMode="auto">
            <a:xfrm>
              <a:off x="4886039" y="5588001"/>
              <a:ext cx="193961" cy="184729"/>
            </a:xfrm>
            <a:prstGeom prst="upDownArrow">
              <a:avLst>
                <a:gd name="adj1" fmla="val 50000"/>
                <a:gd name="adj2" fmla="val 27778"/>
              </a:avLst>
            </a:prstGeom>
            <a:noFill/>
            <a:ln w="9525" algn="ctr">
              <a:solidFill>
                <a:srgbClr val="0000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 name="灯片编号占位符 1">
            <a:extLst>
              <a:ext uri="{FF2B5EF4-FFF2-40B4-BE49-F238E27FC236}">
                <a16:creationId xmlns:a16="http://schemas.microsoft.com/office/drawing/2014/main" id="{B8CD0E57-D963-401A-9FC9-A50D3D874123}"/>
              </a:ext>
            </a:extLst>
          </p:cNvPr>
          <p:cNvSpPr>
            <a:spLocks noGrp="1"/>
          </p:cNvSpPr>
          <p:nvPr>
            <p:ph type="sldNum" sz="quarter" idx="12"/>
          </p:nvPr>
        </p:nvSpPr>
        <p:spPr/>
        <p:txBody>
          <a:bodyPr/>
          <a:lstStyle/>
          <a:p>
            <a:fld id="{22E77DEE-32E4-4009-988B-F2758F7B8AC2}" type="slidenum">
              <a:rPr lang="zh-CN" altLang="en-US" smtClean="0"/>
              <a:t>4</a:t>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a:extLst>
              <a:ext uri="{FF2B5EF4-FFF2-40B4-BE49-F238E27FC236}">
                <a16:creationId xmlns:a16="http://schemas.microsoft.com/office/drawing/2014/main" id="{D3E289CF-103D-4F4F-A80C-2C79C72B5BFC}"/>
              </a:ext>
            </a:extLst>
          </p:cNvPr>
          <p:cNvSpPr>
            <a:spLocks noGrp="1" noChangeArrowheads="1"/>
          </p:cNvSpPr>
          <p:nvPr>
            <p:ph type="title"/>
          </p:nvPr>
        </p:nvSpPr>
        <p:spPr>
          <a:xfrm>
            <a:off x="817563" y="500063"/>
            <a:ext cx="7428366" cy="592138"/>
          </a:xfrm>
        </p:spPr>
        <p:txBody>
          <a:bodyPr vert="horz" lIns="91440" tIns="45720" rIns="91440" bIns="45720" rtlCol="0" anchor="b">
            <a:normAutofit fontScale="90000"/>
          </a:bodyPr>
          <a:lstStyle/>
          <a:p>
            <a:r>
              <a:rPr lang="en-US" altLang="zh-CN" sz="4000" dirty="0">
                <a:latin typeface="+mj-ea"/>
              </a:rPr>
              <a:t>4.1.1 </a:t>
            </a:r>
            <a:r>
              <a:rPr lang="zh-CN" altLang="en-US" sz="4000" dirty="0">
                <a:latin typeface="+mj-ea"/>
                <a:hlinkClick r:id="rId3" action="ppaction://hlinksldjump"/>
              </a:rPr>
              <a:t>模型机的结构</a:t>
            </a:r>
            <a:r>
              <a:rPr lang="zh-CN" altLang="en-US" sz="4000" dirty="0">
                <a:latin typeface="+mj-ea"/>
              </a:rPr>
              <a:t>简介</a:t>
            </a:r>
          </a:p>
        </p:txBody>
      </p:sp>
      <p:sp>
        <p:nvSpPr>
          <p:cNvPr id="429059" name="Rectangle 3">
            <a:extLst>
              <a:ext uri="{FF2B5EF4-FFF2-40B4-BE49-F238E27FC236}">
                <a16:creationId xmlns:a16="http://schemas.microsoft.com/office/drawing/2014/main" id="{591DCABD-E803-4A03-9A29-75D6149A4F4D}"/>
              </a:ext>
            </a:extLst>
          </p:cNvPr>
          <p:cNvSpPr>
            <a:spLocks noGrp="1" noChangeArrowheads="1"/>
          </p:cNvSpPr>
          <p:nvPr>
            <p:ph idx="1"/>
          </p:nvPr>
        </p:nvSpPr>
        <p:spPr>
          <a:xfrm>
            <a:off x="817563" y="1176337"/>
            <a:ext cx="7624536" cy="3828370"/>
          </a:xfrm>
        </p:spPr>
        <p:txBody>
          <a:bodyPr/>
          <a:lstStyle/>
          <a:p>
            <a:pPr eaLnBrk="1" hangingPunct="1">
              <a:spcBef>
                <a:spcPts val="0"/>
              </a:spcBef>
              <a:spcAft>
                <a:spcPts val="1800"/>
              </a:spcAft>
              <a:buFontTx/>
              <a:buNone/>
              <a:defRPr/>
            </a:pPr>
            <a:r>
              <a:rPr lang="en-US" altLang="zh-CN" dirty="0">
                <a:solidFill>
                  <a:srgbClr val="FF0000"/>
                </a:solidFill>
                <a:latin typeface="宋体" charset="-122"/>
              </a:rPr>
              <a:t>1</a:t>
            </a:r>
            <a:r>
              <a:rPr lang="zh-CN" altLang="en-US" dirty="0">
                <a:solidFill>
                  <a:srgbClr val="FF0000"/>
                </a:solidFill>
                <a:latin typeface="宋体" charset="-122"/>
              </a:rPr>
              <a:t>、中央处理器的组成</a:t>
            </a:r>
          </a:p>
          <a:p>
            <a:pPr eaLnBrk="1" hangingPunct="1">
              <a:spcBef>
                <a:spcPts val="0"/>
              </a:spcBef>
              <a:spcAft>
                <a:spcPts val="1800"/>
              </a:spcAft>
              <a:buFontTx/>
              <a:buNone/>
              <a:defRPr/>
            </a:pPr>
            <a:r>
              <a:rPr lang="zh-CN" altLang="en-US" dirty="0">
                <a:latin typeface="宋体" charset="-122"/>
              </a:rPr>
              <a:t>中央处理器（</a:t>
            </a:r>
            <a:r>
              <a:rPr lang="en-US" altLang="zh-CN" dirty="0">
                <a:latin typeface="宋体" charset="-122"/>
              </a:rPr>
              <a:t>CPU</a:t>
            </a:r>
            <a:r>
              <a:rPr lang="zh-CN" altLang="en-US" dirty="0">
                <a:latin typeface="宋体" charset="-122"/>
              </a:rPr>
              <a:t>）由</a:t>
            </a:r>
            <a:r>
              <a:rPr lang="zh-CN" altLang="en-US" dirty="0">
                <a:solidFill>
                  <a:srgbClr val="CC3300"/>
                </a:solidFill>
                <a:latin typeface="宋体" charset="-122"/>
              </a:rPr>
              <a:t>运算器</a:t>
            </a:r>
            <a:r>
              <a:rPr lang="zh-CN" altLang="en-US" dirty="0">
                <a:latin typeface="宋体" charset="-122"/>
              </a:rPr>
              <a:t>和</a:t>
            </a:r>
            <a:r>
              <a:rPr lang="zh-CN" altLang="en-US" dirty="0">
                <a:solidFill>
                  <a:srgbClr val="CC3300"/>
                </a:solidFill>
                <a:latin typeface="宋体" charset="-122"/>
              </a:rPr>
              <a:t>控制器</a:t>
            </a:r>
            <a:r>
              <a:rPr lang="zh-CN" altLang="en-US" dirty="0">
                <a:latin typeface="宋体" charset="-122"/>
              </a:rPr>
              <a:t>组成。</a:t>
            </a:r>
          </a:p>
          <a:p>
            <a:pPr eaLnBrk="1" hangingPunct="1">
              <a:spcBef>
                <a:spcPts val="0"/>
              </a:spcBef>
              <a:spcAft>
                <a:spcPts val="1800"/>
              </a:spcAft>
              <a:buFontTx/>
              <a:buNone/>
              <a:defRPr/>
            </a:pPr>
            <a:r>
              <a:rPr lang="zh-CN" altLang="en-US" dirty="0">
                <a:solidFill>
                  <a:srgbClr val="FF0000"/>
                </a:solidFill>
                <a:latin typeface="宋体" charset="-122"/>
              </a:rPr>
              <a:t>（</a:t>
            </a:r>
            <a:r>
              <a:rPr lang="en-US" altLang="zh-CN" dirty="0">
                <a:solidFill>
                  <a:srgbClr val="FF0000"/>
                </a:solidFill>
                <a:latin typeface="宋体" charset="-122"/>
              </a:rPr>
              <a:t>1</a:t>
            </a:r>
            <a:r>
              <a:rPr lang="zh-CN" altLang="en-US" dirty="0">
                <a:solidFill>
                  <a:srgbClr val="FF0000"/>
                </a:solidFill>
                <a:latin typeface="宋体" charset="-122"/>
              </a:rPr>
              <a:t>）运算器</a:t>
            </a:r>
          </a:p>
          <a:p>
            <a:pPr marL="1074738" indent="-1074738" eaLnBrk="1" hangingPunct="1">
              <a:spcBef>
                <a:spcPts val="0"/>
              </a:spcBef>
              <a:spcAft>
                <a:spcPts val="1800"/>
              </a:spcAft>
              <a:buFontTx/>
              <a:buNone/>
              <a:defRPr/>
            </a:pPr>
            <a:r>
              <a:rPr lang="zh-CN" altLang="en-US" dirty="0">
                <a:solidFill>
                  <a:srgbClr val="CC3300"/>
                </a:solidFill>
                <a:latin typeface="宋体" charset="-122"/>
              </a:rPr>
              <a:t>定义</a:t>
            </a:r>
            <a:r>
              <a:rPr lang="en-US" altLang="zh-CN" dirty="0">
                <a:latin typeface="宋体" charset="-122"/>
              </a:rPr>
              <a:t>: </a:t>
            </a:r>
            <a:r>
              <a:rPr lang="zh-CN" altLang="en-US" dirty="0">
                <a:solidFill>
                  <a:schemeClr val="tx1"/>
                </a:solidFill>
                <a:latin typeface="宋体" charset="-122"/>
              </a:rPr>
              <a:t>运算器是计算机中加工和处理数据的功能部件。</a:t>
            </a:r>
          </a:p>
          <a:p>
            <a:pPr marL="1074738" indent="-1074738" eaLnBrk="1" hangingPunct="1">
              <a:spcBef>
                <a:spcPts val="0"/>
              </a:spcBef>
              <a:spcAft>
                <a:spcPts val="1800"/>
              </a:spcAft>
              <a:buFontTx/>
              <a:buNone/>
              <a:defRPr/>
            </a:pPr>
            <a:r>
              <a:rPr lang="zh-CN" altLang="en-US" dirty="0">
                <a:solidFill>
                  <a:srgbClr val="CC3300"/>
                </a:solidFill>
                <a:latin typeface="宋体" charset="-122"/>
              </a:rPr>
              <a:t>功能</a:t>
            </a:r>
            <a:r>
              <a:rPr lang="en-US" altLang="zh-CN" dirty="0">
                <a:latin typeface="宋体" charset="-122"/>
              </a:rPr>
              <a:t>: </a:t>
            </a:r>
            <a:r>
              <a:rPr lang="zh-CN" altLang="en-US" dirty="0">
                <a:solidFill>
                  <a:schemeClr val="tx1"/>
                </a:solidFill>
                <a:latin typeface="宋体" charset="-122"/>
              </a:rPr>
              <a:t>对数据进行加工处理</a:t>
            </a:r>
            <a:r>
              <a:rPr lang="en-US" altLang="zh-CN" dirty="0">
                <a:solidFill>
                  <a:schemeClr val="tx1"/>
                </a:solidFill>
                <a:latin typeface="宋体" charset="-122"/>
              </a:rPr>
              <a:t>,</a:t>
            </a:r>
            <a:r>
              <a:rPr lang="zh-CN" altLang="en-US" dirty="0">
                <a:solidFill>
                  <a:schemeClr val="tx1"/>
                </a:solidFill>
                <a:latin typeface="宋体" charset="-122"/>
              </a:rPr>
              <a:t>主要包括算术和逻辑运算，如加、减、乘、与、或、非运算等。</a:t>
            </a:r>
            <a:endParaRPr lang="en-US" altLang="zh-CN" dirty="0">
              <a:solidFill>
                <a:schemeClr val="tx1"/>
              </a:solidFill>
              <a:latin typeface="宋体" charset="-122"/>
            </a:endParaRPr>
          </a:p>
          <a:p>
            <a:pPr marL="1074738" indent="-1074738" eaLnBrk="1" hangingPunct="1">
              <a:spcBef>
                <a:spcPts val="0"/>
              </a:spcBef>
              <a:spcAft>
                <a:spcPts val="1800"/>
              </a:spcAft>
              <a:buFontTx/>
              <a:buNone/>
              <a:defRPr/>
            </a:pPr>
            <a:r>
              <a:rPr lang="en-US" altLang="zh-CN" dirty="0">
                <a:solidFill>
                  <a:schemeClr val="tx1"/>
                </a:solidFill>
                <a:latin typeface="宋体" charset="-122"/>
              </a:rPr>
              <a:t>      </a:t>
            </a:r>
            <a:r>
              <a:rPr lang="zh-CN" altLang="en-US" dirty="0">
                <a:solidFill>
                  <a:schemeClr val="tx1"/>
                </a:solidFill>
                <a:latin typeface="宋体" charset="-122"/>
              </a:rPr>
              <a:t>还暂时存放参与运算的数据和中间结果。</a:t>
            </a:r>
          </a:p>
        </p:txBody>
      </p:sp>
      <p:sp>
        <p:nvSpPr>
          <p:cNvPr id="2" name="灯片编号占位符 1">
            <a:extLst>
              <a:ext uri="{FF2B5EF4-FFF2-40B4-BE49-F238E27FC236}">
                <a16:creationId xmlns:a16="http://schemas.microsoft.com/office/drawing/2014/main" id="{93156AAF-073D-48E3-B679-24A07EE21283}"/>
              </a:ext>
            </a:extLst>
          </p:cNvPr>
          <p:cNvSpPr>
            <a:spLocks noGrp="1"/>
          </p:cNvSpPr>
          <p:nvPr>
            <p:ph type="sldNum" sz="quarter" idx="12"/>
          </p:nvPr>
        </p:nvSpPr>
        <p:spPr/>
        <p:txBody>
          <a:bodyPr/>
          <a:lstStyle/>
          <a:p>
            <a:fld id="{22E77DEE-32E4-4009-988B-F2758F7B8AC2}" type="slidenum">
              <a:rPr lang="zh-CN" altLang="en-US" smtClean="0"/>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D3C4D652-9231-4BE8-98E2-4EAB2AF40CE8}"/>
              </a:ext>
            </a:extLst>
          </p:cNvPr>
          <p:cNvSpPr>
            <a:spLocks noGrp="1" noChangeArrowheads="1"/>
          </p:cNvSpPr>
          <p:nvPr>
            <p:ph type="title"/>
          </p:nvPr>
        </p:nvSpPr>
        <p:spPr>
          <a:xfrm>
            <a:off x="904761" y="461282"/>
            <a:ext cx="7334477" cy="582375"/>
          </a:xfrm>
        </p:spPr>
        <p:txBody>
          <a:bodyPr vert="horz" lIns="91440" tIns="45720" rIns="91440" bIns="45720" rtlCol="0" anchor="b">
            <a:normAutofit fontScale="90000"/>
          </a:bodyPr>
          <a:lstStyle/>
          <a:p>
            <a:r>
              <a:rPr lang="en-US" altLang="zh-CN" sz="4000" dirty="0"/>
              <a:t>1</a:t>
            </a:r>
            <a:r>
              <a:rPr lang="zh-CN" altLang="en-US" sz="4000" dirty="0"/>
              <a:t>、中央处理器的组成</a:t>
            </a:r>
          </a:p>
        </p:txBody>
      </p:sp>
      <p:sp>
        <p:nvSpPr>
          <p:cNvPr id="578563" name="Rectangle 3">
            <a:extLst>
              <a:ext uri="{FF2B5EF4-FFF2-40B4-BE49-F238E27FC236}">
                <a16:creationId xmlns:a16="http://schemas.microsoft.com/office/drawing/2014/main" id="{1AFB26A1-77F0-4051-9416-763B221E8D90}"/>
              </a:ext>
            </a:extLst>
          </p:cNvPr>
          <p:cNvSpPr>
            <a:spLocks noGrp="1" noChangeArrowheads="1"/>
          </p:cNvSpPr>
          <p:nvPr>
            <p:ph idx="1"/>
          </p:nvPr>
        </p:nvSpPr>
        <p:spPr>
          <a:xfrm>
            <a:off x="673554" y="1190625"/>
            <a:ext cx="7751989" cy="4975225"/>
          </a:xfrm>
        </p:spPr>
        <p:txBody>
          <a:bodyPr/>
          <a:lstStyle/>
          <a:p>
            <a:pPr eaLnBrk="1" hangingPunct="1">
              <a:lnSpc>
                <a:spcPct val="100000"/>
              </a:lnSpc>
              <a:spcAft>
                <a:spcPts val="1200"/>
              </a:spcAft>
            </a:pPr>
            <a:r>
              <a:rPr lang="zh-CN" altLang="en-US" dirty="0">
                <a:solidFill>
                  <a:srgbClr val="CC3300"/>
                </a:solidFill>
                <a:hlinkClick r:id="rId2" action="ppaction://hlinksldjump"/>
              </a:rPr>
              <a:t>运算器</a:t>
            </a:r>
            <a:r>
              <a:rPr lang="zh-CN" altLang="en-US" dirty="0">
                <a:solidFill>
                  <a:srgbClr val="CC3300"/>
                </a:solidFill>
              </a:rPr>
              <a:t>组成部分</a:t>
            </a:r>
            <a:endParaRPr lang="zh-CN" altLang="en-US" dirty="0"/>
          </a:p>
          <a:p>
            <a:pPr lvl="1" algn="l" eaLnBrk="1" hangingPunct="1">
              <a:spcAft>
                <a:spcPts val="1200"/>
              </a:spcAft>
            </a:pPr>
            <a:r>
              <a:rPr lang="zh-CN" altLang="en-US" dirty="0">
                <a:solidFill>
                  <a:schemeClr val="accent2"/>
                </a:solidFill>
                <a:latin typeface="Times New Roman" panose="02020603050405020304" pitchFamily="18" charset="0"/>
                <a:cs typeface="Times New Roman" panose="02020603050405020304" pitchFamily="18" charset="0"/>
              </a:rPr>
              <a:t>算数逻辑单元</a:t>
            </a:r>
            <a:r>
              <a:rPr lang="en-US" altLang="zh-CN" dirty="0">
                <a:solidFill>
                  <a:srgbClr val="FF0000"/>
                </a:solidFill>
                <a:latin typeface="Times New Roman" panose="02020603050405020304" pitchFamily="18" charset="0"/>
                <a:cs typeface="Times New Roman" panose="02020603050405020304" pitchFamily="18" charset="0"/>
              </a:rPr>
              <a:t>ALU</a:t>
            </a:r>
            <a:r>
              <a:rPr lang="en-US" altLang="zh-CN" dirty="0">
                <a:solidFill>
                  <a:schemeClr val="accent2"/>
                </a:solidFill>
                <a:latin typeface="Times New Roman" panose="02020603050405020304" pitchFamily="18" charset="0"/>
                <a:cs typeface="Times New Roman" panose="02020603050405020304" pitchFamily="18" charset="0"/>
              </a:rPr>
              <a:t>(</a:t>
            </a:r>
            <a:r>
              <a:rPr lang="en-US" altLang="zh-CN" dirty="0">
                <a:solidFill>
                  <a:srgbClr val="CC3300"/>
                </a:solidFill>
                <a:latin typeface="Times New Roman" panose="02020603050405020304" pitchFamily="18" charset="0"/>
                <a:cs typeface="Times New Roman" panose="02020603050405020304" pitchFamily="18" charset="0"/>
              </a:rPr>
              <a:t>A</a:t>
            </a:r>
            <a:r>
              <a:rPr lang="en-US" altLang="zh-CN" dirty="0">
                <a:solidFill>
                  <a:schemeClr val="accent2"/>
                </a:solidFill>
                <a:latin typeface="Times New Roman" panose="02020603050405020304" pitchFamily="18" charset="0"/>
                <a:cs typeface="Times New Roman" panose="02020603050405020304" pitchFamily="18" charset="0"/>
              </a:rPr>
              <a:t>rithmetic </a:t>
            </a:r>
            <a:r>
              <a:rPr lang="en-US" altLang="zh-CN" dirty="0">
                <a:solidFill>
                  <a:srgbClr val="CC3300"/>
                </a:solidFill>
                <a:latin typeface="Times New Roman" panose="02020603050405020304" pitchFamily="18" charset="0"/>
                <a:cs typeface="Times New Roman" panose="02020603050405020304" pitchFamily="18" charset="0"/>
              </a:rPr>
              <a:t>L</a:t>
            </a:r>
            <a:r>
              <a:rPr lang="en-US" altLang="zh-CN" dirty="0">
                <a:solidFill>
                  <a:schemeClr val="accent2"/>
                </a:solidFill>
                <a:latin typeface="Times New Roman" panose="02020603050405020304" pitchFamily="18" charset="0"/>
                <a:cs typeface="Times New Roman" panose="02020603050405020304" pitchFamily="18" charset="0"/>
              </a:rPr>
              <a:t>ogical </a:t>
            </a:r>
            <a:r>
              <a:rPr lang="en-US" altLang="zh-CN" dirty="0">
                <a:solidFill>
                  <a:srgbClr val="CC3300"/>
                </a:solidFill>
                <a:latin typeface="Times New Roman" panose="02020603050405020304" pitchFamily="18" charset="0"/>
                <a:cs typeface="Times New Roman" panose="02020603050405020304" pitchFamily="18" charset="0"/>
              </a:rPr>
              <a:t>U</a:t>
            </a:r>
            <a:r>
              <a:rPr lang="en-US" altLang="zh-CN" dirty="0">
                <a:solidFill>
                  <a:schemeClr val="accent2"/>
                </a:solidFill>
                <a:latin typeface="Times New Roman" panose="02020603050405020304" pitchFamily="18" charset="0"/>
                <a:cs typeface="Times New Roman" panose="02020603050405020304" pitchFamily="18" charset="0"/>
              </a:rPr>
              <a:t>nit)</a:t>
            </a:r>
            <a:r>
              <a:rPr lang="zh-CN" altLang="en-US" dirty="0">
                <a:solidFill>
                  <a:schemeClr val="accent2"/>
                </a:solidFill>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主要完成算术、逻辑运算。</a:t>
            </a:r>
          </a:p>
          <a:p>
            <a:pPr lvl="1" algn="l" eaLnBrk="1" hangingPunct="1">
              <a:spcAft>
                <a:spcPts val="1200"/>
              </a:spcAft>
            </a:pPr>
            <a:r>
              <a:rPr lang="zh-CN" altLang="en-US" dirty="0">
                <a:solidFill>
                  <a:schemeClr val="accent2"/>
                </a:solidFill>
                <a:latin typeface="Times New Roman" panose="02020603050405020304" pitchFamily="18" charset="0"/>
                <a:cs typeface="Times New Roman" panose="02020603050405020304" pitchFamily="18" charset="0"/>
              </a:rPr>
              <a:t>累加寄存器（简称累加器）</a:t>
            </a:r>
            <a:r>
              <a:rPr lang="en-US" altLang="zh-CN" dirty="0">
                <a:solidFill>
                  <a:srgbClr val="FF0000"/>
                </a:solidFill>
                <a:latin typeface="Times New Roman" panose="02020603050405020304" pitchFamily="18" charset="0"/>
                <a:cs typeface="Times New Roman" panose="02020603050405020304" pitchFamily="18" charset="0"/>
              </a:rPr>
              <a:t>A(Accumulator)</a:t>
            </a:r>
            <a:r>
              <a:rPr lang="zh-CN" altLang="en-US" dirty="0">
                <a:solidFill>
                  <a:schemeClr val="accent2"/>
                </a:solidFill>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用于存放操作数或运算结果。</a:t>
            </a:r>
          </a:p>
          <a:p>
            <a:pPr lvl="1" algn="l" eaLnBrk="1" hangingPunct="1">
              <a:spcAft>
                <a:spcPts val="1200"/>
              </a:spcAft>
            </a:pPr>
            <a:r>
              <a:rPr lang="zh-CN" altLang="en-US" dirty="0">
                <a:solidFill>
                  <a:schemeClr val="accent2"/>
                </a:solidFill>
                <a:latin typeface="Times New Roman" panose="02020603050405020304" pitchFamily="18" charset="0"/>
                <a:cs typeface="Times New Roman" panose="02020603050405020304" pitchFamily="18" charset="0"/>
              </a:rPr>
              <a:t>寄存器组：</a:t>
            </a:r>
            <a:r>
              <a:rPr lang="zh-CN" altLang="en-US" dirty="0">
                <a:latin typeface="Times New Roman" panose="02020603050405020304" pitchFamily="18" charset="0"/>
                <a:cs typeface="Times New Roman" panose="02020603050405020304" pitchFamily="18" charset="0"/>
              </a:rPr>
              <a:t>由其它寄存器组成，主要用于存放操作数或运算结果。</a:t>
            </a:r>
          </a:p>
          <a:p>
            <a:pPr lvl="1" algn="l" eaLnBrk="1" hangingPunct="1">
              <a:spcAft>
                <a:spcPts val="1200"/>
              </a:spcAft>
            </a:pPr>
            <a:r>
              <a:rPr lang="zh-CN" altLang="en-US" dirty="0">
                <a:solidFill>
                  <a:schemeClr val="accent2"/>
                </a:solidFill>
                <a:latin typeface="Times New Roman" panose="02020603050405020304" pitchFamily="18" charset="0"/>
                <a:cs typeface="Times New Roman" panose="02020603050405020304" pitchFamily="18" charset="0"/>
              </a:rPr>
              <a:t>标志寄存器</a:t>
            </a:r>
            <a:r>
              <a:rPr lang="en-US" altLang="zh-CN" dirty="0">
                <a:solidFill>
                  <a:srgbClr val="FF0000"/>
                </a:solidFill>
                <a:latin typeface="Times New Roman" panose="02020603050405020304" pitchFamily="18" charset="0"/>
                <a:cs typeface="Times New Roman" panose="02020603050405020304" pitchFamily="18" charset="0"/>
              </a:rPr>
              <a:t>F(Flag)</a:t>
            </a:r>
            <a:r>
              <a:rPr lang="zh-CN" altLang="en-US" dirty="0">
                <a:solidFill>
                  <a:srgbClr val="3366FF"/>
                </a:solidFill>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存放运算结果的标志（零、正负、进位、溢出等）。</a:t>
            </a:r>
          </a:p>
          <a:p>
            <a:pPr eaLnBrk="1" hangingPunct="1">
              <a:lnSpc>
                <a:spcPct val="100000"/>
              </a:lnSpc>
              <a:spcAft>
                <a:spcPts val="1200"/>
              </a:spcAft>
            </a:pPr>
            <a:endParaRPr lang="en-US" altLang="zh-CN" dirty="0"/>
          </a:p>
        </p:txBody>
      </p:sp>
      <p:sp>
        <p:nvSpPr>
          <p:cNvPr id="2" name="灯片编号占位符 1">
            <a:extLst>
              <a:ext uri="{FF2B5EF4-FFF2-40B4-BE49-F238E27FC236}">
                <a16:creationId xmlns:a16="http://schemas.microsoft.com/office/drawing/2014/main" id="{C65DD17A-441F-4593-B2C4-905CF154E690}"/>
              </a:ext>
            </a:extLst>
          </p:cNvPr>
          <p:cNvSpPr>
            <a:spLocks noGrp="1"/>
          </p:cNvSpPr>
          <p:nvPr>
            <p:ph type="sldNum" sz="quarter" idx="12"/>
          </p:nvPr>
        </p:nvSpPr>
        <p:spPr/>
        <p:txBody>
          <a:bodyPr/>
          <a:lstStyle/>
          <a:p>
            <a:fld id="{22E77DEE-32E4-4009-988B-F2758F7B8AC2}" type="slidenum">
              <a:rPr lang="zh-CN" altLang="en-US" smtClean="0"/>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26C9BCDA-3FFD-4875-8866-51EA45E16967}"/>
              </a:ext>
            </a:extLst>
          </p:cNvPr>
          <p:cNvSpPr>
            <a:spLocks noGrp="1" noChangeArrowheads="1"/>
          </p:cNvSpPr>
          <p:nvPr>
            <p:ph type="title"/>
          </p:nvPr>
        </p:nvSpPr>
        <p:spPr>
          <a:xfrm>
            <a:off x="717962" y="604837"/>
            <a:ext cx="4346575" cy="498475"/>
          </a:xfrm>
        </p:spPr>
        <p:txBody>
          <a:bodyPr/>
          <a:lstStyle/>
          <a:p>
            <a:pPr eaLnBrk="1" hangingPunct="1"/>
            <a:r>
              <a:rPr lang="en-US" altLang="zh-CN" sz="2800" dirty="0">
                <a:solidFill>
                  <a:srgbClr val="FF0000"/>
                </a:solidFill>
                <a:latin typeface="宋体" panose="02010600030101010101" pitchFamily="2" charset="-122"/>
              </a:rPr>
              <a:t>1</a:t>
            </a:r>
            <a:r>
              <a:rPr lang="zh-CN" altLang="en-US" sz="2800" dirty="0">
                <a:solidFill>
                  <a:srgbClr val="FF0000"/>
                </a:solidFill>
                <a:latin typeface="宋体" panose="02010600030101010101" pitchFamily="2" charset="-122"/>
              </a:rPr>
              <a:t>、中央处理器的组成</a:t>
            </a:r>
            <a:endParaRPr lang="zh-CN" altLang="en-US" sz="2800" dirty="0"/>
          </a:p>
        </p:txBody>
      </p:sp>
      <p:sp>
        <p:nvSpPr>
          <p:cNvPr id="430083" name="Rectangle 3">
            <a:extLst>
              <a:ext uri="{FF2B5EF4-FFF2-40B4-BE49-F238E27FC236}">
                <a16:creationId xmlns:a16="http://schemas.microsoft.com/office/drawing/2014/main" id="{4B7A1D41-98B7-41A5-8158-30D60A9486B8}"/>
              </a:ext>
            </a:extLst>
          </p:cNvPr>
          <p:cNvSpPr>
            <a:spLocks noGrp="1" noChangeArrowheads="1"/>
          </p:cNvSpPr>
          <p:nvPr>
            <p:ph idx="1"/>
          </p:nvPr>
        </p:nvSpPr>
        <p:spPr>
          <a:xfrm>
            <a:off x="710975" y="1172936"/>
            <a:ext cx="7616598" cy="904875"/>
          </a:xfrm>
        </p:spPr>
        <p:txBody>
          <a:bodyPr/>
          <a:lstStyle/>
          <a:p>
            <a:pPr eaLnBrk="1" hangingPunct="1">
              <a:lnSpc>
                <a:spcPct val="104000"/>
              </a:lnSpc>
              <a:spcBef>
                <a:spcPct val="0"/>
              </a:spcBef>
              <a:buFontTx/>
              <a:buNone/>
            </a:pPr>
            <a:r>
              <a:rPr lang="zh-CN" altLang="en-US" dirty="0">
                <a:solidFill>
                  <a:srgbClr val="CC3300"/>
                </a:solidFill>
                <a:latin typeface="宋体" panose="02010600030101010101" pitchFamily="2" charset="-122"/>
              </a:rPr>
              <a:t>功能</a:t>
            </a:r>
            <a:r>
              <a:rPr lang="zh-CN" altLang="en-US" dirty="0">
                <a:latin typeface="宋体" panose="02010600030101010101" pitchFamily="2" charset="-122"/>
              </a:rPr>
              <a:t>：</a:t>
            </a:r>
            <a:r>
              <a:rPr lang="zh-CN" altLang="en-US" dirty="0">
                <a:solidFill>
                  <a:schemeClr val="tx1"/>
                </a:solidFill>
                <a:latin typeface="宋体" panose="02010600030101010101" pitchFamily="2" charset="-122"/>
              </a:rPr>
              <a:t>控制器用于控制和指挥计算机内各功能部件协调动作，完成计算机程序功能。</a:t>
            </a:r>
          </a:p>
        </p:txBody>
      </p:sp>
      <p:sp>
        <p:nvSpPr>
          <p:cNvPr id="5" name="Rectangle 3">
            <a:extLst>
              <a:ext uri="{FF2B5EF4-FFF2-40B4-BE49-F238E27FC236}">
                <a16:creationId xmlns:a16="http://schemas.microsoft.com/office/drawing/2014/main" id="{2A83F586-CF84-434D-B3C7-E41B7D7DC7CB}"/>
              </a:ext>
            </a:extLst>
          </p:cNvPr>
          <p:cNvSpPr txBox="1">
            <a:spLocks noChangeArrowheads="1"/>
          </p:cNvSpPr>
          <p:nvPr/>
        </p:nvSpPr>
        <p:spPr bwMode="auto">
          <a:xfrm>
            <a:off x="649061" y="1983242"/>
            <a:ext cx="7462157" cy="3795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1938" indent="-261938" algn="l" eaLnBrk="1" hangingPunct="1">
              <a:lnSpc>
                <a:spcPct val="104000"/>
              </a:lnSpc>
              <a:spcBef>
                <a:spcPts val="0"/>
              </a:spcBef>
              <a:defRPr/>
            </a:pPr>
            <a:r>
              <a:rPr lang="zh-CN" altLang="en-US" sz="2000" dirty="0">
                <a:solidFill>
                  <a:srgbClr val="CC3300"/>
                </a:solidFill>
                <a:latin typeface="Times New Roman" panose="02020603050405020304" pitchFamily="18" charset="0"/>
                <a:cs typeface="Times New Roman" panose="02020603050405020304" pitchFamily="18" charset="0"/>
                <a:hlinkClick r:id="rId4" action="ppaction://hlinksldjump"/>
              </a:rPr>
              <a:t>控制器组成</a:t>
            </a:r>
            <a:endParaRPr lang="zh-CN" altLang="en-US" sz="2000" dirty="0">
              <a:solidFill>
                <a:srgbClr val="CC3300"/>
              </a:solidFill>
              <a:latin typeface="Times New Roman" panose="02020603050405020304" pitchFamily="18" charset="0"/>
              <a:cs typeface="Times New Roman" panose="02020603050405020304" pitchFamily="18" charset="0"/>
            </a:endParaRPr>
          </a:p>
          <a:p>
            <a:pPr marL="266700" lvl="1" indent="-180975" algn="l" eaLnBrk="1" hangingPunct="1">
              <a:lnSpc>
                <a:spcPct val="104000"/>
              </a:lnSpc>
              <a:spcBef>
                <a:spcPts val="0"/>
              </a:spcBef>
              <a:spcAft>
                <a:spcPts val="600"/>
              </a:spcAft>
              <a:defRPr/>
            </a:pPr>
            <a:r>
              <a:rPr lang="zh-CN" altLang="en-US" sz="2000" dirty="0">
                <a:solidFill>
                  <a:schemeClr val="accent2"/>
                </a:solidFill>
                <a:latin typeface="Times New Roman" panose="02020603050405020304" pitchFamily="18" charset="0"/>
                <a:cs typeface="Times New Roman" panose="02020603050405020304" pitchFamily="18" charset="0"/>
              </a:rPr>
              <a:t>程序计数器</a:t>
            </a:r>
            <a:r>
              <a:rPr lang="en-US" altLang="zh-CN" sz="2000" dirty="0">
                <a:solidFill>
                  <a:srgbClr val="FF0000"/>
                </a:solidFill>
                <a:latin typeface="Times New Roman" panose="02020603050405020304" pitchFamily="18" charset="0"/>
                <a:cs typeface="Times New Roman" panose="02020603050405020304" pitchFamily="18" charset="0"/>
              </a:rPr>
              <a:t>PC</a:t>
            </a:r>
            <a:r>
              <a:rPr lang="en-US" altLang="zh-CN" sz="2000" dirty="0">
                <a:solidFill>
                  <a:schemeClr val="accent2"/>
                </a:solidFill>
                <a:latin typeface="Times New Roman" panose="02020603050405020304" pitchFamily="18" charset="0"/>
                <a:cs typeface="Times New Roman" panose="02020603050405020304" pitchFamily="18" charset="0"/>
              </a:rPr>
              <a:t>(</a:t>
            </a:r>
            <a:r>
              <a:rPr lang="en-US" altLang="zh-CN" sz="2000" dirty="0">
                <a:solidFill>
                  <a:srgbClr val="CC3300"/>
                </a:solidFill>
                <a:latin typeface="Times New Roman" panose="02020603050405020304" pitchFamily="18" charset="0"/>
                <a:cs typeface="Times New Roman" panose="02020603050405020304" pitchFamily="18" charset="0"/>
              </a:rPr>
              <a:t>P</a:t>
            </a:r>
            <a:r>
              <a:rPr lang="en-US" altLang="zh-CN" sz="2000" dirty="0">
                <a:solidFill>
                  <a:schemeClr val="accent2"/>
                </a:solidFill>
                <a:latin typeface="Times New Roman" panose="02020603050405020304" pitchFamily="18" charset="0"/>
                <a:cs typeface="Times New Roman" panose="02020603050405020304" pitchFamily="18" charset="0"/>
              </a:rPr>
              <a:t>rogram</a:t>
            </a:r>
            <a:r>
              <a:rPr lang="en-US" altLang="zh-CN" sz="2000" dirty="0">
                <a:solidFill>
                  <a:srgbClr val="CC3300"/>
                </a:solidFill>
                <a:latin typeface="Times New Roman" panose="02020603050405020304" pitchFamily="18" charset="0"/>
                <a:cs typeface="Times New Roman" panose="02020603050405020304" pitchFamily="18" charset="0"/>
              </a:rPr>
              <a:t> C</a:t>
            </a:r>
            <a:r>
              <a:rPr lang="en-US" altLang="zh-CN" sz="2000" dirty="0">
                <a:solidFill>
                  <a:schemeClr val="accent2"/>
                </a:solidFill>
                <a:latin typeface="Times New Roman" panose="02020603050405020304" pitchFamily="18" charset="0"/>
                <a:cs typeface="Times New Roman" panose="02020603050405020304" pitchFamily="18" charset="0"/>
              </a:rPr>
              <a:t>ounter)</a:t>
            </a:r>
            <a:r>
              <a:rPr lang="zh-CN" altLang="en-US" sz="2000" dirty="0">
                <a:solidFill>
                  <a:schemeClr val="accent2"/>
                </a:solidFill>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用于存放将要取出的指令地址</a:t>
            </a:r>
            <a:r>
              <a:rPr lang="en-US" altLang="zh-CN" sz="2000" dirty="0">
                <a:latin typeface="Times New Roman" panose="02020603050405020304" pitchFamily="18" charset="0"/>
                <a:cs typeface="Times New Roman" panose="02020603050405020304" pitchFamily="18" charset="0"/>
              </a:rPr>
              <a:t>, </a:t>
            </a:r>
            <a:r>
              <a:rPr lang="zh-CN" altLang="en-US" sz="2000" dirty="0">
                <a:solidFill>
                  <a:srgbClr val="3366FF"/>
                </a:solidFill>
                <a:latin typeface="Times New Roman" panose="02020603050405020304" pitchFamily="18" charset="0"/>
                <a:cs typeface="Times New Roman" panose="02020603050405020304" pitchFamily="18" charset="0"/>
              </a:rPr>
              <a:t>指令</a:t>
            </a:r>
            <a:r>
              <a:rPr lang="en-US" altLang="zh-CN" sz="2000" dirty="0">
                <a:solidFill>
                  <a:srgbClr val="3366FF"/>
                </a:solidFill>
                <a:latin typeface="Times New Roman" panose="02020603050405020304" pitchFamily="18" charset="0"/>
                <a:cs typeface="Times New Roman" panose="02020603050405020304" pitchFamily="18" charset="0"/>
              </a:rPr>
              <a:t>(</a:t>
            </a:r>
            <a:r>
              <a:rPr lang="zh-CN" altLang="en-US" sz="2000" dirty="0">
                <a:solidFill>
                  <a:srgbClr val="3366FF"/>
                </a:solidFill>
                <a:latin typeface="Times New Roman" panose="02020603050405020304" pitchFamily="18" charset="0"/>
                <a:cs typeface="Times New Roman" panose="02020603050405020304" pitchFamily="18" charset="0"/>
              </a:rPr>
              <a:t>地址</a:t>
            </a:r>
            <a:r>
              <a:rPr lang="en-US" altLang="zh-CN" sz="2000" dirty="0">
                <a:solidFill>
                  <a:srgbClr val="3366FF"/>
                </a:solidFill>
                <a:latin typeface="Times New Roman" panose="02020603050405020304" pitchFamily="18" charset="0"/>
                <a:cs typeface="Times New Roman" panose="02020603050405020304" pitchFamily="18" charset="0"/>
              </a:rPr>
              <a:t>)</a:t>
            </a:r>
            <a:r>
              <a:rPr lang="zh-CN" altLang="en-US" sz="2000" dirty="0">
                <a:solidFill>
                  <a:srgbClr val="3366FF"/>
                </a:solidFill>
                <a:latin typeface="Times New Roman" panose="02020603050405020304" pitchFamily="18" charset="0"/>
                <a:cs typeface="Times New Roman" panose="02020603050405020304" pitchFamily="18" charset="0"/>
              </a:rPr>
              <a:t>取出后</a:t>
            </a:r>
            <a:r>
              <a:rPr lang="en-US" altLang="zh-CN" sz="2000" dirty="0">
                <a:solidFill>
                  <a:srgbClr val="3366FF"/>
                </a:solidFill>
                <a:latin typeface="Times New Roman" panose="02020603050405020304" pitchFamily="18" charset="0"/>
                <a:cs typeface="Times New Roman" panose="02020603050405020304" pitchFamily="18" charset="0"/>
              </a:rPr>
              <a:t>, </a:t>
            </a:r>
            <a:r>
              <a:rPr lang="zh-CN" altLang="en-US" sz="2000" dirty="0">
                <a:solidFill>
                  <a:srgbClr val="3366FF"/>
                </a:solidFill>
                <a:latin typeface="Times New Roman" panose="02020603050405020304" pitchFamily="18" charset="0"/>
                <a:cs typeface="Times New Roman" panose="02020603050405020304" pitchFamily="18" charset="0"/>
              </a:rPr>
              <a:t>其内容自动加</a:t>
            </a:r>
            <a:r>
              <a:rPr lang="en-US" altLang="zh-CN" sz="2000" dirty="0">
                <a:solidFill>
                  <a:srgbClr val="3366FF"/>
                </a:solidFill>
                <a:latin typeface="Times New Roman" panose="02020603050405020304" pitchFamily="18" charset="0"/>
                <a:cs typeface="Times New Roman" panose="02020603050405020304" pitchFamily="18" charset="0"/>
              </a:rPr>
              <a:t>1</a:t>
            </a:r>
            <a:r>
              <a:rPr lang="zh-CN" altLang="en-US" sz="2000" dirty="0">
                <a:latin typeface="Times New Roman" panose="02020603050405020304" pitchFamily="18" charset="0"/>
                <a:cs typeface="Times New Roman" panose="02020603050405020304" pitchFamily="18" charset="0"/>
              </a:rPr>
              <a:t>。</a:t>
            </a:r>
          </a:p>
          <a:p>
            <a:pPr marL="266700" lvl="1" indent="-180975" algn="l" eaLnBrk="1" hangingPunct="1">
              <a:lnSpc>
                <a:spcPct val="101000"/>
              </a:lnSpc>
              <a:spcBef>
                <a:spcPts val="0"/>
              </a:spcBef>
              <a:spcAft>
                <a:spcPts val="600"/>
              </a:spcAft>
              <a:defRPr/>
            </a:pPr>
            <a:r>
              <a:rPr lang="zh-CN" altLang="en-US" sz="2000" kern="0" dirty="0">
                <a:solidFill>
                  <a:schemeClr val="accent2"/>
                </a:solidFill>
                <a:latin typeface="Times New Roman" panose="02020603050405020304" pitchFamily="18" charset="0"/>
                <a:cs typeface="Times New Roman" panose="02020603050405020304" pitchFamily="18" charset="0"/>
              </a:rPr>
              <a:t>地址寄存器</a:t>
            </a:r>
            <a:r>
              <a:rPr lang="en-US" altLang="zh-CN" sz="2000" dirty="0">
                <a:solidFill>
                  <a:srgbClr val="FF0000"/>
                </a:solidFill>
                <a:latin typeface="Times New Roman" panose="02020603050405020304" pitchFamily="18" charset="0"/>
                <a:cs typeface="Times New Roman" panose="02020603050405020304" pitchFamily="18" charset="0"/>
              </a:rPr>
              <a:t>AR</a:t>
            </a:r>
            <a:r>
              <a:rPr lang="en-US" altLang="zh-CN" sz="2000" kern="0" dirty="0">
                <a:solidFill>
                  <a:schemeClr val="accent2"/>
                </a:solidFill>
                <a:latin typeface="Times New Roman" panose="02020603050405020304" pitchFamily="18" charset="0"/>
                <a:cs typeface="Times New Roman" panose="02020603050405020304" pitchFamily="18" charset="0"/>
              </a:rPr>
              <a:t>(</a:t>
            </a:r>
            <a:r>
              <a:rPr lang="en-US" altLang="zh-CN" sz="1800" kern="0" dirty="0">
                <a:solidFill>
                  <a:srgbClr val="CC3300"/>
                </a:solidFill>
                <a:latin typeface="Times New Roman" panose="02020603050405020304" pitchFamily="18" charset="0"/>
                <a:cs typeface="Times New Roman" panose="02020603050405020304" pitchFamily="18" charset="0"/>
              </a:rPr>
              <a:t>A</a:t>
            </a:r>
            <a:r>
              <a:rPr lang="en-US" altLang="zh-CN" sz="1800" kern="0" dirty="0">
                <a:solidFill>
                  <a:schemeClr val="accent2"/>
                </a:solidFill>
                <a:latin typeface="Times New Roman" panose="02020603050405020304" pitchFamily="18" charset="0"/>
                <a:cs typeface="Times New Roman" panose="02020603050405020304" pitchFamily="18" charset="0"/>
              </a:rPr>
              <a:t>ddress</a:t>
            </a:r>
            <a:r>
              <a:rPr lang="en-US" altLang="zh-CN" sz="1800" kern="0" dirty="0">
                <a:solidFill>
                  <a:srgbClr val="3D41D1"/>
                </a:solidFill>
                <a:latin typeface="Times New Roman" panose="02020603050405020304" pitchFamily="18" charset="0"/>
                <a:cs typeface="Times New Roman" panose="02020603050405020304" pitchFamily="18" charset="0"/>
              </a:rPr>
              <a:t> </a:t>
            </a:r>
            <a:r>
              <a:rPr lang="en-US" altLang="zh-CN" sz="1800" kern="0" dirty="0">
                <a:solidFill>
                  <a:srgbClr val="CC3300"/>
                </a:solidFill>
                <a:latin typeface="Times New Roman" panose="02020603050405020304" pitchFamily="18" charset="0"/>
                <a:cs typeface="Times New Roman" panose="02020603050405020304" pitchFamily="18" charset="0"/>
              </a:rPr>
              <a:t>R</a:t>
            </a:r>
            <a:r>
              <a:rPr lang="en-US" altLang="zh-CN" sz="1800" kern="0" dirty="0">
                <a:solidFill>
                  <a:schemeClr val="accent2"/>
                </a:solidFill>
                <a:latin typeface="Times New Roman" panose="02020603050405020304" pitchFamily="18" charset="0"/>
                <a:cs typeface="Times New Roman" panose="02020603050405020304" pitchFamily="18" charset="0"/>
              </a:rPr>
              <a:t>egister</a:t>
            </a:r>
            <a:r>
              <a:rPr lang="en-US" altLang="zh-CN" sz="2000" kern="0" dirty="0">
                <a:solidFill>
                  <a:srgbClr val="3D41D1"/>
                </a:solidFill>
                <a:latin typeface="Times New Roman" panose="02020603050405020304" pitchFamily="18" charset="0"/>
                <a:cs typeface="Times New Roman" panose="02020603050405020304" pitchFamily="18" charset="0"/>
              </a:rPr>
              <a:t>)</a:t>
            </a:r>
            <a:r>
              <a:rPr lang="en-US" altLang="zh-CN" sz="2000" kern="0" dirty="0">
                <a:solidFill>
                  <a:schemeClr val="accent2"/>
                </a:solidFill>
                <a:latin typeface="Times New Roman" panose="02020603050405020304" pitchFamily="18" charset="0"/>
                <a:cs typeface="Times New Roman" panose="02020603050405020304" pitchFamily="18" charset="0"/>
              </a:rPr>
              <a:t>:</a:t>
            </a:r>
            <a:r>
              <a:rPr lang="zh-CN" altLang="en-US" sz="2000" kern="0" dirty="0">
                <a:latin typeface="Times New Roman" panose="02020603050405020304" pitchFamily="18" charset="0"/>
                <a:cs typeface="Times New Roman" panose="02020603050405020304" pitchFamily="18" charset="0"/>
              </a:rPr>
              <a:t>存放操作数</a:t>
            </a:r>
            <a:r>
              <a:rPr lang="en-US" altLang="zh-CN" sz="2000" kern="0" dirty="0">
                <a:latin typeface="Times New Roman" panose="02020603050405020304" pitchFamily="18" charset="0"/>
                <a:cs typeface="Times New Roman" panose="02020603050405020304" pitchFamily="18" charset="0"/>
              </a:rPr>
              <a:t>(</a:t>
            </a:r>
            <a:r>
              <a:rPr lang="zh-CN" altLang="en-US" sz="2000" kern="0" dirty="0">
                <a:latin typeface="Times New Roman" panose="02020603050405020304" pitchFamily="18" charset="0"/>
                <a:cs typeface="Times New Roman" panose="02020603050405020304" pitchFamily="18" charset="0"/>
              </a:rPr>
              <a:t>结果</a:t>
            </a:r>
            <a:r>
              <a:rPr lang="en-US" altLang="zh-CN" sz="2000" kern="0" dirty="0">
                <a:latin typeface="Times New Roman" panose="02020603050405020304" pitchFamily="18" charset="0"/>
                <a:cs typeface="Times New Roman" panose="02020603050405020304" pitchFamily="18" charset="0"/>
              </a:rPr>
              <a:t>)</a:t>
            </a:r>
            <a:r>
              <a:rPr lang="zh-CN" altLang="en-US" sz="2000" kern="0" dirty="0">
                <a:latin typeface="Times New Roman" panose="02020603050405020304" pitchFamily="18" charset="0"/>
                <a:cs typeface="Times New Roman" panose="02020603050405020304" pitchFamily="18" charset="0"/>
              </a:rPr>
              <a:t>单元地址</a:t>
            </a:r>
          </a:p>
          <a:p>
            <a:pPr marL="266700" lvl="1" indent="-180975" algn="l" eaLnBrk="1" hangingPunct="1">
              <a:lnSpc>
                <a:spcPct val="101000"/>
              </a:lnSpc>
              <a:spcBef>
                <a:spcPts val="0"/>
              </a:spcBef>
              <a:spcAft>
                <a:spcPts val="600"/>
              </a:spcAft>
              <a:defRPr/>
            </a:pPr>
            <a:r>
              <a:rPr lang="zh-CN" altLang="en-US" sz="2000" kern="0" dirty="0">
                <a:solidFill>
                  <a:schemeClr val="accent2"/>
                </a:solidFill>
                <a:latin typeface="Times New Roman" panose="02020603050405020304" pitchFamily="18" charset="0"/>
                <a:cs typeface="Times New Roman" panose="02020603050405020304" pitchFamily="18" charset="0"/>
              </a:rPr>
              <a:t>数据寄存器</a:t>
            </a:r>
            <a:r>
              <a:rPr lang="en-US" altLang="zh-CN" sz="2000" dirty="0">
                <a:solidFill>
                  <a:srgbClr val="FF0000"/>
                </a:solidFill>
                <a:latin typeface="Times New Roman" panose="02020603050405020304" pitchFamily="18" charset="0"/>
                <a:cs typeface="Times New Roman" panose="02020603050405020304" pitchFamily="18" charset="0"/>
              </a:rPr>
              <a:t>DR</a:t>
            </a:r>
            <a:r>
              <a:rPr lang="en-US" altLang="zh-CN" sz="2000" kern="0" dirty="0">
                <a:solidFill>
                  <a:schemeClr val="accent2"/>
                </a:solidFill>
                <a:latin typeface="Times New Roman" panose="02020603050405020304" pitchFamily="18" charset="0"/>
                <a:cs typeface="Times New Roman" panose="02020603050405020304" pitchFamily="18" charset="0"/>
              </a:rPr>
              <a:t>(</a:t>
            </a:r>
            <a:r>
              <a:rPr lang="en-US" altLang="zh-CN" sz="2000" kern="0" dirty="0">
                <a:solidFill>
                  <a:srgbClr val="CC3300"/>
                </a:solidFill>
                <a:latin typeface="Times New Roman" panose="02020603050405020304" pitchFamily="18" charset="0"/>
                <a:cs typeface="Times New Roman" panose="02020603050405020304" pitchFamily="18" charset="0"/>
              </a:rPr>
              <a:t>D</a:t>
            </a:r>
            <a:r>
              <a:rPr lang="en-US" altLang="zh-CN" sz="2000" kern="0" dirty="0">
                <a:solidFill>
                  <a:schemeClr val="accent2"/>
                </a:solidFill>
                <a:latin typeface="Times New Roman" panose="02020603050405020304" pitchFamily="18" charset="0"/>
                <a:cs typeface="Times New Roman" panose="02020603050405020304" pitchFamily="18" charset="0"/>
              </a:rPr>
              <a:t>ata</a:t>
            </a:r>
            <a:r>
              <a:rPr lang="en-US" altLang="zh-CN" sz="2000" kern="0" dirty="0">
                <a:solidFill>
                  <a:srgbClr val="3D41D1"/>
                </a:solidFill>
                <a:latin typeface="Times New Roman" panose="02020603050405020304" pitchFamily="18" charset="0"/>
                <a:cs typeface="Times New Roman" panose="02020603050405020304" pitchFamily="18" charset="0"/>
              </a:rPr>
              <a:t> </a:t>
            </a:r>
            <a:r>
              <a:rPr lang="en-US" altLang="zh-CN" sz="2000" kern="0" dirty="0">
                <a:solidFill>
                  <a:srgbClr val="CC3300"/>
                </a:solidFill>
                <a:latin typeface="Times New Roman" panose="02020603050405020304" pitchFamily="18" charset="0"/>
                <a:cs typeface="Times New Roman" panose="02020603050405020304" pitchFamily="18" charset="0"/>
              </a:rPr>
              <a:t>R</a:t>
            </a:r>
            <a:r>
              <a:rPr lang="en-US" altLang="zh-CN" sz="2000" kern="0" dirty="0">
                <a:solidFill>
                  <a:schemeClr val="accent2"/>
                </a:solidFill>
                <a:latin typeface="Times New Roman" panose="02020603050405020304" pitchFamily="18" charset="0"/>
                <a:cs typeface="Times New Roman" panose="02020603050405020304" pitchFamily="18" charset="0"/>
              </a:rPr>
              <a:t>egister)</a:t>
            </a:r>
            <a:r>
              <a:rPr lang="zh-CN" altLang="en-US" sz="2000" kern="0" dirty="0">
                <a:solidFill>
                  <a:schemeClr val="accent2"/>
                </a:solidFill>
                <a:latin typeface="Times New Roman" panose="02020603050405020304" pitchFamily="18" charset="0"/>
                <a:cs typeface="Times New Roman" panose="02020603050405020304" pitchFamily="18" charset="0"/>
              </a:rPr>
              <a:t>：</a:t>
            </a:r>
            <a:r>
              <a:rPr lang="zh-CN" altLang="en-US" sz="2000" kern="0" dirty="0">
                <a:latin typeface="Times New Roman" panose="02020603050405020304" pitchFamily="18" charset="0"/>
                <a:cs typeface="Times New Roman" panose="02020603050405020304" pitchFamily="18" charset="0"/>
              </a:rPr>
              <a:t>用于存放操作数。</a:t>
            </a:r>
          </a:p>
          <a:p>
            <a:pPr marL="266700" lvl="1" indent="-180975" algn="l" eaLnBrk="1" hangingPunct="1">
              <a:lnSpc>
                <a:spcPct val="104000"/>
              </a:lnSpc>
              <a:spcBef>
                <a:spcPts val="0"/>
              </a:spcBef>
              <a:spcAft>
                <a:spcPts val="600"/>
              </a:spcAft>
              <a:defRPr/>
            </a:pPr>
            <a:r>
              <a:rPr lang="zh-CN" altLang="en-US" sz="2000" dirty="0">
                <a:solidFill>
                  <a:schemeClr val="accent2"/>
                </a:solidFill>
                <a:latin typeface="Times New Roman" panose="02020603050405020304" pitchFamily="18" charset="0"/>
                <a:cs typeface="Times New Roman" panose="02020603050405020304" pitchFamily="18" charset="0"/>
              </a:rPr>
              <a:t>指令寄存器</a:t>
            </a:r>
            <a:r>
              <a:rPr lang="en-US" altLang="zh-CN" sz="2000" dirty="0">
                <a:solidFill>
                  <a:srgbClr val="FF0000"/>
                </a:solidFill>
                <a:latin typeface="Times New Roman" panose="02020603050405020304" pitchFamily="18" charset="0"/>
                <a:cs typeface="Times New Roman" panose="02020603050405020304" pitchFamily="18" charset="0"/>
              </a:rPr>
              <a:t>IR</a:t>
            </a:r>
            <a:r>
              <a:rPr lang="en-US" altLang="zh-CN" sz="2000" dirty="0">
                <a:solidFill>
                  <a:schemeClr val="accent2"/>
                </a:solidFill>
                <a:latin typeface="Times New Roman" panose="02020603050405020304" pitchFamily="18" charset="0"/>
                <a:cs typeface="Times New Roman" panose="02020603050405020304" pitchFamily="18" charset="0"/>
              </a:rPr>
              <a:t>(</a:t>
            </a:r>
            <a:r>
              <a:rPr lang="en-US" altLang="zh-CN" sz="2000" dirty="0">
                <a:solidFill>
                  <a:srgbClr val="CC3300"/>
                </a:solidFill>
                <a:latin typeface="Times New Roman" panose="02020603050405020304" pitchFamily="18" charset="0"/>
                <a:cs typeface="Times New Roman" panose="02020603050405020304" pitchFamily="18" charset="0"/>
              </a:rPr>
              <a:t>I</a:t>
            </a:r>
            <a:r>
              <a:rPr lang="en-US" altLang="zh-CN" sz="2000" dirty="0">
                <a:solidFill>
                  <a:schemeClr val="accent2"/>
                </a:solidFill>
                <a:latin typeface="Times New Roman" panose="02020603050405020304" pitchFamily="18" charset="0"/>
                <a:cs typeface="Times New Roman" panose="02020603050405020304" pitchFamily="18" charset="0"/>
              </a:rPr>
              <a:t>nstruction </a:t>
            </a:r>
            <a:r>
              <a:rPr lang="en-US" altLang="zh-CN" sz="2000" dirty="0">
                <a:solidFill>
                  <a:srgbClr val="CC3300"/>
                </a:solidFill>
                <a:latin typeface="Times New Roman" panose="02020603050405020304" pitchFamily="18" charset="0"/>
                <a:cs typeface="Times New Roman" panose="02020603050405020304" pitchFamily="18" charset="0"/>
              </a:rPr>
              <a:t>R</a:t>
            </a:r>
            <a:r>
              <a:rPr lang="en-US" altLang="zh-CN" sz="2000" dirty="0">
                <a:solidFill>
                  <a:schemeClr val="accent2"/>
                </a:solidFill>
                <a:latin typeface="Times New Roman" panose="02020603050405020304" pitchFamily="18" charset="0"/>
                <a:cs typeface="Times New Roman" panose="02020603050405020304" pitchFamily="18" charset="0"/>
              </a:rPr>
              <a:t>egister): </a:t>
            </a:r>
            <a:r>
              <a:rPr lang="zh-CN" altLang="en-US" sz="2000" dirty="0">
                <a:latin typeface="Times New Roman" panose="02020603050405020304" pitchFamily="18" charset="0"/>
                <a:cs typeface="Times New Roman" panose="02020603050405020304" pitchFamily="18" charset="0"/>
              </a:rPr>
              <a:t>存放指令操作码。</a:t>
            </a:r>
          </a:p>
          <a:p>
            <a:pPr marL="266700" lvl="1" indent="-180975" algn="l" eaLnBrk="1" hangingPunct="1">
              <a:lnSpc>
                <a:spcPct val="104000"/>
              </a:lnSpc>
              <a:spcBef>
                <a:spcPts val="0"/>
              </a:spcBef>
              <a:spcAft>
                <a:spcPts val="600"/>
              </a:spcAft>
              <a:defRPr/>
            </a:pPr>
            <a:r>
              <a:rPr lang="zh-CN" altLang="en-US" sz="2000" dirty="0">
                <a:solidFill>
                  <a:schemeClr val="accent2"/>
                </a:solidFill>
                <a:latin typeface="Times New Roman" panose="02020603050405020304" pitchFamily="18" charset="0"/>
                <a:cs typeface="Times New Roman" panose="02020603050405020304" pitchFamily="18" charset="0"/>
                <a:hlinkClick r:id="rId4" action="ppaction://hlinksldjump"/>
              </a:rPr>
              <a:t>指令译码器</a:t>
            </a:r>
            <a:r>
              <a:rPr lang="en-US" altLang="zh-CN" sz="2000" dirty="0">
                <a:solidFill>
                  <a:srgbClr val="FF0000"/>
                </a:solidFill>
                <a:latin typeface="Times New Roman" panose="02020603050405020304" pitchFamily="18" charset="0"/>
                <a:cs typeface="Times New Roman" panose="02020603050405020304" pitchFamily="18" charset="0"/>
              </a:rPr>
              <a:t>ID</a:t>
            </a:r>
            <a:r>
              <a:rPr lang="en-US" altLang="zh-CN" sz="2000" dirty="0">
                <a:solidFill>
                  <a:schemeClr val="accent2"/>
                </a:solidFill>
                <a:latin typeface="Times New Roman" panose="02020603050405020304" pitchFamily="18" charset="0"/>
                <a:cs typeface="Times New Roman" panose="02020603050405020304" pitchFamily="18" charset="0"/>
              </a:rPr>
              <a:t>(</a:t>
            </a:r>
            <a:r>
              <a:rPr lang="en-US" altLang="zh-CN" sz="2000" dirty="0">
                <a:solidFill>
                  <a:srgbClr val="CC3300"/>
                </a:solidFill>
                <a:latin typeface="Times New Roman" panose="02020603050405020304" pitchFamily="18" charset="0"/>
                <a:cs typeface="Times New Roman" panose="02020603050405020304" pitchFamily="18" charset="0"/>
              </a:rPr>
              <a:t>I</a:t>
            </a:r>
            <a:r>
              <a:rPr lang="en-US" altLang="zh-CN" sz="2000" dirty="0">
                <a:solidFill>
                  <a:schemeClr val="accent2"/>
                </a:solidFill>
                <a:latin typeface="Times New Roman" panose="02020603050405020304" pitchFamily="18" charset="0"/>
                <a:cs typeface="Times New Roman" panose="02020603050405020304" pitchFamily="18" charset="0"/>
              </a:rPr>
              <a:t>nstruction </a:t>
            </a:r>
            <a:r>
              <a:rPr lang="en-US" altLang="zh-CN" sz="2000" dirty="0">
                <a:solidFill>
                  <a:srgbClr val="CC3300"/>
                </a:solidFill>
                <a:latin typeface="Times New Roman" panose="02020603050405020304" pitchFamily="18" charset="0"/>
                <a:cs typeface="Times New Roman" panose="02020603050405020304" pitchFamily="18" charset="0"/>
              </a:rPr>
              <a:t>D</a:t>
            </a:r>
            <a:r>
              <a:rPr lang="en-US" altLang="zh-CN" sz="2000" dirty="0">
                <a:solidFill>
                  <a:schemeClr val="accent2"/>
                </a:solidFill>
                <a:latin typeface="Times New Roman" panose="02020603050405020304" pitchFamily="18" charset="0"/>
                <a:cs typeface="Times New Roman" panose="02020603050405020304" pitchFamily="18" charset="0"/>
              </a:rPr>
              <a:t>ecode)</a:t>
            </a:r>
            <a:r>
              <a:rPr lang="zh-CN" altLang="en-US" sz="2000" dirty="0">
                <a:solidFill>
                  <a:schemeClr val="accent2"/>
                </a:solidFill>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用于将指令的操作码翻译成机器能识别的命令信号。</a:t>
            </a:r>
          </a:p>
        </p:txBody>
      </p:sp>
      <p:sp>
        <p:nvSpPr>
          <p:cNvPr id="7" name="Rectangle 3">
            <a:extLst>
              <a:ext uri="{FF2B5EF4-FFF2-40B4-BE49-F238E27FC236}">
                <a16:creationId xmlns:a16="http://schemas.microsoft.com/office/drawing/2014/main" id="{12D47703-1430-47DA-B3B5-DD02E7726D78}"/>
              </a:ext>
            </a:extLst>
          </p:cNvPr>
          <p:cNvSpPr txBox="1">
            <a:spLocks noChangeArrowheads="1"/>
          </p:cNvSpPr>
          <p:nvPr/>
        </p:nvSpPr>
        <p:spPr bwMode="auto">
          <a:xfrm>
            <a:off x="4380366" y="447200"/>
            <a:ext cx="346868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spcBef>
                <a:spcPts val="0"/>
              </a:spcBef>
              <a:buFontTx/>
              <a:buNone/>
              <a:defRPr/>
            </a:pPr>
            <a:r>
              <a:rPr lang="zh-CN" altLang="en-US" sz="3600" kern="0" dirty="0">
                <a:solidFill>
                  <a:srgbClr val="FF0000"/>
                </a:solidFill>
                <a:effectLst>
                  <a:outerShdw blurRad="38100" dist="38100" dir="2700000" algn="tl">
                    <a:srgbClr val="000000">
                      <a:alpha val="43137"/>
                    </a:srgbClr>
                  </a:outerShdw>
                </a:effectLst>
                <a:latin typeface="宋体" charset="-122"/>
              </a:rPr>
              <a:t>（</a:t>
            </a:r>
            <a:r>
              <a:rPr lang="en-US" altLang="zh-CN" sz="3600" kern="0" dirty="0">
                <a:solidFill>
                  <a:srgbClr val="FF0000"/>
                </a:solidFill>
                <a:effectLst>
                  <a:outerShdw blurRad="38100" dist="38100" dir="2700000" algn="tl">
                    <a:srgbClr val="000000">
                      <a:alpha val="43137"/>
                    </a:srgbClr>
                  </a:outerShdw>
                </a:effectLst>
                <a:latin typeface="宋体" charset="-122"/>
              </a:rPr>
              <a:t>2</a:t>
            </a:r>
            <a:r>
              <a:rPr lang="zh-CN" altLang="en-US" sz="3600" kern="0" dirty="0">
                <a:solidFill>
                  <a:srgbClr val="FF0000"/>
                </a:solidFill>
                <a:effectLst>
                  <a:outerShdw blurRad="38100" dist="38100" dir="2700000" algn="tl">
                    <a:srgbClr val="000000">
                      <a:alpha val="43137"/>
                    </a:srgbClr>
                  </a:outerShdw>
                </a:effectLst>
                <a:latin typeface="宋体" charset="-122"/>
              </a:rPr>
              <a:t>）</a:t>
            </a:r>
            <a:r>
              <a:rPr lang="zh-CN" altLang="en-US" sz="3600" kern="0" dirty="0">
                <a:solidFill>
                  <a:srgbClr val="FF0000"/>
                </a:solidFill>
                <a:effectLst>
                  <a:outerShdw blurRad="38100" dist="38100" dir="2700000" algn="tl">
                    <a:srgbClr val="000000">
                      <a:alpha val="43137"/>
                    </a:srgbClr>
                  </a:outerShdw>
                </a:effectLst>
                <a:latin typeface="宋体" charset="-122"/>
                <a:hlinkClick r:id="rId4" action="ppaction://hlinksldjump"/>
              </a:rPr>
              <a:t>控制器</a:t>
            </a:r>
            <a:endParaRPr lang="zh-CN" altLang="en-US" sz="3600" kern="0" dirty="0">
              <a:solidFill>
                <a:srgbClr val="FF0000"/>
              </a:solidFill>
              <a:effectLst>
                <a:outerShdw blurRad="38100" dist="38100" dir="2700000" algn="tl">
                  <a:srgbClr val="000000">
                    <a:alpha val="43137"/>
                  </a:srgbClr>
                </a:outerShdw>
              </a:effectLst>
              <a:latin typeface="宋体" charset="-122"/>
            </a:endParaRPr>
          </a:p>
        </p:txBody>
      </p:sp>
      <p:sp>
        <p:nvSpPr>
          <p:cNvPr id="8" name="Rectangle 3">
            <a:extLst>
              <a:ext uri="{FF2B5EF4-FFF2-40B4-BE49-F238E27FC236}">
                <a16:creationId xmlns:a16="http://schemas.microsoft.com/office/drawing/2014/main" id="{E828E920-451A-4214-8F1D-909D1603B893}"/>
              </a:ext>
            </a:extLst>
          </p:cNvPr>
          <p:cNvSpPr txBox="1">
            <a:spLocks noChangeArrowheads="1"/>
          </p:cNvSpPr>
          <p:nvPr/>
        </p:nvSpPr>
        <p:spPr bwMode="auto">
          <a:xfrm>
            <a:off x="406245" y="5003574"/>
            <a:ext cx="7872341" cy="98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536575" lvl="1" indent="-274638" algn="l" eaLnBrk="1" hangingPunct="1">
              <a:lnSpc>
                <a:spcPct val="101000"/>
              </a:lnSpc>
              <a:spcBef>
                <a:spcPts val="0"/>
              </a:spcBef>
              <a:spcAft>
                <a:spcPts val="600"/>
              </a:spcAft>
              <a:defRPr/>
            </a:pPr>
            <a:r>
              <a:rPr lang="zh-CN" altLang="en-US" sz="2000" kern="0" dirty="0">
                <a:solidFill>
                  <a:schemeClr val="accent2"/>
                </a:solidFill>
                <a:latin typeface="Times New Roman" panose="02020603050405020304" pitchFamily="18" charset="0"/>
                <a:cs typeface="Times New Roman" panose="02020603050405020304" pitchFamily="18" charset="0"/>
              </a:rPr>
              <a:t>微操作信号发生器</a:t>
            </a:r>
            <a:r>
              <a:rPr lang="en-US" altLang="zh-CN" sz="2000" dirty="0">
                <a:solidFill>
                  <a:srgbClr val="FF0000"/>
                </a:solidFill>
                <a:latin typeface="Times New Roman" panose="02020603050405020304" pitchFamily="18" charset="0"/>
                <a:cs typeface="Times New Roman" panose="02020603050405020304" pitchFamily="18" charset="0"/>
              </a:rPr>
              <a:t>MOSG</a:t>
            </a:r>
            <a:r>
              <a:rPr lang="en-US" altLang="zh-CN" sz="1800" kern="0" dirty="0">
                <a:solidFill>
                  <a:schemeClr val="accent2"/>
                </a:solidFill>
                <a:latin typeface="Times New Roman" panose="02020603050405020304" pitchFamily="18" charset="0"/>
                <a:cs typeface="Times New Roman" panose="02020603050405020304" pitchFamily="18" charset="0"/>
              </a:rPr>
              <a:t>(</a:t>
            </a:r>
            <a:r>
              <a:rPr lang="en-US" altLang="zh-CN" sz="1800" kern="0" dirty="0">
                <a:solidFill>
                  <a:srgbClr val="CC3300"/>
                </a:solidFill>
                <a:latin typeface="Times New Roman" panose="02020603050405020304" pitchFamily="18" charset="0"/>
                <a:cs typeface="Times New Roman" panose="02020603050405020304" pitchFamily="18" charset="0"/>
              </a:rPr>
              <a:t>M</a:t>
            </a:r>
            <a:r>
              <a:rPr lang="en-US" altLang="zh-CN" sz="1800" kern="0" dirty="0">
                <a:solidFill>
                  <a:schemeClr val="accent2"/>
                </a:solidFill>
                <a:latin typeface="Times New Roman" panose="02020603050405020304" pitchFamily="18" charset="0"/>
                <a:cs typeface="Times New Roman" panose="02020603050405020304" pitchFamily="18" charset="0"/>
              </a:rPr>
              <a:t>icrooperation </a:t>
            </a:r>
            <a:r>
              <a:rPr lang="en-US" altLang="zh-CN" sz="1800" kern="0" dirty="0">
                <a:solidFill>
                  <a:srgbClr val="CC3300"/>
                </a:solidFill>
                <a:latin typeface="Times New Roman" panose="02020603050405020304" pitchFamily="18" charset="0"/>
                <a:cs typeface="Times New Roman" panose="02020603050405020304" pitchFamily="18" charset="0"/>
              </a:rPr>
              <a:t>S</a:t>
            </a:r>
            <a:r>
              <a:rPr lang="en-US" altLang="zh-CN" sz="1800" kern="0" dirty="0">
                <a:solidFill>
                  <a:schemeClr val="accent2"/>
                </a:solidFill>
                <a:latin typeface="Times New Roman" panose="02020603050405020304" pitchFamily="18" charset="0"/>
                <a:cs typeface="Times New Roman" panose="02020603050405020304" pitchFamily="18" charset="0"/>
              </a:rPr>
              <a:t>ignal </a:t>
            </a:r>
            <a:r>
              <a:rPr lang="en-US" altLang="zh-CN" sz="1800" kern="0" dirty="0">
                <a:solidFill>
                  <a:srgbClr val="CC3300"/>
                </a:solidFill>
                <a:latin typeface="Times New Roman" panose="02020603050405020304" pitchFamily="18" charset="0"/>
                <a:cs typeface="Times New Roman" panose="02020603050405020304" pitchFamily="18" charset="0"/>
              </a:rPr>
              <a:t>G</a:t>
            </a:r>
            <a:r>
              <a:rPr lang="en-US" altLang="zh-CN" sz="1800" kern="0" dirty="0">
                <a:solidFill>
                  <a:schemeClr val="accent2"/>
                </a:solidFill>
                <a:latin typeface="Times New Roman" panose="02020603050405020304" pitchFamily="18" charset="0"/>
                <a:cs typeface="Times New Roman" panose="02020603050405020304" pitchFamily="18" charset="0"/>
              </a:rPr>
              <a:t>enerator ):</a:t>
            </a:r>
            <a:r>
              <a:rPr lang="en-US" altLang="zh-CN" sz="2000" kern="0" dirty="0">
                <a:solidFill>
                  <a:schemeClr val="accent2"/>
                </a:solidFill>
                <a:latin typeface="Times New Roman" panose="02020603050405020304" pitchFamily="18" charset="0"/>
                <a:cs typeface="Times New Roman" panose="02020603050405020304" pitchFamily="18" charset="0"/>
              </a:rPr>
              <a:t>  </a:t>
            </a:r>
            <a:r>
              <a:rPr lang="zh-CN" altLang="en-US" sz="2000" kern="0" dirty="0">
                <a:latin typeface="Times New Roman" panose="02020603050405020304" pitchFamily="18" charset="0"/>
                <a:cs typeface="Times New Roman" panose="02020603050405020304" pitchFamily="18" charset="0"/>
              </a:rPr>
              <a:t>用于产生一系列微操作控制信号。</a:t>
            </a:r>
          </a:p>
        </p:txBody>
      </p:sp>
      <p:sp>
        <p:nvSpPr>
          <p:cNvPr id="2" name="灯片编号占位符 1">
            <a:extLst>
              <a:ext uri="{FF2B5EF4-FFF2-40B4-BE49-F238E27FC236}">
                <a16:creationId xmlns:a16="http://schemas.microsoft.com/office/drawing/2014/main" id="{002DDB16-C160-49E9-B1C0-1F3542FC792B}"/>
              </a:ext>
            </a:extLst>
          </p:cNvPr>
          <p:cNvSpPr>
            <a:spLocks noGrp="1"/>
          </p:cNvSpPr>
          <p:nvPr>
            <p:ph type="sldNum" sz="quarter" idx="12"/>
          </p:nvPr>
        </p:nvSpPr>
        <p:spPr/>
        <p:txBody>
          <a:bodyPr/>
          <a:lstStyle/>
          <a:p>
            <a:fld id="{22E77DEE-32E4-4009-988B-F2758F7B8AC2}" type="slidenum">
              <a:rPr lang="zh-CN" altLang="en-US" smtClean="0"/>
              <a:t>7</a:t>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672951F6-089A-4990-A8FD-C3B39D5C5A1C}"/>
              </a:ext>
            </a:extLst>
          </p:cNvPr>
          <p:cNvSpPr>
            <a:spLocks noGrp="1" noChangeArrowheads="1"/>
          </p:cNvSpPr>
          <p:nvPr>
            <p:ph type="title"/>
          </p:nvPr>
        </p:nvSpPr>
        <p:spPr>
          <a:xfrm>
            <a:off x="822961" y="539608"/>
            <a:ext cx="6740079" cy="504825"/>
          </a:xfrm>
        </p:spPr>
        <p:txBody>
          <a:bodyPr vert="horz" lIns="91440" tIns="45720" rIns="91440" bIns="45720" rtlCol="0" anchor="b">
            <a:normAutofit fontScale="90000"/>
          </a:bodyPr>
          <a:lstStyle/>
          <a:p>
            <a:r>
              <a:rPr lang="en-US" altLang="zh-CN" sz="4000" dirty="0"/>
              <a:t>4.1.1</a:t>
            </a:r>
            <a:r>
              <a:rPr lang="zh-CN" altLang="en-US" sz="4000" dirty="0"/>
              <a:t>模型机的结构简介</a:t>
            </a:r>
          </a:p>
        </p:txBody>
      </p:sp>
      <p:sp>
        <p:nvSpPr>
          <p:cNvPr id="581635" name="Rectangle 3">
            <a:extLst>
              <a:ext uri="{FF2B5EF4-FFF2-40B4-BE49-F238E27FC236}">
                <a16:creationId xmlns:a16="http://schemas.microsoft.com/office/drawing/2014/main" id="{99D9D0FF-8CA1-4B2F-957D-90B96FBCCBCB}"/>
              </a:ext>
            </a:extLst>
          </p:cNvPr>
          <p:cNvSpPr>
            <a:spLocks noGrp="1" noChangeArrowheads="1"/>
          </p:cNvSpPr>
          <p:nvPr>
            <p:ph idx="1"/>
          </p:nvPr>
        </p:nvSpPr>
        <p:spPr>
          <a:xfrm>
            <a:off x="662875" y="1284956"/>
            <a:ext cx="5020376" cy="1776413"/>
          </a:xfrm>
        </p:spPr>
        <p:txBody>
          <a:bodyPr/>
          <a:lstStyle/>
          <a:p>
            <a:pPr eaLnBrk="1" hangingPunct="1">
              <a:spcBef>
                <a:spcPct val="0"/>
              </a:spcBef>
              <a:buFontTx/>
              <a:buNone/>
            </a:pPr>
            <a:r>
              <a:rPr lang="en-US" altLang="zh-CN" sz="3200" dirty="0">
                <a:solidFill>
                  <a:srgbClr val="FF0000"/>
                </a:solidFill>
                <a:latin typeface="宋体" panose="02010600030101010101" pitchFamily="2" charset="-122"/>
              </a:rPr>
              <a:t>2</a:t>
            </a:r>
            <a:r>
              <a:rPr lang="zh-CN" altLang="en-US" sz="3200" dirty="0">
                <a:solidFill>
                  <a:srgbClr val="FF0000"/>
                </a:solidFill>
                <a:latin typeface="宋体" panose="02010600030101010101" pitchFamily="2" charset="-122"/>
              </a:rPr>
              <a:t>、存储器的结构</a:t>
            </a:r>
          </a:p>
          <a:p>
            <a:pPr eaLnBrk="1" hangingPunct="1">
              <a:spcBef>
                <a:spcPct val="0"/>
              </a:spcBef>
              <a:spcAft>
                <a:spcPct val="0"/>
              </a:spcAft>
            </a:pPr>
            <a:r>
              <a:rPr lang="zh-CN" altLang="en-US" dirty="0">
                <a:solidFill>
                  <a:srgbClr val="CC3300"/>
                </a:solidFill>
              </a:rPr>
              <a:t>功能：</a:t>
            </a:r>
            <a:r>
              <a:rPr lang="zh-CN" altLang="en-US" dirty="0">
                <a:solidFill>
                  <a:schemeClr val="tx1"/>
                </a:solidFill>
              </a:rPr>
              <a:t>主要用于保存程序和数据。</a:t>
            </a:r>
            <a:endParaRPr lang="zh-CN" altLang="en-US" dirty="0">
              <a:solidFill>
                <a:srgbClr val="3366FF"/>
              </a:solidFill>
            </a:endParaRPr>
          </a:p>
          <a:p>
            <a:pPr eaLnBrk="1" hangingPunct="1">
              <a:spcBef>
                <a:spcPct val="0"/>
              </a:spcBef>
            </a:pPr>
            <a:r>
              <a:rPr lang="zh-CN" altLang="en-US" dirty="0">
                <a:solidFill>
                  <a:srgbClr val="CC3300"/>
                </a:solidFill>
              </a:rPr>
              <a:t>组成部分：</a:t>
            </a:r>
            <a:r>
              <a:rPr lang="zh-CN" altLang="en-US" dirty="0">
                <a:solidFill>
                  <a:schemeClr val="tx1"/>
                </a:solidFill>
              </a:rPr>
              <a:t>包含</a:t>
            </a:r>
            <a:r>
              <a:rPr lang="zh-CN" altLang="en-US" dirty="0">
                <a:solidFill>
                  <a:schemeClr val="tx1"/>
                </a:solidFill>
                <a:hlinkClick r:id="rId2" action="ppaction://hlinksldjump"/>
              </a:rPr>
              <a:t>地址译码器</a:t>
            </a:r>
            <a:r>
              <a:rPr lang="zh-CN" altLang="en-US" dirty="0">
                <a:solidFill>
                  <a:schemeClr val="tx1"/>
                </a:solidFill>
              </a:rPr>
              <a:t>、</a:t>
            </a:r>
            <a:r>
              <a:rPr lang="zh-CN" altLang="en-US" dirty="0">
                <a:solidFill>
                  <a:srgbClr val="0000FF"/>
                </a:solidFill>
              </a:rPr>
              <a:t>存储单元</a:t>
            </a:r>
            <a:r>
              <a:rPr lang="zh-CN" altLang="en-US" dirty="0">
                <a:solidFill>
                  <a:schemeClr val="tx1"/>
                </a:solidFill>
              </a:rPr>
              <a:t>和控制逻辑。</a:t>
            </a:r>
          </a:p>
        </p:txBody>
      </p:sp>
      <p:sp>
        <p:nvSpPr>
          <p:cNvPr id="5" name="Rectangle 3">
            <a:extLst>
              <a:ext uri="{FF2B5EF4-FFF2-40B4-BE49-F238E27FC236}">
                <a16:creationId xmlns:a16="http://schemas.microsoft.com/office/drawing/2014/main" id="{149EB7BA-63F7-40F5-AE7C-760CF45A756D}"/>
              </a:ext>
            </a:extLst>
          </p:cNvPr>
          <p:cNvSpPr txBox="1">
            <a:spLocks noChangeArrowheads="1"/>
          </p:cNvSpPr>
          <p:nvPr/>
        </p:nvSpPr>
        <p:spPr bwMode="auto">
          <a:xfrm>
            <a:off x="342899" y="2632994"/>
            <a:ext cx="8748713"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Blip>
                <a:blip r:embed="rId3"/>
              </a:buBlip>
              <a:defRPr sz="32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algn="just">
              <a:spcBef>
                <a:spcPct val="20000"/>
              </a:spcBef>
              <a:buBlip>
                <a:blip r:embed="rId4"/>
              </a:buBlip>
              <a:defRPr sz="2800" b="1">
                <a:solidFill>
                  <a:schemeClr val="tx1"/>
                </a:solidFill>
                <a:latin typeface="Arial" panose="020B0604020202020204" pitchFamily="34" charset="0"/>
                <a:ea typeface="宋体" panose="02010600030101010101" pitchFamily="2" charset="-122"/>
              </a:defRPr>
            </a:lvl2pPr>
            <a:lvl3pPr marL="1143000" indent="-228600" algn="just">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gn="just">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just">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4000"/>
              </a:lnSpc>
              <a:spcBef>
                <a:spcPct val="0"/>
              </a:spcBef>
              <a:spcAft>
                <a:spcPts val="600"/>
              </a:spcAft>
            </a:pPr>
            <a:r>
              <a:rPr lang="zh-CN" altLang="en-US" sz="2400" dirty="0">
                <a:solidFill>
                  <a:srgbClr val="CC3300"/>
                </a:solidFill>
                <a:latin typeface="宋体" panose="02010600030101010101" pitchFamily="2" charset="-122"/>
              </a:rPr>
              <a:t>存储器访问过程：</a:t>
            </a:r>
          </a:p>
          <a:p>
            <a:pPr eaLnBrk="1" hangingPunct="1">
              <a:lnSpc>
                <a:spcPct val="114000"/>
              </a:lnSpc>
              <a:spcBef>
                <a:spcPct val="0"/>
              </a:spcBef>
              <a:buFontTx/>
              <a:buNone/>
            </a:pPr>
            <a:r>
              <a:rPr lang="zh-CN" altLang="en-US" sz="2400" dirty="0">
                <a:solidFill>
                  <a:srgbClr val="3366FF"/>
                </a:solidFill>
                <a:latin typeface="宋体" panose="02010600030101010101" pitchFamily="2" charset="-122"/>
              </a:rPr>
              <a:t>（</a:t>
            </a:r>
            <a:r>
              <a:rPr lang="en-US" altLang="zh-CN" sz="2400" dirty="0">
                <a:solidFill>
                  <a:srgbClr val="3366FF"/>
                </a:solidFill>
                <a:latin typeface="宋体" panose="02010600030101010101" pitchFamily="2" charset="-122"/>
              </a:rPr>
              <a:t>1</a:t>
            </a:r>
            <a:r>
              <a:rPr lang="zh-CN" altLang="en-US" sz="2400" dirty="0">
                <a:solidFill>
                  <a:srgbClr val="3366FF"/>
                </a:solidFill>
                <a:latin typeface="宋体" panose="02010600030101010101" pitchFamily="2" charset="-122"/>
              </a:rPr>
              <a:t>）读操作</a:t>
            </a:r>
          </a:p>
          <a:p>
            <a:pPr eaLnBrk="1" hangingPunct="1">
              <a:lnSpc>
                <a:spcPct val="114000"/>
              </a:lnSpc>
              <a:spcBef>
                <a:spcPct val="0"/>
              </a:spcBef>
              <a:spcAft>
                <a:spcPts val="600"/>
              </a:spcAft>
              <a:buFontTx/>
              <a:buNone/>
            </a:pPr>
            <a:r>
              <a:rPr lang="zh-CN" altLang="en-US" sz="2400" dirty="0">
                <a:solidFill>
                  <a:schemeClr val="tx1"/>
                </a:solidFill>
                <a:latin typeface="宋体" panose="02010600030101010101" pitchFamily="2" charset="-122"/>
              </a:rPr>
              <a:t>    </a:t>
            </a:r>
            <a:r>
              <a:rPr lang="en-US" altLang="zh-CN" sz="2400" dirty="0">
                <a:solidFill>
                  <a:schemeClr val="tx1"/>
                </a:solidFill>
                <a:latin typeface="宋体" panose="02010600030101010101" pitchFamily="2" charset="-122"/>
              </a:rPr>
              <a:t>CPU</a:t>
            </a:r>
            <a:r>
              <a:rPr lang="zh-CN" altLang="en-US" sz="2400" dirty="0">
                <a:solidFill>
                  <a:schemeClr val="tx1"/>
                </a:solidFill>
                <a:latin typeface="宋体" panose="02010600030101010101" pitchFamily="2" charset="-122"/>
              </a:rPr>
              <a:t>首先将</a:t>
            </a:r>
            <a:r>
              <a:rPr lang="zh-CN" altLang="en-US" sz="2400" dirty="0">
                <a:solidFill>
                  <a:srgbClr val="9900CC"/>
                </a:solidFill>
                <a:latin typeface="宋体" panose="02010600030101010101" pitchFamily="2" charset="-122"/>
                <a:hlinkClick r:id="rId2" action="ppaction://hlinksldjump"/>
              </a:rPr>
              <a:t>地址寄存器</a:t>
            </a:r>
            <a:r>
              <a:rPr lang="en-US" altLang="zh-CN" sz="2400" dirty="0">
                <a:solidFill>
                  <a:srgbClr val="9900CC"/>
                </a:solidFill>
                <a:latin typeface="宋体" panose="02010600030101010101" pitchFamily="2" charset="-122"/>
                <a:hlinkClick r:id="rId2" action="ppaction://hlinksldjump"/>
              </a:rPr>
              <a:t>AR</a:t>
            </a:r>
            <a:r>
              <a:rPr lang="zh-CN" altLang="en-US" sz="2400" dirty="0">
                <a:solidFill>
                  <a:schemeClr val="tx1"/>
                </a:solidFill>
                <a:latin typeface="宋体" panose="02010600030101010101" pitchFamily="2" charset="-122"/>
              </a:rPr>
              <a:t>的内容放到</a:t>
            </a:r>
            <a:r>
              <a:rPr lang="zh-CN" altLang="en-US" sz="2400" dirty="0">
                <a:solidFill>
                  <a:srgbClr val="9900CC"/>
                </a:solidFill>
                <a:latin typeface="宋体" panose="02010600030101010101" pitchFamily="2" charset="-122"/>
              </a:rPr>
              <a:t>地址总线</a:t>
            </a:r>
            <a:r>
              <a:rPr lang="en-US" altLang="zh-CN" sz="2400" dirty="0">
                <a:solidFill>
                  <a:srgbClr val="9900CC"/>
                </a:solidFill>
                <a:latin typeface="宋体" panose="02010600030101010101" pitchFamily="2" charset="-122"/>
              </a:rPr>
              <a:t>AB</a:t>
            </a:r>
            <a:r>
              <a:rPr lang="zh-CN" altLang="en-US" sz="2400" dirty="0">
                <a:solidFill>
                  <a:schemeClr val="tx1"/>
                </a:solidFill>
                <a:latin typeface="宋体" panose="02010600030101010101" pitchFamily="2" charset="-122"/>
              </a:rPr>
              <a:t>上，地址总线上的内容进入</a:t>
            </a:r>
            <a:r>
              <a:rPr lang="zh-CN" altLang="en-US" sz="2400" dirty="0">
                <a:solidFill>
                  <a:srgbClr val="9900CC"/>
                </a:solidFill>
                <a:latin typeface="宋体" panose="02010600030101010101" pitchFamily="2" charset="-122"/>
                <a:hlinkClick r:id="rId2" action="ppaction://hlinksldjump"/>
              </a:rPr>
              <a:t>地址译码器</a:t>
            </a:r>
            <a:r>
              <a:rPr lang="zh-CN" altLang="en-US" sz="2400" dirty="0">
                <a:solidFill>
                  <a:schemeClr val="tx1"/>
                </a:solidFill>
                <a:latin typeface="宋体" panose="02010600030101010101" pitchFamily="2" charset="-122"/>
              </a:rPr>
              <a:t>，由地址译码器进行译码，</a:t>
            </a:r>
            <a:r>
              <a:rPr lang="zh-CN" altLang="en-US" sz="2400" dirty="0">
                <a:solidFill>
                  <a:srgbClr val="FF0000"/>
                </a:solidFill>
                <a:latin typeface="宋体" panose="02010600030101010101" pitchFamily="2" charset="-122"/>
              </a:rPr>
              <a:t>选通相应的存储单元</a:t>
            </a:r>
            <a:r>
              <a:rPr lang="zh-CN" altLang="en-US" sz="2400" dirty="0">
                <a:solidFill>
                  <a:schemeClr val="tx1"/>
                </a:solidFill>
                <a:latin typeface="宋体" panose="02010600030101010101" pitchFamily="2" charset="-122"/>
              </a:rPr>
              <a:t>。</a:t>
            </a:r>
          </a:p>
        </p:txBody>
      </p:sp>
      <p:sp>
        <p:nvSpPr>
          <p:cNvPr id="6" name="Rectangle 3">
            <a:extLst>
              <a:ext uri="{FF2B5EF4-FFF2-40B4-BE49-F238E27FC236}">
                <a16:creationId xmlns:a16="http://schemas.microsoft.com/office/drawing/2014/main" id="{E1D8EB61-25CE-463E-920C-2908760C564D}"/>
              </a:ext>
            </a:extLst>
          </p:cNvPr>
          <p:cNvSpPr txBox="1">
            <a:spLocks noChangeArrowheads="1"/>
          </p:cNvSpPr>
          <p:nvPr/>
        </p:nvSpPr>
        <p:spPr bwMode="auto">
          <a:xfrm>
            <a:off x="342900" y="4915819"/>
            <a:ext cx="8748712" cy="161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3"/>
              </a:buBlip>
              <a:defRPr sz="32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algn="just">
              <a:spcBef>
                <a:spcPct val="20000"/>
              </a:spcBef>
              <a:buBlip>
                <a:blip r:embed="rId4"/>
              </a:buBlip>
              <a:defRPr sz="2800" b="1">
                <a:solidFill>
                  <a:schemeClr val="tx1"/>
                </a:solidFill>
                <a:latin typeface="Arial" panose="020B0604020202020204" pitchFamily="34" charset="0"/>
                <a:ea typeface="宋体" panose="02010600030101010101" pitchFamily="2" charset="-122"/>
              </a:defRPr>
            </a:lvl2pPr>
            <a:lvl3pPr marL="1143000" indent="-228600" algn="just">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gn="just">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just">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4000"/>
              </a:lnSpc>
              <a:spcBef>
                <a:spcPct val="0"/>
              </a:spcBef>
              <a:spcAft>
                <a:spcPts val="600"/>
              </a:spcAft>
              <a:buFontTx/>
              <a:buNone/>
            </a:pPr>
            <a:r>
              <a:rPr lang="zh-CN" altLang="en-US" sz="2400" dirty="0">
                <a:solidFill>
                  <a:schemeClr val="tx1"/>
                </a:solidFill>
                <a:latin typeface="宋体" panose="02010600030101010101" pitchFamily="2" charset="-122"/>
              </a:rPr>
              <a:t>  被选通的存储单元的</a:t>
            </a:r>
            <a:r>
              <a:rPr lang="zh-CN" altLang="en-US" sz="2400" dirty="0">
                <a:solidFill>
                  <a:srgbClr val="FF0000"/>
                </a:solidFill>
                <a:latin typeface="宋体" panose="02010600030101010101" pitchFamily="2" charset="-122"/>
              </a:rPr>
              <a:t>内容就出现数据总线上</a:t>
            </a:r>
            <a:r>
              <a:rPr lang="zh-CN" altLang="en-US" sz="2400" dirty="0">
                <a:solidFill>
                  <a:schemeClr val="tx1"/>
                </a:solidFill>
                <a:latin typeface="宋体" panose="02010600030101010101" pitchFamily="2" charset="-122"/>
              </a:rPr>
              <a:t>，在控制信号的作用下，</a:t>
            </a:r>
            <a:r>
              <a:rPr lang="en-US" altLang="zh-CN" sz="2400" dirty="0">
                <a:solidFill>
                  <a:schemeClr val="tx1"/>
                </a:solidFill>
                <a:latin typeface="宋体" panose="02010600030101010101" pitchFamily="2" charset="-122"/>
              </a:rPr>
              <a:t>CPU</a:t>
            </a:r>
            <a:r>
              <a:rPr lang="zh-CN" altLang="en-US" sz="2400" dirty="0">
                <a:solidFill>
                  <a:schemeClr val="tx1"/>
                </a:solidFill>
                <a:latin typeface="宋体" panose="02010600030101010101" pitchFamily="2" charset="-122"/>
              </a:rPr>
              <a:t>从数据总线上</a:t>
            </a:r>
            <a:r>
              <a:rPr lang="zh-CN" altLang="en-US" sz="2400" dirty="0">
                <a:solidFill>
                  <a:srgbClr val="FF0000"/>
                </a:solidFill>
                <a:latin typeface="宋体" panose="02010600030101010101" pitchFamily="2" charset="-122"/>
              </a:rPr>
              <a:t>读取数据到数据寄存器</a:t>
            </a:r>
            <a:r>
              <a:rPr lang="en-US" altLang="zh-CN" sz="2400" dirty="0">
                <a:solidFill>
                  <a:srgbClr val="FF0000"/>
                </a:solidFill>
                <a:latin typeface="宋体" panose="02010600030101010101" pitchFamily="2" charset="-122"/>
              </a:rPr>
              <a:t>DR</a:t>
            </a:r>
            <a:r>
              <a:rPr lang="zh-CN" altLang="en-US" sz="2400" dirty="0">
                <a:solidFill>
                  <a:schemeClr val="tx1"/>
                </a:solidFill>
                <a:latin typeface="宋体" panose="02010600030101010101" pitchFamily="2" charset="-122"/>
              </a:rPr>
              <a:t>，从而完成存储器的读操作。</a:t>
            </a:r>
          </a:p>
        </p:txBody>
      </p:sp>
      <p:pic>
        <p:nvPicPr>
          <p:cNvPr id="3" name="图片 2">
            <a:extLst>
              <a:ext uri="{FF2B5EF4-FFF2-40B4-BE49-F238E27FC236}">
                <a16:creationId xmlns:a16="http://schemas.microsoft.com/office/drawing/2014/main" id="{11661A21-AEA2-4DEB-A0D2-CFB4F59D88F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683251" y="479425"/>
            <a:ext cx="3314684" cy="193371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9B7D1237-B5B3-4AE4-8AC6-077FFE864A7F}"/>
              </a:ext>
            </a:extLst>
          </p:cNvPr>
          <p:cNvSpPr>
            <a:spLocks noGrp="1"/>
          </p:cNvSpPr>
          <p:nvPr>
            <p:ph type="sldNum" sz="quarter" idx="12"/>
          </p:nvPr>
        </p:nvSpPr>
        <p:spPr/>
        <p:txBody>
          <a:bodyPr/>
          <a:lstStyle/>
          <a:p>
            <a:fld id="{22E77DEE-32E4-4009-988B-F2758F7B8AC2}" type="slidenum">
              <a:rPr lang="zh-CN" altLang="en-US" smtClean="0"/>
              <a:t>8</a:t>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E16A40BE-AA15-40C1-93E8-DCA3A20C419C}"/>
              </a:ext>
            </a:extLst>
          </p:cNvPr>
          <p:cNvSpPr>
            <a:spLocks noGrp="1" noChangeArrowheads="1"/>
          </p:cNvSpPr>
          <p:nvPr>
            <p:ph type="title"/>
          </p:nvPr>
        </p:nvSpPr>
        <p:spPr>
          <a:xfrm>
            <a:off x="874713" y="512763"/>
            <a:ext cx="7115175" cy="504825"/>
          </a:xfrm>
        </p:spPr>
        <p:txBody>
          <a:bodyPr/>
          <a:lstStyle/>
          <a:p>
            <a:pPr eaLnBrk="1" hangingPunct="1"/>
            <a:r>
              <a:rPr lang="zh-CN" altLang="en-US" sz="2800" dirty="0"/>
              <a:t>存储器访问过程</a:t>
            </a:r>
          </a:p>
        </p:txBody>
      </p:sp>
      <p:sp>
        <p:nvSpPr>
          <p:cNvPr id="582659" name="Rectangle 3">
            <a:extLst>
              <a:ext uri="{FF2B5EF4-FFF2-40B4-BE49-F238E27FC236}">
                <a16:creationId xmlns:a16="http://schemas.microsoft.com/office/drawing/2014/main" id="{D0BF62A9-B064-4041-BB7F-76527436526C}"/>
              </a:ext>
            </a:extLst>
          </p:cNvPr>
          <p:cNvSpPr>
            <a:spLocks noGrp="1" noChangeArrowheads="1"/>
          </p:cNvSpPr>
          <p:nvPr>
            <p:ph idx="1"/>
          </p:nvPr>
        </p:nvSpPr>
        <p:spPr>
          <a:xfrm>
            <a:off x="407987" y="4416425"/>
            <a:ext cx="7924801" cy="1730375"/>
          </a:xfrm>
        </p:spPr>
        <p:txBody>
          <a:bodyPr/>
          <a:lstStyle/>
          <a:p>
            <a:pPr eaLnBrk="1" hangingPunct="1">
              <a:lnSpc>
                <a:spcPct val="100000"/>
              </a:lnSpc>
              <a:spcBef>
                <a:spcPct val="0"/>
              </a:spcBef>
              <a:buFontTx/>
              <a:buNone/>
            </a:pPr>
            <a:r>
              <a:rPr lang="zh-CN" altLang="en-US" dirty="0">
                <a:solidFill>
                  <a:srgbClr val="FF0000"/>
                </a:solidFill>
                <a:latin typeface="宋体" panose="02010600030101010101" pitchFamily="2" charset="-122"/>
              </a:rPr>
              <a:t>（</a:t>
            </a:r>
            <a:r>
              <a:rPr lang="en-US" altLang="zh-CN" dirty="0">
                <a:solidFill>
                  <a:srgbClr val="FF0000"/>
                </a:solidFill>
                <a:latin typeface="宋体" panose="02010600030101010101" pitchFamily="2" charset="-122"/>
              </a:rPr>
              <a:t>2</a:t>
            </a:r>
            <a:r>
              <a:rPr lang="zh-CN" altLang="en-US" dirty="0">
                <a:solidFill>
                  <a:srgbClr val="FF0000"/>
                </a:solidFill>
                <a:latin typeface="宋体" panose="02010600030101010101" pitchFamily="2" charset="-122"/>
              </a:rPr>
              <a:t>）写操作</a:t>
            </a:r>
          </a:p>
          <a:p>
            <a:pPr eaLnBrk="1" hangingPunct="1">
              <a:lnSpc>
                <a:spcPct val="100000"/>
              </a:lnSpc>
              <a:spcBef>
                <a:spcPct val="0"/>
              </a:spcBef>
              <a:buFontTx/>
              <a:buNone/>
            </a:pPr>
            <a:r>
              <a:rPr lang="zh-CN" altLang="en-US" dirty="0">
                <a:solidFill>
                  <a:schemeClr val="tx1"/>
                </a:solidFill>
              </a:rPr>
              <a:t>   </a:t>
            </a:r>
            <a:r>
              <a:rPr lang="en-US" altLang="zh-CN" dirty="0">
                <a:solidFill>
                  <a:schemeClr val="tx1"/>
                </a:solidFill>
              </a:rPr>
              <a:t>CPU</a:t>
            </a:r>
            <a:r>
              <a:rPr lang="zh-CN" altLang="en-US" dirty="0">
                <a:solidFill>
                  <a:schemeClr val="tx1"/>
                </a:solidFill>
              </a:rPr>
              <a:t>将</a:t>
            </a:r>
            <a:r>
              <a:rPr lang="zh-CN" altLang="en-US" dirty="0">
                <a:solidFill>
                  <a:srgbClr val="3366FF"/>
                </a:solidFill>
                <a:hlinkClick r:id="rId2" action="ppaction://hlinksldjump"/>
              </a:rPr>
              <a:t>地址寄存器</a:t>
            </a:r>
            <a:r>
              <a:rPr lang="en-US" altLang="zh-CN" dirty="0">
                <a:solidFill>
                  <a:srgbClr val="3366FF"/>
                </a:solidFill>
                <a:hlinkClick r:id="rId2" action="ppaction://hlinksldjump"/>
              </a:rPr>
              <a:t>AR</a:t>
            </a:r>
            <a:r>
              <a:rPr lang="zh-CN" altLang="en-US" dirty="0">
                <a:solidFill>
                  <a:schemeClr val="tx1"/>
                </a:solidFill>
              </a:rPr>
              <a:t>的内容送到</a:t>
            </a:r>
            <a:r>
              <a:rPr lang="zh-CN" altLang="en-US" dirty="0">
                <a:solidFill>
                  <a:srgbClr val="3366FF"/>
                </a:solidFill>
              </a:rPr>
              <a:t>地址总线</a:t>
            </a:r>
            <a:r>
              <a:rPr lang="en-US" altLang="zh-CN" dirty="0">
                <a:solidFill>
                  <a:srgbClr val="3366FF"/>
                </a:solidFill>
              </a:rPr>
              <a:t>AB</a:t>
            </a:r>
            <a:r>
              <a:rPr lang="zh-CN" altLang="en-US" dirty="0">
                <a:solidFill>
                  <a:schemeClr val="tx1"/>
                </a:solidFill>
              </a:rPr>
              <a:t>上，地址总线上的内容进入</a:t>
            </a:r>
            <a:r>
              <a:rPr lang="zh-CN" altLang="en-US" dirty="0">
                <a:solidFill>
                  <a:srgbClr val="3366FF"/>
                </a:solidFill>
              </a:rPr>
              <a:t>地址译码器</a:t>
            </a:r>
            <a:r>
              <a:rPr lang="zh-CN" altLang="en-US" dirty="0">
                <a:solidFill>
                  <a:schemeClr val="tx1"/>
                </a:solidFill>
              </a:rPr>
              <a:t>，由地址译码器进行</a:t>
            </a:r>
            <a:r>
              <a:rPr lang="zh-CN" altLang="en-US" dirty="0">
                <a:solidFill>
                  <a:srgbClr val="3366FF"/>
                </a:solidFill>
              </a:rPr>
              <a:t>译码</a:t>
            </a:r>
            <a:r>
              <a:rPr lang="zh-CN" altLang="en-US" dirty="0">
                <a:solidFill>
                  <a:schemeClr val="tx1"/>
                </a:solidFill>
              </a:rPr>
              <a:t>，以</a:t>
            </a:r>
            <a:r>
              <a:rPr lang="zh-CN" altLang="en-US" dirty="0">
                <a:solidFill>
                  <a:srgbClr val="C00000"/>
                </a:solidFill>
              </a:rPr>
              <a:t>选通相应的存储单元</a:t>
            </a:r>
            <a:r>
              <a:rPr lang="zh-CN" altLang="en-US" dirty="0">
                <a:solidFill>
                  <a:schemeClr val="tx1"/>
                </a:solidFill>
              </a:rPr>
              <a:t>。</a:t>
            </a:r>
            <a:endParaRPr lang="en-US" altLang="zh-CN" dirty="0">
              <a:solidFill>
                <a:schemeClr val="tx1"/>
              </a:solidFill>
            </a:endParaRPr>
          </a:p>
          <a:p>
            <a:pPr eaLnBrk="1" hangingPunct="1">
              <a:lnSpc>
                <a:spcPct val="100000"/>
              </a:lnSpc>
              <a:spcBef>
                <a:spcPct val="0"/>
              </a:spcBef>
              <a:buFontTx/>
              <a:buNone/>
            </a:pPr>
            <a:r>
              <a:rPr lang="en-US" altLang="zh-CN" dirty="0">
                <a:solidFill>
                  <a:schemeClr val="tx1"/>
                </a:solidFill>
              </a:rPr>
              <a:t>  </a:t>
            </a:r>
            <a:r>
              <a:rPr lang="zh-CN" altLang="en-US" dirty="0">
                <a:solidFill>
                  <a:schemeClr val="tx1"/>
                </a:solidFill>
              </a:rPr>
              <a:t>在控制信号的作用下，</a:t>
            </a:r>
            <a:r>
              <a:rPr lang="en-US" altLang="zh-CN" dirty="0">
                <a:solidFill>
                  <a:schemeClr val="tx1"/>
                </a:solidFill>
              </a:rPr>
              <a:t>CPU</a:t>
            </a:r>
            <a:r>
              <a:rPr lang="zh-CN" altLang="en-US" dirty="0">
                <a:solidFill>
                  <a:schemeClr val="tx1"/>
                </a:solidFill>
              </a:rPr>
              <a:t>将要</a:t>
            </a:r>
            <a:r>
              <a:rPr lang="zh-CN" altLang="en-US" dirty="0">
                <a:solidFill>
                  <a:srgbClr val="3366FF"/>
                </a:solidFill>
              </a:rPr>
              <a:t>写入的数据通过数据总线</a:t>
            </a:r>
            <a:r>
              <a:rPr lang="zh-CN" altLang="en-US" dirty="0">
                <a:solidFill>
                  <a:srgbClr val="FF0000"/>
                </a:solidFill>
              </a:rPr>
              <a:t>写入到被选通的存储单元</a:t>
            </a:r>
            <a:r>
              <a:rPr lang="zh-CN" altLang="en-US" dirty="0">
                <a:solidFill>
                  <a:schemeClr val="tx1"/>
                </a:solidFill>
              </a:rPr>
              <a:t>，完成存储器的写操作。</a:t>
            </a:r>
          </a:p>
          <a:p>
            <a:pPr eaLnBrk="1" hangingPunct="1">
              <a:lnSpc>
                <a:spcPct val="100000"/>
              </a:lnSpc>
              <a:spcAft>
                <a:spcPts val="1800"/>
              </a:spcAft>
            </a:pPr>
            <a:endParaRPr lang="en-US" altLang="zh-CN" dirty="0"/>
          </a:p>
        </p:txBody>
      </p:sp>
      <p:pic>
        <p:nvPicPr>
          <p:cNvPr id="28679" name="图片 2">
            <a:extLst>
              <a:ext uri="{FF2B5EF4-FFF2-40B4-BE49-F238E27FC236}">
                <a16:creationId xmlns:a16="http://schemas.microsoft.com/office/drawing/2014/main" id="{0C400673-1F32-4C65-BBD3-4F5D516C4CF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39925" y="1265238"/>
            <a:ext cx="5884863" cy="34321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02E17985-CC69-442D-BAE5-01775E4F28E4}"/>
              </a:ext>
            </a:extLst>
          </p:cNvPr>
          <p:cNvSpPr>
            <a:spLocks noGrp="1"/>
          </p:cNvSpPr>
          <p:nvPr>
            <p:ph type="sldNum" sz="quarter" idx="12"/>
          </p:nvPr>
        </p:nvSpPr>
        <p:spPr/>
        <p:txBody>
          <a:bodyPr/>
          <a:lstStyle/>
          <a:p>
            <a:fld id="{22E77DEE-32E4-4009-988B-F2758F7B8AC2}" type="slidenum">
              <a:rPr lang="zh-CN" altLang="en-US" smtClean="0"/>
              <a:t>9</a:t>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7155" name="Rectangle 3">
            <a:extLst>
              <a:ext uri="{FF2B5EF4-FFF2-40B4-BE49-F238E27FC236}">
                <a16:creationId xmlns:a16="http://schemas.microsoft.com/office/drawing/2014/main" id="{9BA1B5D8-54D4-4164-9FA0-B1D05DFF6F61}"/>
              </a:ext>
            </a:extLst>
          </p:cNvPr>
          <p:cNvSpPr>
            <a:spLocks noGrp="1" noChangeArrowheads="1"/>
          </p:cNvSpPr>
          <p:nvPr>
            <p:ph idx="1"/>
          </p:nvPr>
        </p:nvSpPr>
        <p:spPr>
          <a:xfrm>
            <a:off x="439738" y="1328737"/>
            <a:ext cx="7999412" cy="2036764"/>
          </a:xfrm>
        </p:spPr>
        <p:txBody>
          <a:bodyPr/>
          <a:lstStyle/>
          <a:p>
            <a:pPr marL="87313" indent="-87313" eaLnBrk="1" hangingPunct="1">
              <a:spcBef>
                <a:spcPts val="0"/>
              </a:spcBef>
              <a:defRPr/>
            </a:pPr>
            <a:r>
              <a:rPr kumimoji="1" lang="zh-CN" altLang="en-US" dirty="0">
                <a:solidFill>
                  <a:srgbClr val="CC3300"/>
                </a:solidFill>
              </a:rPr>
              <a:t>执行过程</a:t>
            </a:r>
            <a:r>
              <a:rPr kumimoji="1" lang="en-US" altLang="zh-CN" dirty="0">
                <a:solidFill>
                  <a:srgbClr val="CC3300"/>
                </a:solidFill>
              </a:rPr>
              <a:t>:</a:t>
            </a:r>
            <a:r>
              <a:rPr lang="zh-CN" altLang="en-US" dirty="0">
                <a:solidFill>
                  <a:srgbClr val="3366FF"/>
                </a:solidFill>
              </a:rPr>
              <a:t>读取指令</a:t>
            </a:r>
            <a:r>
              <a:rPr lang="zh-CN" altLang="en-US" dirty="0">
                <a:solidFill>
                  <a:srgbClr val="3366FF"/>
                </a:solidFill>
                <a:sym typeface="Wingdings" pitchFamily="2" charset="2"/>
              </a:rPr>
              <a:t></a:t>
            </a:r>
            <a:r>
              <a:rPr lang="zh-CN" altLang="en-US" dirty="0">
                <a:solidFill>
                  <a:srgbClr val="3366FF"/>
                </a:solidFill>
              </a:rPr>
              <a:t>分析指令</a:t>
            </a:r>
            <a:r>
              <a:rPr lang="zh-CN" altLang="en-US" dirty="0">
                <a:solidFill>
                  <a:srgbClr val="3366FF"/>
                </a:solidFill>
                <a:sym typeface="Wingdings" pitchFamily="2" charset="2"/>
              </a:rPr>
              <a:t></a:t>
            </a:r>
            <a:r>
              <a:rPr lang="zh-CN" altLang="en-US" dirty="0">
                <a:solidFill>
                  <a:srgbClr val="3366FF"/>
                </a:solidFill>
              </a:rPr>
              <a:t>执行指令</a:t>
            </a:r>
            <a:r>
              <a:rPr lang="zh-CN" altLang="en-US" dirty="0">
                <a:solidFill>
                  <a:srgbClr val="3366FF"/>
                </a:solidFill>
                <a:sym typeface="Wingdings" pitchFamily="2" charset="2"/>
              </a:rPr>
              <a:t></a:t>
            </a:r>
            <a:r>
              <a:rPr lang="zh-CN" altLang="en-US" dirty="0">
                <a:solidFill>
                  <a:srgbClr val="3366FF"/>
                </a:solidFill>
              </a:rPr>
              <a:t>保存结果</a:t>
            </a:r>
            <a:endParaRPr kumimoji="1" lang="zh-CN" altLang="en-US" dirty="0">
              <a:solidFill>
                <a:srgbClr val="3366FF"/>
              </a:solidFill>
            </a:endParaRPr>
          </a:p>
          <a:p>
            <a:pPr marL="87313" indent="-87313" eaLnBrk="1" hangingPunct="1">
              <a:spcBef>
                <a:spcPts val="0"/>
              </a:spcBef>
              <a:defRPr/>
            </a:pPr>
            <a:r>
              <a:rPr kumimoji="1" lang="zh-CN" altLang="en-US" dirty="0">
                <a:solidFill>
                  <a:srgbClr val="CC3300"/>
                </a:solidFill>
              </a:rPr>
              <a:t>在让计算机进行计算之前，应做如下工作：</a:t>
            </a:r>
          </a:p>
          <a:p>
            <a:pPr marL="449263" lvl="1" indent="-187325" eaLnBrk="1" hangingPunct="1">
              <a:lnSpc>
                <a:spcPct val="114000"/>
              </a:lnSpc>
              <a:spcBef>
                <a:spcPts val="0"/>
              </a:spcBef>
              <a:spcAft>
                <a:spcPts val="600"/>
              </a:spcAft>
              <a:defRPr/>
            </a:pPr>
            <a:r>
              <a:rPr lang="zh-CN" altLang="en-US" dirty="0"/>
              <a:t>用助记符号指令</a:t>
            </a:r>
            <a:r>
              <a:rPr lang="en-US" altLang="zh-CN" dirty="0"/>
              <a:t>(</a:t>
            </a:r>
            <a:r>
              <a:rPr lang="zh-CN" altLang="en-US" dirty="0"/>
              <a:t>汇编语言</a:t>
            </a:r>
            <a:r>
              <a:rPr lang="en-US" altLang="zh-CN" dirty="0"/>
              <a:t>)</a:t>
            </a:r>
            <a:r>
              <a:rPr lang="zh-CN" altLang="en-US" dirty="0"/>
              <a:t>编写源程序）；</a:t>
            </a:r>
          </a:p>
          <a:p>
            <a:pPr marL="449263" lvl="1" indent="-187325" eaLnBrk="1" hangingPunct="1">
              <a:lnSpc>
                <a:spcPct val="114000"/>
              </a:lnSpc>
              <a:spcBef>
                <a:spcPts val="0"/>
              </a:spcBef>
              <a:spcAft>
                <a:spcPts val="600"/>
              </a:spcAft>
              <a:defRPr/>
            </a:pPr>
            <a:r>
              <a:rPr lang="zh-CN" altLang="en-US" dirty="0"/>
              <a:t>用汇编软件（汇编程序）将源程序汇编成计算机能识别的机器语言程序；</a:t>
            </a:r>
          </a:p>
          <a:p>
            <a:pPr marL="449263" lvl="1" indent="-187325" eaLnBrk="1" hangingPunct="1">
              <a:lnSpc>
                <a:spcPct val="114000"/>
              </a:lnSpc>
              <a:spcBef>
                <a:spcPts val="0"/>
              </a:spcBef>
              <a:spcAft>
                <a:spcPts val="600"/>
              </a:spcAft>
              <a:defRPr/>
            </a:pPr>
            <a:r>
              <a:rPr lang="zh-CN" altLang="en-US" dirty="0"/>
              <a:t>将数据和程序通过输入设备送入</a:t>
            </a:r>
            <a:r>
              <a:rPr lang="zh-CN" altLang="en-US" dirty="0">
                <a:hlinkClick r:id="rId2" action="ppaction://hlinksldjump"/>
              </a:rPr>
              <a:t>存储器</a:t>
            </a:r>
            <a:r>
              <a:rPr lang="zh-CN" altLang="en-US" dirty="0"/>
              <a:t>中存放。</a:t>
            </a:r>
          </a:p>
        </p:txBody>
      </p:sp>
      <p:graphicFrame>
        <p:nvGraphicFramePr>
          <p:cNvPr id="5" name="Group 81">
            <a:extLst>
              <a:ext uri="{FF2B5EF4-FFF2-40B4-BE49-F238E27FC236}">
                <a16:creationId xmlns:a16="http://schemas.microsoft.com/office/drawing/2014/main" id="{285C6681-D969-4534-8E81-CF9ABCCD75CB}"/>
              </a:ext>
            </a:extLst>
          </p:cNvPr>
          <p:cNvGraphicFramePr>
            <a:graphicFrameLocks noGrp="1"/>
          </p:cNvGraphicFramePr>
          <p:nvPr>
            <p:extLst>
              <p:ext uri="{D42A27DB-BD31-4B8C-83A1-F6EECF244321}">
                <p14:modId xmlns:p14="http://schemas.microsoft.com/office/powerpoint/2010/main" val="3818114326"/>
              </p:ext>
            </p:extLst>
          </p:nvPr>
        </p:nvGraphicFramePr>
        <p:xfrm>
          <a:off x="381000" y="3983833"/>
          <a:ext cx="6565900" cy="1600200"/>
        </p:xfrm>
        <a:graphic>
          <a:graphicData uri="http://schemas.openxmlformats.org/drawingml/2006/table">
            <a:tbl>
              <a:tblPr/>
              <a:tblGrid>
                <a:gridCol w="2097317">
                  <a:extLst>
                    <a:ext uri="{9D8B030D-6E8A-4147-A177-3AD203B41FA5}">
                      <a16:colId xmlns:a16="http://schemas.microsoft.com/office/drawing/2014/main" val="20000"/>
                    </a:ext>
                  </a:extLst>
                </a:gridCol>
                <a:gridCol w="4468583">
                  <a:extLst>
                    <a:ext uri="{9D8B030D-6E8A-4147-A177-3AD203B41FA5}">
                      <a16:colId xmlns:a16="http://schemas.microsoft.com/office/drawing/2014/main" val="20001"/>
                    </a:ext>
                  </a:extLst>
                </a:gridCol>
              </a:tblGrid>
              <a:tr h="40005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0000CC"/>
                          </a:solidFill>
                          <a:effectLst/>
                          <a:latin typeface="Times New Roman" pitchFamily="18" charset="0"/>
                          <a:ea typeface="宋体" charset="-122"/>
                          <a:cs typeface="Times New Roman" pitchFamily="18" charset="0"/>
                        </a:rPr>
                        <a:t>汇编语言语句</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注释</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005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400" b="1" i="0" u="none" strike="noStrike" cap="none" normalizeH="0" baseline="0" dirty="0">
                          <a:ln>
                            <a:noFill/>
                          </a:ln>
                          <a:solidFill>
                            <a:srgbClr val="0000CC"/>
                          </a:solidFill>
                          <a:effectLst/>
                          <a:latin typeface="Times New Roman" pitchFamily="18" charset="0"/>
                          <a:ea typeface="宋体" charset="-122"/>
                          <a:cs typeface="Times New Roman" pitchFamily="18" charset="0"/>
                        </a:rPr>
                        <a:t>MOV A</a:t>
                      </a:r>
                      <a:r>
                        <a:rPr kumimoji="0" lang="en-US" altLang="zh-CN" sz="2400" b="1" i="0" u="none" strike="noStrike" cap="none" normalizeH="0" baseline="0" dirty="0">
                          <a:ln>
                            <a:noFill/>
                          </a:ln>
                          <a:solidFill>
                            <a:srgbClr val="0000CC"/>
                          </a:solidFill>
                          <a:effectLst/>
                          <a:latin typeface="Times New Roman" pitchFamily="18" charset="0"/>
                          <a:ea typeface="宋体" charset="-122"/>
                          <a:cs typeface="Times New Roman" pitchFamily="18" charset="0"/>
                        </a:rPr>
                        <a:t>, </a:t>
                      </a:r>
                      <a:r>
                        <a:rPr kumimoji="0" lang="en-US" altLang="zh-CN" sz="2400" b="1" i="0" u="none" strike="noStrike" cap="none" normalizeH="0" baseline="0" dirty="0">
                          <a:ln>
                            <a:noFill/>
                          </a:ln>
                          <a:solidFill>
                            <a:srgbClr val="FF0000"/>
                          </a:solidFill>
                          <a:effectLst/>
                          <a:latin typeface="Times New Roman" pitchFamily="18" charset="0"/>
                          <a:ea typeface="宋体" charset="-122"/>
                          <a:cs typeface="Times New Roman" pitchFamily="18" charset="0"/>
                        </a:rPr>
                        <a:t>#</a:t>
                      </a:r>
                      <a:r>
                        <a:rPr kumimoji="0" lang="pt-BR" altLang="zh-CN" sz="2400" b="1" i="0" u="none" strike="noStrike" cap="none" normalizeH="0" baseline="0" dirty="0">
                          <a:ln>
                            <a:noFill/>
                          </a:ln>
                          <a:solidFill>
                            <a:srgbClr val="0000CC"/>
                          </a:solidFill>
                          <a:effectLst/>
                          <a:latin typeface="Times New Roman" pitchFamily="18" charset="0"/>
                          <a:ea typeface="宋体" charset="-122"/>
                          <a:cs typeface="Times New Roman" pitchFamily="18" charset="0"/>
                        </a:rPr>
                        <a:t>07H</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 ;</a:t>
                      </a:r>
                      <a:r>
                        <a:rPr kumimoji="0" lang="pt-BR" altLang="zh-CN"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07</a:t>
                      </a:r>
                      <a:r>
                        <a:rPr kumimoji="0" lang="zh-CN" altLang="pt-BR"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送入累加器</a:t>
                      </a:r>
                      <a:r>
                        <a:rPr kumimoji="0" lang="pt-BR" altLang="zh-CN"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A</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005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CC"/>
                          </a:solidFill>
                          <a:effectLst/>
                          <a:latin typeface="Times New Roman" pitchFamily="18" charset="0"/>
                          <a:ea typeface="宋体" charset="-122"/>
                          <a:cs typeface="Times New Roman" pitchFamily="18" charset="0"/>
                        </a:rPr>
                        <a:t>ADD A, </a:t>
                      </a:r>
                      <a:r>
                        <a:rPr kumimoji="0" lang="en-US" altLang="zh-CN" sz="2400" b="1" i="0" u="none" strike="noStrike" cap="none" normalizeH="0" baseline="0" dirty="0">
                          <a:ln>
                            <a:noFill/>
                          </a:ln>
                          <a:solidFill>
                            <a:srgbClr val="FF0000"/>
                          </a:solidFill>
                          <a:effectLst/>
                          <a:latin typeface="Times New Roman" pitchFamily="18" charset="0"/>
                          <a:ea typeface="宋体" charset="-122"/>
                          <a:cs typeface="Times New Roman" pitchFamily="18" charset="0"/>
                        </a:rPr>
                        <a:t>#</a:t>
                      </a:r>
                      <a:r>
                        <a:rPr kumimoji="0" lang="en-US" altLang="zh-CN" sz="2400" b="1" i="0" u="none" strike="noStrike" cap="none" normalizeH="0" baseline="0" dirty="0">
                          <a:ln>
                            <a:noFill/>
                          </a:ln>
                          <a:solidFill>
                            <a:srgbClr val="0000CC"/>
                          </a:solidFill>
                          <a:effectLst/>
                          <a:latin typeface="Times New Roman" pitchFamily="18" charset="0"/>
                          <a:ea typeface="宋体" charset="-122"/>
                          <a:cs typeface="Times New Roman" pitchFamily="18" charset="0"/>
                        </a:rPr>
                        <a:t>0AH</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;10</a:t>
                      </a:r>
                      <a:r>
                        <a:rPr kumimoji="0" lang="zh-CN" altLang="en-US"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与</a:t>
                      </a:r>
                      <a:r>
                        <a:rPr kumimoji="0" lang="en-US" altLang="zh-CN"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A</a:t>
                      </a:r>
                      <a:r>
                        <a:rPr kumimoji="0" lang="zh-CN" altLang="en-US"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中</a:t>
                      </a:r>
                      <a:r>
                        <a:rPr kumimoji="0"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rPr>
                        <a:t>内容相加</a:t>
                      </a: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 </a:t>
                      </a:r>
                      <a:r>
                        <a:rPr kumimoji="0"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rPr>
                        <a:t>结果</a:t>
                      </a:r>
                      <a:r>
                        <a:rPr kumimoji="0" lang="zh-CN" altLang="en-US"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在</a:t>
                      </a:r>
                      <a:r>
                        <a:rPr kumimoji="0" lang="en-US" altLang="zh-CN"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A</a:t>
                      </a:r>
                      <a:r>
                        <a:rPr kumimoji="0" lang="zh-CN" altLang="en-US"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中</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005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0000CC"/>
                          </a:solidFill>
                          <a:effectLst/>
                          <a:latin typeface="Times New Roman" pitchFamily="18" charset="0"/>
                          <a:ea typeface="宋体" charset="-122"/>
                          <a:cs typeface="Times New Roman" pitchFamily="18" charset="0"/>
                        </a:rPr>
                        <a:t>HLT</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；暂停</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4" name="表格 3">
            <a:extLst>
              <a:ext uri="{FF2B5EF4-FFF2-40B4-BE49-F238E27FC236}">
                <a16:creationId xmlns:a16="http://schemas.microsoft.com/office/drawing/2014/main" id="{7F7CB30E-8DDF-4C78-B409-7BA9E9B3298E}"/>
              </a:ext>
            </a:extLst>
          </p:cNvPr>
          <p:cNvGraphicFramePr>
            <a:graphicFrameLocks noGrp="1"/>
          </p:cNvGraphicFramePr>
          <p:nvPr>
            <p:extLst>
              <p:ext uri="{D42A27DB-BD31-4B8C-83A1-F6EECF244321}">
                <p14:modId xmlns:p14="http://schemas.microsoft.com/office/powerpoint/2010/main" val="483157167"/>
              </p:ext>
            </p:extLst>
          </p:nvPr>
        </p:nvGraphicFramePr>
        <p:xfrm>
          <a:off x="6946900" y="3983833"/>
          <a:ext cx="1731963" cy="1600200"/>
        </p:xfrm>
        <a:graphic>
          <a:graphicData uri="http://schemas.openxmlformats.org/drawingml/2006/table">
            <a:tbl>
              <a:tblPr/>
              <a:tblGrid>
                <a:gridCol w="1731963">
                  <a:extLst>
                    <a:ext uri="{9D8B030D-6E8A-4147-A177-3AD203B41FA5}">
                      <a16:colId xmlns:a16="http://schemas.microsoft.com/office/drawing/2014/main" val="20000"/>
                    </a:ext>
                  </a:extLst>
                </a:gridCol>
              </a:tblGrid>
              <a:tr h="40005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rgbClr val="9900CC"/>
                          </a:solidFill>
                          <a:effectLst/>
                          <a:latin typeface="Times New Roman" pitchFamily="18" charset="0"/>
                          <a:ea typeface="宋体" charset="-122"/>
                          <a:cs typeface="Times New Roman" pitchFamily="18" charset="0"/>
                        </a:rPr>
                        <a:t>机器码</a:t>
                      </a:r>
                    </a:p>
                  </a:txBody>
                  <a:tcPr marL="91392" marR="9139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005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400" b="1" i="0" u="none" strike="noStrike" cap="none" normalizeH="0" baseline="0" dirty="0">
                          <a:ln>
                            <a:noFill/>
                          </a:ln>
                          <a:solidFill>
                            <a:srgbClr val="9900CC"/>
                          </a:solidFill>
                          <a:effectLst/>
                          <a:latin typeface="Times New Roman" pitchFamily="18" charset="0"/>
                          <a:ea typeface="宋体" charset="-122"/>
                          <a:cs typeface="Times New Roman" pitchFamily="18" charset="0"/>
                        </a:rPr>
                        <a:t>B0H  07H</a:t>
                      </a:r>
                    </a:p>
                  </a:txBody>
                  <a:tcPr marL="91392" marR="9139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005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9900CC"/>
                          </a:solidFill>
                          <a:effectLst/>
                          <a:latin typeface="Times New Roman" pitchFamily="18" charset="0"/>
                          <a:ea typeface="宋体" charset="-122"/>
                          <a:cs typeface="Times New Roman" pitchFamily="18" charset="0"/>
                        </a:rPr>
                        <a:t>04H  0AH</a:t>
                      </a:r>
                    </a:p>
                  </a:txBody>
                  <a:tcPr marL="91392" marR="9139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005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rgbClr val="9900CC"/>
                          </a:solidFill>
                          <a:effectLst/>
                          <a:latin typeface="Times New Roman" pitchFamily="18" charset="0"/>
                          <a:ea typeface="宋体" charset="-122"/>
                          <a:cs typeface="Times New Roman" pitchFamily="18" charset="0"/>
                        </a:rPr>
                        <a:t>F4H</a:t>
                      </a:r>
                    </a:p>
                  </a:txBody>
                  <a:tcPr marL="91392" marR="91392"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7" name="Rectangle 3">
            <a:extLst>
              <a:ext uri="{FF2B5EF4-FFF2-40B4-BE49-F238E27FC236}">
                <a16:creationId xmlns:a16="http://schemas.microsoft.com/office/drawing/2014/main" id="{4965EA70-F39D-4C7F-9B1B-4BB74625C755}"/>
              </a:ext>
            </a:extLst>
          </p:cNvPr>
          <p:cNvSpPr txBox="1">
            <a:spLocks noChangeArrowheads="1"/>
          </p:cNvSpPr>
          <p:nvPr/>
        </p:nvSpPr>
        <p:spPr bwMode="auto">
          <a:xfrm>
            <a:off x="342900" y="3187701"/>
            <a:ext cx="5859463"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Blip>
                <a:blip r:embed="rId3"/>
              </a:buBlip>
              <a:defRPr sz="32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algn="just">
              <a:spcBef>
                <a:spcPct val="20000"/>
              </a:spcBef>
              <a:buBlip>
                <a:blip r:embed="rId4"/>
              </a:buBlip>
              <a:defRPr sz="2800" b="1">
                <a:solidFill>
                  <a:schemeClr val="tx1"/>
                </a:solidFill>
                <a:latin typeface="Arial" panose="020B0604020202020204" pitchFamily="34" charset="0"/>
                <a:ea typeface="宋体" panose="02010600030101010101" pitchFamily="2" charset="-122"/>
              </a:defRPr>
            </a:lvl2pPr>
            <a:lvl3pPr marL="1143000" indent="-228600" algn="just">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gn="just">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just">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4000"/>
              </a:lnSpc>
              <a:spcAft>
                <a:spcPts val="600"/>
              </a:spcAft>
              <a:buFontTx/>
              <a:buNone/>
            </a:pPr>
            <a:r>
              <a:rPr lang="zh-CN" altLang="en-US" sz="2800" dirty="0">
                <a:latin typeface="宋体" panose="02010600030101010101" pitchFamily="2" charset="-122"/>
              </a:rPr>
              <a:t>例如，计算</a:t>
            </a:r>
            <a:r>
              <a:rPr lang="en-US" altLang="zh-CN" sz="2800" dirty="0">
                <a:latin typeface="宋体" panose="02010600030101010101" pitchFamily="2" charset="-122"/>
              </a:rPr>
              <a:t>7+10=?</a:t>
            </a:r>
            <a:r>
              <a:rPr lang="zh-CN" altLang="en-US" sz="2800" dirty="0">
                <a:latin typeface="宋体" panose="02010600030101010101" pitchFamily="2" charset="-122"/>
              </a:rPr>
              <a:t>，结果在</a:t>
            </a:r>
            <a:r>
              <a:rPr lang="en-US" altLang="zh-CN" sz="2800" dirty="0">
                <a:latin typeface="宋体" panose="02010600030101010101" pitchFamily="2" charset="-122"/>
              </a:rPr>
              <a:t>A</a:t>
            </a:r>
            <a:r>
              <a:rPr lang="zh-CN" altLang="en-US" sz="2800" dirty="0">
                <a:latin typeface="宋体" panose="02010600030101010101" pitchFamily="2" charset="-122"/>
              </a:rPr>
              <a:t>中。</a:t>
            </a:r>
          </a:p>
        </p:txBody>
      </p:sp>
      <p:sp>
        <p:nvSpPr>
          <p:cNvPr id="29730" name="矩形 7">
            <a:extLst>
              <a:ext uri="{FF2B5EF4-FFF2-40B4-BE49-F238E27FC236}">
                <a16:creationId xmlns:a16="http://schemas.microsoft.com/office/drawing/2014/main" id="{9049AFBB-9F51-4688-9C2C-B57315B3C39D}"/>
              </a:ext>
            </a:extLst>
          </p:cNvPr>
          <p:cNvSpPr>
            <a:spLocks noChangeArrowheads="1"/>
          </p:cNvSpPr>
          <p:nvPr/>
        </p:nvSpPr>
        <p:spPr bwMode="auto">
          <a:xfrm>
            <a:off x="3698875" y="531416"/>
            <a:ext cx="5354637"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800" b="1" dirty="0">
                <a:solidFill>
                  <a:srgbClr val="3366FF"/>
                </a:solidFill>
              </a:rPr>
              <a:t>:</a:t>
            </a:r>
            <a:r>
              <a:rPr kumimoji="1" lang="zh-CN" altLang="en-US" sz="2800" b="1" dirty="0">
                <a:solidFill>
                  <a:srgbClr val="3366FF"/>
                </a:solidFill>
              </a:rPr>
              <a:t>通过执行指令完成计算控制功能</a:t>
            </a:r>
            <a:endParaRPr lang="zh-CN" altLang="en-US" sz="2800" b="1" dirty="0"/>
          </a:p>
        </p:txBody>
      </p:sp>
      <p:sp>
        <p:nvSpPr>
          <p:cNvPr id="2" name="标题 1">
            <a:extLst>
              <a:ext uri="{FF2B5EF4-FFF2-40B4-BE49-F238E27FC236}">
                <a16:creationId xmlns:a16="http://schemas.microsoft.com/office/drawing/2014/main" id="{80ECD7A5-9A95-43C7-92B0-428CD9FFE196}"/>
              </a:ext>
            </a:extLst>
          </p:cNvPr>
          <p:cNvSpPr>
            <a:spLocks noGrp="1" noChangeArrowheads="1"/>
          </p:cNvSpPr>
          <p:nvPr>
            <p:ph type="title"/>
          </p:nvPr>
        </p:nvSpPr>
        <p:spPr>
          <a:xfrm>
            <a:off x="153988" y="547291"/>
            <a:ext cx="3821112" cy="504825"/>
          </a:xfrm>
        </p:spPr>
        <p:txBody>
          <a:bodyPr/>
          <a:lstStyle/>
          <a:p>
            <a:pPr eaLnBrk="1" hangingPunct="1"/>
            <a:r>
              <a:rPr lang="en-US" altLang="zh-CN" sz="2800" dirty="0">
                <a:latin typeface="Times New Roman" panose="02020603050405020304" pitchFamily="18" charset="0"/>
                <a:cs typeface="Times New Roman" panose="02020603050405020304" pitchFamily="18" charset="0"/>
              </a:rPr>
              <a:t>4.1.2</a:t>
            </a:r>
            <a:r>
              <a:rPr lang="zh-CN" altLang="en-US" sz="2800" dirty="0">
                <a:latin typeface="Times New Roman" panose="02020603050405020304" pitchFamily="18" charset="0"/>
                <a:cs typeface="Times New Roman" panose="02020603050405020304" pitchFamily="18" charset="0"/>
              </a:rPr>
              <a:t>模型机的工作过程</a:t>
            </a:r>
          </a:p>
        </p:txBody>
      </p:sp>
      <p:sp>
        <p:nvSpPr>
          <p:cNvPr id="3" name="矩形 2">
            <a:extLst>
              <a:ext uri="{FF2B5EF4-FFF2-40B4-BE49-F238E27FC236}">
                <a16:creationId xmlns:a16="http://schemas.microsoft.com/office/drawing/2014/main" id="{DEF5A540-BDAB-40CA-B418-F1FF53F02A0A}"/>
              </a:ext>
            </a:extLst>
          </p:cNvPr>
          <p:cNvSpPr>
            <a:spLocks noChangeArrowheads="1"/>
          </p:cNvSpPr>
          <p:nvPr/>
        </p:nvSpPr>
        <p:spPr bwMode="auto">
          <a:xfrm>
            <a:off x="6202363" y="3210719"/>
            <a:ext cx="2657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3D41D1"/>
                </a:solidFill>
              </a:rPr>
              <a:t>微机</a:t>
            </a:r>
            <a:r>
              <a:rPr lang="en-US" altLang="zh-CN" sz="2400" b="1" dirty="0">
                <a:solidFill>
                  <a:srgbClr val="3D41D1"/>
                </a:solidFill>
              </a:rPr>
              <a:t>8086</a:t>
            </a:r>
            <a:r>
              <a:rPr lang="zh-CN" altLang="en-US" sz="2400" b="1" dirty="0">
                <a:solidFill>
                  <a:srgbClr val="3D41D1"/>
                </a:solidFill>
              </a:rPr>
              <a:t>汇编语言</a:t>
            </a:r>
          </a:p>
        </p:txBody>
      </p:sp>
      <p:sp>
        <p:nvSpPr>
          <p:cNvPr id="29734" name="矩形 9">
            <a:hlinkClick r:id="rId2" action="ppaction://hlinksldjump"/>
            <a:extLst>
              <a:ext uri="{FF2B5EF4-FFF2-40B4-BE49-F238E27FC236}">
                <a16:creationId xmlns:a16="http://schemas.microsoft.com/office/drawing/2014/main" id="{E841860E-DFAF-45E1-9673-3E14B7DB7099}"/>
              </a:ext>
            </a:extLst>
          </p:cNvPr>
          <p:cNvSpPr>
            <a:spLocks noChangeArrowheads="1"/>
          </p:cNvSpPr>
          <p:nvPr/>
        </p:nvSpPr>
        <p:spPr bwMode="auto">
          <a:xfrm>
            <a:off x="244475" y="433387"/>
            <a:ext cx="4545013" cy="414338"/>
          </a:xfrm>
          <a:prstGeom prst="rect">
            <a:avLst/>
          </a:prstGeom>
        </p:spPr>
        <p:txBody>
          <a:bodyPr vert="horz" lIns="91440" tIns="45720" rIns="91440" bIns="45720" rtlCol="0" anchor="b">
            <a:normAutofit fontScale="70000" lnSpcReduction="20000"/>
          </a:bodyPr>
          <a:lstStyle/>
          <a:p>
            <a:pPr defTabSz="914400">
              <a:lnSpc>
                <a:spcPct val="85000"/>
              </a:lnSpc>
              <a:spcBef>
                <a:spcPct val="0"/>
              </a:spcBef>
            </a:pPr>
            <a:endParaRPr lang="zh-CN" altLang="en-US" sz="4000" spc="-50">
              <a:solidFill>
                <a:schemeClr val="tx1">
                  <a:lumMod val="75000"/>
                  <a:lumOff val="25000"/>
                </a:schemeClr>
              </a:solidFill>
              <a:latin typeface="+mj-lt"/>
              <a:ea typeface="+mj-ea"/>
              <a:cs typeface="+mj-cs"/>
            </a:endParaRPr>
          </a:p>
        </p:txBody>
      </p:sp>
      <p:sp>
        <p:nvSpPr>
          <p:cNvPr id="8" name="灯片编号占位符 7">
            <a:extLst>
              <a:ext uri="{FF2B5EF4-FFF2-40B4-BE49-F238E27FC236}">
                <a16:creationId xmlns:a16="http://schemas.microsoft.com/office/drawing/2014/main" id="{4E0C63AA-B894-4151-B652-BB3CECA70497}"/>
              </a:ext>
            </a:extLst>
          </p:cNvPr>
          <p:cNvSpPr>
            <a:spLocks noGrp="1"/>
          </p:cNvSpPr>
          <p:nvPr>
            <p:ph type="sldNum" sz="quarter" idx="12"/>
          </p:nvPr>
        </p:nvSpPr>
        <p:spPr/>
        <p:txBody>
          <a:bodyPr/>
          <a:lstStyle/>
          <a:p>
            <a:fld id="{22E77DEE-32E4-4009-988B-F2758F7B8AC2}" type="slidenum">
              <a:rPr lang="zh-CN" altLang="en-US" smtClean="0"/>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a:extLst>
              <a:ext uri="{FF2B5EF4-FFF2-40B4-BE49-F238E27FC236}">
                <a16:creationId xmlns:a16="http://schemas.microsoft.com/office/drawing/2014/main" id="{601E029F-46C8-4099-92D7-9B1937DA041A}"/>
              </a:ext>
            </a:extLst>
          </p:cNvPr>
          <p:cNvSpPr>
            <a:spLocks noGrp="1" noChangeArrowheads="1"/>
          </p:cNvSpPr>
          <p:nvPr>
            <p:ph type="title"/>
          </p:nvPr>
        </p:nvSpPr>
        <p:spPr>
          <a:xfrm>
            <a:off x="462758" y="545671"/>
            <a:ext cx="5091112" cy="504825"/>
          </a:xfrm>
        </p:spPr>
        <p:txBody>
          <a:bodyPr vert="horz" lIns="91440" tIns="45720" rIns="91440" bIns="45720" rtlCol="0" anchor="b">
            <a:normAutofit/>
          </a:bodyPr>
          <a:lstStyle/>
          <a:p>
            <a:r>
              <a:rPr lang="zh-CN" altLang="en-US" sz="2800" dirty="0">
                <a:latin typeface="Times New Roman" panose="02020603050405020304" pitchFamily="18" charset="0"/>
                <a:cs typeface="Times New Roman" panose="02020603050405020304" pitchFamily="18" charset="0"/>
              </a:rPr>
              <a:t>例如</a:t>
            </a:r>
            <a:r>
              <a:rPr lang="en-US" altLang="zh-CN" sz="2800" dirty="0">
                <a:latin typeface="Times New Roman" panose="02020603050405020304" pitchFamily="18" charset="0"/>
                <a:cs typeface="Times New Roman" panose="02020603050405020304" pitchFamily="18" charset="0"/>
              </a:rPr>
              <a:t>, </a:t>
            </a:r>
            <a:r>
              <a:rPr lang="zh-CN" altLang="en-US" sz="2800" dirty="0">
                <a:latin typeface="Times New Roman" panose="02020603050405020304" pitchFamily="18" charset="0"/>
                <a:cs typeface="Times New Roman" panose="02020603050405020304" pitchFamily="18" charset="0"/>
              </a:rPr>
              <a:t>计算</a:t>
            </a:r>
            <a:r>
              <a:rPr lang="en-US" altLang="zh-CN" sz="2800" dirty="0">
                <a:latin typeface="Times New Roman" panose="02020603050405020304" pitchFamily="18" charset="0"/>
                <a:cs typeface="Times New Roman" panose="02020603050405020304" pitchFamily="18" charset="0"/>
              </a:rPr>
              <a:t>7+10=?, </a:t>
            </a:r>
            <a:r>
              <a:rPr lang="zh-CN" altLang="en-US" sz="2800" dirty="0">
                <a:latin typeface="Times New Roman" panose="02020603050405020304" pitchFamily="18" charset="0"/>
                <a:cs typeface="Times New Roman" panose="02020603050405020304" pitchFamily="18" charset="0"/>
              </a:rPr>
              <a:t>结果在</a:t>
            </a:r>
            <a:r>
              <a:rPr lang="en-US" altLang="zh-CN" sz="2800" dirty="0">
                <a:latin typeface="Times New Roman" panose="02020603050405020304" pitchFamily="18" charset="0"/>
                <a:cs typeface="Times New Roman" panose="02020603050405020304" pitchFamily="18" charset="0"/>
              </a:rPr>
              <a:t>A</a:t>
            </a:r>
            <a:r>
              <a:rPr lang="zh-CN" altLang="en-US" sz="2800" dirty="0">
                <a:latin typeface="Times New Roman" panose="02020603050405020304" pitchFamily="18" charset="0"/>
                <a:cs typeface="Times New Roman" panose="02020603050405020304" pitchFamily="18" charset="0"/>
              </a:rPr>
              <a:t>中。</a:t>
            </a:r>
          </a:p>
        </p:txBody>
      </p:sp>
      <p:sp>
        <p:nvSpPr>
          <p:cNvPr id="440323" name="Rectangle 3">
            <a:extLst>
              <a:ext uri="{FF2B5EF4-FFF2-40B4-BE49-F238E27FC236}">
                <a16:creationId xmlns:a16="http://schemas.microsoft.com/office/drawing/2014/main" id="{51FC66D2-CE79-45CA-9B57-AD38B0B03623}"/>
              </a:ext>
            </a:extLst>
          </p:cNvPr>
          <p:cNvSpPr>
            <a:spLocks noGrp="1" noChangeArrowheads="1"/>
          </p:cNvSpPr>
          <p:nvPr>
            <p:ph idx="1"/>
          </p:nvPr>
        </p:nvSpPr>
        <p:spPr>
          <a:xfrm>
            <a:off x="304007" y="1234723"/>
            <a:ext cx="5268912" cy="798195"/>
          </a:xfrm>
        </p:spPr>
        <p:txBody>
          <a:bodyPr/>
          <a:lstStyle/>
          <a:p>
            <a:pPr marL="0" indent="0" eaLnBrk="1" hangingPunct="1">
              <a:spcBef>
                <a:spcPct val="0"/>
              </a:spcBef>
              <a:buFontTx/>
              <a:buNone/>
            </a:pPr>
            <a:r>
              <a:rPr lang="zh-CN" altLang="en-US" dirty="0"/>
              <a:t>假设程序在存储器中的</a:t>
            </a:r>
            <a:r>
              <a:rPr lang="zh-CN" altLang="en-US" dirty="0">
                <a:solidFill>
                  <a:srgbClr val="C00000"/>
                </a:solidFill>
              </a:rPr>
              <a:t>存储格式</a:t>
            </a:r>
            <a:r>
              <a:rPr lang="en-US" altLang="zh-CN" dirty="0"/>
              <a:t>(</a:t>
            </a:r>
            <a:r>
              <a:rPr lang="zh-CN" altLang="en-US" dirty="0"/>
              <a:t>设程序从</a:t>
            </a:r>
            <a:r>
              <a:rPr lang="en-US" altLang="zh-CN" dirty="0">
                <a:solidFill>
                  <a:srgbClr val="0000CC"/>
                </a:solidFill>
              </a:rPr>
              <a:t>00H</a:t>
            </a:r>
            <a:r>
              <a:rPr lang="zh-CN" altLang="en-US" dirty="0"/>
              <a:t>开始存放</a:t>
            </a:r>
            <a:r>
              <a:rPr lang="en-US" altLang="zh-CN" dirty="0"/>
              <a:t>)</a:t>
            </a:r>
            <a:r>
              <a:rPr lang="zh-CN" altLang="en-US" dirty="0"/>
              <a:t>如图示。</a:t>
            </a:r>
          </a:p>
        </p:txBody>
      </p:sp>
      <p:graphicFrame>
        <p:nvGraphicFramePr>
          <p:cNvPr id="440392" name="Group 72">
            <a:extLst>
              <a:ext uri="{FF2B5EF4-FFF2-40B4-BE49-F238E27FC236}">
                <a16:creationId xmlns:a16="http://schemas.microsoft.com/office/drawing/2014/main" id="{A49BD232-82D6-4923-8832-2A99D6C212C6}"/>
              </a:ext>
            </a:extLst>
          </p:cNvPr>
          <p:cNvGraphicFramePr>
            <a:graphicFrameLocks noGrp="1"/>
          </p:cNvGraphicFramePr>
          <p:nvPr>
            <p:extLst>
              <p:ext uri="{D42A27DB-BD31-4B8C-83A1-F6EECF244321}">
                <p14:modId xmlns:p14="http://schemas.microsoft.com/office/powerpoint/2010/main" val="2300111578"/>
              </p:ext>
            </p:extLst>
          </p:nvPr>
        </p:nvGraphicFramePr>
        <p:xfrm>
          <a:off x="5572919" y="465389"/>
          <a:ext cx="1725612" cy="2055810"/>
        </p:xfrm>
        <a:graphic>
          <a:graphicData uri="http://schemas.openxmlformats.org/drawingml/2006/table">
            <a:tbl>
              <a:tblPr/>
              <a:tblGrid>
                <a:gridCol w="710832">
                  <a:extLst>
                    <a:ext uri="{9D8B030D-6E8A-4147-A177-3AD203B41FA5}">
                      <a16:colId xmlns:a16="http://schemas.microsoft.com/office/drawing/2014/main" val="20000"/>
                    </a:ext>
                  </a:extLst>
                </a:gridCol>
                <a:gridCol w="1014780">
                  <a:extLst>
                    <a:ext uri="{9D8B030D-6E8A-4147-A177-3AD203B41FA5}">
                      <a16:colId xmlns:a16="http://schemas.microsoft.com/office/drawing/2014/main" val="20001"/>
                    </a:ext>
                  </a:extLst>
                </a:gridCol>
              </a:tblGrid>
              <a:tr h="342635">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地址</a:t>
                      </a:r>
                    </a:p>
                  </a:txBody>
                  <a:tcPr marL="0" marR="0" marT="0" marB="0"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zh-CN" altLang="en-US" sz="1800" b="1" i="0" u="none" strike="noStrike" cap="none" normalizeH="0" baseline="0" dirty="0">
                          <a:ln>
                            <a:noFill/>
                          </a:ln>
                          <a:solidFill>
                            <a:srgbClr val="9900CC"/>
                          </a:solidFill>
                          <a:effectLst/>
                          <a:latin typeface="Times New Roman" pitchFamily="18" charset="0"/>
                          <a:ea typeface="宋体" charset="-122"/>
                          <a:cs typeface="Times New Roman" pitchFamily="18" charset="0"/>
                        </a:rPr>
                        <a:t>存储内容</a:t>
                      </a:r>
                    </a:p>
                  </a:txBody>
                  <a:tcPr marL="0" marR="0" marT="0" marB="0" anchor="ctr" horzOverflow="overflow">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42635">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a:ln>
                            <a:noFill/>
                          </a:ln>
                          <a:solidFill>
                            <a:srgbClr val="0000CC"/>
                          </a:solidFill>
                          <a:effectLst/>
                          <a:latin typeface="Times New Roman" pitchFamily="18" charset="0"/>
                          <a:ea typeface="宋体" charset="-122"/>
                          <a:cs typeface="Times New Roman" pitchFamily="18" charset="0"/>
                        </a:rPr>
                        <a:t>00H</a:t>
                      </a:r>
                    </a:p>
                  </a:txBody>
                  <a:tcPr marL="0" marR="0"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dirty="0">
                          <a:ln>
                            <a:noFill/>
                          </a:ln>
                          <a:solidFill>
                            <a:srgbClr val="9900CC"/>
                          </a:solidFill>
                          <a:effectLst/>
                          <a:latin typeface="Times New Roman" pitchFamily="18" charset="0"/>
                          <a:ea typeface="宋体" charset="-122"/>
                          <a:cs typeface="Times New Roman" pitchFamily="18" charset="0"/>
                        </a:rPr>
                        <a:t>B0H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42635">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a:ln>
                            <a:noFill/>
                          </a:ln>
                          <a:solidFill>
                            <a:srgbClr val="0000CC"/>
                          </a:solidFill>
                          <a:effectLst/>
                          <a:latin typeface="Times New Roman" pitchFamily="18" charset="0"/>
                          <a:ea typeface="宋体" charset="-122"/>
                          <a:cs typeface="Times New Roman" pitchFamily="18" charset="0"/>
                        </a:rPr>
                        <a:t>01H</a:t>
                      </a:r>
                    </a:p>
                  </a:txBody>
                  <a:tcPr marL="0" marR="0"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a:ln>
                            <a:noFill/>
                          </a:ln>
                          <a:solidFill>
                            <a:srgbClr val="9900CC"/>
                          </a:solidFill>
                          <a:effectLst/>
                          <a:latin typeface="Times New Roman" pitchFamily="18" charset="0"/>
                          <a:ea typeface="宋体" charset="-122"/>
                          <a:cs typeface="Times New Roman" pitchFamily="18" charset="0"/>
                        </a:rPr>
                        <a:t>07H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42635">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a:ln>
                            <a:noFill/>
                          </a:ln>
                          <a:solidFill>
                            <a:srgbClr val="0000CC"/>
                          </a:solidFill>
                          <a:effectLst/>
                          <a:latin typeface="Times New Roman" pitchFamily="18" charset="0"/>
                          <a:ea typeface="宋体" charset="-122"/>
                          <a:cs typeface="Times New Roman" pitchFamily="18" charset="0"/>
                        </a:rPr>
                        <a:t>02H</a:t>
                      </a:r>
                    </a:p>
                  </a:txBody>
                  <a:tcPr marL="0" marR="0"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dirty="0">
                          <a:ln>
                            <a:noFill/>
                          </a:ln>
                          <a:solidFill>
                            <a:srgbClr val="9900CC"/>
                          </a:solidFill>
                          <a:effectLst/>
                          <a:latin typeface="Times New Roman" pitchFamily="18" charset="0"/>
                          <a:ea typeface="宋体" charset="-122"/>
                          <a:cs typeface="Times New Roman" pitchFamily="18" charset="0"/>
                        </a:rPr>
                        <a:t>04H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42635">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a:ln>
                            <a:noFill/>
                          </a:ln>
                          <a:solidFill>
                            <a:srgbClr val="0000CC"/>
                          </a:solidFill>
                          <a:effectLst/>
                          <a:latin typeface="Times New Roman" pitchFamily="18" charset="0"/>
                          <a:ea typeface="宋体" charset="-122"/>
                          <a:cs typeface="Times New Roman" pitchFamily="18" charset="0"/>
                        </a:rPr>
                        <a:t>03H</a:t>
                      </a:r>
                    </a:p>
                  </a:txBody>
                  <a:tcPr marL="0" marR="0"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a:ln>
                            <a:noFill/>
                          </a:ln>
                          <a:solidFill>
                            <a:srgbClr val="9900CC"/>
                          </a:solidFill>
                          <a:effectLst/>
                          <a:latin typeface="Times New Roman" pitchFamily="18" charset="0"/>
                          <a:ea typeface="宋体" charset="-122"/>
                          <a:cs typeface="Times New Roman" pitchFamily="18" charset="0"/>
                        </a:rPr>
                        <a:t>0AH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42635">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dirty="0">
                          <a:ln>
                            <a:noFill/>
                          </a:ln>
                          <a:solidFill>
                            <a:srgbClr val="0000CC"/>
                          </a:solidFill>
                          <a:effectLst/>
                          <a:latin typeface="Times New Roman" pitchFamily="18" charset="0"/>
                          <a:ea typeface="宋体" charset="-122"/>
                          <a:cs typeface="Times New Roman" pitchFamily="18" charset="0"/>
                        </a:rPr>
                        <a:t>04H</a:t>
                      </a:r>
                    </a:p>
                  </a:txBody>
                  <a:tcPr marL="0" marR="0"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dirty="0">
                          <a:ln>
                            <a:noFill/>
                          </a:ln>
                          <a:solidFill>
                            <a:srgbClr val="9900CC"/>
                          </a:solidFill>
                          <a:effectLst/>
                          <a:latin typeface="Times New Roman" pitchFamily="18" charset="0"/>
                          <a:ea typeface="宋体" charset="-122"/>
                          <a:cs typeface="Times New Roman" pitchFamily="18" charset="0"/>
                        </a:rPr>
                        <a:t>F4H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7" name="表格 6">
            <a:extLst>
              <a:ext uri="{FF2B5EF4-FFF2-40B4-BE49-F238E27FC236}">
                <a16:creationId xmlns:a16="http://schemas.microsoft.com/office/drawing/2014/main" id="{641909E3-191A-4E0F-81EE-88B5B9EB2E7C}"/>
              </a:ext>
            </a:extLst>
          </p:cNvPr>
          <p:cNvGraphicFramePr>
            <a:graphicFrameLocks noGrp="1"/>
          </p:cNvGraphicFramePr>
          <p:nvPr>
            <p:extLst>
              <p:ext uri="{D42A27DB-BD31-4B8C-83A1-F6EECF244321}">
                <p14:modId xmlns:p14="http://schemas.microsoft.com/office/powerpoint/2010/main" val="1206584228"/>
              </p:ext>
            </p:extLst>
          </p:nvPr>
        </p:nvGraphicFramePr>
        <p:xfrm>
          <a:off x="7317580" y="432038"/>
          <a:ext cx="1522413" cy="1596900"/>
        </p:xfrm>
        <a:graphic>
          <a:graphicData uri="http://schemas.openxmlformats.org/drawingml/2006/table">
            <a:tbl>
              <a:tblPr/>
              <a:tblGrid>
                <a:gridCol w="1522413">
                  <a:extLst>
                    <a:ext uri="{9D8B030D-6E8A-4147-A177-3AD203B41FA5}">
                      <a16:colId xmlns:a16="http://schemas.microsoft.com/office/drawing/2014/main" val="20000"/>
                    </a:ext>
                  </a:extLst>
                </a:gridCol>
              </a:tblGrid>
              <a:tr h="40022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b="1" i="0" u="none" strike="noStrike" cap="none" normalizeH="0" baseline="0" dirty="0">
                          <a:ln>
                            <a:noFill/>
                          </a:ln>
                          <a:solidFill>
                            <a:srgbClr val="9900CC"/>
                          </a:solidFill>
                          <a:effectLst/>
                          <a:latin typeface="Times New Roman" pitchFamily="18" charset="0"/>
                          <a:ea typeface="宋体" charset="-122"/>
                          <a:cs typeface="Times New Roman" pitchFamily="18" charset="0"/>
                        </a:rPr>
                        <a:t>机器码</a:t>
                      </a:r>
                    </a:p>
                  </a:txBody>
                  <a:tcPr marL="91379" marR="913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022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000" b="1" i="0" u="none" strike="noStrike" cap="none" normalizeH="0" baseline="0" dirty="0">
                          <a:ln>
                            <a:noFill/>
                          </a:ln>
                          <a:solidFill>
                            <a:srgbClr val="9900CC"/>
                          </a:solidFill>
                          <a:effectLst/>
                          <a:latin typeface="Times New Roman" pitchFamily="18" charset="0"/>
                          <a:ea typeface="宋体" charset="-122"/>
                          <a:cs typeface="Times New Roman" pitchFamily="18" charset="0"/>
                        </a:rPr>
                        <a:t>B0H  07H</a:t>
                      </a:r>
                    </a:p>
                  </a:txBody>
                  <a:tcPr marL="91379" marR="913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0022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9900CC"/>
                          </a:solidFill>
                          <a:effectLst/>
                          <a:latin typeface="Times New Roman" pitchFamily="18" charset="0"/>
                          <a:ea typeface="宋体" charset="-122"/>
                          <a:cs typeface="Times New Roman" pitchFamily="18" charset="0"/>
                        </a:rPr>
                        <a:t>04H  0AH</a:t>
                      </a:r>
                    </a:p>
                  </a:txBody>
                  <a:tcPr marL="91379" marR="913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02452">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0" u="none" strike="noStrike" cap="none" normalizeH="0" baseline="0" dirty="0">
                          <a:ln>
                            <a:noFill/>
                          </a:ln>
                          <a:solidFill>
                            <a:srgbClr val="9900CC"/>
                          </a:solidFill>
                          <a:effectLst/>
                          <a:latin typeface="Times New Roman" pitchFamily="18" charset="0"/>
                          <a:ea typeface="宋体" charset="-122"/>
                          <a:cs typeface="Times New Roman" pitchFamily="18" charset="0"/>
                        </a:rPr>
                        <a:t>F4H</a:t>
                      </a:r>
                    </a:p>
                  </a:txBody>
                  <a:tcPr marL="91379" marR="9137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9" name="Rectangle 3">
            <a:extLst>
              <a:ext uri="{FF2B5EF4-FFF2-40B4-BE49-F238E27FC236}">
                <a16:creationId xmlns:a16="http://schemas.microsoft.com/office/drawing/2014/main" id="{A3BC9297-1BDA-4723-AF37-39B22CA57419}"/>
              </a:ext>
            </a:extLst>
          </p:cNvPr>
          <p:cNvSpPr txBox="1">
            <a:spLocks noChangeArrowheads="1"/>
          </p:cNvSpPr>
          <p:nvPr/>
        </p:nvSpPr>
        <p:spPr bwMode="auto">
          <a:xfrm>
            <a:off x="58342" y="1899744"/>
            <a:ext cx="5760243" cy="330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Blip>
                <a:blip r:embed="rId2"/>
              </a:buBlip>
              <a:defRPr sz="32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defRPr>
            </a:lvl1pPr>
            <a:lvl2pPr marL="363538" indent="-276225" algn="just">
              <a:spcBef>
                <a:spcPct val="20000"/>
              </a:spcBef>
              <a:buBlip>
                <a:blip r:embed="rId3"/>
              </a:buBlip>
              <a:defRPr sz="2800" b="1">
                <a:solidFill>
                  <a:schemeClr val="tx1"/>
                </a:solidFill>
                <a:latin typeface="Arial" panose="020B0604020202020204" pitchFamily="34" charset="0"/>
                <a:ea typeface="宋体" panose="02010600030101010101" pitchFamily="2" charset="-122"/>
              </a:defRPr>
            </a:lvl2pPr>
            <a:lvl3pPr marL="1143000" indent="-228600" algn="just">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gn="just">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just">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spcAft>
                <a:spcPts val="1800"/>
              </a:spcAft>
              <a:buFontTx/>
              <a:buNone/>
            </a:pPr>
            <a:r>
              <a:rPr lang="zh-CN" altLang="en-US" sz="2000" dirty="0">
                <a:solidFill>
                  <a:srgbClr val="FF0000"/>
                </a:solidFill>
                <a:latin typeface="宋体" panose="02010600030101010101" pitchFamily="2" charset="-122"/>
              </a:rPr>
              <a:t>读取指令阶段</a:t>
            </a:r>
            <a:r>
              <a:rPr lang="zh-CN" altLang="en-US" sz="2000" dirty="0">
                <a:latin typeface="宋体" panose="02010600030101010101" pitchFamily="2" charset="-122"/>
              </a:rPr>
              <a:t>的执行过程如下：</a:t>
            </a:r>
          </a:p>
          <a:p>
            <a:pPr lvl="1" algn="l" eaLnBrk="1" hangingPunct="1">
              <a:spcBef>
                <a:spcPct val="0"/>
              </a:spcBef>
              <a:spcAft>
                <a:spcPts val="600"/>
              </a:spcAft>
            </a:pPr>
            <a:r>
              <a:rPr lang="en-US" altLang="zh-CN" sz="2000" dirty="0">
                <a:latin typeface="宋体" panose="02010600030101010101" pitchFamily="2" charset="-122"/>
              </a:rPr>
              <a:t>①CPU</a:t>
            </a:r>
            <a:r>
              <a:rPr lang="zh-CN" altLang="en-US" sz="2000" dirty="0">
                <a:latin typeface="宋体" panose="02010600030101010101" pitchFamily="2" charset="-122"/>
              </a:rPr>
              <a:t>将</a:t>
            </a:r>
            <a:r>
              <a:rPr lang="zh-CN" altLang="en-US" sz="2000" dirty="0">
                <a:latin typeface="宋体" panose="02010600030101010101" pitchFamily="2" charset="-122"/>
                <a:hlinkClick r:id="rId4" action="ppaction://hlinksldjump"/>
              </a:rPr>
              <a:t>程序计数器</a:t>
            </a:r>
            <a:r>
              <a:rPr lang="en-US" altLang="zh-CN" sz="2000" dirty="0">
                <a:solidFill>
                  <a:srgbClr val="3366FF"/>
                </a:solidFill>
                <a:latin typeface="宋体" panose="02010600030101010101" pitchFamily="2" charset="-122"/>
              </a:rPr>
              <a:t>PC</a:t>
            </a:r>
            <a:r>
              <a:rPr lang="zh-CN" altLang="en-US" sz="2000" dirty="0">
                <a:solidFill>
                  <a:srgbClr val="3366FF"/>
                </a:solidFill>
                <a:latin typeface="宋体" panose="02010600030101010101" pitchFamily="2" charset="-122"/>
              </a:rPr>
              <a:t>的内容</a:t>
            </a:r>
            <a:r>
              <a:rPr lang="en-US" altLang="zh-CN" sz="2000" dirty="0">
                <a:solidFill>
                  <a:srgbClr val="00B050"/>
                </a:solidFill>
                <a:latin typeface="宋体" panose="02010600030101010101" pitchFamily="2" charset="-122"/>
              </a:rPr>
              <a:t>00H</a:t>
            </a:r>
            <a:r>
              <a:rPr lang="zh-CN" altLang="en-US" sz="2000" dirty="0">
                <a:solidFill>
                  <a:srgbClr val="3366FF"/>
                </a:solidFill>
                <a:latin typeface="宋体" panose="02010600030101010101" pitchFamily="2" charset="-122"/>
              </a:rPr>
              <a:t>送</a:t>
            </a:r>
            <a:r>
              <a:rPr lang="zh-CN" altLang="en-US" sz="2000" dirty="0">
                <a:latin typeface="宋体" panose="02010600030101010101" pitchFamily="2" charset="-122"/>
              </a:rPr>
              <a:t>地址寄存器</a:t>
            </a:r>
            <a:r>
              <a:rPr lang="en-US" altLang="zh-CN" sz="2000" dirty="0">
                <a:solidFill>
                  <a:srgbClr val="FF0000"/>
                </a:solidFill>
                <a:latin typeface="宋体" panose="02010600030101010101" pitchFamily="2" charset="-122"/>
              </a:rPr>
              <a:t>AR</a:t>
            </a:r>
            <a:r>
              <a:rPr lang="zh-CN" altLang="en-US" sz="2000" dirty="0">
                <a:latin typeface="宋体" panose="02010600030101010101" pitchFamily="2" charset="-122"/>
              </a:rPr>
              <a:t>。</a:t>
            </a:r>
          </a:p>
          <a:p>
            <a:pPr lvl="1" algn="l" eaLnBrk="1" hangingPunct="1">
              <a:spcBef>
                <a:spcPct val="0"/>
              </a:spcBef>
              <a:spcAft>
                <a:spcPts val="600"/>
              </a:spcAft>
            </a:pPr>
            <a:r>
              <a:rPr lang="en-US" altLang="zh-CN" sz="2000" dirty="0">
                <a:latin typeface="宋体" panose="02010600030101010101" pitchFamily="2" charset="-122"/>
              </a:rPr>
              <a:t>②</a:t>
            </a:r>
            <a:r>
              <a:rPr lang="zh-CN" altLang="en-US" sz="2000" dirty="0">
                <a:latin typeface="宋体" panose="02010600030101010101" pitchFamily="2" charset="-122"/>
              </a:rPr>
              <a:t>程序计数器</a:t>
            </a:r>
            <a:r>
              <a:rPr lang="en-US" altLang="zh-CN" sz="2000" dirty="0">
                <a:solidFill>
                  <a:srgbClr val="3366FF"/>
                </a:solidFill>
                <a:latin typeface="宋体" panose="02010600030101010101" pitchFamily="2" charset="-122"/>
              </a:rPr>
              <a:t>PC</a:t>
            </a:r>
            <a:r>
              <a:rPr lang="zh-CN" altLang="en-US" sz="2000" dirty="0">
                <a:solidFill>
                  <a:srgbClr val="3366FF"/>
                </a:solidFill>
                <a:latin typeface="宋体" panose="02010600030101010101" pitchFamily="2" charset="-122"/>
              </a:rPr>
              <a:t>的内容自动加</a:t>
            </a:r>
            <a:r>
              <a:rPr lang="en-US" altLang="zh-CN" sz="2000" dirty="0">
                <a:solidFill>
                  <a:srgbClr val="3366FF"/>
                </a:solidFill>
                <a:latin typeface="宋体" panose="02010600030101010101" pitchFamily="2" charset="-122"/>
              </a:rPr>
              <a:t>1</a:t>
            </a:r>
            <a:r>
              <a:rPr lang="zh-CN" altLang="en-US" sz="2000" dirty="0">
                <a:latin typeface="宋体" panose="02010600030101010101" pitchFamily="2" charset="-122"/>
              </a:rPr>
              <a:t>变为</a:t>
            </a:r>
            <a:r>
              <a:rPr lang="en-US" altLang="zh-CN" sz="2000" dirty="0">
                <a:solidFill>
                  <a:srgbClr val="00B050"/>
                </a:solidFill>
                <a:latin typeface="宋体" panose="02010600030101010101" pitchFamily="2" charset="-122"/>
              </a:rPr>
              <a:t>01H</a:t>
            </a:r>
            <a:r>
              <a:rPr lang="zh-CN" altLang="en-US" sz="2000" dirty="0">
                <a:latin typeface="宋体" panose="02010600030101010101" pitchFamily="2" charset="-122"/>
              </a:rPr>
              <a:t>，为取下一条指令作好准备。</a:t>
            </a:r>
          </a:p>
          <a:p>
            <a:pPr lvl="1" algn="l" eaLnBrk="1" hangingPunct="1">
              <a:spcBef>
                <a:spcPct val="0"/>
              </a:spcBef>
              <a:spcAft>
                <a:spcPts val="600"/>
              </a:spcAft>
            </a:pPr>
            <a:r>
              <a:rPr lang="en-US" altLang="zh-CN" sz="2000" dirty="0">
                <a:latin typeface="宋体" panose="02010600030101010101" pitchFamily="2" charset="-122"/>
              </a:rPr>
              <a:t>③</a:t>
            </a:r>
            <a:r>
              <a:rPr lang="zh-CN" altLang="en-US" sz="2000" dirty="0">
                <a:latin typeface="宋体" panose="02010600030101010101" pitchFamily="2" charset="-122"/>
              </a:rPr>
              <a:t>地址寄存器</a:t>
            </a:r>
            <a:r>
              <a:rPr lang="en-US" altLang="zh-CN" sz="2000" dirty="0">
                <a:solidFill>
                  <a:srgbClr val="FF0000"/>
                </a:solidFill>
                <a:latin typeface="宋体" panose="02010600030101010101" pitchFamily="2" charset="-122"/>
              </a:rPr>
              <a:t>AR</a:t>
            </a:r>
            <a:r>
              <a:rPr lang="zh-CN" altLang="en-US" sz="2000" dirty="0">
                <a:solidFill>
                  <a:srgbClr val="3366FF"/>
                </a:solidFill>
                <a:latin typeface="宋体" panose="02010600030101010101" pitchFamily="2" charset="-122"/>
              </a:rPr>
              <a:t>将</a:t>
            </a:r>
            <a:r>
              <a:rPr lang="en-US" altLang="zh-CN" sz="2000" dirty="0">
                <a:solidFill>
                  <a:srgbClr val="00B050"/>
                </a:solidFill>
                <a:latin typeface="宋体" panose="02010600030101010101" pitchFamily="2" charset="-122"/>
              </a:rPr>
              <a:t>00H</a:t>
            </a:r>
            <a:r>
              <a:rPr lang="zh-CN" altLang="en-US" sz="2000" dirty="0">
                <a:latin typeface="宋体" panose="02010600030101010101" pitchFamily="2" charset="-122"/>
              </a:rPr>
              <a:t>通过地址总线</a:t>
            </a:r>
            <a:r>
              <a:rPr lang="en-US" altLang="zh-CN" sz="2000" dirty="0">
                <a:solidFill>
                  <a:srgbClr val="FF0000"/>
                </a:solidFill>
                <a:latin typeface="宋体" panose="02010600030101010101" pitchFamily="2" charset="-122"/>
              </a:rPr>
              <a:t>AB</a:t>
            </a:r>
            <a:r>
              <a:rPr lang="zh-CN" altLang="en-US" sz="2000" dirty="0">
                <a:latin typeface="宋体" panose="02010600030101010101" pitchFamily="2" charset="-122"/>
              </a:rPr>
              <a:t>送至存储器</a:t>
            </a:r>
            <a:r>
              <a:rPr lang="zh-CN" altLang="en-US" sz="2000" dirty="0">
                <a:solidFill>
                  <a:srgbClr val="FF0000"/>
                </a:solidFill>
                <a:latin typeface="宋体" panose="02010600030101010101" pitchFamily="2" charset="-122"/>
                <a:hlinkClick r:id="rId4" action="ppaction://hlinksldjump"/>
              </a:rPr>
              <a:t>地址译码器</a:t>
            </a:r>
            <a:r>
              <a:rPr lang="zh-CN" altLang="en-US" sz="2000" dirty="0">
                <a:solidFill>
                  <a:srgbClr val="FF0000"/>
                </a:solidFill>
                <a:latin typeface="宋体" panose="02010600030101010101" pitchFamily="2" charset="-122"/>
              </a:rPr>
              <a:t>译码</a:t>
            </a:r>
            <a:r>
              <a:rPr lang="zh-CN" altLang="en-US" sz="2000" dirty="0">
                <a:latin typeface="宋体" panose="02010600030101010101" pitchFamily="2" charset="-122"/>
              </a:rPr>
              <a:t>，</a:t>
            </a:r>
            <a:r>
              <a:rPr lang="zh-CN" altLang="en-US" sz="2000" dirty="0">
                <a:solidFill>
                  <a:srgbClr val="FF0000"/>
                </a:solidFill>
                <a:latin typeface="宋体" panose="02010600030101010101" pitchFamily="2" charset="-122"/>
              </a:rPr>
              <a:t>选中</a:t>
            </a:r>
            <a:r>
              <a:rPr lang="en-US" altLang="zh-CN" sz="2000" dirty="0">
                <a:solidFill>
                  <a:srgbClr val="FF0000"/>
                </a:solidFill>
                <a:latin typeface="宋体" panose="02010600030101010101" pitchFamily="2" charset="-122"/>
              </a:rPr>
              <a:t>00H</a:t>
            </a:r>
            <a:r>
              <a:rPr lang="zh-CN" altLang="en-US" sz="2000" dirty="0">
                <a:solidFill>
                  <a:srgbClr val="FF0000"/>
                </a:solidFill>
                <a:latin typeface="宋体" panose="02010600030101010101" pitchFamily="2" charset="-122"/>
              </a:rPr>
              <a:t>单元</a:t>
            </a:r>
            <a:r>
              <a:rPr lang="zh-CN" altLang="en-US" sz="2000" dirty="0">
                <a:latin typeface="宋体" panose="02010600030101010101" pitchFamily="2" charset="-122"/>
              </a:rPr>
              <a:t>。</a:t>
            </a:r>
          </a:p>
          <a:p>
            <a:pPr lvl="1" algn="l" eaLnBrk="1" hangingPunct="1">
              <a:spcBef>
                <a:spcPct val="0"/>
              </a:spcBef>
              <a:spcAft>
                <a:spcPts val="600"/>
              </a:spcAft>
            </a:pPr>
            <a:r>
              <a:rPr lang="en-US" altLang="zh-CN" sz="2000" dirty="0">
                <a:latin typeface="宋体" panose="02010600030101010101" pitchFamily="2" charset="-122"/>
              </a:rPr>
              <a:t>④CPU</a:t>
            </a:r>
            <a:r>
              <a:rPr lang="zh-CN" altLang="en-US" sz="2000" dirty="0">
                <a:latin typeface="宋体" panose="02010600030101010101" pitchFamily="2" charset="-122"/>
              </a:rPr>
              <a:t>发出</a:t>
            </a:r>
            <a:r>
              <a:rPr lang="zh-CN" altLang="en-US" sz="2000" dirty="0">
                <a:solidFill>
                  <a:srgbClr val="3366FF"/>
                </a:solidFill>
                <a:latin typeface="宋体" panose="02010600030101010101" pitchFamily="2" charset="-122"/>
              </a:rPr>
              <a:t>“读”命令</a:t>
            </a:r>
            <a:r>
              <a:rPr lang="zh-CN" altLang="en-US" sz="2000" dirty="0">
                <a:latin typeface="宋体" panose="02010600030101010101" pitchFamily="2" charset="-122"/>
              </a:rPr>
              <a:t>。</a:t>
            </a:r>
          </a:p>
          <a:p>
            <a:pPr lvl="1" algn="l" eaLnBrk="1" hangingPunct="1">
              <a:spcBef>
                <a:spcPct val="0"/>
              </a:spcBef>
              <a:spcAft>
                <a:spcPts val="600"/>
              </a:spcAft>
            </a:pPr>
            <a:r>
              <a:rPr lang="en-US" altLang="zh-CN" sz="2000" dirty="0">
                <a:latin typeface="宋体" panose="02010600030101010101" pitchFamily="2" charset="-122"/>
              </a:rPr>
              <a:t>⑤</a:t>
            </a:r>
            <a:r>
              <a:rPr lang="zh-CN" altLang="en-US" sz="2000" dirty="0">
                <a:latin typeface="宋体" panose="02010600030101010101" pitchFamily="2" charset="-122"/>
              </a:rPr>
              <a:t>所选中</a:t>
            </a:r>
            <a:r>
              <a:rPr lang="en-US" altLang="zh-CN" sz="2000" dirty="0">
                <a:solidFill>
                  <a:srgbClr val="0000CC"/>
                </a:solidFill>
                <a:latin typeface="宋体" panose="02010600030101010101" pitchFamily="2" charset="-122"/>
              </a:rPr>
              <a:t>00</a:t>
            </a:r>
            <a:r>
              <a:rPr lang="zh-CN" altLang="en-US" sz="2000" dirty="0">
                <a:latin typeface="宋体" panose="02010600030101010101" pitchFamily="2" charset="-122"/>
              </a:rPr>
              <a:t>单元的</a:t>
            </a:r>
            <a:r>
              <a:rPr lang="zh-CN" altLang="en-US" sz="2000" dirty="0">
                <a:solidFill>
                  <a:srgbClr val="FF0000"/>
                </a:solidFill>
                <a:latin typeface="宋体" panose="02010600030101010101" pitchFamily="2" charset="-122"/>
              </a:rPr>
              <a:t>内容</a:t>
            </a:r>
            <a:r>
              <a:rPr lang="en-US" altLang="zh-CN" sz="2000" dirty="0">
                <a:solidFill>
                  <a:srgbClr val="FF0000"/>
                </a:solidFill>
                <a:latin typeface="宋体" panose="02010600030101010101" pitchFamily="2" charset="-122"/>
              </a:rPr>
              <a:t>B0H</a:t>
            </a:r>
            <a:r>
              <a:rPr lang="zh-CN" altLang="en-US" sz="2000" dirty="0">
                <a:latin typeface="宋体" panose="02010600030101010101" pitchFamily="2" charset="-122"/>
              </a:rPr>
              <a:t>由存储器送至数据总线</a:t>
            </a:r>
            <a:r>
              <a:rPr lang="en-US" altLang="zh-CN" sz="2000" dirty="0">
                <a:solidFill>
                  <a:srgbClr val="FF0000"/>
                </a:solidFill>
                <a:latin typeface="宋体" panose="02010600030101010101" pitchFamily="2" charset="-122"/>
              </a:rPr>
              <a:t>DB</a:t>
            </a:r>
            <a:r>
              <a:rPr lang="zh-CN" altLang="en-US" sz="2000" dirty="0">
                <a:latin typeface="宋体" panose="02010600030101010101" pitchFamily="2" charset="-122"/>
              </a:rPr>
              <a:t>上。</a:t>
            </a:r>
            <a:endParaRPr lang="en-US" altLang="zh-CN" sz="2000" dirty="0">
              <a:latin typeface="宋体" panose="02010600030101010101" pitchFamily="2" charset="-122"/>
            </a:endParaRPr>
          </a:p>
          <a:p>
            <a:pPr lvl="1" algn="l" eaLnBrk="1" hangingPunct="1">
              <a:spcBef>
                <a:spcPct val="0"/>
              </a:spcBef>
              <a:spcAft>
                <a:spcPts val="600"/>
              </a:spcAft>
            </a:pPr>
            <a:r>
              <a:rPr lang="zh-CN" altLang="en-US" sz="2000" dirty="0">
                <a:solidFill>
                  <a:srgbClr val="3366FF"/>
                </a:solidFill>
                <a:latin typeface="Times New Roman" panose="02020603050405020304" pitchFamily="18" charset="0"/>
                <a:cs typeface="Times New Roman" panose="02020603050405020304" pitchFamily="18" charset="0"/>
              </a:rPr>
              <a:t>⑥经</a:t>
            </a:r>
            <a:r>
              <a:rPr lang="zh-CN" altLang="en-US" sz="2000" dirty="0">
                <a:latin typeface="Times New Roman" panose="02020603050405020304" pitchFamily="18" charset="0"/>
                <a:cs typeface="Times New Roman" panose="02020603050405020304" pitchFamily="18" charset="0"/>
              </a:rPr>
              <a:t>数据总线</a:t>
            </a:r>
            <a:r>
              <a:rPr lang="en-US" altLang="zh-CN" sz="2000" dirty="0">
                <a:solidFill>
                  <a:srgbClr val="3366FF"/>
                </a:solidFill>
                <a:latin typeface="Times New Roman" panose="02020603050405020304" pitchFamily="18" charset="0"/>
                <a:cs typeface="Times New Roman" panose="02020603050405020304" pitchFamily="18" charset="0"/>
              </a:rPr>
              <a:t>DB</a:t>
            </a:r>
            <a:r>
              <a:rPr lang="en-US" altLang="zh-CN" sz="2000" dirty="0">
                <a:latin typeface="Times New Roman" panose="02020603050405020304" pitchFamily="18" charset="0"/>
                <a:cs typeface="Times New Roman" panose="02020603050405020304" pitchFamily="18" charset="0"/>
              </a:rPr>
              <a:t>, CPU</a:t>
            </a:r>
            <a:r>
              <a:rPr lang="zh-CN" altLang="en-US" sz="2000" dirty="0">
                <a:latin typeface="Times New Roman" panose="02020603050405020304" pitchFamily="18" charset="0"/>
                <a:cs typeface="Times New Roman" panose="02020603050405020304" pitchFamily="18" charset="0"/>
              </a:rPr>
              <a:t>将</a:t>
            </a:r>
            <a:r>
              <a:rPr lang="zh-CN" altLang="en-US" sz="2000" dirty="0">
                <a:solidFill>
                  <a:srgbClr val="3366FF"/>
                </a:solidFill>
                <a:latin typeface="Times New Roman" panose="02020603050405020304" pitchFamily="18" charset="0"/>
                <a:cs typeface="Times New Roman" panose="02020603050405020304" pitchFamily="18" charset="0"/>
              </a:rPr>
              <a:t>读出内容</a:t>
            </a:r>
            <a:r>
              <a:rPr lang="en-US" altLang="zh-CN" sz="2000" dirty="0">
                <a:solidFill>
                  <a:srgbClr val="3366FF"/>
                </a:solidFill>
                <a:latin typeface="Times New Roman" panose="02020603050405020304" pitchFamily="18" charset="0"/>
                <a:cs typeface="Times New Roman" panose="02020603050405020304" pitchFamily="18" charset="0"/>
              </a:rPr>
              <a:t>B0H</a:t>
            </a:r>
            <a:r>
              <a:rPr lang="zh-CN" altLang="en-US" sz="2000" dirty="0">
                <a:solidFill>
                  <a:srgbClr val="3366FF"/>
                </a:solidFill>
                <a:latin typeface="Times New Roman" panose="02020603050405020304" pitchFamily="18" charset="0"/>
                <a:cs typeface="Times New Roman" panose="02020603050405020304" pitchFamily="18" charset="0"/>
              </a:rPr>
              <a:t>送</a:t>
            </a:r>
            <a:r>
              <a:rPr lang="zh-CN" altLang="en-US" sz="2000" dirty="0">
                <a:latin typeface="Times New Roman" panose="02020603050405020304" pitchFamily="18" charset="0"/>
                <a:cs typeface="Times New Roman" panose="02020603050405020304" pitchFamily="18" charset="0"/>
              </a:rPr>
              <a:t>数据寄存器</a:t>
            </a:r>
            <a:r>
              <a:rPr lang="en-US" altLang="zh-CN" sz="2000" dirty="0">
                <a:solidFill>
                  <a:srgbClr val="FF0000"/>
                </a:solidFill>
                <a:latin typeface="Times New Roman" panose="02020603050405020304" pitchFamily="18" charset="0"/>
                <a:cs typeface="Times New Roman" panose="02020603050405020304" pitchFamily="18" charset="0"/>
              </a:rPr>
              <a:t>DR</a:t>
            </a:r>
            <a:r>
              <a:rPr lang="zh-CN" altLang="en-US" sz="2000" dirty="0">
                <a:latin typeface="Times New Roman" panose="02020603050405020304" pitchFamily="18" charset="0"/>
                <a:cs typeface="Times New Roman" panose="02020603050405020304" pitchFamily="18" charset="0"/>
              </a:rPr>
              <a:t>。</a:t>
            </a:r>
          </a:p>
        </p:txBody>
      </p:sp>
      <p:graphicFrame>
        <p:nvGraphicFramePr>
          <p:cNvPr id="4" name="对象 3">
            <a:extLst>
              <a:ext uri="{FF2B5EF4-FFF2-40B4-BE49-F238E27FC236}">
                <a16:creationId xmlns:a16="http://schemas.microsoft.com/office/drawing/2014/main" id="{33A5E490-0298-443F-B2C3-F6E1ACE10F72}"/>
              </a:ext>
            </a:extLst>
          </p:cNvPr>
          <p:cNvGraphicFramePr>
            <a:graphicFrameLocks noChangeAspect="1"/>
          </p:cNvGraphicFramePr>
          <p:nvPr>
            <p:extLst>
              <p:ext uri="{D42A27DB-BD31-4B8C-83A1-F6EECF244321}">
                <p14:modId xmlns:p14="http://schemas.microsoft.com/office/powerpoint/2010/main" val="2952887072"/>
              </p:ext>
            </p:extLst>
          </p:nvPr>
        </p:nvGraphicFramePr>
        <p:xfrm>
          <a:off x="5798085" y="3062290"/>
          <a:ext cx="3345915" cy="2161736"/>
        </p:xfrm>
        <a:graphic>
          <a:graphicData uri="http://schemas.openxmlformats.org/presentationml/2006/ole">
            <mc:AlternateContent xmlns:mc="http://schemas.openxmlformats.org/markup-compatibility/2006">
              <mc:Choice xmlns:v="urn:schemas-microsoft-com:vml" Requires="v">
                <p:oleObj name="Visio" r:id="rId5" imgW="2558034" imgH="2031254" progId="Visio.Drawing.11">
                  <p:embed/>
                </p:oleObj>
              </mc:Choice>
              <mc:Fallback>
                <p:oleObj name="Visio" r:id="rId5" imgW="2558034" imgH="2031254" progId="Visio.Drawing.11">
                  <p:embed/>
                  <p:pic>
                    <p:nvPicPr>
                      <p:cNvPr id="4" name="对象 3">
                        <a:extLst>
                          <a:ext uri="{FF2B5EF4-FFF2-40B4-BE49-F238E27FC236}">
                            <a16:creationId xmlns:a16="http://schemas.microsoft.com/office/drawing/2014/main" id="{33A5E490-0298-443F-B2C3-F6E1ACE10F7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8085" y="3062290"/>
                        <a:ext cx="3345915" cy="2161736"/>
                      </a:xfrm>
                      <a:prstGeom prst="rect">
                        <a:avLst/>
                      </a:prstGeom>
                      <a:solidFill>
                        <a:schemeClr val="bg1"/>
                      </a:solidFill>
                      <a:ln w="9525">
                        <a:solidFill>
                          <a:srgbClr val="FF00FF"/>
                        </a:solidFill>
                        <a:miter lim="800000"/>
                        <a:headEnd/>
                        <a:tailEnd/>
                      </a:ln>
                    </p:spPr>
                  </p:pic>
                </p:oleObj>
              </mc:Fallback>
            </mc:AlternateContent>
          </a:graphicData>
        </a:graphic>
      </p:graphicFrame>
      <p:sp>
        <p:nvSpPr>
          <p:cNvPr id="18" name="矩形 17">
            <a:extLst>
              <a:ext uri="{FF2B5EF4-FFF2-40B4-BE49-F238E27FC236}">
                <a16:creationId xmlns:a16="http://schemas.microsoft.com/office/drawing/2014/main" id="{C29BFBB0-150F-47D1-8FD2-D0303D3344DE}"/>
              </a:ext>
            </a:extLst>
          </p:cNvPr>
          <p:cNvSpPr>
            <a:spLocks noChangeArrowheads="1"/>
          </p:cNvSpPr>
          <p:nvPr/>
        </p:nvSpPr>
        <p:spPr bwMode="auto">
          <a:xfrm>
            <a:off x="6218238" y="2594828"/>
            <a:ext cx="11779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a:t>地址译码</a:t>
            </a:r>
          </a:p>
        </p:txBody>
      </p:sp>
      <p:sp>
        <p:nvSpPr>
          <p:cNvPr id="13" name="矩形 12">
            <a:extLst>
              <a:ext uri="{FF2B5EF4-FFF2-40B4-BE49-F238E27FC236}">
                <a16:creationId xmlns:a16="http://schemas.microsoft.com/office/drawing/2014/main" id="{A4E8F513-278E-4C47-AE07-604946BEA701}"/>
              </a:ext>
            </a:extLst>
          </p:cNvPr>
          <p:cNvSpPr>
            <a:spLocks noChangeArrowheads="1"/>
          </p:cNvSpPr>
          <p:nvPr/>
        </p:nvSpPr>
        <p:spPr bwMode="auto">
          <a:xfrm>
            <a:off x="5689601" y="2964160"/>
            <a:ext cx="1117600" cy="1982787"/>
          </a:xfrm>
          <a:prstGeom prst="rect">
            <a:avLst/>
          </a:prstGeom>
          <a:noFill/>
          <a:ln w="9525">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400" b="1"/>
          </a:p>
        </p:txBody>
      </p:sp>
      <p:sp>
        <p:nvSpPr>
          <p:cNvPr id="2" name="灯片编号占位符 1">
            <a:extLst>
              <a:ext uri="{FF2B5EF4-FFF2-40B4-BE49-F238E27FC236}">
                <a16:creationId xmlns:a16="http://schemas.microsoft.com/office/drawing/2014/main" id="{185B5274-D82C-4F88-B961-AC967FBAC9C7}"/>
              </a:ext>
            </a:extLst>
          </p:cNvPr>
          <p:cNvSpPr>
            <a:spLocks noGrp="1"/>
          </p:cNvSpPr>
          <p:nvPr>
            <p:ph type="sldNum" sz="quarter" idx="12"/>
          </p:nvPr>
        </p:nvSpPr>
        <p:spPr/>
        <p:txBody>
          <a:bodyPr/>
          <a:lstStyle/>
          <a:p>
            <a:fld id="{22E77DEE-32E4-4009-988B-F2758F7B8AC2}" type="slidenum">
              <a:rPr lang="zh-CN" altLang="en-US" smtClean="0"/>
              <a:t>11</a:t>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6F89F5-6771-4215-851C-791A37693989}"/>
              </a:ext>
            </a:extLst>
          </p:cNvPr>
          <p:cNvSpPr>
            <a:spLocks noGrp="1" noChangeArrowheads="1"/>
          </p:cNvSpPr>
          <p:nvPr>
            <p:ph type="title"/>
          </p:nvPr>
        </p:nvSpPr>
        <p:spPr>
          <a:xfrm>
            <a:off x="403224" y="442912"/>
            <a:ext cx="8340725" cy="504825"/>
          </a:xfrm>
          <a:solidFill>
            <a:schemeClr val="bg1"/>
          </a:solidFill>
        </p:spPr>
        <p:txBody>
          <a:bodyPr/>
          <a:lstStyle/>
          <a:p>
            <a:pPr marL="87313" indent="-87313" eaLnBrk="1" hangingPunct="1"/>
            <a:r>
              <a:rPr kumimoji="1" lang="zh-CN" altLang="en-US" sz="2800" dirty="0"/>
              <a:t>工作过程</a:t>
            </a:r>
            <a:r>
              <a:rPr kumimoji="1" lang="en-US" altLang="zh-CN" sz="2800" dirty="0"/>
              <a:t>:</a:t>
            </a:r>
            <a:r>
              <a:rPr lang="zh-CN" altLang="en-US" sz="2800" dirty="0">
                <a:solidFill>
                  <a:srgbClr val="3D41D1"/>
                </a:solidFill>
              </a:rPr>
              <a:t>读取指令</a:t>
            </a:r>
            <a:r>
              <a:rPr lang="zh-CN" altLang="en-US" sz="2800" dirty="0">
                <a:solidFill>
                  <a:srgbClr val="3D41D1"/>
                </a:solidFill>
                <a:sym typeface="Wingdings" panose="05000000000000000000" pitchFamily="2" charset="2"/>
              </a:rPr>
              <a:t></a:t>
            </a:r>
            <a:r>
              <a:rPr lang="zh-CN" altLang="en-US" sz="2800" dirty="0">
                <a:solidFill>
                  <a:srgbClr val="FF0000"/>
                </a:solidFill>
              </a:rPr>
              <a:t>分析指令</a:t>
            </a:r>
            <a:r>
              <a:rPr lang="zh-CN" altLang="en-US" sz="2800" dirty="0">
                <a:solidFill>
                  <a:srgbClr val="3D41D1"/>
                </a:solidFill>
                <a:sym typeface="Wingdings" panose="05000000000000000000" pitchFamily="2" charset="2"/>
              </a:rPr>
              <a:t></a:t>
            </a:r>
            <a:r>
              <a:rPr lang="zh-CN" altLang="en-US" sz="2800" dirty="0">
                <a:solidFill>
                  <a:srgbClr val="3D41D1"/>
                </a:solidFill>
              </a:rPr>
              <a:t>执行指令</a:t>
            </a:r>
            <a:r>
              <a:rPr lang="zh-CN" altLang="en-US" sz="2800" dirty="0">
                <a:solidFill>
                  <a:srgbClr val="3D41D1"/>
                </a:solidFill>
                <a:sym typeface="Wingdings" panose="05000000000000000000" pitchFamily="2" charset="2"/>
              </a:rPr>
              <a:t></a:t>
            </a:r>
            <a:r>
              <a:rPr lang="zh-CN" altLang="en-US" sz="2800" dirty="0">
                <a:solidFill>
                  <a:srgbClr val="3D41D1"/>
                </a:solidFill>
              </a:rPr>
              <a:t>保存结果</a:t>
            </a:r>
            <a:endParaRPr kumimoji="1" lang="zh-CN" altLang="en-US" sz="2800" dirty="0">
              <a:solidFill>
                <a:srgbClr val="3D41D1"/>
              </a:solidFill>
            </a:endParaRPr>
          </a:p>
        </p:txBody>
      </p:sp>
      <p:sp>
        <p:nvSpPr>
          <p:cNvPr id="583683" name="Rectangle 3">
            <a:extLst>
              <a:ext uri="{FF2B5EF4-FFF2-40B4-BE49-F238E27FC236}">
                <a16:creationId xmlns:a16="http://schemas.microsoft.com/office/drawing/2014/main" id="{CB4D42C1-BA4D-40F1-B51D-B0172E89DC1D}"/>
              </a:ext>
            </a:extLst>
          </p:cNvPr>
          <p:cNvSpPr>
            <a:spLocks noGrp="1" noChangeArrowheads="1"/>
          </p:cNvSpPr>
          <p:nvPr>
            <p:ph idx="1"/>
          </p:nvPr>
        </p:nvSpPr>
        <p:spPr>
          <a:xfrm>
            <a:off x="500063" y="1259682"/>
            <a:ext cx="7932737" cy="915988"/>
          </a:xfrm>
        </p:spPr>
        <p:txBody>
          <a:bodyPr/>
          <a:lstStyle/>
          <a:p>
            <a:pPr marL="261938" lvl="1" indent="-261938" eaLnBrk="1" hangingPunct="1">
              <a:spcBef>
                <a:spcPct val="0"/>
              </a:spcBef>
              <a:spcAft>
                <a:spcPts val="300"/>
              </a:spcAft>
            </a:pPr>
            <a:r>
              <a:rPr lang="zh-CN" altLang="en-US" dirty="0">
                <a:latin typeface="Times New Roman" panose="02020603050405020304" pitchFamily="18" charset="0"/>
                <a:cs typeface="Times New Roman" panose="02020603050405020304" pitchFamily="18" charset="0"/>
              </a:rPr>
              <a:t>⑦数据寄存器</a:t>
            </a:r>
            <a:r>
              <a:rPr lang="en-US" altLang="zh-CN" dirty="0">
                <a:solidFill>
                  <a:srgbClr val="0000CC"/>
                </a:solidFill>
                <a:latin typeface="Times New Roman" panose="02020603050405020304" pitchFamily="18" charset="0"/>
                <a:cs typeface="Times New Roman" panose="02020603050405020304" pitchFamily="18" charset="0"/>
              </a:rPr>
              <a:t>DR</a:t>
            </a:r>
            <a:r>
              <a:rPr lang="zh-CN" altLang="en-US" dirty="0">
                <a:latin typeface="Times New Roman" panose="02020603050405020304" pitchFamily="18" charset="0"/>
                <a:cs typeface="Times New Roman" panose="02020603050405020304" pitchFamily="18" charset="0"/>
              </a:rPr>
              <a:t>将其内容送</a:t>
            </a:r>
            <a:r>
              <a:rPr lang="zh-CN" altLang="en-US" dirty="0">
                <a:solidFill>
                  <a:srgbClr val="FF0000"/>
                </a:solidFill>
                <a:latin typeface="Times New Roman" panose="02020603050405020304" pitchFamily="18" charset="0"/>
                <a:cs typeface="Times New Roman" panose="02020603050405020304" pitchFamily="18" charset="0"/>
              </a:rPr>
              <a:t>指令寄存器</a:t>
            </a:r>
            <a:r>
              <a:rPr lang="en-US" altLang="zh-CN" dirty="0">
                <a:solidFill>
                  <a:srgbClr val="FF0000"/>
                </a:solidFill>
                <a:latin typeface="Times New Roman" panose="02020603050405020304" pitchFamily="18" charset="0"/>
                <a:cs typeface="Times New Roman" panose="02020603050405020304" pitchFamily="18" charset="0"/>
              </a:rPr>
              <a:t>IR</a:t>
            </a:r>
            <a:r>
              <a:rPr lang="zh-CN" altLang="en-US" dirty="0">
                <a:latin typeface="Times New Roman" panose="02020603050405020304" pitchFamily="18" charset="0"/>
                <a:cs typeface="Times New Roman" panose="02020603050405020304" pitchFamily="18" charset="0"/>
              </a:rPr>
              <a:t>中</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经过</a:t>
            </a:r>
            <a:r>
              <a:rPr lang="zh-CN" altLang="en-US" dirty="0">
                <a:solidFill>
                  <a:srgbClr val="FF0000"/>
                </a:solidFill>
                <a:latin typeface="Times New Roman" panose="02020603050405020304" pitchFamily="18" charset="0"/>
                <a:cs typeface="Times New Roman" panose="02020603050405020304" pitchFamily="18" charset="0"/>
              </a:rPr>
              <a:t>译码</a:t>
            </a:r>
            <a:r>
              <a:rPr lang="en-US" altLang="zh-CN" dirty="0">
                <a:latin typeface="Times New Roman" panose="02020603050405020304" pitchFamily="18" charset="0"/>
                <a:cs typeface="Times New Roman" panose="02020603050405020304" pitchFamily="18" charset="0"/>
              </a:rPr>
              <a:t>, CPU“</a:t>
            </a:r>
            <a:r>
              <a:rPr lang="zh-CN" altLang="en-US" dirty="0">
                <a:solidFill>
                  <a:srgbClr val="FF0000"/>
                </a:solidFill>
                <a:latin typeface="Times New Roman" panose="02020603050405020304" pitchFamily="18" charset="0"/>
                <a:cs typeface="Times New Roman" panose="02020603050405020304" pitchFamily="18" charset="0"/>
              </a:rPr>
              <a:t>识别</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出此操作码为</a:t>
            </a:r>
            <a:r>
              <a:rPr lang="zh-CN" altLang="en-US" dirty="0">
                <a:solidFill>
                  <a:srgbClr val="FF0000"/>
                </a:solidFill>
                <a:latin typeface="Times New Roman" panose="02020603050405020304" pitchFamily="18" charset="0"/>
                <a:cs typeface="Times New Roman" panose="02020603050405020304" pitchFamily="18" charset="0"/>
              </a:rPr>
              <a:t>两字节指令的第一个字节</a:t>
            </a:r>
            <a:r>
              <a:rPr lang="en-US" altLang="zh-CN" dirty="0">
                <a:latin typeface="Times New Roman" panose="02020603050405020304" pitchFamily="18" charset="0"/>
                <a:cs typeface="Times New Roman" panose="02020603050405020304" pitchFamily="18" charset="0"/>
              </a:rPr>
              <a:t>,</a:t>
            </a:r>
            <a:r>
              <a:rPr lang="zh-CN" altLang="en-US" dirty="0">
                <a:solidFill>
                  <a:srgbClr val="3366FF"/>
                </a:solidFill>
                <a:latin typeface="Times New Roman" panose="02020603050405020304" pitchFamily="18" charset="0"/>
                <a:cs typeface="Times New Roman" panose="02020603050405020304" pitchFamily="18" charset="0"/>
              </a:rPr>
              <a:t>再</a:t>
            </a:r>
            <a:r>
              <a:rPr lang="zh-CN" altLang="en-US" u="sng" dirty="0">
                <a:solidFill>
                  <a:srgbClr val="3366FF"/>
                </a:solidFill>
                <a:latin typeface="Times New Roman" panose="02020603050405020304" pitchFamily="18" charset="0"/>
                <a:cs typeface="Times New Roman" panose="02020603050405020304" pitchFamily="18" charset="0"/>
              </a:rPr>
              <a:t>取出下一个字节</a:t>
            </a:r>
            <a:r>
              <a:rPr lang="en-US" altLang="zh-CN" u="sng" dirty="0">
                <a:solidFill>
                  <a:srgbClr val="FF00FF"/>
                </a:solidFill>
                <a:latin typeface="Times New Roman" panose="02020603050405020304" pitchFamily="18" charset="0"/>
                <a:cs typeface="Times New Roman" panose="02020603050405020304" pitchFamily="18" charset="0"/>
              </a:rPr>
              <a:t>(</a:t>
            </a:r>
            <a:r>
              <a:rPr lang="zh-CN" altLang="en-US" u="sng" dirty="0">
                <a:solidFill>
                  <a:srgbClr val="FF00FF"/>
                </a:solidFill>
                <a:latin typeface="Times New Roman" panose="02020603050405020304" pitchFamily="18" charset="0"/>
                <a:cs typeface="Times New Roman" panose="02020603050405020304" pitchFamily="18" charset="0"/>
              </a:rPr>
              <a:t>机器码</a:t>
            </a:r>
            <a:r>
              <a:rPr lang="en-US" altLang="zh-CN" u="sng" dirty="0">
                <a:solidFill>
                  <a:srgbClr val="FF00FF"/>
                </a:solidFill>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后得知是</a:t>
            </a:r>
            <a:r>
              <a:rPr lang="en-US" altLang="zh-CN" dirty="0">
                <a:latin typeface="Times New Roman" panose="02020603050405020304" pitchFamily="18" charset="0"/>
                <a:cs typeface="Times New Roman" panose="02020603050405020304" pitchFamily="18" charset="0"/>
              </a:rPr>
              <a:t>“</a:t>
            </a:r>
            <a:r>
              <a:rPr lang="en-US" altLang="zh-CN" dirty="0">
                <a:solidFill>
                  <a:srgbClr val="0000CC"/>
                </a:solidFill>
                <a:latin typeface="Times New Roman" panose="02020603050405020304" pitchFamily="18" charset="0"/>
                <a:cs typeface="Times New Roman" panose="02020603050405020304" pitchFamily="18" charset="0"/>
              </a:rPr>
              <a:t>MOV A, </a:t>
            </a:r>
            <a:r>
              <a:rPr lang="en-US" altLang="zh-CN" dirty="0">
                <a:solidFill>
                  <a:srgbClr val="FF00FF"/>
                </a:solidFill>
                <a:latin typeface="Times New Roman" panose="02020603050405020304" pitchFamily="18" charset="0"/>
                <a:cs typeface="Times New Roman" panose="02020603050405020304" pitchFamily="18" charset="0"/>
              </a:rPr>
              <a:t>#</a:t>
            </a:r>
            <a:r>
              <a:rPr lang="en-US" altLang="zh-CN" dirty="0">
                <a:solidFill>
                  <a:srgbClr val="0000CC"/>
                </a:solidFill>
                <a:latin typeface="Times New Roman" panose="02020603050405020304" pitchFamily="18" charset="0"/>
                <a:cs typeface="Times New Roman" panose="02020603050405020304" pitchFamily="18" charset="0"/>
              </a:rPr>
              <a:t>07H</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指令</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于是控制器发出</a:t>
            </a:r>
            <a:r>
              <a:rPr lang="zh-CN" altLang="en-US" dirty="0">
                <a:solidFill>
                  <a:srgbClr val="FF0000"/>
                </a:solidFill>
                <a:latin typeface="Times New Roman" panose="02020603050405020304" pitchFamily="18" charset="0"/>
                <a:cs typeface="Times New Roman" panose="02020603050405020304" pitchFamily="18" charset="0"/>
              </a:rPr>
              <a:t>执行这条指令</a:t>
            </a:r>
            <a:r>
              <a:rPr lang="zh-CN" altLang="en-US" dirty="0">
                <a:latin typeface="Times New Roman" panose="02020603050405020304" pitchFamily="18" charset="0"/>
                <a:cs typeface="Times New Roman" panose="02020603050405020304" pitchFamily="18" charset="0"/>
              </a:rPr>
              <a:t>的控制命令。</a:t>
            </a:r>
            <a:endParaRPr lang="en-US" altLang="zh-CN" sz="2400" dirty="0">
              <a:latin typeface="Times New Roman" panose="02020603050405020304" pitchFamily="18" charset="0"/>
              <a:cs typeface="Times New Roman" panose="02020603050405020304" pitchFamily="18" charset="0"/>
            </a:endParaRPr>
          </a:p>
        </p:txBody>
      </p:sp>
      <p:graphicFrame>
        <p:nvGraphicFramePr>
          <p:cNvPr id="4" name="对象 3">
            <a:extLst>
              <a:ext uri="{FF2B5EF4-FFF2-40B4-BE49-F238E27FC236}">
                <a16:creationId xmlns:a16="http://schemas.microsoft.com/office/drawing/2014/main" id="{2454FEEB-49B7-4704-9D05-E7BB42520EB6}"/>
              </a:ext>
            </a:extLst>
          </p:cNvPr>
          <p:cNvGraphicFramePr>
            <a:graphicFrameLocks noChangeAspect="1"/>
          </p:cNvGraphicFramePr>
          <p:nvPr>
            <p:extLst>
              <p:ext uri="{D42A27DB-BD31-4B8C-83A1-F6EECF244321}">
                <p14:modId xmlns:p14="http://schemas.microsoft.com/office/powerpoint/2010/main" val="1813438400"/>
              </p:ext>
            </p:extLst>
          </p:nvPr>
        </p:nvGraphicFramePr>
        <p:xfrm>
          <a:off x="2409826" y="2487615"/>
          <a:ext cx="6584950" cy="3606800"/>
        </p:xfrm>
        <a:graphic>
          <a:graphicData uri="http://schemas.openxmlformats.org/presentationml/2006/ole">
            <mc:AlternateContent xmlns:mc="http://schemas.openxmlformats.org/markup-compatibility/2006">
              <mc:Choice xmlns:v="urn:schemas-microsoft-com:vml" Requires="v">
                <p:oleObj name="Visio" r:id="rId2" imgW="2558034" imgH="2031254" progId="Visio.Drawing.11">
                  <p:embed/>
                </p:oleObj>
              </mc:Choice>
              <mc:Fallback>
                <p:oleObj name="Visio" r:id="rId2" imgW="2558034" imgH="2031254" progId="Visio.Drawing.11">
                  <p:embed/>
                  <p:pic>
                    <p:nvPicPr>
                      <p:cNvPr id="4" name="对象 3">
                        <a:extLst>
                          <a:ext uri="{FF2B5EF4-FFF2-40B4-BE49-F238E27FC236}">
                            <a16:creationId xmlns:a16="http://schemas.microsoft.com/office/drawing/2014/main" id="{2454FEEB-49B7-4704-9D05-E7BB42520E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9826" y="2487615"/>
                        <a:ext cx="6584950" cy="3606800"/>
                      </a:xfrm>
                      <a:prstGeom prst="rect">
                        <a:avLst/>
                      </a:prstGeom>
                      <a:solidFill>
                        <a:schemeClr val="bg1"/>
                      </a:solidFill>
                      <a:ln>
                        <a:noFill/>
                      </a:ln>
                    </p:spPr>
                  </p:pic>
                </p:oleObj>
              </mc:Fallback>
            </mc:AlternateContent>
          </a:graphicData>
        </a:graphic>
      </p:graphicFrame>
      <p:sp>
        <p:nvSpPr>
          <p:cNvPr id="6" name="Rectangle 6">
            <a:extLst>
              <a:ext uri="{FF2B5EF4-FFF2-40B4-BE49-F238E27FC236}">
                <a16:creationId xmlns:a16="http://schemas.microsoft.com/office/drawing/2014/main" id="{0CB18CB6-4E6B-402A-9701-5AC10357861D}"/>
              </a:ext>
            </a:extLst>
          </p:cNvPr>
          <p:cNvSpPr>
            <a:spLocks noChangeArrowheads="1"/>
          </p:cNvSpPr>
          <p:nvPr/>
        </p:nvSpPr>
        <p:spPr bwMode="auto">
          <a:xfrm>
            <a:off x="57150" y="5164138"/>
            <a:ext cx="2200275" cy="1201737"/>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990033"/>
                </a:solidFill>
              </a:rPr>
              <a:t>图</a:t>
            </a:r>
            <a:r>
              <a:rPr lang="en-US" altLang="zh-CN" sz="2400" b="1" dirty="0">
                <a:solidFill>
                  <a:srgbClr val="990033"/>
                </a:solidFill>
              </a:rPr>
              <a:t>3-4 </a:t>
            </a:r>
            <a:r>
              <a:rPr lang="zh-CN" altLang="en-US" sz="2400" b="1" dirty="0">
                <a:solidFill>
                  <a:srgbClr val="990033"/>
                </a:solidFill>
              </a:rPr>
              <a:t>读取第一条指令第一个字节的示意图</a:t>
            </a:r>
          </a:p>
        </p:txBody>
      </p:sp>
      <p:sp>
        <p:nvSpPr>
          <p:cNvPr id="7" name="灯片编号占位符 6">
            <a:extLst>
              <a:ext uri="{FF2B5EF4-FFF2-40B4-BE49-F238E27FC236}">
                <a16:creationId xmlns:a16="http://schemas.microsoft.com/office/drawing/2014/main" id="{368E19AF-CDB8-4B32-8FB1-FC591D34AA2F}"/>
              </a:ext>
            </a:extLst>
          </p:cNvPr>
          <p:cNvSpPr>
            <a:spLocks noGrp="1"/>
          </p:cNvSpPr>
          <p:nvPr>
            <p:ph type="sldNum" sz="quarter" idx="10"/>
          </p:nvPr>
        </p:nvSpPr>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a:fld id="{6F00AD29-30FC-4727-A054-E7CE1A98D934}" type="slidenum">
              <a:rPr lang="en-US" altLang="zh-CN">
                <a:latin typeface="Arial" panose="020B0604020202020204" pitchFamily="34" charset="0"/>
              </a:rPr>
              <a:pPr algn="l"/>
              <a:t>12</a:t>
            </a:fld>
            <a:endParaRPr lang="en-US" altLang="zh-CN">
              <a:latin typeface="Arial" panose="020B0604020202020204" pitchFamily="34" charset="0"/>
            </a:endParaRPr>
          </a:p>
        </p:txBody>
      </p:sp>
      <p:sp>
        <p:nvSpPr>
          <p:cNvPr id="3" name="矩形 2">
            <a:extLst>
              <a:ext uri="{FF2B5EF4-FFF2-40B4-BE49-F238E27FC236}">
                <a16:creationId xmlns:a16="http://schemas.microsoft.com/office/drawing/2014/main" id="{471DF637-A617-4A5A-B950-DA9470159FA7}"/>
              </a:ext>
            </a:extLst>
          </p:cNvPr>
          <p:cNvSpPr>
            <a:spLocks noChangeArrowheads="1"/>
          </p:cNvSpPr>
          <p:nvPr/>
        </p:nvSpPr>
        <p:spPr bwMode="auto">
          <a:xfrm>
            <a:off x="4065588" y="2450103"/>
            <a:ext cx="647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t>加</a:t>
            </a:r>
            <a:r>
              <a:rPr lang="en-US" altLang="zh-CN" sz="2400" b="1" dirty="0"/>
              <a:t>1</a:t>
            </a:r>
            <a:endParaRPr lang="zh-CN" altLang="en-US" sz="2400" b="1" dirty="0"/>
          </a:p>
        </p:txBody>
      </p:sp>
      <p:sp>
        <p:nvSpPr>
          <p:cNvPr id="9" name="矩形 8">
            <a:extLst>
              <a:ext uri="{FF2B5EF4-FFF2-40B4-BE49-F238E27FC236}">
                <a16:creationId xmlns:a16="http://schemas.microsoft.com/office/drawing/2014/main" id="{D7419402-EEE6-4CFD-ACBB-C06AB5A5E400}"/>
              </a:ext>
            </a:extLst>
          </p:cNvPr>
          <p:cNvSpPr>
            <a:spLocks noChangeArrowheads="1"/>
          </p:cNvSpPr>
          <p:nvPr/>
        </p:nvSpPr>
        <p:spPr bwMode="auto">
          <a:xfrm>
            <a:off x="2801938" y="4819650"/>
            <a:ext cx="10112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t>地址译码</a:t>
            </a:r>
          </a:p>
        </p:txBody>
      </p:sp>
      <p:sp>
        <p:nvSpPr>
          <p:cNvPr id="10" name="Rectangle 6">
            <a:extLst>
              <a:ext uri="{FF2B5EF4-FFF2-40B4-BE49-F238E27FC236}">
                <a16:creationId xmlns:a16="http://schemas.microsoft.com/office/drawing/2014/main" id="{751A8745-2431-4F65-99BE-0DF24E08AEB4}"/>
              </a:ext>
            </a:extLst>
          </p:cNvPr>
          <p:cNvSpPr>
            <a:spLocks noChangeArrowheads="1"/>
          </p:cNvSpPr>
          <p:nvPr/>
        </p:nvSpPr>
        <p:spPr bwMode="auto">
          <a:xfrm>
            <a:off x="500063" y="2168344"/>
            <a:ext cx="1909763" cy="743721"/>
          </a:xfrm>
          <a:prstGeom prst="rect">
            <a:avLst/>
          </a:prstGeom>
          <a:noFill/>
          <a:ln w="9525" algn="ctr">
            <a:solidFill>
              <a:srgbClr val="FF00FF"/>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36000"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114000"/>
              </a:lnSpc>
            </a:pPr>
            <a:r>
              <a:rPr lang="zh-CN" altLang="en-US" sz="2000" b="1">
                <a:solidFill>
                  <a:srgbClr val="990033"/>
                </a:solidFill>
                <a:hlinkClick r:id="rId4" action="ppaction://hlinksldjump"/>
              </a:rPr>
              <a:t>需重复上述取指译码过程</a:t>
            </a:r>
            <a:endParaRPr lang="zh-CN" altLang="en-US" sz="2000" b="1">
              <a:solidFill>
                <a:srgbClr val="990033"/>
              </a:solidFill>
            </a:endParaRPr>
          </a:p>
        </p:txBody>
      </p:sp>
      <p:sp>
        <p:nvSpPr>
          <p:cNvPr id="8" name="左弧形箭头 7">
            <a:extLst>
              <a:ext uri="{FF2B5EF4-FFF2-40B4-BE49-F238E27FC236}">
                <a16:creationId xmlns:a16="http://schemas.microsoft.com/office/drawing/2014/main" id="{CEB87FA7-8A9F-4D32-B1F0-BD025B0CDE5D}"/>
              </a:ext>
            </a:extLst>
          </p:cNvPr>
          <p:cNvSpPr>
            <a:spLocks noChangeArrowheads="1"/>
          </p:cNvSpPr>
          <p:nvPr/>
        </p:nvSpPr>
        <p:spPr bwMode="auto">
          <a:xfrm>
            <a:off x="112711" y="1413522"/>
            <a:ext cx="290513" cy="1168400"/>
          </a:xfrm>
          <a:prstGeom prst="curvedRightArrow">
            <a:avLst>
              <a:gd name="adj1" fmla="val 24969"/>
              <a:gd name="adj2" fmla="val 49919"/>
              <a:gd name="adj3" fmla="val 25000"/>
            </a:avLst>
          </a:prstGeom>
          <a:solidFill>
            <a:schemeClr val="accent1">
              <a:alpha val="50195"/>
            </a:schemeClr>
          </a:solidFill>
          <a:ln w="9525" algn="ctr">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 name="Rectangle 6">
            <a:extLst>
              <a:ext uri="{FF2B5EF4-FFF2-40B4-BE49-F238E27FC236}">
                <a16:creationId xmlns:a16="http://schemas.microsoft.com/office/drawing/2014/main" id="{84B140E6-EAE9-4352-BD30-2DFC3A957037}"/>
              </a:ext>
            </a:extLst>
          </p:cNvPr>
          <p:cNvSpPr>
            <a:spLocks noChangeArrowheads="1"/>
          </p:cNvSpPr>
          <p:nvPr/>
        </p:nvSpPr>
        <p:spPr bwMode="auto">
          <a:xfrm>
            <a:off x="8259763" y="3525834"/>
            <a:ext cx="709612" cy="1457325"/>
          </a:xfrm>
          <a:prstGeom prst="rect">
            <a:avLst/>
          </a:prstGeom>
          <a:noFill/>
          <a:ln w="9525" algn="ctr">
            <a:solidFill>
              <a:srgbClr val="FF00FF"/>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36000" rIns="0" bIns="36000"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75000"/>
              </a:lnSpc>
            </a:pPr>
            <a:r>
              <a:rPr lang="zh-CN" altLang="en-US" sz="2400" b="1" dirty="0">
                <a:solidFill>
                  <a:srgbClr val="990033"/>
                </a:solidFill>
              </a:rPr>
              <a:t>译码产生微控制命令</a:t>
            </a:r>
          </a:p>
        </p:txBody>
      </p:sp>
      <p:sp>
        <p:nvSpPr>
          <p:cNvPr id="13" name="Rectangle 6">
            <a:extLst>
              <a:ext uri="{FF2B5EF4-FFF2-40B4-BE49-F238E27FC236}">
                <a16:creationId xmlns:a16="http://schemas.microsoft.com/office/drawing/2014/main" id="{B5E06744-FFC3-48C6-8FA1-86CBAF1E228B}"/>
              </a:ext>
            </a:extLst>
          </p:cNvPr>
          <p:cNvSpPr>
            <a:spLocks noChangeArrowheads="1"/>
          </p:cNvSpPr>
          <p:nvPr/>
        </p:nvSpPr>
        <p:spPr bwMode="auto">
          <a:xfrm>
            <a:off x="3873501" y="2174265"/>
            <a:ext cx="3500438" cy="313350"/>
          </a:xfrm>
          <a:prstGeom prst="rect">
            <a:avLst/>
          </a:prstGeom>
          <a:noFill/>
          <a:ln w="9525" algn="ctr">
            <a:solidFill>
              <a:srgbClr val="FF00FF"/>
            </a:solidFill>
            <a:miter lim="800000"/>
            <a:headEnd/>
            <a:tailEnd/>
          </a:ln>
          <a:effectLst/>
          <a:extLst>
            <a:ext uri="{909E8E84-426E-40DD-AFC4-6F175D3DCCD1}">
              <a14:hiddenFill xmlns:a14="http://schemas.microsoft.com/office/drawing/2010/main">
                <a:solidFill>
                  <a:schemeClr val="accent1">
                    <a:alpha val="50195"/>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36000" rIns="0" bIns="0" anchor="b">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75000"/>
              </a:lnSpc>
            </a:pPr>
            <a:r>
              <a:rPr lang="zh-CN" altLang="en-US" sz="2400" b="1" dirty="0">
                <a:solidFill>
                  <a:srgbClr val="990033"/>
                </a:solidFill>
              </a:rPr>
              <a:t>读立即数</a:t>
            </a:r>
            <a:r>
              <a:rPr lang="en-US" altLang="zh-CN" sz="2400" b="1" dirty="0">
                <a:solidFill>
                  <a:srgbClr val="990033"/>
                </a:solidFill>
              </a:rPr>
              <a:t>(</a:t>
            </a:r>
            <a:r>
              <a:rPr lang="zh-CN" altLang="en-US" sz="2400" b="1" dirty="0">
                <a:solidFill>
                  <a:srgbClr val="990033"/>
                </a:solidFill>
              </a:rPr>
              <a:t>下个机器码</a:t>
            </a:r>
            <a:r>
              <a:rPr lang="en-US" altLang="zh-CN" sz="2400" b="1" dirty="0">
                <a:solidFill>
                  <a:srgbClr val="990033"/>
                </a:solidFill>
              </a:rPr>
              <a:t>)</a:t>
            </a:r>
            <a:r>
              <a:rPr lang="zh-CN" altLang="en-US" sz="2400" b="1" dirty="0">
                <a:solidFill>
                  <a:srgbClr val="990033"/>
                </a:solidFill>
              </a:rPr>
              <a:t>到</a:t>
            </a:r>
            <a:r>
              <a:rPr lang="en-US" altLang="zh-CN" sz="2400" b="1" dirty="0">
                <a:solidFill>
                  <a:srgbClr val="990033"/>
                </a:solidFill>
              </a:rPr>
              <a:t>A</a:t>
            </a:r>
            <a:endParaRPr lang="zh-CN" altLang="en-US" sz="2400" b="1" dirty="0">
              <a:solidFill>
                <a:srgbClr val="990033"/>
              </a:solidFill>
            </a:endParaRPr>
          </a:p>
        </p:txBody>
      </p:sp>
      <p:sp>
        <p:nvSpPr>
          <p:cNvPr id="14" name="矩形 13">
            <a:extLst>
              <a:ext uri="{FF2B5EF4-FFF2-40B4-BE49-F238E27FC236}">
                <a16:creationId xmlns:a16="http://schemas.microsoft.com/office/drawing/2014/main" id="{04EA23A0-D3D6-4AD0-8D30-9F59ED000DE0}"/>
              </a:ext>
            </a:extLst>
          </p:cNvPr>
          <p:cNvSpPr>
            <a:spLocks noChangeArrowheads="1"/>
          </p:cNvSpPr>
          <p:nvPr/>
        </p:nvSpPr>
        <p:spPr bwMode="auto">
          <a:xfrm>
            <a:off x="6126163" y="5357023"/>
            <a:ext cx="2960687" cy="862013"/>
          </a:xfrm>
          <a:prstGeom prst="rect">
            <a:avLst/>
          </a:prstGeom>
          <a:solidFill>
            <a:schemeClr val="bg1"/>
          </a:solidFill>
          <a:ln w="9525">
            <a:solidFill>
              <a:srgbClr val="FF00FF"/>
            </a:solidFill>
            <a:miter lim="800000"/>
            <a:headEnd/>
            <a:tailEnd/>
          </a:ln>
        </p:spPr>
        <p:txBody>
          <a:bodyPr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dirty="0">
                <a:cs typeface="Times New Roman" panose="02020603050405020304" pitchFamily="18" charset="0"/>
              </a:rPr>
              <a:t>“</a:t>
            </a:r>
            <a:r>
              <a:rPr lang="en-US" altLang="zh-CN" sz="2800" dirty="0">
                <a:solidFill>
                  <a:srgbClr val="0000CC"/>
                </a:solidFill>
                <a:cs typeface="Times New Roman" panose="02020603050405020304" pitchFamily="18" charset="0"/>
              </a:rPr>
              <a:t>MOV A</a:t>
            </a:r>
            <a:r>
              <a:rPr lang="en-US" altLang="zh-CN" sz="2800" b="1" dirty="0">
                <a:solidFill>
                  <a:srgbClr val="0000CC"/>
                </a:solidFill>
                <a:cs typeface="Times New Roman" panose="02020603050405020304" pitchFamily="18" charset="0"/>
              </a:rPr>
              <a:t>, </a:t>
            </a:r>
            <a:r>
              <a:rPr lang="en-US" altLang="zh-CN" sz="2800" b="1" dirty="0">
                <a:solidFill>
                  <a:srgbClr val="FF0000"/>
                </a:solidFill>
                <a:cs typeface="Times New Roman" panose="02020603050405020304" pitchFamily="18" charset="0"/>
              </a:rPr>
              <a:t>#</a:t>
            </a:r>
            <a:r>
              <a:rPr lang="en-US" altLang="zh-CN" sz="2800" dirty="0">
                <a:solidFill>
                  <a:srgbClr val="0000CC"/>
                </a:solidFill>
                <a:cs typeface="Times New Roman" panose="02020603050405020304" pitchFamily="18" charset="0"/>
              </a:rPr>
              <a:t>07H</a:t>
            </a:r>
            <a:r>
              <a:rPr lang="en-US" altLang="zh-CN" sz="2800" dirty="0">
                <a:cs typeface="Times New Roman" panose="02020603050405020304" pitchFamily="18" charset="0"/>
              </a:rPr>
              <a:t>” </a:t>
            </a:r>
          </a:p>
          <a:p>
            <a:pPr eaLnBrk="1" hangingPunct="1"/>
            <a:r>
              <a:rPr lang="zh-CN" altLang="en-US" sz="2800" dirty="0">
                <a:cs typeface="Times New Roman" panose="02020603050405020304" pitchFamily="18" charset="0"/>
              </a:rPr>
              <a:t>机器码</a:t>
            </a:r>
            <a:r>
              <a:rPr lang="en-US" altLang="zh-CN" sz="2800" dirty="0">
                <a:cs typeface="Times New Roman" panose="02020603050405020304" pitchFamily="18" charset="0"/>
              </a:rPr>
              <a:t>:</a:t>
            </a:r>
            <a:r>
              <a:rPr lang="pt-BR" altLang="zh-CN" sz="2800" b="1" dirty="0">
                <a:solidFill>
                  <a:srgbClr val="FF0000"/>
                </a:solidFill>
                <a:cs typeface="Times New Roman" panose="02020603050405020304" pitchFamily="18" charset="0"/>
              </a:rPr>
              <a:t>B0H  07H</a:t>
            </a:r>
            <a:endParaRPr lang="zh-CN" altLang="en-US" sz="2800" dirty="0">
              <a:cs typeface="Times New Roman" panose="02020603050405020304" pitchFamily="18" charset="0"/>
            </a:endParaRPr>
          </a:p>
        </p:txBody>
      </p:sp>
      <p:sp>
        <p:nvSpPr>
          <p:cNvPr id="31759" name="矩形 14">
            <a:hlinkClick r:id="rId5" action="ppaction://hlinksldjump"/>
            <a:extLst>
              <a:ext uri="{FF2B5EF4-FFF2-40B4-BE49-F238E27FC236}">
                <a16:creationId xmlns:a16="http://schemas.microsoft.com/office/drawing/2014/main" id="{4C5F5C02-E31D-49F8-9973-567CA269881D}"/>
              </a:ext>
            </a:extLst>
          </p:cNvPr>
          <p:cNvSpPr>
            <a:spLocks noChangeArrowheads="1"/>
          </p:cNvSpPr>
          <p:nvPr/>
        </p:nvSpPr>
        <p:spPr bwMode="auto">
          <a:xfrm>
            <a:off x="92075" y="396875"/>
            <a:ext cx="8340725" cy="415925"/>
          </a:xfrm>
          <a:prstGeom prst="rect">
            <a:avLst/>
          </a:prstGeom>
        </p:spPr>
        <p:txBody>
          <a:bodyPr vert="horz" lIns="91440" tIns="45720" rIns="91440" bIns="45720" rtlCol="0" anchor="b">
            <a:normAutofit lnSpcReduction="10000"/>
          </a:bodyPr>
          <a:lstStyle/>
          <a:p>
            <a:pPr defTabSz="914400">
              <a:lnSpc>
                <a:spcPct val="85000"/>
              </a:lnSpc>
              <a:spcBef>
                <a:spcPct val="0"/>
              </a:spcBef>
            </a:pPr>
            <a:endParaRPr lang="zh-CN" altLang="en-US" sz="2800" spc="-50">
              <a:solidFill>
                <a:schemeClr val="tx1">
                  <a:lumMod val="75000"/>
                  <a:lumOff val="25000"/>
                </a:schemeClr>
              </a:solidFill>
              <a:latin typeface="Times New Roman" panose="02020603050405020304" pitchFamily="18" charset="0"/>
              <a:ea typeface="+mj-ea"/>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B7AE9E-CE1E-4846-9531-57971FAB070E}"/>
              </a:ext>
            </a:extLst>
          </p:cNvPr>
          <p:cNvSpPr>
            <a:spLocks noGrp="1" noChangeArrowheads="1"/>
          </p:cNvSpPr>
          <p:nvPr>
            <p:ph type="title"/>
          </p:nvPr>
        </p:nvSpPr>
        <p:spPr>
          <a:xfrm>
            <a:off x="101600" y="484982"/>
            <a:ext cx="8928100" cy="504825"/>
          </a:xfrm>
          <a:solidFill>
            <a:schemeClr val="bg1"/>
          </a:solidFill>
        </p:spPr>
        <p:txBody>
          <a:bodyPr>
            <a:noAutofit/>
          </a:bodyPr>
          <a:lstStyle/>
          <a:p>
            <a:pPr eaLnBrk="1" hangingPunct="1"/>
            <a:r>
              <a:rPr lang="zh-CN" altLang="en-US" sz="3200" dirty="0">
                <a:solidFill>
                  <a:srgbClr val="FF0000"/>
                </a:solidFill>
              </a:rPr>
              <a:t>读</a:t>
            </a:r>
            <a:r>
              <a:rPr lang="zh-CN" altLang="en-US" sz="3200" dirty="0">
                <a:solidFill>
                  <a:srgbClr val="990033"/>
                </a:solidFill>
              </a:rPr>
              <a:t>第一条指令</a:t>
            </a:r>
            <a:r>
              <a:rPr lang="zh-CN" altLang="en-US" sz="3200" dirty="0">
                <a:solidFill>
                  <a:srgbClr val="FF0000"/>
                </a:solidFill>
              </a:rPr>
              <a:t>第二个字节</a:t>
            </a:r>
            <a:r>
              <a:rPr lang="en-US" altLang="zh-CN" sz="3200" dirty="0">
                <a:solidFill>
                  <a:srgbClr val="FF0000"/>
                </a:solidFill>
              </a:rPr>
              <a:t>(</a:t>
            </a:r>
            <a:r>
              <a:rPr lang="zh-CN" altLang="en-US" sz="3200" dirty="0">
                <a:solidFill>
                  <a:srgbClr val="FF0000"/>
                </a:solidFill>
              </a:rPr>
              <a:t>即执行该指令</a:t>
            </a:r>
            <a:r>
              <a:rPr lang="en-US" altLang="zh-CN" sz="3200" dirty="0">
                <a:solidFill>
                  <a:srgbClr val="FF0000"/>
                </a:solidFill>
              </a:rPr>
              <a:t>)</a:t>
            </a:r>
            <a:r>
              <a:rPr lang="zh-CN" altLang="en-US" sz="3200" dirty="0">
                <a:solidFill>
                  <a:srgbClr val="990033"/>
                </a:solidFill>
              </a:rPr>
              <a:t>的示意图</a:t>
            </a:r>
            <a:endParaRPr lang="zh-CN" altLang="en-US" sz="3200" dirty="0">
              <a:solidFill>
                <a:srgbClr val="3D41D1"/>
              </a:solidFill>
            </a:endParaRPr>
          </a:p>
        </p:txBody>
      </p:sp>
      <p:sp>
        <p:nvSpPr>
          <p:cNvPr id="32771" name="Rectangle 3">
            <a:extLst>
              <a:ext uri="{FF2B5EF4-FFF2-40B4-BE49-F238E27FC236}">
                <a16:creationId xmlns:a16="http://schemas.microsoft.com/office/drawing/2014/main" id="{7110990A-BBC3-4EF1-9B3F-EE24DD928A9F}"/>
              </a:ext>
            </a:extLst>
          </p:cNvPr>
          <p:cNvSpPr>
            <a:spLocks noGrp="1" noChangeArrowheads="1"/>
          </p:cNvSpPr>
          <p:nvPr>
            <p:ph idx="1"/>
          </p:nvPr>
        </p:nvSpPr>
        <p:spPr>
          <a:xfrm>
            <a:off x="6381742" y="1413668"/>
            <a:ext cx="2246312" cy="379412"/>
          </a:xfrm>
        </p:spPr>
        <p:txBody>
          <a:bodyPr>
            <a:normAutofit lnSpcReduction="10000"/>
          </a:bodyPr>
          <a:lstStyle/>
          <a:p>
            <a:pPr eaLnBrk="1" hangingPunct="1">
              <a:buFontTx/>
              <a:buNone/>
            </a:pPr>
            <a:r>
              <a:rPr lang="zh-CN" altLang="en-US" dirty="0">
                <a:solidFill>
                  <a:srgbClr val="3366FF"/>
                </a:solidFill>
              </a:rPr>
              <a:t>再取出下一个字节</a:t>
            </a:r>
            <a:endParaRPr lang="zh-CN" altLang="en-US" dirty="0"/>
          </a:p>
          <a:p>
            <a:pPr eaLnBrk="1" hangingPunct="1">
              <a:buFontTx/>
              <a:buNone/>
            </a:pPr>
            <a:endParaRPr lang="zh-CN" altLang="en-US" dirty="0"/>
          </a:p>
        </p:txBody>
      </p:sp>
      <p:graphicFrame>
        <p:nvGraphicFramePr>
          <p:cNvPr id="444420" name="Object 4">
            <a:extLst>
              <a:ext uri="{FF2B5EF4-FFF2-40B4-BE49-F238E27FC236}">
                <a16:creationId xmlns:a16="http://schemas.microsoft.com/office/drawing/2014/main" id="{5DC56AC1-A5B0-4A09-9E55-057A93A42E39}"/>
              </a:ext>
            </a:extLst>
          </p:cNvPr>
          <p:cNvGraphicFramePr>
            <a:graphicFrameLocks noChangeAspect="1"/>
          </p:cNvGraphicFramePr>
          <p:nvPr>
            <p:extLst>
              <p:ext uri="{D42A27DB-BD31-4B8C-83A1-F6EECF244321}">
                <p14:modId xmlns:p14="http://schemas.microsoft.com/office/powerpoint/2010/main" val="3385124221"/>
              </p:ext>
            </p:extLst>
          </p:nvPr>
        </p:nvGraphicFramePr>
        <p:xfrm>
          <a:off x="708661" y="2227262"/>
          <a:ext cx="5809994" cy="3955801"/>
        </p:xfrm>
        <a:graphic>
          <a:graphicData uri="http://schemas.openxmlformats.org/presentationml/2006/ole">
            <mc:AlternateContent xmlns:mc="http://schemas.openxmlformats.org/markup-compatibility/2006">
              <mc:Choice xmlns:v="urn:schemas-microsoft-com:vml" Requires="v">
                <p:oleObj name="Visio" r:id="rId3" imgW="3139291" imgH="2183309" progId="Visio.Drawing.11">
                  <p:embed/>
                </p:oleObj>
              </mc:Choice>
              <mc:Fallback>
                <p:oleObj name="Visio" r:id="rId3" imgW="3139291" imgH="2183309" progId="Visio.Drawing.11">
                  <p:embed/>
                  <p:pic>
                    <p:nvPicPr>
                      <p:cNvPr id="444420" name="Object 4">
                        <a:extLst>
                          <a:ext uri="{FF2B5EF4-FFF2-40B4-BE49-F238E27FC236}">
                            <a16:creationId xmlns:a16="http://schemas.microsoft.com/office/drawing/2014/main" id="{5DC56AC1-A5B0-4A09-9E55-057A93A42E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61" y="2227262"/>
                        <a:ext cx="5809994" cy="3955801"/>
                      </a:xfrm>
                      <a:prstGeom prst="rect">
                        <a:avLst/>
                      </a:prstGeom>
                      <a:noFill/>
                      <a:ln>
                        <a:noFill/>
                      </a:ln>
                    </p:spPr>
                  </p:pic>
                </p:oleObj>
              </mc:Fallback>
            </mc:AlternateContent>
          </a:graphicData>
        </a:graphic>
      </p:graphicFrame>
      <p:sp>
        <p:nvSpPr>
          <p:cNvPr id="444423" name="Rectangle 7">
            <a:extLst>
              <a:ext uri="{FF2B5EF4-FFF2-40B4-BE49-F238E27FC236}">
                <a16:creationId xmlns:a16="http://schemas.microsoft.com/office/drawing/2014/main" id="{51AA69EB-E844-4421-9289-DA2B8EC1BD8E}"/>
              </a:ext>
            </a:extLst>
          </p:cNvPr>
          <p:cNvSpPr>
            <a:spLocks noChangeArrowheads="1"/>
          </p:cNvSpPr>
          <p:nvPr/>
        </p:nvSpPr>
        <p:spPr bwMode="auto">
          <a:xfrm>
            <a:off x="4530725" y="5778500"/>
            <a:ext cx="4397375" cy="49212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600" b="1" dirty="0">
                <a:solidFill>
                  <a:srgbClr val="3D41D1"/>
                </a:solidFill>
              </a:rPr>
              <a:t>图</a:t>
            </a:r>
            <a:r>
              <a:rPr lang="en-US" altLang="zh-CN" sz="2600" b="1" dirty="0">
                <a:solidFill>
                  <a:srgbClr val="3D41D1"/>
                </a:solidFill>
              </a:rPr>
              <a:t>3-5 </a:t>
            </a:r>
            <a:r>
              <a:rPr lang="zh-CN" altLang="en-US" sz="2600" b="1" dirty="0">
                <a:solidFill>
                  <a:srgbClr val="FF0000"/>
                </a:solidFill>
              </a:rPr>
              <a:t>执行</a:t>
            </a:r>
            <a:r>
              <a:rPr lang="zh-CN" altLang="en-US" sz="2600" b="1" dirty="0">
                <a:solidFill>
                  <a:srgbClr val="3D41D1"/>
                </a:solidFill>
              </a:rPr>
              <a:t>第一条指令示意图</a:t>
            </a:r>
          </a:p>
        </p:txBody>
      </p:sp>
      <p:sp>
        <p:nvSpPr>
          <p:cNvPr id="32774" name="矩形 2">
            <a:extLst>
              <a:ext uri="{FF2B5EF4-FFF2-40B4-BE49-F238E27FC236}">
                <a16:creationId xmlns:a16="http://schemas.microsoft.com/office/drawing/2014/main" id="{4B3F14C4-B0FE-40FE-B0BE-83C743602919}"/>
              </a:ext>
            </a:extLst>
          </p:cNvPr>
          <p:cNvSpPr>
            <a:spLocks noChangeArrowheads="1"/>
          </p:cNvSpPr>
          <p:nvPr/>
        </p:nvSpPr>
        <p:spPr bwMode="auto">
          <a:xfrm>
            <a:off x="39687" y="1109462"/>
            <a:ext cx="601662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dirty="0">
                <a:cs typeface="Times New Roman" panose="02020603050405020304" pitchFamily="18" charset="0"/>
              </a:rPr>
              <a:t>“</a:t>
            </a:r>
            <a:r>
              <a:rPr lang="en-US" altLang="zh-CN" sz="2400" dirty="0">
                <a:solidFill>
                  <a:srgbClr val="0000CC"/>
                </a:solidFill>
                <a:cs typeface="Times New Roman" panose="02020603050405020304" pitchFamily="18" charset="0"/>
              </a:rPr>
              <a:t>MOV A</a:t>
            </a:r>
            <a:r>
              <a:rPr lang="en-US" altLang="zh-CN" sz="2400" b="1" dirty="0">
                <a:solidFill>
                  <a:srgbClr val="0000CC"/>
                </a:solidFill>
                <a:cs typeface="Times New Roman" panose="02020603050405020304" pitchFamily="18" charset="0"/>
              </a:rPr>
              <a:t>, </a:t>
            </a:r>
            <a:r>
              <a:rPr lang="en-US" altLang="zh-CN" sz="2400" b="1" dirty="0">
                <a:solidFill>
                  <a:srgbClr val="FF0000"/>
                </a:solidFill>
                <a:cs typeface="Times New Roman" panose="02020603050405020304" pitchFamily="18" charset="0"/>
              </a:rPr>
              <a:t>#</a:t>
            </a:r>
            <a:r>
              <a:rPr lang="en-US" altLang="zh-CN" sz="2400" dirty="0">
                <a:solidFill>
                  <a:srgbClr val="0000CC"/>
                </a:solidFill>
                <a:cs typeface="Times New Roman" panose="02020603050405020304" pitchFamily="18" charset="0"/>
              </a:rPr>
              <a:t>07H</a:t>
            </a:r>
            <a:r>
              <a:rPr lang="en-US" altLang="zh-CN" sz="2400" dirty="0">
                <a:cs typeface="Times New Roman" panose="02020603050405020304" pitchFamily="18" charset="0"/>
              </a:rPr>
              <a:t>” (</a:t>
            </a:r>
            <a:r>
              <a:rPr lang="zh-CN" altLang="en-US" sz="2400" dirty="0">
                <a:cs typeface="Times New Roman" panose="02020603050405020304" pitchFamily="18" charset="0"/>
              </a:rPr>
              <a:t>机器码</a:t>
            </a:r>
            <a:r>
              <a:rPr lang="en-US" altLang="zh-CN" sz="2400" dirty="0">
                <a:cs typeface="Times New Roman" panose="02020603050405020304" pitchFamily="18" charset="0"/>
              </a:rPr>
              <a:t>:</a:t>
            </a:r>
            <a:r>
              <a:rPr lang="pt-BR" altLang="zh-CN" sz="2400" b="1" dirty="0">
                <a:solidFill>
                  <a:srgbClr val="FF0000"/>
                </a:solidFill>
                <a:cs typeface="Times New Roman" panose="02020603050405020304" pitchFamily="18" charset="0"/>
              </a:rPr>
              <a:t>B0H  07H</a:t>
            </a:r>
            <a:r>
              <a:rPr lang="en-US" altLang="zh-CN" sz="2400" dirty="0">
                <a:cs typeface="Times New Roman" panose="02020603050405020304" pitchFamily="18" charset="0"/>
              </a:rPr>
              <a:t>),</a:t>
            </a:r>
            <a:endParaRPr lang="zh-CN" altLang="en-US" sz="2400" dirty="0">
              <a:cs typeface="Times New Roman" panose="02020603050405020304" pitchFamily="18" charset="0"/>
            </a:endParaRPr>
          </a:p>
        </p:txBody>
      </p:sp>
      <p:sp>
        <p:nvSpPr>
          <p:cNvPr id="10" name="矩形 9">
            <a:extLst>
              <a:ext uri="{FF2B5EF4-FFF2-40B4-BE49-F238E27FC236}">
                <a16:creationId xmlns:a16="http://schemas.microsoft.com/office/drawing/2014/main" id="{F5D43311-444F-4931-902E-58D6F118A275}"/>
              </a:ext>
            </a:extLst>
          </p:cNvPr>
          <p:cNvSpPr>
            <a:spLocks noChangeArrowheads="1"/>
          </p:cNvSpPr>
          <p:nvPr/>
        </p:nvSpPr>
        <p:spPr bwMode="auto">
          <a:xfrm>
            <a:off x="2724150" y="1847850"/>
            <a:ext cx="647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t>加</a:t>
            </a:r>
            <a:r>
              <a:rPr lang="en-US" altLang="zh-CN" sz="2400" b="1"/>
              <a:t>1</a:t>
            </a:r>
            <a:endParaRPr lang="zh-CN" altLang="en-US" sz="2400" b="1"/>
          </a:p>
        </p:txBody>
      </p:sp>
      <p:sp>
        <p:nvSpPr>
          <p:cNvPr id="11" name="矩形 10">
            <a:extLst>
              <a:ext uri="{FF2B5EF4-FFF2-40B4-BE49-F238E27FC236}">
                <a16:creationId xmlns:a16="http://schemas.microsoft.com/office/drawing/2014/main" id="{2C8EFB06-65C4-431B-8038-55693FE40644}"/>
              </a:ext>
            </a:extLst>
          </p:cNvPr>
          <p:cNvSpPr>
            <a:spLocks noChangeArrowheads="1"/>
          </p:cNvSpPr>
          <p:nvPr/>
        </p:nvSpPr>
        <p:spPr bwMode="auto">
          <a:xfrm>
            <a:off x="1208088" y="4614070"/>
            <a:ext cx="10112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t>地址译码</a:t>
            </a:r>
          </a:p>
        </p:txBody>
      </p:sp>
      <p:sp>
        <p:nvSpPr>
          <p:cNvPr id="12" name="Rectangle 3">
            <a:extLst>
              <a:ext uri="{FF2B5EF4-FFF2-40B4-BE49-F238E27FC236}">
                <a16:creationId xmlns:a16="http://schemas.microsoft.com/office/drawing/2014/main" id="{A3CEA851-60B5-46ED-9524-2631F2558FBB}"/>
              </a:ext>
            </a:extLst>
          </p:cNvPr>
          <p:cNvSpPr txBox="1">
            <a:spLocks noChangeArrowheads="1"/>
          </p:cNvSpPr>
          <p:nvPr/>
        </p:nvSpPr>
        <p:spPr bwMode="auto">
          <a:xfrm>
            <a:off x="216429" y="1499790"/>
            <a:ext cx="4708525" cy="1020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5"/>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6"/>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buFontTx/>
              <a:buNone/>
              <a:defRPr/>
            </a:pPr>
            <a:r>
              <a:rPr lang="zh-CN" altLang="en-US" sz="2400" dirty="0">
                <a:solidFill>
                  <a:srgbClr val="FF00FF"/>
                </a:solidFill>
              </a:rPr>
              <a:t>即取机器码</a:t>
            </a:r>
            <a:r>
              <a:rPr lang="pt-BR" altLang="zh-CN" sz="2400" dirty="0">
                <a:solidFill>
                  <a:srgbClr val="FF0000"/>
                </a:solidFill>
              </a:rPr>
              <a:t>07H</a:t>
            </a:r>
            <a:r>
              <a:rPr lang="zh-CN" altLang="en-US" sz="2400" dirty="0">
                <a:solidFill>
                  <a:srgbClr val="FF00FF"/>
                </a:solidFill>
              </a:rPr>
              <a:t>的过程</a:t>
            </a:r>
            <a:r>
              <a:rPr lang="en-US" altLang="zh-CN" sz="2400" dirty="0">
                <a:solidFill>
                  <a:srgbClr val="FF00FF"/>
                </a:solidFill>
              </a:rPr>
              <a:t>:</a:t>
            </a:r>
            <a:endParaRPr lang="zh-CN" altLang="en-US" sz="2400" kern="0" dirty="0"/>
          </a:p>
        </p:txBody>
      </p:sp>
      <p:sp>
        <p:nvSpPr>
          <p:cNvPr id="3" name="灯片编号占位符 2">
            <a:extLst>
              <a:ext uri="{FF2B5EF4-FFF2-40B4-BE49-F238E27FC236}">
                <a16:creationId xmlns:a16="http://schemas.microsoft.com/office/drawing/2014/main" id="{231F8025-5E8B-49A6-9B51-2AD6330504D0}"/>
              </a:ext>
            </a:extLst>
          </p:cNvPr>
          <p:cNvSpPr>
            <a:spLocks noGrp="1"/>
          </p:cNvSpPr>
          <p:nvPr>
            <p:ph type="sldNum" sz="quarter" idx="12"/>
          </p:nvPr>
        </p:nvSpPr>
        <p:spPr/>
        <p:txBody>
          <a:bodyPr/>
          <a:lstStyle/>
          <a:p>
            <a:fld id="{22E77DEE-32E4-4009-988B-F2758F7B8AC2}" type="slidenum">
              <a:rPr lang="zh-CN" altLang="en-US" smtClean="0"/>
              <a:t>13</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A4718F6E-782C-425A-A2D1-622CF7F40FD9}"/>
              </a:ext>
            </a:extLst>
          </p:cNvPr>
          <p:cNvGraphicFramePr>
            <a:graphicFrameLocks noChangeAspect="1"/>
          </p:cNvGraphicFramePr>
          <p:nvPr>
            <p:extLst>
              <p:ext uri="{D42A27DB-BD31-4B8C-83A1-F6EECF244321}">
                <p14:modId xmlns:p14="http://schemas.microsoft.com/office/powerpoint/2010/main" val="1899959196"/>
              </p:ext>
            </p:extLst>
          </p:nvPr>
        </p:nvGraphicFramePr>
        <p:xfrm>
          <a:off x="4959070" y="3771395"/>
          <a:ext cx="3560233" cy="2494378"/>
        </p:xfrm>
        <a:graphic>
          <a:graphicData uri="http://schemas.openxmlformats.org/presentationml/2006/ole">
            <mc:AlternateContent xmlns:mc="http://schemas.openxmlformats.org/markup-compatibility/2006">
              <mc:Choice xmlns:v="urn:schemas-microsoft-com:vml" Requires="v">
                <p:oleObj name="Visio" r:id="rId2" imgW="3815715" imgH="2674620" progId="Visio.Drawing.11">
                  <p:embed/>
                </p:oleObj>
              </mc:Choice>
              <mc:Fallback>
                <p:oleObj name="Visio" r:id="rId2" imgW="3815715" imgH="2674620" progId="Visio.Drawing.11">
                  <p:embed/>
                  <p:pic>
                    <p:nvPicPr>
                      <p:cNvPr id="3" name="对象 2">
                        <a:extLst>
                          <a:ext uri="{FF2B5EF4-FFF2-40B4-BE49-F238E27FC236}">
                            <a16:creationId xmlns:a16="http://schemas.microsoft.com/office/drawing/2014/main" id="{A4718F6E-782C-425A-A2D1-622CF7F40F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9070" y="3771395"/>
                        <a:ext cx="3560233" cy="2494378"/>
                      </a:xfrm>
                      <a:prstGeom prst="rect">
                        <a:avLst/>
                      </a:prstGeom>
                      <a:solidFill>
                        <a:schemeClr val="bg1"/>
                      </a:solidFill>
                      <a:ln w="9525">
                        <a:solidFill>
                          <a:srgbClr val="FF00FF"/>
                        </a:solidFill>
                        <a:miter lim="800000"/>
                        <a:headEnd/>
                        <a:tailEnd/>
                      </a:ln>
                    </p:spPr>
                  </p:pic>
                </p:oleObj>
              </mc:Fallback>
            </mc:AlternateContent>
          </a:graphicData>
        </a:graphic>
      </p:graphicFrame>
      <p:sp>
        <p:nvSpPr>
          <p:cNvPr id="445443" name="Rectangle 3">
            <a:extLst>
              <a:ext uri="{FF2B5EF4-FFF2-40B4-BE49-F238E27FC236}">
                <a16:creationId xmlns:a16="http://schemas.microsoft.com/office/drawing/2014/main" id="{8BBF9198-08B7-4477-8512-E58B2FF0BAE4}"/>
              </a:ext>
            </a:extLst>
          </p:cNvPr>
          <p:cNvSpPr>
            <a:spLocks noGrp="1" noChangeArrowheads="1"/>
          </p:cNvSpPr>
          <p:nvPr>
            <p:ph idx="1"/>
          </p:nvPr>
        </p:nvSpPr>
        <p:spPr>
          <a:xfrm>
            <a:off x="578909" y="1240383"/>
            <a:ext cx="7849657" cy="3919538"/>
          </a:xfrm>
        </p:spPr>
        <p:txBody>
          <a:bodyPr/>
          <a:lstStyle/>
          <a:p>
            <a:pPr eaLnBrk="1" hangingPunct="1">
              <a:lnSpc>
                <a:spcPct val="105000"/>
              </a:lnSpc>
              <a:spcBef>
                <a:spcPts val="0"/>
              </a:spcBef>
              <a:defRPr/>
            </a:pPr>
            <a:r>
              <a:rPr lang="zh-CN" altLang="en-US" dirty="0"/>
              <a:t>执行第二条指令的取指过程与第一条相同</a:t>
            </a:r>
            <a:r>
              <a:rPr lang="en-US" altLang="zh-CN" dirty="0"/>
              <a:t>, </a:t>
            </a:r>
            <a:r>
              <a:rPr lang="zh-CN" altLang="en-US" dirty="0"/>
              <a:t>只是指令码地址不同。</a:t>
            </a:r>
          </a:p>
          <a:p>
            <a:pPr eaLnBrk="1" hangingPunct="1">
              <a:lnSpc>
                <a:spcPct val="105000"/>
              </a:lnSpc>
              <a:spcBef>
                <a:spcPts val="0"/>
              </a:spcBef>
              <a:defRPr/>
            </a:pPr>
            <a:r>
              <a:rPr lang="zh-CN" altLang="en-US" dirty="0">
                <a:solidFill>
                  <a:srgbClr val="FF0000"/>
                </a:solidFill>
              </a:rPr>
              <a:t>经过对第二条指令操作码</a:t>
            </a:r>
            <a:r>
              <a:rPr lang="en-US" altLang="zh-CN" dirty="0">
                <a:solidFill>
                  <a:srgbClr val="FF0000"/>
                </a:solidFill>
              </a:rPr>
              <a:t>(</a:t>
            </a:r>
            <a:r>
              <a:rPr lang="zh-CN" altLang="en-US" dirty="0">
                <a:solidFill>
                  <a:srgbClr val="FF0000"/>
                </a:solidFill>
              </a:rPr>
              <a:t>第</a:t>
            </a:r>
            <a:r>
              <a:rPr lang="en-US" altLang="zh-CN" dirty="0">
                <a:solidFill>
                  <a:srgbClr val="FF0000"/>
                </a:solidFill>
              </a:rPr>
              <a:t>1</a:t>
            </a:r>
            <a:r>
              <a:rPr lang="zh-CN" altLang="en-US" dirty="0">
                <a:solidFill>
                  <a:srgbClr val="FF0000"/>
                </a:solidFill>
              </a:rPr>
              <a:t>字节</a:t>
            </a:r>
            <a:r>
              <a:rPr lang="en-US" altLang="zh-CN" dirty="0">
                <a:solidFill>
                  <a:srgbClr val="FF0000"/>
                </a:solidFill>
              </a:rPr>
              <a:t>04H)</a:t>
            </a:r>
            <a:r>
              <a:rPr lang="zh-CN" altLang="en-US" dirty="0">
                <a:solidFill>
                  <a:srgbClr val="FF0000"/>
                </a:solidFill>
              </a:rPr>
              <a:t>的分析</a:t>
            </a:r>
            <a:r>
              <a:rPr lang="en-US" altLang="zh-CN" dirty="0">
                <a:solidFill>
                  <a:srgbClr val="FF0000"/>
                </a:solidFill>
              </a:rPr>
              <a:t>(</a:t>
            </a:r>
            <a:r>
              <a:rPr lang="zh-CN" altLang="en-US" dirty="0">
                <a:solidFill>
                  <a:srgbClr val="FF0000"/>
                </a:solidFill>
              </a:rPr>
              <a:t>译码</a:t>
            </a:r>
            <a:r>
              <a:rPr lang="en-US" altLang="zh-CN" dirty="0">
                <a:solidFill>
                  <a:srgbClr val="FF0000"/>
                </a:solidFill>
              </a:rPr>
              <a:t>)</a:t>
            </a:r>
            <a:r>
              <a:rPr lang="zh-CN" altLang="en-US" dirty="0"/>
              <a:t>得知该指令为加法指令</a:t>
            </a:r>
            <a:r>
              <a:rPr lang="en-US" altLang="zh-CN" dirty="0"/>
              <a:t>,</a:t>
            </a:r>
            <a:r>
              <a:rPr lang="zh-CN" altLang="en-US" dirty="0"/>
              <a:t>执行</a:t>
            </a:r>
            <a:r>
              <a:rPr lang="zh-CN" altLang="en-US" dirty="0">
                <a:solidFill>
                  <a:srgbClr val="FF0000"/>
                </a:solidFill>
              </a:rPr>
              <a:t>第</a:t>
            </a:r>
            <a:r>
              <a:rPr lang="en-US" altLang="zh-CN" dirty="0">
                <a:solidFill>
                  <a:srgbClr val="FF0000"/>
                </a:solidFill>
              </a:rPr>
              <a:t>2</a:t>
            </a:r>
            <a:r>
              <a:rPr lang="zh-CN" altLang="en-US" dirty="0">
                <a:solidFill>
                  <a:srgbClr val="FF0000"/>
                </a:solidFill>
              </a:rPr>
              <a:t>字节</a:t>
            </a:r>
            <a:r>
              <a:rPr lang="zh-CN" altLang="en-US" dirty="0"/>
              <a:t>过程如下：</a:t>
            </a:r>
          </a:p>
          <a:p>
            <a:pPr marL="536575" lvl="1" indent="-274638" eaLnBrk="1" hangingPunct="1">
              <a:lnSpc>
                <a:spcPct val="105000"/>
              </a:lnSpc>
              <a:spcBef>
                <a:spcPts val="0"/>
              </a:spcBef>
              <a:spcAft>
                <a:spcPts val="600"/>
              </a:spcAft>
              <a:defRPr/>
            </a:pPr>
            <a:r>
              <a:rPr lang="zh-CN" altLang="en-US" dirty="0"/>
              <a:t>①程序计数器</a:t>
            </a:r>
            <a:r>
              <a:rPr lang="en-US" altLang="zh-CN" dirty="0"/>
              <a:t>PC</a:t>
            </a:r>
            <a:r>
              <a:rPr lang="zh-CN" altLang="en-US" dirty="0"/>
              <a:t>的内容</a:t>
            </a:r>
            <a:r>
              <a:rPr lang="en-US" altLang="zh-CN" dirty="0"/>
              <a:t>(03H)</a:t>
            </a:r>
            <a:r>
              <a:rPr lang="zh-CN" altLang="en-US" dirty="0"/>
              <a:t>送</a:t>
            </a:r>
            <a:r>
              <a:rPr lang="en-US" altLang="zh-CN" dirty="0"/>
              <a:t>AR</a:t>
            </a:r>
            <a:r>
              <a:rPr lang="zh-CN" altLang="en-US" dirty="0"/>
              <a:t>。</a:t>
            </a:r>
          </a:p>
          <a:p>
            <a:pPr marL="536575" lvl="1" indent="-274638" eaLnBrk="1" hangingPunct="1">
              <a:lnSpc>
                <a:spcPct val="105000"/>
              </a:lnSpc>
              <a:spcBef>
                <a:spcPts val="0"/>
              </a:spcBef>
              <a:spcAft>
                <a:spcPts val="600"/>
              </a:spcAft>
              <a:defRPr/>
            </a:pPr>
            <a:r>
              <a:rPr lang="zh-CN" altLang="en-US" dirty="0"/>
              <a:t>②程序计数器</a:t>
            </a:r>
            <a:r>
              <a:rPr lang="en-US" altLang="zh-CN" dirty="0"/>
              <a:t>PC</a:t>
            </a:r>
            <a:r>
              <a:rPr lang="zh-CN" altLang="en-US" dirty="0"/>
              <a:t>的内容自动加</a:t>
            </a:r>
            <a:r>
              <a:rPr lang="en-US" altLang="zh-CN" dirty="0"/>
              <a:t>1</a:t>
            </a:r>
            <a:r>
              <a:rPr lang="zh-CN" altLang="en-US" dirty="0"/>
              <a:t>并回送</a:t>
            </a:r>
            <a:r>
              <a:rPr lang="en-US" altLang="zh-CN" dirty="0"/>
              <a:t>PC</a:t>
            </a:r>
            <a:r>
              <a:rPr lang="zh-CN" altLang="en-US" dirty="0"/>
              <a:t>。</a:t>
            </a:r>
          </a:p>
          <a:p>
            <a:pPr marL="536575" lvl="1" indent="-274638" eaLnBrk="1" hangingPunct="1">
              <a:lnSpc>
                <a:spcPct val="105000"/>
              </a:lnSpc>
              <a:spcBef>
                <a:spcPts val="0"/>
              </a:spcBef>
              <a:spcAft>
                <a:spcPts val="600"/>
              </a:spcAft>
              <a:defRPr/>
            </a:pPr>
            <a:r>
              <a:rPr lang="zh-CN" altLang="en-US" dirty="0"/>
              <a:t>③地址寄存器</a:t>
            </a:r>
            <a:r>
              <a:rPr lang="en-US" altLang="zh-CN" dirty="0"/>
              <a:t>AR</a:t>
            </a:r>
            <a:r>
              <a:rPr lang="zh-CN" altLang="en-US" dirty="0"/>
              <a:t>的内容经地址总线</a:t>
            </a:r>
            <a:r>
              <a:rPr lang="en-US" altLang="zh-CN" dirty="0"/>
              <a:t>AB</a:t>
            </a:r>
            <a:r>
              <a:rPr lang="zh-CN" altLang="en-US" dirty="0"/>
              <a:t>送到存储器地址译码器。</a:t>
            </a:r>
            <a:endParaRPr lang="en-US" altLang="zh-CN" sz="2400" dirty="0">
              <a:solidFill>
                <a:srgbClr val="3366FF"/>
              </a:solidFill>
            </a:endParaRPr>
          </a:p>
        </p:txBody>
      </p:sp>
      <p:sp>
        <p:nvSpPr>
          <p:cNvPr id="34819" name="标题 1">
            <a:extLst>
              <a:ext uri="{FF2B5EF4-FFF2-40B4-BE49-F238E27FC236}">
                <a16:creationId xmlns:a16="http://schemas.microsoft.com/office/drawing/2014/main" id="{7F081967-48F5-46F5-BFA2-EE59596A364E}"/>
              </a:ext>
            </a:extLst>
          </p:cNvPr>
          <p:cNvSpPr>
            <a:spLocks noGrp="1" noChangeArrowheads="1"/>
          </p:cNvSpPr>
          <p:nvPr>
            <p:ph type="title"/>
          </p:nvPr>
        </p:nvSpPr>
        <p:spPr>
          <a:xfrm>
            <a:off x="409576" y="476250"/>
            <a:ext cx="8052857" cy="504825"/>
          </a:xfrm>
        </p:spPr>
        <p:txBody>
          <a:bodyPr/>
          <a:lstStyle/>
          <a:p>
            <a:pPr eaLnBrk="1" hangingPunct="1"/>
            <a:r>
              <a:rPr lang="zh-CN" altLang="en-US" sz="2800" dirty="0">
                <a:solidFill>
                  <a:srgbClr val="FF0000"/>
                </a:solidFill>
                <a:latin typeface="Times New Roman" panose="02020603050405020304" pitchFamily="18" charset="0"/>
                <a:cs typeface="Times New Roman" panose="02020603050405020304" pitchFamily="18" charset="0"/>
              </a:rPr>
              <a:t>执行</a:t>
            </a:r>
            <a:r>
              <a:rPr lang="zh-CN" altLang="en-US" sz="2800" dirty="0">
                <a:latin typeface="Times New Roman" panose="02020603050405020304" pitchFamily="18" charset="0"/>
                <a:cs typeface="Times New Roman" panose="02020603050405020304" pitchFamily="18" charset="0"/>
              </a:rPr>
              <a:t>第二条指令 </a:t>
            </a:r>
            <a:r>
              <a:rPr lang="en-US" altLang="zh-CN" sz="2800" dirty="0">
                <a:latin typeface="Times New Roman" panose="02020603050405020304" pitchFamily="18" charset="0"/>
                <a:cs typeface="Times New Roman" panose="02020603050405020304" pitchFamily="18" charset="0"/>
              </a:rPr>
              <a:t>“</a:t>
            </a:r>
            <a:r>
              <a:rPr lang="en-US" altLang="zh-CN" sz="2800" dirty="0">
                <a:solidFill>
                  <a:schemeClr val="tx1"/>
                </a:solidFill>
                <a:latin typeface="Times New Roman" panose="02020603050405020304" pitchFamily="18" charset="0"/>
                <a:cs typeface="Times New Roman" panose="02020603050405020304" pitchFamily="18" charset="0"/>
              </a:rPr>
              <a:t>ADD A, </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dirty="0">
                <a:solidFill>
                  <a:schemeClr val="tx1"/>
                </a:solidFill>
                <a:latin typeface="Times New Roman" panose="02020603050405020304" pitchFamily="18" charset="0"/>
                <a:cs typeface="Times New Roman" panose="02020603050405020304" pitchFamily="18" charset="0"/>
              </a:rPr>
              <a:t>0AH</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机器码</a:t>
            </a:r>
            <a:r>
              <a:rPr lang="en-US" altLang="zh-CN" sz="2800" dirty="0">
                <a:latin typeface="Times New Roman" panose="02020603050405020304" pitchFamily="18" charset="0"/>
                <a:cs typeface="Times New Roman" panose="02020603050405020304" pitchFamily="18" charset="0"/>
              </a:rPr>
              <a:t>: </a:t>
            </a:r>
            <a:r>
              <a:rPr lang="en-US" altLang="zh-CN" sz="2800" dirty="0">
                <a:solidFill>
                  <a:srgbClr val="FF0000"/>
                </a:solidFill>
                <a:latin typeface="Times New Roman" panose="02020603050405020304" pitchFamily="18" charset="0"/>
                <a:cs typeface="Times New Roman" panose="02020603050405020304" pitchFamily="18" charset="0"/>
              </a:rPr>
              <a:t>04H</a:t>
            </a:r>
            <a:r>
              <a:rPr lang="en-US" altLang="zh-CN" sz="2800" dirty="0">
                <a:solidFill>
                  <a:schemeClr val="tx1"/>
                </a:solidFill>
                <a:latin typeface="Times New Roman" panose="02020603050405020304" pitchFamily="18" charset="0"/>
                <a:cs typeface="Times New Roman" panose="02020603050405020304" pitchFamily="18" charset="0"/>
              </a:rPr>
              <a:t>  </a:t>
            </a:r>
            <a:r>
              <a:rPr lang="en-US" altLang="zh-CN" sz="2800" dirty="0">
                <a:solidFill>
                  <a:srgbClr val="FF0000"/>
                </a:solidFill>
                <a:latin typeface="Times New Roman" panose="02020603050405020304" pitchFamily="18" charset="0"/>
                <a:cs typeface="Times New Roman" panose="02020603050405020304" pitchFamily="18" charset="0"/>
              </a:rPr>
              <a:t>0AH</a:t>
            </a:r>
            <a:r>
              <a:rPr lang="en-US" altLang="zh-CN" sz="2800" dirty="0">
                <a:latin typeface="Times New Roman" panose="02020603050405020304" pitchFamily="18" charset="0"/>
                <a:cs typeface="Times New Roman" panose="02020603050405020304" pitchFamily="18" charset="0"/>
              </a:rPr>
              <a:t>)</a:t>
            </a:r>
            <a:endParaRPr lang="zh-CN" altLang="en-US" sz="2800" dirty="0">
              <a:latin typeface="Times New Roman" panose="02020603050405020304" pitchFamily="18" charset="0"/>
              <a:cs typeface="Times New Roman" panose="02020603050405020304" pitchFamily="18" charset="0"/>
            </a:endParaRPr>
          </a:p>
        </p:txBody>
      </p:sp>
      <p:sp>
        <p:nvSpPr>
          <p:cNvPr id="5" name="Rectangle 3">
            <a:extLst>
              <a:ext uri="{FF2B5EF4-FFF2-40B4-BE49-F238E27FC236}">
                <a16:creationId xmlns:a16="http://schemas.microsoft.com/office/drawing/2014/main" id="{5CC618FA-D2B2-42EB-8BD0-0AD80CC4DC9D}"/>
              </a:ext>
            </a:extLst>
          </p:cNvPr>
          <p:cNvSpPr txBox="1">
            <a:spLocks noChangeArrowheads="1"/>
          </p:cNvSpPr>
          <p:nvPr/>
        </p:nvSpPr>
        <p:spPr bwMode="auto">
          <a:xfrm>
            <a:off x="275696" y="3459965"/>
            <a:ext cx="4253972"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Blip>
                <a:blip r:embed="rId4"/>
              </a:buBlip>
              <a:defRPr sz="3200" b="1">
                <a:solidFill>
                  <a:schemeClr val="accent2"/>
                </a:solidFill>
                <a:latin typeface="Times New Roman" panose="02020603050405020304" pitchFamily="18" charset="0"/>
                <a:ea typeface="宋体" panose="02010600030101010101" pitchFamily="2" charset="-122"/>
                <a:cs typeface="Times New Roman" panose="02020603050405020304" pitchFamily="18" charset="0"/>
              </a:defRPr>
            </a:lvl1pPr>
            <a:lvl2pPr marL="742950" indent="-285750" algn="just">
              <a:spcBef>
                <a:spcPct val="20000"/>
              </a:spcBef>
              <a:buBlip>
                <a:blip r:embed="rId5"/>
              </a:buBlip>
              <a:defRPr sz="2800" b="1">
                <a:solidFill>
                  <a:schemeClr val="tx1"/>
                </a:solidFill>
                <a:latin typeface="Arial" panose="020B0604020202020204" pitchFamily="34" charset="0"/>
                <a:ea typeface="宋体" panose="02010600030101010101" pitchFamily="2" charset="-122"/>
              </a:defRPr>
            </a:lvl2pPr>
            <a:lvl3pPr marL="1143000" indent="-228600" algn="just">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lgn="just">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lgn="just">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algn="just"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lvl="1" eaLnBrk="1" hangingPunct="1">
              <a:spcBef>
                <a:spcPct val="0"/>
              </a:spcBef>
              <a:spcAft>
                <a:spcPts val="600"/>
              </a:spcAft>
            </a:pPr>
            <a:r>
              <a:rPr lang="zh-CN" altLang="en-US" sz="1600" dirty="0">
                <a:latin typeface="宋体" panose="02010600030101010101" pitchFamily="2" charset="-122"/>
              </a:rPr>
              <a:t>④</a:t>
            </a:r>
            <a:r>
              <a:rPr lang="en-US" altLang="zh-CN" sz="1600" dirty="0">
                <a:latin typeface="宋体" panose="02010600030101010101" pitchFamily="2" charset="-122"/>
              </a:rPr>
              <a:t>CPU</a:t>
            </a:r>
            <a:r>
              <a:rPr lang="zh-CN" altLang="en-US" sz="1600" dirty="0">
                <a:latin typeface="宋体" panose="02010600030101010101" pitchFamily="2" charset="-122"/>
              </a:rPr>
              <a:t>发出“读”命令。</a:t>
            </a:r>
          </a:p>
          <a:p>
            <a:pPr lvl="1" eaLnBrk="1" hangingPunct="1">
              <a:spcBef>
                <a:spcPct val="0"/>
              </a:spcBef>
              <a:spcAft>
                <a:spcPts val="600"/>
              </a:spcAft>
            </a:pPr>
            <a:r>
              <a:rPr lang="zh-CN" altLang="en-US" sz="1600" dirty="0">
                <a:latin typeface="宋体" panose="02010600030101010101" pitchFamily="2" charset="-122"/>
              </a:rPr>
              <a:t>⑤所选中的</a:t>
            </a:r>
            <a:r>
              <a:rPr lang="en-US" altLang="zh-CN" sz="1600" dirty="0">
                <a:latin typeface="宋体" panose="02010600030101010101" pitchFamily="2" charset="-122"/>
              </a:rPr>
              <a:t>03H</a:t>
            </a:r>
            <a:r>
              <a:rPr lang="zh-CN" altLang="en-US" sz="1600" dirty="0">
                <a:latin typeface="宋体" panose="02010600030101010101" pitchFamily="2" charset="-122"/>
              </a:rPr>
              <a:t>单元的内容</a:t>
            </a:r>
            <a:r>
              <a:rPr lang="en-US" altLang="zh-CN" sz="1600" dirty="0">
                <a:latin typeface="宋体" panose="02010600030101010101" pitchFamily="2" charset="-122"/>
              </a:rPr>
              <a:t>0AH</a:t>
            </a:r>
            <a:r>
              <a:rPr lang="zh-CN" altLang="en-US" sz="1600" dirty="0">
                <a:latin typeface="宋体" panose="02010600030101010101" pitchFamily="2" charset="-122"/>
              </a:rPr>
              <a:t>送到数据总线</a:t>
            </a:r>
            <a:r>
              <a:rPr lang="en-US" altLang="zh-CN" sz="1600" dirty="0">
                <a:latin typeface="宋体" panose="02010600030101010101" pitchFamily="2" charset="-122"/>
              </a:rPr>
              <a:t>DB</a:t>
            </a:r>
            <a:r>
              <a:rPr lang="zh-CN" altLang="en-US" sz="1600" dirty="0">
                <a:latin typeface="宋体" panose="02010600030101010101" pitchFamily="2" charset="-122"/>
              </a:rPr>
              <a:t>。</a:t>
            </a:r>
          </a:p>
          <a:p>
            <a:pPr lvl="1" eaLnBrk="1" hangingPunct="1">
              <a:spcBef>
                <a:spcPct val="0"/>
              </a:spcBef>
              <a:spcAft>
                <a:spcPts val="600"/>
              </a:spcAft>
            </a:pPr>
            <a:r>
              <a:rPr lang="zh-CN" altLang="en-US" sz="1600" dirty="0">
                <a:latin typeface="宋体" panose="02010600030101010101" pitchFamily="2" charset="-122"/>
              </a:rPr>
              <a:t>⑥数据总线</a:t>
            </a:r>
            <a:r>
              <a:rPr lang="en-US" altLang="zh-CN" sz="1600" dirty="0">
                <a:latin typeface="宋体" panose="02010600030101010101" pitchFamily="2" charset="-122"/>
              </a:rPr>
              <a:t>DB</a:t>
            </a:r>
            <a:r>
              <a:rPr lang="zh-CN" altLang="en-US" sz="1600" dirty="0">
                <a:latin typeface="宋体" panose="02010600030101010101" pitchFamily="2" charset="-122"/>
              </a:rPr>
              <a:t>上的内容送数据寄存器</a:t>
            </a:r>
            <a:r>
              <a:rPr lang="en-US" altLang="zh-CN" sz="1600" dirty="0">
                <a:latin typeface="宋体" panose="02010600030101010101" pitchFamily="2" charset="-122"/>
              </a:rPr>
              <a:t>DR</a:t>
            </a:r>
            <a:r>
              <a:rPr lang="zh-CN" altLang="en-US" sz="1600" dirty="0">
                <a:latin typeface="宋体" panose="02010600030101010101" pitchFamily="2" charset="-122"/>
              </a:rPr>
              <a:t>。</a:t>
            </a:r>
          </a:p>
        </p:txBody>
      </p:sp>
      <p:graphicFrame>
        <p:nvGraphicFramePr>
          <p:cNvPr id="7" name="Group 72">
            <a:extLst>
              <a:ext uri="{FF2B5EF4-FFF2-40B4-BE49-F238E27FC236}">
                <a16:creationId xmlns:a16="http://schemas.microsoft.com/office/drawing/2014/main" id="{E4BC03E4-44F3-452D-84EB-9C6D5E4DC616}"/>
              </a:ext>
            </a:extLst>
          </p:cNvPr>
          <p:cNvGraphicFramePr>
            <a:graphicFrameLocks noGrp="1"/>
          </p:cNvGraphicFramePr>
          <p:nvPr>
            <p:extLst>
              <p:ext uri="{D42A27DB-BD31-4B8C-83A1-F6EECF244321}">
                <p14:modId xmlns:p14="http://schemas.microsoft.com/office/powerpoint/2010/main" val="3082334373"/>
              </p:ext>
            </p:extLst>
          </p:nvPr>
        </p:nvGraphicFramePr>
        <p:xfrm>
          <a:off x="7189788" y="2162969"/>
          <a:ext cx="1654175" cy="1555750"/>
        </p:xfrm>
        <a:graphic>
          <a:graphicData uri="http://schemas.openxmlformats.org/drawingml/2006/table">
            <a:tbl>
              <a:tblPr/>
              <a:tblGrid>
                <a:gridCol w="669146">
                  <a:extLst>
                    <a:ext uri="{9D8B030D-6E8A-4147-A177-3AD203B41FA5}">
                      <a16:colId xmlns:a16="http://schemas.microsoft.com/office/drawing/2014/main" val="20000"/>
                    </a:ext>
                  </a:extLst>
                </a:gridCol>
                <a:gridCol w="985029">
                  <a:extLst>
                    <a:ext uri="{9D8B030D-6E8A-4147-A177-3AD203B41FA5}">
                      <a16:colId xmlns:a16="http://schemas.microsoft.com/office/drawing/2014/main" val="20001"/>
                    </a:ext>
                  </a:extLst>
                </a:gridCol>
              </a:tblGrid>
              <a:tr h="31115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a:ln>
                            <a:noFill/>
                          </a:ln>
                          <a:solidFill>
                            <a:srgbClr val="0000CC"/>
                          </a:solidFill>
                          <a:effectLst/>
                          <a:latin typeface="Times New Roman" pitchFamily="18" charset="0"/>
                          <a:ea typeface="宋体" charset="-122"/>
                          <a:cs typeface="Times New Roman" pitchFamily="18" charset="0"/>
                        </a:rPr>
                        <a:t>00H</a:t>
                      </a:r>
                    </a:p>
                  </a:txBody>
                  <a:tcPr marL="0" marR="0"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a:ln>
                            <a:noFill/>
                          </a:ln>
                          <a:solidFill>
                            <a:srgbClr val="9900CC"/>
                          </a:solidFill>
                          <a:effectLst/>
                          <a:latin typeface="Times New Roman" pitchFamily="18" charset="0"/>
                          <a:ea typeface="宋体" charset="-122"/>
                          <a:cs typeface="Times New Roman" pitchFamily="18" charset="0"/>
                        </a:rPr>
                        <a:t>B0H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115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a:ln>
                            <a:noFill/>
                          </a:ln>
                          <a:solidFill>
                            <a:srgbClr val="0000CC"/>
                          </a:solidFill>
                          <a:effectLst/>
                          <a:latin typeface="Times New Roman" pitchFamily="18" charset="0"/>
                          <a:ea typeface="宋体" charset="-122"/>
                          <a:cs typeface="Times New Roman" pitchFamily="18" charset="0"/>
                        </a:rPr>
                        <a:t>01H</a:t>
                      </a:r>
                    </a:p>
                  </a:txBody>
                  <a:tcPr marL="0" marR="0"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a:ln>
                            <a:noFill/>
                          </a:ln>
                          <a:solidFill>
                            <a:srgbClr val="9900CC"/>
                          </a:solidFill>
                          <a:effectLst/>
                          <a:latin typeface="Times New Roman" pitchFamily="18" charset="0"/>
                          <a:ea typeface="宋体" charset="-122"/>
                          <a:cs typeface="Times New Roman" pitchFamily="18" charset="0"/>
                        </a:rPr>
                        <a:t>07H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115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dirty="0">
                          <a:ln>
                            <a:noFill/>
                          </a:ln>
                          <a:solidFill>
                            <a:srgbClr val="0000CC"/>
                          </a:solidFill>
                          <a:effectLst/>
                          <a:latin typeface="Times New Roman" pitchFamily="18" charset="0"/>
                          <a:ea typeface="宋体" charset="-122"/>
                          <a:cs typeface="Times New Roman" pitchFamily="18" charset="0"/>
                        </a:rPr>
                        <a:t>02H</a:t>
                      </a:r>
                    </a:p>
                  </a:txBody>
                  <a:tcPr marL="0" marR="0"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dirty="0">
                          <a:ln>
                            <a:noFill/>
                          </a:ln>
                          <a:solidFill>
                            <a:srgbClr val="9900CC"/>
                          </a:solidFill>
                          <a:effectLst/>
                          <a:latin typeface="Times New Roman" pitchFamily="18" charset="0"/>
                          <a:ea typeface="宋体" charset="-122"/>
                          <a:cs typeface="Times New Roman" pitchFamily="18" charset="0"/>
                        </a:rPr>
                        <a:t>04H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115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a:ln>
                            <a:noFill/>
                          </a:ln>
                          <a:solidFill>
                            <a:srgbClr val="0000CC"/>
                          </a:solidFill>
                          <a:effectLst/>
                          <a:latin typeface="Times New Roman" pitchFamily="18" charset="0"/>
                          <a:ea typeface="宋体" charset="-122"/>
                          <a:cs typeface="Times New Roman" pitchFamily="18" charset="0"/>
                        </a:rPr>
                        <a:t>03H</a:t>
                      </a:r>
                    </a:p>
                  </a:txBody>
                  <a:tcPr marL="0" marR="0"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a:ln>
                            <a:noFill/>
                          </a:ln>
                          <a:solidFill>
                            <a:srgbClr val="FF0000"/>
                          </a:solidFill>
                          <a:effectLst/>
                          <a:latin typeface="Times New Roman" pitchFamily="18" charset="0"/>
                          <a:ea typeface="宋体" charset="-122"/>
                          <a:cs typeface="Times New Roman" pitchFamily="18" charset="0"/>
                        </a:rPr>
                        <a:t>0AH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115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dirty="0">
                          <a:ln>
                            <a:noFill/>
                          </a:ln>
                          <a:solidFill>
                            <a:srgbClr val="0000CC"/>
                          </a:solidFill>
                          <a:effectLst/>
                          <a:latin typeface="Times New Roman" pitchFamily="18" charset="0"/>
                          <a:ea typeface="宋体" charset="-122"/>
                          <a:cs typeface="Times New Roman" pitchFamily="18" charset="0"/>
                        </a:rPr>
                        <a:t>04H</a:t>
                      </a:r>
                    </a:p>
                  </a:txBody>
                  <a:tcPr marL="0" marR="0" marT="0" marB="0"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en-US" altLang="zh-CN" sz="2400" b="1" i="0" u="none" strike="noStrike" cap="none" normalizeH="0" baseline="0" dirty="0">
                          <a:ln>
                            <a:noFill/>
                          </a:ln>
                          <a:solidFill>
                            <a:srgbClr val="9900CC"/>
                          </a:solidFill>
                          <a:effectLst/>
                          <a:latin typeface="Times New Roman" pitchFamily="18" charset="0"/>
                          <a:ea typeface="宋体" charset="-122"/>
                          <a:cs typeface="Times New Roman" pitchFamily="18" charset="0"/>
                        </a:rPr>
                        <a:t>F4H</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cxnSp>
        <p:nvCxnSpPr>
          <p:cNvPr id="8" name="直接箭头连接符 7">
            <a:extLst>
              <a:ext uri="{FF2B5EF4-FFF2-40B4-BE49-F238E27FC236}">
                <a16:creationId xmlns:a16="http://schemas.microsoft.com/office/drawing/2014/main" id="{FD021C8E-B3B1-4A3B-865C-4BF1277CA30C}"/>
              </a:ext>
            </a:extLst>
          </p:cNvPr>
          <p:cNvCxnSpPr>
            <a:cxnSpLocks noChangeShapeType="1"/>
          </p:cNvCxnSpPr>
          <p:nvPr/>
        </p:nvCxnSpPr>
        <p:spPr bwMode="auto">
          <a:xfrm>
            <a:off x="5401734" y="2767806"/>
            <a:ext cx="1642533" cy="754327"/>
          </a:xfrm>
          <a:prstGeom prst="straightConnector1">
            <a:avLst/>
          </a:prstGeom>
          <a:noFill/>
          <a:ln w="9525"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接箭头连接符 10">
            <a:extLst>
              <a:ext uri="{FF2B5EF4-FFF2-40B4-BE49-F238E27FC236}">
                <a16:creationId xmlns:a16="http://schemas.microsoft.com/office/drawing/2014/main" id="{DA602E01-7330-4911-97E4-B68C03FA4F6E}"/>
              </a:ext>
            </a:extLst>
          </p:cNvPr>
          <p:cNvCxnSpPr>
            <a:cxnSpLocks noChangeShapeType="1"/>
          </p:cNvCxnSpPr>
          <p:nvPr/>
        </p:nvCxnSpPr>
        <p:spPr bwMode="auto">
          <a:xfrm>
            <a:off x="5137150" y="2445279"/>
            <a:ext cx="2003425" cy="645054"/>
          </a:xfrm>
          <a:prstGeom prst="straightConnector1">
            <a:avLst/>
          </a:prstGeom>
          <a:noFill/>
          <a:ln w="9525"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 name="矩形 9">
            <a:extLst>
              <a:ext uri="{FF2B5EF4-FFF2-40B4-BE49-F238E27FC236}">
                <a16:creationId xmlns:a16="http://schemas.microsoft.com/office/drawing/2014/main" id="{CE4BFAC7-6D6B-43F4-BB1E-2BE0D1DE76AA}"/>
              </a:ext>
            </a:extLst>
          </p:cNvPr>
          <p:cNvSpPr>
            <a:spLocks noChangeArrowheads="1"/>
          </p:cNvSpPr>
          <p:nvPr/>
        </p:nvSpPr>
        <p:spPr bwMode="auto">
          <a:xfrm>
            <a:off x="5196168" y="4961496"/>
            <a:ext cx="7969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地址译码</a:t>
            </a:r>
          </a:p>
        </p:txBody>
      </p:sp>
      <p:sp>
        <p:nvSpPr>
          <p:cNvPr id="12" name="灯片编号占位符 11">
            <a:extLst>
              <a:ext uri="{FF2B5EF4-FFF2-40B4-BE49-F238E27FC236}">
                <a16:creationId xmlns:a16="http://schemas.microsoft.com/office/drawing/2014/main" id="{BEC2DFA5-A2AE-4D04-AB71-112E4EFC637E}"/>
              </a:ext>
            </a:extLst>
          </p:cNvPr>
          <p:cNvSpPr>
            <a:spLocks noGrp="1"/>
          </p:cNvSpPr>
          <p:nvPr>
            <p:ph type="sldNum" sz="quarter" idx="12"/>
          </p:nvPr>
        </p:nvSpPr>
        <p:spPr/>
        <p:txBody>
          <a:bodyPr/>
          <a:lstStyle/>
          <a:p>
            <a:fld id="{22E77DEE-32E4-4009-988B-F2758F7B8AC2}" type="slidenum">
              <a:rPr lang="zh-CN" altLang="en-US" smtClean="0"/>
              <a:t>14</a:t>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AC5AE6EF-FDA5-43F8-A60D-54CBEC918FFD}"/>
              </a:ext>
            </a:extLst>
          </p:cNvPr>
          <p:cNvSpPr>
            <a:spLocks noGrp="1" noChangeArrowheads="1"/>
          </p:cNvSpPr>
          <p:nvPr>
            <p:ph type="title"/>
          </p:nvPr>
        </p:nvSpPr>
        <p:spPr>
          <a:xfrm>
            <a:off x="373592" y="554946"/>
            <a:ext cx="8021108" cy="504825"/>
          </a:xfrm>
        </p:spPr>
        <p:txBody>
          <a:bodyPr/>
          <a:lstStyle/>
          <a:p>
            <a:pPr eaLnBrk="1" hangingPunct="1"/>
            <a:r>
              <a:rPr lang="zh-CN" altLang="en-US" sz="2800" dirty="0">
                <a:latin typeface="Times New Roman" panose="02020603050405020304" pitchFamily="18" charset="0"/>
                <a:cs typeface="Times New Roman" panose="02020603050405020304" pitchFamily="18" charset="0"/>
              </a:rPr>
              <a:t>执行第二条指令 </a:t>
            </a:r>
            <a:r>
              <a:rPr lang="en-US" altLang="zh-CN" sz="2800" dirty="0">
                <a:latin typeface="Times New Roman" panose="02020603050405020304" pitchFamily="18" charset="0"/>
                <a:cs typeface="Times New Roman" panose="02020603050405020304" pitchFamily="18" charset="0"/>
              </a:rPr>
              <a:t>“</a:t>
            </a:r>
            <a:r>
              <a:rPr lang="en-US" altLang="zh-CN" sz="2800" dirty="0">
                <a:solidFill>
                  <a:schemeClr val="tx1"/>
                </a:solidFill>
                <a:latin typeface="Times New Roman" panose="02020603050405020304" pitchFamily="18" charset="0"/>
                <a:cs typeface="Times New Roman" panose="02020603050405020304" pitchFamily="18" charset="0"/>
              </a:rPr>
              <a:t>ADD A, </a:t>
            </a:r>
            <a:r>
              <a:rPr lang="en-US" altLang="zh-CN" sz="2800" dirty="0">
                <a:solidFill>
                  <a:srgbClr val="FF0000"/>
                </a:solidFill>
                <a:latin typeface="Times New Roman" panose="02020603050405020304" pitchFamily="18" charset="0"/>
                <a:cs typeface="Times New Roman" panose="02020603050405020304" pitchFamily="18" charset="0"/>
              </a:rPr>
              <a:t>#</a:t>
            </a:r>
            <a:r>
              <a:rPr lang="en-US" altLang="zh-CN" sz="2800" dirty="0">
                <a:solidFill>
                  <a:schemeClr val="tx1"/>
                </a:solidFill>
                <a:latin typeface="Times New Roman" panose="02020603050405020304" pitchFamily="18" charset="0"/>
                <a:cs typeface="Times New Roman" panose="02020603050405020304" pitchFamily="18" charset="0"/>
              </a:rPr>
              <a:t>0AH</a:t>
            </a:r>
            <a:r>
              <a:rPr lang="en-US" altLang="zh-CN" sz="2800" dirty="0">
                <a:latin typeface="Times New Roman" panose="02020603050405020304" pitchFamily="18" charset="0"/>
                <a:cs typeface="Times New Roman" panose="02020603050405020304" pitchFamily="18" charset="0"/>
              </a:rPr>
              <a:t>”(</a:t>
            </a:r>
            <a:r>
              <a:rPr lang="zh-CN" altLang="en-US" sz="2800" dirty="0">
                <a:latin typeface="Times New Roman" panose="02020603050405020304" pitchFamily="18" charset="0"/>
                <a:cs typeface="Times New Roman" panose="02020603050405020304" pitchFamily="18" charset="0"/>
              </a:rPr>
              <a:t>机器码</a:t>
            </a:r>
            <a:r>
              <a:rPr lang="en-US" altLang="zh-CN" sz="2800" dirty="0">
                <a:latin typeface="Times New Roman" panose="02020603050405020304" pitchFamily="18" charset="0"/>
                <a:cs typeface="Times New Roman" panose="02020603050405020304" pitchFamily="18" charset="0"/>
              </a:rPr>
              <a:t>: </a:t>
            </a:r>
            <a:r>
              <a:rPr lang="en-US" altLang="zh-CN" sz="2800" dirty="0">
                <a:solidFill>
                  <a:schemeClr val="tx1"/>
                </a:solidFill>
                <a:latin typeface="Times New Roman" panose="02020603050405020304" pitchFamily="18" charset="0"/>
                <a:cs typeface="Times New Roman" panose="02020603050405020304" pitchFamily="18" charset="0"/>
              </a:rPr>
              <a:t>04H  0AH</a:t>
            </a:r>
            <a:r>
              <a:rPr lang="en-US" altLang="zh-CN" sz="2800" dirty="0">
                <a:latin typeface="Times New Roman" panose="02020603050405020304" pitchFamily="18" charset="0"/>
                <a:cs typeface="Times New Roman" panose="02020603050405020304" pitchFamily="18" charset="0"/>
              </a:rPr>
              <a:t>)</a:t>
            </a:r>
            <a:endParaRPr lang="zh-CN" altLang="en-US" sz="2800" dirty="0"/>
          </a:p>
        </p:txBody>
      </p:sp>
      <p:sp>
        <p:nvSpPr>
          <p:cNvPr id="5" name="Rectangle 7">
            <a:extLst>
              <a:ext uri="{FF2B5EF4-FFF2-40B4-BE49-F238E27FC236}">
                <a16:creationId xmlns:a16="http://schemas.microsoft.com/office/drawing/2014/main" id="{59974201-4A9E-4E3E-9AE1-57D61659B916}"/>
              </a:ext>
            </a:extLst>
          </p:cNvPr>
          <p:cNvSpPr>
            <a:spLocks noChangeArrowheads="1"/>
          </p:cNvSpPr>
          <p:nvPr/>
        </p:nvSpPr>
        <p:spPr bwMode="auto">
          <a:xfrm>
            <a:off x="246063" y="4772025"/>
            <a:ext cx="2525712" cy="830263"/>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990033"/>
                </a:solidFill>
              </a:rPr>
              <a:t>图</a:t>
            </a:r>
            <a:r>
              <a:rPr lang="en-US" altLang="zh-CN" sz="2400" b="1">
                <a:solidFill>
                  <a:srgbClr val="990033"/>
                </a:solidFill>
              </a:rPr>
              <a:t>3-6 </a:t>
            </a:r>
            <a:r>
              <a:rPr lang="zh-CN" altLang="en-US" sz="2400" b="1">
                <a:solidFill>
                  <a:srgbClr val="990033"/>
                </a:solidFill>
              </a:rPr>
              <a:t>执行第二条指令操作示意图</a:t>
            </a:r>
          </a:p>
        </p:txBody>
      </p:sp>
      <p:graphicFrame>
        <p:nvGraphicFramePr>
          <p:cNvPr id="6" name="Object 121">
            <a:extLst>
              <a:ext uri="{FF2B5EF4-FFF2-40B4-BE49-F238E27FC236}">
                <a16:creationId xmlns:a16="http://schemas.microsoft.com/office/drawing/2014/main" id="{BE9EEF8A-2AA9-45BC-B211-D60E5FAAD01C}"/>
              </a:ext>
            </a:extLst>
          </p:cNvPr>
          <p:cNvGraphicFramePr>
            <a:graphicFrameLocks noChangeAspect="1"/>
          </p:cNvGraphicFramePr>
          <p:nvPr>
            <p:extLst>
              <p:ext uri="{D42A27DB-BD31-4B8C-83A1-F6EECF244321}">
                <p14:modId xmlns:p14="http://schemas.microsoft.com/office/powerpoint/2010/main" val="846338716"/>
              </p:ext>
            </p:extLst>
          </p:nvPr>
        </p:nvGraphicFramePr>
        <p:xfrm>
          <a:off x="3060701" y="2085234"/>
          <a:ext cx="5593290" cy="3919079"/>
        </p:xfrm>
        <a:graphic>
          <a:graphicData uri="http://schemas.openxmlformats.org/presentationml/2006/ole">
            <mc:AlternateContent xmlns:mc="http://schemas.openxmlformats.org/markup-compatibility/2006">
              <mc:Choice xmlns:v="urn:schemas-microsoft-com:vml" Requires="v">
                <p:oleObj name="Visio" r:id="rId2" imgW="3815715" imgH="2674620" progId="Visio.Drawing.11">
                  <p:embed/>
                </p:oleObj>
              </mc:Choice>
              <mc:Fallback>
                <p:oleObj name="Visio" r:id="rId2" imgW="3815715" imgH="2674620" progId="Visio.Drawing.11">
                  <p:embed/>
                  <p:pic>
                    <p:nvPicPr>
                      <p:cNvPr id="6" name="Object 121">
                        <a:extLst>
                          <a:ext uri="{FF2B5EF4-FFF2-40B4-BE49-F238E27FC236}">
                            <a16:creationId xmlns:a16="http://schemas.microsoft.com/office/drawing/2014/main" id="{BE9EEF8A-2AA9-45BC-B211-D60E5FAAD0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0701" y="2085234"/>
                        <a:ext cx="5593290" cy="3919079"/>
                      </a:xfrm>
                      <a:prstGeom prst="rect">
                        <a:avLst/>
                      </a:prstGeom>
                      <a:solidFill>
                        <a:schemeClr val="bg1"/>
                      </a:solidFill>
                      <a:ln>
                        <a:noFill/>
                      </a:ln>
                    </p:spPr>
                  </p:pic>
                </p:oleObj>
              </mc:Fallback>
            </mc:AlternateContent>
          </a:graphicData>
        </a:graphic>
      </p:graphicFrame>
      <p:sp>
        <p:nvSpPr>
          <p:cNvPr id="630787" name="Rectangle 3">
            <a:extLst>
              <a:ext uri="{FF2B5EF4-FFF2-40B4-BE49-F238E27FC236}">
                <a16:creationId xmlns:a16="http://schemas.microsoft.com/office/drawing/2014/main" id="{01A53814-7A6D-471B-A12E-407B65843163}"/>
              </a:ext>
            </a:extLst>
          </p:cNvPr>
          <p:cNvSpPr>
            <a:spLocks noGrp="1" noChangeArrowheads="1"/>
          </p:cNvSpPr>
          <p:nvPr>
            <p:ph idx="1"/>
          </p:nvPr>
        </p:nvSpPr>
        <p:spPr>
          <a:xfrm>
            <a:off x="448734" y="1234281"/>
            <a:ext cx="5933008" cy="1051471"/>
          </a:xfrm>
        </p:spPr>
        <p:txBody>
          <a:bodyPr/>
          <a:lstStyle/>
          <a:p>
            <a:pPr marL="261938" lvl="1" indent="-261938" algn="l" eaLnBrk="1" hangingPunct="1">
              <a:defRPr/>
            </a:pPr>
            <a:r>
              <a:rPr lang="zh-CN" altLang="en-US" spc="-150" dirty="0"/>
              <a:t>⑦数据寄存器</a:t>
            </a:r>
            <a:r>
              <a:rPr lang="en-US" altLang="zh-CN" spc="-150" dirty="0"/>
              <a:t>DR</a:t>
            </a:r>
            <a:r>
              <a:rPr lang="zh-CN" altLang="en-US" spc="-150" dirty="0"/>
              <a:t>内容</a:t>
            </a:r>
            <a:r>
              <a:rPr lang="zh-CN" altLang="en-US" spc="-150" dirty="0">
                <a:solidFill>
                  <a:srgbClr val="0000FF"/>
                </a:solidFill>
              </a:rPr>
              <a:t>送</a:t>
            </a:r>
            <a:r>
              <a:rPr lang="en-US" altLang="zh-CN" spc="-150" dirty="0">
                <a:solidFill>
                  <a:srgbClr val="0000FF"/>
                </a:solidFill>
              </a:rPr>
              <a:t>B</a:t>
            </a:r>
            <a:r>
              <a:rPr lang="zh-CN" altLang="en-US" spc="-150" dirty="0">
                <a:solidFill>
                  <a:srgbClr val="0000FF"/>
                </a:solidFill>
              </a:rPr>
              <a:t>寄存器</a:t>
            </a:r>
            <a:r>
              <a:rPr lang="en-US" altLang="zh-CN" spc="-150" dirty="0">
                <a:solidFill>
                  <a:srgbClr val="0000FF"/>
                </a:solidFill>
              </a:rPr>
              <a:t>,</a:t>
            </a:r>
            <a:r>
              <a:rPr lang="zh-CN" altLang="en-US" spc="-150" dirty="0">
                <a:solidFill>
                  <a:srgbClr val="0000FF"/>
                </a:solidFill>
              </a:rPr>
              <a:t>再送算术逻辑单元</a:t>
            </a:r>
            <a:r>
              <a:rPr lang="en-US" altLang="zh-CN" spc="-150" dirty="0">
                <a:solidFill>
                  <a:srgbClr val="0000FF"/>
                </a:solidFill>
              </a:rPr>
              <a:t>ALU</a:t>
            </a:r>
            <a:r>
              <a:rPr lang="zh-CN" altLang="en-US" spc="-150" dirty="0">
                <a:solidFill>
                  <a:srgbClr val="0000FF"/>
                </a:solidFill>
              </a:rPr>
              <a:t>一端</a:t>
            </a:r>
            <a:r>
              <a:rPr lang="zh-CN" altLang="en-US" spc="-150" dirty="0"/>
              <a:t>。</a:t>
            </a:r>
          </a:p>
          <a:p>
            <a:pPr marL="261938" lvl="1" indent="-261938" algn="l" eaLnBrk="1" hangingPunct="1">
              <a:defRPr/>
            </a:pPr>
            <a:r>
              <a:rPr lang="zh-CN" altLang="en-US" spc="-150" dirty="0"/>
              <a:t>⑧</a:t>
            </a:r>
            <a:r>
              <a:rPr lang="zh-CN" altLang="en-US" dirty="0"/>
              <a:t>累加器</a:t>
            </a:r>
            <a:r>
              <a:rPr lang="en-US" altLang="zh-CN" dirty="0">
                <a:solidFill>
                  <a:srgbClr val="0000FF"/>
                </a:solidFill>
              </a:rPr>
              <a:t>A</a:t>
            </a:r>
            <a:r>
              <a:rPr lang="zh-CN" altLang="en-US" dirty="0">
                <a:solidFill>
                  <a:srgbClr val="0000FF"/>
                </a:solidFill>
              </a:rPr>
              <a:t>的内容送</a:t>
            </a:r>
            <a:r>
              <a:rPr lang="en-US" altLang="zh-CN" dirty="0">
                <a:solidFill>
                  <a:srgbClr val="0000FF"/>
                </a:solidFill>
              </a:rPr>
              <a:t>ALU</a:t>
            </a:r>
            <a:r>
              <a:rPr lang="zh-CN" altLang="en-US" dirty="0">
                <a:solidFill>
                  <a:srgbClr val="0000FF"/>
                </a:solidFill>
              </a:rPr>
              <a:t>的另一端</a:t>
            </a:r>
            <a:r>
              <a:rPr lang="en-US" altLang="zh-CN" dirty="0"/>
              <a:t>, </a:t>
            </a:r>
            <a:r>
              <a:rPr lang="zh-CN" altLang="en-US" dirty="0">
                <a:solidFill>
                  <a:srgbClr val="0000FF"/>
                </a:solidFill>
              </a:rPr>
              <a:t>完成加法运算</a:t>
            </a:r>
            <a:r>
              <a:rPr lang="zh-CN" altLang="en-US" dirty="0"/>
              <a:t>。</a:t>
            </a:r>
          </a:p>
          <a:p>
            <a:pPr marL="261938" lvl="1" indent="-261938" algn="l" eaLnBrk="1" hangingPunct="1">
              <a:defRPr/>
            </a:pPr>
            <a:r>
              <a:rPr lang="zh-CN" altLang="en-US" spc="-150" dirty="0"/>
              <a:t>⑨</a:t>
            </a:r>
            <a:r>
              <a:rPr lang="en-US" altLang="zh-CN" dirty="0"/>
              <a:t>ALU</a:t>
            </a:r>
            <a:r>
              <a:rPr lang="zh-CN" altLang="en-US" dirty="0"/>
              <a:t>相加的结果输出到</a:t>
            </a:r>
            <a:r>
              <a:rPr lang="en-US" altLang="zh-CN" dirty="0"/>
              <a:t>A</a:t>
            </a:r>
            <a:r>
              <a:rPr lang="zh-CN" altLang="en-US" dirty="0"/>
              <a:t>。</a:t>
            </a:r>
          </a:p>
        </p:txBody>
      </p:sp>
      <p:sp>
        <p:nvSpPr>
          <p:cNvPr id="2" name="灯片编号占位符 1">
            <a:extLst>
              <a:ext uri="{FF2B5EF4-FFF2-40B4-BE49-F238E27FC236}">
                <a16:creationId xmlns:a16="http://schemas.microsoft.com/office/drawing/2014/main" id="{3323FD1C-644A-4B37-B1D8-2BDF48E94D18}"/>
              </a:ext>
            </a:extLst>
          </p:cNvPr>
          <p:cNvSpPr>
            <a:spLocks noGrp="1"/>
          </p:cNvSpPr>
          <p:nvPr>
            <p:ph type="sldNum" sz="quarter" idx="12"/>
          </p:nvPr>
        </p:nvSpPr>
        <p:spPr/>
        <p:txBody>
          <a:bodyPr/>
          <a:lstStyle/>
          <a:p>
            <a:fld id="{22E77DEE-32E4-4009-988B-F2758F7B8AC2}" type="slidenum">
              <a:rPr lang="zh-CN" altLang="en-US" smtClean="0"/>
              <a:t>15</a:t>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7155" name="Rectangle 3">
            <a:extLst>
              <a:ext uri="{FF2B5EF4-FFF2-40B4-BE49-F238E27FC236}">
                <a16:creationId xmlns:a16="http://schemas.microsoft.com/office/drawing/2014/main" id="{9BA1B5D8-54D4-4164-9FA0-B1D05DFF6F61}"/>
              </a:ext>
            </a:extLst>
          </p:cNvPr>
          <p:cNvSpPr>
            <a:spLocks noGrp="1" noChangeArrowheads="1"/>
          </p:cNvSpPr>
          <p:nvPr>
            <p:ph idx="1"/>
          </p:nvPr>
        </p:nvSpPr>
        <p:spPr>
          <a:xfrm>
            <a:off x="439738" y="1328736"/>
            <a:ext cx="7999412" cy="4246563"/>
          </a:xfrm>
        </p:spPr>
        <p:txBody>
          <a:bodyPr>
            <a:normAutofit lnSpcReduction="10000"/>
          </a:bodyPr>
          <a:lstStyle/>
          <a:p>
            <a:pPr algn="l" fontAlgn="base">
              <a:lnSpc>
                <a:spcPct val="120000"/>
              </a:lnSpc>
              <a:spcBef>
                <a:spcPts val="200"/>
              </a:spcBef>
              <a:spcAft>
                <a:spcPts val="0"/>
              </a:spcAft>
              <a:buFont typeface="Wingdings" panose="05000000000000000000" pitchFamily="2" charset="2"/>
              <a:buChar char="Ø"/>
            </a:pPr>
            <a:r>
              <a:rPr lang="en-US" altLang="zh-CN" sz="1600" b="1" i="0" dirty="0">
                <a:solidFill>
                  <a:srgbClr val="575D6C"/>
                </a:solidFill>
                <a:effectLst/>
                <a:latin typeface="-apple-system"/>
              </a:rPr>
              <a:t>GCC</a:t>
            </a:r>
            <a:r>
              <a:rPr lang="zh-CN" altLang="en-US" sz="1600" b="1" i="0" dirty="0">
                <a:solidFill>
                  <a:srgbClr val="575D6C"/>
                </a:solidFill>
                <a:effectLst/>
                <a:latin typeface="-apple-system"/>
              </a:rPr>
              <a:t>四步详解</a:t>
            </a:r>
          </a:p>
          <a:p>
            <a:pPr algn="l" fontAlgn="base">
              <a:lnSpc>
                <a:spcPct val="120000"/>
              </a:lnSpc>
              <a:spcBef>
                <a:spcPts val="200"/>
              </a:spcBef>
              <a:spcAft>
                <a:spcPts val="0"/>
              </a:spcAft>
              <a:buFont typeface="Wingdings" panose="05000000000000000000" pitchFamily="2" charset="2"/>
              <a:buChar char="Ø"/>
            </a:pPr>
            <a:r>
              <a:rPr lang="zh-CN" altLang="en-US" sz="1600" b="1" i="0" dirty="0">
                <a:solidFill>
                  <a:srgbClr val="FF0000"/>
                </a:solidFill>
                <a:effectLst/>
                <a:latin typeface="-apple-system"/>
              </a:rPr>
              <a:t>第一步：预处理</a:t>
            </a:r>
            <a:r>
              <a:rPr lang="en-US" altLang="zh-CN" sz="1600" b="1" i="0" dirty="0">
                <a:solidFill>
                  <a:srgbClr val="FF0000"/>
                </a:solidFill>
                <a:effectLst/>
                <a:latin typeface="-apple-system"/>
              </a:rPr>
              <a:t>(</a:t>
            </a:r>
            <a:r>
              <a:rPr lang="zh-CN" altLang="en-US" sz="1600" b="1" i="0" dirty="0">
                <a:solidFill>
                  <a:srgbClr val="FF0000"/>
                </a:solidFill>
                <a:effectLst/>
                <a:latin typeface="-apple-system"/>
              </a:rPr>
              <a:t>也叫预编译</a:t>
            </a:r>
            <a:r>
              <a:rPr lang="en-US" altLang="zh-CN" sz="1600" b="1" i="0" dirty="0">
                <a:solidFill>
                  <a:srgbClr val="FF0000"/>
                </a:solidFill>
                <a:effectLst/>
                <a:latin typeface="-apple-system"/>
              </a:rPr>
              <a:t>)</a:t>
            </a:r>
            <a:br>
              <a:rPr lang="zh-CN" altLang="en-US" sz="1600" b="1" dirty="0">
                <a:solidFill>
                  <a:srgbClr val="FF0000"/>
                </a:solidFill>
              </a:rPr>
            </a:br>
            <a:r>
              <a:rPr lang="en-US" altLang="zh-CN" sz="1600" b="0" i="0" dirty="0" err="1">
                <a:solidFill>
                  <a:srgbClr val="575D6C"/>
                </a:solidFill>
                <a:effectLst/>
                <a:latin typeface="-apple-system"/>
              </a:rPr>
              <a:t>gcc</a:t>
            </a:r>
            <a:r>
              <a:rPr lang="en-US" altLang="zh-CN" sz="1600" b="0" i="0" dirty="0">
                <a:solidFill>
                  <a:srgbClr val="575D6C"/>
                </a:solidFill>
                <a:effectLst/>
                <a:latin typeface="-apple-system"/>
              </a:rPr>
              <a:t> -E  </a:t>
            </a:r>
            <a:r>
              <a:rPr lang="en-US" altLang="zh-CN" sz="1600" b="0" i="0" dirty="0" err="1">
                <a:solidFill>
                  <a:srgbClr val="575D6C"/>
                </a:solidFill>
                <a:effectLst/>
                <a:latin typeface="-apple-system"/>
              </a:rPr>
              <a:t>hello.c</a:t>
            </a:r>
            <a:r>
              <a:rPr lang="en-US" altLang="zh-CN" sz="1600" b="0" i="0" dirty="0">
                <a:solidFill>
                  <a:srgbClr val="575D6C"/>
                </a:solidFill>
                <a:effectLst/>
                <a:latin typeface="-apple-system"/>
              </a:rPr>
              <a:t>  -o </a:t>
            </a:r>
            <a:r>
              <a:rPr lang="en-US" altLang="zh-CN" sz="1600" b="0" i="0" dirty="0" err="1">
                <a:solidFill>
                  <a:srgbClr val="575D6C"/>
                </a:solidFill>
                <a:effectLst/>
                <a:latin typeface="-apple-system"/>
              </a:rPr>
              <a:t>hello.i</a:t>
            </a:r>
            <a:endParaRPr lang="en-US" altLang="zh-CN" sz="1600" b="0" i="0" dirty="0">
              <a:solidFill>
                <a:srgbClr val="575D6C"/>
              </a:solidFill>
              <a:effectLst/>
              <a:latin typeface="-apple-system"/>
            </a:endParaRPr>
          </a:p>
          <a:p>
            <a:pPr algn="l" fontAlgn="base">
              <a:lnSpc>
                <a:spcPct val="120000"/>
              </a:lnSpc>
              <a:spcBef>
                <a:spcPts val="200"/>
              </a:spcBef>
              <a:spcAft>
                <a:spcPts val="0"/>
              </a:spcAft>
              <a:buFont typeface="Wingdings" panose="05000000000000000000" pitchFamily="2" charset="2"/>
              <a:buChar char="Ø"/>
            </a:pPr>
            <a:r>
              <a:rPr lang="zh-CN" altLang="en-US" sz="1600" b="0" i="0" dirty="0">
                <a:solidFill>
                  <a:srgbClr val="575D6C"/>
                </a:solidFill>
                <a:effectLst/>
                <a:latin typeface="-apple-system"/>
              </a:rPr>
              <a:t>或者 </a:t>
            </a:r>
            <a:r>
              <a:rPr lang="en-US" altLang="zh-CN" sz="1600" b="0" i="0" dirty="0" err="1">
                <a:solidFill>
                  <a:srgbClr val="575D6C"/>
                </a:solidFill>
                <a:effectLst/>
                <a:latin typeface="-apple-system"/>
              </a:rPr>
              <a:t>cpp</a:t>
            </a:r>
            <a:r>
              <a:rPr lang="en-US" altLang="zh-CN" sz="1600" b="0" i="0" dirty="0">
                <a:solidFill>
                  <a:srgbClr val="575D6C"/>
                </a:solidFill>
                <a:effectLst/>
                <a:latin typeface="-apple-system"/>
              </a:rPr>
              <a:t> </a:t>
            </a:r>
            <a:r>
              <a:rPr lang="en-US" altLang="zh-CN" sz="1600" b="0" i="0" dirty="0" err="1">
                <a:solidFill>
                  <a:srgbClr val="575D6C"/>
                </a:solidFill>
                <a:effectLst/>
                <a:latin typeface="-apple-system"/>
              </a:rPr>
              <a:t>hello.c</a:t>
            </a:r>
            <a:r>
              <a:rPr lang="en-US" altLang="zh-CN" sz="1600" b="0" i="0" dirty="0">
                <a:solidFill>
                  <a:srgbClr val="575D6C"/>
                </a:solidFill>
                <a:effectLst/>
                <a:latin typeface="-apple-system"/>
              </a:rPr>
              <a:t> &gt; </a:t>
            </a:r>
            <a:r>
              <a:rPr lang="en-US" altLang="zh-CN" sz="1600" b="0" i="0" dirty="0" err="1">
                <a:solidFill>
                  <a:srgbClr val="575D6C"/>
                </a:solidFill>
                <a:effectLst/>
                <a:latin typeface="-apple-system"/>
              </a:rPr>
              <a:t>hello.i</a:t>
            </a:r>
            <a:r>
              <a:rPr lang="en-US" altLang="zh-CN" sz="1600" b="0" i="0" dirty="0">
                <a:solidFill>
                  <a:srgbClr val="575D6C"/>
                </a:solidFill>
                <a:effectLst/>
                <a:latin typeface="-apple-system"/>
              </a:rPr>
              <a:t> 【</a:t>
            </a:r>
            <a:r>
              <a:rPr lang="en-US" altLang="zh-CN" sz="1600" b="0" i="0" dirty="0" err="1">
                <a:solidFill>
                  <a:srgbClr val="575D6C"/>
                </a:solidFill>
                <a:effectLst/>
                <a:latin typeface="-apple-system"/>
              </a:rPr>
              <a:t>cpp</a:t>
            </a:r>
            <a:r>
              <a:rPr lang="zh-CN" altLang="en-US" sz="1600" b="0" i="0" dirty="0">
                <a:solidFill>
                  <a:srgbClr val="575D6C"/>
                </a:solidFill>
                <a:effectLst/>
                <a:latin typeface="-apple-system"/>
              </a:rPr>
              <a:t>是预编译器</a:t>
            </a:r>
            <a:r>
              <a:rPr lang="en-US" altLang="zh-CN" sz="1600" b="0" i="0" dirty="0">
                <a:solidFill>
                  <a:srgbClr val="575D6C"/>
                </a:solidFill>
                <a:effectLst/>
                <a:latin typeface="-apple-system"/>
              </a:rPr>
              <a:t>】</a:t>
            </a:r>
          </a:p>
          <a:p>
            <a:pPr algn="l" fontAlgn="base">
              <a:lnSpc>
                <a:spcPct val="120000"/>
              </a:lnSpc>
              <a:spcBef>
                <a:spcPts val="200"/>
              </a:spcBef>
              <a:spcAft>
                <a:spcPts val="0"/>
              </a:spcAft>
              <a:buFont typeface="Wingdings" panose="05000000000000000000" pitchFamily="2" charset="2"/>
              <a:buChar char="Ø"/>
            </a:pPr>
            <a:r>
              <a:rPr lang="zh-CN" altLang="en-US" sz="1600" b="0" i="0" dirty="0">
                <a:solidFill>
                  <a:srgbClr val="575D6C"/>
                </a:solidFill>
                <a:effectLst/>
                <a:latin typeface="-apple-system"/>
              </a:rPr>
              <a:t>将所有</a:t>
            </a:r>
            <a:r>
              <a:rPr lang="en-US" altLang="zh-CN" sz="1600" b="0" i="0" dirty="0">
                <a:solidFill>
                  <a:srgbClr val="575D6C"/>
                </a:solidFill>
                <a:effectLst/>
                <a:latin typeface="-apple-system"/>
              </a:rPr>
              <a:t>#define</a:t>
            </a:r>
            <a:r>
              <a:rPr lang="zh-CN" altLang="en-US" sz="1600" b="0" i="0" dirty="0">
                <a:solidFill>
                  <a:srgbClr val="575D6C"/>
                </a:solidFill>
                <a:effectLst/>
                <a:latin typeface="-apple-system"/>
              </a:rPr>
              <a:t>删除，并且展开所有的宏定义</a:t>
            </a:r>
          </a:p>
          <a:p>
            <a:pPr algn="l" fontAlgn="base">
              <a:lnSpc>
                <a:spcPct val="120000"/>
              </a:lnSpc>
              <a:spcBef>
                <a:spcPts val="200"/>
              </a:spcBef>
              <a:spcAft>
                <a:spcPts val="0"/>
              </a:spcAft>
              <a:buFont typeface="Wingdings" panose="05000000000000000000" pitchFamily="2" charset="2"/>
              <a:buChar char="Ø"/>
            </a:pPr>
            <a:r>
              <a:rPr lang="zh-CN" altLang="en-US" sz="1600" b="0" i="0" dirty="0">
                <a:solidFill>
                  <a:srgbClr val="575D6C"/>
                </a:solidFill>
                <a:effectLst/>
                <a:latin typeface="-apple-system"/>
              </a:rPr>
              <a:t>处理所有的条件预编译指令，如</a:t>
            </a:r>
            <a:r>
              <a:rPr lang="en-US" altLang="zh-CN" sz="1600" b="0" i="0" dirty="0">
                <a:solidFill>
                  <a:srgbClr val="575D6C"/>
                </a:solidFill>
                <a:effectLst/>
                <a:latin typeface="-apple-system"/>
              </a:rPr>
              <a:t>#if #ifdef  #undef  #ifndef  #endif #elif</a:t>
            </a:r>
          </a:p>
          <a:p>
            <a:pPr algn="l" fontAlgn="base">
              <a:lnSpc>
                <a:spcPct val="120000"/>
              </a:lnSpc>
              <a:spcBef>
                <a:spcPts val="200"/>
              </a:spcBef>
              <a:spcAft>
                <a:spcPts val="0"/>
              </a:spcAft>
              <a:buFont typeface="Wingdings" panose="05000000000000000000" pitchFamily="2" charset="2"/>
              <a:buChar char="Ø"/>
            </a:pPr>
            <a:r>
              <a:rPr lang="zh-CN" altLang="en-US" sz="1600" b="0" i="0" dirty="0">
                <a:solidFill>
                  <a:srgbClr val="575D6C"/>
                </a:solidFill>
                <a:effectLst/>
                <a:latin typeface="-apple-system"/>
              </a:rPr>
              <a:t>处理</a:t>
            </a:r>
            <a:r>
              <a:rPr lang="en-US" altLang="zh-CN" sz="1600" b="0" i="0" dirty="0">
                <a:solidFill>
                  <a:srgbClr val="575D6C"/>
                </a:solidFill>
                <a:effectLst/>
                <a:latin typeface="-apple-system"/>
              </a:rPr>
              <a:t>#include</a:t>
            </a:r>
            <a:r>
              <a:rPr lang="zh-CN" altLang="en-US" sz="1600" b="0" i="0" dirty="0">
                <a:solidFill>
                  <a:srgbClr val="575D6C"/>
                </a:solidFill>
                <a:effectLst/>
                <a:latin typeface="-apple-system"/>
              </a:rPr>
              <a:t>，将包含的文件插入到此处，这是一个递归的过程</a:t>
            </a:r>
          </a:p>
          <a:p>
            <a:pPr algn="l" fontAlgn="base">
              <a:lnSpc>
                <a:spcPct val="120000"/>
              </a:lnSpc>
              <a:spcBef>
                <a:spcPts val="200"/>
              </a:spcBef>
              <a:spcAft>
                <a:spcPts val="0"/>
              </a:spcAft>
              <a:buFont typeface="Wingdings" panose="05000000000000000000" pitchFamily="2" charset="2"/>
              <a:buChar char="Ø"/>
            </a:pPr>
            <a:r>
              <a:rPr lang="zh-CN" altLang="en-US" sz="1600" b="0" i="0" dirty="0">
                <a:solidFill>
                  <a:srgbClr val="575D6C"/>
                </a:solidFill>
                <a:effectLst/>
                <a:latin typeface="-apple-system"/>
              </a:rPr>
              <a:t>删除所有注释   </a:t>
            </a:r>
            <a:r>
              <a:rPr lang="en-US" altLang="zh-CN" sz="1600" b="0" i="0" dirty="0">
                <a:solidFill>
                  <a:srgbClr val="575D6C"/>
                </a:solidFill>
                <a:effectLst/>
                <a:latin typeface="-apple-system"/>
              </a:rPr>
              <a:t>//   /* */</a:t>
            </a:r>
          </a:p>
          <a:p>
            <a:pPr algn="l" fontAlgn="base">
              <a:lnSpc>
                <a:spcPct val="120000"/>
              </a:lnSpc>
              <a:spcBef>
                <a:spcPts val="200"/>
              </a:spcBef>
              <a:spcAft>
                <a:spcPts val="0"/>
              </a:spcAft>
              <a:buFont typeface="Wingdings" panose="05000000000000000000" pitchFamily="2" charset="2"/>
              <a:buChar char="Ø"/>
            </a:pPr>
            <a:r>
              <a:rPr lang="zh-CN" altLang="en-US" sz="1600" b="0" i="0" dirty="0">
                <a:solidFill>
                  <a:srgbClr val="575D6C"/>
                </a:solidFill>
                <a:effectLst/>
                <a:latin typeface="-apple-system"/>
              </a:rPr>
              <a:t>添加行号和文件名标识，以便于编译时产生的错误警告能显示行号</a:t>
            </a:r>
          </a:p>
          <a:p>
            <a:pPr algn="l" fontAlgn="base">
              <a:lnSpc>
                <a:spcPct val="120000"/>
              </a:lnSpc>
              <a:spcBef>
                <a:spcPts val="200"/>
              </a:spcBef>
              <a:spcAft>
                <a:spcPts val="0"/>
              </a:spcAft>
              <a:buFont typeface="Wingdings" panose="05000000000000000000" pitchFamily="2" charset="2"/>
              <a:buChar char="Ø"/>
            </a:pPr>
            <a:r>
              <a:rPr lang="zh-CN" altLang="en-US" sz="1600" b="0" i="0" dirty="0">
                <a:solidFill>
                  <a:srgbClr val="575D6C"/>
                </a:solidFill>
                <a:effectLst/>
                <a:latin typeface="-apple-system"/>
              </a:rPr>
              <a:t>保留</a:t>
            </a:r>
            <a:r>
              <a:rPr lang="en-US" altLang="zh-CN" sz="1600" b="0" i="0" dirty="0">
                <a:solidFill>
                  <a:srgbClr val="575D6C"/>
                </a:solidFill>
                <a:effectLst/>
                <a:latin typeface="-apple-system"/>
              </a:rPr>
              <a:t>#pragma</a:t>
            </a:r>
            <a:r>
              <a:rPr lang="zh-CN" altLang="en-US" sz="1600" b="0" i="0" dirty="0">
                <a:solidFill>
                  <a:srgbClr val="575D6C"/>
                </a:solidFill>
                <a:effectLst/>
                <a:latin typeface="-apple-system"/>
              </a:rPr>
              <a:t>编译器指令</a:t>
            </a:r>
          </a:p>
          <a:p>
            <a:pPr algn="l" fontAlgn="base">
              <a:lnSpc>
                <a:spcPct val="120000"/>
              </a:lnSpc>
              <a:spcBef>
                <a:spcPts val="200"/>
              </a:spcBef>
              <a:spcAft>
                <a:spcPts val="0"/>
              </a:spcAft>
              <a:buFont typeface="Wingdings" panose="05000000000000000000" pitchFamily="2" charset="2"/>
              <a:buChar char="Ø"/>
            </a:pPr>
            <a:r>
              <a:rPr lang="zh-CN" altLang="en-US" sz="1600" b="1" i="0" dirty="0">
                <a:solidFill>
                  <a:srgbClr val="FF0000"/>
                </a:solidFill>
                <a:effectLst/>
                <a:latin typeface="-apple-system"/>
              </a:rPr>
              <a:t>第二步：编译</a:t>
            </a:r>
            <a:br>
              <a:rPr lang="zh-CN" altLang="en-US" sz="1600" dirty="0"/>
            </a:br>
            <a:r>
              <a:rPr lang="en-US" altLang="zh-CN" sz="1600" b="0" i="0" dirty="0" err="1">
                <a:solidFill>
                  <a:srgbClr val="575D6C"/>
                </a:solidFill>
                <a:effectLst/>
                <a:latin typeface="-apple-system"/>
              </a:rPr>
              <a:t>gcc</a:t>
            </a:r>
            <a:r>
              <a:rPr lang="en-US" altLang="zh-CN" sz="1600" b="0" i="0" dirty="0">
                <a:solidFill>
                  <a:srgbClr val="575D6C"/>
                </a:solidFill>
                <a:effectLst/>
                <a:latin typeface="-apple-system"/>
              </a:rPr>
              <a:t>  -S  </a:t>
            </a:r>
            <a:r>
              <a:rPr lang="en-US" altLang="zh-CN" sz="1600" b="0" i="0" dirty="0" err="1">
                <a:solidFill>
                  <a:srgbClr val="575D6C"/>
                </a:solidFill>
                <a:effectLst/>
                <a:latin typeface="-apple-system"/>
              </a:rPr>
              <a:t>hello.i</a:t>
            </a:r>
            <a:r>
              <a:rPr lang="en-US" altLang="zh-CN" sz="1600" b="0" i="0" dirty="0">
                <a:solidFill>
                  <a:srgbClr val="575D6C"/>
                </a:solidFill>
                <a:effectLst/>
                <a:latin typeface="-apple-system"/>
              </a:rPr>
              <a:t>   -o  </a:t>
            </a:r>
            <a:r>
              <a:rPr lang="en-US" altLang="zh-CN" sz="1600" b="0" i="0" dirty="0" err="1">
                <a:solidFill>
                  <a:srgbClr val="575D6C"/>
                </a:solidFill>
                <a:effectLst/>
                <a:latin typeface="-apple-system"/>
              </a:rPr>
              <a:t>hello.s</a:t>
            </a:r>
            <a:br>
              <a:rPr lang="zh-CN" altLang="en-US" sz="1600" dirty="0"/>
            </a:br>
            <a:r>
              <a:rPr lang="zh-CN" altLang="en-US" sz="1600" b="0" i="0" dirty="0">
                <a:solidFill>
                  <a:srgbClr val="575D6C"/>
                </a:solidFill>
                <a:effectLst/>
                <a:latin typeface="-apple-system"/>
              </a:rPr>
              <a:t>将预处理完的</a:t>
            </a:r>
            <a:r>
              <a:rPr lang="en-US" altLang="zh-CN" sz="1600" b="0" i="0" dirty="0">
                <a:solidFill>
                  <a:srgbClr val="575D6C"/>
                </a:solidFill>
                <a:effectLst/>
                <a:latin typeface="-apple-system"/>
              </a:rPr>
              <a:t>.</a:t>
            </a:r>
            <a:r>
              <a:rPr lang="en-US" altLang="zh-CN" sz="1600" b="0" i="0" dirty="0" err="1">
                <a:solidFill>
                  <a:srgbClr val="575D6C"/>
                </a:solidFill>
                <a:effectLst/>
                <a:latin typeface="-apple-system"/>
              </a:rPr>
              <a:t>i</a:t>
            </a:r>
            <a:r>
              <a:rPr lang="zh-CN" altLang="en-US" sz="1600" b="0" i="0" dirty="0">
                <a:solidFill>
                  <a:srgbClr val="575D6C"/>
                </a:solidFill>
                <a:effectLst/>
                <a:latin typeface="-apple-system"/>
              </a:rPr>
              <a:t>文件进行一系列的词法分析、语法分析、语义分析及优</a:t>
            </a:r>
            <a:br>
              <a:rPr lang="zh-CN" altLang="en-US" sz="1600" dirty="0"/>
            </a:br>
            <a:r>
              <a:rPr lang="zh-CN" altLang="en-US" sz="1600" b="0" i="0" dirty="0">
                <a:solidFill>
                  <a:srgbClr val="575D6C"/>
                </a:solidFill>
                <a:effectLst/>
                <a:latin typeface="-apple-system"/>
              </a:rPr>
              <a:t>化后生成响应的汇编代码文件，这是整个程序构建的最核心的部分，也是最复杂的部分</a:t>
            </a:r>
            <a:endParaRPr lang="zh-CN" altLang="en-US" sz="1600" dirty="0"/>
          </a:p>
        </p:txBody>
      </p:sp>
      <p:sp>
        <p:nvSpPr>
          <p:cNvPr id="2" name="标题 1">
            <a:extLst>
              <a:ext uri="{FF2B5EF4-FFF2-40B4-BE49-F238E27FC236}">
                <a16:creationId xmlns:a16="http://schemas.microsoft.com/office/drawing/2014/main" id="{80ECD7A5-9A95-43C7-92B0-428CD9FFE196}"/>
              </a:ext>
            </a:extLst>
          </p:cNvPr>
          <p:cNvSpPr>
            <a:spLocks noGrp="1" noChangeArrowheads="1"/>
          </p:cNvSpPr>
          <p:nvPr>
            <p:ph type="title"/>
          </p:nvPr>
        </p:nvSpPr>
        <p:spPr>
          <a:xfrm>
            <a:off x="865188" y="583406"/>
            <a:ext cx="3821112" cy="504825"/>
          </a:xfrm>
        </p:spPr>
        <p:txBody>
          <a:bodyPr>
            <a:normAutofit/>
          </a:bodyPr>
          <a:lstStyle/>
          <a:p>
            <a:pPr eaLnBrk="1" hangingPunct="1"/>
            <a:r>
              <a:rPr lang="en-US" altLang="zh-CN" sz="2800" dirty="0">
                <a:latin typeface="Times New Roman" panose="02020603050405020304" pitchFamily="18" charset="0"/>
                <a:cs typeface="Times New Roman" panose="02020603050405020304" pitchFamily="18" charset="0"/>
              </a:rPr>
              <a:t>4.1.3 GCC</a:t>
            </a:r>
            <a:r>
              <a:rPr lang="zh-CN" altLang="en-US" sz="2800" dirty="0">
                <a:latin typeface="Times New Roman" panose="02020603050405020304" pitchFamily="18" charset="0"/>
                <a:cs typeface="Times New Roman" panose="02020603050405020304" pitchFamily="18" charset="0"/>
              </a:rPr>
              <a:t>工作过程</a:t>
            </a:r>
          </a:p>
        </p:txBody>
      </p:sp>
      <p:sp>
        <p:nvSpPr>
          <p:cNvPr id="29734" name="矩形 9">
            <a:hlinkClick r:id="rId2" action="ppaction://hlinksldjump"/>
            <a:extLst>
              <a:ext uri="{FF2B5EF4-FFF2-40B4-BE49-F238E27FC236}">
                <a16:creationId xmlns:a16="http://schemas.microsoft.com/office/drawing/2014/main" id="{E841860E-DFAF-45E1-9673-3E14B7DB7099}"/>
              </a:ext>
            </a:extLst>
          </p:cNvPr>
          <p:cNvSpPr>
            <a:spLocks noChangeArrowheads="1"/>
          </p:cNvSpPr>
          <p:nvPr/>
        </p:nvSpPr>
        <p:spPr bwMode="auto">
          <a:xfrm>
            <a:off x="244475" y="433387"/>
            <a:ext cx="4545013" cy="414338"/>
          </a:xfrm>
          <a:prstGeom prst="rect">
            <a:avLst/>
          </a:prstGeom>
        </p:spPr>
        <p:txBody>
          <a:bodyPr vert="horz" lIns="91440" tIns="45720" rIns="91440" bIns="45720" rtlCol="0" anchor="b">
            <a:normAutofit fontScale="70000" lnSpcReduction="20000"/>
          </a:bodyPr>
          <a:lstStyle/>
          <a:p>
            <a:pPr defTabSz="914400">
              <a:lnSpc>
                <a:spcPct val="85000"/>
              </a:lnSpc>
              <a:spcBef>
                <a:spcPct val="0"/>
              </a:spcBef>
            </a:pPr>
            <a:endParaRPr lang="zh-CN" altLang="en-US" sz="4000" spc="-50">
              <a:solidFill>
                <a:schemeClr val="tx1">
                  <a:lumMod val="75000"/>
                  <a:lumOff val="25000"/>
                </a:schemeClr>
              </a:solidFill>
              <a:latin typeface="+mj-lt"/>
              <a:ea typeface="+mj-ea"/>
              <a:cs typeface="+mj-cs"/>
            </a:endParaRPr>
          </a:p>
        </p:txBody>
      </p:sp>
      <p:sp>
        <p:nvSpPr>
          <p:cNvPr id="6" name="灯片编号占位符 5">
            <a:extLst>
              <a:ext uri="{FF2B5EF4-FFF2-40B4-BE49-F238E27FC236}">
                <a16:creationId xmlns:a16="http://schemas.microsoft.com/office/drawing/2014/main" id="{C9219289-929F-4B37-AC26-BF8F645A34C2}"/>
              </a:ext>
            </a:extLst>
          </p:cNvPr>
          <p:cNvSpPr>
            <a:spLocks noGrp="1"/>
          </p:cNvSpPr>
          <p:nvPr>
            <p:ph type="sldNum" sz="quarter" idx="12"/>
          </p:nvPr>
        </p:nvSpPr>
        <p:spPr/>
        <p:txBody>
          <a:bodyPr/>
          <a:lstStyle/>
          <a:p>
            <a:fld id="{22E77DEE-32E4-4009-988B-F2758F7B8AC2}" type="slidenum">
              <a:rPr lang="zh-CN" altLang="en-US" smtClean="0"/>
              <a:t>16</a:t>
            </a:fld>
            <a:endParaRPr lang="zh-CN" altLang="en-US"/>
          </a:p>
        </p:txBody>
      </p:sp>
    </p:spTree>
    <p:extLst>
      <p:ext uri="{BB962C8B-B14F-4D97-AF65-F5344CB8AC3E}">
        <p14:creationId xmlns:p14="http://schemas.microsoft.com/office/powerpoint/2010/main" val="854291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7155" name="Rectangle 3">
            <a:extLst>
              <a:ext uri="{FF2B5EF4-FFF2-40B4-BE49-F238E27FC236}">
                <a16:creationId xmlns:a16="http://schemas.microsoft.com/office/drawing/2014/main" id="{9BA1B5D8-54D4-4164-9FA0-B1D05DFF6F61}"/>
              </a:ext>
            </a:extLst>
          </p:cNvPr>
          <p:cNvSpPr>
            <a:spLocks noGrp="1" noChangeArrowheads="1"/>
          </p:cNvSpPr>
          <p:nvPr>
            <p:ph idx="1"/>
          </p:nvPr>
        </p:nvSpPr>
        <p:spPr>
          <a:xfrm>
            <a:off x="439738" y="1328736"/>
            <a:ext cx="7999412" cy="4246563"/>
          </a:xfrm>
        </p:spPr>
        <p:txBody>
          <a:bodyPr>
            <a:normAutofit fontScale="92500" lnSpcReduction="10000"/>
          </a:bodyPr>
          <a:lstStyle/>
          <a:p>
            <a:pPr algn="l" fontAlgn="base"/>
            <a:r>
              <a:rPr lang="zh-CN" altLang="en-US" b="1" i="0" dirty="0">
                <a:solidFill>
                  <a:srgbClr val="36383C"/>
                </a:solidFill>
                <a:effectLst/>
                <a:latin typeface="-apple-system"/>
              </a:rPr>
              <a:t>第三步：汇编</a:t>
            </a:r>
            <a:br>
              <a:rPr lang="zh-CN" altLang="en-US" dirty="0"/>
            </a:br>
            <a:r>
              <a:rPr lang="en-US" altLang="zh-CN" b="0" i="0" dirty="0" err="1">
                <a:solidFill>
                  <a:srgbClr val="575D6C"/>
                </a:solidFill>
                <a:effectLst/>
                <a:latin typeface="-apple-system"/>
              </a:rPr>
              <a:t>gcc</a:t>
            </a:r>
            <a:r>
              <a:rPr lang="en-US" altLang="zh-CN" b="0" i="0" dirty="0">
                <a:solidFill>
                  <a:srgbClr val="575D6C"/>
                </a:solidFill>
                <a:effectLst/>
                <a:latin typeface="-apple-system"/>
              </a:rPr>
              <a:t>  -c  </a:t>
            </a:r>
            <a:r>
              <a:rPr lang="en-US" altLang="zh-CN" b="0" i="0" dirty="0" err="1">
                <a:solidFill>
                  <a:srgbClr val="575D6C"/>
                </a:solidFill>
                <a:effectLst/>
                <a:latin typeface="-apple-system"/>
              </a:rPr>
              <a:t>hello.s</a:t>
            </a:r>
            <a:r>
              <a:rPr lang="en-US" altLang="zh-CN" b="0" i="0" dirty="0">
                <a:solidFill>
                  <a:srgbClr val="575D6C"/>
                </a:solidFill>
                <a:effectLst/>
                <a:latin typeface="-apple-system"/>
              </a:rPr>
              <a:t>  -o  </a:t>
            </a:r>
            <a:r>
              <a:rPr lang="en-US" altLang="zh-CN" b="0" i="0" dirty="0" err="1">
                <a:solidFill>
                  <a:srgbClr val="575D6C"/>
                </a:solidFill>
                <a:effectLst/>
                <a:latin typeface="-apple-system"/>
              </a:rPr>
              <a:t>hello.o</a:t>
            </a:r>
            <a:r>
              <a:rPr lang="zh-CN" altLang="en-US" b="0" i="0" dirty="0">
                <a:solidFill>
                  <a:srgbClr val="575D6C"/>
                </a:solidFill>
                <a:effectLst/>
                <a:latin typeface="-apple-system"/>
              </a:rPr>
              <a:t>或者 </a:t>
            </a:r>
            <a:r>
              <a:rPr lang="en-US" altLang="zh-CN" b="0" i="0" dirty="0">
                <a:solidFill>
                  <a:srgbClr val="575D6C"/>
                </a:solidFill>
                <a:effectLst/>
                <a:latin typeface="-apple-system"/>
              </a:rPr>
              <a:t>as  </a:t>
            </a:r>
            <a:r>
              <a:rPr lang="en-US" altLang="zh-CN" b="0" i="0" dirty="0" err="1">
                <a:solidFill>
                  <a:srgbClr val="575D6C"/>
                </a:solidFill>
                <a:effectLst/>
                <a:latin typeface="-apple-system"/>
              </a:rPr>
              <a:t>hello.s</a:t>
            </a:r>
            <a:r>
              <a:rPr lang="en-US" altLang="zh-CN" b="0" i="0" dirty="0">
                <a:solidFill>
                  <a:srgbClr val="575D6C"/>
                </a:solidFill>
                <a:effectLst/>
                <a:latin typeface="-apple-system"/>
              </a:rPr>
              <a:t> -o  </a:t>
            </a:r>
            <a:r>
              <a:rPr lang="en-US" altLang="zh-CN" b="0" i="0" dirty="0" err="1">
                <a:solidFill>
                  <a:srgbClr val="575D6C"/>
                </a:solidFill>
                <a:effectLst/>
                <a:latin typeface="-apple-system"/>
              </a:rPr>
              <a:t>hello.o</a:t>
            </a:r>
            <a:br>
              <a:rPr lang="zh-CN" altLang="en-US" dirty="0"/>
            </a:br>
            <a:r>
              <a:rPr lang="zh-CN" altLang="en-US" b="0" i="0" dirty="0">
                <a:solidFill>
                  <a:srgbClr val="575D6C"/>
                </a:solidFill>
                <a:effectLst/>
                <a:latin typeface="-apple-system"/>
              </a:rPr>
              <a:t>汇编是将第二步生成的汇编代码编程机器可执行的指令，每一个汇编语句几乎都对应一条机器指令</a:t>
            </a:r>
            <a:br>
              <a:rPr lang="zh-CN" altLang="en-US" dirty="0"/>
            </a:br>
            <a:br>
              <a:rPr lang="zh-CN" altLang="en-US" b="0" i="0" dirty="0">
                <a:solidFill>
                  <a:srgbClr val="575D6C"/>
                </a:solidFill>
                <a:effectLst/>
                <a:latin typeface="-apple-system"/>
              </a:rPr>
            </a:br>
            <a:endParaRPr lang="zh-CN" altLang="en-US" b="0" i="0" dirty="0">
              <a:solidFill>
                <a:srgbClr val="575D6C"/>
              </a:solidFill>
              <a:effectLst/>
              <a:latin typeface="-apple-system"/>
            </a:endParaRPr>
          </a:p>
          <a:p>
            <a:pPr algn="l" fontAlgn="base"/>
            <a:r>
              <a:rPr lang="zh-CN" altLang="en-US" b="1" i="0" dirty="0">
                <a:solidFill>
                  <a:srgbClr val="36383C"/>
                </a:solidFill>
                <a:effectLst/>
                <a:latin typeface="-apple-system"/>
              </a:rPr>
              <a:t>第四步：链接</a:t>
            </a:r>
            <a:endParaRPr lang="zh-CN" altLang="en-US" b="0" i="0" dirty="0">
              <a:solidFill>
                <a:srgbClr val="575D6C"/>
              </a:solidFill>
              <a:effectLst/>
              <a:latin typeface="-apple-system"/>
            </a:endParaRPr>
          </a:p>
          <a:p>
            <a:pPr algn="l" fontAlgn="base"/>
            <a:r>
              <a:rPr lang="zh-CN" altLang="en-US" b="0" i="0" dirty="0">
                <a:solidFill>
                  <a:srgbClr val="575D6C"/>
                </a:solidFill>
                <a:effectLst/>
                <a:latin typeface="-apple-system"/>
              </a:rPr>
              <a:t>链接动态库和静态库后，生成可执行文件</a:t>
            </a:r>
          </a:p>
          <a:p>
            <a:br>
              <a:rPr lang="zh-CN" altLang="en-US" dirty="0"/>
            </a:br>
            <a:r>
              <a:rPr lang="en-US" altLang="zh-CN" b="1" dirty="0">
                <a:solidFill>
                  <a:srgbClr val="FF0000"/>
                </a:solidFill>
              </a:rPr>
              <a:t>.o</a:t>
            </a:r>
            <a:r>
              <a:rPr lang="zh-CN" altLang="en-US" b="1" dirty="0">
                <a:solidFill>
                  <a:srgbClr val="FF0000"/>
                </a:solidFill>
              </a:rPr>
              <a:t>文件</a:t>
            </a:r>
            <a:r>
              <a:rPr lang="en-US" altLang="zh-CN" b="1" dirty="0">
                <a:solidFill>
                  <a:srgbClr val="FF0000"/>
                </a:solidFill>
              </a:rPr>
              <a:t>: </a:t>
            </a:r>
            <a:r>
              <a:rPr lang="zh-CN" altLang="en-US" b="1" dirty="0">
                <a:solidFill>
                  <a:srgbClr val="FF0000"/>
                </a:solidFill>
              </a:rPr>
              <a:t>目标文件</a:t>
            </a:r>
            <a:endParaRPr lang="en-US" altLang="zh-CN" b="1" dirty="0">
              <a:solidFill>
                <a:srgbClr val="FF0000"/>
              </a:solidFill>
            </a:endParaRPr>
          </a:p>
          <a:p>
            <a:r>
              <a:rPr lang="zh-CN" altLang="en-US" b="0" i="0" dirty="0">
                <a:solidFill>
                  <a:srgbClr val="575D6C"/>
                </a:solidFill>
                <a:effectLst/>
                <a:latin typeface="-apple-system"/>
              </a:rPr>
              <a:t>目标文件就是源代码经过编译后但未进行链接的那些中间文件</a:t>
            </a:r>
            <a:r>
              <a:rPr lang="en-US" altLang="zh-CN" b="0" i="0" dirty="0">
                <a:solidFill>
                  <a:srgbClr val="575D6C"/>
                </a:solidFill>
                <a:effectLst/>
                <a:latin typeface="-apple-system"/>
              </a:rPr>
              <a:t>Linux</a:t>
            </a:r>
            <a:r>
              <a:rPr lang="zh-CN" altLang="en-US" b="0" i="0" dirty="0">
                <a:solidFill>
                  <a:srgbClr val="575D6C"/>
                </a:solidFill>
                <a:effectLst/>
                <a:latin typeface="-apple-system"/>
              </a:rPr>
              <a:t>下的 </a:t>
            </a:r>
            <a:r>
              <a:rPr lang="en-US" altLang="zh-CN" b="0" i="0" dirty="0">
                <a:solidFill>
                  <a:srgbClr val="575D6C"/>
                </a:solidFill>
                <a:effectLst/>
                <a:latin typeface="-apple-system"/>
              </a:rPr>
              <a:t>.o</a:t>
            </a:r>
            <a:r>
              <a:rPr lang="zh-CN" altLang="en-US" b="0" i="0" dirty="0">
                <a:solidFill>
                  <a:srgbClr val="575D6C"/>
                </a:solidFill>
                <a:effectLst/>
                <a:latin typeface="-apple-system"/>
              </a:rPr>
              <a:t>文件就是目标文件，目标文件和可执行文件内容和格式几乎都一样，所以我们可以广义地将目标文件和可执行文化看成一类型文件。他们都是按照</a:t>
            </a:r>
            <a:r>
              <a:rPr lang="en-US" altLang="zh-CN" b="0" i="0" dirty="0">
                <a:solidFill>
                  <a:srgbClr val="575D6C"/>
                </a:solidFill>
                <a:effectLst/>
                <a:latin typeface="-apple-system"/>
              </a:rPr>
              <a:t>ELF</a:t>
            </a:r>
            <a:r>
              <a:rPr lang="zh-CN" altLang="en-US" b="0" i="0" dirty="0">
                <a:solidFill>
                  <a:srgbClr val="575D6C"/>
                </a:solidFill>
                <a:effectLst/>
                <a:latin typeface="-apple-system"/>
              </a:rPr>
              <a:t>文件格式存储的</a:t>
            </a:r>
            <a:endParaRPr lang="zh-CN" altLang="en-US" dirty="0"/>
          </a:p>
        </p:txBody>
      </p:sp>
      <p:sp>
        <p:nvSpPr>
          <p:cNvPr id="2" name="标题 1">
            <a:extLst>
              <a:ext uri="{FF2B5EF4-FFF2-40B4-BE49-F238E27FC236}">
                <a16:creationId xmlns:a16="http://schemas.microsoft.com/office/drawing/2014/main" id="{80ECD7A5-9A95-43C7-92B0-428CD9FFE196}"/>
              </a:ext>
            </a:extLst>
          </p:cNvPr>
          <p:cNvSpPr>
            <a:spLocks noGrp="1" noChangeArrowheads="1"/>
          </p:cNvSpPr>
          <p:nvPr>
            <p:ph type="title"/>
          </p:nvPr>
        </p:nvSpPr>
        <p:spPr>
          <a:xfrm>
            <a:off x="865188" y="583406"/>
            <a:ext cx="3821112" cy="504825"/>
          </a:xfrm>
        </p:spPr>
        <p:txBody>
          <a:bodyPr>
            <a:normAutofit/>
          </a:bodyPr>
          <a:lstStyle/>
          <a:p>
            <a:pPr eaLnBrk="1" hangingPunct="1"/>
            <a:r>
              <a:rPr lang="en-US" altLang="zh-CN" sz="2800" dirty="0">
                <a:latin typeface="Times New Roman" panose="02020603050405020304" pitchFamily="18" charset="0"/>
                <a:cs typeface="Times New Roman" panose="02020603050405020304" pitchFamily="18" charset="0"/>
              </a:rPr>
              <a:t>4.1.3 GCC</a:t>
            </a:r>
            <a:r>
              <a:rPr lang="zh-CN" altLang="en-US" sz="2800" dirty="0">
                <a:latin typeface="Times New Roman" panose="02020603050405020304" pitchFamily="18" charset="0"/>
                <a:cs typeface="Times New Roman" panose="02020603050405020304" pitchFamily="18" charset="0"/>
              </a:rPr>
              <a:t>工作过程</a:t>
            </a:r>
          </a:p>
        </p:txBody>
      </p:sp>
      <p:sp>
        <p:nvSpPr>
          <p:cNvPr id="29734" name="矩形 9">
            <a:hlinkClick r:id="rId2" action="ppaction://hlinksldjump"/>
            <a:extLst>
              <a:ext uri="{FF2B5EF4-FFF2-40B4-BE49-F238E27FC236}">
                <a16:creationId xmlns:a16="http://schemas.microsoft.com/office/drawing/2014/main" id="{E841860E-DFAF-45E1-9673-3E14B7DB7099}"/>
              </a:ext>
            </a:extLst>
          </p:cNvPr>
          <p:cNvSpPr>
            <a:spLocks noChangeArrowheads="1"/>
          </p:cNvSpPr>
          <p:nvPr/>
        </p:nvSpPr>
        <p:spPr bwMode="auto">
          <a:xfrm>
            <a:off x="244475" y="433387"/>
            <a:ext cx="4545013" cy="414338"/>
          </a:xfrm>
          <a:prstGeom prst="rect">
            <a:avLst/>
          </a:prstGeom>
        </p:spPr>
        <p:txBody>
          <a:bodyPr vert="horz" lIns="91440" tIns="45720" rIns="91440" bIns="45720" rtlCol="0" anchor="b">
            <a:normAutofit fontScale="70000" lnSpcReduction="20000"/>
          </a:bodyPr>
          <a:lstStyle/>
          <a:p>
            <a:pPr defTabSz="914400">
              <a:lnSpc>
                <a:spcPct val="85000"/>
              </a:lnSpc>
              <a:spcBef>
                <a:spcPct val="0"/>
              </a:spcBef>
            </a:pPr>
            <a:endParaRPr lang="zh-CN" altLang="en-US" sz="4000" spc="-50">
              <a:solidFill>
                <a:schemeClr val="tx1">
                  <a:lumMod val="75000"/>
                  <a:lumOff val="25000"/>
                </a:schemeClr>
              </a:solidFill>
              <a:latin typeface="+mj-lt"/>
              <a:ea typeface="+mj-ea"/>
              <a:cs typeface="+mj-cs"/>
            </a:endParaRPr>
          </a:p>
        </p:txBody>
      </p:sp>
      <p:sp>
        <p:nvSpPr>
          <p:cNvPr id="3" name="灯片编号占位符 2">
            <a:extLst>
              <a:ext uri="{FF2B5EF4-FFF2-40B4-BE49-F238E27FC236}">
                <a16:creationId xmlns:a16="http://schemas.microsoft.com/office/drawing/2014/main" id="{80AD96B5-165F-47A2-9D60-B62C79A2CBCE}"/>
              </a:ext>
            </a:extLst>
          </p:cNvPr>
          <p:cNvSpPr>
            <a:spLocks noGrp="1"/>
          </p:cNvSpPr>
          <p:nvPr>
            <p:ph type="sldNum" sz="quarter" idx="12"/>
          </p:nvPr>
        </p:nvSpPr>
        <p:spPr/>
        <p:txBody>
          <a:bodyPr/>
          <a:lstStyle/>
          <a:p>
            <a:fld id="{22E77DEE-32E4-4009-988B-F2758F7B8AC2}" type="slidenum">
              <a:rPr lang="zh-CN" altLang="en-US" smtClean="0"/>
              <a:t>17</a:t>
            </a:fld>
            <a:endParaRPr lang="zh-CN" altLang="en-US"/>
          </a:p>
        </p:txBody>
      </p:sp>
    </p:spTree>
    <p:extLst>
      <p:ext uri="{BB962C8B-B14F-4D97-AF65-F5344CB8AC3E}">
        <p14:creationId xmlns:p14="http://schemas.microsoft.com/office/powerpoint/2010/main" val="888485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8" name="Text Box 4">
            <a:extLst>
              <a:ext uri="{FF2B5EF4-FFF2-40B4-BE49-F238E27FC236}">
                <a16:creationId xmlns:a16="http://schemas.microsoft.com/office/drawing/2014/main" id="{DE7A60C5-669D-4659-A0DD-1F09A3E1BF83}"/>
              </a:ext>
            </a:extLst>
          </p:cNvPr>
          <p:cNvSpPr>
            <a:spLocks noGrp="1" noChangeArrowheads="1"/>
          </p:cNvSpPr>
          <p:nvPr>
            <p:ph type="body" idx="1"/>
          </p:nvPr>
        </p:nvSpPr>
        <p:spPr>
          <a:xfrm>
            <a:off x="674952" y="1015471"/>
            <a:ext cx="7794095" cy="2493962"/>
          </a:xfrm>
          <a:extLst>
            <a:ext uri="{909E8E84-426E-40DD-AFC4-6F175D3DCCD1}">
              <a14:hiddenFill xmlns:a14="http://schemas.microsoft.com/office/drawing/2010/main">
                <a:gradFill rotWithShape="0">
                  <a:gsLst>
                    <a:gs pos="0">
                      <a:schemeClr val="accent1"/>
                    </a:gs>
                    <a:gs pos="100000">
                      <a:schemeClr val="bg1"/>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a:bodyPr>
          <a:lstStyle/>
          <a:p>
            <a:pPr eaLnBrk="1" hangingPunct="1">
              <a:lnSpc>
                <a:spcPct val="125000"/>
              </a:lnSpc>
              <a:spcBef>
                <a:spcPct val="0"/>
              </a:spcBef>
              <a:buFont typeface="Wingdings" panose="05000000000000000000" pitchFamily="2" charset="2"/>
              <a:buChar char="Ø"/>
            </a:pPr>
            <a:r>
              <a:rPr kumimoji="1" lang="zh-CN" altLang="en-US" sz="2400" dirty="0"/>
              <a:t>单片微型计算机</a:t>
            </a:r>
            <a:r>
              <a:rPr kumimoji="1" lang="en-US" altLang="zh-CN" sz="2400" dirty="0"/>
              <a:t>(</a:t>
            </a:r>
            <a:r>
              <a:rPr kumimoji="1" lang="zh-CN" altLang="en-US" sz="2400" dirty="0"/>
              <a:t>简称单片机</a:t>
            </a:r>
            <a:r>
              <a:rPr kumimoji="1" lang="en-US" altLang="zh-CN" sz="2400" dirty="0"/>
              <a:t>)</a:t>
            </a:r>
            <a:r>
              <a:rPr kumimoji="1" lang="zh-CN" altLang="en-US" sz="2400" dirty="0"/>
              <a:t>在一片芯片上集成了前述微型计算机的功能结构，</a:t>
            </a:r>
            <a:endParaRPr kumimoji="1" lang="en-US" altLang="zh-CN" sz="2400" dirty="0"/>
          </a:p>
          <a:p>
            <a:pPr eaLnBrk="1" hangingPunct="1">
              <a:lnSpc>
                <a:spcPct val="125000"/>
              </a:lnSpc>
              <a:spcBef>
                <a:spcPct val="0"/>
              </a:spcBef>
              <a:buFont typeface="Wingdings" panose="05000000000000000000" pitchFamily="2" charset="2"/>
              <a:buChar char="Ø"/>
            </a:pPr>
            <a:r>
              <a:rPr kumimoji="1" lang="zh-CN" altLang="en-US" sz="2400" dirty="0"/>
              <a:t>有些单片机不仅集成了</a:t>
            </a:r>
            <a:r>
              <a:rPr kumimoji="1" lang="en-US" altLang="zh-CN" sz="2400" dirty="0">
                <a:solidFill>
                  <a:srgbClr val="CC3300"/>
                </a:solidFill>
              </a:rPr>
              <a:t>CPU</a:t>
            </a:r>
            <a:r>
              <a:rPr kumimoji="1" lang="zh-CN" altLang="en-US" sz="2400" dirty="0"/>
              <a:t>、</a:t>
            </a:r>
            <a:r>
              <a:rPr kumimoji="1" lang="zh-CN" altLang="en-US" sz="2400" dirty="0">
                <a:solidFill>
                  <a:srgbClr val="CC3300"/>
                </a:solidFill>
              </a:rPr>
              <a:t>存储程序和数据的存储器</a:t>
            </a:r>
            <a:r>
              <a:rPr kumimoji="1" lang="zh-CN" altLang="en-US" sz="2400" dirty="0"/>
              <a:t>、</a:t>
            </a:r>
            <a:r>
              <a:rPr kumimoji="1" lang="zh-CN" altLang="en-US" sz="2400" dirty="0">
                <a:solidFill>
                  <a:srgbClr val="CC3300"/>
                </a:solidFill>
              </a:rPr>
              <a:t>系统总线</a:t>
            </a:r>
            <a:r>
              <a:rPr kumimoji="1" lang="zh-CN" altLang="en-US" sz="2400" dirty="0"/>
              <a:t>、</a:t>
            </a:r>
            <a:r>
              <a:rPr kumimoji="1" lang="en-US" altLang="zh-CN" sz="2400" dirty="0">
                <a:solidFill>
                  <a:srgbClr val="CC3300"/>
                </a:solidFill>
              </a:rPr>
              <a:t>I/O</a:t>
            </a:r>
            <a:r>
              <a:rPr kumimoji="1" lang="zh-CN" altLang="en-US" sz="2400" dirty="0">
                <a:solidFill>
                  <a:srgbClr val="CC3300"/>
                </a:solidFill>
              </a:rPr>
              <a:t>接口</a:t>
            </a:r>
            <a:r>
              <a:rPr kumimoji="1" lang="zh-CN" altLang="en-US" sz="2400" dirty="0"/>
              <a:t>、</a:t>
            </a:r>
            <a:r>
              <a:rPr kumimoji="1" lang="zh-CN" altLang="en-US" sz="2400" dirty="0">
                <a:solidFill>
                  <a:srgbClr val="CC3300"/>
                </a:solidFill>
              </a:rPr>
              <a:t>定时</a:t>
            </a:r>
            <a:r>
              <a:rPr kumimoji="1" lang="en-US" altLang="zh-CN" sz="2400" dirty="0">
                <a:solidFill>
                  <a:srgbClr val="CC3300"/>
                </a:solidFill>
              </a:rPr>
              <a:t>/</a:t>
            </a:r>
            <a:r>
              <a:rPr kumimoji="1" lang="zh-CN" altLang="en-US" sz="2400" dirty="0">
                <a:solidFill>
                  <a:srgbClr val="CC3300"/>
                </a:solidFill>
              </a:rPr>
              <a:t>计数器</a:t>
            </a:r>
            <a:r>
              <a:rPr kumimoji="1" lang="zh-CN" altLang="en-US" sz="2400" dirty="0"/>
              <a:t>等常规资源，而且还集成了工业测控系统中常用的</a:t>
            </a:r>
            <a:r>
              <a:rPr kumimoji="1" lang="zh-CN" altLang="en-US" sz="2400" dirty="0">
                <a:solidFill>
                  <a:srgbClr val="CC3300"/>
                </a:solidFill>
              </a:rPr>
              <a:t>模拟量采集模块</a:t>
            </a:r>
            <a:r>
              <a:rPr kumimoji="1" lang="zh-CN" altLang="en-US" sz="2400" dirty="0"/>
              <a:t>。</a:t>
            </a:r>
            <a:r>
              <a:rPr kumimoji="1" lang="zh-CN" altLang="en-US" sz="2400" dirty="0">
                <a:solidFill>
                  <a:srgbClr val="3366FF"/>
                </a:solidFill>
              </a:rPr>
              <a:t> </a:t>
            </a:r>
          </a:p>
        </p:txBody>
      </p:sp>
      <p:sp>
        <p:nvSpPr>
          <p:cNvPr id="180254" name="Rectangle 30">
            <a:extLst>
              <a:ext uri="{FF2B5EF4-FFF2-40B4-BE49-F238E27FC236}">
                <a16:creationId xmlns:a16="http://schemas.microsoft.com/office/drawing/2014/main" id="{2718EBB3-F407-49DF-B233-BF131978A7CB}"/>
              </a:ext>
            </a:extLst>
          </p:cNvPr>
          <p:cNvSpPr>
            <a:spLocks noGrp="1" noChangeArrowheads="1"/>
          </p:cNvSpPr>
          <p:nvPr>
            <p:ph type="title"/>
          </p:nvPr>
        </p:nvSpPr>
        <p:spPr>
          <a:xfrm>
            <a:off x="710780" y="423862"/>
            <a:ext cx="3932767" cy="504825"/>
          </a:xfrm>
        </p:spPr>
        <p:txBody>
          <a:bodyPr vert="horz" lIns="91440" tIns="45720" rIns="91440" bIns="45720" rtlCol="0" anchor="b">
            <a:normAutofit/>
          </a:bodyPr>
          <a:lstStyle/>
          <a:p>
            <a:r>
              <a:rPr lang="en-US" altLang="zh-CN" sz="2800" dirty="0">
                <a:latin typeface="Times New Roman" panose="02020603050405020304" pitchFamily="18" charset="0"/>
                <a:cs typeface="Times New Roman" panose="02020603050405020304" pitchFamily="18" charset="0"/>
              </a:rPr>
              <a:t>4.2 </a:t>
            </a:r>
            <a:r>
              <a:rPr lang="zh-CN" altLang="en-US" sz="2800" dirty="0">
                <a:latin typeface="Times New Roman" panose="02020603050405020304" pitchFamily="18" charset="0"/>
                <a:cs typeface="Times New Roman" panose="02020603050405020304" pitchFamily="18" charset="0"/>
              </a:rPr>
              <a:t>单片机的内部结构</a:t>
            </a:r>
          </a:p>
        </p:txBody>
      </p:sp>
      <p:sp>
        <p:nvSpPr>
          <p:cNvPr id="4" name="矩形 3">
            <a:extLst>
              <a:ext uri="{FF2B5EF4-FFF2-40B4-BE49-F238E27FC236}">
                <a16:creationId xmlns:a16="http://schemas.microsoft.com/office/drawing/2014/main" id="{BAD56486-5155-4E82-A21C-E211302E1306}"/>
              </a:ext>
            </a:extLst>
          </p:cNvPr>
          <p:cNvSpPr/>
          <p:nvPr/>
        </p:nvSpPr>
        <p:spPr>
          <a:xfrm>
            <a:off x="526444" y="4751916"/>
            <a:ext cx="8234206" cy="1538288"/>
          </a:xfrm>
          <a:prstGeom prst="rect">
            <a:avLst/>
          </a:prstGeom>
          <a:ln>
            <a:solidFill>
              <a:srgbClr val="FF0000"/>
            </a:solidFill>
          </a:ln>
        </p:spPr>
        <p:txBody>
          <a:bodyPr wrap="square">
            <a:spAutoFit/>
          </a:bodyPr>
          <a:lstStyle/>
          <a:p>
            <a:pPr eaLnBrk="1" hangingPunct="1">
              <a:spcAft>
                <a:spcPts val="600"/>
              </a:spcAft>
              <a:defRPr/>
            </a:pPr>
            <a:r>
              <a:rPr kumimoji="1" lang="en-US" altLang="zh-CN" sz="2800" b="1" dirty="0">
                <a:solidFill>
                  <a:schemeClr val="accent2"/>
                </a:solidFill>
                <a:ea typeface="+mj-ea"/>
                <a:cs typeface="Times New Roman" panose="02020603050405020304" pitchFamily="18" charset="0"/>
              </a:rPr>
              <a:t>IAP15W4K58S4</a:t>
            </a:r>
            <a:r>
              <a:rPr kumimoji="1" lang="zh-CN" altLang="en-US" sz="2800" b="1" dirty="0">
                <a:solidFill>
                  <a:schemeClr val="accent2"/>
                </a:solidFill>
                <a:ea typeface="+mj-ea"/>
                <a:cs typeface="Times New Roman" panose="02020603050405020304" pitchFamily="18" charset="0"/>
              </a:rPr>
              <a:t>工作电压： </a:t>
            </a:r>
            <a:r>
              <a:rPr kumimoji="1" lang="en-US" altLang="zh-CN" sz="2800" b="1" dirty="0">
                <a:solidFill>
                  <a:schemeClr val="accent2"/>
                </a:solidFill>
                <a:ea typeface="+mj-ea"/>
                <a:cs typeface="Times New Roman" panose="02020603050405020304" pitchFamily="18" charset="0"/>
              </a:rPr>
              <a:t>2.5V - 5.5V</a:t>
            </a:r>
          </a:p>
          <a:p>
            <a:pPr eaLnBrk="1" hangingPunct="1">
              <a:spcAft>
                <a:spcPts val="600"/>
              </a:spcAft>
              <a:defRPr/>
            </a:pPr>
            <a:r>
              <a:rPr kumimoji="1" lang="en-US" altLang="zh-CN" sz="2800" b="1" dirty="0">
                <a:solidFill>
                  <a:schemeClr val="accent2"/>
                </a:solidFill>
                <a:ea typeface="+mj-ea"/>
                <a:cs typeface="Times New Roman" panose="02020603050405020304" pitchFamily="18" charset="0"/>
              </a:rPr>
              <a:t>STC15F2K60S2 </a:t>
            </a:r>
            <a:r>
              <a:rPr kumimoji="1" lang="zh-CN" altLang="en-US" sz="2800" b="1" dirty="0">
                <a:solidFill>
                  <a:schemeClr val="accent2"/>
                </a:solidFill>
                <a:ea typeface="+mj-ea"/>
                <a:cs typeface="Times New Roman" panose="02020603050405020304" pitchFamily="18" charset="0"/>
              </a:rPr>
              <a:t>系列工作电压</a:t>
            </a:r>
            <a:r>
              <a:rPr kumimoji="1" lang="en-US" altLang="zh-CN" sz="2800" b="1" dirty="0">
                <a:solidFill>
                  <a:schemeClr val="accent2"/>
                </a:solidFill>
                <a:ea typeface="+mj-ea"/>
                <a:cs typeface="Times New Roman" panose="02020603050405020304" pitchFamily="18" charset="0"/>
              </a:rPr>
              <a:t>:</a:t>
            </a:r>
            <a:r>
              <a:rPr kumimoji="1" lang="zh-CN" altLang="en-US" sz="2800" b="1" dirty="0">
                <a:solidFill>
                  <a:schemeClr val="accent2"/>
                </a:solidFill>
                <a:ea typeface="+mj-ea"/>
                <a:cs typeface="Times New Roman" panose="02020603050405020304" pitchFamily="18" charset="0"/>
              </a:rPr>
              <a:t> </a:t>
            </a:r>
            <a:r>
              <a:rPr kumimoji="1" lang="en-US" altLang="zh-CN" sz="2800" b="1" dirty="0">
                <a:solidFill>
                  <a:schemeClr val="accent2"/>
                </a:solidFill>
                <a:ea typeface="+mj-ea"/>
                <a:cs typeface="Times New Roman" panose="02020603050405020304" pitchFamily="18" charset="0"/>
              </a:rPr>
              <a:t>5.5V - 3.8V(</a:t>
            </a:r>
            <a:r>
              <a:rPr kumimoji="1" lang="zh-CN" altLang="en-US" sz="2800" b="1" dirty="0">
                <a:solidFill>
                  <a:schemeClr val="accent2"/>
                </a:solidFill>
                <a:ea typeface="+mj-ea"/>
                <a:cs typeface="Times New Roman" panose="02020603050405020304" pitchFamily="18" charset="0"/>
              </a:rPr>
              <a:t> </a:t>
            </a:r>
            <a:r>
              <a:rPr kumimoji="1" lang="en-US" altLang="zh-CN" sz="2800" b="1" dirty="0">
                <a:solidFill>
                  <a:schemeClr val="accent2"/>
                </a:solidFill>
                <a:ea typeface="+mj-ea"/>
                <a:cs typeface="Times New Roman" panose="02020603050405020304" pitchFamily="18" charset="0"/>
              </a:rPr>
              <a:t>5V </a:t>
            </a:r>
            <a:r>
              <a:rPr kumimoji="1" lang="zh-CN" altLang="en-US" sz="2800" b="1" dirty="0">
                <a:solidFill>
                  <a:schemeClr val="accent2"/>
                </a:solidFill>
                <a:ea typeface="+mj-ea"/>
                <a:cs typeface="Times New Roman" panose="02020603050405020304" pitchFamily="18" charset="0"/>
              </a:rPr>
              <a:t>单片机</a:t>
            </a:r>
            <a:r>
              <a:rPr kumimoji="1" lang="en-US" altLang="zh-CN" sz="2800" b="1" dirty="0">
                <a:solidFill>
                  <a:schemeClr val="accent2"/>
                </a:solidFill>
                <a:ea typeface="+mj-ea"/>
                <a:cs typeface="Times New Roman" panose="02020603050405020304" pitchFamily="18" charset="0"/>
              </a:rPr>
              <a:t>)</a:t>
            </a:r>
          </a:p>
          <a:p>
            <a:pPr eaLnBrk="1" hangingPunct="1">
              <a:spcAft>
                <a:spcPts val="600"/>
              </a:spcAft>
              <a:defRPr/>
            </a:pPr>
            <a:r>
              <a:rPr kumimoji="1" lang="en-US" altLang="zh-CN" sz="2800" b="1" dirty="0">
                <a:solidFill>
                  <a:schemeClr val="accent2"/>
                </a:solidFill>
                <a:ea typeface="+mj-ea"/>
                <a:cs typeface="Times New Roman" panose="02020603050405020304" pitchFamily="18" charset="0"/>
              </a:rPr>
              <a:t>STC15L2K60S2 </a:t>
            </a:r>
            <a:r>
              <a:rPr kumimoji="1" lang="zh-CN" altLang="en-US" sz="2800" b="1" dirty="0">
                <a:solidFill>
                  <a:schemeClr val="accent2"/>
                </a:solidFill>
                <a:ea typeface="+mj-ea"/>
                <a:cs typeface="Times New Roman" panose="02020603050405020304" pitchFamily="18" charset="0"/>
              </a:rPr>
              <a:t>系列工作电压</a:t>
            </a:r>
            <a:r>
              <a:rPr kumimoji="1" lang="en-US" altLang="zh-CN" sz="2800" b="1" dirty="0">
                <a:solidFill>
                  <a:schemeClr val="accent2"/>
                </a:solidFill>
                <a:ea typeface="+mj-ea"/>
                <a:cs typeface="Times New Roman" panose="02020603050405020304" pitchFamily="18" charset="0"/>
              </a:rPr>
              <a:t>:</a:t>
            </a:r>
            <a:r>
              <a:rPr kumimoji="1" lang="zh-CN" altLang="en-US" sz="2800" b="1" dirty="0">
                <a:solidFill>
                  <a:schemeClr val="accent2"/>
                </a:solidFill>
                <a:ea typeface="+mj-ea"/>
                <a:cs typeface="Times New Roman" panose="02020603050405020304" pitchFamily="18" charset="0"/>
              </a:rPr>
              <a:t> </a:t>
            </a:r>
            <a:r>
              <a:rPr kumimoji="1" lang="en-US" altLang="zh-CN" sz="2800" b="1" dirty="0">
                <a:solidFill>
                  <a:schemeClr val="accent2"/>
                </a:solidFill>
                <a:ea typeface="+mj-ea"/>
                <a:cs typeface="Times New Roman" panose="02020603050405020304" pitchFamily="18" charset="0"/>
              </a:rPr>
              <a:t>3.6V - 2.4V(</a:t>
            </a:r>
            <a:r>
              <a:rPr kumimoji="1" lang="zh-CN" altLang="en-US" sz="2800" b="1" dirty="0">
                <a:solidFill>
                  <a:schemeClr val="accent2"/>
                </a:solidFill>
                <a:ea typeface="+mj-ea"/>
                <a:cs typeface="Times New Roman" panose="02020603050405020304" pitchFamily="18" charset="0"/>
              </a:rPr>
              <a:t> </a:t>
            </a:r>
            <a:r>
              <a:rPr kumimoji="1" lang="en-US" altLang="zh-CN" sz="2800" b="1" dirty="0">
                <a:solidFill>
                  <a:schemeClr val="accent2"/>
                </a:solidFill>
                <a:ea typeface="+mj-ea"/>
                <a:cs typeface="Times New Roman" panose="02020603050405020304" pitchFamily="18" charset="0"/>
              </a:rPr>
              <a:t>3V </a:t>
            </a:r>
            <a:r>
              <a:rPr kumimoji="1" lang="zh-CN" altLang="en-US" sz="2800" b="1" dirty="0">
                <a:solidFill>
                  <a:schemeClr val="accent2"/>
                </a:solidFill>
                <a:ea typeface="+mj-ea"/>
                <a:cs typeface="Times New Roman" panose="02020603050405020304" pitchFamily="18" charset="0"/>
              </a:rPr>
              <a:t>单片机</a:t>
            </a:r>
            <a:r>
              <a:rPr kumimoji="1" lang="en-US" altLang="zh-CN" sz="2800" b="1" dirty="0">
                <a:solidFill>
                  <a:schemeClr val="accent2"/>
                </a:solidFill>
                <a:ea typeface="+mj-ea"/>
                <a:cs typeface="Times New Roman" panose="02020603050405020304" pitchFamily="18" charset="0"/>
              </a:rPr>
              <a:t>)</a:t>
            </a:r>
            <a:endParaRPr kumimoji="1" lang="zh-CN" altLang="en-US" sz="2800" b="1" dirty="0">
              <a:solidFill>
                <a:schemeClr val="accent2"/>
              </a:solidFill>
              <a:ea typeface="+mj-ea"/>
              <a:cs typeface="Times New Roman" panose="02020603050405020304" pitchFamily="18" charset="0"/>
            </a:endParaRPr>
          </a:p>
        </p:txBody>
      </p:sp>
      <p:pic>
        <p:nvPicPr>
          <p:cNvPr id="6" name="图片 5">
            <a:extLst>
              <a:ext uri="{FF2B5EF4-FFF2-40B4-BE49-F238E27FC236}">
                <a16:creationId xmlns:a16="http://schemas.microsoft.com/office/drawing/2014/main" id="{D183DB51-0AA4-4FFD-94E4-1CCE8CB224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18300" y="2900826"/>
            <a:ext cx="1845799" cy="1805082"/>
          </a:xfrm>
          <a:prstGeom prst="rect">
            <a:avLst/>
          </a:prstGeom>
        </p:spPr>
      </p:pic>
      <p:sp>
        <p:nvSpPr>
          <p:cNvPr id="7" name="灯片编号占位符 6">
            <a:extLst>
              <a:ext uri="{FF2B5EF4-FFF2-40B4-BE49-F238E27FC236}">
                <a16:creationId xmlns:a16="http://schemas.microsoft.com/office/drawing/2014/main" id="{42ADFD72-80D1-47E7-B702-B9E819EBC352}"/>
              </a:ext>
            </a:extLst>
          </p:cNvPr>
          <p:cNvSpPr>
            <a:spLocks noGrp="1"/>
          </p:cNvSpPr>
          <p:nvPr>
            <p:ph type="sldNum" sz="quarter" idx="12"/>
          </p:nvPr>
        </p:nvSpPr>
        <p:spPr/>
        <p:txBody>
          <a:bodyPr/>
          <a:lstStyle/>
          <a:p>
            <a:fld id="{22E77DEE-32E4-4009-988B-F2758F7B8AC2}" type="slidenum">
              <a:rPr lang="zh-CN" altLang="en-US" smtClean="0"/>
              <a:t>18</a:t>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0F2E25D-9ED4-4A87-9B87-0856D8357728}"/>
              </a:ext>
            </a:extLst>
          </p:cNvPr>
          <p:cNvSpPr>
            <a:spLocks noGrp="1"/>
          </p:cNvSpPr>
          <p:nvPr>
            <p:ph type="title"/>
          </p:nvPr>
        </p:nvSpPr>
        <p:spPr>
          <a:xfrm>
            <a:off x="764646" y="509588"/>
            <a:ext cx="5051954" cy="504825"/>
          </a:xfrm>
        </p:spPr>
        <p:txBody>
          <a:bodyPr vert="horz" lIns="91440" tIns="45720" rIns="91440" bIns="45720" rtlCol="0" anchor="b">
            <a:normAutofit/>
          </a:bodyPr>
          <a:lstStyle/>
          <a:p>
            <a:r>
              <a:rPr lang="en-US" altLang="zh-CN" sz="2800" dirty="0">
                <a:latin typeface="Times New Roman" panose="02020603050405020304" pitchFamily="18" charset="0"/>
                <a:cs typeface="Times New Roman" panose="02020603050405020304" pitchFamily="18" charset="0"/>
              </a:rPr>
              <a:t>4.2</a:t>
            </a:r>
            <a:r>
              <a:rPr lang="zh-CN" altLang="en-US" sz="2800" dirty="0">
                <a:latin typeface="Times New Roman" panose="02020603050405020304" pitchFamily="18" charset="0"/>
                <a:cs typeface="Times New Roman" panose="02020603050405020304" pitchFamily="18" charset="0"/>
              </a:rPr>
              <a:t>单片机的内部结构</a:t>
            </a:r>
          </a:p>
        </p:txBody>
      </p:sp>
      <p:sp>
        <p:nvSpPr>
          <p:cNvPr id="453635" name="Rectangle 3">
            <a:extLst>
              <a:ext uri="{FF2B5EF4-FFF2-40B4-BE49-F238E27FC236}">
                <a16:creationId xmlns:a16="http://schemas.microsoft.com/office/drawing/2014/main" id="{C18463E4-8ED3-4D36-901F-0C3FEB448CF6}"/>
              </a:ext>
            </a:extLst>
          </p:cNvPr>
          <p:cNvSpPr>
            <a:spLocks noGrp="1" noChangeArrowheads="1"/>
          </p:cNvSpPr>
          <p:nvPr>
            <p:ph idx="1"/>
          </p:nvPr>
        </p:nvSpPr>
        <p:spPr>
          <a:xfrm>
            <a:off x="821125" y="1420283"/>
            <a:ext cx="7427806" cy="3270250"/>
          </a:xfrm>
        </p:spPr>
        <p:txBody>
          <a:bodyPr/>
          <a:lstStyle/>
          <a:p>
            <a:pPr marL="261938" lvl="1" indent="-261938" algn="l" eaLnBrk="1" hangingPunct="1">
              <a:spcBef>
                <a:spcPct val="0"/>
              </a:spcBef>
              <a:spcAft>
                <a:spcPts val="1200"/>
              </a:spcAft>
            </a:pPr>
            <a:r>
              <a:rPr lang="en-US" altLang="zh-CN" dirty="0">
                <a:solidFill>
                  <a:srgbClr val="FF0000"/>
                </a:solidFill>
                <a:latin typeface="Times New Roman" panose="02020603050405020304" pitchFamily="18" charset="0"/>
                <a:cs typeface="Times New Roman" panose="02020603050405020304" pitchFamily="18" charset="0"/>
              </a:rPr>
              <a:t>8051</a:t>
            </a:r>
            <a:r>
              <a:rPr lang="zh-CN" altLang="en-US" dirty="0">
                <a:solidFill>
                  <a:srgbClr val="FF0000"/>
                </a:solidFill>
                <a:latin typeface="Times New Roman" panose="02020603050405020304" pitchFamily="18" charset="0"/>
                <a:cs typeface="Times New Roman" panose="02020603050405020304" pitchFamily="18" charset="0"/>
              </a:rPr>
              <a:t>内核</a:t>
            </a:r>
            <a:r>
              <a:rPr lang="zh-CN" altLang="en-US" dirty="0">
                <a:latin typeface="Times New Roman" panose="02020603050405020304" pitchFamily="18" charset="0"/>
                <a:cs typeface="Times New Roman" panose="02020603050405020304" pitchFamily="18" charset="0"/>
              </a:rPr>
              <a:t>是</a:t>
            </a:r>
            <a:r>
              <a:rPr lang="en-US" altLang="zh-CN" dirty="0">
                <a:latin typeface="Times New Roman" panose="02020603050405020304" pitchFamily="18" charset="0"/>
                <a:cs typeface="Times New Roman" panose="02020603050405020304" pitchFamily="18" charset="0"/>
              </a:rPr>
              <a:t>Intel 8051</a:t>
            </a:r>
            <a:r>
              <a:rPr lang="zh-CN" altLang="en-US" dirty="0">
                <a:latin typeface="Times New Roman" panose="02020603050405020304" pitchFamily="18" charset="0"/>
                <a:cs typeface="Times New Roman" panose="02020603050405020304" pitchFamily="18" charset="0"/>
              </a:rPr>
              <a:t>系列单片机的基本标准，许多参考书上将这种单片机称为</a:t>
            </a:r>
            <a:r>
              <a:rPr lang="en-US" altLang="zh-CN" dirty="0">
                <a:solidFill>
                  <a:srgbClr val="FF0000"/>
                </a:solidFill>
                <a:latin typeface="Times New Roman" panose="02020603050405020304" pitchFamily="18" charset="0"/>
                <a:cs typeface="Times New Roman" panose="02020603050405020304" pitchFamily="18" charset="0"/>
              </a:rPr>
              <a:t>MCS-51</a:t>
            </a:r>
            <a:r>
              <a:rPr lang="zh-CN" altLang="en-US" dirty="0">
                <a:solidFill>
                  <a:srgbClr val="FF0000"/>
                </a:solidFill>
                <a:latin typeface="Times New Roman" panose="02020603050405020304" pitchFamily="18" charset="0"/>
                <a:cs typeface="Times New Roman" panose="02020603050405020304" pitchFamily="18" charset="0"/>
              </a:rPr>
              <a:t>系列单片机</a:t>
            </a:r>
            <a:r>
              <a:rPr lang="zh-CN" altLang="en-US" dirty="0">
                <a:latin typeface="Times New Roman" panose="02020603050405020304" pitchFamily="18" charset="0"/>
                <a:cs typeface="Times New Roman" panose="02020603050405020304" pitchFamily="18" charset="0"/>
              </a:rPr>
              <a:t>。</a:t>
            </a:r>
          </a:p>
          <a:p>
            <a:pPr marL="261938" lvl="1" indent="-261938" algn="l" eaLnBrk="1" hangingPunct="1">
              <a:spcBef>
                <a:spcPct val="0"/>
              </a:spcBef>
              <a:spcAft>
                <a:spcPts val="1200"/>
              </a:spcAft>
            </a:pPr>
            <a:r>
              <a:rPr lang="en-US" altLang="zh-CN" dirty="0">
                <a:latin typeface="Times New Roman" panose="02020603050405020304" pitchFamily="18" charset="0"/>
                <a:cs typeface="Times New Roman" panose="02020603050405020304" pitchFamily="18" charset="0"/>
              </a:rPr>
              <a:t>MCS-51</a:t>
            </a:r>
            <a:r>
              <a:rPr lang="zh-CN" altLang="en-US" dirty="0">
                <a:latin typeface="Times New Roman" panose="02020603050405020304" pitchFamily="18" charset="0"/>
                <a:cs typeface="Times New Roman" panose="02020603050405020304" pitchFamily="18" charset="0"/>
              </a:rPr>
              <a:t>系列单片机典型产品为</a:t>
            </a:r>
            <a:r>
              <a:rPr lang="en-US" altLang="zh-CN" dirty="0">
                <a:latin typeface="Times New Roman" panose="02020603050405020304" pitchFamily="18" charset="0"/>
                <a:cs typeface="Times New Roman" panose="02020603050405020304" pitchFamily="18" charset="0"/>
              </a:rPr>
              <a:t>8051,</a:t>
            </a:r>
            <a:r>
              <a:rPr lang="zh-CN" altLang="en-US" dirty="0">
                <a:latin typeface="Times New Roman" panose="02020603050405020304" pitchFamily="18" charset="0"/>
                <a:cs typeface="Times New Roman" panose="02020603050405020304" pitchFamily="18" charset="0"/>
              </a:rPr>
              <a:t>有</a:t>
            </a:r>
            <a:r>
              <a:rPr lang="en-US" altLang="zh-CN" dirty="0">
                <a:solidFill>
                  <a:srgbClr val="FF0000"/>
                </a:solidFill>
                <a:latin typeface="Times New Roman" panose="02020603050405020304" pitchFamily="18" charset="0"/>
                <a:cs typeface="Times New Roman" panose="02020603050405020304" pitchFamily="18" charset="0"/>
              </a:rPr>
              <a:t>4K×8</a:t>
            </a:r>
            <a:r>
              <a:rPr lang="zh-CN" altLang="en-US" dirty="0">
                <a:solidFill>
                  <a:srgbClr val="FF0000"/>
                </a:solidFill>
                <a:latin typeface="Times New Roman" panose="02020603050405020304" pitchFamily="18" charset="0"/>
                <a:cs typeface="Times New Roman" panose="02020603050405020304" pitchFamily="18" charset="0"/>
              </a:rPr>
              <a:t>位</a:t>
            </a:r>
            <a:r>
              <a:rPr lang="en-US" altLang="zh-CN" dirty="0">
                <a:solidFill>
                  <a:srgbClr val="FF0000"/>
                </a:solidFill>
                <a:latin typeface="Times New Roman" panose="02020603050405020304" pitchFamily="18" charset="0"/>
                <a:cs typeface="Times New Roman" panose="02020603050405020304" pitchFamily="18" charset="0"/>
              </a:rPr>
              <a:t>ROM</a:t>
            </a:r>
            <a:r>
              <a:rPr lang="en-US" altLang="zh-CN" dirty="0">
                <a:latin typeface="Times New Roman" panose="02020603050405020304" pitchFamily="18" charset="0"/>
                <a:cs typeface="Times New Roman" panose="02020603050405020304" pitchFamily="18" charset="0"/>
              </a:rPr>
              <a:t>, </a:t>
            </a:r>
            <a:r>
              <a:rPr lang="en-US" altLang="zh-CN" dirty="0">
                <a:solidFill>
                  <a:srgbClr val="FF0000"/>
                </a:solidFill>
                <a:latin typeface="Times New Roman" panose="02020603050405020304" pitchFamily="18" charset="0"/>
                <a:cs typeface="Times New Roman" panose="02020603050405020304" pitchFamily="18" charset="0"/>
              </a:rPr>
              <a:t>128</a:t>
            </a:r>
            <a:r>
              <a:rPr lang="zh-CN" altLang="en-US" dirty="0">
                <a:solidFill>
                  <a:srgbClr val="FF0000"/>
                </a:solidFill>
                <a:latin typeface="Times New Roman" panose="02020603050405020304" pitchFamily="18" charset="0"/>
                <a:cs typeface="Times New Roman" panose="02020603050405020304" pitchFamily="18" charset="0"/>
              </a:rPr>
              <a:t>字节</a:t>
            </a:r>
            <a:r>
              <a:rPr lang="en-US" altLang="zh-CN" dirty="0">
                <a:solidFill>
                  <a:srgbClr val="FF0000"/>
                </a:solidFill>
                <a:latin typeface="Times New Roman" panose="02020603050405020304" pitchFamily="18" charset="0"/>
                <a:cs typeface="Times New Roman" panose="02020603050405020304" pitchFamily="18" charset="0"/>
              </a:rPr>
              <a:t>RAM</a:t>
            </a:r>
            <a:r>
              <a:rPr lang="en-US" altLang="zh-CN" dirty="0">
                <a:latin typeface="Times New Roman" panose="02020603050405020304" pitchFamily="18" charset="0"/>
                <a:cs typeface="Times New Roman" panose="02020603050405020304" pitchFamily="18" charset="0"/>
              </a:rPr>
              <a:t>,  </a:t>
            </a:r>
            <a:r>
              <a:rPr lang="en-US" altLang="zh-CN" dirty="0">
                <a:solidFill>
                  <a:srgbClr val="3366FF"/>
                </a:solidFill>
                <a:latin typeface="Times New Roman" panose="02020603050405020304" pitchFamily="18" charset="0"/>
                <a:cs typeface="Times New Roman" panose="02020603050405020304" pitchFamily="18" charset="0"/>
              </a:rPr>
              <a:t>2</a:t>
            </a:r>
            <a:r>
              <a:rPr lang="zh-CN" altLang="en-US" dirty="0">
                <a:solidFill>
                  <a:srgbClr val="3366FF"/>
                </a:solidFill>
                <a:latin typeface="Times New Roman" panose="02020603050405020304" pitchFamily="18" charset="0"/>
                <a:cs typeface="Times New Roman" panose="02020603050405020304" pitchFamily="18" charset="0"/>
              </a:rPr>
              <a:t>个</a:t>
            </a:r>
            <a:r>
              <a:rPr lang="en-US" altLang="zh-CN" dirty="0">
                <a:solidFill>
                  <a:srgbClr val="3366FF"/>
                </a:solidFill>
                <a:latin typeface="Times New Roman" panose="02020603050405020304" pitchFamily="18" charset="0"/>
                <a:cs typeface="Times New Roman" panose="02020603050405020304" pitchFamily="18" charset="0"/>
              </a:rPr>
              <a:t>16</a:t>
            </a:r>
            <a:r>
              <a:rPr lang="zh-CN" altLang="en-US" dirty="0">
                <a:solidFill>
                  <a:srgbClr val="3366FF"/>
                </a:solidFill>
                <a:latin typeface="Times New Roman" panose="02020603050405020304" pitchFamily="18" charset="0"/>
                <a:cs typeface="Times New Roman" panose="02020603050405020304" pitchFamily="18" charset="0"/>
              </a:rPr>
              <a:t>位定时</a:t>
            </a:r>
            <a:r>
              <a:rPr lang="en-US" altLang="zh-CN" dirty="0">
                <a:solidFill>
                  <a:srgbClr val="3366FF"/>
                </a:solidFill>
                <a:latin typeface="Times New Roman" panose="02020603050405020304" pitchFamily="18" charset="0"/>
                <a:cs typeface="Times New Roman" panose="02020603050405020304" pitchFamily="18" charset="0"/>
              </a:rPr>
              <a:t>/</a:t>
            </a:r>
            <a:r>
              <a:rPr lang="zh-CN" altLang="en-US" dirty="0">
                <a:solidFill>
                  <a:srgbClr val="3366FF"/>
                </a:solidFill>
                <a:latin typeface="Times New Roman" panose="02020603050405020304" pitchFamily="18" charset="0"/>
                <a:cs typeface="Times New Roman" panose="02020603050405020304" pitchFamily="18" charset="0"/>
              </a:rPr>
              <a:t>计数器</a:t>
            </a:r>
            <a:r>
              <a:rPr lang="en-US" altLang="zh-CN" dirty="0">
                <a:latin typeface="Times New Roman" panose="02020603050405020304" pitchFamily="18" charset="0"/>
                <a:cs typeface="Times New Roman" panose="02020603050405020304" pitchFamily="18" charset="0"/>
              </a:rPr>
              <a:t>,  </a:t>
            </a:r>
            <a:r>
              <a:rPr lang="en-US" altLang="zh-CN" dirty="0">
                <a:solidFill>
                  <a:srgbClr val="3366FF"/>
                </a:solidFill>
                <a:latin typeface="Times New Roman" panose="02020603050405020304" pitchFamily="18" charset="0"/>
                <a:cs typeface="Times New Roman" panose="02020603050405020304" pitchFamily="18" charset="0"/>
              </a:rPr>
              <a:t>4</a:t>
            </a:r>
            <a:r>
              <a:rPr lang="zh-CN" altLang="en-US" dirty="0">
                <a:solidFill>
                  <a:srgbClr val="3366FF"/>
                </a:solidFill>
                <a:latin typeface="Times New Roman" panose="02020603050405020304" pitchFamily="18" charset="0"/>
                <a:cs typeface="Times New Roman" panose="02020603050405020304" pitchFamily="18" charset="0"/>
              </a:rPr>
              <a:t>个</a:t>
            </a:r>
            <a:r>
              <a:rPr lang="en-US" altLang="zh-CN" dirty="0">
                <a:solidFill>
                  <a:srgbClr val="3366FF"/>
                </a:solidFill>
                <a:latin typeface="Times New Roman" panose="02020603050405020304" pitchFamily="18" charset="0"/>
                <a:cs typeface="Times New Roman" panose="02020603050405020304" pitchFamily="18" charset="0"/>
              </a:rPr>
              <a:t>8</a:t>
            </a:r>
            <a:r>
              <a:rPr lang="zh-CN" altLang="en-US" dirty="0">
                <a:solidFill>
                  <a:srgbClr val="3366FF"/>
                </a:solidFill>
                <a:latin typeface="Times New Roman" panose="02020603050405020304" pitchFamily="18" charset="0"/>
                <a:cs typeface="Times New Roman" panose="02020603050405020304" pitchFamily="18" charset="0"/>
              </a:rPr>
              <a:t>位</a:t>
            </a:r>
            <a:r>
              <a:rPr lang="en-US" altLang="zh-CN" dirty="0">
                <a:solidFill>
                  <a:srgbClr val="3366FF"/>
                </a:solidFill>
                <a:latin typeface="Times New Roman" panose="02020603050405020304" pitchFamily="18" charset="0"/>
                <a:cs typeface="Times New Roman" panose="02020603050405020304" pitchFamily="18" charset="0"/>
              </a:rPr>
              <a:t>I/O</a:t>
            </a:r>
            <a:r>
              <a:rPr lang="zh-CN" altLang="en-US" dirty="0">
                <a:solidFill>
                  <a:srgbClr val="3366FF"/>
                </a:solidFill>
                <a:latin typeface="Times New Roman" panose="02020603050405020304" pitchFamily="18" charset="0"/>
                <a:cs typeface="Times New Roman" panose="02020603050405020304" pitchFamily="18" charset="0"/>
              </a:rPr>
              <a:t>口</a:t>
            </a:r>
            <a:r>
              <a:rPr lang="zh-CN" altLang="en-US" dirty="0">
                <a:latin typeface="Times New Roman" panose="02020603050405020304" pitchFamily="18" charset="0"/>
                <a:cs typeface="Times New Roman" panose="02020603050405020304" pitchFamily="18" charset="0"/>
              </a:rPr>
              <a:t>，一个串行口，</a:t>
            </a:r>
            <a:r>
              <a:rPr lang="en-US" altLang="zh-CN" dirty="0">
                <a:latin typeface="Times New Roman" panose="02020603050405020304" pitchFamily="18" charset="0"/>
                <a:cs typeface="Times New Roman" panose="02020603050405020304" pitchFamily="18" charset="0"/>
              </a:rPr>
              <a:t>111</a:t>
            </a:r>
            <a:r>
              <a:rPr lang="zh-CN" altLang="en-US" dirty="0">
                <a:latin typeface="Times New Roman" panose="02020603050405020304" pitchFamily="18" charset="0"/>
                <a:cs typeface="Times New Roman" panose="02020603050405020304" pitchFamily="18" charset="0"/>
              </a:rPr>
              <a:t>条指令。</a:t>
            </a:r>
          </a:p>
          <a:p>
            <a:pPr marL="261938" lvl="1" indent="-261938" algn="l" eaLnBrk="1" hangingPunct="1">
              <a:spcBef>
                <a:spcPct val="0"/>
              </a:spcBef>
              <a:spcAft>
                <a:spcPts val="1200"/>
              </a:spcAft>
            </a:pPr>
            <a:r>
              <a:rPr lang="zh-CN" altLang="en-US" dirty="0">
                <a:latin typeface="Times New Roman" panose="02020603050405020304" pitchFamily="18" charset="0"/>
                <a:cs typeface="Times New Roman" panose="02020603050405020304" pitchFamily="18" charset="0"/>
              </a:rPr>
              <a:t>上世纪</a:t>
            </a:r>
            <a:r>
              <a:rPr lang="en-US" altLang="zh-CN" dirty="0">
                <a:latin typeface="Times New Roman" panose="02020603050405020304" pitchFamily="18" charset="0"/>
                <a:cs typeface="Times New Roman" panose="02020603050405020304" pitchFamily="18" charset="0"/>
              </a:rPr>
              <a:t>80</a:t>
            </a:r>
            <a:r>
              <a:rPr lang="zh-CN" altLang="en-US" dirty="0">
                <a:latin typeface="Times New Roman" panose="02020603050405020304" pitchFamily="18" charset="0"/>
                <a:cs typeface="Times New Roman" panose="02020603050405020304" pitchFamily="18" charset="0"/>
              </a:rPr>
              <a:t>年代</a:t>
            </a:r>
            <a:r>
              <a:rPr lang="en-US" altLang="zh-CN" dirty="0">
                <a:latin typeface="Times New Roman" panose="02020603050405020304" pitchFamily="18" charset="0"/>
                <a:cs typeface="Times New Roman" panose="02020603050405020304" pitchFamily="18" charset="0"/>
              </a:rPr>
              <a:t>,Intel</a:t>
            </a:r>
            <a:r>
              <a:rPr lang="zh-CN" altLang="en-US" dirty="0">
                <a:latin typeface="Times New Roman" panose="02020603050405020304" pitchFamily="18" charset="0"/>
                <a:cs typeface="Times New Roman" panose="02020603050405020304" pitchFamily="18" charset="0"/>
              </a:rPr>
              <a:t>将</a:t>
            </a:r>
            <a:r>
              <a:rPr lang="en-US" altLang="zh-CN" dirty="0">
                <a:solidFill>
                  <a:srgbClr val="3366FF"/>
                </a:solidFill>
                <a:latin typeface="Times New Roman" panose="02020603050405020304" pitchFamily="18" charset="0"/>
                <a:cs typeface="Times New Roman" panose="02020603050405020304" pitchFamily="18" charset="0"/>
              </a:rPr>
              <a:t>8051</a:t>
            </a:r>
            <a:r>
              <a:rPr lang="zh-CN" altLang="en-US" dirty="0">
                <a:solidFill>
                  <a:srgbClr val="3366FF"/>
                </a:solidFill>
                <a:latin typeface="Times New Roman" panose="02020603050405020304" pitchFamily="18" charset="0"/>
                <a:cs typeface="Times New Roman" panose="02020603050405020304" pitchFamily="18" charset="0"/>
              </a:rPr>
              <a:t>内核出售给</a:t>
            </a:r>
            <a:r>
              <a:rPr lang="zh-CN" altLang="en-US" dirty="0">
                <a:latin typeface="Times New Roman" panose="02020603050405020304" pitchFamily="18" charset="0"/>
                <a:cs typeface="Times New Roman" panose="02020603050405020304" pitchFamily="18" charset="0"/>
              </a:rPr>
              <a:t>几家著名的</a:t>
            </a:r>
            <a:r>
              <a:rPr lang="en-US" altLang="zh-CN" dirty="0">
                <a:latin typeface="Times New Roman" panose="02020603050405020304" pitchFamily="18" charset="0"/>
                <a:cs typeface="Times New Roman" panose="02020603050405020304" pitchFamily="18" charset="0"/>
              </a:rPr>
              <a:t>IC</a:t>
            </a:r>
            <a:r>
              <a:rPr lang="zh-CN" altLang="en-US" dirty="0">
                <a:latin typeface="Times New Roman" panose="02020603050405020304" pitchFamily="18" charset="0"/>
                <a:cs typeface="Times New Roman" panose="02020603050405020304" pitchFamily="18" charset="0"/>
              </a:rPr>
              <a:t>厂商，如</a:t>
            </a:r>
            <a:r>
              <a:rPr lang="en-US" altLang="zh-CN" dirty="0">
                <a:solidFill>
                  <a:srgbClr val="3366FF"/>
                </a:solidFill>
                <a:latin typeface="Times New Roman" panose="02020603050405020304" pitchFamily="18" charset="0"/>
                <a:cs typeface="Times New Roman" panose="02020603050405020304" pitchFamily="18" charset="0"/>
              </a:rPr>
              <a:t>Philips</a:t>
            </a:r>
            <a:r>
              <a:rPr lang="zh-CN" altLang="en-US" dirty="0">
                <a:solidFill>
                  <a:srgbClr val="3366FF"/>
                </a:solidFill>
                <a:latin typeface="Times New Roman" panose="02020603050405020304" pitchFamily="18" charset="0"/>
                <a:cs typeface="Times New Roman" panose="02020603050405020304" pitchFamily="18" charset="0"/>
              </a:rPr>
              <a:t>，</a:t>
            </a:r>
            <a:r>
              <a:rPr lang="en-US" altLang="zh-CN" dirty="0">
                <a:solidFill>
                  <a:srgbClr val="3366FF"/>
                </a:solidFill>
                <a:latin typeface="Times New Roman" panose="02020603050405020304" pitchFamily="18" charset="0"/>
                <a:cs typeface="Times New Roman" panose="02020603050405020304" pitchFamily="18" charset="0"/>
              </a:rPr>
              <a:t>Atmel</a:t>
            </a:r>
            <a:r>
              <a:rPr lang="zh-CN" altLang="en-US" dirty="0">
                <a:latin typeface="Times New Roman" panose="02020603050405020304" pitchFamily="18" charset="0"/>
                <a:cs typeface="Times New Roman" panose="02020603050405020304" pitchFamily="18" charset="0"/>
              </a:rPr>
              <a:t>等。这样，</a:t>
            </a:r>
            <a:r>
              <a:rPr lang="en-US" altLang="zh-CN" dirty="0">
                <a:latin typeface="Times New Roman" panose="02020603050405020304" pitchFamily="18" charset="0"/>
                <a:cs typeface="Times New Roman" panose="02020603050405020304" pitchFamily="18" charset="0"/>
              </a:rPr>
              <a:t>8051</a:t>
            </a:r>
            <a:r>
              <a:rPr lang="zh-CN" altLang="en-US" dirty="0">
                <a:latin typeface="Times New Roman" panose="02020603050405020304" pitchFamily="18" charset="0"/>
                <a:cs typeface="Times New Roman" panose="02020603050405020304" pitchFamily="18" charset="0"/>
              </a:rPr>
              <a:t>单片机就成为众多厂家支持，发展成为上百个产品的大家族。</a:t>
            </a:r>
          </a:p>
          <a:p>
            <a:pPr marL="261938" lvl="1" indent="-261938" algn="l" eaLnBrk="1" hangingPunct="1">
              <a:spcBef>
                <a:spcPct val="0"/>
              </a:spcBef>
              <a:spcAft>
                <a:spcPts val="1200"/>
              </a:spcAft>
            </a:pPr>
            <a:r>
              <a:rPr lang="zh-CN" altLang="en-US" dirty="0">
                <a:latin typeface="Times New Roman" panose="02020603050405020304" pitchFamily="18" charset="0"/>
                <a:cs typeface="Times New Roman" panose="02020603050405020304" pitchFamily="18" charset="0"/>
              </a:rPr>
              <a:t>最常用有</a:t>
            </a:r>
            <a:r>
              <a:rPr lang="zh-CN" altLang="en-US" dirty="0">
                <a:solidFill>
                  <a:srgbClr val="FF0000"/>
                </a:solidFill>
                <a:latin typeface="Times New Roman" panose="02020603050405020304" pitchFamily="18" charset="0"/>
                <a:cs typeface="Times New Roman" panose="02020603050405020304" pitchFamily="18" charset="0"/>
              </a:rPr>
              <a:t>宏晶</a:t>
            </a:r>
            <a:r>
              <a:rPr lang="en-US" altLang="zh-CN" dirty="0">
                <a:solidFill>
                  <a:srgbClr val="FF0000"/>
                </a:solidFill>
                <a:latin typeface="Times New Roman" panose="02020603050405020304" pitchFamily="18" charset="0"/>
                <a:cs typeface="Times New Roman" panose="02020603050405020304" pitchFamily="18" charset="0"/>
              </a:rPr>
              <a:t>STC</a:t>
            </a:r>
            <a:r>
              <a:rPr lang="zh-CN" altLang="en-US" dirty="0">
                <a:solidFill>
                  <a:srgbClr val="FF0000"/>
                </a:solidFill>
                <a:latin typeface="Times New Roman" panose="02020603050405020304" pitchFamily="18" charset="0"/>
                <a:cs typeface="Times New Roman" panose="02020603050405020304" pitchFamily="18" charset="0"/>
              </a:rPr>
              <a:t>系列单片机</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Atmel</a:t>
            </a:r>
            <a:r>
              <a:rPr lang="zh-CN" altLang="en-US" dirty="0">
                <a:latin typeface="Times New Roman" panose="02020603050405020304" pitchFamily="18" charset="0"/>
                <a:cs typeface="Times New Roman" panose="02020603050405020304" pitchFamily="18" charset="0"/>
              </a:rPr>
              <a:t>公司</a:t>
            </a:r>
            <a:r>
              <a:rPr lang="en-US" altLang="zh-CN" dirty="0">
                <a:latin typeface="Times New Roman" panose="02020603050405020304" pitchFamily="18" charset="0"/>
                <a:cs typeface="Times New Roman" panose="02020603050405020304" pitchFamily="18" charset="0"/>
              </a:rPr>
              <a:t>AT89</a:t>
            </a:r>
            <a:r>
              <a:rPr lang="zh-CN" altLang="en-US" dirty="0">
                <a:latin typeface="Times New Roman" panose="02020603050405020304" pitchFamily="18" charset="0"/>
                <a:cs typeface="Times New Roman" panose="02020603050405020304" pitchFamily="18" charset="0"/>
              </a:rPr>
              <a:t>系列等</a:t>
            </a:r>
            <a:r>
              <a:rPr lang="en-US" altLang="zh-CN" dirty="0">
                <a:latin typeface="Times New Roman" panose="02020603050405020304" pitchFamily="18" charset="0"/>
                <a:cs typeface="Times New Roman" panose="02020603050405020304" pitchFamily="18" charset="0"/>
              </a:rPr>
              <a:t>51</a:t>
            </a:r>
            <a:r>
              <a:rPr lang="zh-CN" altLang="en-US" dirty="0">
                <a:latin typeface="Times New Roman" panose="02020603050405020304" pitchFamily="18" charset="0"/>
                <a:cs typeface="Times New Roman" panose="02020603050405020304" pitchFamily="18" charset="0"/>
              </a:rPr>
              <a:t>系列。只要是</a:t>
            </a:r>
            <a:r>
              <a:rPr lang="en-US" altLang="zh-CN" dirty="0">
                <a:latin typeface="Times New Roman" panose="02020603050405020304" pitchFamily="18" charset="0"/>
                <a:cs typeface="Times New Roman" panose="02020603050405020304" pitchFamily="18" charset="0"/>
              </a:rPr>
              <a:t>8051</a:t>
            </a:r>
            <a:r>
              <a:rPr lang="zh-CN" altLang="en-US" dirty="0">
                <a:latin typeface="Times New Roman" panose="02020603050405020304" pitchFamily="18" charset="0"/>
                <a:cs typeface="Times New Roman" panose="02020603050405020304" pitchFamily="18" charset="0"/>
              </a:rPr>
              <a:t>内核单片机，它们基本结构是相同的，并且，指令系统完全兼容标准</a:t>
            </a:r>
            <a:r>
              <a:rPr lang="en-US" altLang="zh-CN" dirty="0">
                <a:latin typeface="Times New Roman" panose="02020603050405020304" pitchFamily="18" charset="0"/>
                <a:cs typeface="Times New Roman" panose="02020603050405020304" pitchFamily="18" charset="0"/>
              </a:rPr>
              <a:t>8051</a:t>
            </a:r>
            <a:r>
              <a:rPr lang="zh-CN" altLang="en-US" dirty="0">
                <a:latin typeface="Times New Roman" panose="02020603050405020304" pitchFamily="18" charset="0"/>
                <a:cs typeface="Times New Roman" panose="02020603050405020304" pitchFamily="18" charset="0"/>
              </a:rPr>
              <a:t>单片机。</a:t>
            </a:r>
          </a:p>
        </p:txBody>
      </p:sp>
      <p:sp>
        <p:nvSpPr>
          <p:cNvPr id="3" name="灯片编号占位符 2">
            <a:extLst>
              <a:ext uri="{FF2B5EF4-FFF2-40B4-BE49-F238E27FC236}">
                <a16:creationId xmlns:a16="http://schemas.microsoft.com/office/drawing/2014/main" id="{AB88733F-CB99-430D-B734-FA3AB2567F77}"/>
              </a:ext>
            </a:extLst>
          </p:cNvPr>
          <p:cNvSpPr>
            <a:spLocks noGrp="1"/>
          </p:cNvSpPr>
          <p:nvPr>
            <p:ph type="sldNum" sz="quarter" idx="12"/>
          </p:nvPr>
        </p:nvSpPr>
        <p:spPr/>
        <p:txBody>
          <a:bodyPr/>
          <a:lstStyle/>
          <a:p>
            <a:fld id="{22E77DEE-32E4-4009-988B-F2758F7B8AC2}" type="slidenum">
              <a:rPr lang="zh-CN" altLang="en-US" smtClean="0"/>
              <a:t>19</a:t>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a:extLst>
              <a:ext uri="{FF2B5EF4-FFF2-40B4-BE49-F238E27FC236}">
                <a16:creationId xmlns:a16="http://schemas.microsoft.com/office/drawing/2014/main" id="{9F125C8B-D042-4A06-A6A1-248C09BE2324}"/>
              </a:ext>
            </a:extLst>
          </p:cNvPr>
          <p:cNvSpPr>
            <a:spLocks noGrp="1" noChangeArrowheads="1"/>
          </p:cNvSpPr>
          <p:nvPr>
            <p:ph type="title"/>
          </p:nvPr>
        </p:nvSpPr>
        <p:spPr>
          <a:xfrm>
            <a:off x="889000" y="544512"/>
            <a:ext cx="7158567" cy="504825"/>
          </a:xfrm>
        </p:spPr>
        <p:txBody>
          <a:bodyPr vert="horz" lIns="91440" tIns="45720" rIns="91440" bIns="45720" rtlCol="0" anchor="b">
            <a:normAutofit/>
          </a:bodyPr>
          <a:lstStyle/>
          <a:p>
            <a:r>
              <a:rPr lang="en-US" altLang="zh-CN" sz="2800" dirty="0">
                <a:latin typeface="Times New Roman" panose="02020603050405020304" pitchFamily="18" charset="0"/>
                <a:cs typeface="Times New Roman" panose="02020603050405020304" pitchFamily="18" charset="0"/>
              </a:rPr>
              <a:t>4.2  IAP15W4K58S4</a:t>
            </a:r>
            <a:r>
              <a:rPr lang="zh-CN" altLang="en-US" sz="2800" dirty="0">
                <a:latin typeface="Times New Roman" panose="02020603050405020304" pitchFamily="18" charset="0"/>
                <a:cs typeface="Times New Roman" panose="02020603050405020304" pitchFamily="18" charset="0"/>
              </a:rPr>
              <a:t>单片机的内部结构</a:t>
            </a:r>
          </a:p>
        </p:txBody>
      </p:sp>
      <p:sp>
        <p:nvSpPr>
          <p:cNvPr id="452611" name="Rectangle 3">
            <a:extLst>
              <a:ext uri="{FF2B5EF4-FFF2-40B4-BE49-F238E27FC236}">
                <a16:creationId xmlns:a16="http://schemas.microsoft.com/office/drawing/2014/main" id="{A66B6065-E528-45D1-B61A-F983120E5B68}"/>
              </a:ext>
            </a:extLst>
          </p:cNvPr>
          <p:cNvSpPr>
            <a:spLocks noGrp="1" noChangeArrowheads="1"/>
          </p:cNvSpPr>
          <p:nvPr>
            <p:ph idx="1"/>
          </p:nvPr>
        </p:nvSpPr>
        <p:spPr>
          <a:xfrm>
            <a:off x="822961" y="1212850"/>
            <a:ext cx="7457439" cy="3160183"/>
          </a:xfrm>
        </p:spPr>
        <p:txBody>
          <a:bodyPr>
            <a:normAutofit/>
          </a:bodyPr>
          <a:lstStyle/>
          <a:p>
            <a:pPr eaLnBrk="1" hangingPunct="1">
              <a:lnSpc>
                <a:spcPct val="124000"/>
              </a:lnSpc>
              <a:spcAft>
                <a:spcPts val="1200"/>
              </a:spcAft>
            </a:pPr>
            <a:r>
              <a:rPr lang="zh-CN" altLang="en-US" sz="2400" dirty="0"/>
              <a:t>课程</a:t>
            </a:r>
            <a:r>
              <a:rPr lang="zh-CN" altLang="zh-CN" sz="2400" dirty="0"/>
              <a:t>以增强型</a:t>
            </a:r>
            <a:r>
              <a:rPr lang="en-US" altLang="zh-CN" sz="2400" dirty="0"/>
              <a:t>8051</a:t>
            </a:r>
            <a:r>
              <a:rPr lang="zh-CN" altLang="zh-CN" sz="2400" dirty="0"/>
              <a:t>内核单片机</a:t>
            </a:r>
            <a:r>
              <a:rPr lang="en-US" altLang="zh-CN" sz="2400" dirty="0">
                <a:solidFill>
                  <a:srgbClr val="FF0000"/>
                </a:solidFill>
              </a:rPr>
              <a:t>IAP15W4K58S4</a:t>
            </a:r>
            <a:r>
              <a:rPr lang="zh-CN" altLang="zh-CN" sz="2400" dirty="0">
                <a:solidFill>
                  <a:srgbClr val="FF0000"/>
                </a:solidFill>
              </a:rPr>
              <a:t>为例</a:t>
            </a:r>
            <a:r>
              <a:rPr lang="zh-CN" altLang="zh-CN" sz="2400" dirty="0"/>
              <a:t>，说明单片机的内部结构。</a:t>
            </a:r>
            <a:r>
              <a:rPr lang="zh-CN" altLang="en-US" sz="2400" dirty="0"/>
              <a:t>见图</a:t>
            </a:r>
            <a:r>
              <a:rPr lang="en-US" altLang="zh-CN" sz="2400" dirty="0"/>
              <a:t>3-6</a:t>
            </a:r>
          </a:p>
          <a:p>
            <a:pPr eaLnBrk="1" hangingPunct="1">
              <a:lnSpc>
                <a:spcPct val="124000"/>
              </a:lnSpc>
              <a:spcAft>
                <a:spcPts val="1200"/>
              </a:spcAft>
            </a:pPr>
            <a:r>
              <a:rPr lang="en-US" altLang="zh-CN" sz="2400" dirty="0">
                <a:solidFill>
                  <a:srgbClr val="FF0000"/>
                </a:solidFill>
              </a:rPr>
              <a:t>IAP15W4K58S4</a:t>
            </a:r>
            <a:r>
              <a:rPr lang="zh-CN" altLang="en-US" sz="2400" dirty="0"/>
              <a:t>几乎包含了</a:t>
            </a:r>
            <a:r>
              <a:rPr lang="zh-CN" altLang="en-US" sz="2400" dirty="0">
                <a:solidFill>
                  <a:srgbClr val="0000FF"/>
                </a:solidFill>
              </a:rPr>
              <a:t>数据采集和控制</a:t>
            </a:r>
            <a:r>
              <a:rPr lang="zh-CN" altLang="en-US" sz="2400" dirty="0"/>
              <a:t>中所需的</a:t>
            </a:r>
            <a:r>
              <a:rPr lang="zh-CN" altLang="en-US" sz="2400" dirty="0">
                <a:solidFill>
                  <a:srgbClr val="0000FF"/>
                </a:solidFill>
              </a:rPr>
              <a:t>所有单元模块</a:t>
            </a:r>
            <a:r>
              <a:rPr lang="zh-CN" altLang="en-US" sz="2400" dirty="0"/>
              <a:t>，</a:t>
            </a:r>
          </a:p>
          <a:p>
            <a:pPr eaLnBrk="1" hangingPunct="1">
              <a:lnSpc>
                <a:spcPct val="124000"/>
              </a:lnSpc>
              <a:spcAft>
                <a:spcPts val="1200"/>
              </a:spcAft>
              <a:buFontTx/>
              <a:buNone/>
            </a:pPr>
            <a:r>
              <a:rPr lang="zh-CN" altLang="en-US" sz="2400" dirty="0"/>
              <a:t>           </a:t>
            </a:r>
            <a:r>
              <a:rPr lang="en-US" altLang="zh-CN" sz="2400" dirty="0"/>
              <a:t>——</a:t>
            </a:r>
            <a:r>
              <a:rPr lang="zh-CN" altLang="en-US" sz="2400" dirty="0"/>
              <a:t>可称得上一个</a:t>
            </a:r>
            <a:r>
              <a:rPr lang="zh-CN" altLang="en-US" sz="2400" dirty="0">
                <a:solidFill>
                  <a:srgbClr val="0000FF"/>
                </a:solidFill>
              </a:rPr>
              <a:t>片上系统（</a:t>
            </a:r>
            <a:r>
              <a:rPr lang="en-US" altLang="zh-CN" sz="2400" dirty="0">
                <a:solidFill>
                  <a:srgbClr val="0000FF"/>
                </a:solidFill>
              </a:rPr>
              <a:t>SOC</a:t>
            </a:r>
            <a:r>
              <a:rPr lang="zh-CN" altLang="en-US" sz="2400" dirty="0">
                <a:solidFill>
                  <a:srgbClr val="0000FF"/>
                </a:solidFill>
              </a:rPr>
              <a:t>）</a:t>
            </a:r>
          </a:p>
          <a:p>
            <a:pPr eaLnBrk="1" hangingPunct="1">
              <a:lnSpc>
                <a:spcPct val="124000"/>
              </a:lnSpc>
              <a:spcAft>
                <a:spcPts val="1200"/>
              </a:spcAft>
            </a:pPr>
            <a:endParaRPr lang="zh-CN" altLang="zh-CN" sz="2400" dirty="0"/>
          </a:p>
        </p:txBody>
      </p:sp>
      <p:sp>
        <p:nvSpPr>
          <p:cNvPr id="2" name="灯片编号占位符 1">
            <a:extLst>
              <a:ext uri="{FF2B5EF4-FFF2-40B4-BE49-F238E27FC236}">
                <a16:creationId xmlns:a16="http://schemas.microsoft.com/office/drawing/2014/main" id="{E0460A63-55F9-4113-8D2A-A2C4A9FD9B38}"/>
              </a:ext>
            </a:extLst>
          </p:cNvPr>
          <p:cNvSpPr>
            <a:spLocks noGrp="1"/>
          </p:cNvSpPr>
          <p:nvPr>
            <p:ph type="sldNum" sz="quarter" idx="12"/>
          </p:nvPr>
        </p:nvSpPr>
        <p:spPr/>
        <p:txBody>
          <a:bodyPr/>
          <a:lstStyle/>
          <a:p>
            <a:fld id="{22E77DEE-32E4-4009-988B-F2758F7B8AC2}" type="slidenum">
              <a:rPr lang="zh-CN" altLang="en-US" smtClean="0"/>
              <a:t>20</a:t>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9" name="Object 8">
            <a:hlinkClick r:id="rId2" action="ppaction://hlinksldjump"/>
            <a:extLst>
              <a:ext uri="{FF2B5EF4-FFF2-40B4-BE49-F238E27FC236}">
                <a16:creationId xmlns:a16="http://schemas.microsoft.com/office/drawing/2014/main" id="{DD845970-C166-4C94-A84D-E5209A75D808}"/>
              </a:ext>
            </a:extLst>
          </p:cNvPr>
          <p:cNvGraphicFramePr>
            <a:graphicFrameLocks noChangeAspect="1"/>
          </p:cNvGraphicFramePr>
          <p:nvPr>
            <p:extLst>
              <p:ext uri="{D42A27DB-BD31-4B8C-83A1-F6EECF244321}">
                <p14:modId xmlns:p14="http://schemas.microsoft.com/office/powerpoint/2010/main" val="2774922918"/>
              </p:ext>
            </p:extLst>
          </p:nvPr>
        </p:nvGraphicFramePr>
        <p:xfrm>
          <a:off x="822959" y="1230759"/>
          <a:ext cx="7303771" cy="5286359"/>
        </p:xfrm>
        <a:graphic>
          <a:graphicData uri="http://schemas.openxmlformats.org/presentationml/2006/ole">
            <mc:AlternateContent xmlns:mc="http://schemas.openxmlformats.org/markup-compatibility/2006">
              <mc:Choice xmlns:v="urn:schemas-microsoft-com:vml" Requires="v">
                <p:oleObj name="Visio" r:id="rId3" imgW="4916419" imgH="3929164" progId="Visio.Drawing.11">
                  <p:embed/>
                </p:oleObj>
              </mc:Choice>
              <mc:Fallback>
                <p:oleObj name="Visio" r:id="rId3" imgW="4916419" imgH="3929164" progId="Visio.Drawing.11">
                  <p:embed/>
                  <p:pic>
                    <p:nvPicPr>
                      <p:cNvPr id="39939" name="Object 8">
                        <a:hlinkClick r:id="" action="ppaction://noaction"/>
                        <a:extLst>
                          <a:ext uri="{FF2B5EF4-FFF2-40B4-BE49-F238E27FC236}">
                            <a16:creationId xmlns:a16="http://schemas.microsoft.com/office/drawing/2014/main" id="{DD845970-C166-4C94-A84D-E5209A75D8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59" y="1230759"/>
                        <a:ext cx="7303771" cy="5286359"/>
                      </a:xfrm>
                      <a:prstGeom prst="rect">
                        <a:avLst/>
                      </a:prstGeom>
                      <a:solidFill>
                        <a:schemeClr val="bg1"/>
                      </a:solidFill>
                      <a:ln>
                        <a:noFill/>
                      </a:ln>
                    </p:spPr>
                  </p:pic>
                </p:oleObj>
              </mc:Fallback>
            </mc:AlternateContent>
          </a:graphicData>
        </a:graphic>
      </p:graphicFrame>
      <p:sp>
        <p:nvSpPr>
          <p:cNvPr id="454659" name="Rectangle 3">
            <a:extLst>
              <a:ext uri="{FF2B5EF4-FFF2-40B4-BE49-F238E27FC236}">
                <a16:creationId xmlns:a16="http://schemas.microsoft.com/office/drawing/2014/main" id="{4B18F066-186E-401C-95CA-30A9547F33CA}"/>
              </a:ext>
            </a:extLst>
          </p:cNvPr>
          <p:cNvSpPr>
            <a:spLocks noGrp="1" noChangeArrowheads="1"/>
          </p:cNvSpPr>
          <p:nvPr>
            <p:ph idx="1"/>
          </p:nvPr>
        </p:nvSpPr>
        <p:spPr/>
        <p:txBody>
          <a:bodyPr/>
          <a:lstStyle/>
          <a:p>
            <a:pPr eaLnBrk="1" hangingPunct="1">
              <a:buFontTx/>
              <a:buNone/>
            </a:pPr>
            <a:endParaRPr lang="en-US" altLang="zh-CN"/>
          </a:p>
          <a:p>
            <a:pPr eaLnBrk="1" hangingPunct="1"/>
            <a:endParaRPr lang="en-US" altLang="zh-CN"/>
          </a:p>
          <a:p>
            <a:pPr eaLnBrk="1" hangingPunct="1"/>
            <a:endParaRPr lang="en-US" altLang="zh-CN"/>
          </a:p>
          <a:p>
            <a:pPr eaLnBrk="1" hangingPunct="1"/>
            <a:endParaRPr lang="en-US" altLang="zh-CN"/>
          </a:p>
          <a:p>
            <a:pPr eaLnBrk="1" hangingPunct="1"/>
            <a:endParaRPr lang="en-US" altLang="zh-CN"/>
          </a:p>
        </p:txBody>
      </p:sp>
      <p:sp>
        <p:nvSpPr>
          <p:cNvPr id="39942" name="Rectangle 5">
            <a:extLst>
              <a:ext uri="{FF2B5EF4-FFF2-40B4-BE49-F238E27FC236}">
                <a16:creationId xmlns:a16="http://schemas.microsoft.com/office/drawing/2014/main" id="{318501A7-5BAC-4796-A66E-F4745D613F9A}"/>
              </a:ext>
            </a:extLst>
          </p:cNvPr>
          <p:cNvSpPr>
            <a:spLocks noChangeArrowheads="1"/>
          </p:cNvSpPr>
          <p:nvPr/>
        </p:nvSpPr>
        <p:spPr bwMode="auto">
          <a:xfrm>
            <a:off x="0" y="1924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9943" name="Rectangle 8">
            <a:extLst>
              <a:ext uri="{FF2B5EF4-FFF2-40B4-BE49-F238E27FC236}">
                <a16:creationId xmlns:a16="http://schemas.microsoft.com/office/drawing/2014/main" id="{2CB5B28D-2C44-4A39-9C81-E2707069520D}"/>
              </a:ext>
            </a:extLst>
          </p:cNvPr>
          <p:cNvSpPr>
            <a:spLocks noChangeArrowheads="1"/>
          </p:cNvSpPr>
          <p:nvPr/>
        </p:nvSpPr>
        <p:spPr bwMode="auto">
          <a:xfrm>
            <a:off x="0" y="15859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9944" name="Rectangle 9">
            <a:extLst>
              <a:ext uri="{FF2B5EF4-FFF2-40B4-BE49-F238E27FC236}">
                <a16:creationId xmlns:a16="http://schemas.microsoft.com/office/drawing/2014/main" id="{43FCE5A3-7407-4E42-9383-BCAC6069072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9945" name="Rectangle 9">
            <a:extLst>
              <a:ext uri="{FF2B5EF4-FFF2-40B4-BE49-F238E27FC236}">
                <a16:creationId xmlns:a16="http://schemas.microsoft.com/office/drawing/2014/main" id="{1556E3BF-6632-45A5-8E50-97543BF48F7E}"/>
              </a:ext>
            </a:extLst>
          </p:cNvPr>
          <p:cNvSpPr>
            <a:spLocks noChangeArrowheads="1"/>
          </p:cNvSpPr>
          <p:nvPr/>
        </p:nvSpPr>
        <p:spPr bwMode="auto">
          <a:xfrm>
            <a:off x="584200" y="588796"/>
            <a:ext cx="4572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solidFill>
                  <a:srgbClr val="990033"/>
                </a:solidFill>
              </a:rPr>
              <a:t>IAP15W4K58S4</a:t>
            </a:r>
            <a:r>
              <a:rPr lang="zh-CN" altLang="en-US" sz="2000" dirty="0">
                <a:solidFill>
                  <a:srgbClr val="990033"/>
                </a:solidFill>
              </a:rPr>
              <a:t>单片机内部结构框图</a:t>
            </a:r>
          </a:p>
        </p:txBody>
      </p:sp>
      <p:sp>
        <p:nvSpPr>
          <p:cNvPr id="4" name="灯片编号占位符 3">
            <a:extLst>
              <a:ext uri="{FF2B5EF4-FFF2-40B4-BE49-F238E27FC236}">
                <a16:creationId xmlns:a16="http://schemas.microsoft.com/office/drawing/2014/main" id="{6998518E-97DE-4289-848F-8BC12BA4D6B2}"/>
              </a:ext>
            </a:extLst>
          </p:cNvPr>
          <p:cNvSpPr>
            <a:spLocks noGrp="1"/>
          </p:cNvSpPr>
          <p:nvPr>
            <p:ph type="sldNum" sz="quarter" idx="12"/>
          </p:nvPr>
        </p:nvSpPr>
        <p:spPr/>
        <p:txBody>
          <a:bodyPr/>
          <a:lstStyle/>
          <a:p>
            <a:fld id="{22E77DEE-32E4-4009-988B-F2758F7B8AC2}" type="slidenum">
              <a:rPr lang="zh-CN" altLang="en-US" smtClean="0"/>
              <a:t>21</a:t>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a:extLst>
              <a:ext uri="{FF2B5EF4-FFF2-40B4-BE49-F238E27FC236}">
                <a16:creationId xmlns:a16="http://schemas.microsoft.com/office/drawing/2014/main" id="{A35586F4-6834-4B29-B734-C8D8F599BDD3}"/>
              </a:ext>
            </a:extLst>
          </p:cNvPr>
          <p:cNvSpPr>
            <a:spLocks noGrp="1" noChangeArrowheads="1"/>
          </p:cNvSpPr>
          <p:nvPr>
            <p:ph type="title"/>
          </p:nvPr>
        </p:nvSpPr>
        <p:spPr>
          <a:xfrm>
            <a:off x="901700" y="551180"/>
            <a:ext cx="7340600" cy="504825"/>
          </a:xfrm>
        </p:spPr>
        <p:txBody>
          <a:bodyPr vert="horz" lIns="91440" tIns="45720" rIns="91440" bIns="45720" rtlCol="0" anchor="b">
            <a:normAutofit/>
          </a:bodyPr>
          <a:lstStyle/>
          <a:p>
            <a:r>
              <a:rPr lang="en-US" altLang="zh-CN" sz="2800" dirty="0">
                <a:latin typeface="Times New Roman" panose="02020603050405020304" pitchFamily="18" charset="0"/>
                <a:cs typeface="Times New Roman" panose="02020603050405020304" pitchFamily="18" charset="0"/>
              </a:rPr>
              <a:t>IAP15W4K58S4</a:t>
            </a:r>
            <a:r>
              <a:rPr lang="zh-CN" altLang="zh-CN" sz="2800" dirty="0">
                <a:latin typeface="Times New Roman" panose="02020603050405020304" pitchFamily="18" charset="0"/>
                <a:cs typeface="Times New Roman" panose="02020603050405020304" pitchFamily="18" charset="0"/>
              </a:rPr>
              <a:t>单片机集成了以下典型资源：</a:t>
            </a:r>
            <a:endParaRPr lang="zh-CN" altLang="en-US" sz="2800" dirty="0">
              <a:latin typeface="Times New Roman" panose="02020603050405020304" pitchFamily="18" charset="0"/>
              <a:cs typeface="Times New Roman" panose="02020603050405020304" pitchFamily="18" charset="0"/>
            </a:endParaRPr>
          </a:p>
        </p:txBody>
      </p:sp>
      <p:sp>
        <p:nvSpPr>
          <p:cNvPr id="452611" name="Rectangle 3">
            <a:extLst>
              <a:ext uri="{FF2B5EF4-FFF2-40B4-BE49-F238E27FC236}">
                <a16:creationId xmlns:a16="http://schemas.microsoft.com/office/drawing/2014/main" id="{E037FC6C-1AC3-4D4C-9F8F-7D6AF324E3A8}"/>
              </a:ext>
            </a:extLst>
          </p:cNvPr>
          <p:cNvSpPr>
            <a:spLocks noGrp="1" noChangeArrowheads="1"/>
          </p:cNvSpPr>
          <p:nvPr>
            <p:ph idx="1"/>
          </p:nvPr>
        </p:nvSpPr>
        <p:spPr>
          <a:xfrm>
            <a:off x="868680" y="1462088"/>
            <a:ext cx="7340600" cy="2855277"/>
          </a:xfrm>
        </p:spPr>
        <p:txBody>
          <a:bodyPr/>
          <a:lstStyle/>
          <a:p>
            <a:pPr eaLnBrk="1" hangingPunct="1">
              <a:spcBef>
                <a:spcPct val="0"/>
              </a:spcBef>
              <a:buFontTx/>
              <a:buNone/>
            </a:pPr>
            <a:r>
              <a:rPr lang="en-US" altLang="zh-CN" dirty="0">
                <a:sym typeface="Symbol" panose="05050102010706020507" pitchFamily="18" charset="2"/>
              </a:rPr>
              <a:t></a:t>
            </a:r>
            <a:r>
              <a:rPr lang="en-US" altLang="zh-CN" dirty="0"/>
              <a:t>  </a:t>
            </a:r>
            <a:r>
              <a:rPr lang="zh-CN" altLang="zh-CN" dirty="0"/>
              <a:t>增强型</a:t>
            </a:r>
            <a:r>
              <a:rPr lang="en-US" altLang="zh-CN" dirty="0"/>
              <a:t>8051</a:t>
            </a:r>
            <a:r>
              <a:rPr lang="zh-CN" altLang="zh-CN" dirty="0"/>
              <a:t>内核，</a:t>
            </a:r>
            <a:r>
              <a:rPr lang="zh-CN" altLang="zh-CN" dirty="0">
                <a:solidFill>
                  <a:srgbClr val="FF0000"/>
                </a:solidFill>
              </a:rPr>
              <a:t>单时钟机器周期</a:t>
            </a:r>
            <a:r>
              <a:rPr lang="zh-CN" altLang="zh-CN" dirty="0"/>
              <a:t>，速度比传统</a:t>
            </a:r>
            <a:r>
              <a:rPr lang="en-US" altLang="zh-CN" dirty="0"/>
              <a:t>8051</a:t>
            </a:r>
            <a:r>
              <a:rPr lang="zh-CN" altLang="zh-CN" dirty="0"/>
              <a:t>内核单片机快</a:t>
            </a:r>
            <a:r>
              <a:rPr lang="en-US" altLang="zh-CN" dirty="0"/>
              <a:t>8</a:t>
            </a:r>
            <a:r>
              <a:rPr lang="zh-CN" altLang="zh-CN" dirty="0"/>
              <a:t>～</a:t>
            </a:r>
            <a:r>
              <a:rPr lang="en-US" altLang="zh-CN" dirty="0"/>
              <a:t>12</a:t>
            </a:r>
            <a:r>
              <a:rPr lang="zh-CN" altLang="zh-CN" dirty="0"/>
              <a:t>倍。</a:t>
            </a:r>
          </a:p>
          <a:p>
            <a:pPr eaLnBrk="1" hangingPunct="1">
              <a:spcBef>
                <a:spcPct val="0"/>
              </a:spcBef>
              <a:buFontTx/>
              <a:buNone/>
            </a:pPr>
            <a:r>
              <a:rPr lang="en-US" altLang="zh-CN" dirty="0">
                <a:sym typeface="Symbol" panose="05050102010706020507" pitchFamily="18" charset="2"/>
              </a:rPr>
              <a:t></a:t>
            </a:r>
            <a:r>
              <a:rPr lang="en-US" altLang="zh-CN" dirty="0"/>
              <a:t>  </a:t>
            </a:r>
            <a:r>
              <a:rPr lang="en-US" altLang="zh-CN" dirty="0">
                <a:solidFill>
                  <a:srgbClr val="FF0000"/>
                </a:solidFill>
              </a:rPr>
              <a:t>58KB Flash</a:t>
            </a:r>
            <a:r>
              <a:rPr lang="zh-CN" altLang="zh-CN" dirty="0">
                <a:solidFill>
                  <a:srgbClr val="FF0000"/>
                </a:solidFill>
              </a:rPr>
              <a:t>程序存储器</a:t>
            </a:r>
            <a:r>
              <a:rPr lang="zh-CN" altLang="zh-CN" dirty="0"/>
              <a:t>，可用于存储用户程序。对于</a:t>
            </a:r>
            <a:r>
              <a:rPr lang="en-US" altLang="zh-CN" dirty="0">
                <a:solidFill>
                  <a:srgbClr val="3333FF"/>
                </a:solidFill>
              </a:rPr>
              <a:t>IAP</a:t>
            </a:r>
            <a:r>
              <a:rPr lang="zh-CN" altLang="zh-CN" dirty="0">
                <a:solidFill>
                  <a:srgbClr val="3333FF"/>
                </a:solidFill>
              </a:rPr>
              <a:t>型的单片机</a:t>
            </a:r>
            <a:r>
              <a:rPr lang="zh-CN" altLang="zh-CN" dirty="0"/>
              <a:t>，</a:t>
            </a:r>
            <a:r>
              <a:rPr lang="en-US" altLang="zh-CN" dirty="0"/>
              <a:t>Flash</a:t>
            </a:r>
            <a:r>
              <a:rPr lang="zh-CN" altLang="zh-CN" dirty="0">
                <a:solidFill>
                  <a:srgbClr val="3333FF"/>
                </a:solidFill>
              </a:rPr>
              <a:t>没有用于程序存储器的</a:t>
            </a:r>
            <a:r>
              <a:rPr lang="zh-CN" altLang="en-US" dirty="0">
                <a:solidFill>
                  <a:srgbClr val="3333FF"/>
                </a:solidFill>
              </a:rPr>
              <a:t>部分</a:t>
            </a:r>
            <a:r>
              <a:rPr lang="zh-CN" altLang="zh-CN" dirty="0">
                <a:solidFill>
                  <a:srgbClr val="3333FF"/>
                </a:solidFill>
              </a:rPr>
              <a:t>可以用作数据</a:t>
            </a:r>
            <a:r>
              <a:rPr lang="en-US" altLang="zh-CN" dirty="0">
                <a:solidFill>
                  <a:srgbClr val="3333FF"/>
                </a:solidFill>
              </a:rPr>
              <a:t>Flash</a:t>
            </a:r>
            <a:r>
              <a:rPr lang="zh-CN" altLang="zh-CN" dirty="0"/>
              <a:t>，用于保存掉电后不丢失的参数。</a:t>
            </a:r>
            <a:r>
              <a:rPr lang="en-US" altLang="zh-CN" dirty="0"/>
              <a:t>Flash</a:t>
            </a:r>
            <a:r>
              <a:rPr lang="zh-CN" altLang="zh-CN" dirty="0"/>
              <a:t>存储器的擦写次数可达</a:t>
            </a:r>
            <a:r>
              <a:rPr lang="en-US" altLang="zh-CN" dirty="0"/>
              <a:t>10</a:t>
            </a:r>
            <a:r>
              <a:rPr lang="zh-CN" altLang="zh-CN" dirty="0"/>
              <a:t>万次以上。</a:t>
            </a:r>
          </a:p>
          <a:p>
            <a:pPr eaLnBrk="1" hangingPunct="1">
              <a:spcBef>
                <a:spcPct val="0"/>
              </a:spcBef>
              <a:buFontTx/>
              <a:buNone/>
            </a:pPr>
            <a:r>
              <a:rPr lang="en-US" altLang="zh-CN" dirty="0">
                <a:sym typeface="Symbol" panose="05050102010706020507" pitchFamily="18" charset="2"/>
              </a:rPr>
              <a:t></a:t>
            </a:r>
            <a:r>
              <a:rPr lang="en-US" altLang="zh-CN" dirty="0"/>
              <a:t>  </a:t>
            </a:r>
            <a:r>
              <a:rPr lang="en-US" altLang="zh-CN" dirty="0">
                <a:solidFill>
                  <a:srgbClr val="FF0000"/>
                </a:solidFill>
              </a:rPr>
              <a:t>4096B</a:t>
            </a:r>
            <a:r>
              <a:rPr lang="zh-CN" altLang="zh-CN" dirty="0">
                <a:solidFill>
                  <a:srgbClr val="FF0000"/>
                </a:solidFill>
              </a:rPr>
              <a:t>的</a:t>
            </a:r>
            <a:r>
              <a:rPr lang="en-US" altLang="zh-CN" dirty="0">
                <a:solidFill>
                  <a:srgbClr val="FF0000"/>
                </a:solidFill>
              </a:rPr>
              <a:t>SRAM</a:t>
            </a:r>
            <a:r>
              <a:rPr lang="zh-CN" altLang="zh-CN" dirty="0"/>
              <a:t>，相当于计算机的内存，可用于保存程序中所用的变量。</a:t>
            </a:r>
          </a:p>
          <a:p>
            <a:pPr eaLnBrk="1" hangingPunct="1">
              <a:spcBef>
                <a:spcPct val="0"/>
              </a:spcBef>
              <a:buFontTx/>
              <a:buNone/>
            </a:pPr>
            <a:r>
              <a:rPr lang="en-US" altLang="zh-CN" dirty="0">
                <a:sym typeface="Symbol" panose="05050102010706020507" pitchFamily="18" charset="2"/>
              </a:rPr>
              <a:t></a:t>
            </a:r>
            <a:r>
              <a:rPr lang="en-US" altLang="zh-CN" dirty="0"/>
              <a:t>  </a:t>
            </a:r>
            <a:r>
              <a:rPr lang="en-US" altLang="zh-CN" dirty="0">
                <a:solidFill>
                  <a:srgbClr val="FF0000"/>
                </a:solidFill>
              </a:rPr>
              <a:t>5</a:t>
            </a:r>
            <a:r>
              <a:rPr lang="zh-CN" altLang="zh-CN" dirty="0">
                <a:solidFill>
                  <a:srgbClr val="FF0000"/>
                </a:solidFill>
              </a:rPr>
              <a:t>个</a:t>
            </a:r>
            <a:r>
              <a:rPr lang="en-US" altLang="zh-CN" dirty="0">
                <a:solidFill>
                  <a:srgbClr val="FF0000"/>
                </a:solidFill>
              </a:rPr>
              <a:t>16</a:t>
            </a:r>
            <a:r>
              <a:rPr lang="zh-CN" altLang="zh-CN" dirty="0">
                <a:solidFill>
                  <a:srgbClr val="FF0000"/>
                </a:solidFill>
              </a:rPr>
              <a:t>位可自动重装载的定时</a:t>
            </a:r>
            <a:r>
              <a:rPr lang="en-US" altLang="zh-CN" dirty="0">
                <a:solidFill>
                  <a:srgbClr val="FF0000"/>
                </a:solidFill>
              </a:rPr>
              <a:t>/</a:t>
            </a:r>
            <a:r>
              <a:rPr lang="zh-CN" altLang="zh-CN" dirty="0">
                <a:solidFill>
                  <a:srgbClr val="FF0000"/>
                </a:solidFill>
              </a:rPr>
              <a:t>计数器</a:t>
            </a:r>
            <a:r>
              <a:rPr lang="zh-CN" altLang="zh-CN" dirty="0"/>
              <a:t>（</a:t>
            </a:r>
            <a:r>
              <a:rPr lang="en-US" altLang="zh-CN" dirty="0"/>
              <a:t>T0</a:t>
            </a:r>
            <a:r>
              <a:rPr lang="zh-CN" altLang="zh-CN" dirty="0"/>
              <a:t>、</a:t>
            </a:r>
            <a:r>
              <a:rPr lang="en-US" altLang="zh-CN" dirty="0"/>
              <a:t>T1</a:t>
            </a:r>
            <a:r>
              <a:rPr lang="zh-CN" altLang="zh-CN" dirty="0"/>
              <a:t>、</a:t>
            </a:r>
            <a:r>
              <a:rPr lang="en-US" altLang="zh-CN" dirty="0"/>
              <a:t>T2</a:t>
            </a:r>
            <a:r>
              <a:rPr lang="zh-CN" altLang="zh-CN" dirty="0"/>
              <a:t>、</a:t>
            </a:r>
            <a:r>
              <a:rPr lang="en-US" altLang="zh-CN" dirty="0"/>
              <a:t>T3</a:t>
            </a:r>
            <a:r>
              <a:rPr lang="zh-CN" altLang="zh-CN" dirty="0"/>
              <a:t>和</a:t>
            </a:r>
            <a:r>
              <a:rPr lang="en-US" altLang="zh-CN" dirty="0"/>
              <a:t>T4</a:t>
            </a:r>
            <a:r>
              <a:rPr lang="zh-CN" altLang="zh-CN" dirty="0"/>
              <a:t>），具有可编程时钟输出功能。</a:t>
            </a:r>
            <a:r>
              <a:rPr lang="en-US" altLang="zh-CN" dirty="0"/>
              <a:t> </a:t>
            </a:r>
            <a:endParaRPr lang="zh-CN" altLang="zh-CN" dirty="0"/>
          </a:p>
        </p:txBody>
      </p:sp>
      <p:sp>
        <p:nvSpPr>
          <p:cNvPr id="2" name="灯片编号占位符 1">
            <a:extLst>
              <a:ext uri="{FF2B5EF4-FFF2-40B4-BE49-F238E27FC236}">
                <a16:creationId xmlns:a16="http://schemas.microsoft.com/office/drawing/2014/main" id="{FC83E338-B574-472F-9086-E84902FED97F}"/>
              </a:ext>
            </a:extLst>
          </p:cNvPr>
          <p:cNvSpPr>
            <a:spLocks noGrp="1"/>
          </p:cNvSpPr>
          <p:nvPr>
            <p:ph type="sldNum" sz="quarter" idx="12"/>
          </p:nvPr>
        </p:nvSpPr>
        <p:spPr/>
        <p:txBody>
          <a:bodyPr/>
          <a:lstStyle/>
          <a:p>
            <a:fld id="{22E77DEE-32E4-4009-988B-F2758F7B8AC2}" type="slidenum">
              <a:rPr lang="zh-CN" altLang="en-US" smtClean="0"/>
              <a:t>22</a:t>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1" name="Rectangle 3">
            <a:extLst>
              <a:ext uri="{FF2B5EF4-FFF2-40B4-BE49-F238E27FC236}">
                <a16:creationId xmlns:a16="http://schemas.microsoft.com/office/drawing/2014/main" id="{20E27C23-6228-4C81-BA4F-433EE7041691}"/>
              </a:ext>
            </a:extLst>
          </p:cNvPr>
          <p:cNvSpPr>
            <a:spLocks noGrp="1" noChangeArrowheads="1"/>
          </p:cNvSpPr>
          <p:nvPr>
            <p:ph type="body" idx="1"/>
          </p:nvPr>
        </p:nvSpPr>
        <p:spPr>
          <a:xfrm>
            <a:off x="863601" y="1160463"/>
            <a:ext cx="7249160" cy="2847657"/>
          </a:xfrm>
        </p:spPr>
        <p:txBody>
          <a:bodyPr/>
          <a:lstStyle/>
          <a:p>
            <a:pPr eaLnBrk="1" hangingPunct="1">
              <a:spcBef>
                <a:spcPct val="0"/>
              </a:spcBef>
              <a:spcAft>
                <a:spcPts val="1200"/>
              </a:spcAft>
              <a:buFontTx/>
              <a:buNone/>
            </a:pPr>
            <a:r>
              <a:rPr lang="en-US" altLang="zh-CN" dirty="0">
                <a:sym typeface="Symbol" panose="05050102010706020507" pitchFamily="18" charset="2"/>
              </a:rPr>
              <a:t></a:t>
            </a:r>
            <a:r>
              <a:rPr lang="en-US" altLang="zh-CN" dirty="0"/>
              <a:t>  </a:t>
            </a:r>
            <a:r>
              <a:rPr lang="zh-CN" altLang="zh-CN" dirty="0">
                <a:solidFill>
                  <a:srgbClr val="FF0000"/>
                </a:solidFill>
              </a:rPr>
              <a:t>至多</a:t>
            </a:r>
            <a:r>
              <a:rPr lang="en-US" altLang="zh-CN" dirty="0">
                <a:solidFill>
                  <a:srgbClr val="FF0000"/>
                </a:solidFill>
              </a:rPr>
              <a:t>62</a:t>
            </a:r>
            <a:r>
              <a:rPr lang="zh-CN" altLang="zh-CN" dirty="0">
                <a:solidFill>
                  <a:srgbClr val="FF0000"/>
                </a:solidFill>
              </a:rPr>
              <a:t>根</a:t>
            </a:r>
            <a:r>
              <a:rPr lang="en-US" altLang="zh-CN" dirty="0">
                <a:solidFill>
                  <a:srgbClr val="FF0000"/>
                </a:solidFill>
              </a:rPr>
              <a:t> (64</a:t>
            </a:r>
            <a:r>
              <a:rPr lang="zh-CN" altLang="en-US" dirty="0">
                <a:solidFill>
                  <a:srgbClr val="FF0000"/>
                </a:solidFill>
              </a:rPr>
              <a:t>引脚封装</a:t>
            </a:r>
            <a:r>
              <a:rPr lang="en-US" altLang="zh-CN" dirty="0">
                <a:solidFill>
                  <a:srgbClr val="FF0000"/>
                </a:solidFill>
              </a:rPr>
              <a:t>) I/O(</a:t>
            </a:r>
            <a:r>
              <a:rPr lang="zh-CN" altLang="zh-CN" dirty="0">
                <a:solidFill>
                  <a:srgbClr val="FF0000"/>
                </a:solidFill>
              </a:rPr>
              <a:t>输入</a:t>
            </a:r>
            <a:r>
              <a:rPr lang="en-US" altLang="zh-CN" dirty="0">
                <a:solidFill>
                  <a:srgbClr val="FF0000"/>
                </a:solidFill>
              </a:rPr>
              <a:t>/</a:t>
            </a:r>
            <a:r>
              <a:rPr lang="zh-CN" altLang="zh-CN" dirty="0">
                <a:solidFill>
                  <a:srgbClr val="FF0000"/>
                </a:solidFill>
              </a:rPr>
              <a:t>输出</a:t>
            </a:r>
            <a:r>
              <a:rPr lang="en-US" altLang="zh-CN" dirty="0">
                <a:solidFill>
                  <a:srgbClr val="FF0000"/>
                </a:solidFill>
              </a:rPr>
              <a:t>)</a:t>
            </a:r>
            <a:r>
              <a:rPr lang="zh-CN" altLang="zh-CN" dirty="0">
                <a:solidFill>
                  <a:srgbClr val="FF0000"/>
                </a:solidFill>
              </a:rPr>
              <a:t>口线</a:t>
            </a:r>
            <a:r>
              <a:rPr lang="zh-CN" altLang="zh-CN" dirty="0"/>
              <a:t>，以实现数据的并行输入输出。</a:t>
            </a:r>
          </a:p>
          <a:p>
            <a:pPr eaLnBrk="1" hangingPunct="1">
              <a:spcBef>
                <a:spcPct val="0"/>
              </a:spcBef>
              <a:spcAft>
                <a:spcPts val="1200"/>
              </a:spcAft>
              <a:buFontTx/>
              <a:buNone/>
            </a:pPr>
            <a:r>
              <a:rPr lang="en-US" altLang="zh-CN" dirty="0">
                <a:sym typeface="Symbol" panose="05050102010706020507" pitchFamily="18" charset="2"/>
              </a:rPr>
              <a:t></a:t>
            </a:r>
            <a:r>
              <a:rPr lang="en-US" altLang="zh-CN" dirty="0"/>
              <a:t> </a:t>
            </a:r>
            <a:r>
              <a:rPr lang="en-US" altLang="zh-CN" dirty="0">
                <a:solidFill>
                  <a:srgbClr val="FF0000"/>
                </a:solidFill>
              </a:rPr>
              <a:t> 4</a:t>
            </a:r>
            <a:r>
              <a:rPr lang="zh-CN" altLang="zh-CN" dirty="0">
                <a:solidFill>
                  <a:srgbClr val="FF0000"/>
                </a:solidFill>
              </a:rPr>
              <a:t>个全双工异步串行口（</a:t>
            </a:r>
            <a:r>
              <a:rPr lang="en-US" altLang="zh-CN" dirty="0">
                <a:solidFill>
                  <a:srgbClr val="FF0000"/>
                </a:solidFill>
              </a:rPr>
              <a:t>UART</a:t>
            </a:r>
            <a:r>
              <a:rPr lang="zh-CN" altLang="zh-CN" dirty="0">
                <a:solidFill>
                  <a:srgbClr val="FF0000"/>
                </a:solidFill>
              </a:rPr>
              <a:t>）</a:t>
            </a:r>
            <a:r>
              <a:rPr lang="zh-CN" altLang="zh-CN" dirty="0"/>
              <a:t>，可以实现单片机和其他设备之间的串行数据传送。</a:t>
            </a:r>
          </a:p>
          <a:p>
            <a:pPr eaLnBrk="1" hangingPunct="1">
              <a:spcBef>
                <a:spcPct val="0"/>
              </a:spcBef>
              <a:spcAft>
                <a:spcPts val="1200"/>
              </a:spcAft>
              <a:buFontTx/>
              <a:buNone/>
            </a:pPr>
            <a:r>
              <a:rPr lang="en-US" altLang="zh-CN" dirty="0">
                <a:sym typeface="Symbol" panose="05050102010706020507" pitchFamily="18" charset="2"/>
              </a:rPr>
              <a:t></a:t>
            </a:r>
            <a:r>
              <a:rPr lang="en-US" altLang="zh-CN" dirty="0"/>
              <a:t>  </a:t>
            </a:r>
            <a:r>
              <a:rPr lang="en-US" altLang="zh-CN" dirty="0">
                <a:solidFill>
                  <a:srgbClr val="FF0000"/>
                </a:solidFill>
              </a:rPr>
              <a:t>1</a:t>
            </a:r>
            <a:r>
              <a:rPr lang="zh-CN" altLang="zh-CN" dirty="0">
                <a:solidFill>
                  <a:srgbClr val="FF0000"/>
                </a:solidFill>
              </a:rPr>
              <a:t>个高速同步通信端口（</a:t>
            </a:r>
            <a:r>
              <a:rPr lang="en-US" altLang="zh-CN" dirty="0">
                <a:solidFill>
                  <a:srgbClr val="FF0000"/>
                </a:solidFill>
              </a:rPr>
              <a:t>SPI</a:t>
            </a:r>
            <a:r>
              <a:rPr lang="zh-CN" altLang="zh-CN" dirty="0">
                <a:solidFill>
                  <a:srgbClr val="FF0000"/>
                </a:solidFill>
              </a:rPr>
              <a:t>），</a:t>
            </a:r>
            <a:r>
              <a:rPr lang="zh-CN" altLang="zh-CN" dirty="0"/>
              <a:t>可以与具有</a:t>
            </a:r>
            <a:r>
              <a:rPr lang="en-US" altLang="zh-CN" dirty="0"/>
              <a:t>SPI</a:t>
            </a:r>
            <a:r>
              <a:rPr lang="zh-CN" altLang="zh-CN" dirty="0"/>
              <a:t>的设备进行通信。</a:t>
            </a:r>
          </a:p>
          <a:p>
            <a:pPr eaLnBrk="1" hangingPunct="1">
              <a:spcBef>
                <a:spcPct val="0"/>
              </a:spcBef>
              <a:spcAft>
                <a:spcPts val="1200"/>
              </a:spcAft>
              <a:buFontTx/>
              <a:buNone/>
            </a:pPr>
            <a:r>
              <a:rPr lang="en-US" altLang="zh-CN" dirty="0">
                <a:sym typeface="Symbol" panose="05050102010706020507" pitchFamily="18" charset="2"/>
              </a:rPr>
              <a:t></a:t>
            </a:r>
            <a:r>
              <a:rPr lang="en-US" altLang="zh-CN" dirty="0"/>
              <a:t> </a:t>
            </a:r>
            <a:r>
              <a:rPr lang="zh-CN" altLang="zh-CN" dirty="0">
                <a:solidFill>
                  <a:srgbClr val="FF0000"/>
                </a:solidFill>
              </a:rPr>
              <a:t>中断控制系统</a:t>
            </a:r>
            <a:r>
              <a:rPr lang="zh-CN" altLang="zh-CN" dirty="0"/>
              <a:t>。具有</a:t>
            </a:r>
            <a:r>
              <a:rPr lang="en-US" altLang="zh-CN" dirty="0">
                <a:solidFill>
                  <a:srgbClr val="FF0000"/>
                </a:solidFill>
              </a:rPr>
              <a:t>5</a:t>
            </a:r>
            <a:r>
              <a:rPr lang="zh-CN" altLang="zh-CN" dirty="0">
                <a:solidFill>
                  <a:srgbClr val="FF0000"/>
                </a:solidFill>
              </a:rPr>
              <a:t>路外部中断</a:t>
            </a:r>
            <a:r>
              <a:rPr lang="zh-CN" altLang="zh-CN" dirty="0"/>
              <a:t>，下降沿中断或双边沿（上升沿和下降沿）触发电路，掉电模式下可由外部中断低电平触发中断方式唤醒。</a:t>
            </a:r>
          </a:p>
        </p:txBody>
      </p:sp>
      <p:sp>
        <p:nvSpPr>
          <p:cNvPr id="41988" name="标题 1">
            <a:extLst>
              <a:ext uri="{FF2B5EF4-FFF2-40B4-BE49-F238E27FC236}">
                <a16:creationId xmlns:a16="http://schemas.microsoft.com/office/drawing/2014/main" id="{ECA3C2D2-326D-4605-890C-F649D3EE0892}"/>
              </a:ext>
            </a:extLst>
          </p:cNvPr>
          <p:cNvSpPr>
            <a:spLocks noGrp="1" noChangeArrowheads="1"/>
          </p:cNvSpPr>
          <p:nvPr>
            <p:ph type="title"/>
          </p:nvPr>
        </p:nvSpPr>
        <p:spPr>
          <a:xfrm>
            <a:off x="616108" y="484187"/>
            <a:ext cx="8057833" cy="504825"/>
          </a:xfrm>
        </p:spPr>
        <p:txBody>
          <a:bodyPr>
            <a:noAutofit/>
          </a:bodyPr>
          <a:lstStyle/>
          <a:p>
            <a:pPr eaLnBrk="1" hangingPunct="1"/>
            <a:r>
              <a:rPr lang="en-US" altLang="zh-CN" sz="3200" dirty="0"/>
              <a:t>IAP15W4K58S4</a:t>
            </a:r>
            <a:r>
              <a:rPr lang="zh-CN" altLang="zh-CN" sz="3200" dirty="0"/>
              <a:t>单片机集成了以下典型资源：</a:t>
            </a:r>
            <a:endParaRPr lang="zh-CN" altLang="en-US" sz="3200" dirty="0"/>
          </a:p>
        </p:txBody>
      </p:sp>
      <p:sp>
        <p:nvSpPr>
          <p:cNvPr id="2" name="灯片编号占位符 1">
            <a:extLst>
              <a:ext uri="{FF2B5EF4-FFF2-40B4-BE49-F238E27FC236}">
                <a16:creationId xmlns:a16="http://schemas.microsoft.com/office/drawing/2014/main" id="{469CED88-2A04-4A49-934E-342FB7FF4C9E}"/>
              </a:ext>
            </a:extLst>
          </p:cNvPr>
          <p:cNvSpPr>
            <a:spLocks noGrp="1"/>
          </p:cNvSpPr>
          <p:nvPr>
            <p:ph type="sldNum" sz="quarter" idx="12"/>
          </p:nvPr>
        </p:nvSpPr>
        <p:spPr/>
        <p:txBody>
          <a:bodyPr/>
          <a:lstStyle/>
          <a:p>
            <a:fld id="{22E77DEE-32E4-4009-988B-F2758F7B8AC2}" type="slidenum">
              <a:rPr lang="zh-CN" altLang="en-US" smtClean="0"/>
              <a:t>23</a:t>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3">
            <a:extLst>
              <a:ext uri="{FF2B5EF4-FFF2-40B4-BE49-F238E27FC236}">
                <a16:creationId xmlns:a16="http://schemas.microsoft.com/office/drawing/2014/main" id="{96738C6F-89F3-4D6A-9256-3821BBE6ED18}"/>
              </a:ext>
            </a:extLst>
          </p:cNvPr>
          <p:cNvSpPr>
            <a:spLocks noGrp="1" noChangeArrowheads="1"/>
          </p:cNvSpPr>
          <p:nvPr>
            <p:ph type="title"/>
          </p:nvPr>
        </p:nvSpPr>
        <p:spPr>
          <a:xfrm>
            <a:off x="409575" y="357188"/>
            <a:ext cx="8229600" cy="504825"/>
          </a:xfrm>
        </p:spPr>
        <p:txBody>
          <a:bodyPr vert="horz" lIns="91440" tIns="45720" rIns="91440" bIns="45720" rtlCol="0" anchor="b">
            <a:noAutofit/>
          </a:bodyPr>
          <a:lstStyle/>
          <a:p>
            <a:r>
              <a:rPr lang="zh-CN" altLang="en-US" sz="3200" dirty="0"/>
              <a:t>中央处理器（</a:t>
            </a:r>
            <a:r>
              <a:rPr lang="en-US" altLang="zh-CN" sz="3200" dirty="0"/>
              <a:t>CPU</a:t>
            </a:r>
            <a:r>
              <a:rPr lang="zh-CN" altLang="en-US" sz="3200" dirty="0"/>
              <a:t>）由运算器和控制器组成</a:t>
            </a:r>
          </a:p>
        </p:txBody>
      </p:sp>
      <p:sp>
        <p:nvSpPr>
          <p:cNvPr id="456707" name="Rectangle 3">
            <a:extLst>
              <a:ext uri="{FF2B5EF4-FFF2-40B4-BE49-F238E27FC236}">
                <a16:creationId xmlns:a16="http://schemas.microsoft.com/office/drawing/2014/main" id="{870B7D68-56EB-416B-A255-B86506B6541B}"/>
              </a:ext>
            </a:extLst>
          </p:cNvPr>
          <p:cNvSpPr>
            <a:spLocks noGrp="1" noChangeArrowheads="1"/>
          </p:cNvSpPr>
          <p:nvPr>
            <p:ph idx="1"/>
          </p:nvPr>
        </p:nvSpPr>
        <p:spPr>
          <a:xfrm>
            <a:off x="363538" y="1277938"/>
            <a:ext cx="8780462" cy="1268413"/>
          </a:xfrm>
        </p:spPr>
        <p:txBody>
          <a:bodyPr/>
          <a:lstStyle/>
          <a:p>
            <a:pPr eaLnBrk="1" hangingPunct="1">
              <a:spcBef>
                <a:spcPct val="0"/>
              </a:spcBef>
              <a:spcAft>
                <a:spcPct val="0"/>
              </a:spcAft>
              <a:buFontTx/>
              <a:buNone/>
            </a:pPr>
            <a:r>
              <a:rPr lang="zh-CN" altLang="en-US" dirty="0"/>
              <a:t>单片机的</a:t>
            </a:r>
            <a:r>
              <a:rPr lang="zh-CN" altLang="en-US" dirty="0">
                <a:solidFill>
                  <a:srgbClr val="3333FF"/>
                </a:solidFill>
              </a:rPr>
              <a:t>中央处理器（</a:t>
            </a:r>
            <a:r>
              <a:rPr lang="en-US" altLang="zh-CN" dirty="0">
                <a:solidFill>
                  <a:srgbClr val="3333FF"/>
                </a:solidFill>
              </a:rPr>
              <a:t>CPU</a:t>
            </a:r>
            <a:r>
              <a:rPr lang="zh-CN" altLang="en-US" dirty="0">
                <a:solidFill>
                  <a:srgbClr val="3333FF"/>
                </a:solidFill>
              </a:rPr>
              <a:t>）由运算器和控制器组成</a:t>
            </a:r>
            <a:r>
              <a:rPr lang="zh-CN" altLang="en-US" dirty="0"/>
              <a:t>。</a:t>
            </a:r>
          </a:p>
          <a:p>
            <a:pPr eaLnBrk="1" hangingPunct="1">
              <a:spcBef>
                <a:spcPts val="600"/>
              </a:spcBef>
              <a:spcAft>
                <a:spcPts val="300"/>
              </a:spcAft>
              <a:buFontTx/>
              <a:buNone/>
            </a:pPr>
            <a:r>
              <a:rPr lang="en-US" altLang="zh-CN" dirty="0">
                <a:solidFill>
                  <a:srgbClr val="CC3300"/>
                </a:solidFill>
              </a:rPr>
              <a:t>  1.  </a:t>
            </a:r>
            <a:r>
              <a:rPr lang="zh-CN" altLang="en-US" dirty="0">
                <a:solidFill>
                  <a:srgbClr val="CC3300"/>
                </a:solidFill>
                <a:hlinkClick r:id="rId2" action="ppaction://hlinksldjump"/>
              </a:rPr>
              <a:t>运算器</a:t>
            </a:r>
            <a:endParaRPr lang="zh-CN" altLang="en-US" dirty="0">
              <a:solidFill>
                <a:srgbClr val="CC3300"/>
              </a:solidFill>
            </a:endParaRPr>
          </a:p>
        </p:txBody>
      </p:sp>
      <p:pic>
        <p:nvPicPr>
          <p:cNvPr id="464899" name="Picture 3">
            <a:extLst>
              <a:ext uri="{FF2B5EF4-FFF2-40B4-BE49-F238E27FC236}">
                <a16:creationId xmlns:a16="http://schemas.microsoft.com/office/drawing/2014/main" id="{5388ED1B-5CA5-4112-A5D8-D7BD35824F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70487" y="1727200"/>
            <a:ext cx="3705225" cy="4452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3">
            <a:extLst>
              <a:ext uri="{FF2B5EF4-FFF2-40B4-BE49-F238E27FC236}">
                <a16:creationId xmlns:a16="http://schemas.microsoft.com/office/drawing/2014/main" id="{2B86CD23-3C97-42DC-8295-6C65556B4FEA}"/>
              </a:ext>
            </a:extLst>
          </p:cNvPr>
          <p:cNvSpPr txBox="1">
            <a:spLocks noChangeArrowheads="1"/>
          </p:cNvSpPr>
          <p:nvPr/>
        </p:nvSpPr>
        <p:spPr bwMode="auto">
          <a:xfrm>
            <a:off x="268288" y="2024063"/>
            <a:ext cx="4775200" cy="287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4"/>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261938" eaLnBrk="1" hangingPunct="1">
              <a:lnSpc>
                <a:spcPct val="124000"/>
              </a:lnSpc>
              <a:spcBef>
                <a:spcPts val="0"/>
              </a:spcBef>
              <a:buFontTx/>
              <a:buNone/>
              <a:defRPr/>
            </a:pPr>
            <a:r>
              <a:rPr lang="zh-CN" altLang="en-US" sz="2400" kern="0" dirty="0"/>
              <a:t>以</a:t>
            </a:r>
            <a:r>
              <a:rPr lang="en-US" altLang="zh-CN" sz="2400" kern="0" dirty="0"/>
              <a:t>8</a:t>
            </a:r>
            <a:r>
              <a:rPr lang="zh-CN" altLang="en-US" sz="2400" kern="0" dirty="0"/>
              <a:t>位算术</a:t>
            </a:r>
            <a:r>
              <a:rPr lang="en-US" altLang="zh-CN" sz="2400" kern="0" dirty="0"/>
              <a:t>/</a:t>
            </a:r>
            <a:r>
              <a:rPr lang="zh-CN" altLang="en-US" sz="2400" kern="0" dirty="0"/>
              <a:t>逻辑运算部件</a:t>
            </a:r>
            <a:r>
              <a:rPr lang="en-US" altLang="zh-CN" sz="2400" kern="0" dirty="0">
                <a:solidFill>
                  <a:srgbClr val="FF0000"/>
                </a:solidFill>
              </a:rPr>
              <a:t>ALU</a:t>
            </a:r>
            <a:r>
              <a:rPr lang="zh-CN" altLang="en-US" sz="2400" kern="0" dirty="0">
                <a:solidFill>
                  <a:srgbClr val="FF0000"/>
                </a:solidFill>
              </a:rPr>
              <a:t>为核心</a:t>
            </a:r>
            <a:r>
              <a:rPr lang="zh-CN" altLang="en-US" sz="2400" kern="0" dirty="0"/>
              <a:t>，加上通过内部总线而挂在其周围的</a:t>
            </a:r>
            <a:r>
              <a:rPr lang="zh-CN" altLang="en-US" sz="2400" kern="0" dirty="0">
                <a:solidFill>
                  <a:srgbClr val="C00000"/>
                </a:solidFill>
              </a:rPr>
              <a:t>暂存器</a:t>
            </a:r>
            <a:r>
              <a:rPr lang="en-US" altLang="zh-CN" sz="2400" kern="0" dirty="0">
                <a:solidFill>
                  <a:srgbClr val="C00000"/>
                </a:solidFill>
              </a:rPr>
              <a:t>TMP1</a:t>
            </a:r>
            <a:r>
              <a:rPr lang="zh-CN" altLang="en-US" sz="2400" kern="0" dirty="0">
                <a:solidFill>
                  <a:srgbClr val="C00000"/>
                </a:solidFill>
              </a:rPr>
              <a:t>、</a:t>
            </a:r>
            <a:r>
              <a:rPr lang="en-US" altLang="zh-CN" sz="2400" kern="0" dirty="0">
                <a:solidFill>
                  <a:srgbClr val="C00000"/>
                </a:solidFill>
              </a:rPr>
              <a:t>TMP2</a:t>
            </a:r>
            <a:r>
              <a:rPr lang="zh-CN" altLang="en-US" sz="2400" kern="0" dirty="0"/>
              <a:t>、</a:t>
            </a:r>
            <a:r>
              <a:rPr lang="zh-CN" altLang="en-US" sz="2400" kern="0" dirty="0">
                <a:solidFill>
                  <a:srgbClr val="FF0000"/>
                </a:solidFill>
              </a:rPr>
              <a:t>累加器</a:t>
            </a:r>
            <a:r>
              <a:rPr lang="en-US" altLang="zh-CN" sz="2400" kern="0" dirty="0">
                <a:solidFill>
                  <a:srgbClr val="FF0000"/>
                </a:solidFill>
              </a:rPr>
              <a:t>ACC</a:t>
            </a:r>
            <a:r>
              <a:rPr lang="zh-CN" altLang="en-US" sz="2400" kern="0" dirty="0"/>
              <a:t>、</a:t>
            </a:r>
            <a:r>
              <a:rPr lang="zh-CN" altLang="en-US" sz="2400" kern="0" dirty="0">
                <a:solidFill>
                  <a:srgbClr val="C00000"/>
                </a:solidFill>
              </a:rPr>
              <a:t>寄存器</a:t>
            </a:r>
            <a:r>
              <a:rPr lang="en-US" altLang="zh-CN" sz="2400" kern="0" dirty="0">
                <a:solidFill>
                  <a:srgbClr val="C00000"/>
                </a:solidFill>
              </a:rPr>
              <a:t>B</a:t>
            </a:r>
            <a:r>
              <a:rPr lang="zh-CN" altLang="en-US" sz="2400" kern="0" dirty="0"/>
              <a:t>、程序</a:t>
            </a:r>
            <a:r>
              <a:rPr lang="zh-CN" altLang="en-US" sz="2400" kern="0" dirty="0">
                <a:solidFill>
                  <a:srgbClr val="C00000"/>
                </a:solidFill>
              </a:rPr>
              <a:t>状态标志寄存器</a:t>
            </a:r>
            <a:r>
              <a:rPr lang="en-US" altLang="zh-CN" sz="2400" kern="0" dirty="0">
                <a:solidFill>
                  <a:srgbClr val="C00000"/>
                </a:solidFill>
              </a:rPr>
              <a:t>PSW</a:t>
            </a:r>
            <a:r>
              <a:rPr lang="zh-CN" altLang="en-US" sz="2400" kern="0" dirty="0"/>
              <a:t>以及</a:t>
            </a:r>
            <a:r>
              <a:rPr lang="zh-CN" altLang="en-US" sz="2400" kern="0" dirty="0">
                <a:solidFill>
                  <a:srgbClr val="C00000"/>
                </a:solidFill>
              </a:rPr>
              <a:t>布尔处理机</a:t>
            </a:r>
            <a:r>
              <a:rPr lang="zh-CN" altLang="en-US" sz="2400" kern="0" dirty="0"/>
              <a:t>组成了整个运算器的逻辑电路。</a:t>
            </a:r>
          </a:p>
        </p:txBody>
      </p:sp>
      <p:sp>
        <p:nvSpPr>
          <p:cNvPr id="3" name="矩形 2">
            <a:extLst>
              <a:ext uri="{FF2B5EF4-FFF2-40B4-BE49-F238E27FC236}">
                <a16:creationId xmlns:a16="http://schemas.microsoft.com/office/drawing/2014/main" id="{45BA99DB-4BA2-41EA-91A6-204D41817FB4}"/>
              </a:ext>
            </a:extLst>
          </p:cNvPr>
          <p:cNvSpPr>
            <a:spLocks noChangeArrowheads="1"/>
          </p:cNvSpPr>
          <p:nvPr/>
        </p:nvSpPr>
        <p:spPr bwMode="auto">
          <a:xfrm>
            <a:off x="292894" y="5130800"/>
            <a:ext cx="515286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solidFill>
                  <a:srgbClr val="CC0000"/>
                </a:solidFill>
                <a:latin typeface="Arial" panose="020B0604020202020204" pitchFamily="34" charset="0"/>
              </a:rPr>
              <a:t>程序状态</a:t>
            </a:r>
            <a:r>
              <a:rPr lang="zh-CN" altLang="en-US" sz="2400" b="1" dirty="0">
                <a:solidFill>
                  <a:srgbClr val="FF0000"/>
                </a:solidFill>
                <a:latin typeface="Arial" panose="020B0604020202020204" pitchFamily="34" charset="0"/>
              </a:rPr>
              <a:t>字</a:t>
            </a:r>
            <a:r>
              <a:rPr lang="en-US" altLang="zh-CN" sz="2400" b="1" dirty="0">
                <a:solidFill>
                  <a:srgbClr val="333333"/>
                </a:solidFill>
                <a:latin typeface="Arial" panose="020B0604020202020204" pitchFamily="34" charset="0"/>
              </a:rPr>
              <a:t>(</a:t>
            </a:r>
            <a:r>
              <a:rPr lang="en-US" altLang="zh-CN" sz="2400" b="1" dirty="0">
                <a:solidFill>
                  <a:srgbClr val="FF0000"/>
                </a:solidFill>
                <a:latin typeface="Arial" panose="020B0604020202020204" pitchFamily="34" charset="0"/>
              </a:rPr>
              <a:t>P</a:t>
            </a:r>
            <a:r>
              <a:rPr lang="en-US" altLang="zh-CN" sz="2400" b="1" dirty="0">
                <a:solidFill>
                  <a:srgbClr val="333333"/>
                </a:solidFill>
                <a:latin typeface="Arial" panose="020B0604020202020204" pitchFamily="34" charset="0"/>
              </a:rPr>
              <a:t>rogram </a:t>
            </a:r>
            <a:r>
              <a:rPr lang="en-US" altLang="zh-CN" sz="2400" b="1" dirty="0">
                <a:solidFill>
                  <a:srgbClr val="FF0000"/>
                </a:solidFill>
                <a:latin typeface="Arial" panose="020B0604020202020204" pitchFamily="34" charset="0"/>
              </a:rPr>
              <a:t>S</a:t>
            </a:r>
            <a:r>
              <a:rPr lang="en-US" altLang="zh-CN" sz="2400" b="1" dirty="0">
                <a:solidFill>
                  <a:srgbClr val="333333"/>
                </a:solidFill>
                <a:latin typeface="Arial" panose="020B0604020202020204" pitchFamily="34" charset="0"/>
              </a:rPr>
              <a:t>tatus </a:t>
            </a:r>
            <a:r>
              <a:rPr lang="en-US" altLang="zh-CN" sz="2400" b="1" dirty="0">
                <a:solidFill>
                  <a:srgbClr val="FF0000"/>
                </a:solidFill>
                <a:latin typeface="Arial" panose="020B0604020202020204" pitchFamily="34" charset="0"/>
              </a:rPr>
              <a:t>W</a:t>
            </a:r>
            <a:r>
              <a:rPr lang="en-US" altLang="zh-CN" sz="2400" b="1" dirty="0">
                <a:solidFill>
                  <a:srgbClr val="333333"/>
                </a:solidFill>
                <a:latin typeface="Arial" panose="020B0604020202020204" pitchFamily="34" charset="0"/>
              </a:rPr>
              <a:t>ord, </a:t>
            </a:r>
            <a:r>
              <a:rPr lang="en-US" altLang="zh-CN" sz="2400" b="1" dirty="0">
                <a:solidFill>
                  <a:srgbClr val="CC0000"/>
                </a:solidFill>
                <a:latin typeface="Arial" panose="020B0604020202020204" pitchFamily="34" charset="0"/>
              </a:rPr>
              <a:t>PSW</a:t>
            </a:r>
            <a:r>
              <a:rPr lang="en-US" altLang="zh-CN" sz="2400" b="1" dirty="0">
                <a:solidFill>
                  <a:srgbClr val="333333"/>
                </a:solidFill>
                <a:latin typeface="Arial" panose="020B0604020202020204" pitchFamily="34" charset="0"/>
              </a:rPr>
              <a:t>)</a:t>
            </a:r>
            <a:r>
              <a:rPr lang="zh-CN" altLang="en-US" sz="2400" b="1" dirty="0">
                <a:solidFill>
                  <a:srgbClr val="333333"/>
                </a:solidFill>
                <a:latin typeface="Arial" panose="020B0604020202020204" pitchFamily="34" charset="0"/>
              </a:rPr>
              <a:t>又称</a:t>
            </a:r>
            <a:r>
              <a:rPr lang="zh-CN" altLang="en-US" sz="2400" b="1" dirty="0">
                <a:solidFill>
                  <a:srgbClr val="CC0000"/>
                </a:solidFill>
                <a:latin typeface="Arial" panose="020B0604020202020204" pitchFamily="34" charset="0"/>
              </a:rPr>
              <a:t>状态寄存器</a:t>
            </a:r>
            <a:endParaRPr lang="zh-CN" altLang="en-US" sz="2400" b="1" dirty="0"/>
          </a:p>
        </p:txBody>
      </p:sp>
      <p:sp>
        <p:nvSpPr>
          <p:cNvPr id="4" name="灯片编号占位符 3">
            <a:extLst>
              <a:ext uri="{FF2B5EF4-FFF2-40B4-BE49-F238E27FC236}">
                <a16:creationId xmlns:a16="http://schemas.microsoft.com/office/drawing/2014/main" id="{CBB02F56-2C5D-42AB-9B24-2887912681C6}"/>
              </a:ext>
            </a:extLst>
          </p:cNvPr>
          <p:cNvSpPr>
            <a:spLocks noGrp="1"/>
          </p:cNvSpPr>
          <p:nvPr>
            <p:ph type="sldNum" sz="quarter" idx="12"/>
          </p:nvPr>
        </p:nvSpPr>
        <p:spPr/>
        <p:txBody>
          <a:bodyPr/>
          <a:lstStyle/>
          <a:p>
            <a:fld id="{22E77DEE-32E4-4009-988B-F2758F7B8AC2}" type="slidenum">
              <a:rPr lang="zh-CN" altLang="en-US" smtClean="0"/>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2">
            <a:extLst>
              <a:ext uri="{FF2B5EF4-FFF2-40B4-BE49-F238E27FC236}">
                <a16:creationId xmlns:a16="http://schemas.microsoft.com/office/drawing/2014/main" id="{5593BDFD-A19D-40A0-88D7-BCBC5134E621}"/>
              </a:ext>
            </a:extLst>
          </p:cNvPr>
          <p:cNvSpPr>
            <a:spLocks noGrp="1" noChangeArrowheads="1"/>
          </p:cNvSpPr>
          <p:nvPr>
            <p:ph type="title"/>
          </p:nvPr>
        </p:nvSpPr>
        <p:spPr>
          <a:xfrm>
            <a:off x="714375" y="468313"/>
            <a:ext cx="6841807" cy="504825"/>
          </a:xfrm>
        </p:spPr>
        <p:txBody>
          <a:bodyPr vert="horz" lIns="91440" tIns="45720" rIns="91440" bIns="45720" rtlCol="0" anchor="b">
            <a:noAutofit/>
          </a:bodyPr>
          <a:lstStyle/>
          <a:p>
            <a:r>
              <a:rPr lang="zh-CN" altLang="en-US" sz="3200" dirty="0"/>
              <a:t>程序状态标志寄存器</a:t>
            </a:r>
            <a:r>
              <a:rPr lang="en-US" altLang="zh-CN" sz="3200" dirty="0"/>
              <a:t>PSW (8</a:t>
            </a:r>
            <a:r>
              <a:rPr lang="zh-CN" altLang="en-US" sz="3200" dirty="0"/>
              <a:t>位</a:t>
            </a:r>
            <a:r>
              <a:rPr lang="en-US" altLang="zh-CN" sz="3200" dirty="0"/>
              <a:t>)</a:t>
            </a:r>
            <a:endParaRPr lang="zh-CN" altLang="en-US" sz="3200" dirty="0"/>
          </a:p>
        </p:txBody>
      </p:sp>
      <p:sp>
        <p:nvSpPr>
          <p:cNvPr id="458755" name="Rectangle 3">
            <a:extLst>
              <a:ext uri="{FF2B5EF4-FFF2-40B4-BE49-F238E27FC236}">
                <a16:creationId xmlns:a16="http://schemas.microsoft.com/office/drawing/2014/main" id="{AF0B846E-39AF-4F2C-9E31-65958A1A1E2D}"/>
              </a:ext>
            </a:extLst>
          </p:cNvPr>
          <p:cNvSpPr>
            <a:spLocks noGrp="1" noChangeArrowheads="1"/>
          </p:cNvSpPr>
          <p:nvPr>
            <p:ph idx="1"/>
          </p:nvPr>
        </p:nvSpPr>
        <p:spPr>
          <a:xfrm>
            <a:off x="714375" y="1310640"/>
            <a:ext cx="8277225" cy="1146810"/>
          </a:xfrm>
        </p:spPr>
        <p:txBody>
          <a:bodyPr/>
          <a:lstStyle/>
          <a:p>
            <a:pPr eaLnBrk="1" hangingPunct="1">
              <a:lnSpc>
                <a:spcPct val="104000"/>
              </a:lnSpc>
              <a:spcBef>
                <a:spcPct val="0"/>
              </a:spcBef>
            </a:pPr>
            <a:r>
              <a:rPr lang="en-US" altLang="zh-CN" dirty="0">
                <a:solidFill>
                  <a:srgbClr val="CC3300"/>
                </a:solidFill>
              </a:rPr>
              <a:t>PSW</a:t>
            </a:r>
            <a:r>
              <a:rPr lang="zh-CN" altLang="en-US" dirty="0"/>
              <a:t>中有些位的状态是在指令执行过程中</a:t>
            </a:r>
            <a:r>
              <a:rPr lang="zh-CN" altLang="en-US" dirty="0">
                <a:solidFill>
                  <a:srgbClr val="C00000"/>
                </a:solidFill>
              </a:rPr>
              <a:t>自动形成</a:t>
            </a:r>
            <a:r>
              <a:rPr lang="zh-CN" altLang="en-US" dirty="0"/>
              <a:t>的，有些位可以由</a:t>
            </a:r>
            <a:r>
              <a:rPr lang="zh-CN" altLang="en-US" dirty="0">
                <a:solidFill>
                  <a:srgbClr val="C00000"/>
                </a:solidFill>
              </a:rPr>
              <a:t>用户执行指令加以改变</a:t>
            </a:r>
            <a:r>
              <a:rPr lang="zh-CN" altLang="en-US" dirty="0"/>
              <a:t>。</a:t>
            </a:r>
          </a:p>
          <a:p>
            <a:pPr eaLnBrk="1" hangingPunct="1">
              <a:lnSpc>
                <a:spcPct val="104000"/>
              </a:lnSpc>
              <a:spcBef>
                <a:spcPct val="0"/>
              </a:spcBef>
            </a:pPr>
            <a:r>
              <a:rPr lang="en-US" altLang="zh-CN" dirty="0">
                <a:solidFill>
                  <a:srgbClr val="C00000"/>
                </a:solidFill>
              </a:rPr>
              <a:t>PSW</a:t>
            </a:r>
            <a:r>
              <a:rPr lang="zh-CN" altLang="en-US" dirty="0">
                <a:solidFill>
                  <a:srgbClr val="C00000"/>
                </a:solidFill>
              </a:rPr>
              <a:t>的各位定义</a:t>
            </a:r>
            <a:r>
              <a:rPr lang="zh-CN" altLang="en-US" dirty="0"/>
              <a:t>如下所示：</a:t>
            </a:r>
            <a:endParaRPr lang="zh-CN" altLang="en-GB" dirty="0"/>
          </a:p>
        </p:txBody>
      </p:sp>
      <p:graphicFrame>
        <p:nvGraphicFramePr>
          <p:cNvPr id="458874" name="Group 122">
            <a:extLst>
              <a:ext uri="{FF2B5EF4-FFF2-40B4-BE49-F238E27FC236}">
                <a16:creationId xmlns:a16="http://schemas.microsoft.com/office/drawing/2014/main" id="{F848B2DC-9244-4437-9BD1-6AC8F119A2AB}"/>
              </a:ext>
            </a:extLst>
          </p:cNvPr>
          <p:cNvGraphicFramePr>
            <a:graphicFrameLocks noGrp="1"/>
          </p:cNvGraphicFramePr>
          <p:nvPr/>
        </p:nvGraphicFramePr>
        <p:xfrm>
          <a:off x="714375" y="2395538"/>
          <a:ext cx="7821613" cy="1036638"/>
        </p:xfrm>
        <a:graphic>
          <a:graphicData uri="http://schemas.openxmlformats.org/drawingml/2006/table">
            <a:tbl>
              <a:tblPr/>
              <a:tblGrid>
                <a:gridCol w="922338">
                  <a:extLst>
                    <a:ext uri="{9D8B030D-6E8A-4147-A177-3AD203B41FA5}">
                      <a16:colId xmlns:a16="http://schemas.microsoft.com/office/drawing/2014/main" val="20000"/>
                    </a:ext>
                  </a:extLst>
                </a:gridCol>
                <a:gridCol w="858837">
                  <a:extLst>
                    <a:ext uri="{9D8B030D-6E8A-4147-A177-3AD203B41FA5}">
                      <a16:colId xmlns:a16="http://schemas.microsoft.com/office/drawing/2014/main" val="20001"/>
                    </a:ext>
                  </a:extLst>
                </a:gridCol>
                <a:gridCol w="868363">
                  <a:extLst>
                    <a:ext uri="{9D8B030D-6E8A-4147-A177-3AD203B41FA5}">
                      <a16:colId xmlns:a16="http://schemas.microsoft.com/office/drawing/2014/main" val="20002"/>
                    </a:ext>
                  </a:extLst>
                </a:gridCol>
                <a:gridCol w="892175">
                  <a:extLst>
                    <a:ext uri="{9D8B030D-6E8A-4147-A177-3AD203B41FA5}">
                      <a16:colId xmlns:a16="http://schemas.microsoft.com/office/drawing/2014/main" val="20003"/>
                    </a:ext>
                  </a:extLst>
                </a:gridCol>
                <a:gridCol w="893762">
                  <a:extLst>
                    <a:ext uri="{9D8B030D-6E8A-4147-A177-3AD203B41FA5}">
                      <a16:colId xmlns:a16="http://schemas.microsoft.com/office/drawing/2014/main" val="20004"/>
                    </a:ext>
                  </a:extLst>
                </a:gridCol>
                <a:gridCol w="895350">
                  <a:extLst>
                    <a:ext uri="{9D8B030D-6E8A-4147-A177-3AD203B41FA5}">
                      <a16:colId xmlns:a16="http://schemas.microsoft.com/office/drawing/2014/main" val="20005"/>
                    </a:ext>
                  </a:extLst>
                </a:gridCol>
                <a:gridCol w="892175">
                  <a:extLst>
                    <a:ext uri="{9D8B030D-6E8A-4147-A177-3AD203B41FA5}">
                      <a16:colId xmlns:a16="http://schemas.microsoft.com/office/drawing/2014/main" val="20006"/>
                    </a:ext>
                  </a:extLst>
                </a:gridCol>
                <a:gridCol w="893763">
                  <a:extLst>
                    <a:ext uri="{9D8B030D-6E8A-4147-A177-3AD203B41FA5}">
                      <a16:colId xmlns:a16="http://schemas.microsoft.com/office/drawing/2014/main" val="20007"/>
                    </a:ext>
                  </a:extLst>
                </a:gridCol>
                <a:gridCol w="704850">
                  <a:extLst>
                    <a:ext uri="{9D8B030D-6E8A-4147-A177-3AD203B41FA5}">
                      <a16:colId xmlns:a16="http://schemas.microsoft.com/office/drawing/2014/main" val="20008"/>
                    </a:ext>
                  </a:extLst>
                </a:gridCol>
              </a:tblGrid>
              <a:tr h="518319">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GB" sz="2800" b="1" i="0" u="none" strike="noStrike" cap="none" normalizeH="0" baseline="0">
                          <a:ln>
                            <a:noFill/>
                          </a:ln>
                          <a:solidFill>
                            <a:schemeClr val="tx1"/>
                          </a:solidFill>
                          <a:effectLst/>
                          <a:latin typeface="Times New Roman" pitchFamily="18" charset="0"/>
                          <a:ea typeface="宋体" charset="-122"/>
                          <a:cs typeface="Times New Roman" pitchFamily="18" charset="0"/>
                        </a:rPr>
                        <a:t>位号</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D7</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D6</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D5</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D4</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D3</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D2</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319">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GB" sz="2800" b="1" i="0" u="none" strike="noStrike" cap="none" normalizeH="0" baseline="0" dirty="0">
                          <a:ln>
                            <a:noFill/>
                          </a:ln>
                          <a:solidFill>
                            <a:srgbClr val="FF0000"/>
                          </a:solidFill>
                          <a:effectLst/>
                          <a:latin typeface="Times New Roman" pitchFamily="18" charset="0"/>
                          <a:ea typeface="宋体" charset="-122"/>
                          <a:cs typeface="Times New Roman" pitchFamily="18" charset="0"/>
                        </a:rPr>
                        <a:t>符号</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dirty="0">
                          <a:ln>
                            <a:noFill/>
                          </a:ln>
                          <a:solidFill>
                            <a:srgbClr val="FF0000"/>
                          </a:solidFill>
                          <a:effectLst/>
                          <a:latin typeface="Times New Roman" pitchFamily="18" charset="0"/>
                          <a:ea typeface="宋体" charset="-122"/>
                          <a:cs typeface="Times New Roman" pitchFamily="18" charset="0"/>
                        </a:rPr>
                        <a:t>CY</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AC</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F0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RS1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RS0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dirty="0">
                          <a:ln>
                            <a:noFill/>
                          </a:ln>
                          <a:solidFill>
                            <a:srgbClr val="FF0000"/>
                          </a:solidFill>
                          <a:effectLst/>
                          <a:latin typeface="Times New Roman" pitchFamily="18" charset="0"/>
                          <a:ea typeface="宋体" charset="-122"/>
                          <a:cs typeface="Times New Roman" pitchFamily="18" charset="0"/>
                        </a:rPr>
                        <a:t>OV</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F1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dirty="0">
                          <a:ln>
                            <a:noFill/>
                          </a:ln>
                          <a:solidFill>
                            <a:schemeClr val="tx1"/>
                          </a:solidFill>
                          <a:effectLst/>
                          <a:latin typeface="Times New Roman" pitchFamily="18" charset="0"/>
                          <a:ea typeface="宋体" charset="-122"/>
                          <a:cs typeface="Times New Roman" pitchFamily="18" charset="0"/>
                        </a:rPr>
                        <a:t>P</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 name="Rectangle 3">
            <a:extLst>
              <a:ext uri="{FF2B5EF4-FFF2-40B4-BE49-F238E27FC236}">
                <a16:creationId xmlns:a16="http://schemas.microsoft.com/office/drawing/2014/main" id="{CC1C8E5E-BEB4-4E55-8128-A86BF054A63E}"/>
              </a:ext>
            </a:extLst>
          </p:cNvPr>
          <p:cNvSpPr txBox="1">
            <a:spLocks noChangeArrowheads="1"/>
          </p:cNvSpPr>
          <p:nvPr/>
        </p:nvSpPr>
        <p:spPr bwMode="auto">
          <a:xfrm>
            <a:off x="560863" y="3569371"/>
            <a:ext cx="8128635" cy="1906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1938" indent="-261938" eaLnBrk="1" hangingPunct="1">
              <a:lnSpc>
                <a:spcPct val="104000"/>
              </a:lnSpc>
              <a:spcBef>
                <a:spcPts val="0"/>
              </a:spcBef>
              <a:defRPr/>
            </a:pPr>
            <a:r>
              <a:rPr lang="en-GB" altLang="zh-CN" sz="2000" kern="0" dirty="0">
                <a:solidFill>
                  <a:srgbClr val="FF0000"/>
                </a:solidFill>
              </a:rPr>
              <a:t>CY</a:t>
            </a:r>
            <a:r>
              <a:rPr lang="zh-CN" altLang="en-GB" sz="2000" kern="0" dirty="0">
                <a:solidFill>
                  <a:srgbClr val="0000CC"/>
                </a:solidFill>
              </a:rPr>
              <a:t>（</a:t>
            </a:r>
            <a:r>
              <a:rPr lang="en-GB" altLang="zh-CN" sz="2000" kern="0" dirty="0">
                <a:solidFill>
                  <a:srgbClr val="FF0000"/>
                </a:solidFill>
              </a:rPr>
              <a:t>PSW.7</a:t>
            </a:r>
            <a:r>
              <a:rPr lang="zh-CN" altLang="en-GB" sz="2000" kern="0" dirty="0">
                <a:solidFill>
                  <a:srgbClr val="0000CC"/>
                </a:solidFill>
              </a:rPr>
              <a:t>）</a:t>
            </a:r>
            <a:r>
              <a:rPr lang="zh-CN" altLang="en-GB" sz="2000" kern="0" dirty="0"/>
              <a:t>：</a:t>
            </a:r>
            <a:r>
              <a:rPr lang="zh-CN" altLang="en-GB" sz="2000" kern="0" dirty="0">
                <a:solidFill>
                  <a:srgbClr val="0000CC"/>
                </a:solidFill>
              </a:rPr>
              <a:t>进位标志位</a:t>
            </a:r>
          </a:p>
          <a:p>
            <a:pPr eaLnBrk="1" hangingPunct="1">
              <a:lnSpc>
                <a:spcPct val="104000"/>
              </a:lnSpc>
              <a:spcBef>
                <a:spcPts val="0"/>
              </a:spcBef>
              <a:buFont typeface="Wingdings" panose="05000000000000000000" pitchFamily="2" charset="2"/>
              <a:buChar char="Ø"/>
              <a:defRPr/>
            </a:pPr>
            <a:r>
              <a:rPr lang="zh-CN" altLang="en-GB" sz="2000" kern="0" dirty="0">
                <a:solidFill>
                  <a:schemeClr val="tx1"/>
                </a:solidFill>
              </a:rPr>
              <a:t>当执行加</a:t>
            </a:r>
            <a:r>
              <a:rPr lang="en-GB" altLang="zh-CN" sz="2000" kern="0" dirty="0">
                <a:solidFill>
                  <a:schemeClr val="tx1"/>
                </a:solidFill>
              </a:rPr>
              <a:t>/</a:t>
            </a:r>
            <a:r>
              <a:rPr lang="zh-CN" altLang="en-GB" sz="2000" kern="0" dirty="0">
                <a:solidFill>
                  <a:schemeClr val="tx1"/>
                </a:solidFill>
              </a:rPr>
              <a:t>减法指令时，如果操作结果的最高位</a:t>
            </a:r>
            <a:r>
              <a:rPr lang="en-GB" altLang="zh-CN" sz="2000" kern="0" dirty="0">
                <a:solidFill>
                  <a:srgbClr val="FF0000"/>
                </a:solidFill>
              </a:rPr>
              <a:t>D7</a:t>
            </a:r>
            <a:r>
              <a:rPr lang="zh-CN" altLang="en-GB" sz="2000" kern="0" dirty="0">
                <a:solidFill>
                  <a:srgbClr val="FF0000"/>
                </a:solidFill>
              </a:rPr>
              <a:t>出现进</a:t>
            </a:r>
            <a:r>
              <a:rPr lang="en-GB" altLang="zh-CN" sz="2000" kern="0" dirty="0">
                <a:solidFill>
                  <a:srgbClr val="FF0000"/>
                </a:solidFill>
              </a:rPr>
              <a:t>/</a:t>
            </a:r>
            <a:r>
              <a:rPr lang="zh-CN" altLang="en-GB" sz="2000" kern="0" dirty="0">
                <a:solidFill>
                  <a:srgbClr val="FF0000"/>
                </a:solidFill>
              </a:rPr>
              <a:t>借位，则</a:t>
            </a:r>
            <a:r>
              <a:rPr lang="en-GB" altLang="zh-CN" sz="2000" kern="0" dirty="0">
                <a:solidFill>
                  <a:srgbClr val="FF0000"/>
                </a:solidFill>
              </a:rPr>
              <a:t>CY</a:t>
            </a:r>
            <a:r>
              <a:rPr lang="zh-CN" altLang="en-GB" sz="2000" kern="0" dirty="0">
                <a:solidFill>
                  <a:srgbClr val="FF0000"/>
                </a:solidFill>
              </a:rPr>
              <a:t>置“</a:t>
            </a:r>
            <a:r>
              <a:rPr lang="en-GB" altLang="zh-CN" sz="2000" kern="0" dirty="0">
                <a:solidFill>
                  <a:srgbClr val="FF0000"/>
                </a:solidFill>
              </a:rPr>
              <a:t>1”</a:t>
            </a:r>
            <a:r>
              <a:rPr lang="zh-CN" altLang="en-GB" sz="2000" kern="0" dirty="0">
                <a:solidFill>
                  <a:schemeClr val="tx1"/>
                </a:solidFill>
              </a:rPr>
              <a:t>，</a:t>
            </a:r>
            <a:r>
              <a:rPr lang="zh-CN" altLang="en-GB" sz="2000" kern="0" dirty="0">
                <a:solidFill>
                  <a:srgbClr val="9900CC"/>
                </a:solidFill>
              </a:rPr>
              <a:t>否则清“</a:t>
            </a:r>
            <a:r>
              <a:rPr lang="en-GB" altLang="zh-CN" sz="2000" kern="0" dirty="0">
                <a:solidFill>
                  <a:srgbClr val="9900CC"/>
                </a:solidFill>
              </a:rPr>
              <a:t>0”</a:t>
            </a:r>
            <a:r>
              <a:rPr lang="zh-CN" altLang="en-GB" sz="2000" kern="0" dirty="0">
                <a:solidFill>
                  <a:schemeClr val="tx1"/>
                </a:solidFill>
              </a:rPr>
              <a:t>。</a:t>
            </a:r>
            <a:endParaRPr lang="en-US" altLang="zh-CN" sz="2000" kern="0" dirty="0">
              <a:solidFill>
                <a:schemeClr val="tx1"/>
              </a:solidFill>
            </a:endParaRPr>
          </a:p>
          <a:p>
            <a:pPr eaLnBrk="1" hangingPunct="1">
              <a:lnSpc>
                <a:spcPct val="104000"/>
              </a:lnSpc>
              <a:spcBef>
                <a:spcPts val="0"/>
              </a:spcBef>
              <a:buFont typeface="Wingdings" panose="05000000000000000000" pitchFamily="2" charset="2"/>
              <a:buChar char="Ø"/>
              <a:defRPr/>
            </a:pPr>
            <a:r>
              <a:rPr lang="zh-CN" altLang="en-GB" sz="2000" kern="0" dirty="0">
                <a:solidFill>
                  <a:schemeClr val="tx1"/>
                </a:solidFill>
              </a:rPr>
              <a:t>执行</a:t>
            </a:r>
            <a:r>
              <a:rPr lang="zh-CN" altLang="en-GB" sz="2000" kern="0" dirty="0">
                <a:solidFill>
                  <a:srgbClr val="0000CC"/>
                </a:solidFill>
              </a:rPr>
              <a:t>乘除运算后，</a:t>
            </a:r>
            <a:r>
              <a:rPr lang="en-GB" altLang="zh-CN" sz="2000" kern="0" dirty="0">
                <a:solidFill>
                  <a:srgbClr val="0000CC"/>
                </a:solidFill>
              </a:rPr>
              <a:t>CY</a:t>
            </a:r>
            <a:r>
              <a:rPr lang="zh-CN" altLang="en-GB" sz="2000" kern="0" dirty="0">
                <a:solidFill>
                  <a:srgbClr val="0000CC"/>
                </a:solidFill>
              </a:rPr>
              <a:t>清零。</a:t>
            </a:r>
            <a:r>
              <a:rPr lang="zh-CN" altLang="en-GB" sz="2000" kern="0" dirty="0">
                <a:solidFill>
                  <a:schemeClr val="tx1"/>
                </a:solidFill>
              </a:rPr>
              <a:t>此外，</a:t>
            </a:r>
            <a:r>
              <a:rPr lang="en-GB" altLang="zh-CN" sz="2000" kern="0" dirty="0">
                <a:solidFill>
                  <a:schemeClr val="tx1"/>
                </a:solidFill>
              </a:rPr>
              <a:t>CPU</a:t>
            </a:r>
            <a:r>
              <a:rPr lang="zh-CN" altLang="en-GB" sz="2000" kern="0" dirty="0">
                <a:solidFill>
                  <a:schemeClr val="tx1"/>
                </a:solidFill>
              </a:rPr>
              <a:t>在进行</a:t>
            </a:r>
            <a:r>
              <a:rPr lang="zh-CN" altLang="en-GB" sz="2000" kern="0" dirty="0">
                <a:solidFill>
                  <a:srgbClr val="0000CC"/>
                </a:solidFill>
              </a:rPr>
              <a:t>移位操作</a:t>
            </a:r>
            <a:r>
              <a:rPr lang="zh-CN" altLang="en-GB" sz="2000" kern="0" dirty="0">
                <a:solidFill>
                  <a:schemeClr val="tx1"/>
                </a:solidFill>
              </a:rPr>
              <a:t>时也会影响这个标志位。</a:t>
            </a:r>
          </a:p>
          <a:p>
            <a:pPr eaLnBrk="1" hangingPunct="1">
              <a:lnSpc>
                <a:spcPct val="104000"/>
              </a:lnSpc>
              <a:spcBef>
                <a:spcPts val="0"/>
              </a:spcBef>
              <a:defRPr/>
            </a:pPr>
            <a:endParaRPr lang="en-US" altLang="zh-CN" sz="2000" kern="0" dirty="0">
              <a:solidFill>
                <a:schemeClr val="tx1"/>
              </a:solidFill>
            </a:endParaRPr>
          </a:p>
        </p:txBody>
      </p:sp>
      <p:sp>
        <p:nvSpPr>
          <p:cNvPr id="4" name="矩形 3">
            <a:extLst>
              <a:ext uri="{FF2B5EF4-FFF2-40B4-BE49-F238E27FC236}">
                <a16:creationId xmlns:a16="http://schemas.microsoft.com/office/drawing/2014/main" id="{0CE093C3-5044-4A11-82D9-8D6E50A77E03}"/>
              </a:ext>
            </a:extLst>
          </p:cNvPr>
          <p:cNvSpPr>
            <a:spLocks noChangeArrowheads="1"/>
          </p:cNvSpPr>
          <p:nvPr/>
        </p:nvSpPr>
        <p:spPr bwMode="auto">
          <a:xfrm>
            <a:off x="1709738" y="2911475"/>
            <a:ext cx="7032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GB" altLang="zh-CN" sz="2800" b="1">
                <a:solidFill>
                  <a:srgbClr val="FF0000"/>
                </a:solidFill>
                <a:cs typeface="Times New Roman" panose="02020603050405020304" pitchFamily="18" charset="0"/>
              </a:rPr>
              <a:t>CY</a:t>
            </a:r>
          </a:p>
        </p:txBody>
      </p:sp>
      <p:sp>
        <p:nvSpPr>
          <p:cNvPr id="9" name="Rectangle 3">
            <a:extLst>
              <a:ext uri="{FF2B5EF4-FFF2-40B4-BE49-F238E27FC236}">
                <a16:creationId xmlns:a16="http://schemas.microsoft.com/office/drawing/2014/main" id="{E50FEFD2-4E19-441D-AC6B-B1A84389A652}"/>
              </a:ext>
            </a:extLst>
          </p:cNvPr>
          <p:cNvSpPr txBox="1">
            <a:spLocks noChangeArrowheads="1"/>
          </p:cNvSpPr>
          <p:nvPr/>
        </p:nvSpPr>
        <p:spPr bwMode="auto">
          <a:xfrm>
            <a:off x="1080292" y="5547360"/>
            <a:ext cx="7089775" cy="592137"/>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l" eaLnBrk="1" hangingPunct="1">
              <a:lnSpc>
                <a:spcPct val="114000"/>
              </a:lnSpc>
              <a:spcBef>
                <a:spcPts val="0"/>
              </a:spcBef>
              <a:spcAft>
                <a:spcPts val="1200"/>
              </a:spcAft>
              <a:buFontTx/>
              <a:buNone/>
              <a:defRPr/>
            </a:pPr>
            <a:r>
              <a:rPr lang="zh-CN" altLang="en-US" kern="0" dirty="0">
                <a:solidFill>
                  <a:srgbClr val="0000CC"/>
                </a:solidFill>
              </a:rPr>
              <a:t>也是布尔</a:t>
            </a:r>
            <a:r>
              <a:rPr lang="zh-CN" altLang="en-GB" kern="0" dirty="0">
                <a:solidFill>
                  <a:srgbClr val="0000CC"/>
                </a:solidFill>
              </a:rPr>
              <a:t>位处理机</a:t>
            </a:r>
            <a:r>
              <a:rPr lang="zh-CN" altLang="en-US" kern="0" dirty="0">
                <a:solidFill>
                  <a:srgbClr val="0000CC"/>
                </a:solidFill>
              </a:rPr>
              <a:t>进行</a:t>
            </a:r>
            <a:r>
              <a:rPr lang="zh-CN" altLang="en-GB" kern="0" dirty="0">
                <a:solidFill>
                  <a:srgbClr val="0000CC"/>
                </a:solidFill>
              </a:rPr>
              <a:t>位操作的</a:t>
            </a:r>
            <a:r>
              <a:rPr lang="zh-CN" altLang="en-US" kern="0" dirty="0">
                <a:solidFill>
                  <a:srgbClr val="0000CC"/>
                </a:solidFill>
              </a:rPr>
              <a:t> </a:t>
            </a:r>
            <a:r>
              <a:rPr lang="en-GB" altLang="zh-CN" kern="0" dirty="0">
                <a:latin typeface="Times New Roman" panose="02020603050405020304" pitchFamily="18" charset="0"/>
                <a:cs typeface="Times New Roman" panose="02020603050405020304" pitchFamily="18" charset="0"/>
              </a:rPr>
              <a:t>“</a:t>
            </a:r>
            <a:r>
              <a:rPr lang="zh-CN" altLang="en-GB" kern="0" dirty="0">
                <a:solidFill>
                  <a:srgbClr val="FF0000"/>
                </a:solidFill>
              </a:rPr>
              <a:t>累加器</a:t>
            </a:r>
            <a:r>
              <a:rPr lang="en-GB" altLang="zh-CN" kern="0" dirty="0">
                <a:latin typeface="Times New Roman" panose="02020603050405020304" pitchFamily="18" charset="0"/>
                <a:cs typeface="Times New Roman" panose="02020603050405020304" pitchFamily="18" charset="0"/>
              </a:rPr>
              <a:t>” </a:t>
            </a:r>
            <a:r>
              <a:rPr lang="zh-CN" altLang="en-GB" kern="0" dirty="0">
                <a:solidFill>
                  <a:srgbClr val="0000CC"/>
                </a:solidFill>
              </a:rPr>
              <a:t>。</a:t>
            </a:r>
            <a:endParaRPr lang="zh-CN" altLang="en-GB" kern="0" dirty="0"/>
          </a:p>
        </p:txBody>
      </p:sp>
      <p:sp>
        <p:nvSpPr>
          <p:cNvPr id="3" name="灯片编号占位符 2">
            <a:extLst>
              <a:ext uri="{FF2B5EF4-FFF2-40B4-BE49-F238E27FC236}">
                <a16:creationId xmlns:a16="http://schemas.microsoft.com/office/drawing/2014/main" id="{2B6DFD62-ECBC-4741-BC54-276694F4A711}"/>
              </a:ext>
            </a:extLst>
          </p:cNvPr>
          <p:cNvSpPr>
            <a:spLocks noGrp="1"/>
          </p:cNvSpPr>
          <p:nvPr>
            <p:ph type="sldNum" sz="quarter" idx="12"/>
          </p:nvPr>
        </p:nvSpPr>
        <p:spPr/>
        <p:txBody>
          <a:bodyPr/>
          <a:lstStyle/>
          <a:p>
            <a:fld id="{22E77DEE-32E4-4009-988B-F2758F7B8AC2}" type="slidenum">
              <a:rPr lang="zh-CN" altLang="en-US" smtClean="0"/>
              <a:t>25</a:t>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2">
            <a:extLst>
              <a:ext uri="{FF2B5EF4-FFF2-40B4-BE49-F238E27FC236}">
                <a16:creationId xmlns:a16="http://schemas.microsoft.com/office/drawing/2014/main" id="{EDDBAFC9-E472-4823-9725-949A10B6E9A9}"/>
              </a:ext>
            </a:extLst>
          </p:cNvPr>
          <p:cNvSpPr>
            <a:spLocks noGrp="1" noChangeArrowheads="1"/>
          </p:cNvSpPr>
          <p:nvPr>
            <p:ph type="title"/>
          </p:nvPr>
        </p:nvSpPr>
        <p:spPr>
          <a:xfrm>
            <a:off x="457200" y="463550"/>
            <a:ext cx="8229600" cy="504825"/>
          </a:xfrm>
        </p:spPr>
        <p:txBody>
          <a:bodyPr>
            <a:normAutofit fontScale="90000"/>
          </a:bodyPr>
          <a:lstStyle/>
          <a:p>
            <a:pPr eaLnBrk="1" hangingPunct="1"/>
            <a:r>
              <a:rPr lang="zh-CN" altLang="en-US" dirty="0"/>
              <a:t>程序</a:t>
            </a:r>
            <a:r>
              <a:rPr lang="zh-CN" altLang="en-US" dirty="0">
                <a:solidFill>
                  <a:srgbClr val="C00000"/>
                </a:solidFill>
              </a:rPr>
              <a:t>状态标志寄存器</a:t>
            </a:r>
            <a:r>
              <a:rPr lang="en-US" altLang="zh-CN" dirty="0">
                <a:solidFill>
                  <a:srgbClr val="C00000"/>
                </a:solidFill>
              </a:rPr>
              <a:t>PSW (8</a:t>
            </a:r>
            <a:r>
              <a:rPr lang="zh-CN" altLang="en-US" dirty="0">
                <a:solidFill>
                  <a:srgbClr val="C00000"/>
                </a:solidFill>
              </a:rPr>
              <a:t>位</a:t>
            </a:r>
            <a:r>
              <a:rPr lang="en-US" altLang="zh-CN" dirty="0">
                <a:solidFill>
                  <a:srgbClr val="C00000"/>
                </a:solidFill>
              </a:rPr>
              <a:t>)</a:t>
            </a:r>
            <a:endParaRPr lang="zh-CN" altLang="en-US" dirty="0"/>
          </a:p>
        </p:txBody>
      </p:sp>
      <p:sp>
        <p:nvSpPr>
          <p:cNvPr id="584707" name="Rectangle 3">
            <a:extLst>
              <a:ext uri="{FF2B5EF4-FFF2-40B4-BE49-F238E27FC236}">
                <a16:creationId xmlns:a16="http://schemas.microsoft.com/office/drawing/2014/main" id="{F437217B-4278-46DC-923A-17B8F559C3DA}"/>
              </a:ext>
            </a:extLst>
          </p:cNvPr>
          <p:cNvSpPr>
            <a:spLocks noGrp="1" noChangeArrowheads="1"/>
          </p:cNvSpPr>
          <p:nvPr>
            <p:ph idx="1"/>
          </p:nvPr>
        </p:nvSpPr>
        <p:spPr>
          <a:xfrm>
            <a:off x="575786" y="2443231"/>
            <a:ext cx="7949566" cy="1036638"/>
          </a:xfrm>
        </p:spPr>
        <p:txBody>
          <a:bodyPr>
            <a:normAutofit lnSpcReduction="10000"/>
          </a:bodyPr>
          <a:lstStyle/>
          <a:p>
            <a:pPr marL="261938" indent="-261938" eaLnBrk="1" hangingPunct="1">
              <a:lnSpc>
                <a:spcPct val="100000"/>
              </a:lnSpc>
              <a:spcBef>
                <a:spcPts val="0"/>
              </a:spcBef>
              <a:spcAft>
                <a:spcPts val="300"/>
              </a:spcAft>
              <a:defRPr/>
            </a:pPr>
            <a:r>
              <a:rPr lang="en-GB" altLang="zh-CN" dirty="0">
                <a:solidFill>
                  <a:srgbClr val="FF0000"/>
                </a:solidFill>
              </a:rPr>
              <a:t>AC</a:t>
            </a:r>
            <a:r>
              <a:rPr lang="zh-CN" altLang="en-GB" dirty="0"/>
              <a:t>（</a:t>
            </a:r>
            <a:r>
              <a:rPr lang="en-GB" altLang="zh-CN" dirty="0">
                <a:solidFill>
                  <a:srgbClr val="FF0000"/>
                </a:solidFill>
              </a:rPr>
              <a:t>PSW.6</a:t>
            </a:r>
            <a:r>
              <a:rPr lang="zh-CN" altLang="en-GB" dirty="0"/>
              <a:t>）：</a:t>
            </a:r>
            <a:r>
              <a:rPr lang="zh-CN" altLang="en-GB" dirty="0">
                <a:solidFill>
                  <a:srgbClr val="0000CC"/>
                </a:solidFill>
              </a:rPr>
              <a:t>辅助进位标志位</a:t>
            </a:r>
            <a:r>
              <a:rPr lang="en-US" altLang="zh-CN" dirty="0">
                <a:solidFill>
                  <a:srgbClr val="0000CC"/>
                </a:solidFill>
              </a:rPr>
              <a:t>(</a:t>
            </a:r>
            <a:r>
              <a:rPr lang="en-US" altLang="zh-CN" dirty="0">
                <a:solidFill>
                  <a:srgbClr val="FF0000"/>
                </a:solidFill>
              </a:rPr>
              <a:t>A</a:t>
            </a:r>
            <a:r>
              <a:rPr lang="en-US" altLang="zh-CN" dirty="0"/>
              <a:t>uxiliary </a:t>
            </a:r>
            <a:r>
              <a:rPr lang="en-US" altLang="zh-CN" dirty="0">
                <a:solidFill>
                  <a:srgbClr val="FF0000"/>
                </a:solidFill>
              </a:rPr>
              <a:t>C</a:t>
            </a:r>
            <a:r>
              <a:rPr lang="en-US" altLang="zh-CN" dirty="0"/>
              <a:t>arry</a:t>
            </a:r>
            <a:r>
              <a:rPr lang="en-US" altLang="zh-CN" dirty="0">
                <a:solidFill>
                  <a:srgbClr val="0000CC"/>
                </a:solidFill>
              </a:rPr>
              <a:t>)</a:t>
            </a:r>
            <a:endParaRPr lang="zh-CN" altLang="en-GB" dirty="0">
              <a:solidFill>
                <a:srgbClr val="0000CC"/>
              </a:solidFill>
            </a:endParaRPr>
          </a:p>
          <a:p>
            <a:pPr eaLnBrk="1" hangingPunct="1">
              <a:lnSpc>
                <a:spcPct val="100000"/>
              </a:lnSpc>
              <a:spcBef>
                <a:spcPts val="0"/>
              </a:spcBef>
              <a:spcAft>
                <a:spcPts val="300"/>
              </a:spcAft>
              <a:buFontTx/>
              <a:buNone/>
              <a:defRPr/>
            </a:pPr>
            <a:r>
              <a:rPr lang="zh-CN" altLang="en-GB" dirty="0">
                <a:solidFill>
                  <a:schemeClr val="tx1"/>
                </a:solidFill>
              </a:rPr>
              <a:t>   当执行加</a:t>
            </a:r>
            <a:r>
              <a:rPr lang="en-GB" altLang="zh-CN" dirty="0">
                <a:solidFill>
                  <a:schemeClr val="tx1"/>
                </a:solidFill>
              </a:rPr>
              <a:t>/</a:t>
            </a:r>
            <a:r>
              <a:rPr lang="zh-CN" altLang="en-GB" dirty="0">
                <a:solidFill>
                  <a:schemeClr val="tx1"/>
                </a:solidFill>
              </a:rPr>
              <a:t>减法指令时，如果</a:t>
            </a:r>
            <a:r>
              <a:rPr lang="zh-CN" altLang="en-GB" dirty="0">
                <a:solidFill>
                  <a:srgbClr val="FF0000"/>
                </a:solidFill>
              </a:rPr>
              <a:t>低四位数向高四位数产生进</a:t>
            </a:r>
            <a:r>
              <a:rPr lang="en-GB" altLang="zh-CN" dirty="0">
                <a:solidFill>
                  <a:srgbClr val="FF0000"/>
                </a:solidFill>
              </a:rPr>
              <a:t>/</a:t>
            </a:r>
            <a:r>
              <a:rPr lang="zh-CN" altLang="en-GB" dirty="0">
                <a:solidFill>
                  <a:srgbClr val="FF0000"/>
                </a:solidFill>
              </a:rPr>
              <a:t>借位</a:t>
            </a:r>
            <a:r>
              <a:rPr lang="zh-CN" altLang="en-GB" dirty="0">
                <a:solidFill>
                  <a:schemeClr val="tx1"/>
                </a:solidFill>
              </a:rPr>
              <a:t>，则</a:t>
            </a:r>
            <a:r>
              <a:rPr lang="en-GB" altLang="zh-CN" dirty="0">
                <a:solidFill>
                  <a:schemeClr val="tx1"/>
                </a:solidFill>
              </a:rPr>
              <a:t>AC</a:t>
            </a:r>
            <a:r>
              <a:rPr lang="zh-CN" altLang="en-GB" dirty="0">
                <a:solidFill>
                  <a:schemeClr val="tx1"/>
                </a:solidFill>
              </a:rPr>
              <a:t>置“</a:t>
            </a:r>
            <a:r>
              <a:rPr lang="en-GB" altLang="zh-CN" dirty="0">
                <a:solidFill>
                  <a:schemeClr val="tx1"/>
                </a:solidFill>
              </a:rPr>
              <a:t>1”</a:t>
            </a:r>
            <a:r>
              <a:rPr lang="zh-CN" altLang="en-GB" dirty="0">
                <a:solidFill>
                  <a:schemeClr val="tx1"/>
                </a:solidFill>
              </a:rPr>
              <a:t>，否则清零。</a:t>
            </a:r>
          </a:p>
        </p:txBody>
      </p:sp>
      <p:graphicFrame>
        <p:nvGraphicFramePr>
          <p:cNvPr id="584708" name="Group 4">
            <a:extLst>
              <a:ext uri="{FF2B5EF4-FFF2-40B4-BE49-F238E27FC236}">
                <a16:creationId xmlns:a16="http://schemas.microsoft.com/office/drawing/2014/main" id="{F10551A4-608A-4D70-9FC7-E199E1FED0B3}"/>
              </a:ext>
            </a:extLst>
          </p:cNvPr>
          <p:cNvGraphicFramePr>
            <a:graphicFrameLocks noGrp="1"/>
          </p:cNvGraphicFramePr>
          <p:nvPr>
            <p:extLst>
              <p:ext uri="{D42A27DB-BD31-4B8C-83A1-F6EECF244321}">
                <p14:modId xmlns:p14="http://schemas.microsoft.com/office/powerpoint/2010/main" val="306550591"/>
              </p:ext>
            </p:extLst>
          </p:nvPr>
        </p:nvGraphicFramePr>
        <p:xfrm>
          <a:off x="661193" y="1273810"/>
          <a:ext cx="7821613" cy="1036638"/>
        </p:xfrm>
        <a:graphic>
          <a:graphicData uri="http://schemas.openxmlformats.org/drawingml/2006/table">
            <a:tbl>
              <a:tblPr/>
              <a:tblGrid>
                <a:gridCol w="922338">
                  <a:extLst>
                    <a:ext uri="{9D8B030D-6E8A-4147-A177-3AD203B41FA5}">
                      <a16:colId xmlns:a16="http://schemas.microsoft.com/office/drawing/2014/main" val="20000"/>
                    </a:ext>
                  </a:extLst>
                </a:gridCol>
                <a:gridCol w="858837">
                  <a:extLst>
                    <a:ext uri="{9D8B030D-6E8A-4147-A177-3AD203B41FA5}">
                      <a16:colId xmlns:a16="http://schemas.microsoft.com/office/drawing/2014/main" val="20001"/>
                    </a:ext>
                  </a:extLst>
                </a:gridCol>
                <a:gridCol w="868363">
                  <a:extLst>
                    <a:ext uri="{9D8B030D-6E8A-4147-A177-3AD203B41FA5}">
                      <a16:colId xmlns:a16="http://schemas.microsoft.com/office/drawing/2014/main" val="20002"/>
                    </a:ext>
                  </a:extLst>
                </a:gridCol>
                <a:gridCol w="892175">
                  <a:extLst>
                    <a:ext uri="{9D8B030D-6E8A-4147-A177-3AD203B41FA5}">
                      <a16:colId xmlns:a16="http://schemas.microsoft.com/office/drawing/2014/main" val="20003"/>
                    </a:ext>
                  </a:extLst>
                </a:gridCol>
                <a:gridCol w="893762">
                  <a:extLst>
                    <a:ext uri="{9D8B030D-6E8A-4147-A177-3AD203B41FA5}">
                      <a16:colId xmlns:a16="http://schemas.microsoft.com/office/drawing/2014/main" val="20004"/>
                    </a:ext>
                  </a:extLst>
                </a:gridCol>
                <a:gridCol w="895350">
                  <a:extLst>
                    <a:ext uri="{9D8B030D-6E8A-4147-A177-3AD203B41FA5}">
                      <a16:colId xmlns:a16="http://schemas.microsoft.com/office/drawing/2014/main" val="20005"/>
                    </a:ext>
                  </a:extLst>
                </a:gridCol>
                <a:gridCol w="892175">
                  <a:extLst>
                    <a:ext uri="{9D8B030D-6E8A-4147-A177-3AD203B41FA5}">
                      <a16:colId xmlns:a16="http://schemas.microsoft.com/office/drawing/2014/main" val="20006"/>
                    </a:ext>
                  </a:extLst>
                </a:gridCol>
                <a:gridCol w="893763">
                  <a:extLst>
                    <a:ext uri="{9D8B030D-6E8A-4147-A177-3AD203B41FA5}">
                      <a16:colId xmlns:a16="http://schemas.microsoft.com/office/drawing/2014/main" val="20007"/>
                    </a:ext>
                  </a:extLst>
                </a:gridCol>
                <a:gridCol w="704850">
                  <a:extLst>
                    <a:ext uri="{9D8B030D-6E8A-4147-A177-3AD203B41FA5}">
                      <a16:colId xmlns:a16="http://schemas.microsoft.com/office/drawing/2014/main" val="20008"/>
                    </a:ext>
                  </a:extLst>
                </a:gridCol>
              </a:tblGrid>
              <a:tr h="518319">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GB" sz="2800" b="1" i="0" u="none" strike="noStrike" cap="none" normalizeH="0" baseline="0" dirty="0">
                          <a:ln>
                            <a:noFill/>
                          </a:ln>
                          <a:solidFill>
                            <a:schemeClr val="tx1"/>
                          </a:solidFill>
                          <a:effectLst/>
                          <a:latin typeface="Times New Roman" pitchFamily="18" charset="0"/>
                          <a:ea typeface="宋体" charset="-122"/>
                          <a:cs typeface="Times New Roman" pitchFamily="18" charset="0"/>
                        </a:rPr>
                        <a:t>位号</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D7</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D6</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D5</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D4</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D3</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D2</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319">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GB" sz="2800" b="1" i="0" u="none" strike="noStrike" cap="none" normalizeH="0" baseline="0">
                          <a:ln>
                            <a:noFill/>
                          </a:ln>
                          <a:solidFill>
                            <a:schemeClr val="tx1"/>
                          </a:solidFill>
                          <a:effectLst/>
                          <a:latin typeface="Times New Roman" pitchFamily="18" charset="0"/>
                          <a:ea typeface="宋体" charset="-122"/>
                          <a:cs typeface="Times New Roman" pitchFamily="18" charset="0"/>
                        </a:rPr>
                        <a:t>符号</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CY</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rgbClr val="CC3300"/>
                          </a:solidFill>
                          <a:effectLst/>
                          <a:latin typeface="Times New Roman" pitchFamily="18" charset="0"/>
                          <a:ea typeface="宋体" charset="-122"/>
                          <a:cs typeface="Times New Roman" pitchFamily="18" charset="0"/>
                        </a:rPr>
                        <a:t>AC</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F0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RS1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RS0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OV</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F1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dirty="0">
                          <a:ln>
                            <a:noFill/>
                          </a:ln>
                          <a:solidFill>
                            <a:schemeClr val="tx1"/>
                          </a:solidFill>
                          <a:effectLst/>
                          <a:latin typeface="Times New Roman" pitchFamily="18" charset="0"/>
                          <a:ea typeface="宋体" charset="-122"/>
                          <a:cs typeface="Times New Roman" pitchFamily="18" charset="0"/>
                        </a:rPr>
                        <a:t>P</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 name="矩形 6">
            <a:extLst>
              <a:ext uri="{FF2B5EF4-FFF2-40B4-BE49-F238E27FC236}">
                <a16:creationId xmlns:a16="http://schemas.microsoft.com/office/drawing/2014/main" id="{F6EB49A5-3AF8-4074-A363-FA29117A3E2D}"/>
              </a:ext>
            </a:extLst>
          </p:cNvPr>
          <p:cNvSpPr>
            <a:spLocks noChangeArrowheads="1"/>
          </p:cNvSpPr>
          <p:nvPr/>
        </p:nvSpPr>
        <p:spPr bwMode="auto">
          <a:xfrm>
            <a:off x="2512218" y="1799273"/>
            <a:ext cx="7048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FF0000"/>
                </a:solidFill>
                <a:cs typeface="Times New Roman" panose="02020603050405020304" pitchFamily="18" charset="0"/>
              </a:rPr>
              <a:t>A</a:t>
            </a:r>
            <a:r>
              <a:rPr lang="en-GB" altLang="zh-CN" sz="2800" b="1" dirty="0">
                <a:solidFill>
                  <a:srgbClr val="FF0000"/>
                </a:solidFill>
                <a:cs typeface="Times New Roman" panose="02020603050405020304" pitchFamily="18" charset="0"/>
              </a:rPr>
              <a:t>C</a:t>
            </a:r>
          </a:p>
        </p:txBody>
      </p:sp>
      <p:sp>
        <p:nvSpPr>
          <p:cNvPr id="8" name="Rectangle 3">
            <a:extLst>
              <a:ext uri="{FF2B5EF4-FFF2-40B4-BE49-F238E27FC236}">
                <a16:creationId xmlns:a16="http://schemas.microsoft.com/office/drawing/2014/main" id="{55C08E09-53EF-4427-89C4-24F6A94C6865}"/>
              </a:ext>
            </a:extLst>
          </p:cNvPr>
          <p:cNvSpPr txBox="1">
            <a:spLocks noChangeArrowheads="1"/>
          </p:cNvSpPr>
          <p:nvPr/>
        </p:nvSpPr>
        <p:spPr bwMode="auto">
          <a:xfrm>
            <a:off x="661192" y="3521075"/>
            <a:ext cx="7821613" cy="2127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1938" indent="-261938" algn="l" eaLnBrk="1" hangingPunct="1">
              <a:lnSpc>
                <a:spcPct val="100000"/>
              </a:lnSpc>
              <a:spcBef>
                <a:spcPts val="0"/>
              </a:spcBef>
              <a:spcAft>
                <a:spcPts val="300"/>
              </a:spcAft>
              <a:defRPr/>
            </a:pPr>
            <a:r>
              <a:rPr lang="en-GB" altLang="zh-CN" sz="2000" dirty="0">
                <a:solidFill>
                  <a:srgbClr val="FF0000"/>
                </a:solidFill>
                <a:latin typeface="Times New Roman" panose="02020603050405020304" pitchFamily="18" charset="0"/>
                <a:cs typeface="Times New Roman" panose="02020603050405020304" pitchFamily="18" charset="0"/>
              </a:rPr>
              <a:t>F0</a:t>
            </a:r>
            <a:r>
              <a:rPr lang="zh-CN" altLang="en-GB" sz="2000" kern="0" dirty="0">
                <a:latin typeface="Times New Roman" panose="02020603050405020304" pitchFamily="18" charset="0"/>
                <a:cs typeface="Times New Roman" panose="02020603050405020304" pitchFamily="18" charset="0"/>
              </a:rPr>
              <a:t>（</a:t>
            </a:r>
            <a:r>
              <a:rPr lang="en-GB" altLang="zh-CN" sz="2000" dirty="0">
                <a:solidFill>
                  <a:srgbClr val="FF0000"/>
                </a:solidFill>
                <a:latin typeface="Times New Roman" panose="02020603050405020304" pitchFamily="18" charset="0"/>
                <a:cs typeface="Times New Roman" panose="02020603050405020304" pitchFamily="18" charset="0"/>
              </a:rPr>
              <a:t>PSW.5</a:t>
            </a:r>
            <a:r>
              <a:rPr lang="zh-CN" altLang="en-GB" sz="2000" kern="0" dirty="0">
                <a:latin typeface="Times New Roman" panose="02020603050405020304" pitchFamily="18" charset="0"/>
                <a:cs typeface="Times New Roman" panose="02020603050405020304" pitchFamily="18" charset="0"/>
              </a:rPr>
              <a:t>）：</a:t>
            </a:r>
            <a:r>
              <a:rPr lang="zh-CN" altLang="en-GB" sz="2000" dirty="0">
                <a:solidFill>
                  <a:srgbClr val="0000CC"/>
                </a:solidFill>
                <a:latin typeface="Times New Roman" panose="02020603050405020304" pitchFamily="18" charset="0"/>
                <a:cs typeface="Times New Roman" panose="02020603050405020304" pitchFamily="18" charset="0"/>
              </a:rPr>
              <a:t>用户标志</a:t>
            </a:r>
            <a:r>
              <a:rPr lang="zh-CN" altLang="en-US" sz="2000" dirty="0">
                <a:solidFill>
                  <a:srgbClr val="0000CC"/>
                </a:solidFill>
                <a:latin typeface="Times New Roman" panose="02020603050405020304" pitchFamily="18" charset="0"/>
                <a:cs typeface="Times New Roman" panose="02020603050405020304" pitchFamily="18" charset="0"/>
              </a:rPr>
              <a:t>位</a:t>
            </a:r>
            <a:r>
              <a:rPr lang="en-GB" altLang="zh-CN" sz="2000" dirty="0">
                <a:solidFill>
                  <a:srgbClr val="0000CC"/>
                </a:solidFill>
                <a:latin typeface="Times New Roman" panose="02020603050405020304" pitchFamily="18" charset="0"/>
                <a:cs typeface="Times New Roman" panose="02020603050405020304" pitchFamily="18" charset="0"/>
              </a:rPr>
              <a:t>(</a:t>
            </a:r>
            <a:r>
              <a:rPr lang="en-US" altLang="zh-CN" sz="2000" dirty="0">
                <a:solidFill>
                  <a:srgbClr val="FF0000"/>
                </a:solidFill>
                <a:cs typeface="Times New Roman" pitchFamily="18" charset="0"/>
              </a:rPr>
              <a:t>F0</a:t>
            </a:r>
            <a:r>
              <a:rPr lang="en-GB" altLang="zh-CN" sz="2000" dirty="0">
                <a:solidFill>
                  <a:srgbClr val="0000CC"/>
                </a:solidFill>
                <a:latin typeface="Times New Roman" panose="02020603050405020304" pitchFamily="18" charset="0"/>
                <a:cs typeface="Times New Roman" panose="02020603050405020304" pitchFamily="18" charset="0"/>
              </a:rPr>
              <a:t>)</a:t>
            </a:r>
            <a:r>
              <a:rPr lang="zh-CN" altLang="en-GB" sz="2000" dirty="0">
                <a:solidFill>
                  <a:srgbClr val="0000CC"/>
                </a:solidFill>
                <a:latin typeface="Times New Roman" panose="02020603050405020304" pitchFamily="18" charset="0"/>
                <a:cs typeface="Times New Roman" panose="02020603050405020304" pitchFamily="18" charset="0"/>
              </a:rPr>
              <a:t>。</a:t>
            </a:r>
          </a:p>
          <a:p>
            <a:pPr indent="-80963" eaLnBrk="1" hangingPunct="1">
              <a:lnSpc>
                <a:spcPct val="100000"/>
              </a:lnSpc>
              <a:spcBef>
                <a:spcPts val="0"/>
              </a:spcBef>
              <a:buFontTx/>
              <a:buNone/>
              <a:defRPr/>
            </a:pPr>
            <a:r>
              <a:rPr lang="zh-CN" altLang="en-GB" sz="2000" kern="0" dirty="0">
                <a:solidFill>
                  <a:schemeClr val="tx1"/>
                </a:solidFill>
                <a:latin typeface="Times New Roman" panose="02020603050405020304" pitchFamily="18" charset="0"/>
                <a:cs typeface="Times New Roman" panose="02020603050405020304" pitchFamily="18" charset="0"/>
              </a:rPr>
              <a:t>是</a:t>
            </a:r>
            <a:r>
              <a:rPr lang="zh-CN" altLang="en-GB" sz="2000" kern="0" dirty="0">
                <a:solidFill>
                  <a:srgbClr val="FF0000"/>
                </a:solidFill>
                <a:latin typeface="Times New Roman" panose="02020603050405020304" pitchFamily="18" charset="0"/>
                <a:cs typeface="Times New Roman" panose="02020603050405020304" pitchFamily="18" charset="0"/>
              </a:rPr>
              <a:t>由用户定义的一个状态标志</a:t>
            </a:r>
            <a:r>
              <a:rPr lang="zh-CN" altLang="en-GB" sz="2000" kern="0" dirty="0">
                <a:solidFill>
                  <a:schemeClr val="tx1"/>
                </a:solidFill>
                <a:latin typeface="Times New Roman" panose="02020603050405020304" pitchFamily="18" charset="0"/>
                <a:cs typeface="Times New Roman" panose="02020603050405020304" pitchFamily="18" charset="0"/>
              </a:rPr>
              <a:t>。可用软件来使它置</a:t>
            </a:r>
            <a:r>
              <a:rPr lang="en-GB" altLang="zh-CN" sz="2000" kern="0" dirty="0">
                <a:latin typeface="Times New Roman" panose="02020603050405020304" pitchFamily="18" charset="0"/>
                <a:cs typeface="Times New Roman" panose="02020603050405020304" pitchFamily="18" charset="0"/>
              </a:rPr>
              <a:t>“</a:t>
            </a:r>
            <a:r>
              <a:rPr lang="en-GB" altLang="zh-CN" sz="2000" kern="0" dirty="0">
                <a:solidFill>
                  <a:schemeClr val="tx1"/>
                </a:solidFill>
                <a:latin typeface="Times New Roman" panose="02020603050405020304" pitchFamily="18" charset="0"/>
                <a:cs typeface="Times New Roman" panose="02020603050405020304" pitchFamily="18" charset="0"/>
              </a:rPr>
              <a:t>1</a:t>
            </a:r>
            <a:r>
              <a:rPr lang="en-GB" altLang="zh-CN" sz="2000" kern="0" dirty="0">
                <a:latin typeface="Times New Roman" panose="02020603050405020304" pitchFamily="18" charset="0"/>
                <a:cs typeface="Times New Roman" panose="02020603050405020304" pitchFamily="18" charset="0"/>
              </a:rPr>
              <a:t>” </a:t>
            </a:r>
            <a:r>
              <a:rPr lang="zh-CN" altLang="en-GB" sz="2000" kern="0" dirty="0">
                <a:solidFill>
                  <a:schemeClr val="tx1"/>
                </a:solidFill>
                <a:latin typeface="Times New Roman" panose="02020603050405020304" pitchFamily="18" charset="0"/>
                <a:cs typeface="Times New Roman" panose="02020603050405020304" pitchFamily="18" charset="0"/>
              </a:rPr>
              <a:t>或清</a:t>
            </a:r>
            <a:r>
              <a:rPr lang="en-GB" altLang="zh-CN" sz="2000" kern="0" dirty="0">
                <a:latin typeface="Times New Roman" panose="02020603050405020304" pitchFamily="18" charset="0"/>
                <a:cs typeface="Times New Roman" panose="02020603050405020304" pitchFamily="18" charset="0"/>
              </a:rPr>
              <a:t>“</a:t>
            </a:r>
            <a:r>
              <a:rPr lang="en-GB" altLang="zh-CN" sz="2000" kern="0" dirty="0">
                <a:solidFill>
                  <a:schemeClr val="tx1"/>
                </a:solidFill>
                <a:latin typeface="Times New Roman" panose="02020603050405020304" pitchFamily="18" charset="0"/>
                <a:cs typeface="Times New Roman" panose="02020603050405020304" pitchFamily="18" charset="0"/>
              </a:rPr>
              <a:t>0</a:t>
            </a:r>
            <a:r>
              <a:rPr lang="en-GB" altLang="zh-CN" sz="2000" kern="0" dirty="0">
                <a:latin typeface="Times New Roman" panose="02020603050405020304" pitchFamily="18" charset="0"/>
                <a:cs typeface="Times New Roman" panose="02020603050405020304" pitchFamily="18" charset="0"/>
              </a:rPr>
              <a:t>” </a:t>
            </a:r>
            <a:r>
              <a:rPr lang="zh-CN" altLang="en-GB" sz="2000" kern="0" dirty="0">
                <a:solidFill>
                  <a:schemeClr val="tx1"/>
                </a:solidFill>
                <a:latin typeface="Times New Roman" panose="02020603050405020304" pitchFamily="18" charset="0"/>
                <a:cs typeface="Times New Roman" panose="02020603050405020304" pitchFamily="18" charset="0"/>
              </a:rPr>
              <a:t>，也可以由软件测试</a:t>
            </a:r>
            <a:r>
              <a:rPr lang="en-GB" altLang="zh-CN" sz="2000" kern="0" dirty="0">
                <a:solidFill>
                  <a:schemeClr val="tx1"/>
                </a:solidFill>
                <a:latin typeface="Times New Roman" panose="02020603050405020304" pitchFamily="18" charset="0"/>
                <a:cs typeface="Times New Roman" panose="02020603050405020304" pitchFamily="18" charset="0"/>
              </a:rPr>
              <a:t>F0</a:t>
            </a:r>
            <a:r>
              <a:rPr lang="zh-CN" altLang="en-GB" sz="2000" kern="0" dirty="0">
                <a:solidFill>
                  <a:schemeClr val="tx1"/>
                </a:solidFill>
                <a:latin typeface="Times New Roman" panose="02020603050405020304" pitchFamily="18" charset="0"/>
                <a:cs typeface="Times New Roman" panose="02020603050405020304" pitchFamily="18" charset="0"/>
              </a:rPr>
              <a:t>控制程序的流向。</a:t>
            </a:r>
          </a:p>
          <a:p>
            <a:pPr marL="261938" indent="-261938" algn="l" eaLnBrk="1" hangingPunct="1">
              <a:lnSpc>
                <a:spcPct val="100000"/>
              </a:lnSpc>
              <a:spcBef>
                <a:spcPts val="0"/>
              </a:spcBef>
              <a:spcAft>
                <a:spcPts val="300"/>
              </a:spcAft>
              <a:defRPr/>
            </a:pPr>
            <a:r>
              <a:rPr lang="en-GB" altLang="zh-CN" sz="2000" dirty="0">
                <a:solidFill>
                  <a:srgbClr val="FF0000"/>
                </a:solidFill>
                <a:latin typeface="Times New Roman" panose="02020603050405020304" pitchFamily="18" charset="0"/>
                <a:cs typeface="Times New Roman" panose="02020603050405020304" pitchFamily="18" charset="0"/>
              </a:rPr>
              <a:t>F1</a:t>
            </a:r>
            <a:r>
              <a:rPr lang="zh-CN" altLang="en-GB" sz="2000" kern="0" dirty="0">
                <a:latin typeface="Times New Roman" panose="02020603050405020304" pitchFamily="18" charset="0"/>
                <a:cs typeface="Times New Roman" panose="02020603050405020304" pitchFamily="18" charset="0"/>
              </a:rPr>
              <a:t>（</a:t>
            </a:r>
            <a:r>
              <a:rPr lang="en-GB" altLang="zh-CN" sz="2000" dirty="0">
                <a:solidFill>
                  <a:srgbClr val="FF0000"/>
                </a:solidFill>
                <a:latin typeface="Times New Roman" panose="02020603050405020304" pitchFamily="18" charset="0"/>
                <a:cs typeface="Times New Roman" panose="02020603050405020304" pitchFamily="18" charset="0"/>
              </a:rPr>
              <a:t>PSW.1</a:t>
            </a:r>
            <a:r>
              <a:rPr lang="zh-CN" altLang="en-GB" sz="2000" kern="0" dirty="0">
                <a:latin typeface="Times New Roman" panose="02020603050405020304" pitchFamily="18" charset="0"/>
                <a:cs typeface="Times New Roman" panose="02020603050405020304" pitchFamily="18" charset="0"/>
              </a:rPr>
              <a:t>）：</a:t>
            </a:r>
            <a:r>
              <a:rPr lang="zh-CN" altLang="en-GB" sz="2000" dirty="0">
                <a:solidFill>
                  <a:srgbClr val="0000CC"/>
                </a:solidFill>
                <a:latin typeface="Times New Roman" panose="02020603050405020304" pitchFamily="18" charset="0"/>
                <a:cs typeface="Times New Roman" panose="02020603050405020304" pitchFamily="18" charset="0"/>
              </a:rPr>
              <a:t>用户标志</a:t>
            </a:r>
            <a:r>
              <a:rPr lang="en-GB" altLang="zh-CN" sz="2000" dirty="0">
                <a:solidFill>
                  <a:srgbClr val="0000CC"/>
                </a:solidFill>
                <a:latin typeface="Times New Roman" panose="02020603050405020304" pitchFamily="18" charset="0"/>
                <a:cs typeface="Times New Roman" panose="02020603050405020304" pitchFamily="18" charset="0"/>
              </a:rPr>
              <a:t>1</a:t>
            </a:r>
            <a:r>
              <a:rPr lang="zh-CN" altLang="en-US" sz="2000" dirty="0">
                <a:solidFill>
                  <a:srgbClr val="0000CC"/>
                </a:solidFill>
                <a:latin typeface="Times New Roman" panose="02020603050405020304" pitchFamily="18" charset="0"/>
                <a:cs typeface="Times New Roman" panose="02020603050405020304" pitchFamily="18" charset="0"/>
              </a:rPr>
              <a:t> </a:t>
            </a:r>
            <a:r>
              <a:rPr lang="en-GB" altLang="zh-CN" sz="2000" dirty="0">
                <a:solidFill>
                  <a:srgbClr val="0000CC"/>
                </a:solidFill>
                <a:latin typeface="Times New Roman" panose="02020603050405020304" pitchFamily="18" charset="0"/>
                <a:cs typeface="Times New Roman" panose="02020603050405020304" pitchFamily="18" charset="0"/>
              </a:rPr>
              <a:t>(</a:t>
            </a:r>
            <a:r>
              <a:rPr lang="en-US" altLang="zh-CN" sz="2000" dirty="0">
                <a:solidFill>
                  <a:srgbClr val="FF0000"/>
                </a:solidFill>
                <a:cs typeface="Times New Roman" pitchFamily="18" charset="0"/>
              </a:rPr>
              <a:t>F1</a:t>
            </a:r>
            <a:r>
              <a:rPr lang="en-GB" altLang="zh-CN" sz="2000" dirty="0">
                <a:solidFill>
                  <a:srgbClr val="0000CC"/>
                </a:solidFill>
                <a:latin typeface="Times New Roman" panose="02020603050405020304" pitchFamily="18" charset="0"/>
                <a:cs typeface="Times New Roman" panose="02020603050405020304" pitchFamily="18" charset="0"/>
              </a:rPr>
              <a:t>) </a:t>
            </a:r>
            <a:r>
              <a:rPr lang="zh-CN" altLang="en-GB" sz="2000" dirty="0">
                <a:solidFill>
                  <a:srgbClr val="0000CC"/>
                </a:solidFill>
                <a:latin typeface="Times New Roman" panose="02020603050405020304" pitchFamily="18" charset="0"/>
                <a:cs typeface="Times New Roman" panose="02020603050405020304" pitchFamily="18" charset="0"/>
              </a:rPr>
              <a:t>。</a:t>
            </a:r>
          </a:p>
          <a:p>
            <a:pPr eaLnBrk="1" hangingPunct="1">
              <a:lnSpc>
                <a:spcPct val="100000"/>
              </a:lnSpc>
              <a:spcBef>
                <a:spcPts val="0"/>
              </a:spcBef>
              <a:buFontTx/>
              <a:buNone/>
              <a:defRPr/>
            </a:pPr>
            <a:r>
              <a:rPr lang="zh-CN" altLang="en-GB" sz="2000" kern="0" dirty="0">
                <a:solidFill>
                  <a:schemeClr val="tx1"/>
                </a:solidFill>
                <a:latin typeface="Times New Roman" panose="02020603050405020304" pitchFamily="18" charset="0"/>
                <a:cs typeface="Times New Roman" panose="02020603050405020304" pitchFamily="18" charset="0"/>
              </a:rPr>
              <a:t>    </a:t>
            </a:r>
            <a:r>
              <a:rPr lang="zh-CN" altLang="en-GB" sz="2000" kern="0" dirty="0">
                <a:solidFill>
                  <a:srgbClr val="FF0000"/>
                </a:solidFill>
                <a:latin typeface="Times New Roman" panose="02020603050405020304" pitchFamily="18" charset="0"/>
                <a:cs typeface="Times New Roman" panose="02020603050405020304" pitchFamily="18" charset="0"/>
              </a:rPr>
              <a:t>是由用户定义的一个状态标志</a:t>
            </a:r>
            <a:r>
              <a:rPr lang="zh-CN" altLang="en-GB" sz="2000" kern="0" dirty="0">
                <a:solidFill>
                  <a:schemeClr val="tx1"/>
                </a:solidFill>
                <a:latin typeface="Times New Roman" panose="02020603050405020304" pitchFamily="18" charset="0"/>
                <a:cs typeface="Times New Roman" panose="02020603050405020304" pitchFamily="18" charset="0"/>
              </a:rPr>
              <a:t>。可用软件来使它置</a:t>
            </a:r>
            <a:r>
              <a:rPr lang="en-GB" altLang="zh-CN" sz="2000" kern="0" dirty="0">
                <a:latin typeface="Times New Roman" panose="02020603050405020304" pitchFamily="18" charset="0"/>
                <a:cs typeface="Times New Roman" panose="02020603050405020304" pitchFamily="18" charset="0"/>
              </a:rPr>
              <a:t>“</a:t>
            </a:r>
            <a:r>
              <a:rPr lang="en-GB" altLang="zh-CN" sz="2000" kern="0" dirty="0">
                <a:solidFill>
                  <a:schemeClr val="tx1"/>
                </a:solidFill>
                <a:latin typeface="Times New Roman" panose="02020603050405020304" pitchFamily="18" charset="0"/>
                <a:cs typeface="Times New Roman" panose="02020603050405020304" pitchFamily="18" charset="0"/>
              </a:rPr>
              <a:t>1</a:t>
            </a:r>
            <a:r>
              <a:rPr lang="en-GB" altLang="zh-CN" sz="2000" kern="0" dirty="0">
                <a:latin typeface="Times New Roman" panose="02020603050405020304" pitchFamily="18" charset="0"/>
                <a:cs typeface="Times New Roman" panose="02020603050405020304" pitchFamily="18" charset="0"/>
              </a:rPr>
              <a:t>” </a:t>
            </a:r>
            <a:r>
              <a:rPr lang="zh-CN" altLang="en-GB" sz="2000" kern="0" dirty="0">
                <a:solidFill>
                  <a:schemeClr val="tx1"/>
                </a:solidFill>
                <a:latin typeface="Times New Roman" panose="02020603050405020304" pitchFamily="18" charset="0"/>
                <a:cs typeface="Times New Roman" panose="02020603050405020304" pitchFamily="18" charset="0"/>
              </a:rPr>
              <a:t>或清</a:t>
            </a:r>
            <a:r>
              <a:rPr lang="en-GB" altLang="zh-CN" sz="2000" kern="0" dirty="0">
                <a:latin typeface="Times New Roman" panose="02020603050405020304" pitchFamily="18" charset="0"/>
                <a:cs typeface="Times New Roman" panose="02020603050405020304" pitchFamily="18" charset="0"/>
              </a:rPr>
              <a:t>“</a:t>
            </a:r>
            <a:r>
              <a:rPr lang="en-GB" altLang="zh-CN" sz="2000" kern="0" dirty="0">
                <a:solidFill>
                  <a:schemeClr val="tx1"/>
                </a:solidFill>
                <a:latin typeface="Times New Roman" panose="02020603050405020304" pitchFamily="18" charset="0"/>
                <a:cs typeface="Times New Roman" panose="02020603050405020304" pitchFamily="18" charset="0"/>
              </a:rPr>
              <a:t>0</a:t>
            </a:r>
            <a:r>
              <a:rPr lang="en-GB" altLang="zh-CN" sz="2000" kern="0" dirty="0">
                <a:latin typeface="Times New Roman" panose="02020603050405020304" pitchFamily="18" charset="0"/>
                <a:cs typeface="Times New Roman" panose="02020603050405020304" pitchFamily="18" charset="0"/>
              </a:rPr>
              <a:t>” </a:t>
            </a:r>
            <a:r>
              <a:rPr lang="zh-CN" altLang="en-GB" sz="2000" kern="0" dirty="0">
                <a:solidFill>
                  <a:schemeClr val="tx1"/>
                </a:solidFill>
                <a:latin typeface="Times New Roman" panose="02020603050405020304" pitchFamily="18" charset="0"/>
                <a:cs typeface="Times New Roman" panose="02020603050405020304" pitchFamily="18" charset="0"/>
              </a:rPr>
              <a:t>，也可以由软件测试</a:t>
            </a:r>
            <a:r>
              <a:rPr lang="en-GB" altLang="zh-CN" sz="2000" kern="0" dirty="0">
                <a:solidFill>
                  <a:schemeClr val="tx1"/>
                </a:solidFill>
                <a:latin typeface="Times New Roman" panose="02020603050405020304" pitchFamily="18" charset="0"/>
                <a:cs typeface="Times New Roman" panose="02020603050405020304" pitchFamily="18" charset="0"/>
              </a:rPr>
              <a:t>F1</a:t>
            </a:r>
            <a:r>
              <a:rPr lang="zh-CN" altLang="en-GB" sz="2000" kern="0" dirty="0">
                <a:solidFill>
                  <a:schemeClr val="tx1"/>
                </a:solidFill>
                <a:latin typeface="Times New Roman" panose="02020603050405020304" pitchFamily="18" charset="0"/>
                <a:cs typeface="Times New Roman" panose="02020603050405020304" pitchFamily="18" charset="0"/>
              </a:rPr>
              <a:t>控制程序的流向。</a:t>
            </a:r>
            <a:endParaRPr lang="zh-CN" altLang="en-US" sz="2000" kern="0" dirty="0">
              <a:solidFill>
                <a:schemeClr val="tx1"/>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1EC9CBF6-0835-4D08-B1F2-2F5A55123B84}"/>
              </a:ext>
            </a:extLst>
          </p:cNvPr>
          <p:cNvSpPr>
            <a:spLocks noChangeArrowheads="1"/>
          </p:cNvSpPr>
          <p:nvPr/>
        </p:nvSpPr>
        <p:spPr bwMode="auto">
          <a:xfrm>
            <a:off x="3458368" y="1784985"/>
            <a:ext cx="5842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0000"/>
                </a:solidFill>
                <a:cs typeface="Times New Roman" panose="02020603050405020304" pitchFamily="18" charset="0"/>
              </a:rPr>
              <a:t>F0</a:t>
            </a:r>
            <a:endParaRPr lang="en-GB" altLang="zh-CN" sz="2800" b="1">
              <a:solidFill>
                <a:srgbClr val="FF0000"/>
              </a:solidFill>
              <a:cs typeface="Times New Roman" panose="02020603050405020304" pitchFamily="18" charset="0"/>
            </a:endParaRPr>
          </a:p>
        </p:txBody>
      </p:sp>
      <p:sp>
        <p:nvSpPr>
          <p:cNvPr id="10" name="矩形 9">
            <a:extLst>
              <a:ext uri="{FF2B5EF4-FFF2-40B4-BE49-F238E27FC236}">
                <a16:creationId xmlns:a16="http://schemas.microsoft.com/office/drawing/2014/main" id="{B1C0D758-6572-4378-82F0-A853D5F2DE19}"/>
              </a:ext>
            </a:extLst>
          </p:cNvPr>
          <p:cNvSpPr>
            <a:spLocks noChangeArrowheads="1"/>
          </p:cNvSpPr>
          <p:nvPr/>
        </p:nvSpPr>
        <p:spPr bwMode="auto">
          <a:xfrm>
            <a:off x="7028655" y="1784985"/>
            <a:ext cx="5842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0000"/>
                </a:solidFill>
                <a:cs typeface="Times New Roman" panose="02020603050405020304" pitchFamily="18" charset="0"/>
              </a:rPr>
              <a:t>F1</a:t>
            </a:r>
            <a:endParaRPr lang="en-GB" altLang="zh-CN" sz="2800" b="1">
              <a:solidFill>
                <a:srgbClr val="FF0000"/>
              </a:solidFill>
              <a:cs typeface="Times New Roman" panose="02020603050405020304" pitchFamily="18" charset="0"/>
            </a:endParaRPr>
          </a:p>
        </p:txBody>
      </p:sp>
      <p:sp>
        <p:nvSpPr>
          <p:cNvPr id="3" name="灯片编号占位符 2">
            <a:extLst>
              <a:ext uri="{FF2B5EF4-FFF2-40B4-BE49-F238E27FC236}">
                <a16:creationId xmlns:a16="http://schemas.microsoft.com/office/drawing/2014/main" id="{F7386189-0FA6-46E8-AC18-3175932A4719}"/>
              </a:ext>
            </a:extLst>
          </p:cNvPr>
          <p:cNvSpPr>
            <a:spLocks noGrp="1"/>
          </p:cNvSpPr>
          <p:nvPr>
            <p:ph type="sldNum" sz="quarter" idx="12"/>
          </p:nvPr>
        </p:nvSpPr>
        <p:spPr/>
        <p:txBody>
          <a:bodyPr/>
          <a:lstStyle/>
          <a:p>
            <a:fld id="{22E77DEE-32E4-4009-988B-F2758F7B8AC2}" type="slidenum">
              <a:rPr lang="zh-CN" altLang="en-US" smtClean="0"/>
              <a:t>26</a:t>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2">
            <a:extLst>
              <a:ext uri="{FF2B5EF4-FFF2-40B4-BE49-F238E27FC236}">
                <a16:creationId xmlns:a16="http://schemas.microsoft.com/office/drawing/2014/main" id="{39A317A7-2AE8-4D1A-957F-6F9896DC579B}"/>
              </a:ext>
            </a:extLst>
          </p:cNvPr>
          <p:cNvSpPr>
            <a:spLocks noGrp="1" noChangeArrowheads="1"/>
          </p:cNvSpPr>
          <p:nvPr>
            <p:ph type="title"/>
          </p:nvPr>
        </p:nvSpPr>
        <p:spPr>
          <a:xfrm>
            <a:off x="596106" y="488385"/>
            <a:ext cx="8229600" cy="504825"/>
          </a:xfrm>
        </p:spPr>
        <p:txBody>
          <a:bodyPr>
            <a:normAutofit fontScale="90000"/>
          </a:bodyPr>
          <a:lstStyle/>
          <a:p>
            <a:pPr eaLnBrk="1" hangingPunct="1"/>
            <a:r>
              <a:rPr lang="zh-CN" altLang="en-US" dirty="0"/>
              <a:t>程序</a:t>
            </a:r>
            <a:r>
              <a:rPr lang="zh-CN" altLang="en-US" dirty="0">
                <a:solidFill>
                  <a:srgbClr val="C00000"/>
                </a:solidFill>
              </a:rPr>
              <a:t>状态标志寄存器</a:t>
            </a:r>
            <a:r>
              <a:rPr lang="en-US" altLang="zh-CN" dirty="0">
                <a:solidFill>
                  <a:srgbClr val="C00000"/>
                </a:solidFill>
              </a:rPr>
              <a:t>PSW (8</a:t>
            </a:r>
            <a:r>
              <a:rPr lang="zh-CN" altLang="en-US" dirty="0">
                <a:solidFill>
                  <a:srgbClr val="C00000"/>
                </a:solidFill>
              </a:rPr>
              <a:t>位</a:t>
            </a:r>
            <a:r>
              <a:rPr lang="en-US" altLang="zh-CN" dirty="0">
                <a:solidFill>
                  <a:srgbClr val="C00000"/>
                </a:solidFill>
              </a:rPr>
              <a:t>)</a:t>
            </a:r>
            <a:endParaRPr lang="zh-CN" altLang="en-US" dirty="0"/>
          </a:p>
        </p:txBody>
      </p:sp>
      <p:sp>
        <p:nvSpPr>
          <p:cNvPr id="460803" name="Rectangle 3">
            <a:extLst>
              <a:ext uri="{FF2B5EF4-FFF2-40B4-BE49-F238E27FC236}">
                <a16:creationId xmlns:a16="http://schemas.microsoft.com/office/drawing/2014/main" id="{2ACB0138-D6EF-4C76-9CDF-3381B614BBE7}"/>
              </a:ext>
            </a:extLst>
          </p:cNvPr>
          <p:cNvSpPr>
            <a:spLocks noGrp="1" noChangeArrowheads="1"/>
          </p:cNvSpPr>
          <p:nvPr>
            <p:ph idx="1"/>
          </p:nvPr>
        </p:nvSpPr>
        <p:spPr>
          <a:xfrm>
            <a:off x="596106" y="2537494"/>
            <a:ext cx="7897813" cy="1425575"/>
          </a:xfrm>
        </p:spPr>
        <p:txBody>
          <a:bodyPr/>
          <a:lstStyle/>
          <a:p>
            <a:pPr marL="261938" indent="-261938" eaLnBrk="1" hangingPunct="1">
              <a:lnSpc>
                <a:spcPct val="90000"/>
              </a:lnSpc>
            </a:pPr>
            <a:r>
              <a:rPr lang="en-GB" altLang="zh-CN" dirty="0">
                <a:solidFill>
                  <a:srgbClr val="FF0000"/>
                </a:solidFill>
              </a:rPr>
              <a:t>RS1</a:t>
            </a:r>
            <a:r>
              <a:rPr lang="en-US" altLang="zh-CN" dirty="0">
                <a:solidFill>
                  <a:srgbClr val="FF0000"/>
                </a:solidFill>
              </a:rPr>
              <a:t>,</a:t>
            </a:r>
            <a:r>
              <a:rPr lang="en-GB" altLang="zh-CN" dirty="0">
                <a:solidFill>
                  <a:srgbClr val="FF0000"/>
                </a:solidFill>
              </a:rPr>
              <a:t>RS0</a:t>
            </a:r>
            <a:r>
              <a:rPr lang="zh-CN" altLang="en-GB" dirty="0"/>
              <a:t>（</a:t>
            </a:r>
            <a:r>
              <a:rPr lang="en-GB" altLang="zh-CN" dirty="0">
                <a:solidFill>
                  <a:srgbClr val="FF0000"/>
                </a:solidFill>
              </a:rPr>
              <a:t>PSW.4</a:t>
            </a:r>
            <a:r>
              <a:rPr lang="zh-CN" altLang="en-GB" dirty="0">
                <a:solidFill>
                  <a:srgbClr val="FF0000"/>
                </a:solidFill>
              </a:rPr>
              <a:t>～</a:t>
            </a:r>
            <a:r>
              <a:rPr lang="en-GB" altLang="zh-CN" dirty="0">
                <a:solidFill>
                  <a:srgbClr val="FF0000"/>
                </a:solidFill>
              </a:rPr>
              <a:t>PSW.3</a:t>
            </a:r>
            <a:r>
              <a:rPr lang="zh-CN" altLang="en-GB" dirty="0"/>
              <a:t>）：</a:t>
            </a:r>
            <a:r>
              <a:rPr lang="zh-CN" altLang="en-GB" dirty="0">
                <a:solidFill>
                  <a:srgbClr val="0000CC"/>
                </a:solidFill>
              </a:rPr>
              <a:t>工作寄存器组选择控制位</a:t>
            </a:r>
            <a:r>
              <a:rPr lang="zh-CN" altLang="en-GB" dirty="0">
                <a:solidFill>
                  <a:schemeClr val="tx1"/>
                </a:solidFill>
              </a:rPr>
              <a:t>，其详细介绍</a:t>
            </a:r>
            <a:r>
              <a:rPr lang="zh-CN" altLang="en-GB" dirty="0">
                <a:solidFill>
                  <a:schemeClr val="tx1"/>
                </a:solidFill>
                <a:hlinkClick r:id="" action="ppaction://noaction"/>
              </a:rPr>
              <a:t>见后续内容</a:t>
            </a:r>
            <a:r>
              <a:rPr lang="zh-CN" altLang="en-GB" dirty="0">
                <a:solidFill>
                  <a:schemeClr val="tx1"/>
                </a:solidFill>
              </a:rPr>
              <a:t>。</a:t>
            </a:r>
          </a:p>
          <a:p>
            <a:pPr marL="261938" indent="-261938" eaLnBrk="1" hangingPunct="1">
              <a:lnSpc>
                <a:spcPct val="90000"/>
              </a:lnSpc>
            </a:pPr>
            <a:r>
              <a:rPr lang="en-GB" altLang="zh-CN" dirty="0">
                <a:solidFill>
                  <a:srgbClr val="FF0000"/>
                </a:solidFill>
              </a:rPr>
              <a:t>OV</a:t>
            </a:r>
            <a:r>
              <a:rPr lang="zh-CN" altLang="en-GB" dirty="0"/>
              <a:t>（</a:t>
            </a:r>
            <a:r>
              <a:rPr lang="en-GB" altLang="zh-CN" dirty="0">
                <a:solidFill>
                  <a:srgbClr val="FF0000"/>
                </a:solidFill>
              </a:rPr>
              <a:t>PSW.2</a:t>
            </a:r>
            <a:r>
              <a:rPr lang="zh-CN" altLang="en-GB" dirty="0"/>
              <a:t>）：</a:t>
            </a:r>
            <a:r>
              <a:rPr lang="zh-CN" altLang="en-GB" dirty="0">
                <a:solidFill>
                  <a:srgbClr val="0000CC"/>
                </a:solidFill>
              </a:rPr>
              <a:t>溢出标志位</a:t>
            </a:r>
            <a:r>
              <a:rPr lang="zh-CN" altLang="en-GB" dirty="0">
                <a:solidFill>
                  <a:schemeClr val="tx1"/>
                </a:solidFill>
              </a:rPr>
              <a:t>。指示运算过程中是否发生了溢出，在执行指令过程中自动形成。</a:t>
            </a:r>
            <a:endParaRPr lang="zh-CN" altLang="en-US" dirty="0">
              <a:solidFill>
                <a:schemeClr val="tx1"/>
              </a:solidFill>
            </a:endParaRPr>
          </a:p>
        </p:txBody>
      </p:sp>
      <p:graphicFrame>
        <p:nvGraphicFramePr>
          <p:cNvPr id="8" name="Group 4">
            <a:extLst>
              <a:ext uri="{FF2B5EF4-FFF2-40B4-BE49-F238E27FC236}">
                <a16:creationId xmlns:a16="http://schemas.microsoft.com/office/drawing/2014/main" id="{8E336AF9-302A-4FF0-B40E-8B7898FE1C68}"/>
              </a:ext>
            </a:extLst>
          </p:cNvPr>
          <p:cNvGraphicFramePr>
            <a:graphicFrameLocks noGrp="1"/>
          </p:cNvGraphicFramePr>
          <p:nvPr>
            <p:extLst>
              <p:ext uri="{D42A27DB-BD31-4B8C-83A1-F6EECF244321}">
                <p14:modId xmlns:p14="http://schemas.microsoft.com/office/powerpoint/2010/main" val="2974908170"/>
              </p:ext>
            </p:extLst>
          </p:nvPr>
        </p:nvGraphicFramePr>
        <p:xfrm>
          <a:off x="731838" y="1298996"/>
          <a:ext cx="7821613" cy="1036638"/>
        </p:xfrm>
        <a:graphic>
          <a:graphicData uri="http://schemas.openxmlformats.org/drawingml/2006/table">
            <a:tbl>
              <a:tblPr/>
              <a:tblGrid>
                <a:gridCol w="922338">
                  <a:extLst>
                    <a:ext uri="{9D8B030D-6E8A-4147-A177-3AD203B41FA5}">
                      <a16:colId xmlns:a16="http://schemas.microsoft.com/office/drawing/2014/main" val="20000"/>
                    </a:ext>
                  </a:extLst>
                </a:gridCol>
                <a:gridCol w="858837">
                  <a:extLst>
                    <a:ext uri="{9D8B030D-6E8A-4147-A177-3AD203B41FA5}">
                      <a16:colId xmlns:a16="http://schemas.microsoft.com/office/drawing/2014/main" val="20001"/>
                    </a:ext>
                  </a:extLst>
                </a:gridCol>
                <a:gridCol w="868363">
                  <a:extLst>
                    <a:ext uri="{9D8B030D-6E8A-4147-A177-3AD203B41FA5}">
                      <a16:colId xmlns:a16="http://schemas.microsoft.com/office/drawing/2014/main" val="20002"/>
                    </a:ext>
                  </a:extLst>
                </a:gridCol>
                <a:gridCol w="892175">
                  <a:extLst>
                    <a:ext uri="{9D8B030D-6E8A-4147-A177-3AD203B41FA5}">
                      <a16:colId xmlns:a16="http://schemas.microsoft.com/office/drawing/2014/main" val="20003"/>
                    </a:ext>
                  </a:extLst>
                </a:gridCol>
                <a:gridCol w="893762">
                  <a:extLst>
                    <a:ext uri="{9D8B030D-6E8A-4147-A177-3AD203B41FA5}">
                      <a16:colId xmlns:a16="http://schemas.microsoft.com/office/drawing/2014/main" val="20004"/>
                    </a:ext>
                  </a:extLst>
                </a:gridCol>
                <a:gridCol w="895350">
                  <a:extLst>
                    <a:ext uri="{9D8B030D-6E8A-4147-A177-3AD203B41FA5}">
                      <a16:colId xmlns:a16="http://schemas.microsoft.com/office/drawing/2014/main" val="20005"/>
                    </a:ext>
                  </a:extLst>
                </a:gridCol>
                <a:gridCol w="892175">
                  <a:extLst>
                    <a:ext uri="{9D8B030D-6E8A-4147-A177-3AD203B41FA5}">
                      <a16:colId xmlns:a16="http://schemas.microsoft.com/office/drawing/2014/main" val="20006"/>
                    </a:ext>
                  </a:extLst>
                </a:gridCol>
                <a:gridCol w="893763">
                  <a:extLst>
                    <a:ext uri="{9D8B030D-6E8A-4147-A177-3AD203B41FA5}">
                      <a16:colId xmlns:a16="http://schemas.microsoft.com/office/drawing/2014/main" val="20007"/>
                    </a:ext>
                  </a:extLst>
                </a:gridCol>
                <a:gridCol w="704850">
                  <a:extLst>
                    <a:ext uri="{9D8B030D-6E8A-4147-A177-3AD203B41FA5}">
                      <a16:colId xmlns:a16="http://schemas.microsoft.com/office/drawing/2014/main" val="20008"/>
                    </a:ext>
                  </a:extLst>
                </a:gridCol>
              </a:tblGrid>
              <a:tr h="518319">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GB" sz="2800" b="1" i="0" u="none" strike="noStrike" cap="none" normalizeH="0" baseline="0" dirty="0">
                          <a:ln>
                            <a:noFill/>
                          </a:ln>
                          <a:solidFill>
                            <a:schemeClr val="tx1"/>
                          </a:solidFill>
                          <a:effectLst/>
                          <a:latin typeface="Times New Roman" pitchFamily="18" charset="0"/>
                          <a:ea typeface="宋体" charset="-122"/>
                          <a:cs typeface="Times New Roman" pitchFamily="18" charset="0"/>
                        </a:rPr>
                        <a:t>位号</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D7</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D6</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D5</a:t>
                      </a:r>
                    </a:p>
                  </a:txBody>
                  <a:tcPr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D4</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D3</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D2</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D0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8319">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GB" sz="2800" b="1" i="0" u="none" strike="noStrike" cap="none" normalizeH="0" baseline="0">
                          <a:ln>
                            <a:noFill/>
                          </a:ln>
                          <a:solidFill>
                            <a:schemeClr val="tx1"/>
                          </a:solidFill>
                          <a:effectLst/>
                          <a:latin typeface="Times New Roman" pitchFamily="18" charset="0"/>
                          <a:ea typeface="宋体" charset="-122"/>
                          <a:cs typeface="Times New Roman" pitchFamily="18" charset="0"/>
                        </a:rPr>
                        <a:t>符号</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CY</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kern="1200" cap="none" normalizeH="0" baseline="0">
                          <a:ln>
                            <a:noFill/>
                          </a:ln>
                          <a:solidFill>
                            <a:schemeClr val="tx1"/>
                          </a:solidFill>
                          <a:effectLst/>
                          <a:latin typeface="Times New Roman" pitchFamily="18" charset="0"/>
                          <a:ea typeface="宋体" charset="-122"/>
                          <a:cs typeface="Times New Roman" pitchFamily="18" charset="0"/>
                        </a:rPr>
                        <a:t>AC</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F0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RS1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RS0</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OV</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a:ln>
                            <a:noFill/>
                          </a:ln>
                          <a:solidFill>
                            <a:schemeClr val="tx1"/>
                          </a:solidFill>
                          <a:effectLst/>
                          <a:latin typeface="Times New Roman" pitchFamily="18" charset="0"/>
                          <a:ea typeface="宋体" charset="-122"/>
                          <a:cs typeface="Times New Roman" pitchFamily="18" charset="0"/>
                        </a:rPr>
                        <a:t>F1</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2800" b="1" i="0" u="none" strike="noStrike" cap="none" normalizeH="0" baseline="0" dirty="0">
                          <a:ln>
                            <a:noFill/>
                          </a:ln>
                          <a:solidFill>
                            <a:schemeClr val="tx1"/>
                          </a:solidFill>
                          <a:effectLst/>
                          <a:latin typeface="Times New Roman" pitchFamily="18" charset="0"/>
                          <a:ea typeface="宋体" charset="-122"/>
                          <a:cs typeface="Times New Roman" pitchFamily="18" charset="0"/>
                        </a:rPr>
                        <a:t>P</a:t>
                      </a:r>
                    </a:p>
                  </a:txBody>
                  <a:tcPr marT="45734" marB="45734"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9" name="矩形 8">
            <a:extLst>
              <a:ext uri="{FF2B5EF4-FFF2-40B4-BE49-F238E27FC236}">
                <a16:creationId xmlns:a16="http://schemas.microsoft.com/office/drawing/2014/main" id="{1761F897-9A64-46B1-B0AA-AC25E57477D8}"/>
              </a:ext>
            </a:extLst>
          </p:cNvPr>
          <p:cNvSpPr>
            <a:spLocks noChangeArrowheads="1"/>
          </p:cNvSpPr>
          <p:nvPr/>
        </p:nvSpPr>
        <p:spPr bwMode="auto">
          <a:xfrm>
            <a:off x="4308475" y="1824458"/>
            <a:ext cx="823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0000"/>
                </a:solidFill>
                <a:cs typeface="Times New Roman" panose="02020603050405020304" pitchFamily="18" charset="0"/>
              </a:rPr>
              <a:t>RS1</a:t>
            </a:r>
            <a:endParaRPr lang="en-GB" altLang="zh-CN" sz="2800" b="1">
              <a:solidFill>
                <a:srgbClr val="FF0000"/>
              </a:solidFill>
              <a:cs typeface="Times New Roman" panose="02020603050405020304" pitchFamily="18" charset="0"/>
            </a:endParaRPr>
          </a:p>
        </p:txBody>
      </p:sp>
      <p:sp>
        <p:nvSpPr>
          <p:cNvPr id="10" name="矩形 9">
            <a:extLst>
              <a:ext uri="{FF2B5EF4-FFF2-40B4-BE49-F238E27FC236}">
                <a16:creationId xmlns:a16="http://schemas.microsoft.com/office/drawing/2014/main" id="{60080396-5CF8-45C4-9980-D7D9BD01B395}"/>
              </a:ext>
            </a:extLst>
          </p:cNvPr>
          <p:cNvSpPr>
            <a:spLocks noChangeArrowheads="1"/>
          </p:cNvSpPr>
          <p:nvPr/>
        </p:nvSpPr>
        <p:spPr bwMode="auto">
          <a:xfrm>
            <a:off x="5194300" y="1810171"/>
            <a:ext cx="823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0000"/>
                </a:solidFill>
                <a:cs typeface="Times New Roman" panose="02020603050405020304" pitchFamily="18" charset="0"/>
              </a:rPr>
              <a:t>RS0</a:t>
            </a:r>
            <a:endParaRPr lang="en-GB" altLang="zh-CN" sz="2800" b="1">
              <a:solidFill>
                <a:srgbClr val="FF0000"/>
              </a:solidFill>
              <a:cs typeface="Times New Roman" panose="02020603050405020304" pitchFamily="18" charset="0"/>
            </a:endParaRPr>
          </a:p>
        </p:txBody>
      </p:sp>
      <p:sp>
        <p:nvSpPr>
          <p:cNvPr id="11" name="矩形 10">
            <a:extLst>
              <a:ext uri="{FF2B5EF4-FFF2-40B4-BE49-F238E27FC236}">
                <a16:creationId xmlns:a16="http://schemas.microsoft.com/office/drawing/2014/main" id="{C79ECFDC-1318-4650-BA5C-9B9C7565465D}"/>
              </a:ext>
            </a:extLst>
          </p:cNvPr>
          <p:cNvSpPr>
            <a:spLocks noChangeArrowheads="1"/>
          </p:cNvSpPr>
          <p:nvPr/>
        </p:nvSpPr>
        <p:spPr bwMode="auto">
          <a:xfrm>
            <a:off x="6159500" y="1821283"/>
            <a:ext cx="72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0000"/>
                </a:solidFill>
                <a:cs typeface="Times New Roman" panose="02020603050405020304" pitchFamily="18" charset="0"/>
              </a:rPr>
              <a:t>OV</a:t>
            </a:r>
            <a:endParaRPr lang="en-GB" altLang="zh-CN" sz="2800" b="1">
              <a:solidFill>
                <a:srgbClr val="FF0000"/>
              </a:solidFill>
              <a:cs typeface="Times New Roman" panose="02020603050405020304" pitchFamily="18" charset="0"/>
            </a:endParaRPr>
          </a:p>
        </p:txBody>
      </p:sp>
      <p:sp>
        <p:nvSpPr>
          <p:cNvPr id="12" name="Rectangle 3">
            <a:extLst>
              <a:ext uri="{FF2B5EF4-FFF2-40B4-BE49-F238E27FC236}">
                <a16:creationId xmlns:a16="http://schemas.microsoft.com/office/drawing/2014/main" id="{D03E2A2C-23EE-4764-803F-7D06AA9929AE}"/>
              </a:ext>
            </a:extLst>
          </p:cNvPr>
          <p:cNvSpPr txBox="1">
            <a:spLocks noChangeArrowheads="1"/>
          </p:cNvSpPr>
          <p:nvPr/>
        </p:nvSpPr>
        <p:spPr bwMode="auto">
          <a:xfrm>
            <a:off x="731838" y="4001770"/>
            <a:ext cx="7825422" cy="221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1938" indent="-261938" eaLnBrk="1" hangingPunct="1">
              <a:spcBef>
                <a:spcPts val="0"/>
              </a:spcBef>
              <a:defRPr/>
            </a:pPr>
            <a:r>
              <a:rPr lang="en-GB" altLang="zh-CN" sz="2000" dirty="0">
                <a:solidFill>
                  <a:srgbClr val="FF0000"/>
                </a:solidFill>
                <a:latin typeface="Times New Roman" panose="02020603050405020304" pitchFamily="18" charset="0"/>
                <a:cs typeface="Times New Roman" panose="02020603050405020304" pitchFamily="18" charset="0"/>
              </a:rPr>
              <a:t>P</a:t>
            </a:r>
            <a:r>
              <a:rPr lang="zh-CN" altLang="en-GB" sz="2000" kern="0" dirty="0"/>
              <a:t>（</a:t>
            </a:r>
            <a:r>
              <a:rPr lang="en-GB" altLang="zh-CN" sz="2000" dirty="0">
                <a:solidFill>
                  <a:srgbClr val="FF0000"/>
                </a:solidFill>
                <a:latin typeface="Times New Roman" panose="02020603050405020304" pitchFamily="18" charset="0"/>
                <a:cs typeface="Times New Roman" panose="02020603050405020304" pitchFamily="18" charset="0"/>
              </a:rPr>
              <a:t>PSW.0</a:t>
            </a:r>
            <a:r>
              <a:rPr lang="zh-CN" altLang="en-GB" sz="2000" kern="0" dirty="0"/>
              <a:t>）：</a:t>
            </a:r>
            <a:r>
              <a:rPr lang="zh-CN" altLang="en-GB" sz="2000" dirty="0">
                <a:solidFill>
                  <a:srgbClr val="0000CC"/>
                </a:solidFill>
                <a:latin typeface="Times New Roman" panose="02020603050405020304" pitchFamily="18" charset="0"/>
                <a:cs typeface="Times New Roman" panose="02020603050405020304" pitchFamily="18" charset="0"/>
              </a:rPr>
              <a:t>奇偶标志位</a:t>
            </a:r>
          </a:p>
          <a:p>
            <a:pPr eaLnBrk="1" hangingPunct="1">
              <a:spcBef>
                <a:spcPts val="0"/>
              </a:spcBef>
              <a:buFont typeface="Wingdings" panose="05000000000000000000" pitchFamily="2" charset="2"/>
              <a:buChar char="Ø"/>
              <a:defRPr/>
            </a:pPr>
            <a:r>
              <a:rPr lang="zh-CN" altLang="en-GB" sz="2000" kern="0" dirty="0"/>
              <a:t>累加器</a:t>
            </a:r>
            <a:r>
              <a:rPr lang="en-GB" altLang="zh-CN" sz="2000" kern="0" dirty="0">
                <a:solidFill>
                  <a:srgbClr val="FF0000"/>
                </a:solidFill>
              </a:rPr>
              <a:t>ACC</a:t>
            </a:r>
            <a:r>
              <a:rPr lang="zh-CN" altLang="en-GB" sz="2000" kern="0" dirty="0">
                <a:solidFill>
                  <a:srgbClr val="FF0000"/>
                </a:solidFill>
              </a:rPr>
              <a:t>中</a:t>
            </a:r>
            <a:r>
              <a:rPr lang="en-GB" altLang="zh-CN" sz="2000" kern="0" dirty="0">
                <a:solidFill>
                  <a:srgbClr val="FF0000"/>
                </a:solidFill>
              </a:rPr>
              <a:t>1</a:t>
            </a:r>
            <a:r>
              <a:rPr lang="zh-CN" altLang="en-GB" sz="2000" kern="0" dirty="0">
                <a:solidFill>
                  <a:srgbClr val="FF0000"/>
                </a:solidFill>
              </a:rPr>
              <a:t>的个数为偶数</a:t>
            </a:r>
            <a:r>
              <a:rPr lang="zh-CN" altLang="en-GB" sz="2000" kern="0" dirty="0"/>
              <a:t>，</a:t>
            </a:r>
            <a:r>
              <a:rPr lang="en-GB" altLang="zh-CN" sz="2000" kern="0" dirty="0">
                <a:solidFill>
                  <a:srgbClr val="FF0000"/>
                </a:solidFill>
              </a:rPr>
              <a:t>P=0</a:t>
            </a:r>
            <a:r>
              <a:rPr lang="zh-CN" altLang="en-GB" sz="2000" kern="0" dirty="0"/>
              <a:t>；否则</a:t>
            </a:r>
            <a:r>
              <a:rPr lang="en-GB" altLang="zh-CN" sz="2000" kern="0" dirty="0"/>
              <a:t>P=1</a:t>
            </a:r>
            <a:r>
              <a:rPr lang="zh-CN" altLang="en-GB" sz="2000" kern="0" dirty="0"/>
              <a:t>。每个指令周期都由硬件来置“</a:t>
            </a:r>
            <a:r>
              <a:rPr lang="en-GB" altLang="zh-CN" sz="2000" kern="0" dirty="0"/>
              <a:t>1”</a:t>
            </a:r>
            <a:r>
              <a:rPr lang="zh-CN" altLang="en-GB" sz="2000" kern="0" dirty="0"/>
              <a:t>或清“</a:t>
            </a:r>
            <a:r>
              <a:rPr lang="en-GB" altLang="zh-CN" sz="2000" kern="0" dirty="0"/>
              <a:t>0”</a:t>
            </a:r>
            <a:r>
              <a:rPr lang="zh-CN" altLang="en-GB" sz="2000" kern="0" dirty="0"/>
              <a:t>。</a:t>
            </a:r>
            <a:endParaRPr lang="en-US" altLang="zh-CN" sz="2000" kern="0" dirty="0"/>
          </a:p>
          <a:p>
            <a:pPr eaLnBrk="1" hangingPunct="1">
              <a:spcBef>
                <a:spcPts val="0"/>
              </a:spcBef>
              <a:buFont typeface="Wingdings" panose="05000000000000000000" pitchFamily="2" charset="2"/>
              <a:buChar char="Ø"/>
              <a:defRPr/>
            </a:pPr>
            <a:r>
              <a:rPr lang="zh-CN" altLang="en-GB" sz="2000" kern="0" dirty="0"/>
              <a:t>在有奇偶校验的串行通信中</a:t>
            </a:r>
            <a:r>
              <a:rPr lang="en-US" altLang="zh-CN" sz="2000" kern="0" dirty="0"/>
              <a:t>,</a:t>
            </a:r>
            <a:r>
              <a:rPr lang="zh-CN" altLang="en-GB" sz="2000" kern="0" dirty="0"/>
              <a:t>可根据</a:t>
            </a:r>
            <a:r>
              <a:rPr lang="en-GB" altLang="zh-CN" sz="2000" kern="0" dirty="0"/>
              <a:t>P</a:t>
            </a:r>
            <a:r>
              <a:rPr lang="zh-CN" altLang="en-GB" sz="2000" kern="0" dirty="0"/>
              <a:t>设置奇偶校验位。</a:t>
            </a:r>
            <a:endParaRPr lang="zh-CN" altLang="en-US" sz="2000" kern="0" dirty="0"/>
          </a:p>
        </p:txBody>
      </p:sp>
      <p:sp>
        <p:nvSpPr>
          <p:cNvPr id="13" name="矩形 12">
            <a:extLst>
              <a:ext uri="{FF2B5EF4-FFF2-40B4-BE49-F238E27FC236}">
                <a16:creationId xmlns:a16="http://schemas.microsoft.com/office/drawing/2014/main" id="{300FC3C6-49C8-4B38-828C-B35D43A32612}"/>
              </a:ext>
            </a:extLst>
          </p:cNvPr>
          <p:cNvSpPr>
            <a:spLocks noChangeArrowheads="1"/>
          </p:cNvSpPr>
          <p:nvPr/>
        </p:nvSpPr>
        <p:spPr bwMode="auto">
          <a:xfrm>
            <a:off x="8002588" y="1810171"/>
            <a:ext cx="403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0000"/>
                </a:solidFill>
                <a:cs typeface="Times New Roman" panose="02020603050405020304" pitchFamily="18" charset="0"/>
              </a:rPr>
              <a:t>P</a:t>
            </a:r>
            <a:endParaRPr lang="en-GB" altLang="zh-CN" sz="2800" b="1">
              <a:solidFill>
                <a:srgbClr val="FF0000"/>
              </a:solidFill>
              <a:cs typeface="Times New Roman" panose="02020603050405020304" pitchFamily="18" charset="0"/>
            </a:endParaRPr>
          </a:p>
        </p:txBody>
      </p:sp>
      <p:sp>
        <p:nvSpPr>
          <p:cNvPr id="3" name="灯片编号占位符 2">
            <a:extLst>
              <a:ext uri="{FF2B5EF4-FFF2-40B4-BE49-F238E27FC236}">
                <a16:creationId xmlns:a16="http://schemas.microsoft.com/office/drawing/2014/main" id="{FEA17A01-33E3-43AD-8DB8-6EF7CB9794BC}"/>
              </a:ext>
            </a:extLst>
          </p:cNvPr>
          <p:cNvSpPr>
            <a:spLocks noGrp="1"/>
          </p:cNvSpPr>
          <p:nvPr>
            <p:ph type="sldNum" sz="quarter" idx="12"/>
          </p:nvPr>
        </p:nvSpPr>
        <p:spPr/>
        <p:txBody>
          <a:bodyPr/>
          <a:lstStyle/>
          <a:p>
            <a:fld id="{22E77DEE-32E4-4009-988B-F2758F7B8AC2}" type="slidenum">
              <a:rPr lang="zh-CN" altLang="en-US" smtClean="0"/>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3">
            <a:extLst>
              <a:ext uri="{FF2B5EF4-FFF2-40B4-BE49-F238E27FC236}">
                <a16:creationId xmlns:a16="http://schemas.microsoft.com/office/drawing/2014/main" id="{7E5BA8B5-BFFA-4A31-95C7-BCD471B245A3}"/>
              </a:ext>
            </a:extLst>
          </p:cNvPr>
          <p:cNvSpPr>
            <a:spLocks noGrp="1" noChangeArrowheads="1"/>
          </p:cNvSpPr>
          <p:nvPr>
            <p:ph type="title"/>
          </p:nvPr>
        </p:nvSpPr>
        <p:spPr>
          <a:xfrm>
            <a:off x="577055" y="551250"/>
            <a:ext cx="7048025" cy="504825"/>
          </a:xfrm>
        </p:spPr>
        <p:txBody>
          <a:bodyPr vert="horz" lIns="91440" tIns="45720" rIns="91440" bIns="45720" rtlCol="0" anchor="b">
            <a:normAutofit fontScale="90000"/>
          </a:bodyPr>
          <a:lstStyle/>
          <a:p>
            <a:r>
              <a:rPr lang="zh-CN" altLang="en-GB" dirty="0">
                <a:solidFill>
                  <a:schemeClr val="accent2"/>
                </a:solidFill>
                <a:hlinkClick r:id="rId2" action="ppaction://hlinksldjump"/>
              </a:rPr>
              <a:t>控制器</a:t>
            </a:r>
            <a:endParaRPr lang="zh-CN" altLang="en-US" dirty="0">
              <a:solidFill>
                <a:schemeClr val="accent2"/>
              </a:solidFill>
            </a:endParaRPr>
          </a:p>
        </p:txBody>
      </p:sp>
      <p:sp>
        <p:nvSpPr>
          <p:cNvPr id="462851" name="Rectangle 3">
            <a:extLst>
              <a:ext uri="{FF2B5EF4-FFF2-40B4-BE49-F238E27FC236}">
                <a16:creationId xmlns:a16="http://schemas.microsoft.com/office/drawing/2014/main" id="{8A858DE8-C941-4606-BB45-CDBB36FDF501}"/>
              </a:ext>
            </a:extLst>
          </p:cNvPr>
          <p:cNvSpPr>
            <a:spLocks noGrp="1" noChangeArrowheads="1"/>
          </p:cNvSpPr>
          <p:nvPr>
            <p:ph idx="1"/>
          </p:nvPr>
        </p:nvSpPr>
        <p:spPr>
          <a:xfrm>
            <a:off x="577055" y="1380173"/>
            <a:ext cx="7989889" cy="1048067"/>
          </a:xfrm>
        </p:spPr>
        <p:txBody>
          <a:bodyPr/>
          <a:lstStyle/>
          <a:p>
            <a:pPr marL="261938" indent="-261938" eaLnBrk="1" hangingPunct="1">
              <a:lnSpc>
                <a:spcPct val="110000"/>
              </a:lnSpc>
              <a:spcBef>
                <a:spcPts val="0"/>
              </a:spcBef>
              <a:buClr>
                <a:srgbClr val="FF0000"/>
              </a:buClr>
              <a:buFont typeface="Wingdings" panose="05000000000000000000" pitchFamily="2" charset="2"/>
              <a:buChar char="Ø"/>
              <a:defRPr/>
            </a:pPr>
            <a:r>
              <a:rPr lang="zh-CN" altLang="en-GB" dirty="0">
                <a:hlinkClick r:id="rId3" action="ppaction://hlinksldjump"/>
              </a:rPr>
              <a:t>控制器</a:t>
            </a:r>
            <a:r>
              <a:rPr lang="zh-CN" altLang="en-GB" dirty="0"/>
              <a:t>是</a:t>
            </a:r>
            <a:r>
              <a:rPr lang="en-US" altLang="zh-CN" dirty="0"/>
              <a:t>CPU</a:t>
            </a:r>
            <a:r>
              <a:rPr lang="zh-CN" altLang="en-US" dirty="0"/>
              <a:t>的大脑中枢</a:t>
            </a:r>
            <a:r>
              <a:rPr lang="en-US" altLang="zh-CN" dirty="0"/>
              <a:t>, </a:t>
            </a:r>
            <a:r>
              <a:rPr lang="zh-CN" altLang="en-US" dirty="0"/>
              <a:t>包括</a:t>
            </a:r>
            <a:r>
              <a:rPr lang="zh-CN" altLang="en-US" dirty="0">
                <a:solidFill>
                  <a:srgbClr val="9900CC"/>
                </a:solidFill>
              </a:rPr>
              <a:t>定时控制逻辑</a:t>
            </a:r>
            <a:r>
              <a:rPr lang="zh-CN" altLang="en-US" spc="-900" dirty="0"/>
              <a:t>、</a:t>
            </a:r>
            <a:r>
              <a:rPr lang="zh-CN" altLang="en-US" dirty="0">
                <a:solidFill>
                  <a:srgbClr val="C00000"/>
                </a:solidFill>
              </a:rPr>
              <a:t>指令寄存器</a:t>
            </a:r>
            <a:r>
              <a:rPr lang="zh-CN" altLang="en-US" spc="-900" dirty="0"/>
              <a:t>、</a:t>
            </a:r>
            <a:r>
              <a:rPr lang="zh-CN" altLang="en-US" dirty="0">
                <a:solidFill>
                  <a:srgbClr val="9900CC"/>
                </a:solidFill>
              </a:rPr>
              <a:t>译码器</a:t>
            </a:r>
            <a:r>
              <a:rPr lang="zh-CN" altLang="en-US" spc="-900" dirty="0"/>
              <a:t>、</a:t>
            </a:r>
            <a:r>
              <a:rPr lang="en-US" altLang="zh-CN" dirty="0"/>
              <a:t>(</a:t>
            </a:r>
            <a:r>
              <a:rPr lang="zh-CN" altLang="en-US" sz="2400" dirty="0">
                <a:solidFill>
                  <a:srgbClr val="3333FF"/>
                </a:solidFill>
              </a:rPr>
              <a:t>数据</a:t>
            </a:r>
            <a:r>
              <a:rPr lang="en-US" altLang="zh-CN" dirty="0"/>
              <a:t>)</a:t>
            </a:r>
            <a:r>
              <a:rPr lang="zh-CN" altLang="en-US" dirty="0">
                <a:solidFill>
                  <a:srgbClr val="FF0000"/>
                </a:solidFill>
                <a:hlinkClick r:id="rId4" action="ppaction://hlinksldjump"/>
              </a:rPr>
              <a:t>地址指针</a:t>
            </a:r>
            <a:r>
              <a:rPr lang="en-US" altLang="zh-CN" dirty="0">
                <a:solidFill>
                  <a:srgbClr val="FF0000"/>
                </a:solidFill>
                <a:hlinkClick r:id="rId4" action="ppaction://hlinksldjump"/>
              </a:rPr>
              <a:t>DPTR</a:t>
            </a:r>
            <a:r>
              <a:rPr lang="zh-CN" altLang="en-US" dirty="0"/>
              <a:t>及</a:t>
            </a:r>
            <a:r>
              <a:rPr lang="zh-CN" altLang="en-US" dirty="0">
                <a:solidFill>
                  <a:srgbClr val="9900CC"/>
                </a:solidFill>
              </a:rPr>
              <a:t>程序计数器</a:t>
            </a:r>
            <a:r>
              <a:rPr lang="en-US" altLang="zh-CN" dirty="0">
                <a:solidFill>
                  <a:srgbClr val="9900CC"/>
                </a:solidFill>
              </a:rPr>
              <a:t>PC</a:t>
            </a:r>
            <a:r>
              <a:rPr lang="zh-CN" altLang="en-US" spc="-900" dirty="0"/>
              <a:t> 、</a:t>
            </a:r>
            <a:r>
              <a:rPr lang="zh-CN" altLang="en-US" dirty="0">
                <a:solidFill>
                  <a:srgbClr val="C00000"/>
                </a:solidFill>
              </a:rPr>
              <a:t>堆栈指针</a:t>
            </a:r>
            <a:r>
              <a:rPr lang="en-US" altLang="zh-CN" dirty="0">
                <a:solidFill>
                  <a:srgbClr val="C00000"/>
                </a:solidFill>
              </a:rPr>
              <a:t>SP</a:t>
            </a:r>
            <a:r>
              <a:rPr lang="zh-CN" altLang="en-US" spc="-900" dirty="0"/>
              <a:t> 、 </a:t>
            </a:r>
            <a:r>
              <a:rPr lang="en-US" altLang="zh-CN" dirty="0"/>
              <a:t>RAM</a:t>
            </a:r>
            <a:r>
              <a:rPr lang="zh-CN" altLang="en-US" dirty="0"/>
              <a:t>地址寄存器等。</a:t>
            </a:r>
          </a:p>
        </p:txBody>
      </p:sp>
      <p:sp>
        <p:nvSpPr>
          <p:cNvPr id="6" name="Rectangle 3">
            <a:extLst>
              <a:ext uri="{FF2B5EF4-FFF2-40B4-BE49-F238E27FC236}">
                <a16:creationId xmlns:a16="http://schemas.microsoft.com/office/drawing/2014/main" id="{5A696079-FF18-4161-92EE-96F87024232C}"/>
              </a:ext>
            </a:extLst>
          </p:cNvPr>
          <p:cNvSpPr txBox="1">
            <a:spLocks noChangeArrowheads="1"/>
          </p:cNvSpPr>
          <p:nvPr/>
        </p:nvSpPr>
        <p:spPr bwMode="auto">
          <a:xfrm>
            <a:off x="421640" y="2327593"/>
            <a:ext cx="8478520" cy="387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5"/>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6"/>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1938" indent="-261938" algn="l" eaLnBrk="1" hangingPunct="1">
              <a:lnSpc>
                <a:spcPct val="110000"/>
              </a:lnSpc>
              <a:spcBef>
                <a:spcPts val="0"/>
              </a:spcBef>
              <a:spcAft>
                <a:spcPts val="1200"/>
              </a:spcAft>
              <a:defRPr/>
            </a:pPr>
            <a:r>
              <a:rPr lang="zh-CN" altLang="en-US" kern="0" dirty="0">
                <a:solidFill>
                  <a:srgbClr val="3366FF"/>
                </a:solidFill>
              </a:rPr>
              <a:t>程序计数器</a:t>
            </a:r>
            <a:r>
              <a:rPr lang="en-US" altLang="zh-CN" kern="0" dirty="0">
                <a:solidFill>
                  <a:srgbClr val="CC3300"/>
                </a:solidFill>
              </a:rPr>
              <a:t>PC</a:t>
            </a:r>
          </a:p>
          <a:p>
            <a:pPr marL="449263" lvl="1" indent="-274638" algn="l" eaLnBrk="1" hangingPunct="1">
              <a:lnSpc>
                <a:spcPct val="110000"/>
              </a:lnSpc>
              <a:spcBef>
                <a:spcPts val="0"/>
              </a:spcBef>
              <a:spcAft>
                <a:spcPts val="1200"/>
              </a:spcAft>
              <a:defRPr/>
            </a:pPr>
            <a:r>
              <a:rPr lang="zh-CN" altLang="en-US" kern="0" dirty="0"/>
              <a:t>是一个</a:t>
            </a:r>
            <a:r>
              <a:rPr lang="en-US" altLang="zh-CN" kern="0" dirty="0">
                <a:solidFill>
                  <a:srgbClr val="FF0000"/>
                </a:solidFill>
              </a:rPr>
              <a:t>16</a:t>
            </a:r>
            <a:r>
              <a:rPr lang="zh-CN" altLang="en-US" kern="0" dirty="0">
                <a:solidFill>
                  <a:srgbClr val="FF0000"/>
                </a:solidFill>
              </a:rPr>
              <a:t>位的程序地址寄存器</a:t>
            </a:r>
            <a:r>
              <a:rPr lang="zh-CN" altLang="en-US" kern="0" dirty="0"/>
              <a:t>，专门用来</a:t>
            </a:r>
            <a:r>
              <a:rPr lang="zh-CN" altLang="en-US" kern="0" dirty="0">
                <a:solidFill>
                  <a:srgbClr val="FF0000"/>
                </a:solidFill>
              </a:rPr>
              <a:t>存放下一条需要执行的指令的内存地址</a:t>
            </a:r>
            <a:r>
              <a:rPr lang="zh-CN" altLang="en-US" kern="0" dirty="0"/>
              <a:t>，能自动加</a:t>
            </a:r>
            <a:r>
              <a:rPr lang="en-US" altLang="zh-CN" kern="0" dirty="0"/>
              <a:t>1</a:t>
            </a:r>
            <a:r>
              <a:rPr lang="zh-CN" altLang="en-US" kern="0" dirty="0"/>
              <a:t>。</a:t>
            </a:r>
          </a:p>
          <a:p>
            <a:pPr marL="449263" lvl="1" indent="-274638" algn="l" eaLnBrk="1" hangingPunct="1">
              <a:lnSpc>
                <a:spcPct val="110000"/>
              </a:lnSpc>
              <a:spcBef>
                <a:spcPts val="0"/>
              </a:spcBef>
              <a:spcAft>
                <a:spcPts val="1200"/>
              </a:spcAft>
              <a:defRPr/>
            </a:pPr>
            <a:r>
              <a:rPr lang="en-US" altLang="zh-CN" kern="0" dirty="0"/>
              <a:t>CPU</a:t>
            </a:r>
            <a:r>
              <a:rPr lang="zh-CN" altLang="en-US" kern="0" dirty="0"/>
              <a:t>执行指令时</a:t>
            </a:r>
            <a:r>
              <a:rPr lang="en-US" altLang="zh-CN" kern="0" dirty="0"/>
              <a:t>,</a:t>
            </a:r>
            <a:r>
              <a:rPr lang="zh-CN" altLang="en-US" kern="0" dirty="0"/>
              <a:t>就是</a:t>
            </a:r>
            <a:r>
              <a:rPr lang="zh-CN" altLang="en-US" kern="0" dirty="0">
                <a:solidFill>
                  <a:srgbClr val="9900CC"/>
                </a:solidFill>
                <a:hlinkClick r:id="rId7" action="ppaction://hlinksldjump"/>
              </a:rPr>
              <a:t>根据</a:t>
            </a:r>
            <a:r>
              <a:rPr lang="en-US" altLang="zh-CN" kern="0" dirty="0">
                <a:solidFill>
                  <a:srgbClr val="9900CC"/>
                </a:solidFill>
                <a:hlinkClick r:id="rId7" action="ppaction://hlinksldjump"/>
              </a:rPr>
              <a:t>PC</a:t>
            </a:r>
            <a:r>
              <a:rPr lang="zh-CN" altLang="en-US" kern="0" dirty="0">
                <a:solidFill>
                  <a:srgbClr val="9900CC"/>
                </a:solidFill>
                <a:hlinkClick r:id="rId7" action="ppaction://hlinksldjump"/>
              </a:rPr>
              <a:t>中给出的地址从存储器中取出指令码</a:t>
            </a:r>
            <a:r>
              <a:rPr lang="en-US" altLang="zh-CN" kern="0" dirty="0"/>
              <a:t>,</a:t>
            </a:r>
            <a:r>
              <a:rPr lang="zh-CN" altLang="en-US" kern="0" dirty="0"/>
              <a:t>再由控制器译码分析后执行的</a:t>
            </a:r>
            <a:r>
              <a:rPr lang="en-US" altLang="zh-CN" kern="0" dirty="0"/>
              <a:t>,</a:t>
            </a:r>
          </a:p>
          <a:p>
            <a:pPr marL="449263" lvl="1" indent="-274638" algn="l" eaLnBrk="1" hangingPunct="1">
              <a:lnSpc>
                <a:spcPct val="110000"/>
              </a:lnSpc>
              <a:spcBef>
                <a:spcPts val="0"/>
              </a:spcBef>
              <a:spcAft>
                <a:spcPts val="1200"/>
              </a:spcAft>
              <a:defRPr/>
            </a:pPr>
            <a:r>
              <a:rPr lang="zh-CN" altLang="en-US" kern="0" dirty="0"/>
              <a:t>每取一次指令码，</a:t>
            </a:r>
            <a:r>
              <a:rPr lang="en-US" altLang="zh-CN" kern="0" dirty="0"/>
              <a:t>PC</a:t>
            </a:r>
            <a:r>
              <a:rPr lang="zh-CN" altLang="en-US" kern="0" dirty="0"/>
              <a:t>都自动加</a:t>
            </a:r>
            <a:r>
              <a:rPr lang="en-US" altLang="zh-CN" kern="0" dirty="0"/>
              <a:t>1</a:t>
            </a:r>
            <a:r>
              <a:rPr lang="zh-CN" altLang="en-US" kern="0" dirty="0"/>
              <a:t>。这样，程序计数器</a:t>
            </a:r>
            <a:r>
              <a:rPr lang="en-US" altLang="zh-CN" kern="0" dirty="0"/>
              <a:t>PC</a:t>
            </a:r>
            <a:r>
              <a:rPr lang="zh-CN" altLang="en-US" kern="0" dirty="0"/>
              <a:t>一次次加</a:t>
            </a:r>
            <a:r>
              <a:rPr lang="en-US" altLang="zh-CN" kern="0" dirty="0"/>
              <a:t>1</a:t>
            </a:r>
            <a:r>
              <a:rPr lang="zh-CN" altLang="en-US" kern="0" dirty="0"/>
              <a:t>，指令就被一条条执行。</a:t>
            </a:r>
          </a:p>
        </p:txBody>
      </p:sp>
      <p:sp>
        <p:nvSpPr>
          <p:cNvPr id="3" name="灯片编号占位符 2">
            <a:extLst>
              <a:ext uri="{FF2B5EF4-FFF2-40B4-BE49-F238E27FC236}">
                <a16:creationId xmlns:a16="http://schemas.microsoft.com/office/drawing/2014/main" id="{AEC8C40D-F8ED-4AD5-8F33-E02A371086BD}"/>
              </a:ext>
            </a:extLst>
          </p:cNvPr>
          <p:cNvSpPr>
            <a:spLocks noGrp="1"/>
          </p:cNvSpPr>
          <p:nvPr>
            <p:ph type="sldNum" sz="quarter" idx="12"/>
          </p:nvPr>
        </p:nvSpPr>
        <p:spPr/>
        <p:txBody>
          <a:bodyPr/>
          <a:lstStyle/>
          <a:p>
            <a:fld id="{22E77DEE-32E4-4009-988B-F2758F7B8AC2}" type="slidenum">
              <a:rPr lang="zh-CN" altLang="en-US" smtClean="0"/>
              <a:t>28</a:t>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3">
            <a:extLst>
              <a:ext uri="{FF2B5EF4-FFF2-40B4-BE49-F238E27FC236}">
                <a16:creationId xmlns:a16="http://schemas.microsoft.com/office/drawing/2014/main" id="{59AADA5E-D0D4-4B47-B87C-EA4E304C2FDE}"/>
              </a:ext>
            </a:extLst>
          </p:cNvPr>
          <p:cNvSpPr>
            <a:spLocks noGrp="1" noChangeArrowheads="1"/>
          </p:cNvSpPr>
          <p:nvPr>
            <p:ph type="title"/>
          </p:nvPr>
        </p:nvSpPr>
        <p:spPr>
          <a:xfrm>
            <a:off x="741679" y="511175"/>
            <a:ext cx="7574281" cy="504825"/>
          </a:xfrm>
        </p:spPr>
        <p:txBody>
          <a:bodyPr vert="horz" lIns="91440" tIns="45720" rIns="91440" bIns="45720" rtlCol="0" anchor="b">
            <a:normAutofit fontScale="90000"/>
          </a:bodyPr>
          <a:lstStyle/>
          <a:p>
            <a:r>
              <a:rPr lang="zh-CN" altLang="en-GB" dirty="0">
                <a:solidFill>
                  <a:schemeClr val="accent2"/>
                </a:solidFill>
                <a:hlinkClick r:id="rId2" action="ppaction://hlinksldjump"/>
              </a:rPr>
              <a:t>控制器</a:t>
            </a:r>
            <a:r>
              <a:rPr lang="en-US" altLang="zh-CN" dirty="0">
                <a:solidFill>
                  <a:schemeClr val="accent2"/>
                </a:solidFill>
              </a:rPr>
              <a:t>——</a:t>
            </a:r>
            <a:r>
              <a:rPr lang="zh-CN" altLang="en-US" dirty="0">
                <a:solidFill>
                  <a:schemeClr val="accent2"/>
                </a:solidFill>
              </a:rPr>
              <a:t>堆栈</a:t>
            </a:r>
          </a:p>
        </p:txBody>
      </p:sp>
      <p:sp>
        <p:nvSpPr>
          <p:cNvPr id="464899" name="Rectangle 3">
            <a:extLst>
              <a:ext uri="{FF2B5EF4-FFF2-40B4-BE49-F238E27FC236}">
                <a16:creationId xmlns:a16="http://schemas.microsoft.com/office/drawing/2014/main" id="{83740D05-9F93-4FFC-99DB-C36659A3145D}"/>
              </a:ext>
            </a:extLst>
          </p:cNvPr>
          <p:cNvSpPr>
            <a:spLocks noGrp="1" noChangeArrowheads="1"/>
          </p:cNvSpPr>
          <p:nvPr>
            <p:ph idx="1"/>
          </p:nvPr>
        </p:nvSpPr>
        <p:spPr>
          <a:xfrm>
            <a:off x="741679" y="1346200"/>
            <a:ext cx="7574281" cy="3505200"/>
          </a:xfrm>
        </p:spPr>
        <p:txBody>
          <a:bodyPr/>
          <a:lstStyle/>
          <a:p>
            <a:pPr marL="174625" lvl="1" indent="-174625" algn="l" eaLnBrk="1" hangingPunct="1">
              <a:lnSpc>
                <a:spcPct val="114000"/>
              </a:lnSpc>
              <a:spcBef>
                <a:spcPts val="0"/>
              </a:spcBef>
              <a:spcAft>
                <a:spcPts val="600"/>
              </a:spcAft>
              <a:defRPr/>
            </a:pPr>
            <a:r>
              <a:rPr lang="zh-CN" altLang="en-US" dirty="0"/>
              <a:t>主要用于</a:t>
            </a:r>
            <a:r>
              <a:rPr lang="zh-CN" altLang="en-US" dirty="0">
                <a:solidFill>
                  <a:srgbClr val="0000CC"/>
                </a:solidFill>
              </a:rPr>
              <a:t>保存临时数据</a:t>
            </a:r>
            <a:r>
              <a:rPr lang="zh-CN" altLang="en-US" dirty="0"/>
              <a:t>、</a:t>
            </a:r>
            <a:r>
              <a:rPr lang="zh-CN" altLang="en-US" dirty="0">
                <a:solidFill>
                  <a:srgbClr val="0000CC"/>
                </a:solidFill>
              </a:rPr>
              <a:t>局部变量</a:t>
            </a:r>
            <a:r>
              <a:rPr lang="zh-CN" altLang="en-US" dirty="0"/>
              <a:t>、中断或子程序的</a:t>
            </a:r>
            <a:r>
              <a:rPr lang="zh-CN" altLang="en-US" dirty="0">
                <a:solidFill>
                  <a:srgbClr val="0000CC"/>
                </a:solidFill>
              </a:rPr>
              <a:t>返回地址</a:t>
            </a:r>
            <a:r>
              <a:rPr lang="zh-CN" altLang="en-US" dirty="0"/>
              <a:t>。</a:t>
            </a:r>
          </a:p>
          <a:p>
            <a:pPr marL="174625" lvl="1" indent="-174625" algn="l" eaLnBrk="1" hangingPunct="1">
              <a:lnSpc>
                <a:spcPct val="114000"/>
              </a:lnSpc>
              <a:spcBef>
                <a:spcPts val="0"/>
              </a:spcBef>
              <a:spcAft>
                <a:spcPts val="600"/>
              </a:spcAft>
              <a:defRPr/>
            </a:pPr>
            <a:r>
              <a:rPr lang="en-US" altLang="zh-CN" dirty="0">
                <a:solidFill>
                  <a:srgbClr val="FF0000"/>
                </a:solidFill>
              </a:rPr>
              <a:t>IAP15W4K58S4</a:t>
            </a:r>
            <a:r>
              <a:rPr lang="zh-CN" altLang="en-US" dirty="0"/>
              <a:t>单片机的堆栈设</a:t>
            </a:r>
            <a:r>
              <a:rPr lang="zh-CN" altLang="en-US" dirty="0">
                <a:solidFill>
                  <a:srgbClr val="0000CC"/>
                </a:solidFill>
              </a:rPr>
              <a:t>在内部</a:t>
            </a:r>
            <a:r>
              <a:rPr lang="en-US" altLang="zh-CN" dirty="0">
                <a:solidFill>
                  <a:srgbClr val="0000CC"/>
                </a:solidFill>
              </a:rPr>
              <a:t>RAM</a:t>
            </a:r>
            <a:r>
              <a:rPr lang="zh-CN" altLang="en-US" dirty="0">
                <a:solidFill>
                  <a:srgbClr val="0000CC"/>
                </a:solidFill>
              </a:rPr>
              <a:t>中</a:t>
            </a:r>
            <a:r>
              <a:rPr lang="en-US" altLang="zh-CN" dirty="0"/>
              <a:t>,</a:t>
            </a:r>
            <a:r>
              <a:rPr lang="zh-CN" altLang="en-US" dirty="0"/>
              <a:t>是一个按照</a:t>
            </a:r>
            <a:r>
              <a:rPr lang="zh-CN" altLang="en-US" dirty="0">
                <a:solidFill>
                  <a:srgbClr val="0000CC"/>
                </a:solidFill>
              </a:rPr>
              <a:t>“先进后出”</a:t>
            </a:r>
            <a:r>
              <a:rPr lang="zh-CN" altLang="en-US" dirty="0"/>
              <a:t>规律存放数据的区域。</a:t>
            </a:r>
            <a:endParaRPr lang="en-US" altLang="zh-CN" dirty="0"/>
          </a:p>
          <a:p>
            <a:pPr marL="174625" lvl="1" indent="-174625" eaLnBrk="1" hangingPunct="1">
              <a:lnSpc>
                <a:spcPct val="114000"/>
              </a:lnSpc>
              <a:spcBef>
                <a:spcPts val="0"/>
              </a:spcBef>
              <a:spcAft>
                <a:spcPts val="600"/>
              </a:spcAft>
              <a:defRPr/>
            </a:pPr>
            <a:r>
              <a:rPr lang="zh-CN" altLang="en-US" dirty="0">
                <a:solidFill>
                  <a:srgbClr val="FF0000"/>
                </a:solidFill>
              </a:rPr>
              <a:t>堆栈指针</a:t>
            </a:r>
            <a:r>
              <a:rPr lang="en-US" altLang="zh-CN" dirty="0">
                <a:solidFill>
                  <a:srgbClr val="FF0000"/>
                </a:solidFill>
              </a:rPr>
              <a:t>SP</a:t>
            </a:r>
            <a:r>
              <a:rPr lang="zh-CN" altLang="en-US" dirty="0"/>
              <a:t>是一个</a:t>
            </a:r>
            <a:r>
              <a:rPr lang="en-US" altLang="zh-CN" dirty="0">
                <a:solidFill>
                  <a:srgbClr val="0000CC"/>
                </a:solidFill>
              </a:rPr>
              <a:t>8</a:t>
            </a:r>
            <a:r>
              <a:rPr lang="zh-CN" altLang="en-US" dirty="0">
                <a:solidFill>
                  <a:srgbClr val="0000CC"/>
                </a:solidFill>
              </a:rPr>
              <a:t>位寄存器</a:t>
            </a:r>
            <a:r>
              <a:rPr lang="zh-CN" altLang="en-US" dirty="0"/>
              <a:t>，能</a:t>
            </a:r>
            <a:r>
              <a:rPr lang="zh-CN" altLang="en-US" dirty="0">
                <a:solidFill>
                  <a:srgbClr val="0000CC"/>
                </a:solidFill>
              </a:rPr>
              <a:t>自动加</a:t>
            </a:r>
            <a:r>
              <a:rPr lang="en-US" altLang="zh-CN" dirty="0">
                <a:solidFill>
                  <a:srgbClr val="0000CC"/>
                </a:solidFill>
              </a:rPr>
              <a:t>1</a:t>
            </a:r>
            <a:r>
              <a:rPr lang="zh-CN" altLang="en-US" dirty="0">
                <a:solidFill>
                  <a:srgbClr val="0000CC"/>
                </a:solidFill>
              </a:rPr>
              <a:t>或减</a:t>
            </a:r>
            <a:r>
              <a:rPr lang="en-US" altLang="zh-CN" dirty="0">
                <a:solidFill>
                  <a:srgbClr val="0000CC"/>
                </a:solidFill>
              </a:rPr>
              <a:t>1</a:t>
            </a:r>
            <a:r>
              <a:rPr lang="zh-CN" altLang="en-US" dirty="0"/>
              <a:t>。</a:t>
            </a:r>
            <a:endParaRPr lang="en-US" altLang="zh-CN" dirty="0"/>
          </a:p>
          <a:p>
            <a:pPr marL="174625" lvl="1" indent="-174625" algn="l" eaLnBrk="1" hangingPunct="1">
              <a:lnSpc>
                <a:spcPct val="114000"/>
              </a:lnSpc>
              <a:spcBef>
                <a:spcPts val="0"/>
              </a:spcBef>
              <a:spcAft>
                <a:spcPts val="600"/>
              </a:spcAft>
              <a:defRPr/>
            </a:pPr>
            <a:r>
              <a:rPr lang="en-US" altLang="zh-CN" dirty="0">
                <a:solidFill>
                  <a:srgbClr val="FF0000"/>
                </a:solidFill>
              </a:rPr>
              <a:t>SP</a:t>
            </a:r>
            <a:r>
              <a:rPr lang="zh-CN" altLang="en-US" dirty="0">
                <a:solidFill>
                  <a:srgbClr val="FF0000"/>
                </a:solidFill>
              </a:rPr>
              <a:t>指向堆栈栈顶</a:t>
            </a:r>
            <a:r>
              <a:rPr lang="en-US" altLang="zh-CN" dirty="0">
                <a:solidFill>
                  <a:srgbClr val="FF0000"/>
                </a:solidFill>
              </a:rPr>
              <a:t>:</a:t>
            </a:r>
            <a:r>
              <a:rPr lang="zh-CN" altLang="en-US" dirty="0"/>
              <a:t>当数据压</a:t>
            </a:r>
            <a:r>
              <a:rPr lang="zh-CN" altLang="en-US" dirty="0">
                <a:solidFill>
                  <a:srgbClr val="FF00FF"/>
                </a:solidFill>
              </a:rPr>
              <a:t>入堆栈时</a:t>
            </a:r>
            <a:r>
              <a:rPr lang="en-US" altLang="zh-CN" dirty="0"/>
              <a:t>,</a:t>
            </a:r>
            <a:r>
              <a:rPr lang="en-US" altLang="zh-CN" dirty="0">
                <a:solidFill>
                  <a:srgbClr val="FF00FF"/>
                </a:solidFill>
              </a:rPr>
              <a:t>SP</a:t>
            </a:r>
            <a:r>
              <a:rPr lang="zh-CN" altLang="en-US" dirty="0">
                <a:solidFill>
                  <a:srgbClr val="FF00FF"/>
                </a:solidFill>
              </a:rPr>
              <a:t>先自动加</a:t>
            </a:r>
            <a:r>
              <a:rPr lang="en-US" altLang="zh-CN" dirty="0">
                <a:solidFill>
                  <a:srgbClr val="FF00FF"/>
                </a:solidFill>
              </a:rPr>
              <a:t>1,</a:t>
            </a:r>
            <a:r>
              <a:rPr lang="zh-CN" altLang="en-US" dirty="0">
                <a:solidFill>
                  <a:srgbClr val="FF00FF"/>
                </a:solidFill>
              </a:rPr>
              <a:t>数据再入栈</a:t>
            </a:r>
            <a:r>
              <a:rPr lang="en-US" altLang="zh-CN" dirty="0"/>
              <a:t>;</a:t>
            </a:r>
            <a:r>
              <a:rPr lang="zh-CN" altLang="en-US" dirty="0">
                <a:solidFill>
                  <a:srgbClr val="3333FF"/>
                </a:solidFill>
              </a:rPr>
              <a:t>出栈时</a:t>
            </a:r>
            <a:r>
              <a:rPr lang="en-US" altLang="zh-CN" dirty="0">
                <a:solidFill>
                  <a:srgbClr val="3333FF"/>
                </a:solidFill>
              </a:rPr>
              <a:t>,</a:t>
            </a:r>
            <a:r>
              <a:rPr lang="zh-CN" altLang="en-US" dirty="0">
                <a:solidFill>
                  <a:srgbClr val="3333FF"/>
                </a:solidFill>
              </a:rPr>
              <a:t>数据先从堆栈中弹出</a:t>
            </a:r>
            <a:r>
              <a:rPr lang="en-US" altLang="zh-CN" dirty="0">
                <a:solidFill>
                  <a:srgbClr val="3333FF"/>
                </a:solidFill>
              </a:rPr>
              <a:t>,SP</a:t>
            </a:r>
            <a:r>
              <a:rPr lang="zh-CN" altLang="en-US" dirty="0">
                <a:solidFill>
                  <a:srgbClr val="3333FF"/>
                </a:solidFill>
              </a:rPr>
              <a:t>再自动减</a:t>
            </a:r>
            <a:r>
              <a:rPr lang="en-US" altLang="zh-CN" dirty="0">
                <a:solidFill>
                  <a:srgbClr val="3333FF"/>
                </a:solidFill>
              </a:rPr>
              <a:t>1</a:t>
            </a:r>
            <a:r>
              <a:rPr lang="zh-CN" altLang="en-US" dirty="0"/>
              <a:t>。</a:t>
            </a:r>
          </a:p>
          <a:p>
            <a:pPr marL="174625" lvl="1" indent="-174625" algn="l" eaLnBrk="1" hangingPunct="1">
              <a:lnSpc>
                <a:spcPct val="114000"/>
              </a:lnSpc>
              <a:spcBef>
                <a:spcPts val="0"/>
              </a:spcBef>
              <a:spcAft>
                <a:spcPts val="600"/>
              </a:spcAft>
              <a:defRPr/>
            </a:pPr>
            <a:r>
              <a:rPr lang="zh-CN" altLang="en-US" dirty="0">
                <a:solidFill>
                  <a:srgbClr val="C00000"/>
                </a:solidFill>
                <a:latin typeface="Times New Roman" panose="02020603050405020304" pitchFamily="18" charset="0"/>
                <a:cs typeface="Times New Roman" panose="02020603050405020304" pitchFamily="18" charset="0"/>
              </a:rPr>
              <a:t>复位后</a:t>
            </a:r>
            <a:r>
              <a:rPr lang="en-US" altLang="zh-CN" dirty="0">
                <a:solidFill>
                  <a:srgbClr val="C00000"/>
                </a:solidFill>
                <a:latin typeface="Times New Roman" panose="02020603050405020304" pitchFamily="18" charset="0"/>
                <a:cs typeface="Times New Roman" panose="02020603050405020304" pitchFamily="18" charset="0"/>
              </a:rPr>
              <a:t>, </a:t>
            </a:r>
            <a:r>
              <a:rPr lang="zh-CN" altLang="en-US" dirty="0">
                <a:solidFill>
                  <a:srgbClr val="C00000"/>
                </a:solidFill>
                <a:latin typeface="Times New Roman" panose="02020603050405020304" pitchFamily="18" charset="0"/>
                <a:cs typeface="Times New Roman" panose="02020603050405020304" pitchFamily="18" charset="0"/>
              </a:rPr>
              <a:t>寄存器</a:t>
            </a:r>
            <a:r>
              <a:rPr lang="en-US" altLang="zh-CN" dirty="0">
                <a:solidFill>
                  <a:srgbClr val="FF0000"/>
                </a:solidFill>
                <a:latin typeface="Times New Roman" panose="02020603050405020304" pitchFamily="18" charset="0"/>
                <a:cs typeface="Times New Roman" panose="02020603050405020304" pitchFamily="18" charset="0"/>
              </a:rPr>
              <a:t>SP</a:t>
            </a:r>
            <a:r>
              <a:rPr lang="zh-CN" altLang="en-US" dirty="0">
                <a:solidFill>
                  <a:srgbClr val="C00000"/>
                </a:solidFill>
                <a:latin typeface="Times New Roman" panose="02020603050405020304" pitchFamily="18" charset="0"/>
                <a:cs typeface="Times New Roman" panose="02020603050405020304" pitchFamily="18" charset="0"/>
              </a:rPr>
              <a:t>默认值为</a:t>
            </a:r>
            <a:r>
              <a:rPr lang="en-US" altLang="zh-CN" dirty="0">
                <a:solidFill>
                  <a:srgbClr val="C00000"/>
                </a:solidFill>
                <a:latin typeface="Times New Roman" panose="02020603050405020304" pitchFamily="18" charset="0"/>
                <a:cs typeface="Times New Roman" panose="02020603050405020304" pitchFamily="18" charset="0"/>
              </a:rPr>
              <a:t>07H</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这样堆栈区</a:t>
            </a:r>
            <a:r>
              <a:rPr lang="zh-CN" altLang="en-US" dirty="0">
                <a:solidFill>
                  <a:srgbClr val="3D41D1"/>
                </a:solidFill>
                <a:latin typeface="Times New Roman" panose="02020603050405020304" pitchFamily="18" charset="0"/>
                <a:cs typeface="Times New Roman" panose="02020603050405020304" pitchFamily="18" charset="0"/>
              </a:rPr>
              <a:t>在</a:t>
            </a:r>
            <a:r>
              <a:rPr lang="en-US" altLang="zh-CN" dirty="0">
                <a:solidFill>
                  <a:srgbClr val="3D41D1"/>
                </a:solidFill>
                <a:latin typeface="Times New Roman" panose="02020603050405020304" pitchFamily="18" charset="0"/>
                <a:cs typeface="Times New Roman" panose="02020603050405020304" pitchFamily="18" charset="0"/>
              </a:rPr>
              <a:t>08H</a:t>
            </a:r>
            <a:r>
              <a:rPr lang="zh-CN" altLang="en-US" dirty="0">
                <a:solidFill>
                  <a:srgbClr val="3D41D1"/>
                </a:solidFill>
                <a:latin typeface="Times New Roman" panose="02020603050405020304" pitchFamily="18" charset="0"/>
                <a:cs typeface="Times New Roman" panose="02020603050405020304" pitchFamily="18" charset="0"/>
              </a:rPr>
              <a:t>开始的区域</a:t>
            </a:r>
            <a:r>
              <a:rPr lang="zh-CN" altLang="en-US" dirty="0">
                <a:latin typeface="Times New Roman" panose="02020603050405020304" pitchFamily="18" charset="0"/>
                <a:cs typeface="Times New Roman" panose="02020603050405020304" pitchFamily="18" charset="0"/>
              </a:rPr>
              <a:t>。</a:t>
            </a:r>
            <a:r>
              <a:rPr lang="zh-CN" altLang="en-US" spc="-1300"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用户通常可用指令将堆栈区域设置在</a:t>
            </a:r>
            <a:r>
              <a:rPr lang="zh-CN" altLang="en-US" dirty="0">
                <a:solidFill>
                  <a:srgbClr val="FF0000"/>
                </a:solidFill>
                <a:latin typeface="Times New Roman" panose="02020603050405020304" pitchFamily="18" charset="0"/>
                <a:cs typeface="Times New Roman" panose="02020603050405020304" pitchFamily="18" charset="0"/>
              </a:rPr>
              <a:t>内部</a:t>
            </a:r>
            <a:r>
              <a:rPr lang="en-US" altLang="zh-CN" dirty="0">
                <a:solidFill>
                  <a:srgbClr val="FF0000"/>
                </a:solidFill>
                <a:latin typeface="Times New Roman" panose="02020603050405020304" pitchFamily="18" charset="0"/>
                <a:cs typeface="Times New Roman" panose="02020603050405020304" pitchFamily="18" charset="0"/>
              </a:rPr>
              <a:t>RAM</a:t>
            </a:r>
            <a:r>
              <a:rPr lang="zh-CN" altLang="en-US" dirty="0">
                <a:solidFill>
                  <a:srgbClr val="FF0000"/>
                </a:solidFill>
                <a:latin typeface="Times New Roman" panose="02020603050405020304" pitchFamily="18" charset="0"/>
                <a:cs typeface="Times New Roman" panose="02020603050405020304" pitchFamily="18" charset="0"/>
              </a:rPr>
              <a:t>的</a:t>
            </a:r>
            <a:r>
              <a:rPr lang="en-US" altLang="zh-CN" dirty="0">
                <a:solidFill>
                  <a:srgbClr val="FF0000"/>
                </a:solidFill>
                <a:latin typeface="Times New Roman" panose="02020603050405020304" pitchFamily="18" charset="0"/>
                <a:cs typeface="Times New Roman" panose="02020603050405020304" pitchFamily="18" charset="0"/>
              </a:rPr>
              <a:t>80H ~ FFH</a:t>
            </a:r>
            <a:r>
              <a:rPr lang="zh-CN" altLang="en-US" dirty="0">
                <a:solidFill>
                  <a:srgbClr val="FF0000"/>
                </a:solidFill>
                <a:latin typeface="Times New Roman" panose="02020603050405020304" pitchFamily="18" charset="0"/>
                <a:cs typeface="Times New Roman" panose="02020603050405020304" pitchFamily="18" charset="0"/>
              </a:rPr>
              <a:t>之间</a:t>
            </a:r>
            <a:r>
              <a:rPr lang="zh-CN" altLang="en-US" dirty="0">
                <a:latin typeface="Times New Roman" panose="02020603050405020304" pitchFamily="18" charset="0"/>
                <a:cs typeface="Times New Roman" panose="02020603050405020304" pitchFamily="18" charset="0"/>
              </a:rPr>
              <a:t>。</a:t>
            </a:r>
          </a:p>
        </p:txBody>
      </p:sp>
      <p:sp>
        <p:nvSpPr>
          <p:cNvPr id="3" name="灯片编号占位符 2">
            <a:extLst>
              <a:ext uri="{FF2B5EF4-FFF2-40B4-BE49-F238E27FC236}">
                <a16:creationId xmlns:a16="http://schemas.microsoft.com/office/drawing/2014/main" id="{4CBE1F69-A939-4338-BB3C-D3B362146A84}"/>
              </a:ext>
            </a:extLst>
          </p:cNvPr>
          <p:cNvSpPr>
            <a:spLocks noGrp="1"/>
          </p:cNvSpPr>
          <p:nvPr>
            <p:ph type="sldNum" sz="quarter" idx="12"/>
          </p:nvPr>
        </p:nvSpPr>
        <p:spPr/>
        <p:txBody>
          <a:bodyPr/>
          <a:lstStyle/>
          <a:p>
            <a:fld id="{22E77DEE-32E4-4009-988B-F2758F7B8AC2}" type="slidenum">
              <a:rPr lang="zh-CN" altLang="en-US" smtClean="0"/>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3">
            <a:extLst>
              <a:ext uri="{FF2B5EF4-FFF2-40B4-BE49-F238E27FC236}">
                <a16:creationId xmlns:a16="http://schemas.microsoft.com/office/drawing/2014/main" id="{D2EE2569-E777-4BC7-BE59-5719B4EDC2EB}"/>
              </a:ext>
            </a:extLst>
          </p:cNvPr>
          <p:cNvSpPr>
            <a:spLocks noGrp="1" noChangeArrowheads="1"/>
          </p:cNvSpPr>
          <p:nvPr>
            <p:ph type="title"/>
          </p:nvPr>
        </p:nvSpPr>
        <p:spPr>
          <a:xfrm>
            <a:off x="685800" y="488157"/>
            <a:ext cx="8125618" cy="504825"/>
          </a:xfrm>
        </p:spPr>
        <p:txBody>
          <a:bodyPr vert="horz" lIns="91440" tIns="45720" rIns="91440" bIns="45720" rtlCol="0" anchor="b">
            <a:noAutofit/>
          </a:bodyPr>
          <a:lstStyle/>
          <a:p>
            <a:r>
              <a:rPr lang="zh-CN" altLang="en-GB" sz="3600" dirty="0">
                <a:solidFill>
                  <a:schemeClr val="accent2"/>
                </a:solidFill>
                <a:hlinkClick r:id="rId2" action="ppaction://hlinksldjump"/>
              </a:rPr>
              <a:t>控制器</a:t>
            </a:r>
            <a:r>
              <a:rPr lang="en-US" altLang="zh-CN" sz="3600" dirty="0">
                <a:solidFill>
                  <a:schemeClr val="accent2"/>
                </a:solidFill>
              </a:rPr>
              <a:t>——</a:t>
            </a:r>
            <a:r>
              <a:rPr lang="zh-CN" altLang="en-US" sz="3600" dirty="0">
                <a:solidFill>
                  <a:schemeClr val="accent2"/>
                </a:solidFill>
              </a:rPr>
              <a:t>数据指针</a:t>
            </a:r>
            <a:r>
              <a:rPr lang="en-US" altLang="zh-CN" sz="3600" dirty="0">
                <a:solidFill>
                  <a:schemeClr val="accent2"/>
                </a:solidFill>
              </a:rPr>
              <a:t>DPTR(</a:t>
            </a:r>
            <a:r>
              <a:rPr lang="zh-CN" altLang="en-US" sz="3600" dirty="0">
                <a:solidFill>
                  <a:schemeClr val="accent2"/>
                </a:solidFill>
                <a:hlinkClick r:id="rId3" action="ppaction://hlinksldjump"/>
              </a:rPr>
              <a:t>也称地址指针</a:t>
            </a:r>
            <a:r>
              <a:rPr lang="en-US" altLang="zh-CN" sz="3600" dirty="0">
                <a:solidFill>
                  <a:schemeClr val="accent2"/>
                </a:solidFill>
              </a:rPr>
              <a:t>)</a:t>
            </a:r>
            <a:endParaRPr lang="zh-CN" altLang="en-US" sz="3600" dirty="0">
              <a:solidFill>
                <a:schemeClr val="accent2"/>
              </a:solidFill>
            </a:endParaRPr>
          </a:p>
        </p:txBody>
      </p:sp>
      <p:sp>
        <p:nvSpPr>
          <p:cNvPr id="643075" name="Rectangle 3">
            <a:extLst>
              <a:ext uri="{FF2B5EF4-FFF2-40B4-BE49-F238E27FC236}">
                <a16:creationId xmlns:a16="http://schemas.microsoft.com/office/drawing/2014/main" id="{7C725C11-21DB-4AA3-899B-71C276242C7D}"/>
              </a:ext>
            </a:extLst>
          </p:cNvPr>
          <p:cNvSpPr>
            <a:spLocks noGrp="1" noChangeArrowheads="1"/>
          </p:cNvSpPr>
          <p:nvPr>
            <p:ph idx="1"/>
          </p:nvPr>
        </p:nvSpPr>
        <p:spPr>
          <a:xfrm>
            <a:off x="685800" y="1160463"/>
            <a:ext cx="7726680" cy="2410777"/>
          </a:xfrm>
        </p:spPr>
        <p:txBody>
          <a:bodyPr/>
          <a:lstStyle/>
          <a:p>
            <a:pPr marL="261938" lvl="1" indent="-261938" algn="l" eaLnBrk="1" hangingPunct="1">
              <a:lnSpc>
                <a:spcPct val="113000"/>
              </a:lnSpc>
              <a:spcBef>
                <a:spcPts val="0"/>
              </a:spcBef>
              <a:spcAft>
                <a:spcPts val="600"/>
              </a:spcAft>
              <a:defRPr/>
            </a:pPr>
            <a:r>
              <a:rPr lang="zh-CN" altLang="en-US" dirty="0">
                <a:latin typeface="Times New Roman" panose="02020603050405020304" pitchFamily="18" charset="0"/>
                <a:cs typeface="Times New Roman" panose="02020603050405020304" pitchFamily="18" charset="0"/>
              </a:rPr>
              <a:t>是</a:t>
            </a:r>
            <a:r>
              <a:rPr lang="en-US" altLang="zh-CN" dirty="0">
                <a:solidFill>
                  <a:srgbClr val="FF0000"/>
                </a:solidFill>
                <a:latin typeface="Times New Roman" panose="02020603050405020304" pitchFamily="18" charset="0"/>
                <a:cs typeface="Times New Roman" panose="02020603050405020304" pitchFamily="18" charset="0"/>
              </a:rPr>
              <a:t>16</a:t>
            </a:r>
            <a:r>
              <a:rPr lang="zh-CN" altLang="en-US" dirty="0">
                <a:solidFill>
                  <a:srgbClr val="FF0000"/>
                </a:solidFill>
                <a:latin typeface="Times New Roman" panose="02020603050405020304" pitchFamily="18" charset="0"/>
                <a:cs typeface="Times New Roman" panose="02020603050405020304" pitchFamily="18" charset="0"/>
              </a:rPr>
              <a:t>位专用寄存器</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由</a:t>
            </a:r>
            <a:r>
              <a:rPr lang="en-US" altLang="zh-CN" dirty="0">
                <a:solidFill>
                  <a:srgbClr val="FF0000"/>
                </a:solidFill>
                <a:latin typeface="Times New Roman" panose="02020603050405020304" pitchFamily="18" charset="0"/>
                <a:cs typeface="Times New Roman" panose="02020603050405020304" pitchFamily="18" charset="0"/>
              </a:rPr>
              <a:t>DPL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低</a:t>
            </a:r>
            <a:r>
              <a:rPr lang="en-US" altLang="zh-CN" dirty="0">
                <a:latin typeface="Times New Roman" panose="02020603050405020304" pitchFamily="18" charset="0"/>
                <a:cs typeface="Times New Roman" panose="02020603050405020304" pitchFamily="18" charset="0"/>
              </a:rPr>
              <a:t>8</a:t>
            </a:r>
            <a:r>
              <a:rPr lang="zh-CN" altLang="en-US" dirty="0">
                <a:latin typeface="Times New Roman" panose="02020603050405020304" pitchFamily="18" charset="0"/>
                <a:cs typeface="Times New Roman" panose="02020603050405020304" pitchFamily="18" charset="0"/>
              </a:rPr>
              <a:t>位</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和</a:t>
            </a:r>
            <a:r>
              <a:rPr lang="en-US" altLang="zh-CN" dirty="0">
                <a:solidFill>
                  <a:srgbClr val="FF0000"/>
                </a:solidFill>
                <a:latin typeface="Times New Roman" panose="02020603050405020304" pitchFamily="18" charset="0"/>
                <a:cs typeface="Times New Roman" panose="02020603050405020304" pitchFamily="18" charset="0"/>
              </a:rPr>
              <a:t>DPH </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高</a:t>
            </a:r>
            <a:r>
              <a:rPr lang="en-US" altLang="zh-CN" dirty="0">
                <a:latin typeface="Times New Roman" panose="02020603050405020304" pitchFamily="18" charset="0"/>
                <a:cs typeface="Times New Roman" panose="02020603050405020304" pitchFamily="18" charset="0"/>
              </a:rPr>
              <a:t>8</a:t>
            </a:r>
            <a:r>
              <a:rPr lang="zh-CN" altLang="en-US" dirty="0">
                <a:latin typeface="Times New Roman" panose="02020603050405020304" pitchFamily="18" charset="0"/>
                <a:cs typeface="Times New Roman" panose="02020603050405020304" pitchFamily="18" charset="0"/>
              </a:rPr>
              <a:t>位</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组成。</a:t>
            </a:r>
          </a:p>
          <a:p>
            <a:pPr marL="261938" lvl="1" indent="-261938" algn="l" eaLnBrk="1" hangingPunct="1">
              <a:lnSpc>
                <a:spcPct val="113000"/>
              </a:lnSpc>
              <a:spcBef>
                <a:spcPts val="0"/>
              </a:spcBef>
              <a:spcAft>
                <a:spcPts val="600"/>
              </a:spcAft>
              <a:defRPr/>
            </a:pPr>
            <a:r>
              <a:rPr lang="en-US" altLang="zh-CN" dirty="0">
                <a:latin typeface="Times New Roman" panose="02020603050405020304" pitchFamily="18" charset="0"/>
                <a:cs typeface="Times New Roman" panose="02020603050405020304" pitchFamily="18" charset="0"/>
              </a:rPr>
              <a:t>DPTR</a:t>
            </a:r>
            <a:r>
              <a:rPr lang="zh-CN" altLang="en-US" dirty="0">
                <a:latin typeface="Times New Roman" panose="02020603050405020304" pitchFamily="18" charset="0"/>
                <a:cs typeface="Times New Roman" panose="02020603050405020304" pitchFamily="18" charset="0"/>
              </a:rPr>
              <a:t>可直接进行</a:t>
            </a:r>
            <a:r>
              <a:rPr lang="en-US" altLang="zh-CN" dirty="0">
                <a:latin typeface="Times New Roman" panose="02020603050405020304" pitchFamily="18" charset="0"/>
                <a:cs typeface="Times New Roman" panose="02020603050405020304" pitchFamily="18" charset="0"/>
              </a:rPr>
              <a:t>16</a:t>
            </a:r>
            <a:r>
              <a:rPr lang="zh-CN" altLang="en-US" dirty="0">
                <a:latin typeface="Times New Roman" panose="02020603050405020304" pitchFamily="18" charset="0"/>
                <a:cs typeface="Times New Roman" panose="02020603050405020304" pitchFamily="18" charset="0"/>
              </a:rPr>
              <a:t>位操作</a:t>
            </a:r>
            <a:r>
              <a:rPr lang="en-US" altLang="zh-CN" dirty="0">
                <a:latin typeface="Times New Roman" panose="02020603050405020304" pitchFamily="18" charset="0"/>
                <a:cs typeface="Times New Roman" panose="02020603050405020304" pitchFamily="18" charset="0"/>
              </a:rPr>
              <a:t>, </a:t>
            </a:r>
            <a:r>
              <a:rPr lang="zh-CN" altLang="en-US" dirty="0">
                <a:solidFill>
                  <a:srgbClr val="3D41D1"/>
                </a:solidFill>
                <a:latin typeface="Times New Roman" panose="02020603050405020304" pitchFamily="18" charset="0"/>
                <a:cs typeface="Times New Roman" panose="02020603050405020304" pitchFamily="18" charset="0"/>
              </a:rPr>
              <a:t>也可分别对</a:t>
            </a:r>
            <a:r>
              <a:rPr lang="en-US" altLang="zh-CN" dirty="0">
                <a:solidFill>
                  <a:srgbClr val="FF0000"/>
                </a:solidFill>
                <a:latin typeface="Times New Roman" panose="02020603050405020304" pitchFamily="18" charset="0"/>
                <a:cs typeface="Times New Roman" panose="02020603050405020304" pitchFamily="18" charset="0"/>
              </a:rPr>
              <a:t>DPL</a:t>
            </a:r>
            <a:r>
              <a:rPr lang="zh-CN" altLang="en-US" dirty="0">
                <a:solidFill>
                  <a:srgbClr val="3D41D1"/>
                </a:solidFill>
                <a:latin typeface="Times New Roman" panose="02020603050405020304" pitchFamily="18" charset="0"/>
                <a:cs typeface="Times New Roman" panose="02020603050405020304" pitchFamily="18" charset="0"/>
              </a:rPr>
              <a:t>和</a:t>
            </a:r>
            <a:r>
              <a:rPr lang="en-US" altLang="zh-CN" dirty="0">
                <a:solidFill>
                  <a:srgbClr val="FF0000"/>
                </a:solidFill>
                <a:latin typeface="Times New Roman" panose="02020603050405020304" pitchFamily="18" charset="0"/>
                <a:cs typeface="Times New Roman" panose="02020603050405020304" pitchFamily="18" charset="0"/>
              </a:rPr>
              <a:t>DPH</a:t>
            </a:r>
            <a:r>
              <a:rPr lang="zh-CN" altLang="en-US" dirty="0">
                <a:solidFill>
                  <a:srgbClr val="3D41D1"/>
                </a:solidFill>
                <a:latin typeface="Times New Roman" panose="02020603050405020304" pitchFamily="18" charset="0"/>
                <a:cs typeface="Times New Roman" panose="02020603050405020304" pitchFamily="18" charset="0"/>
              </a:rPr>
              <a:t>按字节进行操作</a:t>
            </a:r>
            <a:r>
              <a:rPr lang="zh-CN" altLang="en-US" dirty="0">
                <a:latin typeface="Times New Roman" panose="02020603050405020304" pitchFamily="18" charset="0"/>
                <a:cs typeface="Times New Roman" panose="02020603050405020304" pitchFamily="18" charset="0"/>
              </a:rPr>
              <a:t>。</a:t>
            </a:r>
          </a:p>
          <a:p>
            <a:pPr marL="261938" lvl="1" indent="-261938" algn="l" eaLnBrk="1" hangingPunct="1">
              <a:lnSpc>
                <a:spcPct val="113000"/>
              </a:lnSpc>
              <a:spcBef>
                <a:spcPts val="0"/>
              </a:spcBef>
              <a:spcAft>
                <a:spcPts val="600"/>
              </a:spcAft>
              <a:defRPr/>
            </a:pPr>
            <a:r>
              <a:rPr lang="en-US" altLang="zh-CN" dirty="0">
                <a:solidFill>
                  <a:srgbClr val="FF0000"/>
                </a:solidFill>
              </a:rPr>
              <a:t>IAP15W4K58S4</a:t>
            </a:r>
            <a:r>
              <a:rPr lang="zh-CN" altLang="en-US" dirty="0">
                <a:latin typeface="Times New Roman" panose="02020603050405020304" pitchFamily="18" charset="0"/>
                <a:cs typeface="Times New Roman" panose="02020603050405020304" pitchFamily="18" charset="0"/>
              </a:rPr>
              <a:t>单片机有两个</a:t>
            </a:r>
            <a:r>
              <a:rPr lang="en-US" altLang="zh-CN" dirty="0">
                <a:latin typeface="Times New Roman" panose="02020603050405020304" pitchFamily="18" charset="0"/>
                <a:cs typeface="Times New Roman" panose="02020603050405020304" pitchFamily="18" charset="0"/>
              </a:rPr>
              <a:t>16</a:t>
            </a:r>
            <a:r>
              <a:rPr lang="zh-CN" altLang="en-US" dirty="0">
                <a:latin typeface="Times New Roman" panose="02020603050405020304" pitchFamily="18" charset="0"/>
                <a:cs typeface="Times New Roman" panose="02020603050405020304" pitchFamily="18" charset="0"/>
              </a:rPr>
              <a:t>位数据指针</a:t>
            </a:r>
            <a:r>
              <a:rPr lang="en-US" altLang="zh-CN" dirty="0">
                <a:solidFill>
                  <a:srgbClr val="FF0000"/>
                </a:solidFill>
                <a:latin typeface="Times New Roman" panose="02020603050405020304" pitchFamily="18" charset="0"/>
                <a:cs typeface="Times New Roman" panose="02020603050405020304" pitchFamily="18" charset="0"/>
              </a:rPr>
              <a:t>DP</a:t>
            </a:r>
            <a:r>
              <a:rPr lang="en-US" altLang="zh-CN" dirty="0">
                <a:solidFill>
                  <a:srgbClr val="C00000"/>
                </a:solidFill>
                <a:latin typeface="Times New Roman" panose="02020603050405020304" pitchFamily="18" charset="0"/>
                <a:cs typeface="Times New Roman" panose="02020603050405020304" pitchFamily="18" charset="0"/>
              </a:rPr>
              <a:t>TR</a:t>
            </a:r>
            <a:r>
              <a:rPr lang="en-US" altLang="zh-CN" dirty="0">
                <a:solidFill>
                  <a:srgbClr val="FF0000"/>
                </a:solidFill>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和</a:t>
            </a:r>
            <a:r>
              <a:rPr lang="en-US" altLang="zh-CN" dirty="0">
                <a:solidFill>
                  <a:srgbClr val="FF0000"/>
                </a:solidFill>
                <a:latin typeface="Times New Roman" panose="02020603050405020304" pitchFamily="18" charset="0"/>
                <a:cs typeface="Times New Roman" panose="02020603050405020304" pitchFamily="18" charset="0"/>
              </a:rPr>
              <a:t>DPTR1</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这两个数据指针共用同一个地址</a:t>
            </a:r>
            <a:r>
              <a:rPr lang="en-US" altLang="zh-CN" dirty="0">
                <a:latin typeface="Times New Roman" panose="02020603050405020304" pitchFamily="18" charset="0"/>
                <a:cs typeface="Times New Roman" panose="02020603050405020304" pitchFamily="18" charset="0"/>
              </a:rPr>
              <a:t>(</a:t>
            </a:r>
            <a:r>
              <a:rPr lang="en-US" altLang="zh-CN" dirty="0">
                <a:solidFill>
                  <a:srgbClr val="FF0000"/>
                </a:solidFill>
                <a:latin typeface="Times New Roman" panose="02020603050405020304" pitchFamily="18" charset="0"/>
                <a:cs typeface="Times New Roman" panose="02020603050405020304" pitchFamily="18" charset="0"/>
              </a:rPr>
              <a:t>82H, 83H</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261938" lvl="1" indent="-261938" algn="l" eaLnBrk="1" hangingPunct="1">
              <a:lnSpc>
                <a:spcPct val="113000"/>
              </a:lnSpc>
              <a:spcBef>
                <a:spcPts val="0"/>
              </a:spcBef>
              <a:spcAft>
                <a:spcPts val="600"/>
              </a:spcAft>
              <a:defRPr/>
            </a:pPr>
            <a:r>
              <a:rPr lang="zh-CN" altLang="en-US" dirty="0">
                <a:latin typeface="Times New Roman" panose="02020603050405020304" pitchFamily="18" charset="0"/>
                <a:cs typeface="Times New Roman" panose="02020603050405020304" pitchFamily="18" charset="0"/>
              </a:rPr>
              <a:t>可通过设置辅助寄存器</a:t>
            </a:r>
            <a:r>
              <a:rPr lang="en-US" altLang="zh-CN" dirty="0">
                <a:solidFill>
                  <a:srgbClr val="C00000"/>
                </a:solidFill>
                <a:latin typeface="Times New Roman" panose="02020603050405020304" pitchFamily="18" charset="0"/>
                <a:cs typeface="Times New Roman" panose="02020603050405020304" pitchFamily="18" charset="0"/>
              </a:rPr>
              <a:t>AUXR1</a:t>
            </a:r>
            <a:r>
              <a:rPr lang="zh-CN" altLang="en-US" dirty="0">
                <a:latin typeface="Times New Roman" panose="02020603050405020304" pitchFamily="18" charset="0"/>
                <a:cs typeface="Times New Roman" panose="02020603050405020304" pitchFamily="18" charset="0"/>
              </a:rPr>
              <a:t>中的</a:t>
            </a:r>
            <a:r>
              <a:rPr lang="en-US" altLang="zh-CN" dirty="0">
                <a:solidFill>
                  <a:srgbClr val="C00000"/>
                </a:solidFill>
                <a:latin typeface="Times New Roman" panose="02020603050405020304" pitchFamily="18" charset="0"/>
                <a:cs typeface="Times New Roman" panose="02020603050405020304" pitchFamily="18" charset="0"/>
              </a:rPr>
              <a:t>DPS(AUXR1.0)</a:t>
            </a:r>
            <a:r>
              <a:rPr lang="zh-CN" altLang="en-US" dirty="0">
                <a:solidFill>
                  <a:srgbClr val="C00000"/>
                </a:solidFill>
                <a:latin typeface="Times New Roman" panose="02020603050405020304" pitchFamily="18" charset="0"/>
                <a:cs typeface="Times New Roman" panose="02020603050405020304" pitchFamily="18" charset="0"/>
              </a:rPr>
              <a:t>位来选择</a:t>
            </a:r>
            <a:r>
              <a:rPr lang="zh-CN" altLang="en-US" dirty="0">
                <a:latin typeface="Times New Roman" panose="02020603050405020304" pitchFamily="18" charset="0"/>
                <a:cs typeface="Times New Roman" panose="02020603050405020304" pitchFamily="18" charset="0"/>
              </a:rPr>
              <a:t>具体使用哪一个数据指针</a:t>
            </a:r>
            <a:r>
              <a:rPr lang="en-US" altLang="zh-CN" dirty="0">
                <a:latin typeface="Times New Roman" panose="02020603050405020304" pitchFamily="18" charset="0"/>
                <a:cs typeface="Times New Roman" panose="02020603050405020304" pitchFamily="18" charset="0"/>
              </a:rPr>
              <a:t>(</a:t>
            </a:r>
            <a:r>
              <a:rPr lang="en-US" altLang="zh-CN" dirty="0">
                <a:solidFill>
                  <a:srgbClr val="0000CC"/>
                </a:solidFill>
                <a:latin typeface="Times New Roman" panose="02020603050405020304" pitchFamily="18" charset="0"/>
                <a:cs typeface="Times New Roman" panose="02020603050405020304" pitchFamily="18" charset="0"/>
              </a:rPr>
              <a:t>DPS=0, </a:t>
            </a:r>
            <a:r>
              <a:rPr lang="zh-CN" altLang="en-US" dirty="0">
                <a:solidFill>
                  <a:srgbClr val="0000CC"/>
                </a:solidFill>
                <a:latin typeface="Times New Roman" panose="02020603050405020304" pitchFamily="18" charset="0"/>
                <a:cs typeface="Times New Roman" panose="02020603050405020304" pitchFamily="18" charset="0"/>
              </a:rPr>
              <a:t>选择</a:t>
            </a:r>
            <a:r>
              <a:rPr lang="en-US" altLang="zh-CN" dirty="0">
                <a:solidFill>
                  <a:srgbClr val="0000CC"/>
                </a:solidFill>
                <a:latin typeface="Times New Roman" panose="02020603050405020304" pitchFamily="18" charset="0"/>
                <a:cs typeface="Times New Roman" panose="02020603050405020304" pitchFamily="18" charset="0"/>
              </a:rPr>
              <a:t>DPTR0;  DPS=1,</a:t>
            </a:r>
            <a:r>
              <a:rPr lang="zh-CN" altLang="en-US" dirty="0">
                <a:solidFill>
                  <a:srgbClr val="0000CC"/>
                </a:solidFill>
                <a:latin typeface="Times New Roman" panose="02020603050405020304" pitchFamily="18" charset="0"/>
                <a:cs typeface="Times New Roman" panose="02020603050405020304" pitchFamily="18" charset="0"/>
              </a:rPr>
              <a:t>选择</a:t>
            </a:r>
            <a:r>
              <a:rPr lang="en-US" altLang="zh-CN" dirty="0">
                <a:solidFill>
                  <a:srgbClr val="0000CC"/>
                </a:solidFill>
                <a:latin typeface="Times New Roman" panose="02020603050405020304" pitchFamily="18" charset="0"/>
                <a:cs typeface="Times New Roman" panose="02020603050405020304" pitchFamily="18" charset="0"/>
              </a:rPr>
              <a:t>DPTR1</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 </a:t>
            </a:r>
          </a:p>
        </p:txBody>
      </p:sp>
      <p:graphicFrame>
        <p:nvGraphicFramePr>
          <p:cNvPr id="6" name="Group 196">
            <a:extLst>
              <a:ext uri="{FF2B5EF4-FFF2-40B4-BE49-F238E27FC236}">
                <a16:creationId xmlns:a16="http://schemas.microsoft.com/office/drawing/2014/main" id="{1AF85C77-A4EC-4DAE-AE90-832B8CFA0257}"/>
              </a:ext>
            </a:extLst>
          </p:cNvPr>
          <p:cNvGraphicFramePr>
            <a:graphicFrameLocks noGrp="1"/>
          </p:cNvGraphicFramePr>
          <p:nvPr>
            <p:extLst>
              <p:ext uri="{D42A27DB-BD31-4B8C-83A1-F6EECF244321}">
                <p14:modId xmlns:p14="http://schemas.microsoft.com/office/powerpoint/2010/main" val="1554122373"/>
              </p:ext>
            </p:extLst>
          </p:nvPr>
        </p:nvGraphicFramePr>
        <p:xfrm>
          <a:off x="231773" y="4880541"/>
          <a:ext cx="8723314" cy="825500"/>
        </p:xfrm>
        <a:graphic>
          <a:graphicData uri="http://schemas.openxmlformats.org/drawingml/2006/table">
            <a:tbl>
              <a:tblPr/>
              <a:tblGrid>
                <a:gridCol w="1090412">
                  <a:extLst>
                    <a:ext uri="{9D8B030D-6E8A-4147-A177-3AD203B41FA5}">
                      <a16:colId xmlns:a16="http://schemas.microsoft.com/office/drawing/2014/main" val="20000"/>
                    </a:ext>
                  </a:extLst>
                </a:gridCol>
                <a:gridCol w="908679">
                  <a:extLst>
                    <a:ext uri="{9D8B030D-6E8A-4147-A177-3AD203B41FA5}">
                      <a16:colId xmlns:a16="http://schemas.microsoft.com/office/drawing/2014/main" val="20001"/>
                    </a:ext>
                  </a:extLst>
                </a:gridCol>
                <a:gridCol w="908680">
                  <a:extLst>
                    <a:ext uri="{9D8B030D-6E8A-4147-A177-3AD203B41FA5}">
                      <a16:colId xmlns:a16="http://schemas.microsoft.com/office/drawing/2014/main" val="20002"/>
                    </a:ext>
                  </a:extLst>
                </a:gridCol>
                <a:gridCol w="1181282">
                  <a:extLst>
                    <a:ext uri="{9D8B030D-6E8A-4147-A177-3AD203B41FA5}">
                      <a16:colId xmlns:a16="http://schemas.microsoft.com/office/drawing/2014/main" val="20003"/>
                    </a:ext>
                  </a:extLst>
                </a:gridCol>
                <a:gridCol w="1226716">
                  <a:extLst>
                    <a:ext uri="{9D8B030D-6E8A-4147-A177-3AD203B41FA5}">
                      <a16:colId xmlns:a16="http://schemas.microsoft.com/office/drawing/2014/main" val="20004"/>
                    </a:ext>
                  </a:extLst>
                </a:gridCol>
                <a:gridCol w="1075269">
                  <a:extLst>
                    <a:ext uri="{9D8B030D-6E8A-4147-A177-3AD203B41FA5}">
                      <a16:colId xmlns:a16="http://schemas.microsoft.com/office/drawing/2014/main" val="20005"/>
                    </a:ext>
                  </a:extLst>
                </a:gridCol>
                <a:gridCol w="1120704">
                  <a:extLst>
                    <a:ext uri="{9D8B030D-6E8A-4147-A177-3AD203B41FA5}">
                      <a16:colId xmlns:a16="http://schemas.microsoft.com/office/drawing/2014/main" val="20006"/>
                    </a:ext>
                  </a:extLst>
                </a:gridCol>
                <a:gridCol w="484630">
                  <a:extLst>
                    <a:ext uri="{9D8B030D-6E8A-4147-A177-3AD203B41FA5}">
                      <a16:colId xmlns:a16="http://schemas.microsoft.com/office/drawing/2014/main" val="20007"/>
                    </a:ext>
                  </a:extLst>
                </a:gridCol>
                <a:gridCol w="726942">
                  <a:extLst>
                    <a:ext uri="{9D8B030D-6E8A-4147-A177-3AD203B41FA5}">
                      <a16:colId xmlns:a16="http://schemas.microsoft.com/office/drawing/2014/main" val="20008"/>
                    </a:ext>
                  </a:extLst>
                </a:gridCol>
              </a:tblGrid>
              <a:tr h="459433">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85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位号</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D7</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D6</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D5</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D4</a:t>
                      </a:r>
                      <a:endParaRPr kumimoji="0" lang="en-US" altLang="zh-CN" sz="2400" b="1" i="0" u="none" strike="noStrike" cap="none" normalizeH="0" baseline="0" dirty="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D3</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D2</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D1</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D0</a:t>
                      </a:r>
                      <a:endParaRPr kumimoji="0" lang="en-US" altLang="zh-CN" sz="2400" b="1" i="0" u="none" strike="noStrike" cap="none" normalizeH="0" baseline="0" dirty="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6067">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charset="-122"/>
                          <a:cs typeface="Times New Roman" pitchFamily="18" charset="0"/>
                        </a:rPr>
                        <a:t>位名称</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S1_S1</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S1_S0</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kern="1200" cap="none" normalizeH="0" baseline="0">
                          <a:ln>
                            <a:noFill/>
                          </a:ln>
                          <a:solidFill>
                            <a:schemeClr val="tx1"/>
                          </a:solidFill>
                          <a:effectLst/>
                          <a:latin typeface="Times New Roman" pitchFamily="18" charset="0"/>
                          <a:ea typeface="宋体" charset="-122"/>
                          <a:cs typeface="Times New Roman" pitchFamily="18" charset="0"/>
                        </a:rPr>
                        <a:t>CCP_S1</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kern="1200" cap="none" normalizeH="0" baseline="0">
                          <a:ln>
                            <a:noFill/>
                          </a:ln>
                          <a:solidFill>
                            <a:schemeClr val="tx1"/>
                          </a:solidFill>
                          <a:effectLst/>
                          <a:latin typeface="Times New Roman" pitchFamily="18" charset="0"/>
                          <a:ea typeface="宋体" charset="-122"/>
                          <a:cs typeface="Times New Roman" pitchFamily="18" charset="0"/>
                        </a:rPr>
                        <a:t>CCP_S0</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SPI_S1</a:t>
                      </a:r>
                      <a:endParaRPr kumimoji="0" lang="en-US" altLang="zh-CN" sz="2400" b="1" i="0" u="none" strike="noStrike" cap="none" normalizeH="0" baseline="0" dirty="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SPI_S0</a:t>
                      </a:r>
                      <a:endParaRPr kumimoji="0" lang="en-US" altLang="zh-CN" sz="2400" b="1" i="0" u="none" strike="noStrike" cap="none" normalizeH="0" baseline="0" dirty="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0</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kern="1200" cap="none" normalizeH="0" baseline="0" dirty="0">
                          <a:ln>
                            <a:noFill/>
                          </a:ln>
                          <a:solidFill>
                            <a:srgbClr val="FF0000"/>
                          </a:solidFill>
                          <a:effectLst/>
                          <a:latin typeface="Times New Roman" pitchFamily="18" charset="0"/>
                          <a:ea typeface="宋体" charset="-122"/>
                          <a:cs typeface="Times New Roman" pitchFamily="18" charset="0"/>
                        </a:rPr>
                        <a:t>DPS</a:t>
                      </a:r>
                    </a:p>
                  </a:txBody>
                  <a:tcPr marL="0" marR="0" marT="0" marB="0" anchor="ctr" horzOverflow="overflow">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3" name="矩形 2">
            <a:extLst>
              <a:ext uri="{FF2B5EF4-FFF2-40B4-BE49-F238E27FC236}">
                <a16:creationId xmlns:a16="http://schemas.microsoft.com/office/drawing/2014/main" id="{B786E9FE-E788-4E78-97D0-67449864AE5A}"/>
              </a:ext>
            </a:extLst>
          </p:cNvPr>
          <p:cNvSpPr>
            <a:spLocks noChangeArrowheads="1"/>
          </p:cNvSpPr>
          <p:nvPr/>
        </p:nvSpPr>
        <p:spPr bwMode="auto">
          <a:xfrm>
            <a:off x="4670108" y="4183470"/>
            <a:ext cx="319722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0000"/>
                </a:solidFill>
                <a:cs typeface="Times New Roman" panose="02020603050405020304" pitchFamily="18" charset="0"/>
              </a:rPr>
              <a:t>辅助寄存器</a:t>
            </a:r>
            <a:r>
              <a:rPr lang="en-US" altLang="zh-CN" sz="2800" b="1" dirty="0">
                <a:solidFill>
                  <a:srgbClr val="FF0000"/>
                </a:solidFill>
                <a:cs typeface="Times New Roman" panose="02020603050405020304" pitchFamily="18" charset="0"/>
              </a:rPr>
              <a:t>AUXR1</a:t>
            </a:r>
            <a:endParaRPr lang="zh-CN" altLang="en-US" sz="2800" b="1" dirty="0">
              <a:solidFill>
                <a:srgbClr val="FF0000"/>
              </a:solidFill>
            </a:endParaRPr>
          </a:p>
        </p:txBody>
      </p:sp>
      <p:cxnSp>
        <p:nvCxnSpPr>
          <p:cNvPr id="8" name="直接箭头连接符 7">
            <a:extLst>
              <a:ext uri="{FF2B5EF4-FFF2-40B4-BE49-F238E27FC236}">
                <a16:creationId xmlns:a16="http://schemas.microsoft.com/office/drawing/2014/main" id="{335F95C8-1FAE-43B3-A78F-6BEA443714C4}"/>
              </a:ext>
            </a:extLst>
          </p:cNvPr>
          <p:cNvCxnSpPr>
            <a:cxnSpLocks noChangeShapeType="1"/>
          </p:cNvCxnSpPr>
          <p:nvPr/>
        </p:nvCxnSpPr>
        <p:spPr bwMode="auto">
          <a:xfrm flipH="1" flipV="1">
            <a:off x="3931920" y="3324225"/>
            <a:ext cx="4364674" cy="1179444"/>
          </a:xfrm>
          <a:prstGeom prst="straightConnector1">
            <a:avLst/>
          </a:prstGeom>
          <a:noFill/>
          <a:ln w="9525"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箭头连接符 9">
            <a:extLst>
              <a:ext uri="{FF2B5EF4-FFF2-40B4-BE49-F238E27FC236}">
                <a16:creationId xmlns:a16="http://schemas.microsoft.com/office/drawing/2014/main" id="{B670480D-371B-4B6A-A24B-94D6CA5B38C7}"/>
              </a:ext>
            </a:extLst>
          </p:cNvPr>
          <p:cNvCxnSpPr>
            <a:cxnSpLocks noChangeShapeType="1"/>
          </p:cNvCxnSpPr>
          <p:nvPr/>
        </p:nvCxnSpPr>
        <p:spPr bwMode="auto">
          <a:xfrm flipH="1" flipV="1">
            <a:off x="5935345" y="3312727"/>
            <a:ext cx="2609215" cy="1190942"/>
          </a:xfrm>
          <a:prstGeom prst="straightConnector1">
            <a:avLst/>
          </a:prstGeom>
          <a:noFill/>
          <a:ln w="9525"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灯片编号占位符 8">
            <a:extLst>
              <a:ext uri="{FF2B5EF4-FFF2-40B4-BE49-F238E27FC236}">
                <a16:creationId xmlns:a16="http://schemas.microsoft.com/office/drawing/2014/main" id="{FC53E4B2-2FAE-466D-9C4C-83AC8586808B}"/>
              </a:ext>
            </a:extLst>
          </p:cNvPr>
          <p:cNvSpPr>
            <a:spLocks noGrp="1"/>
          </p:cNvSpPr>
          <p:nvPr>
            <p:ph type="sldNum" sz="quarter" idx="12"/>
          </p:nvPr>
        </p:nvSpPr>
        <p:spPr/>
        <p:txBody>
          <a:bodyPr/>
          <a:lstStyle/>
          <a:p>
            <a:fld id="{22E77DEE-32E4-4009-988B-F2758F7B8AC2}" type="slidenum">
              <a:rPr lang="zh-CN" altLang="en-US" smtClean="0"/>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0">
            <a:extLst>
              <a:ext uri="{FF2B5EF4-FFF2-40B4-BE49-F238E27FC236}">
                <a16:creationId xmlns:a16="http://schemas.microsoft.com/office/drawing/2014/main" id="{EF872410-4A7A-49A5-B3E7-314BA85FAB1F}"/>
              </a:ext>
            </a:extLst>
          </p:cNvPr>
          <p:cNvSpPr>
            <a:spLocks noGrp="1" noChangeArrowheads="1"/>
          </p:cNvSpPr>
          <p:nvPr>
            <p:ph type="title"/>
          </p:nvPr>
        </p:nvSpPr>
        <p:spPr>
          <a:xfrm>
            <a:off x="282575" y="525463"/>
            <a:ext cx="8469312" cy="504825"/>
          </a:xfrm>
        </p:spPr>
        <p:txBody>
          <a:bodyPr>
            <a:normAutofit fontScale="90000"/>
          </a:bodyPr>
          <a:lstStyle/>
          <a:p>
            <a:pPr eaLnBrk="1" hangingPunct="1"/>
            <a:r>
              <a:rPr lang="en-US" altLang="zh-CN" b="0" dirty="0" err="1">
                <a:latin typeface="隶书" panose="02010509060101010101" pitchFamily="49" charset="-122"/>
                <a:ea typeface="隶书" panose="02010509060101010101" pitchFamily="49" charset="-122"/>
              </a:rPr>
              <a:t>Broadcomm</a:t>
            </a:r>
            <a:r>
              <a:rPr lang="en-US" altLang="zh-CN" b="0" dirty="0">
                <a:latin typeface="隶书" panose="02010509060101010101" pitchFamily="49" charset="-122"/>
                <a:ea typeface="隶书" panose="02010509060101010101" pitchFamily="49" charset="-122"/>
              </a:rPr>
              <a:t> BCM2711</a:t>
            </a:r>
            <a:endParaRPr kumimoji="1" lang="zh-CN" altLang="en-US" dirty="0"/>
          </a:p>
        </p:txBody>
      </p:sp>
      <p:sp>
        <p:nvSpPr>
          <p:cNvPr id="3" name="内容占位符 2">
            <a:extLst>
              <a:ext uri="{FF2B5EF4-FFF2-40B4-BE49-F238E27FC236}">
                <a16:creationId xmlns:a16="http://schemas.microsoft.com/office/drawing/2014/main" id="{54FF6C23-C00D-4CD4-9098-0A0091053403}"/>
              </a:ext>
            </a:extLst>
          </p:cNvPr>
          <p:cNvSpPr>
            <a:spLocks noGrp="1"/>
          </p:cNvSpPr>
          <p:nvPr>
            <p:ph idx="1"/>
          </p:nvPr>
        </p:nvSpPr>
        <p:spPr/>
        <p:txBody>
          <a:bodyPr/>
          <a:lstStyle/>
          <a:p>
            <a:endParaRPr lang="zh-CN" altLang="en-US"/>
          </a:p>
        </p:txBody>
      </p:sp>
      <p:pic>
        <p:nvPicPr>
          <p:cNvPr id="1026" name="Picture 2" descr="Image">
            <a:extLst>
              <a:ext uri="{FF2B5EF4-FFF2-40B4-BE49-F238E27FC236}">
                <a16:creationId xmlns:a16="http://schemas.microsoft.com/office/drawing/2014/main" id="{E62CA7F4-993F-413C-874D-770F5E72FA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4809" y="1030288"/>
            <a:ext cx="5880100" cy="5219415"/>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a:extLst>
              <a:ext uri="{FF2B5EF4-FFF2-40B4-BE49-F238E27FC236}">
                <a16:creationId xmlns:a16="http://schemas.microsoft.com/office/drawing/2014/main" id="{703E9675-A789-4C3A-BEEA-BCCCBC483DEB}"/>
              </a:ext>
            </a:extLst>
          </p:cNvPr>
          <p:cNvSpPr>
            <a:spLocks noGrp="1"/>
          </p:cNvSpPr>
          <p:nvPr>
            <p:ph type="sldNum" sz="quarter" idx="12"/>
          </p:nvPr>
        </p:nvSpPr>
        <p:spPr/>
        <p:txBody>
          <a:bodyPr/>
          <a:lstStyle/>
          <a:p>
            <a:fld id="{22E77DEE-32E4-4009-988B-F2758F7B8AC2}" type="slidenum">
              <a:rPr lang="zh-CN" altLang="en-US" smtClean="0"/>
              <a:t>31</a:t>
            </a:fld>
            <a:endParaRPr lang="zh-CN" altLang="en-US"/>
          </a:p>
        </p:txBody>
      </p:sp>
    </p:spTree>
    <p:extLst>
      <p:ext uri="{BB962C8B-B14F-4D97-AF65-F5344CB8AC3E}">
        <p14:creationId xmlns:p14="http://schemas.microsoft.com/office/powerpoint/2010/main" val="7636362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3" name="Rectangle 3">
            <a:extLst>
              <a:ext uri="{FF2B5EF4-FFF2-40B4-BE49-F238E27FC236}">
                <a16:creationId xmlns:a16="http://schemas.microsoft.com/office/drawing/2014/main" id="{0A4B119D-98F0-4120-9A8F-1BAA83396A1B}"/>
              </a:ext>
            </a:extLst>
          </p:cNvPr>
          <p:cNvSpPr>
            <a:spLocks noGrp="1" noChangeArrowheads="1"/>
          </p:cNvSpPr>
          <p:nvPr>
            <p:ph type="body" idx="1"/>
          </p:nvPr>
        </p:nvSpPr>
        <p:spPr>
          <a:xfrm>
            <a:off x="73025" y="1199605"/>
            <a:ext cx="9070975" cy="1066076"/>
          </a:xfrm>
        </p:spPr>
        <p:txBody>
          <a:bodyPr>
            <a:normAutofit/>
          </a:bodyPr>
          <a:lstStyle/>
          <a:p>
            <a:pPr marL="174625" indent="-174625" eaLnBrk="1" hangingPunct="1">
              <a:lnSpc>
                <a:spcPct val="104000"/>
              </a:lnSpc>
              <a:spcBef>
                <a:spcPct val="0"/>
              </a:spcBef>
            </a:pPr>
            <a:r>
              <a:rPr lang="zh-CN" altLang="en-US" dirty="0">
                <a:solidFill>
                  <a:srgbClr val="CC3300"/>
                </a:solidFill>
              </a:rPr>
              <a:t>结构特点</a:t>
            </a:r>
            <a:r>
              <a:rPr lang="en-US" altLang="zh-CN" dirty="0">
                <a:solidFill>
                  <a:srgbClr val="CC3300"/>
                </a:solidFill>
              </a:rPr>
              <a:t>: </a:t>
            </a:r>
            <a:r>
              <a:rPr lang="en-US" altLang="zh-CN" dirty="0"/>
              <a:t> </a:t>
            </a:r>
            <a:r>
              <a:rPr lang="zh-CN" altLang="en-US" dirty="0"/>
              <a:t>程序存储器和数据存储器的寻址空间分开。</a:t>
            </a:r>
          </a:p>
          <a:p>
            <a:pPr marL="174625" indent="-174625" eaLnBrk="1" hangingPunct="1">
              <a:lnSpc>
                <a:spcPct val="104000"/>
              </a:lnSpc>
              <a:spcBef>
                <a:spcPct val="0"/>
              </a:spcBef>
            </a:pPr>
            <a:r>
              <a:rPr lang="zh-CN" altLang="en-US" dirty="0">
                <a:solidFill>
                  <a:srgbClr val="CC3300"/>
                </a:solidFill>
              </a:rPr>
              <a:t>结构划分</a:t>
            </a:r>
            <a:r>
              <a:rPr lang="en-US" altLang="zh-CN" dirty="0">
                <a:solidFill>
                  <a:srgbClr val="CC3300"/>
                </a:solidFill>
              </a:rPr>
              <a:t>: </a:t>
            </a:r>
            <a:r>
              <a:rPr lang="zh-CN" altLang="zh-CN" dirty="0"/>
              <a:t>片内集成</a:t>
            </a:r>
            <a:r>
              <a:rPr lang="en-US" altLang="zh-CN" dirty="0">
                <a:solidFill>
                  <a:srgbClr val="FF00FF"/>
                </a:solidFill>
              </a:rPr>
              <a:t>3</a:t>
            </a:r>
            <a:r>
              <a:rPr lang="zh-CN" altLang="zh-CN" dirty="0">
                <a:solidFill>
                  <a:srgbClr val="FF00FF"/>
                </a:solidFill>
              </a:rPr>
              <a:t>个</a:t>
            </a:r>
            <a:r>
              <a:rPr lang="zh-CN" altLang="zh-CN" dirty="0"/>
              <a:t>物理上相互</a:t>
            </a:r>
            <a:r>
              <a:rPr lang="zh-CN" altLang="zh-CN" dirty="0">
                <a:solidFill>
                  <a:srgbClr val="FF00FF"/>
                </a:solidFill>
              </a:rPr>
              <a:t>独立的存储器空间</a:t>
            </a:r>
            <a:r>
              <a:rPr lang="zh-CN" altLang="zh-CN" dirty="0"/>
              <a:t>：</a:t>
            </a:r>
            <a:r>
              <a:rPr lang="zh-CN" altLang="zh-CN" dirty="0">
                <a:solidFill>
                  <a:srgbClr val="FF00FF"/>
                </a:solidFill>
              </a:rPr>
              <a:t>程序</a:t>
            </a:r>
            <a:r>
              <a:rPr lang="en-US" altLang="zh-CN" dirty="0">
                <a:solidFill>
                  <a:srgbClr val="FF00FF"/>
                </a:solidFill>
              </a:rPr>
              <a:t>Flash</a:t>
            </a:r>
            <a:r>
              <a:rPr lang="zh-CN" altLang="zh-CN" dirty="0">
                <a:solidFill>
                  <a:srgbClr val="FF00FF"/>
                </a:solidFill>
              </a:rPr>
              <a:t>存储器</a:t>
            </a:r>
            <a:r>
              <a:rPr lang="zh-CN" altLang="zh-CN" dirty="0"/>
              <a:t>、</a:t>
            </a:r>
            <a:r>
              <a:rPr lang="zh-CN" altLang="zh-CN" dirty="0">
                <a:solidFill>
                  <a:srgbClr val="FF00FF"/>
                </a:solidFill>
              </a:rPr>
              <a:t>内部数据存储器</a:t>
            </a:r>
            <a:r>
              <a:rPr lang="zh-CN" altLang="zh-CN" dirty="0"/>
              <a:t>和</a:t>
            </a:r>
            <a:r>
              <a:rPr lang="zh-CN" altLang="zh-CN" dirty="0">
                <a:solidFill>
                  <a:srgbClr val="FF00FF"/>
                </a:solidFill>
              </a:rPr>
              <a:t>扩展数据存储器</a:t>
            </a:r>
            <a:r>
              <a:rPr lang="zh-CN" altLang="en-US" dirty="0"/>
              <a:t>。</a:t>
            </a:r>
          </a:p>
        </p:txBody>
      </p:sp>
      <p:sp>
        <p:nvSpPr>
          <p:cNvPr id="55299" name="Rectangle 30">
            <a:extLst>
              <a:ext uri="{FF2B5EF4-FFF2-40B4-BE49-F238E27FC236}">
                <a16:creationId xmlns:a16="http://schemas.microsoft.com/office/drawing/2014/main" id="{EF872410-4A7A-49A5-B3E7-314BA85FAB1F}"/>
              </a:ext>
            </a:extLst>
          </p:cNvPr>
          <p:cNvSpPr>
            <a:spLocks noGrp="1" noChangeArrowheads="1"/>
          </p:cNvSpPr>
          <p:nvPr>
            <p:ph type="title"/>
          </p:nvPr>
        </p:nvSpPr>
        <p:spPr>
          <a:xfrm>
            <a:off x="282575" y="525463"/>
            <a:ext cx="8469312" cy="504825"/>
          </a:xfrm>
        </p:spPr>
        <p:txBody>
          <a:bodyPr>
            <a:normAutofit fontScale="90000"/>
          </a:bodyPr>
          <a:lstStyle/>
          <a:p>
            <a:pPr eaLnBrk="1" hangingPunct="1"/>
            <a:r>
              <a:rPr lang="en-US" altLang="zh-CN" b="0" dirty="0">
                <a:latin typeface="隶书" panose="02010509060101010101" pitchFamily="49" charset="-122"/>
                <a:ea typeface="隶书" panose="02010509060101010101" pitchFamily="49" charset="-122"/>
              </a:rPr>
              <a:t>4.3 </a:t>
            </a:r>
            <a:r>
              <a:rPr lang="en-US" altLang="zh-CN" dirty="0">
                <a:hlinkClick r:id="rId2" action="ppaction://hlinksldjump"/>
              </a:rPr>
              <a:t>IAP15W4K58S4</a:t>
            </a:r>
            <a:r>
              <a:rPr lang="zh-CN" altLang="zh-CN" dirty="0">
                <a:hlinkClick r:id="rId2" action="ppaction://hlinksldjump"/>
              </a:rPr>
              <a:t>单片机</a:t>
            </a:r>
            <a:r>
              <a:rPr lang="zh-CN" altLang="zh-CN" dirty="0"/>
              <a:t>的存储器</a:t>
            </a:r>
            <a:endParaRPr kumimoji="1" lang="zh-CN" altLang="en-US" dirty="0"/>
          </a:p>
        </p:txBody>
      </p:sp>
      <p:graphicFrame>
        <p:nvGraphicFramePr>
          <p:cNvPr id="55302" name="Object 10">
            <a:extLst>
              <a:ext uri="{FF2B5EF4-FFF2-40B4-BE49-F238E27FC236}">
                <a16:creationId xmlns:a16="http://schemas.microsoft.com/office/drawing/2014/main" id="{2982625D-2967-40A4-8EFC-B3C905B6D8B0}"/>
              </a:ext>
            </a:extLst>
          </p:cNvPr>
          <p:cNvGraphicFramePr>
            <a:graphicFrameLocks noChangeAspect="1"/>
          </p:cNvGraphicFramePr>
          <p:nvPr/>
        </p:nvGraphicFramePr>
        <p:xfrm>
          <a:off x="73025" y="3082925"/>
          <a:ext cx="8888413" cy="3309938"/>
        </p:xfrm>
        <a:graphic>
          <a:graphicData uri="http://schemas.openxmlformats.org/presentationml/2006/ole">
            <mc:AlternateContent xmlns:mc="http://schemas.openxmlformats.org/markup-compatibility/2006">
              <mc:Choice xmlns:v="urn:schemas-microsoft-com:vml" Requires="v">
                <p:oleObj name="Visio" r:id="rId3" imgW="3893630" imgH="1218152" progId="Visio.Drawing.11">
                  <p:embed/>
                </p:oleObj>
              </mc:Choice>
              <mc:Fallback>
                <p:oleObj name="Visio" r:id="rId3" imgW="3893630" imgH="1218152" progId="Visio.Drawing.11">
                  <p:embed/>
                  <p:pic>
                    <p:nvPicPr>
                      <p:cNvPr id="55302" name="Object 10">
                        <a:extLst>
                          <a:ext uri="{FF2B5EF4-FFF2-40B4-BE49-F238E27FC236}">
                            <a16:creationId xmlns:a16="http://schemas.microsoft.com/office/drawing/2014/main" id="{2982625D-2967-40A4-8EFC-B3C905B6D8B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25" y="3082925"/>
                        <a:ext cx="8888413" cy="330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a:extLst>
              <a:ext uri="{FF2B5EF4-FFF2-40B4-BE49-F238E27FC236}">
                <a16:creationId xmlns:a16="http://schemas.microsoft.com/office/drawing/2014/main" id="{A0F09A90-DB60-4C60-8289-C6B2228F6756}"/>
              </a:ext>
            </a:extLst>
          </p:cNvPr>
          <p:cNvSpPr>
            <a:spLocks noChangeArrowheads="1"/>
          </p:cNvSpPr>
          <p:nvPr/>
        </p:nvSpPr>
        <p:spPr bwMode="auto">
          <a:xfrm>
            <a:off x="3106738" y="2687638"/>
            <a:ext cx="2365375" cy="369887"/>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1" hangingPunct="1">
              <a:defRPr/>
            </a:pPr>
            <a:r>
              <a:rPr lang="zh-CN" altLang="en-US" sz="2400" spc="-150" dirty="0">
                <a:solidFill>
                  <a:srgbClr val="0000FF"/>
                </a:solidFill>
              </a:rPr>
              <a:t>用</a:t>
            </a:r>
            <a:r>
              <a:rPr lang="en-US" altLang="zh-CN" sz="2400" spc="-150" dirty="0">
                <a:solidFill>
                  <a:srgbClr val="FF0000"/>
                </a:solidFill>
              </a:rPr>
              <a:t>MOV</a:t>
            </a:r>
            <a:r>
              <a:rPr lang="zh-CN" altLang="en-US" sz="2400" spc="-150" dirty="0">
                <a:solidFill>
                  <a:srgbClr val="0000FF"/>
                </a:solidFill>
              </a:rPr>
              <a:t>指令访问</a:t>
            </a:r>
          </a:p>
        </p:txBody>
      </p:sp>
      <p:sp>
        <p:nvSpPr>
          <p:cNvPr id="8" name="Rectangle 6">
            <a:extLst>
              <a:ext uri="{FF2B5EF4-FFF2-40B4-BE49-F238E27FC236}">
                <a16:creationId xmlns:a16="http://schemas.microsoft.com/office/drawing/2014/main" id="{17E5C905-6591-4876-BC76-5BA3210252B2}"/>
              </a:ext>
            </a:extLst>
          </p:cNvPr>
          <p:cNvSpPr>
            <a:spLocks noChangeArrowheads="1"/>
          </p:cNvSpPr>
          <p:nvPr/>
        </p:nvSpPr>
        <p:spPr bwMode="auto">
          <a:xfrm>
            <a:off x="5997575" y="2689225"/>
            <a:ext cx="2940050" cy="62865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1" hangingPunct="1">
              <a:lnSpc>
                <a:spcPct val="85000"/>
              </a:lnSpc>
              <a:defRPr/>
            </a:pPr>
            <a:r>
              <a:rPr lang="zh-CN" altLang="en-US" sz="2400" spc="-300" dirty="0">
                <a:solidFill>
                  <a:srgbClr val="0000FF"/>
                </a:solidFill>
              </a:rPr>
              <a:t>物理上在片内</a:t>
            </a:r>
            <a:r>
              <a:rPr lang="en-US" altLang="zh-CN" sz="2400" spc="-300" dirty="0">
                <a:solidFill>
                  <a:srgbClr val="0000FF"/>
                </a:solidFill>
              </a:rPr>
              <a:t>, </a:t>
            </a:r>
            <a:r>
              <a:rPr lang="zh-CN" altLang="en-US" sz="2400" spc="-300" dirty="0">
                <a:solidFill>
                  <a:srgbClr val="0000FF"/>
                </a:solidFill>
              </a:rPr>
              <a:t>逻辑上属于外部</a:t>
            </a:r>
            <a:r>
              <a:rPr lang="en-US" altLang="zh-CN" sz="2400" spc="-300" dirty="0">
                <a:solidFill>
                  <a:srgbClr val="0000FF"/>
                </a:solidFill>
              </a:rPr>
              <a:t>, </a:t>
            </a:r>
            <a:r>
              <a:rPr lang="zh-CN" altLang="en-US" sz="2400" spc="-300" dirty="0">
                <a:solidFill>
                  <a:srgbClr val="0000FF"/>
                </a:solidFill>
              </a:rPr>
              <a:t>用</a:t>
            </a:r>
            <a:r>
              <a:rPr lang="en-US" altLang="zh-CN" sz="2400" spc="-300" dirty="0">
                <a:solidFill>
                  <a:srgbClr val="FF0000"/>
                </a:solidFill>
              </a:rPr>
              <a:t>MOVX</a:t>
            </a:r>
            <a:r>
              <a:rPr lang="zh-CN" altLang="en-US" sz="2400" spc="-300" dirty="0">
                <a:solidFill>
                  <a:srgbClr val="0000FF"/>
                </a:solidFill>
              </a:rPr>
              <a:t>访问</a:t>
            </a:r>
          </a:p>
        </p:txBody>
      </p:sp>
      <p:cxnSp>
        <p:nvCxnSpPr>
          <p:cNvPr id="9" name="直接箭头连接符 8">
            <a:extLst>
              <a:ext uri="{FF2B5EF4-FFF2-40B4-BE49-F238E27FC236}">
                <a16:creationId xmlns:a16="http://schemas.microsoft.com/office/drawing/2014/main" id="{4FE16E12-DB6D-4D15-AF3B-FEFA8C31C341}"/>
              </a:ext>
            </a:extLst>
          </p:cNvPr>
          <p:cNvCxnSpPr>
            <a:cxnSpLocks/>
          </p:cNvCxnSpPr>
          <p:nvPr/>
        </p:nvCxnSpPr>
        <p:spPr bwMode="auto">
          <a:xfrm>
            <a:off x="4070350" y="2376488"/>
            <a:ext cx="79375" cy="317500"/>
          </a:xfrm>
          <a:prstGeom prst="straightConnector1">
            <a:avLst/>
          </a:prstGeom>
          <a:noFill/>
          <a:ln w="28575"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箭头连接符 9">
            <a:extLst>
              <a:ext uri="{FF2B5EF4-FFF2-40B4-BE49-F238E27FC236}">
                <a16:creationId xmlns:a16="http://schemas.microsoft.com/office/drawing/2014/main" id="{2C864B23-C600-46AD-AD0E-C501202208D6}"/>
              </a:ext>
            </a:extLst>
          </p:cNvPr>
          <p:cNvCxnSpPr>
            <a:cxnSpLocks/>
          </p:cNvCxnSpPr>
          <p:nvPr/>
        </p:nvCxnSpPr>
        <p:spPr bwMode="auto">
          <a:xfrm>
            <a:off x="7108825" y="2389188"/>
            <a:ext cx="68263" cy="266700"/>
          </a:xfrm>
          <a:prstGeom prst="straightConnector1">
            <a:avLst/>
          </a:prstGeom>
          <a:noFill/>
          <a:ln w="28575"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Rectangle 6">
            <a:extLst>
              <a:ext uri="{FF2B5EF4-FFF2-40B4-BE49-F238E27FC236}">
                <a16:creationId xmlns:a16="http://schemas.microsoft.com/office/drawing/2014/main" id="{F39CB9CA-2E25-4E16-A430-A03770D3F45E}"/>
              </a:ext>
            </a:extLst>
          </p:cNvPr>
          <p:cNvSpPr>
            <a:spLocks noChangeArrowheads="1"/>
          </p:cNvSpPr>
          <p:nvPr/>
        </p:nvSpPr>
        <p:spPr bwMode="auto">
          <a:xfrm>
            <a:off x="73025" y="2693988"/>
            <a:ext cx="2873375" cy="368300"/>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spAutoFit/>
          </a:bodyPr>
          <a:lstStyle/>
          <a:p>
            <a:pPr algn="ctr" eaLnBrk="1" hangingPunct="1">
              <a:defRPr/>
            </a:pPr>
            <a:r>
              <a:rPr lang="zh-CN" altLang="en-US" sz="2400" spc="-150" dirty="0">
                <a:solidFill>
                  <a:srgbClr val="0000FF"/>
                </a:solidFill>
              </a:rPr>
              <a:t>数据用</a:t>
            </a:r>
            <a:r>
              <a:rPr lang="en-US" altLang="zh-CN" sz="2400" spc="-150" dirty="0">
                <a:solidFill>
                  <a:srgbClr val="FF0000"/>
                </a:solidFill>
              </a:rPr>
              <a:t>MOVC</a:t>
            </a:r>
            <a:r>
              <a:rPr lang="zh-CN" altLang="en-US" sz="2400" spc="-150" dirty="0">
                <a:solidFill>
                  <a:srgbClr val="0000FF"/>
                </a:solidFill>
              </a:rPr>
              <a:t>指令访问</a:t>
            </a:r>
          </a:p>
        </p:txBody>
      </p:sp>
      <p:cxnSp>
        <p:nvCxnSpPr>
          <p:cNvPr id="20" name="直接箭头连接符 19">
            <a:extLst>
              <a:ext uri="{FF2B5EF4-FFF2-40B4-BE49-F238E27FC236}">
                <a16:creationId xmlns:a16="http://schemas.microsoft.com/office/drawing/2014/main" id="{BDA2B720-21DF-4E2E-A50B-D450B508152B}"/>
              </a:ext>
            </a:extLst>
          </p:cNvPr>
          <p:cNvCxnSpPr>
            <a:cxnSpLocks/>
          </p:cNvCxnSpPr>
          <p:nvPr/>
        </p:nvCxnSpPr>
        <p:spPr bwMode="auto">
          <a:xfrm>
            <a:off x="1147763" y="2368550"/>
            <a:ext cx="58737" cy="282575"/>
          </a:xfrm>
          <a:prstGeom prst="straightConnector1">
            <a:avLst/>
          </a:prstGeom>
          <a:noFill/>
          <a:ln w="28575"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灯片编号占位符 1">
            <a:extLst>
              <a:ext uri="{FF2B5EF4-FFF2-40B4-BE49-F238E27FC236}">
                <a16:creationId xmlns:a16="http://schemas.microsoft.com/office/drawing/2014/main" id="{FDEB74BD-A5A0-43BA-A3F4-9DA8295596DD}"/>
              </a:ext>
            </a:extLst>
          </p:cNvPr>
          <p:cNvSpPr>
            <a:spLocks noGrp="1"/>
          </p:cNvSpPr>
          <p:nvPr>
            <p:ph type="sldNum" sz="quarter" idx="12"/>
          </p:nvPr>
        </p:nvSpPr>
        <p:spPr/>
        <p:txBody>
          <a:bodyPr/>
          <a:lstStyle/>
          <a:p>
            <a:fld id="{22E77DEE-32E4-4009-988B-F2758F7B8AC2}" type="slidenum">
              <a:rPr lang="zh-CN" altLang="en-US" smtClean="0"/>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3">
            <a:extLst>
              <a:ext uri="{FF2B5EF4-FFF2-40B4-BE49-F238E27FC236}">
                <a16:creationId xmlns:a16="http://schemas.microsoft.com/office/drawing/2014/main" id="{EADB3A08-76D1-4496-851E-3713BB0A5DC5}"/>
              </a:ext>
            </a:extLst>
          </p:cNvPr>
          <p:cNvSpPr>
            <a:spLocks noGrp="1" noChangeArrowheads="1"/>
          </p:cNvSpPr>
          <p:nvPr>
            <p:ph type="title"/>
          </p:nvPr>
        </p:nvSpPr>
        <p:spPr>
          <a:xfrm>
            <a:off x="588291" y="447675"/>
            <a:ext cx="8229600" cy="504825"/>
          </a:xfrm>
        </p:spPr>
        <p:txBody>
          <a:bodyPr>
            <a:normAutofit fontScale="90000"/>
          </a:bodyPr>
          <a:lstStyle/>
          <a:p>
            <a:pPr eaLnBrk="1" hangingPunct="1"/>
            <a:r>
              <a:rPr lang="zh-CN" altLang="en-US" dirty="0">
                <a:hlinkClick r:id="rId2" action="ppaction://hlinksldjump"/>
              </a:rPr>
              <a:t>数据存储器</a:t>
            </a:r>
            <a:endParaRPr lang="zh-CN" altLang="en-US" dirty="0"/>
          </a:p>
        </p:txBody>
      </p:sp>
      <p:sp>
        <p:nvSpPr>
          <p:cNvPr id="471043" name="Rectangle 3">
            <a:extLst>
              <a:ext uri="{FF2B5EF4-FFF2-40B4-BE49-F238E27FC236}">
                <a16:creationId xmlns:a16="http://schemas.microsoft.com/office/drawing/2014/main" id="{4BE4760B-AA3F-46E8-8C6D-99F50928DBFE}"/>
              </a:ext>
            </a:extLst>
          </p:cNvPr>
          <p:cNvSpPr>
            <a:spLocks noGrp="1" noChangeArrowheads="1"/>
          </p:cNvSpPr>
          <p:nvPr>
            <p:ph idx="1"/>
          </p:nvPr>
        </p:nvSpPr>
        <p:spPr>
          <a:xfrm>
            <a:off x="174625" y="1297062"/>
            <a:ext cx="8824913" cy="2690738"/>
          </a:xfrm>
          <a:solidFill>
            <a:schemeClr val="bg1"/>
          </a:solidFill>
        </p:spPr>
        <p:txBody>
          <a:bodyPr/>
          <a:lstStyle/>
          <a:p>
            <a:pPr eaLnBrk="1" hangingPunct="1">
              <a:lnSpc>
                <a:spcPct val="105000"/>
              </a:lnSpc>
              <a:spcBef>
                <a:spcPts val="0"/>
              </a:spcBef>
              <a:buFontTx/>
              <a:buNone/>
              <a:defRPr/>
            </a:pPr>
            <a:r>
              <a:rPr lang="zh-CN" altLang="en-US" dirty="0"/>
              <a:t>数据存储器也称为</a:t>
            </a:r>
            <a:r>
              <a:rPr lang="zh-CN" altLang="en-US" dirty="0">
                <a:solidFill>
                  <a:srgbClr val="9900CC"/>
                </a:solidFill>
              </a:rPr>
              <a:t>随机存取数据存储器</a:t>
            </a:r>
            <a:r>
              <a:rPr lang="en-US" altLang="zh-CN" dirty="0">
                <a:solidFill>
                  <a:srgbClr val="9900CC"/>
                </a:solidFill>
              </a:rPr>
              <a:t>(RAM)</a:t>
            </a:r>
            <a:r>
              <a:rPr lang="zh-CN" altLang="en-US" dirty="0"/>
              <a:t>。</a:t>
            </a:r>
          </a:p>
          <a:p>
            <a:pPr eaLnBrk="1" hangingPunct="1">
              <a:lnSpc>
                <a:spcPct val="105000"/>
              </a:lnSpc>
              <a:spcBef>
                <a:spcPts val="0"/>
              </a:spcBef>
              <a:defRPr/>
            </a:pPr>
            <a:r>
              <a:rPr lang="zh-CN" altLang="en-US" dirty="0">
                <a:solidFill>
                  <a:srgbClr val="CC3300"/>
                </a:solidFill>
              </a:rPr>
              <a:t>空间划分</a:t>
            </a:r>
            <a:endParaRPr lang="en-US" altLang="zh-CN" dirty="0">
              <a:solidFill>
                <a:srgbClr val="CC3300"/>
              </a:solidFill>
            </a:endParaRPr>
          </a:p>
          <a:p>
            <a:pPr marL="363538" indent="0" eaLnBrk="1" hangingPunct="1">
              <a:lnSpc>
                <a:spcPct val="105000"/>
              </a:lnSpc>
              <a:spcBef>
                <a:spcPts val="0"/>
              </a:spcBef>
              <a:buFontTx/>
              <a:buNone/>
              <a:defRPr/>
            </a:pPr>
            <a:r>
              <a:rPr lang="zh-CN" altLang="en-US" dirty="0"/>
              <a:t>在物理上和逻辑上都分为两个地址空间：</a:t>
            </a:r>
            <a:r>
              <a:rPr lang="zh-CN" altLang="en-US" dirty="0">
                <a:solidFill>
                  <a:srgbClr val="FF00FF"/>
                </a:solidFill>
              </a:rPr>
              <a:t>内部</a:t>
            </a:r>
            <a:r>
              <a:rPr lang="zh-CN" altLang="en-US" dirty="0"/>
              <a:t>数据存储区和</a:t>
            </a:r>
            <a:r>
              <a:rPr lang="zh-CN" altLang="en-US" dirty="0">
                <a:solidFill>
                  <a:srgbClr val="FF00FF"/>
                </a:solidFill>
              </a:rPr>
              <a:t>扩展</a:t>
            </a:r>
            <a:r>
              <a:rPr lang="zh-CN" altLang="en-US" dirty="0"/>
              <a:t>数据存储区 。</a:t>
            </a:r>
            <a:endParaRPr lang="en-US" altLang="zh-CN" dirty="0"/>
          </a:p>
          <a:p>
            <a:pPr marL="342900" lvl="1" indent="-342900" algn="l" eaLnBrk="1" hangingPunct="1">
              <a:lnSpc>
                <a:spcPct val="105000"/>
              </a:lnSpc>
              <a:spcBef>
                <a:spcPts val="0"/>
              </a:spcBef>
              <a:spcAft>
                <a:spcPts val="600"/>
              </a:spcAft>
              <a:buFontTx/>
              <a:buBlip>
                <a:blip r:embed="rId3"/>
              </a:buBlip>
              <a:defRPr/>
            </a:pPr>
            <a:r>
              <a:rPr lang="zh-CN" altLang="en-US" dirty="0">
                <a:solidFill>
                  <a:srgbClr val="FF00FF"/>
                </a:solidFill>
              </a:rPr>
              <a:t>（</a:t>
            </a:r>
            <a:r>
              <a:rPr lang="en-US" altLang="zh-CN" dirty="0">
                <a:solidFill>
                  <a:srgbClr val="FF00FF"/>
                </a:solidFill>
              </a:rPr>
              <a:t>1</a:t>
            </a:r>
            <a:r>
              <a:rPr lang="zh-CN" altLang="en-US" dirty="0">
                <a:solidFill>
                  <a:srgbClr val="FF00FF"/>
                </a:solidFill>
              </a:rPr>
              <a:t>）内部数据存储区（又称为内部</a:t>
            </a:r>
            <a:r>
              <a:rPr lang="en-US" altLang="zh-CN" dirty="0">
                <a:solidFill>
                  <a:srgbClr val="FF00FF"/>
                </a:solidFill>
              </a:rPr>
              <a:t>RAM</a:t>
            </a:r>
            <a:r>
              <a:rPr lang="zh-CN" altLang="en-US" dirty="0">
                <a:solidFill>
                  <a:srgbClr val="FF00FF"/>
                </a:solidFill>
              </a:rPr>
              <a:t>）</a:t>
            </a:r>
          </a:p>
          <a:p>
            <a:pPr marL="342900" lvl="1" indent="-342900" algn="l" eaLnBrk="1" hangingPunct="1">
              <a:lnSpc>
                <a:spcPct val="105000"/>
              </a:lnSpc>
              <a:spcBef>
                <a:spcPts val="0"/>
              </a:spcBef>
              <a:spcAft>
                <a:spcPts val="600"/>
              </a:spcAft>
              <a:buFontTx/>
              <a:buBlip>
                <a:blip r:embed="rId3"/>
              </a:buBlip>
              <a:defRPr/>
            </a:pPr>
            <a:r>
              <a:rPr lang="en-US" altLang="zh-CN" dirty="0"/>
              <a:t>256</a:t>
            </a:r>
            <a:r>
              <a:rPr lang="zh-CN" altLang="en-US" dirty="0"/>
              <a:t>字节内部</a:t>
            </a:r>
            <a:r>
              <a:rPr lang="en-US" altLang="zh-CN" dirty="0"/>
              <a:t>RAM,</a:t>
            </a:r>
            <a:r>
              <a:rPr lang="zh-CN" altLang="en-US" dirty="0"/>
              <a:t>存放中间结果和过程数据。内部</a:t>
            </a:r>
            <a:r>
              <a:rPr lang="en-US" altLang="zh-CN" dirty="0"/>
              <a:t>RAM</a:t>
            </a:r>
            <a:r>
              <a:rPr lang="zh-CN" altLang="en-US" dirty="0"/>
              <a:t>地址范围是</a:t>
            </a:r>
            <a:r>
              <a:rPr lang="en-US" altLang="zh-CN" dirty="0"/>
              <a:t>00H</a:t>
            </a:r>
            <a:r>
              <a:rPr lang="zh-CN" altLang="en-US" dirty="0"/>
              <a:t>～</a:t>
            </a:r>
            <a:r>
              <a:rPr lang="en-US" altLang="zh-CN" dirty="0"/>
              <a:t>FFH,</a:t>
            </a:r>
            <a:r>
              <a:rPr lang="zh-CN" altLang="en-US" dirty="0"/>
              <a:t>共</a:t>
            </a:r>
            <a:r>
              <a:rPr lang="en-US" altLang="zh-CN" dirty="0"/>
              <a:t>256(</a:t>
            </a:r>
            <a:r>
              <a:rPr lang="en-US" altLang="zh-CN" dirty="0">
                <a:solidFill>
                  <a:srgbClr val="0000FF"/>
                </a:solidFill>
              </a:rPr>
              <a:t>+128</a:t>
            </a:r>
            <a:r>
              <a:rPr lang="en-US" altLang="zh-CN" dirty="0"/>
              <a:t>)</a:t>
            </a:r>
            <a:r>
              <a:rPr lang="zh-CN" altLang="en-US" dirty="0"/>
              <a:t>个单元</a:t>
            </a:r>
            <a:r>
              <a:rPr lang="en-US" altLang="zh-CN" dirty="0"/>
              <a:t>,</a:t>
            </a:r>
            <a:r>
              <a:rPr lang="zh-CN" altLang="en-US" dirty="0">
                <a:solidFill>
                  <a:srgbClr val="FF0000"/>
                </a:solidFill>
              </a:rPr>
              <a:t>分三部分：</a:t>
            </a:r>
          </a:p>
          <a:p>
            <a:pPr marL="536575" lvl="1" indent="-361950" algn="l" eaLnBrk="1" hangingPunct="1">
              <a:lnSpc>
                <a:spcPct val="105000"/>
              </a:lnSpc>
              <a:spcBef>
                <a:spcPts val="0"/>
              </a:spcBef>
              <a:spcAft>
                <a:spcPts val="600"/>
              </a:spcAft>
              <a:buFontTx/>
              <a:buNone/>
              <a:defRPr/>
            </a:pPr>
            <a:r>
              <a:rPr lang="zh-CN" altLang="en-US" dirty="0">
                <a:solidFill>
                  <a:srgbClr val="CC3300"/>
                </a:solidFill>
              </a:rPr>
              <a:t>①低</a:t>
            </a:r>
            <a:r>
              <a:rPr lang="en-US" altLang="zh-CN" dirty="0">
                <a:solidFill>
                  <a:srgbClr val="CC3300"/>
                </a:solidFill>
              </a:rPr>
              <a:t>128</a:t>
            </a:r>
            <a:r>
              <a:rPr lang="zh-CN" altLang="en-US" dirty="0">
                <a:solidFill>
                  <a:srgbClr val="CC3300"/>
                </a:solidFill>
              </a:rPr>
              <a:t>字节</a:t>
            </a:r>
            <a:r>
              <a:rPr lang="en-US" altLang="zh-CN" dirty="0">
                <a:solidFill>
                  <a:srgbClr val="CC3300"/>
                </a:solidFill>
              </a:rPr>
              <a:t>RAM</a:t>
            </a:r>
            <a:r>
              <a:rPr lang="en-US" altLang="zh-CN" dirty="0"/>
              <a:t>(00H</a:t>
            </a:r>
            <a:r>
              <a:rPr lang="zh-CN" altLang="en-US" dirty="0"/>
              <a:t>～</a:t>
            </a:r>
            <a:r>
              <a:rPr lang="en-US" altLang="zh-CN" dirty="0"/>
              <a:t>7FH)</a:t>
            </a:r>
            <a:endParaRPr lang="zh-CN" altLang="en-US" dirty="0"/>
          </a:p>
        </p:txBody>
      </p:sp>
      <p:sp>
        <p:nvSpPr>
          <p:cNvPr id="8" name="Rectangle 3">
            <a:extLst>
              <a:ext uri="{FF2B5EF4-FFF2-40B4-BE49-F238E27FC236}">
                <a16:creationId xmlns:a16="http://schemas.microsoft.com/office/drawing/2014/main" id="{E0E7750D-4D26-48FA-9F68-33DE113A8BE8}"/>
              </a:ext>
            </a:extLst>
          </p:cNvPr>
          <p:cNvSpPr txBox="1">
            <a:spLocks noChangeArrowheads="1"/>
          </p:cNvSpPr>
          <p:nvPr/>
        </p:nvSpPr>
        <p:spPr bwMode="auto">
          <a:xfrm>
            <a:off x="246734" y="3998082"/>
            <a:ext cx="8128000" cy="13874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3"/>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l" eaLnBrk="1" hangingPunct="1">
              <a:lnSpc>
                <a:spcPct val="114000"/>
              </a:lnSpc>
              <a:spcBef>
                <a:spcPts val="0"/>
              </a:spcBef>
              <a:spcAft>
                <a:spcPts val="900"/>
              </a:spcAft>
              <a:buFontTx/>
              <a:buNone/>
              <a:defRPr/>
            </a:pPr>
            <a:r>
              <a:rPr lang="zh-CN" altLang="en-US" kern="0" dirty="0">
                <a:solidFill>
                  <a:srgbClr val="CC3300"/>
                </a:solidFill>
              </a:rPr>
              <a:t>②高</a:t>
            </a:r>
            <a:r>
              <a:rPr lang="en-US" altLang="zh-CN" kern="0" dirty="0">
                <a:solidFill>
                  <a:srgbClr val="CC3300"/>
                </a:solidFill>
              </a:rPr>
              <a:t>128</a:t>
            </a:r>
            <a:r>
              <a:rPr lang="zh-CN" altLang="en-US" kern="0" dirty="0">
                <a:solidFill>
                  <a:srgbClr val="CC3300"/>
                </a:solidFill>
              </a:rPr>
              <a:t>字节</a:t>
            </a:r>
            <a:r>
              <a:rPr lang="en-US" altLang="zh-CN" kern="0" dirty="0">
                <a:solidFill>
                  <a:srgbClr val="CC3300"/>
                </a:solidFill>
              </a:rPr>
              <a:t>RAM</a:t>
            </a:r>
            <a:r>
              <a:rPr lang="zh-CN" altLang="en-US" kern="0" dirty="0"/>
              <a:t>（</a:t>
            </a:r>
            <a:r>
              <a:rPr lang="en-US" altLang="zh-CN" kern="0" dirty="0">
                <a:solidFill>
                  <a:srgbClr val="9900CC"/>
                </a:solidFill>
              </a:rPr>
              <a:t>80H</a:t>
            </a:r>
            <a:r>
              <a:rPr lang="zh-CN" altLang="en-US" kern="0" dirty="0">
                <a:solidFill>
                  <a:srgbClr val="9900CC"/>
                </a:solidFill>
              </a:rPr>
              <a:t>～</a:t>
            </a:r>
            <a:r>
              <a:rPr lang="en-US" altLang="zh-CN" kern="0" dirty="0">
                <a:solidFill>
                  <a:srgbClr val="9900CC"/>
                </a:solidFill>
              </a:rPr>
              <a:t>FFH</a:t>
            </a:r>
            <a:r>
              <a:rPr lang="zh-CN" altLang="en-US" kern="0" dirty="0"/>
              <a:t>）</a:t>
            </a:r>
          </a:p>
          <a:p>
            <a:pPr marL="0" lvl="1" indent="0" algn="l" eaLnBrk="1" hangingPunct="1">
              <a:lnSpc>
                <a:spcPct val="114000"/>
              </a:lnSpc>
              <a:spcBef>
                <a:spcPts val="0"/>
              </a:spcBef>
              <a:spcAft>
                <a:spcPts val="900"/>
              </a:spcAft>
              <a:buFontTx/>
              <a:buNone/>
              <a:defRPr/>
            </a:pPr>
            <a:r>
              <a:rPr lang="zh-CN" altLang="en-US" kern="0" dirty="0">
                <a:solidFill>
                  <a:srgbClr val="CC3300"/>
                </a:solidFill>
              </a:rPr>
              <a:t>③特殊功能寄存器</a:t>
            </a:r>
            <a:r>
              <a:rPr lang="en-US" altLang="zh-CN" kern="0" dirty="0"/>
              <a:t>(SFR)</a:t>
            </a:r>
            <a:r>
              <a:rPr lang="zh-CN" altLang="en-US" kern="0" dirty="0"/>
              <a:t>区</a:t>
            </a:r>
            <a:r>
              <a:rPr lang="en-US" altLang="zh-CN" kern="0" dirty="0"/>
              <a:t>: </a:t>
            </a:r>
            <a:r>
              <a:rPr lang="zh-CN" altLang="en-US" dirty="0">
                <a:solidFill>
                  <a:srgbClr val="9900CC"/>
                </a:solidFill>
              </a:rPr>
              <a:t>地址范围为</a:t>
            </a:r>
            <a:r>
              <a:rPr lang="en-US" altLang="zh-CN" dirty="0">
                <a:solidFill>
                  <a:srgbClr val="9900CC"/>
                </a:solidFill>
              </a:rPr>
              <a:t>80H</a:t>
            </a:r>
            <a:r>
              <a:rPr lang="zh-CN" altLang="en-US" dirty="0">
                <a:solidFill>
                  <a:srgbClr val="9900CC"/>
                </a:solidFill>
              </a:rPr>
              <a:t>～</a:t>
            </a:r>
            <a:r>
              <a:rPr lang="en-US" altLang="zh-CN" dirty="0">
                <a:solidFill>
                  <a:srgbClr val="9900CC"/>
                </a:solidFill>
              </a:rPr>
              <a:t>FFH</a:t>
            </a:r>
            <a:endParaRPr lang="zh-CN" altLang="en-US" kern="0" dirty="0">
              <a:solidFill>
                <a:srgbClr val="9900CC"/>
              </a:solidFill>
            </a:endParaRPr>
          </a:p>
        </p:txBody>
      </p:sp>
      <p:sp>
        <p:nvSpPr>
          <p:cNvPr id="7" name="Rectangle 3">
            <a:extLst>
              <a:ext uri="{FF2B5EF4-FFF2-40B4-BE49-F238E27FC236}">
                <a16:creationId xmlns:a16="http://schemas.microsoft.com/office/drawing/2014/main" id="{6B7309C8-25B5-424A-AAE1-40E4E10DB14B}"/>
              </a:ext>
            </a:extLst>
          </p:cNvPr>
          <p:cNvSpPr txBox="1">
            <a:spLocks noChangeArrowheads="1"/>
          </p:cNvSpPr>
          <p:nvPr/>
        </p:nvSpPr>
        <p:spPr bwMode="auto">
          <a:xfrm>
            <a:off x="5901189" y="3193458"/>
            <a:ext cx="2395538" cy="9096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3"/>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ctr" eaLnBrk="1" hangingPunct="1">
              <a:lnSpc>
                <a:spcPct val="85000"/>
              </a:lnSpc>
              <a:spcBef>
                <a:spcPts val="0"/>
              </a:spcBef>
              <a:spcAft>
                <a:spcPts val="0"/>
              </a:spcAft>
              <a:buFontTx/>
              <a:buNone/>
              <a:defRPr/>
            </a:pPr>
            <a:r>
              <a:rPr lang="zh-CN" altLang="en-US" sz="2400" dirty="0">
                <a:solidFill>
                  <a:srgbClr val="3333FF"/>
                </a:solidFill>
              </a:rPr>
              <a:t>地址重叠</a:t>
            </a:r>
            <a:r>
              <a:rPr lang="en-US" altLang="zh-CN" sz="2400" dirty="0">
                <a:solidFill>
                  <a:srgbClr val="3333FF"/>
                </a:solidFill>
              </a:rPr>
              <a:t>,</a:t>
            </a:r>
          </a:p>
          <a:p>
            <a:pPr marL="0" lvl="1" indent="0" algn="ctr" eaLnBrk="1" hangingPunct="1">
              <a:lnSpc>
                <a:spcPct val="85000"/>
              </a:lnSpc>
              <a:spcBef>
                <a:spcPts val="0"/>
              </a:spcBef>
              <a:spcAft>
                <a:spcPts val="0"/>
              </a:spcAft>
              <a:buFontTx/>
              <a:buNone/>
              <a:defRPr/>
            </a:pPr>
            <a:r>
              <a:rPr lang="zh-CN" altLang="en-US" sz="2400" dirty="0">
                <a:solidFill>
                  <a:srgbClr val="3333FF"/>
                </a:solidFill>
              </a:rPr>
              <a:t>用寻址方式区别</a:t>
            </a:r>
            <a:endParaRPr lang="zh-CN" altLang="en-US" sz="2400" kern="0" dirty="0">
              <a:solidFill>
                <a:srgbClr val="3333FF"/>
              </a:solidFill>
            </a:endParaRPr>
          </a:p>
        </p:txBody>
      </p:sp>
      <p:sp>
        <p:nvSpPr>
          <p:cNvPr id="3" name="右大括号 2">
            <a:extLst>
              <a:ext uri="{FF2B5EF4-FFF2-40B4-BE49-F238E27FC236}">
                <a16:creationId xmlns:a16="http://schemas.microsoft.com/office/drawing/2014/main" id="{3A38ABC5-06CE-4074-959D-864E9337840D}"/>
              </a:ext>
            </a:extLst>
          </p:cNvPr>
          <p:cNvSpPr>
            <a:spLocks/>
          </p:cNvSpPr>
          <p:nvPr/>
        </p:nvSpPr>
        <p:spPr bwMode="auto">
          <a:xfrm rot="16917111">
            <a:off x="6375004" y="2664468"/>
            <a:ext cx="420687" cy="3250079"/>
          </a:xfrm>
          <a:prstGeom prst="rightBrace">
            <a:avLst>
              <a:gd name="adj1" fmla="val 8306"/>
              <a:gd name="adj2" fmla="val 50000"/>
            </a:avLst>
          </a:prstGeom>
          <a:noFill/>
          <a:ln w="9525" algn="ctr">
            <a:solidFill>
              <a:srgbClr val="3333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 name="灯片编号占位符 3">
            <a:extLst>
              <a:ext uri="{FF2B5EF4-FFF2-40B4-BE49-F238E27FC236}">
                <a16:creationId xmlns:a16="http://schemas.microsoft.com/office/drawing/2014/main" id="{3CF20E38-9BF3-4414-9BEC-BA616CF9A647}"/>
              </a:ext>
            </a:extLst>
          </p:cNvPr>
          <p:cNvSpPr>
            <a:spLocks noGrp="1"/>
          </p:cNvSpPr>
          <p:nvPr>
            <p:ph type="sldNum" sz="quarter" idx="12"/>
          </p:nvPr>
        </p:nvSpPr>
        <p:spPr/>
        <p:txBody>
          <a:bodyPr/>
          <a:lstStyle/>
          <a:p>
            <a:fld id="{22E77DEE-32E4-4009-988B-F2758F7B8AC2}" type="slidenum">
              <a:rPr lang="zh-CN" altLang="en-US" smtClean="0"/>
              <a:t>33</a:t>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3">
            <a:extLst>
              <a:ext uri="{FF2B5EF4-FFF2-40B4-BE49-F238E27FC236}">
                <a16:creationId xmlns:a16="http://schemas.microsoft.com/office/drawing/2014/main" id="{E91E080B-811A-4B48-8B61-4BDBA605A973}"/>
              </a:ext>
            </a:extLst>
          </p:cNvPr>
          <p:cNvSpPr>
            <a:spLocks noGrp="1" noChangeArrowheads="1"/>
          </p:cNvSpPr>
          <p:nvPr>
            <p:ph type="title"/>
          </p:nvPr>
        </p:nvSpPr>
        <p:spPr>
          <a:xfrm>
            <a:off x="656273" y="515689"/>
            <a:ext cx="8229600" cy="504825"/>
          </a:xfrm>
        </p:spPr>
        <p:txBody>
          <a:bodyPr>
            <a:normAutofit fontScale="90000"/>
          </a:bodyPr>
          <a:lstStyle/>
          <a:p>
            <a:pPr eaLnBrk="1" hangingPunct="1"/>
            <a:r>
              <a:rPr lang="zh-CN" altLang="en-US" dirty="0">
                <a:hlinkClick r:id="rId2" action="ppaction://hlinksldjump"/>
              </a:rPr>
              <a:t>数据存储器</a:t>
            </a:r>
            <a:endParaRPr lang="zh-CN" altLang="en-US" dirty="0"/>
          </a:p>
        </p:txBody>
      </p:sp>
      <p:sp>
        <p:nvSpPr>
          <p:cNvPr id="471043" name="Rectangle 3">
            <a:extLst>
              <a:ext uri="{FF2B5EF4-FFF2-40B4-BE49-F238E27FC236}">
                <a16:creationId xmlns:a16="http://schemas.microsoft.com/office/drawing/2014/main" id="{2C84DFC6-2FD8-4086-B83C-E434B6400A68}"/>
              </a:ext>
            </a:extLst>
          </p:cNvPr>
          <p:cNvSpPr>
            <a:spLocks noGrp="1" noChangeArrowheads="1"/>
          </p:cNvSpPr>
          <p:nvPr>
            <p:ph idx="1"/>
          </p:nvPr>
        </p:nvSpPr>
        <p:spPr>
          <a:xfrm>
            <a:off x="746759" y="1320800"/>
            <a:ext cx="7518401" cy="3697288"/>
          </a:xfrm>
          <a:solidFill>
            <a:schemeClr val="bg1"/>
          </a:solidFill>
        </p:spPr>
        <p:txBody>
          <a:bodyPr/>
          <a:lstStyle/>
          <a:p>
            <a:pPr marL="0" lvl="1" indent="0" algn="l" eaLnBrk="1" hangingPunct="1">
              <a:lnSpc>
                <a:spcPct val="114000"/>
              </a:lnSpc>
              <a:spcBef>
                <a:spcPts val="0"/>
              </a:spcBef>
              <a:spcAft>
                <a:spcPts val="1200"/>
              </a:spcAft>
              <a:buFontTx/>
              <a:buNone/>
              <a:defRPr/>
            </a:pPr>
            <a:r>
              <a:rPr lang="en-US" altLang="zh-CN" dirty="0">
                <a:solidFill>
                  <a:srgbClr val="FF00FF"/>
                </a:solidFill>
                <a:latin typeface="Times New Roman" panose="02020603050405020304" pitchFamily="18" charset="0"/>
                <a:cs typeface="Times New Roman" panose="02020603050405020304" pitchFamily="18" charset="0"/>
              </a:rPr>
              <a:t>(1)  </a:t>
            </a:r>
            <a:r>
              <a:rPr lang="zh-CN" altLang="en-US" dirty="0">
                <a:solidFill>
                  <a:srgbClr val="FF00FF"/>
                </a:solidFill>
                <a:latin typeface="Times New Roman" panose="02020603050405020304" pitchFamily="18" charset="0"/>
                <a:cs typeface="Times New Roman" panose="02020603050405020304" pitchFamily="18" charset="0"/>
              </a:rPr>
              <a:t>内部数据存储区</a:t>
            </a:r>
            <a:r>
              <a:rPr lang="en-US" altLang="zh-CN" dirty="0">
                <a:solidFill>
                  <a:srgbClr val="FF00FF"/>
                </a:solidFill>
                <a:latin typeface="Times New Roman" panose="02020603050405020304" pitchFamily="18" charset="0"/>
                <a:cs typeface="Times New Roman" panose="02020603050405020304" pitchFamily="18" charset="0"/>
              </a:rPr>
              <a:t>(</a:t>
            </a:r>
            <a:r>
              <a:rPr lang="zh-CN" altLang="en-US" dirty="0">
                <a:solidFill>
                  <a:srgbClr val="FF00FF"/>
                </a:solidFill>
                <a:latin typeface="Times New Roman" panose="02020603050405020304" pitchFamily="18" charset="0"/>
                <a:cs typeface="Times New Roman" panose="02020603050405020304" pitchFamily="18" charset="0"/>
              </a:rPr>
              <a:t>又称为内部</a:t>
            </a:r>
            <a:r>
              <a:rPr lang="en-US" altLang="zh-CN" dirty="0">
                <a:solidFill>
                  <a:srgbClr val="FF00FF"/>
                </a:solidFill>
                <a:latin typeface="Times New Roman" panose="02020603050405020304" pitchFamily="18" charset="0"/>
                <a:cs typeface="Times New Roman" panose="02020603050405020304" pitchFamily="18" charset="0"/>
              </a:rPr>
              <a:t>RAM)</a:t>
            </a:r>
            <a:r>
              <a:rPr lang="zh-CN" altLang="en-US" dirty="0">
                <a:solidFill>
                  <a:srgbClr val="9900CC"/>
                </a:solidFill>
                <a:latin typeface="Times New Roman" panose="02020603050405020304" pitchFamily="18" charset="0"/>
                <a:cs typeface="Times New Roman" panose="02020603050405020304" pitchFamily="18" charset="0"/>
              </a:rPr>
              <a:t>三部分详细介绍：</a:t>
            </a:r>
            <a:endParaRPr lang="en-US" altLang="zh-CN" dirty="0">
              <a:solidFill>
                <a:srgbClr val="9900CC"/>
              </a:solidFill>
              <a:latin typeface="Times New Roman" panose="02020603050405020304" pitchFamily="18" charset="0"/>
              <a:cs typeface="Times New Roman" panose="02020603050405020304" pitchFamily="18" charset="0"/>
            </a:endParaRPr>
          </a:p>
          <a:p>
            <a:pPr marL="342900" lvl="1" indent="-342900" algn="l" eaLnBrk="1" hangingPunct="1">
              <a:lnSpc>
                <a:spcPct val="114000"/>
              </a:lnSpc>
              <a:spcBef>
                <a:spcPts val="0"/>
              </a:spcBef>
              <a:spcAft>
                <a:spcPts val="1200"/>
              </a:spcAft>
              <a:buFontTx/>
              <a:buBlip>
                <a:blip r:embed="rId3"/>
              </a:buBlip>
              <a:defRPr/>
            </a:pPr>
            <a:r>
              <a:rPr lang="zh-CN" altLang="en-US" dirty="0">
                <a:solidFill>
                  <a:srgbClr val="CC3300"/>
                </a:solidFill>
                <a:latin typeface="Times New Roman" panose="02020603050405020304" pitchFamily="18" charset="0"/>
                <a:cs typeface="Times New Roman" panose="02020603050405020304" pitchFamily="18" charset="0"/>
              </a:rPr>
              <a:t>①低</a:t>
            </a:r>
            <a:r>
              <a:rPr lang="en-US" altLang="zh-CN" dirty="0">
                <a:solidFill>
                  <a:srgbClr val="CC3300"/>
                </a:solidFill>
                <a:latin typeface="Times New Roman" panose="02020603050405020304" pitchFamily="18" charset="0"/>
                <a:cs typeface="Times New Roman" panose="02020603050405020304" pitchFamily="18" charset="0"/>
              </a:rPr>
              <a:t>128</a:t>
            </a:r>
            <a:r>
              <a:rPr lang="zh-CN" altLang="en-US" dirty="0">
                <a:solidFill>
                  <a:srgbClr val="CC3300"/>
                </a:solidFill>
                <a:latin typeface="Times New Roman" panose="02020603050405020304" pitchFamily="18" charset="0"/>
                <a:cs typeface="Times New Roman" panose="02020603050405020304" pitchFamily="18" charset="0"/>
              </a:rPr>
              <a:t>字节</a:t>
            </a:r>
            <a:r>
              <a:rPr lang="en-US" altLang="zh-CN" dirty="0">
                <a:solidFill>
                  <a:srgbClr val="CC3300"/>
                </a:solidFill>
                <a:latin typeface="Times New Roman" panose="02020603050405020304" pitchFamily="18" charset="0"/>
                <a:cs typeface="Times New Roman" panose="02020603050405020304" pitchFamily="18" charset="0"/>
              </a:rPr>
              <a:t>RAM</a:t>
            </a:r>
            <a:r>
              <a:rPr lang="en-US" altLang="zh-CN" dirty="0">
                <a:latin typeface="Times New Roman" panose="02020603050405020304" pitchFamily="18" charset="0"/>
                <a:cs typeface="Times New Roman" panose="02020603050405020304" pitchFamily="18" charset="0"/>
              </a:rPr>
              <a:t>(00H</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7FH)</a:t>
            </a:r>
            <a:r>
              <a:rPr lang="zh-CN" altLang="en-US" dirty="0">
                <a:latin typeface="Times New Roman" panose="02020603050405020304" pitchFamily="18" charset="0"/>
                <a:cs typeface="Times New Roman" panose="02020603050405020304" pitchFamily="18" charset="0"/>
              </a:rPr>
              <a:t>：也称为</a:t>
            </a:r>
            <a:r>
              <a:rPr lang="zh-CN" altLang="en-US" dirty="0">
                <a:solidFill>
                  <a:srgbClr val="FF0000"/>
                </a:solidFill>
                <a:latin typeface="Times New Roman" panose="02020603050405020304" pitchFamily="18" charset="0"/>
                <a:cs typeface="Times New Roman" panose="02020603050405020304" pitchFamily="18" charset="0"/>
              </a:rPr>
              <a:t>基本</a:t>
            </a:r>
            <a:r>
              <a:rPr lang="en-US" altLang="zh-CN" dirty="0">
                <a:solidFill>
                  <a:srgbClr val="FF0000"/>
                </a:solidFill>
                <a:latin typeface="Times New Roman" panose="02020603050405020304" pitchFamily="18" charset="0"/>
                <a:cs typeface="Times New Roman" panose="02020603050405020304" pitchFamily="18" charset="0"/>
              </a:rPr>
              <a:t>RAM</a:t>
            </a:r>
            <a:r>
              <a:rPr lang="zh-CN" altLang="en-US" dirty="0">
                <a:solidFill>
                  <a:srgbClr val="FF0000"/>
                </a:solidFill>
                <a:latin typeface="Times New Roman" panose="02020603050405020304" pitchFamily="18" charset="0"/>
                <a:cs typeface="Times New Roman" panose="02020603050405020304" pitchFamily="18" charset="0"/>
              </a:rPr>
              <a:t>区</a:t>
            </a:r>
            <a:r>
              <a:rPr lang="zh-CN" altLang="en-US" dirty="0">
                <a:latin typeface="Times New Roman" panose="02020603050405020304" pitchFamily="18" charset="0"/>
                <a:cs typeface="Times New Roman" panose="02020603050405020304" pitchFamily="18" charset="0"/>
              </a:rPr>
              <a:t>。基本</a:t>
            </a:r>
            <a:r>
              <a:rPr lang="en-US" altLang="zh-CN" dirty="0">
                <a:latin typeface="Times New Roman" panose="02020603050405020304" pitchFamily="18" charset="0"/>
                <a:cs typeface="Times New Roman" panose="02020603050405020304" pitchFamily="18" charset="0"/>
              </a:rPr>
              <a:t>RAM</a:t>
            </a:r>
            <a:r>
              <a:rPr lang="zh-CN" altLang="en-US" dirty="0">
                <a:latin typeface="Times New Roman" panose="02020603050405020304" pitchFamily="18" charset="0"/>
                <a:cs typeface="Times New Roman" panose="02020603050405020304" pitchFamily="18" charset="0"/>
              </a:rPr>
              <a:t>区又分为</a:t>
            </a:r>
            <a:r>
              <a:rPr lang="zh-CN" altLang="en-US" u="sng" dirty="0">
                <a:solidFill>
                  <a:srgbClr val="0000CC"/>
                </a:solidFill>
                <a:latin typeface="Times New Roman" panose="02020603050405020304" pitchFamily="18" charset="0"/>
                <a:cs typeface="Times New Roman" panose="02020603050405020304" pitchFamily="18" charset="0"/>
              </a:rPr>
              <a:t>工作寄存器区</a:t>
            </a:r>
            <a:r>
              <a:rPr lang="zh-CN" altLang="en-US" dirty="0">
                <a:latin typeface="Times New Roman" panose="02020603050405020304" pitchFamily="18" charset="0"/>
                <a:cs typeface="Times New Roman" panose="02020603050405020304" pitchFamily="18" charset="0"/>
              </a:rPr>
              <a:t>、</a:t>
            </a:r>
            <a:r>
              <a:rPr lang="zh-CN" altLang="en-US" u="sng" dirty="0">
                <a:solidFill>
                  <a:srgbClr val="0000CC"/>
                </a:solidFill>
                <a:latin typeface="Times New Roman" panose="02020603050405020304" pitchFamily="18" charset="0"/>
                <a:cs typeface="Times New Roman" panose="02020603050405020304" pitchFamily="18" charset="0"/>
              </a:rPr>
              <a:t>位寻址区</a:t>
            </a:r>
            <a:r>
              <a:rPr lang="zh-CN" altLang="en-US" dirty="0">
                <a:latin typeface="Times New Roman" panose="02020603050405020304" pitchFamily="18" charset="0"/>
                <a:cs typeface="Times New Roman" panose="02020603050405020304" pitchFamily="18" charset="0"/>
              </a:rPr>
              <a:t>、</a:t>
            </a:r>
            <a:r>
              <a:rPr lang="zh-CN" altLang="en-US" u="sng" dirty="0">
                <a:solidFill>
                  <a:srgbClr val="0000CC"/>
                </a:solidFill>
                <a:latin typeface="Times New Roman" panose="02020603050405020304" pitchFamily="18" charset="0"/>
                <a:cs typeface="Times New Roman" panose="02020603050405020304" pitchFamily="18" charset="0"/>
              </a:rPr>
              <a:t>用户</a:t>
            </a:r>
            <a:r>
              <a:rPr lang="en-US" altLang="zh-CN" u="sng" dirty="0">
                <a:solidFill>
                  <a:srgbClr val="0000CC"/>
                </a:solidFill>
                <a:latin typeface="Times New Roman" panose="02020603050405020304" pitchFamily="18" charset="0"/>
                <a:cs typeface="Times New Roman" panose="02020603050405020304" pitchFamily="18" charset="0"/>
              </a:rPr>
              <a:t>RAM</a:t>
            </a:r>
            <a:r>
              <a:rPr lang="zh-CN" altLang="en-US" u="sng" dirty="0">
                <a:latin typeface="Times New Roman" panose="02020603050405020304" pitchFamily="18" charset="0"/>
                <a:cs typeface="Times New Roman" panose="02020603050405020304" pitchFamily="18" charset="0"/>
              </a:rPr>
              <a:t>和</a:t>
            </a:r>
            <a:r>
              <a:rPr lang="zh-CN" altLang="en-US" u="sng" dirty="0">
                <a:solidFill>
                  <a:srgbClr val="0000CC"/>
                </a:solidFill>
                <a:latin typeface="Times New Roman" panose="02020603050405020304" pitchFamily="18" charset="0"/>
                <a:cs typeface="Times New Roman" panose="02020603050405020304" pitchFamily="18" charset="0"/>
              </a:rPr>
              <a:t>堆栈区</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363538" lvl="1" indent="-188913" algn="l" eaLnBrk="1" hangingPunct="1">
              <a:lnSpc>
                <a:spcPct val="114000"/>
              </a:lnSpc>
              <a:spcBef>
                <a:spcPts val="0"/>
              </a:spcBef>
              <a:spcAft>
                <a:spcPts val="1200"/>
              </a:spcAft>
              <a:buClr>
                <a:srgbClr val="0000CC"/>
              </a:buClr>
              <a:buSzPct val="70000"/>
              <a:buFont typeface="Wingdings" panose="05000000000000000000" pitchFamily="2" charset="2"/>
              <a:buChar char="u"/>
              <a:defRPr/>
            </a:pPr>
            <a:r>
              <a:rPr lang="zh-CN" altLang="en-US" dirty="0">
                <a:latin typeface="Times New Roman" panose="02020603050405020304" pitchFamily="18" charset="0"/>
                <a:cs typeface="Times New Roman" panose="02020603050405020304" pitchFamily="18" charset="0"/>
              </a:rPr>
              <a:t>可直接寻址</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也可寄存器间接寻址。用</a:t>
            </a:r>
            <a:r>
              <a:rPr lang="en-GB" altLang="zh-CN" dirty="0">
                <a:latin typeface="Times New Roman" panose="02020603050405020304" pitchFamily="18" charset="0"/>
                <a:cs typeface="Times New Roman" panose="02020603050405020304" pitchFamily="18" charset="0"/>
              </a:rPr>
              <a:t>“</a:t>
            </a:r>
            <a:r>
              <a:rPr lang="en-US" altLang="zh-CN" dirty="0">
                <a:solidFill>
                  <a:srgbClr val="FF0000"/>
                </a:solidFill>
                <a:latin typeface="Times New Roman" panose="02020603050405020304" pitchFamily="18" charset="0"/>
                <a:cs typeface="Times New Roman" panose="02020603050405020304" pitchFamily="18" charset="0"/>
              </a:rPr>
              <a:t>MOV direct</a:t>
            </a:r>
            <a:r>
              <a:rPr lang="en-GB"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和</a:t>
            </a:r>
            <a:r>
              <a:rPr lang="en-GB" altLang="zh-CN" dirty="0">
                <a:latin typeface="Times New Roman" panose="02020603050405020304" pitchFamily="18" charset="0"/>
                <a:cs typeface="Times New Roman" panose="02020603050405020304" pitchFamily="18" charset="0"/>
              </a:rPr>
              <a:t>“</a:t>
            </a:r>
            <a:r>
              <a:rPr lang="en-US" altLang="zh-CN" dirty="0">
                <a:solidFill>
                  <a:srgbClr val="FF0000"/>
                </a:solidFill>
                <a:latin typeface="Times New Roman" panose="02020603050405020304" pitchFamily="18" charset="0"/>
                <a:cs typeface="Times New Roman" panose="02020603050405020304" pitchFamily="18" charset="0"/>
              </a:rPr>
              <a:t>MOV @Ri</a:t>
            </a:r>
            <a:r>
              <a:rPr lang="en-GB"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形式的指令访问。</a:t>
            </a:r>
            <a:endParaRPr lang="en-US" altLang="zh-CN" dirty="0">
              <a:latin typeface="Times New Roman" panose="02020603050405020304" pitchFamily="18" charset="0"/>
              <a:cs typeface="Times New Roman" panose="02020603050405020304" pitchFamily="18" charset="0"/>
            </a:endParaRPr>
          </a:p>
          <a:p>
            <a:pPr marL="342900" lvl="1" indent="-342900" algn="l" eaLnBrk="1" hangingPunct="1">
              <a:lnSpc>
                <a:spcPct val="114000"/>
              </a:lnSpc>
              <a:spcBef>
                <a:spcPts val="0"/>
              </a:spcBef>
              <a:spcAft>
                <a:spcPts val="1200"/>
              </a:spcAft>
              <a:buFontTx/>
              <a:buBlip>
                <a:blip r:embed="rId3"/>
              </a:buBlip>
              <a:defRPr/>
            </a:pPr>
            <a:r>
              <a:rPr lang="zh-CN" altLang="en-US" dirty="0">
                <a:solidFill>
                  <a:srgbClr val="CC3300"/>
                </a:solidFill>
                <a:latin typeface="Times New Roman" panose="02020603050405020304" pitchFamily="18" charset="0"/>
                <a:cs typeface="Times New Roman" panose="02020603050405020304" pitchFamily="18" charset="0"/>
              </a:rPr>
              <a:t>②高</a:t>
            </a:r>
            <a:r>
              <a:rPr lang="en-US" altLang="zh-CN" dirty="0">
                <a:solidFill>
                  <a:srgbClr val="CC3300"/>
                </a:solidFill>
                <a:latin typeface="Times New Roman" panose="02020603050405020304" pitchFamily="18" charset="0"/>
                <a:cs typeface="Times New Roman" panose="02020603050405020304" pitchFamily="18" charset="0"/>
              </a:rPr>
              <a:t>128</a:t>
            </a:r>
            <a:r>
              <a:rPr lang="zh-CN" altLang="en-US" dirty="0">
                <a:solidFill>
                  <a:srgbClr val="CC3300"/>
                </a:solidFill>
                <a:latin typeface="Times New Roman" panose="02020603050405020304" pitchFamily="18" charset="0"/>
                <a:cs typeface="Times New Roman" panose="02020603050405020304" pitchFamily="18" charset="0"/>
              </a:rPr>
              <a:t>字节</a:t>
            </a:r>
            <a:r>
              <a:rPr lang="en-US" altLang="zh-CN" dirty="0">
                <a:solidFill>
                  <a:srgbClr val="CC3300"/>
                </a:solidFill>
                <a:latin typeface="Times New Roman" panose="02020603050405020304" pitchFamily="18" charset="0"/>
                <a:cs typeface="Times New Roman" panose="02020603050405020304" pitchFamily="18" charset="0"/>
              </a:rPr>
              <a:t>RAM</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80H</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FFH</a:t>
            </a:r>
            <a:r>
              <a:rPr lang="zh-CN" altLang="en-US" dirty="0">
                <a:latin typeface="Times New Roman" panose="02020603050405020304" pitchFamily="18" charset="0"/>
                <a:cs typeface="Times New Roman" panose="02020603050405020304" pitchFamily="18" charset="0"/>
              </a:rPr>
              <a:t>）：只能间接寻址。用“</a:t>
            </a:r>
            <a:r>
              <a:rPr lang="en-US" altLang="zh-CN" dirty="0">
                <a:latin typeface="Times New Roman" panose="02020603050405020304" pitchFamily="18" charset="0"/>
                <a:cs typeface="Times New Roman" panose="02020603050405020304" pitchFamily="18" charset="0"/>
              </a:rPr>
              <a:t>MOV @Ri”</a:t>
            </a:r>
            <a:r>
              <a:rPr lang="zh-CN" altLang="en-US" dirty="0">
                <a:latin typeface="Times New Roman" panose="02020603050405020304" pitchFamily="18" charset="0"/>
                <a:cs typeface="Times New Roman" panose="02020603050405020304" pitchFamily="18" charset="0"/>
              </a:rPr>
              <a:t>形式的指令访问。</a:t>
            </a:r>
          </a:p>
          <a:p>
            <a:pPr marL="342900" lvl="1" indent="-342900" algn="l" eaLnBrk="1" hangingPunct="1">
              <a:lnSpc>
                <a:spcPct val="114000"/>
              </a:lnSpc>
              <a:spcBef>
                <a:spcPts val="0"/>
              </a:spcBef>
              <a:spcAft>
                <a:spcPts val="1200"/>
              </a:spcAft>
              <a:buFontTx/>
              <a:buBlip>
                <a:blip r:embed="rId3"/>
              </a:buBlip>
              <a:defRPr/>
            </a:pPr>
            <a:r>
              <a:rPr lang="zh-CN" altLang="en-US" dirty="0">
                <a:solidFill>
                  <a:srgbClr val="CC3300"/>
                </a:solidFill>
                <a:latin typeface="Times New Roman" panose="02020603050405020304" pitchFamily="18" charset="0"/>
                <a:cs typeface="Times New Roman" panose="02020603050405020304" pitchFamily="18" charset="0"/>
              </a:rPr>
              <a:t>③特殊功能寄存器</a:t>
            </a:r>
            <a:r>
              <a:rPr lang="en-US" altLang="zh-CN" dirty="0">
                <a:latin typeface="Times New Roman" panose="02020603050405020304" pitchFamily="18" charset="0"/>
                <a:cs typeface="Times New Roman" panose="02020603050405020304" pitchFamily="18" charset="0"/>
              </a:rPr>
              <a:t>(SFR)</a:t>
            </a:r>
            <a:r>
              <a:rPr lang="zh-CN" altLang="en-US" dirty="0">
                <a:latin typeface="Times New Roman" panose="02020603050405020304" pitchFamily="18" charset="0"/>
                <a:cs typeface="Times New Roman" panose="02020603050405020304" pitchFamily="18" charset="0"/>
              </a:rPr>
              <a:t>区：地址范围为</a:t>
            </a:r>
            <a:r>
              <a:rPr lang="en-US" altLang="zh-CN" dirty="0">
                <a:latin typeface="Times New Roman" panose="02020603050405020304" pitchFamily="18" charset="0"/>
                <a:cs typeface="Times New Roman" panose="02020603050405020304" pitchFamily="18" charset="0"/>
              </a:rPr>
              <a:t>80H</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FFH</a:t>
            </a:r>
            <a:r>
              <a:rPr lang="zh-CN" altLang="en-US" dirty="0">
                <a:latin typeface="Times New Roman" panose="02020603050405020304" pitchFamily="18" charset="0"/>
                <a:cs typeface="Times New Roman" panose="02020603050405020304" pitchFamily="18" charset="0"/>
              </a:rPr>
              <a:t>，</a:t>
            </a:r>
            <a:r>
              <a:rPr lang="zh-CN" altLang="en-US" dirty="0">
                <a:solidFill>
                  <a:srgbClr val="9900CC"/>
                </a:solidFill>
                <a:latin typeface="Times New Roman" panose="02020603050405020304" pitchFamily="18" charset="0"/>
                <a:cs typeface="Times New Roman" panose="02020603050405020304" pitchFamily="18" charset="0"/>
              </a:rPr>
              <a:t>只可直接寻址</a:t>
            </a:r>
            <a:r>
              <a:rPr lang="zh-CN" altLang="en-US" dirty="0">
                <a:latin typeface="Times New Roman" panose="02020603050405020304" pitchFamily="18" charset="0"/>
                <a:cs typeface="Times New Roman" panose="02020603050405020304" pitchFamily="18" charset="0"/>
              </a:rPr>
              <a:t>，用</a:t>
            </a:r>
            <a:r>
              <a:rPr lang="en-GB" altLang="zh-CN" dirty="0">
                <a:latin typeface="Times New Roman" panose="02020603050405020304" pitchFamily="18" charset="0"/>
                <a:cs typeface="Times New Roman" panose="02020603050405020304" pitchFamily="18" charset="0"/>
              </a:rPr>
              <a:t>“</a:t>
            </a:r>
            <a:r>
              <a:rPr lang="en-US" altLang="zh-CN" dirty="0">
                <a:solidFill>
                  <a:srgbClr val="FF0000"/>
                </a:solidFill>
                <a:latin typeface="Times New Roman" panose="02020603050405020304" pitchFamily="18" charset="0"/>
                <a:cs typeface="Times New Roman" panose="02020603050405020304" pitchFamily="18" charset="0"/>
              </a:rPr>
              <a:t>MOV</a:t>
            </a:r>
            <a:r>
              <a:rPr lang="en-US" altLang="zh-CN" dirty="0">
                <a:latin typeface="Times New Roman" panose="02020603050405020304" pitchFamily="18" charset="0"/>
                <a:cs typeface="Times New Roman" panose="02020603050405020304" pitchFamily="18" charset="0"/>
              </a:rPr>
              <a:t> </a:t>
            </a:r>
            <a:r>
              <a:rPr lang="en-US" altLang="zh-CN" dirty="0">
                <a:solidFill>
                  <a:srgbClr val="FF0000"/>
                </a:solidFill>
                <a:latin typeface="Times New Roman" panose="02020603050405020304" pitchFamily="18" charset="0"/>
                <a:cs typeface="Times New Roman" panose="02020603050405020304" pitchFamily="18" charset="0"/>
              </a:rPr>
              <a:t>direct</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形式的指令访问。</a:t>
            </a:r>
          </a:p>
          <a:p>
            <a:pPr marL="342900" lvl="1" indent="-342900" algn="l" eaLnBrk="1" hangingPunct="1">
              <a:lnSpc>
                <a:spcPct val="114000"/>
              </a:lnSpc>
              <a:spcBef>
                <a:spcPts val="0"/>
              </a:spcBef>
              <a:spcAft>
                <a:spcPts val="1200"/>
              </a:spcAft>
              <a:buFontTx/>
              <a:buBlip>
                <a:blip r:embed="rId3"/>
              </a:buBlip>
              <a:defRPr/>
            </a:pPr>
            <a:endParaRPr lang="zh-CN" altLang="en-US" dirty="0">
              <a:latin typeface="Times New Roman" panose="02020603050405020304" pitchFamily="18" charset="0"/>
              <a:cs typeface="Times New Roman" panose="02020603050405020304" pitchFamily="18" charset="0"/>
            </a:endParaRPr>
          </a:p>
        </p:txBody>
      </p:sp>
      <p:graphicFrame>
        <p:nvGraphicFramePr>
          <p:cNvPr id="6" name="Group 81">
            <a:extLst>
              <a:ext uri="{FF2B5EF4-FFF2-40B4-BE49-F238E27FC236}">
                <a16:creationId xmlns:a16="http://schemas.microsoft.com/office/drawing/2014/main" id="{98759DD7-5336-4657-A10A-D02FE3F3175A}"/>
              </a:ext>
            </a:extLst>
          </p:cNvPr>
          <p:cNvGraphicFramePr>
            <a:graphicFrameLocks noGrp="1"/>
          </p:cNvGraphicFramePr>
          <p:nvPr>
            <p:extLst>
              <p:ext uri="{D42A27DB-BD31-4B8C-83A1-F6EECF244321}">
                <p14:modId xmlns:p14="http://schemas.microsoft.com/office/powerpoint/2010/main" val="2739158889"/>
              </p:ext>
            </p:extLst>
          </p:nvPr>
        </p:nvGraphicFramePr>
        <p:xfrm>
          <a:off x="6704012" y="3721735"/>
          <a:ext cx="1973263" cy="400050"/>
        </p:xfrm>
        <a:graphic>
          <a:graphicData uri="http://schemas.openxmlformats.org/drawingml/2006/table">
            <a:tbl>
              <a:tblPr/>
              <a:tblGrid>
                <a:gridCol w="1973263">
                  <a:extLst>
                    <a:ext uri="{9D8B030D-6E8A-4147-A177-3AD203B41FA5}">
                      <a16:colId xmlns:a16="http://schemas.microsoft.com/office/drawing/2014/main" val="20000"/>
                    </a:ext>
                  </a:extLst>
                </a:gridCol>
              </a:tblGrid>
              <a:tr h="40005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400" b="1" i="0" u="none" strike="noStrike" cap="none" normalizeH="0" baseline="0" dirty="0">
                          <a:ln>
                            <a:noFill/>
                          </a:ln>
                          <a:solidFill>
                            <a:srgbClr val="0000CC"/>
                          </a:solidFill>
                          <a:effectLst/>
                          <a:latin typeface="Times New Roman" pitchFamily="18" charset="0"/>
                          <a:ea typeface="宋体" charset="-122"/>
                          <a:cs typeface="Times New Roman" pitchFamily="18" charset="0"/>
                        </a:rPr>
                        <a:t>MOV A</a:t>
                      </a:r>
                      <a:r>
                        <a:rPr kumimoji="0" lang="en-US" altLang="zh-CN" sz="2400" b="1" i="0" u="none" strike="noStrike" cap="none" normalizeH="0" baseline="0" dirty="0">
                          <a:ln>
                            <a:noFill/>
                          </a:ln>
                          <a:solidFill>
                            <a:srgbClr val="0000CC"/>
                          </a:solidFill>
                          <a:effectLst/>
                          <a:latin typeface="Times New Roman" pitchFamily="18" charset="0"/>
                          <a:ea typeface="宋体" charset="-122"/>
                          <a:cs typeface="Times New Roman" pitchFamily="18" charset="0"/>
                        </a:rPr>
                        <a:t>, </a:t>
                      </a:r>
                      <a:r>
                        <a:rPr kumimoji="0" lang="pt-BR" altLang="zh-CN" sz="2400" b="1" i="0" u="none" strike="noStrike" cap="none" normalizeH="0" baseline="0" dirty="0">
                          <a:ln>
                            <a:noFill/>
                          </a:ln>
                          <a:solidFill>
                            <a:srgbClr val="FF0000"/>
                          </a:solidFill>
                          <a:effectLst/>
                          <a:latin typeface="Times New Roman" pitchFamily="18" charset="0"/>
                          <a:ea typeface="宋体" charset="-122"/>
                          <a:cs typeface="Times New Roman" pitchFamily="18" charset="0"/>
                        </a:rPr>
                        <a:t>38H</a:t>
                      </a:r>
                    </a:p>
                  </a:txBody>
                  <a:tcPr marL="91444" marR="91444"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7" name="Group 81">
            <a:extLst>
              <a:ext uri="{FF2B5EF4-FFF2-40B4-BE49-F238E27FC236}">
                <a16:creationId xmlns:a16="http://schemas.microsoft.com/office/drawing/2014/main" id="{8991A512-9E81-49E1-8590-21A82781D6F6}"/>
              </a:ext>
            </a:extLst>
          </p:cNvPr>
          <p:cNvGraphicFramePr>
            <a:graphicFrameLocks noGrp="1"/>
          </p:cNvGraphicFramePr>
          <p:nvPr>
            <p:extLst>
              <p:ext uri="{D42A27DB-BD31-4B8C-83A1-F6EECF244321}">
                <p14:modId xmlns:p14="http://schemas.microsoft.com/office/powerpoint/2010/main" val="772748255"/>
              </p:ext>
            </p:extLst>
          </p:nvPr>
        </p:nvGraphicFramePr>
        <p:xfrm>
          <a:off x="6704012" y="4560888"/>
          <a:ext cx="2089150" cy="400050"/>
        </p:xfrm>
        <a:graphic>
          <a:graphicData uri="http://schemas.openxmlformats.org/drawingml/2006/table">
            <a:tbl>
              <a:tblPr/>
              <a:tblGrid>
                <a:gridCol w="2089150">
                  <a:extLst>
                    <a:ext uri="{9D8B030D-6E8A-4147-A177-3AD203B41FA5}">
                      <a16:colId xmlns:a16="http://schemas.microsoft.com/office/drawing/2014/main" val="20000"/>
                    </a:ext>
                  </a:extLst>
                </a:gridCol>
              </a:tblGrid>
              <a:tr h="400050">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2400" b="1" i="0" u="none" strike="noStrike" cap="none" normalizeH="0" baseline="0" dirty="0">
                          <a:ln>
                            <a:noFill/>
                          </a:ln>
                          <a:solidFill>
                            <a:srgbClr val="0000CC"/>
                          </a:solidFill>
                          <a:effectLst/>
                          <a:latin typeface="Times New Roman" pitchFamily="18" charset="0"/>
                          <a:ea typeface="宋体" charset="-122"/>
                          <a:cs typeface="Times New Roman" pitchFamily="18" charset="0"/>
                        </a:rPr>
                        <a:t>MOV A</a:t>
                      </a:r>
                      <a:r>
                        <a:rPr kumimoji="0" lang="en-US" altLang="zh-CN" sz="2400" b="1" i="0" u="none" strike="noStrike" cap="none" normalizeH="0" baseline="0" dirty="0">
                          <a:ln>
                            <a:noFill/>
                          </a:ln>
                          <a:solidFill>
                            <a:srgbClr val="0000CC"/>
                          </a:solidFill>
                          <a:effectLst/>
                          <a:latin typeface="Times New Roman" pitchFamily="18" charset="0"/>
                          <a:ea typeface="宋体" charset="-122"/>
                          <a:cs typeface="Times New Roman" pitchFamily="18" charset="0"/>
                        </a:rPr>
                        <a:t>, </a:t>
                      </a:r>
                      <a:r>
                        <a:rPr kumimoji="0" lang="pt-BR" altLang="zh-CN" sz="2400" b="1" i="0" u="none" strike="noStrike" cap="none" normalizeH="0" baseline="0" dirty="0">
                          <a:ln>
                            <a:noFill/>
                          </a:ln>
                          <a:solidFill>
                            <a:srgbClr val="FF0000"/>
                          </a:solidFill>
                          <a:effectLst/>
                          <a:latin typeface="Times New Roman" pitchFamily="18" charset="0"/>
                          <a:ea typeface="宋体" charset="-122"/>
                          <a:cs typeface="Times New Roman" pitchFamily="18" charset="0"/>
                        </a:rPr>
                        <a:t>@R0</a:t>
                      </a:r>
                    </a:p>
                  </a:txBody>
                  <a:tcPr marL="91470" marR="9147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3" name="灯片编号占位符 2">
            <a:extLst>
              <a:ext uri="{FF2B5EF4-FFF2-40B4-BE49-F238E27FC236}">
                <a16:creationId xmlns:a16="http://schemas.microsoft.com/office/drawing/2014/main" id="{BA3CEE72-5EFB-4ED1-A076-A46AA7BE4515}"/>
              </a:ext>
            </a:extLst>
          </p:cNvPr>
          <p:cNvSpPr>
            <a:spLocks noGrp="1"/>
          </p:cNvSpPr>
          <p:nvPr>
            <p:ph type="sldNum" sz="quarter" idx="12"/>
          </p:nvPr>
        </p:nvSpPr>
        <p:spPr/>
        <p:txBody>
          <a:bodyPr/>
          <a:lstStyle/>
          <a:p>
            <a:fld id="{22E77DEE-32E4-4009-988B-F2758F7B8AC2}" type="slidenum">
              <a:rPr lang="zh-CN" altLang="en-US" smtClean="0"/>
              <a:t>34</a:t>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3">
            <a:extLst>
              <a:ext uri="{FF2B5EF4-FFF2-40B4-BE49-F238E27FC236}">
                <a16:creationId xmlns:a16="http://schemas.microsoft.com/office/drawing/2014/main" id="{9731284A-6354-4EE1-918F-47D50B9B5AB6}"/>
              </a:ext>
            </a:extLst>
          </p:cNvPr>
          <p:cNvSpPr>
            <a:spLocks noGrp="1" noChangeArrowheads="1"/>
          </p:cNvSpPr>
          <p:nvPr>
            <p:ph type="title"/>
          </p:nvPr>
        </p:nvSpPr>
        <p:spPr>
          <a:xfrm>
            <a:off x="417513" y="456853"/>
            <a:ext cx="8229600" cy="504825"/>
          </a:xfrm>
        </p:spPr>
        <p:txBody>
          <a:bodyPr>
            <a:normAutofit fontScale="90000"/>
          </a:bodyPr>
          <a:lstStyle/>
          <a:p>
            <a:pPr eaLnBrk="1" hangingPunct="1"/>
            <a:r>
              <a:rPr lang="zh-CN" altLang="en-US" dirty="0">
                <a:hlinkClick r:id="rId2" action="ppaction://hlinksldjump"/>
              </a:rPr>
              <a:t>工作寄存器区</a:t>
            </a:r>
            <a:endParaRPr lang="zh-CN" altLang="en-US" dirty="0"/>
          </a:p>
        </p:txBody>
      </p:sp>
      <p:sp>
        <p:nvSpPr>
          <p:cNvPr id="474115" name="Rectangle 3">
            <a:extLst>
              <a:ext uri="{FF2B5EF4-FFF2-40B4-BE49-F238E27FC236}">
                <a16:creationId xmlns:a16="http://schemas.microsoft.com/office/drawing/2014/main" id="{E77A62F4-E348-441F-82FC-32036080ED0E}"/>
              </a:ext>
            </a:extLst>
          </p:cNvPr>
          <p:cNvSpPr>
            <a:spLocks noGrp="1" noChangeArrowheads="1"/>
          </p:cNvSpPr>
          <p:nvPr>
            <p:ph idx="1"/>
          </p:nvPr>
        </p:nvSpPr>
        <p:spPr>
          <a:xfrm>
            <a:off x="771525" y="1203326"/>
            <a:ext cx="7521575" cy="1965325"/>
          </a:xfrm>
        </p:spPr>
        <p:txBody>
          <a:bodyPr/>
          <a:lstStyle/>
          <a:p>
            <a:pPr marL="261938" lvl="1" indent="-261938" algn="l" eaLnBrk="1" hangingPunct="1">
              <a:lnSpc>
                <a:spcPct val="114000"/>
              </a:lnSpc>
              <a:spcBef>
                <a:spcPts val="0"/>
              </a:spcBef>
              <a:spcAft>
                <a:spcPts val="600"/>
              </a:spcAft>
              <a:defRPr/>
            </a:pPr>
            <a:r>
              <a:rPr lang="zh-CN" altLang="en-US" dirty="0">
                <a:solidFill>
                  <a:srgbClr val="CC3300"/>
                </a:solidFill>
              </a:rPr>
              <a:t>地址分配</a:t>
            </a:r>
            <a:r>
              <a:rPr lang="zh-CN" altLang="en-US" dirty="0"/>
              <a:t>：</a:t>
            </a:r>
            <a:r>
              <a:rPr lang="en-US" altLang="zh-CN" dirty="0">
                <a:solidFill>
                  <a:srgbClr val="0000CC"/>
                </a:solidFill>
              </a:rPr>
              <a:t>00H</a:t>
            </a:r>
            <a:r>
              <a:rPr lang="zh-CN" altLang="en-US" dirty="0">
                <a:solidFill>
                  <a:srgbClr val="0000CC"/>
                </a:solidFill>
              </a:rPr>
              <a:t>～</a:t>
            </a:r>
            <a:r>
              <a:rPr lang="en-US" altLang="zh-CN" dirty="0">
                <a:solidFill>
                  <a:srgbClr val="0000CC"/>
                </a:solidFill>
              </a:rPr>
              <a:t>1FH</a:t>
            </a:r>
            <a:r>
              <a:rPr lang="zh-CN" altLang="en-US" dirty="0">
                <a:solidFill>
                  <a:srgbClr val="0000CC"/>
                </a:solidFill>
              </a:rPr>
              <a:t>共</a:t>
            </a:r>
            <a:r>
              <a:rPr lang="en-US" altLang="zh-CN" dirty="0">
                <a:solidFill>
                  <a:srgbClr val="0000CC"/>
                </a:solidFill>
              </a:rPr>
              <a:t>32</a:t>
            </a:r>
            <a:r>
              <a:rPr lang="zh-CN" altLang="en-US" dirty="0">
                <a:solidFill>
                  <a:srgbClr val="0000CC"/>
                </a:solidFill>
              </a:rPr>
              <a:t>个单元</a:t>
            </a:r>
            <a:r>
              <a:rPr lang="zh-CN" altLang="en-US" dirty="0"/>
              <a:t>。分为</a:t>
            </a:r>
            <a:r>
              <a:rPr lang="zh-CN" altLang="en-US" dirty="0">
                <a:solidFill>
                  <a:srgbClr val="0000CC"/>
                </a:solidFill>
              </a:rPr>
              <a:t>四组</a:t>
            </a:r>
            <a:r>
              <a:rPr lang="en-US" altLang="zh-CN" dirty="0"/>
              <a:t>(</a:t>
            </a:r>
            <a:r>
              <a:rPr lang="zh-CN" altLang="en-US" dirty="0"/>
              <a:t>每一组称为一个寄存器组</a:t>
            </a:r>
            <a:r>
              <a:rPr lang="en-US" altLang="zh-CN" dirty="0"/>
              <a:t>), </a:t>
            </a:r>
            <a:r>
              <a:rPr lang="zh-CN" altLang="en-US" dirty="0">
                <a:solidFill>
                  <a:srgbClr val="3333FF"/>
                </a:solidFill>
              </a:rPr>
              <a:t>每一组包括</a:t>
            </a:r>
            <a:r>
              <a:rPr lang="en-US" altLang="zh-CN" dirty="0">
                <a:solidFill>
                  <a:srgbClr val="3333FF"/>
                </a:solidFill>
              </a:rPr>
              <a:t>8</a:t>
            </a:r>
            <a:r>
              <a:rPr lang="zh-CN" altLang="en-US" dirty="0">
                <a:solidFill>
                  <a:srgbClr val="3333FF"/>
                </a:solidFill>
              </a:rPr>
              <a:t>个</a:t>
            </a:r>
            <a:r>
              <a:rPr lang="en-US" altLang="zh-CN" dirty="0">
                <a:solidFill>
                  <a:srgbClr val="3333FF"/>
                </a:solidFill>
              </a:rPr>
              <a:t>8</a:t>
            </a:r>
            <a:r>
              <a:rPr lang="zh-CN" altLang="en-US" dirty="0">
                <a:solidFill>
                  <a:srgbClr val="3333FF"/>
                </a:solidFill>
              </a:rPr>
              <a:t>位的工作寄存器</a:t>
            </a:r>
            <a:r>
              <a:rPr lang="en-US" altLang="zh-CN" dirty="0"/>
              <a:t>,</a:t>
            </a:r>
            <a:r>
              <a:rPr lang="zh-CN" altLang="en-US" dirty="0"/>
              <a:t>分别是</a:t>
            </a:r>
            <a:r>
              <a:rPr lang="en-US" altLang="zh-CN" dirty="0">
                <a:solidFill>
                  <a:srgbClr val="3333FF"/>
                </a:solidFill>
              </a:rPr>
              <a:t>R0</a:t>
            </a:r>
            <a:r>
              <a:rPr lang="zh-CN" altLang="en-US" dirty="0">
                <a:solidFill>
                  <a:srgbClr val="3333FF"/>
                </a:solidFill>
              </a:rPr>
              <a:t>～</a:t>
            </a:r>
            <a:r>
              <a:rPr lang="en-US" altLang="zh-CN" dirty="0">
                <a:solidFill>
                  <a:srgbClr val="3333FF"/>
                </a:solidFill>
              </a:rPr>
              <a:t>R7</a:t>
            </a:r>
            <a:r>
              <a:rPr lang="zh-CN" altLang="en-US" dirty="0"/>
              <a:t>。</a:t>
            </a:r>
          </a:p>
          <a:p>
            <a:pPr marL="261938" lvl="1" indent="-261938" algn="l" eaLnBrk="1" hangingPunct="1">
              <a:lnSpc>
                <a:spcPct val="114000"/>
              </a:lnSpc>
              <a:spcBef>
                <a:spcPts val="0"/>
              </a:spcBef>
              <a:spcAft>
                <a:spcPts val="600"/>
              </a:spcAft>
              <a:defRPr/>
            </a:pPr>
            <a:r>
              <a:rPr lang="zh-CN" altLang="en-US" dirty="0">
                <a:solidFill>
                  <a:srgbClr val="CC3300"/>
                </a:solidFill>
              </a:rPr>
              <a:t>功能</a:t>
            </a:r>
            <a:r>
              <a:rPr lang="zh-CN" altLang="en-US" dirty="0"/>
              <a:t>：通过使用工作寄存器</a:t>
            </a:r>
            <a:r>
              <a:rPr lang="en-US" altLang="zh-CN" dirty="0"/>
              <a:t>,</a:t>
            </a:r>
            <a:r>
              <a:rPr lang="zh-CN" altLang="en-US" dirty="0"/>
              <a:t>可提高运算速度</a:t>
            </a:r>
            <a:r>
              <a:rPr lang="en-US" altLang="zh-CN" dirty="0"/>
              <a:t>,</a:t>
            </a:r>
            <a:r>
              <a:rPr lang="zh-CN" altLang="en-US" dirty="0"/>
              <a:t>也可用其中</a:t>
            </a:r>
            <a:r>
              <a:rPr lang="en-US" altLang="zh-CN" dirty="0">
                <a:solidFill>
                  <a:srgbClr val="FF0000"/>
                </a:solidFill>
              </a:rPr>
              <a:t>R0</a:t>
            </a:r>
            <a:r>
              <a:rPr lang="zh-CN" altLang="en-US" dirty="0">
                <a:solidFill>
                  <a:srgbClr val="FF0000"/>
                </a:solidFill>
              </a:rPr>
              <a:t>或</a:t>
            </a:r>
            <a:r>
              <a:rPr lang="en-US" altLang="zh-CN" dirty="0">
                <a:solidFill>
                  <a:srgbClr val="FF0000"/>
                </a:solidFill>
              </a:rPr>
              <a:t>R1</a:t>
            </a:r>
            <a:r>
              <a:rPr lang="zh-CN" altLang="en-US" dirty="0">
                <a:solidFill>
                  <a:srgbClr val="FF0000"/>
                </a:solidFill>
              </a:rPr>
              <a:t>存放八位地址值</a:t>
            </a:r>
            <a:r>
              <a:rPr lang="en-US" altLang="zh-CN" dirty="0">
                <a:solidFill>
                  <a:srgbClr val="FF0000"/>
                </a:solidFill>
              </a:rPr>
              <a:t>,</a:t>
            </a:r>
            <a:r>
              <a:rPr lang="zh-CN" altLang="en-US" dirty="0">
                <a:solidFill>
                  <a:srgbClr val="FF0000"/>
                </a:solidFill>
              </a:rPr>
              <a:t>访问一个</a:t>
            </a:r>
            <a:r>
              <a:rPr lang="en-US" altLang="zh-CN" dirty="0">
                <a:solidFill>
                  <a:srgbClr val="FF0000"/>
                </a:solidFill>
              </a:rPr>
              <a:t>256</a:t>
            </a:r>
            <a:r>
              <a:rPr lang="zh-CN" altLang="en-US" dirty="0">
                <a:solidFill>
                  <a:srgbClr val="FF0000"/>
                </a:solidFill>
              </a:rPr>
              <a:t>字节</a:t>
            </a:r>
            <a:r>
              <a:rPr lang="en-US" altLang="zh-CN" dirty="0">
                <a:solidFill>
                  <a:srgbClr val="FF0000"/>
                </a:solidFill>
              </a:rPr>
              <a:t>(</a:t>
            </a:r>
            <a:r>
              <a:rPr lang="zh-CN" altLang="en-US" dirty="0">
                <a:solidFill>
                  <a:srgbClr val="FF0000"/>
                </a:solidFill>
              </a:rPr>
              <a:t>可在逻辑上的外部</a:t>
            </a:r>
            <a:r>
              <a:rPr lang="en-US" altLang="zh-CN" dirty="0">
                <a:solidFill>
                  <a:srgbClr val="FF0000"/>
                </a:solidFill>
              </a:rPr>
              <a:t>)RAM</a:t>
            </a:r>
            <a:r>
              <a:rPr lang="zh-CN" altLang="en-US" dirty="0">
                <a:solidFill>
                  <a:srgbClr val="FF0000"/>
                </a:solidFill>
              </a:rPr>
              <a:t>块中单元</a:t>
            </a:r>
            <a:r>
              <a:rPr lang="zh-CN" altLang="en-US" dirty="0"/>
              <a:t>。</a:t>
            </a:r>
            <a:endParaRPr lang="en-US" altLang="zh-CN" dirty="0"/>
          </a:p>
          <a:p>
            <a:pPr marL="261938" lvl="1" indent="-261938" algn="l" eaLnBrk="1" hangingPunct="1">
              <a:lnSpc>
                <a:spcPct val="114000"/>
              </a:lnSpc>
              <a:spcBef>
                <a:spcPts val="0"/>
              </a:spcBef>
              <a:spcAft>
                <a:spcPts val="600"/>
              </a:spcAft>
              <a:defRPr/>
            </a:pPr>
            <a:r>
              <a:rPr lang="zh-CN" altLang="en-US" dirty="0"/>
              <a:t>另外</a:t>
            </a:r>
            <a:r>
              <a:rPr lang="en-US" altLang="zh-CN" dirty="0"/>
              <a:t>,</a:t>
            </a:r>
            <a:r>
              <a:rPr lang="en-US" altLang="zh-CN" dirty="0">
                <a:solidFill>
                  <a:srgbClr val="0000CC"/>
                </a:solidFill>
              </a:rPr>
              <a:t>R0</a:t>
            </a:r>
            <a:r>
              <a:rPr lang="zh-CN" altLang="en-US" dirty="0">
                <a:solidFill>
                  <a:srgbClr val="0000CC"/>
                </a:solidFill>
              </a:rPr>
              <a:t>～</a:t>
            </a:r>
            <a:r>
              <a:rPr lang="en-US" altLang="zh-CN" dirty="0">
                <a:solidFill>
                  <a:srgbClr val="0000CC"/>
                </a:solidFill>
              </a:rPr>
              <a:t>R7</a:t>
            </a:r>
            <a:r>
              <a:rPr lang="zh-CN" altLang="en-US" dirty="0">
                <a:solidFill>
                  <a:srgbClr val="0000CC"/>
                </a:solidFill>
              </a:rPr>
              <a:t>也可用作计数器</a:t>
            </a:r>
            <a:r>
              <a:rPr lang="en-US" altLang="zh-CN" dirty="0"/>
              <a:t>,</a:t>
            </a:r>
            <a:r>
              <a:rPr lang="zh-CN" altLang="en-US" dirty="0"/>
              <a:t>在指令作用下加</a:t>
            </a:r>
            <a:r>
              <a:rPr lang="en-US" altLang="zh-CN" dirty="0"/>
              <a:t>1</a:t>
            </a:r>
            <a:r>
              <a:rPr lang="zh-CN" altLang="en-US" dirty="0"/>
              <a:t>或减</a:t>
            </a:r>
            <a:r>
              <a:rPr lang="en-US" altLang="zh-CN" dirty="0"/>
              <a:t>1</a:t>
            </a:r>
            <a:r>
              <a:rPr lang="zh-CN" altLang="en-US" dirty="0"/>
              <a:t>。</a:t>
            </a:r>
          </a:p>
        </p:txBody>
      </p:sp>
      <p:grpSp>
        <p:nvGrpSpPr>
          <p:cNvPr id="6" name="组合 5">
            <a:extLst>
              <a:ext uri="{FF2B5EF4-FFF2-40B4-BE49-F238E27FC236}">
                <a16:creationId xmlns:a16="http://schemas.microsoft.com/office/drawing/2014/main" id="{BD9CF2EB-27BA-4872-9B40-51F883FE9ACC}"/>
              </a:ext>
            </a:extLst>
          </p:cNvPr>
          <p:cNvGrpSpPr>
            <a:grpSpLocks/>
          </p:cNvGrpSpPr>
          <p:nvPr/>
        </p:nvGrpSpPr>
        <p:grpSpPr bwMode="auto">
          <a:xfrm>
            <a:off x="2991168" y="4116387"/>
            <a:ext cx="1625600" cy="1558925"/>
            <a:chOff x="6117794" y="2283691"/>
            <a:chExt cx="1625600" cy="1559515"/>
          </a:xfrm>
        </p:grpSpPr>
        <p:sp>
          <p:nvSpPr>
            <p:cNvPr id="63513" name="TextBox 6">
              <a:extLst>
                <a:ext uri="{FF2B5EF4-FFF2-40B4-BE49-F238E27FC236}">
                  <a16:creationId xmlns:a16="http://schemas.microsoft.com/office/drawing/2014/main" id="{24C7EEE7-AE4B-419F-AAF5-0DFD4CB9B167}"/>
                </a:ext>
              </a:extLst>
            </p:cNvPr>
            <p:cNvSpPr txBox="1">
              <a:spLocks noChangeArrowheads="1"/>
            </p:cNvSpPr>
            <p:nvPr/>
          </p:nvSpPr>
          <p:spPr bwMode="auto">
            <a:xfrm>
              <a:off x="6117794" y="2283691"/>
              <a:ext cx="15965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l" eaLnBrk="1" hangingPunct="1">
                <a:lnSpc>
                  <a:spcPct val="75000"/>
                </a:lnSpc>
              </a:pPr>
              <a:r>
                <a:rPr lang="en-US" altLang="zh-CN" sz="2400" b="1">
                  <a:solidFill>
                    <a:srgbClr val="9900CC"/>
                  </a:solidFill>
                </a:rPr>
                <a:t>18H~1FH</a:t>
              </a:r>
              <a:endParaRPr lang="zh-CN" altLang="en-US" sz="2400">
                <a:solidFill>
                  <a:srgbClr val="9900CC"/>
                </a:solidFill>
              </a:endParaRPr>
            </a:p>
          </p:txBody>
        </p:sp>
        <p:sp>
          <p:nvSpPr>
            <p:cNvPr id="63514" name="TextBox 7">
              <a:extLst>
                <a:ext uri="{FF2B5EF4-FFF2-40B4-BE49-F238E27FC236}">
                  <a16:creationId xmlns:a16="http://schemas.microsoft.com/office/drawing/2014/main" id="{7A6D242B-FE32-4B8E-AF75-9CD2424B91B4}"/>
                </a:ext>
              </a:extLst>
            </p:cNvPr>
            <p:cNvSpPr txBox="1">
              <a:spLocks noChangeArrowheads="1"/>
            </p:cNvSpPr>
            <p:nvPr/>
          </p:nvSpPr>
          <p:spPr bwMode="auto">
            <a:xfrm>
              <a:off x="6132308" y="2690094"/>
              <a:ext cx="15965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l" eaLnBrk="1" hangingPunct="1">
                <a:lnSpc>
                  <a:spcPct val="75000"/>
                </a:lnSpc>
              </a:pPr>
              <a:r>
                <a:rPr lang="en-US" altLang="zh-CN" sz="2400" b="1">
                  <a:solidFill>
                    <a:srgbClr val="9900CC"/>
                  </a:solidFill>
                </a:rPr>
                <a:t>10H~17H</a:t>
              </a:r>
              <a:endParaRPr lang="zh-CN" altLang="en-US" sz="2400">
                <a:solidFill>
                  <a:srgbClr val="9900CC"/>
                </a:solidFill>
              </a:endParaRPr>
            </a:p>
          </p:txBody>
        </p:sp>
        <p:sp>
          <p:nvSpPr>
            <p:cNvPr id="63515" name="TextBox 8">
              <a:extLst>
                <a:ext uri="{FF2B5EF4-FFF2-40B4-BE49-F238E27FC236}">
                  <a16:creationId xmlns:a16="http://schemas.microsoft.com/office/drawing/2014/main" id="{DA7F135D-F4EE-4854-AE64-060DF878BE1B}"/>
                </a:ext>
              </a:extLst>
            </p:cNvPr>
            <p:cNvSpPr txBox="1">
              <a:spLocks noChangeArrowheads="1"/>
            </p:cNvSpPr>
            <p:nvPr/>
          </p:nvSpPr>
          <p:spPr bwMode="auto">
            <a:xfrm>
              <a:off x="6132308" y="3074973"/>
              <a:ext cx="15965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l" eaLnBrk="1" hangingPunct="1">
                <a:lnSpc>
                  <a:spcPct val="75000"/>
                </a:lnSpc>
              </a:pPr>
              <a:r>
                <a:rPr lang="en-US" altLang="zh-CN" sz="2400" b="1">
                  <a:solidFill>
                    <a:srgbClr val="9900CC"/>
                  </a:solidFill>
                </a:rPr>
                <a:t>08H~0FH</a:t>
              </a:r>
              <a:endParaRPr lang="zh-CN" altLang="en-US" sz="2400">
                <a:solidFill>
                  <a:srgbClr val="9900CC"/>
                </a:solidFill>
              </a:endParaRPr>
            </a:p>
          </p:txBody>
        </p:sp>
        <p:sp>
          <p:nvSpPr>
            <p:cNvPr id="63516" name="TextBox 9">
              <a:extLst>
                <a:ext uri="{FF2B5EF4-FFF2-40B4-BE49-F238E27FC236}">
                  <a16:creationId xmlns:a16="http://schemas.microsoft.com/office/drawing/2014/main" id="{A666B051-96C4-4288-A9C9-9DE958C2FCAE}"/>
                </a:ext>
              </a:extLst>
            </p:cNvPr>
            <p:cNvSpPr txBox="1">
              <a:spLocks noChangeArrowheads="1"/>
            </p:cNvSpPr>
            <p:nvPr/>
          </p:nvSpPr>
          <p:spPr bwMode="auto">
            <a:xfrm>
              <a:off x="6146822" y="3473874"/>
              <a:ext cx="15965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marL="0" lvl="1" algn="l" eaLnBrk="1" hangingPunct="1">
                <a:lnSpc>
                  <a:spcPct val="75000"/>
                </a:lnSpc>
              </a:pPr>
              <a:r>
                <a:rPr lang="en-US" altLang="zh-CN" sz="2400" b="1">
                  <a:solidFill>
                    <a:srgbClr val="9900CC"/>
                  </a:solidFill>
                </a:rPr>
                <a:t>00H~07H</a:t>
              </a:r>
              <a:endParaRPr lang="zh-CN" altLang="en-US" sz="2400">
                <a:solidFill>
                  <a:srgbClr val="9900CC"/>
                </a:solidFill>
              </a:endParaRPr>
            </a:p>
          </p:txBody>
        </p:sp>
      </p:grpSp>
      <p:graphicFrame>
        <p:nvGraphicFramePr>
          <p:cNvPr id="11" name="表格 10">
            <a:extLst>
              <a:ext uri="{FF2B5EF4-FFF2-40B4-BE49-F238E27FC236}">
                <a16:creationId xmlns:a16="http://schemas.microsoft.com/office/drawing/2014/main" id="{80E28FC3-745C-4FDA-8504-B3AA09F1453A}"/>
              </a:ext>
            </a:extLst>
          </p:cNvPr>
          <p:cNvGraphicFramePr>
            <a:graphicFrameLocks noGrp="1"/>
          </p:cNvGraphicFramePr>
          <p:nvPr>
            <p:extLst>
              <p:ext uri="{D42A27DB-BD31-4B8C-83A1-F6EECF244321}">
                <p14:modId xmlns:p14="http://schemas.microsoft.com/office/powerpoint/2010/main" val="3762962857"/>
              </p:ext>
            </p:extLst>
          </p:nvPr>
        </p:nvGraphicFramePr>
        <p:xfrm>
          <a:off x="1125855" y="4057650"/>
          <a:ext cx="1936750" cy="1597024"/>
        </p:xfrm>
        <a:graphic>
          <a:graphicData uri="http://schemas.openxmlformats.org/drawingml/2006/table">
            <a:tbl>
              <a:tblPr firstRow="1" bandRow="1">
                <a:tableStyleId>{5940675A-B579-460E-94D1-54222C63F5DA}</a:tableStyleId>
              </a:tblPr>
              <a:tblGrid>
                <a:gridCol w="1936750">
                  <a:extLst>
                    <a:ext uri="{9D8B030D-6E8A-4147-A177-3AD203B41FA5}">
                      <a16:colId xmlns:a16="http://schemas.microsoft.com/office/drawing/2014/main" val="20000"/>
                    </a:ext>
                  </a:extLst>
                </a:gridCol>
              </a:tblGrid>
              <a:tr h="39925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b="1" dirty="0"/>
                        <a:t>3</a:t>
                      </a:r>
                      <a:r>
                        <a:rPr lang="zh-CN" altLang="en-US" sz="2400" b="1" dirty="0"/>
                        <a:t>区</a:t>
                      </a:r>
                      <a:r>
                        <a:rPr lang="en-US" altLang="zh-CN" sz="2400" b="1" dirty="0"/>
                        <a:t>(R0~R7)</a:t>
                      </a:r>
                      <a:endParaRPr lang="zh-CN" altLang="en-US" sz="24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9925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b="1" dirty="0"/>
                        <a:t>2</a:t>
                      </a:r>
                      <a:r>
                        <a:rPr lang="zh-CN" altLang="en-US" sz="2400" b="1" dirty="0"/>
                        <a:t>区</a:t>
                      </a:r>
                      <a:r>
                        <a:rPr lang="en-US" altLang="zh-CN" sz="2400" b="1" dirty="0"/>
                        <a:t>(R0~R7)</a:t>
                      </a:r>
                      <a:endParaRPr lang="zh-CN" altLang="en-US" sz="24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9925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b="1" dirty="0"/>
                        <a:t>1</a:t>
                      </a:r>
                      <a:r>
                        <a:rPr lang="zh-CN" altLang="en-US" sz="2400" b="1" dirty="0"/>
                        <a:t>区</a:t>
                      </a:r>
                      <a:r>
                        <a:rPr lang="en-US" altLang="zh-CN" sz="2400" b="1" dirty="0"/>
                        <a:t>(R0~R7)</a:t>
                      </a:r>
                      <a:endParaRPr lang="zh-CN" altLang="en-US" sz="24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99256">
                <a:tc>
                  <a:txBody>
                    <a:bodyPr/>
                    <a:lstStyle/>
                    <a:p>
                      <a:pPr algn="ctr"/>
                      <a:r>
                        <a:rPr lang="en-US" altLang="zh-CN" sz="2400" b="1" dirty="0"/>
                        <a:t>0</a:t>
                      </a:r>
                      <a:r>
                        <a:rPr lang="zh-CN" altLang="en-US" sz="2400" b="1" dirty="0"/>
                        <a:t>区</a:t>
                      </a:r>
                      <a:r>
                        <a:rPr lang="en-US" altLang="zh-CN" sz="2400" b="1" dirty="0"/>
                        <a:t>(R0~R7)</a:t>
                      </a:r>
                      <a:endParaRPr lang="zh-CN" altLang="en-US" sz="2400" b="1" dirty="0"/>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 name="矩形 2">
            <a:extLst>
              <a:ext uri="{FF2B5EF4-FFF2-40B4-BE49-F238E27FC236}">
                <a16:creationId xmlns:a16="http://schemas.microsoft.com/office/drawing/2014/main" id="{9B245CFE-D609-4847-AB1D-0E38568B53CD}"/>
              </a:ext>
            </a:extLst>
          </p:cNvPr>
          <p:cNvSpPr/>
          <p:nvPr/>
        </p:nvSpPr>
        <p:spPr>
          <a:xfrm>
            <a:off x="4454525" y="3173549"/>
            <a:ext cx="4192588" cy="461962"/>
          </a:xfrm>
          <a:prstGeom prst="rect">
            <a:avLst/>
          </a:prstGeom>
          <a:ln>
            <a:solidFill>
              <a:schemeClr val="accent1"/>
            </a:solidFill>
          </a:ln>
        </p:spPr>
        <p:txBody>
          <a:bodyPr>
            <a:spAutoFit/>
          </a:bodyPr>
          <a:lstStyle/>
          <a:p>
            <a:pPr algn="ctr" eaLnBrk="1" hangingPunct="1">
              <a:defRPr/>
            </a:pPr>
            <a:r>
              <a:rPr lang="zh-CN" altLang="en-US" sz="2400" b="1" spc="-150" dirty="0">
                <a:solidFill>
                  <a:srgbClr val="3366FF"/>
                </a:solidFill>
                <a:cs typeface="Times New Roman" panose="02020603050405020304" pitchFamily="18" charset="0"/>
              </a:rPr>
              <a:t>间接寻址 方式 </a:t>
            </a:r>
            <a:r>
              <a:rPr lang="en-GB" altLang="zh-CN" sz="2400" b="1" spc="-150" dirty="0">
                <a:solidFill>
                  <a:srgbClr val="3366FF"/>
                </a:solidFill>
                <a:cs typeface="Times New Roman" panose="02020603050405020304" pitchFamily="18" charset="0"/>
              </a:rPr>
              <a:t>“ </a:t>
            </a:r>
            <a:r>
              <a:rPr lang="en-US" altLang="zh-CN" sz="2400" b="1" spc="-150" dirty="0">
                <a:solidFill>
                  <a:srgbClr val="3366FF"/>
                </a:solidFill>
                <a:cs typeface="Times New Roman" panose="02020603050405020304" pitchFamily="18" charset="0"/>
              </a:rPr>
              <a:t>MOV(X)   @Ri ”</a:t>
            </a:r>
            <a:endParaRPr lang="zh-CN" altLang="en-US" sz="2400" b="1" spc="-150" dirty="0">
              <a:solidFill>
                <a:srgbClr val="3366FF"/>
              </a:solidFill>
            </a:endParaRPr>
          </a:p>
        </p:txBody>
      </p:sp>
      <p:sp>
        <p:nvSpPr>
          <p:cNvPr id="13" name="矩形 12">
            <a:extLst>
              <a:ext uri="{FF2B5EF4-FFF2-40B4-BE49-F238E27FC236}">
                <a16:creationId xmlns:a16="http://schemas.microsoft.com/office/drawing/2014/main" id="{72325289-7B65-4708-A501-D3940255F6DA}"/>
              </a:ext>
            </a:extLst>
          </p:cNvPr>
          <p:cNvSpPr>
            <a:spLocks noChangeArrowheads="1"/>
          </p:cNvSpPr>
          <p:nvPr/>
        </p:nvSpPr>
        <p:spPr bwMode="auto">
          <a:xfrm>
            <a:off x="5343843" y="3986212"/>
            <a:ext cx="2593975" cy="46196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66FF"/>
                </a:solidFill>
                <a:cs typeface="Times New Roman" panose="02020603050405020304" pitchFamily="18" charset="0"/>
              </a:rPr>
              <a:t>加</a:t>
            </a:r>
            <a:r>
              <a:rPr lang="en-US" altLang="zh-CN" sz="2400" b="1">
                <a:solidFill>
                  <a:srgbClr val="3366FF"/>
                </a:solidFill>
                <a:cs typeface="Times New Roman" panose="02020603050405020304" pitchFamily="18" charset="0"/>
              </a:rPr>
              <a:t>1</a:t>
            </a:r>
            <a:r>
              <a:rPr lang="zh-CN" altLang="en-US" sz="2400" b="1">
                <a:solidFill>
                  <a:srgbClr val="3366FF"/>
                </a:solidFill>
                <a:cs typeface="Times New Roman" panose="02020603050405020304" pitchFamily="18" charset="0"/>
              </a:rPr>
              <a:t>指令</a:t>
            </a:r>
            <a:r>
              <a:rPr lang="en-GB" altLang="zh-CN" sz="2400" b="1">
                <a:solidFill>
                  <a:srgbClr val="3366FF"/>
                </a:solidFill>
                <a:cs typeface="Times New Roman" panose="02020603050405020304" pitchFamily="18" charset="0"/>
              </a:rPr>
              <a:t>“</a:t>
            </a:r>
            <a:r>
              <a:rPr lang="en-US" altLang="zh-CN" sz="2400" b="1">
                <a:solidFill>
                  <a:srgbClr val="C00000"/>
                </a:solidFill>
                <a:cs typeface="Times New Roman" panose="02020603050405020304" pitchFamily="18" charset="0"/>
              </a:rPr>
              <a:t>INC R0</a:t>
            </a:r>
            <a:r>
              <a:rPr lang="en-US" altLang="zh-CN" sz="2400" b="1">
                <a:solidFill>
                  <a:srgbClr val="3366FF"/>
                </a:solidFill>
                <a:cs typeface="Times New Roman" panose="02020603050405020304" pitchFamily="18" charset="0"/>
              </a:rPr>
              <a:t>”</a:t>
            </a:r>
            <a:endParaRPr lang="zh-CN" altLang="en-US" sz="2400" b="1">
              <a:solidFill>
                <a:srgbClr val="3366FF"/>
              </a:solidFill>
            </a:endParaRPr>
          </a:p>
        </p:txBody>
      </p:sp>
      <p:sp>
        <p:nvSpPr>
          <p:cNvPr id="14" name="矩形 13">
            <a:extLst>
              <a:ext uri="{FF2B5EF4-FFF2-40B4-BE49-F238E27FC236}">
                <a16:creationId xmlns:a16="http://schemas.microsoft.com/office/drawing/2014/main" id="{E9F94CF4-FAD9-463C-8285-DF5D51B03B86}"/>
              </a:ext>
            </a:extLst>
          </p:cNvPr>
          <p:cNvSpPr/>
          <p:nvPr/>
        </p:nvSpPr>
        <p:spPr>
          <a:xfrm>
            <a:off x="4237038" y="303213"/>
            <a:ext cx="4819650" cy="523875"/>
          </a:xfrm>
          <a:prstGeom prst="rect">
            <a:avLst/>
          </a:prstGeom>
          <a:solidFill>
            <a:schemeClr val="bg1"/>
          </a:solidFill>
          <a:ln>
            <a:solidFill>
              <a:schemeClr val="accent1"/>
            </a:solidFill>
          </a:ln>
        </p:spPr>
        <p:txBody>
          <a:bodyPr>
            <a:spAutoFit/>
          </a:bodyPr>
          <a:lstStyle/>
          <a:p>
            <a:pPr algn="ctr" eaLnBrk="1" hangingPunct="1">
              <a:defRPr/>
            </a:pPr>
            <a:r>
              <a:rPr lang="zh-CN" altLang="en-US" sz="2800" b="1" spc="-150" dirty="0">
                <a:solidFill>
                  <a:srgbClr val="FF00FF"/>
                </a:solidFill>
                <a:cs typeface="Times New Roman" panose="02020603050405020304" pitchFamily="18" charset="0"/>
              </a:rPr>
              <a:t>例 </a:t>
            </a:r>
            <a:r>
              <a:rPr lang="en-GB" altLang="zh-CN" sz="2800" b="1" spc="-150" dirty="0">
                <a:solidFill>
                  <a:srgbClr val="FF00FF"/>
                </a:solidFill>
                <a:cs typeface="Times New Roman" panose="02020603050405020304" pitchFamily="18" charset="0"/>
              </a:rPr>
              <a:t>“ </a:t>
            </a:r>
            <a:r>
              <a:rPr lang="en-US" altLang="zh-CN" sz="2800" b="1" spc="-150" dirty="0">
                <a:solidFill>
                  <a:srgbClr val="FF00FF"/>
                </a:solidFill>
                <a:cs typeface="Times New Roman" panose="02020603050405020304" pitchFamily="18" charset="0"/>
              </a:rPr>
              <a:t>MOV  A,   @R0  ”</a:t>
            </a:r>
            <a:r>
              <a:rPr lang="en-US" altLang="zh-CN" sz="2800" kern="100" dirty="0">
                <a:solidFill>
                  <a:srgbClr val="FF0000"/>
                </a:solidFill>
                <a:latin typeface="Monaco"/>
                <a:ea typeface="新宋体" panose="02010609030101010101" pitchFamily="49" charset="-122"/>
                <a:cs typeface="Times New Roman" panose="02020603050405020304" pitchFamily="18" charset="0"/>
              </a:rPr>
              <a:t> </a:t>
            </a:r>
            <a:r>
              <a:rPr lang="en-US" altLang="zh-CN" sz="2400" kern="100" dirty="0">
                <a:solidFill>
                  <a:srgbClr val="FF0000"/>
                </a:solidFill>
                <a:latin typeface="Monaco"/>
                <a:ea typeface="新宋体" panose="02010609030101010101" pitchFamily="49" charset="-122"/>
                <a:cs typeface="Times New Roman" panose="02020603050405020304" pitchFamily="18" charset="0"/>
              </a:rPr>
              <a:t>(</a:t>
            </a:r>
            <a:r>
              <a:rPr lang="zh-CN" altLang="en-US" sz="2400" kern="100" dirty="0">
                <a:solidFill>
                  <a:srgbClr val="FF0000"/>
                </a:solidFill>
                <a:latin typeface="Monaco"/>
                <a:ea typeface="新宋体" panose="02010609030101010101" pitchFamily="49" charset="-122"/>
                <a:cs typeface="Times New Roman" panose="02020603050405020304" pitchFamily="18" charset="0"/>
              </a:rPr>
              <a:t>机器码</a:t>
            </a:r>
            <a:r>
              <a:rPr lang="en-US" altLang="zh-CN" sz="2400" kern="100" dirty="0">
                <a:solidFill>
                  <a:srgbClr val="FF0000"/>
                </a:solidFill>
                <a:latin typeface="Monaco"/>
                <a:ea typeface="新宋体" panose="02010609030101010101" pitchFamily="49" charset="-122"/>
                <a:cs typeface="Times New Roman" panose="02020603050405020304" pitchFamily="18" charset="0"/>
              </a:rPr>
              <a:t>E6)</a:t>
            </a:r>
            <a:endParaRPr lang="zh-CN" altLang="en-US" sz="2800" b="1" spc="-150" dirty="0">
              <a:solidFill>
                <a:srgbClr val="FF00FF"/>
              </a:solidFill>
            </a:endParaRPr>
          </a:p>
        </p:txBody>
      </p:sp>
      <p:sp>
        <p:nvSpPr>
          <p:cNvPr id="15" name="矩形 14">
            <a:extLst>
              <a:ext uri="{FF2B5EF4-FFF2-40B4-BE49-F238E27FC236}">
                <a16:creationId xmlns:a16="http://schemas.microsoft.com/office/drawing/2014/main" id="{C6EB9B7B-C110-4F53-8BF7-220ED424DACA}"/>
              </a:ext>
            </a:extLst>
          </p:cNvPr>
          <p:cNvSpPr>
            <a:spLocks noChangeArrowheads="1"/>
          </p:cNvSpPr>
          <p:nvPr/>
        </p:nvSpPr>
        <p:spPr bwMode="auto">
          <a:xfrm>
            <a:off x="5320030" y="4430712"/>
            <a:ext cx="2530475" cy="461963"/>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C00000"/>
                </a:solidFill>
              </a:rPr>
              <a:t>Inc</a:t>
            </a:r>
            <a:r>
              <a:rPr lang="en-US" altLang="zh-CN" sz="2400" b="1">
                <a:solidFill>
                  <a:srgbClr val="3366FF"/>
                </a:solidFill>
              </a:rPr>
              <a:t>rease R0 by 1</a:t>
            </a:r>
            <a:endParaRPr lang="zh-CN" altLang="en-US" sz="2400" b="1">
              <a:solidFill>
                <a:srgbClr val="3366FF"/>
              </a:solidFill>
            </a:endParaRPr>
          </a:p>
        </p:txBody>
      </p:sp>
      <p:sp>
        <p:nvSpPr>
          <p:cNvPr id="16" name="矩形 15">
            <a:extLst>
              <a:ext uri="{FF2B5EF4-FFF2-40B4-BE49-F238E27FC236}">
                <a16:creationId xmlns:a16="http://schemas.microsoft.com/office/drawing/2014/main" id="{1E7B2AB6-DDC7-4B7A-96B0-12AAEEEE9961}"/>
              </a:ext>
            </a:extLst>
          </p:cNvPr>
          <p:cNvSpPr>
            <a:spLocks noChangeArrowheads="1"/>
          </p:cNvSpPr>
          <p:nvPr/>
        </p:nvSpPr>
        <p:spPr bwMode="auto">
          <a:xfrm>
            <a:off x="5343843" y="4879975"/>
            <a:ext cx="2679700" cy="461962"/>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66FF"/>
                </a:solidFill>
                <a:cs typeface="Times New Roman" panose="02020603050405020304" pitchFamily="18" charset="0"/>
              </a:rPr>
              <a:t>减</a:t>
            </a:r>
            <a:r>
              <a:rPr lang="en-US" altLang="zh-CN" sz="2400" b="1">
                <a:solidFill>
                  <a:srgbClr val="3366FF"/>
                </a:solidFill>
                <a:cs typeface="Times New Roman" panose="02020603050405020304" pitchFamily="18" charset="0"/>
              </a:rPr>
              <a:t>1</a:t>
            </a:r>
            <a:r>
              <a:rPr lang="zh-CN" altLang="en-US" sz="2400" b="1">
                <a:solidFill>
                  <a:srgbClr val="3366FF"/>
                </a:solidFill>
                <a:cs typeface="Times New Roman" panose="02020603050405020304" pitchFamily="18" charset="0"/>
              </a:rPr>
              <a:t>指令</a:t>
            </a:r>
            <a:r>
              <a:rPr lang="en-GB" altLang="zh-CN" sz="2400" b="1">
                <a:solidFill>
                  <a:srgbClr val="3366FF"/>
                </a:solidFill>
                <a:cs typeface="Times New Roman" panose="02020603050405020304" pitchFamily="18" charset="0"/>
              </a:rPr>
              <a:t>“</a:t>
            </a:r>
            <a:r>
              <a:rPr lang="en-US" altLang="zh-CN" sz="2400" b="1">
                <a:solidFill>
                  <a:srgbClr val="C00000"/>
                </a:solidFill>
                <a:cs typeface="Times New Roman" panose="02020603050405020304" pitchFamily="18" charset="0"/>
              </a:rPr>
              <a:t>DEC R0</a:t>
            </a:r>
            <a:r>
              <a:rPr lang="en-US" altLang="zh-CN" sz="2400" b="1">
                <a:solidFill>
                  <a:srgbClr val="3366FF"/>
                </a:solidFill>
                <a:cs typeface="Times New Roman" panose="02020603050405020304" pitchFamily="18" charset="0"/>
              </a:rPr>
              <a:t>”</a:t>
            </a:r>
            <a:endParaRPr lang="zh-CN" altLang="en-US" sz="2400" b="1">
              <a:solidFill>
                <a:srgbClr val="3366FF"/>
              </a:solidFill>
            </a:endParaRPr>
          </a:p>
        </p:txBody>
      </p:sp>
      <p:sp>
        <p:nvSpPr>
          <p:cNvPr id="17" name="矩形 16">
            <a:extLst>
              <a:ext uri="{FF2B5EF4-FFF2-40B4-BE49-F238E27FC236}">
                <a16:creationId xmlns:a16="http://schemas.microsoft.com/office/drawing/2014/main" id="{AAFA186C-1499-4866-A834-D09CFDBCEF41}"/>
              </a:ext>
            </a:extLst>
          </p:cNvPr>
          <p:cNvSpPr>
            <a:spLocks noChangeArrowheads="1"/>
          </p:cNvSpPr>
          <p:nvPr/>
        </p:nvSpPr>
        <p:spPr bwMode="auto">
          <a:xfrm>
            <a:off x="5375593" y="5341937"/>
            <a:ext cx="2532062" cy="460375"/>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C00000"/>
                </a:solidFill>
              </a:rPr>
              <a:t>Dec</a:t>
            </a:r>
            <a:r>
              <a:rPr lang="en-US" altLang="zh-CN" sz="2400" b="1">
                <a:solidFill>
                  <a:srgbClr val="3366FF"/>
                </a:solidFill>
              </a:rPr>
              <a:t>rease R0 by 1</a:t>
            </a:r>
            <a:endParaRPr lang="zh-CN" altLang="en-US" sz="2400" b="1">
              <a:solidFill>
                <a:srgbClr val="3366FF"/>
              </a:solidFill>
            </a:endParaRPr>
          </a:p>
        </p:txBody>
      </p:sp>
      <p:sp>
        <p:nvSpPr>
          <p:cNvPr id="4" name="灯片编号占位符 3">
            <a:extLst>
              <a:ext uri="{FF2B5EF4-FFF2-40B4-BE49-F238E27FC236}">
                <a16:creationId xmlns:a16="http://schemas.microsoft.com/office/drawing/2014/main" id="{9EA7D8A6-6FA4-45D3-9FF3-E646258A1F08}"/>
              </a:ext>
            </a:extLst>
          </p:cNvPr>
          <p:cNvSpPr>
            <a:spLocks noGrp="1"/>
          </p:cNvSpPr>
          <p:nvPr>
            <p:ph type="sldNum" sz="quarter" idx="12"/>
          </p:nvPr>
        </p:nvSpPr>
        <p:spPr/>
        <p:txBody>
          <a:bodyPr/>
          <a:lstStyle/>
          <a:p>
            <a:fld id="{22E77DEE-32E4-4009-988B-F2758F7B8AC2}" type="slidenum">
              <a:rPr lang="zh-CN" altLang="en-US" smtClean="0"/>
              <a:t>35</a:t>
            </a:fld>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3">
            <a:extLst>
              <a:ext uri="{FF2B5EF4-FFF2-40B4-BE49-F238E27FC236}">
                <a16:creationId xmlns:a16="http://schemas.microsoft.com/office/drawing/2014/main" id="{4174A8B8-9B8D-4461-92A7-B5DD74B6ED98}"/>
              </a:ext>
            </a:extLst>
          </p:cNvPr>
          <p:cNvSpPr>
            <a:spLocks noGrp="1" noChangeArrowheads="1"/>
          </p:cNvSpPr>
          <p:nvPr>
            <p:ph type="title"/>
          </p:nvPr>
        </p:nvSpPr>
        <p:spPr>
          <a:xfrm>
            <a:off x="919479" y="563563"/>
            <a:ext cx="7781607" cy="504825"/>
          </a:xfrm>
        </p:spPr>
        <p:txBody>
          <a:bodyPr>
            <a:normAutofit fontScale="90000"/>
          </a:bodyPr>
          <a:lstStyle/>
          <a:p>
            <a:pPr eaLnBrk="1" hangingPunct="1"/>
            <a:r>
              <a:rPr lang="zh-CN" altLang="en-US" dirty="0">
                <a:hlinkClick r:id="rId2" action="ppaction://hlinksldjump"/>
              </a:rPr>
              <a:t>用户</a:t>
            </a:r>
            <a:r>
              <a:rPr lang="en-US" altLang="zh-CN" dirty="0">
                <a:hlinkClick r:id="rId2" action="ppaction://hlinksldjump"/>
              </a:rPr>
              <a:t>RAM</a:t>
            </a:r>
            <a:r>
              <a:rPr lang="zh-CN" altLang="en-US" dirty="0">
                <a:hlinkClick r:id="rId2" action="ppaction://hlinksldjump"/>
              </a:rPr>
              <a:t>和堆栈区</a:t>
            </a:r>
            <a:endParaRPr lang="zh-CN" altLang="en-US" dirty="0"/>
          </a:p>
        </p:txBody>
      </p:sp>
      <p:sp>
        <p:nvSpPr>
          <p:cNvPr id="477187" name="Rectangle 3">
            <a:extLst>
              <a:ext uri="{FF2B5EF4-FFF2-40B4-BE49-F238E27FC236}">
                <a16:creationId xmlns:a16="http://schemas.microsoft.com/office/drawing/2014/main" id="{859715E3-64C8-4DEA-88A0-50F389F189DE}"/>
              </a:ext>
            </a:extLst>
          </p:cNvPr>
          <p:cNvSpPr>
            <a:spLocks noGrp="1" noChangeArrowheads="1"/>
          </p:cNvSpPr>
          <p:nvPr>
            <p:ph idx="1"/>
          </p:nvPr>
        </p:nvSpPr>
        <p:spPr>
          <a:xfrm>
            <a:off x="711200" y="1407161"/>
            <a:ext cx="7482840" cy="3662680"/>
          </a:xfrm>
        </p:spPr>
        <p:txBody>
          <a:bodyPr/>
          <a:lstStyle/>
          <a:p>
            <a:pPr marL="174625" lvl="1" indent="-174625" algn="l" eaLnBrk="1" hangingPunct="1">
              <a:spcBef>
                <a:spcPct val="0"/>
              </a:spcBef>
              <a:spcAft>
                <a:spcPts val="1200"/>
              </a:spcAft>
            </a:pPr>
            <a:r>
              <a:rPr lang="zh-CN" altLang="en-US" dirty="0">
                <a:latin typeface="Times New Roman" panose="02020603050405020304" pitchFamily="18" charset="0"/>
                <a:cs typeface="Times New Roman" panose="02020603050405020304" pitchFamily="18" charset="0"/>
              </a:rPr>
              <a:t>内部</a:t>
            </a:r>
            <a:r>
              <a:rPr lang="en-US" altLang="zh-CN" dirty="0">
                <a:latin typeface="Times New Roman" panose="02020603050405020304" pitchFamily="18" charset="0"/>
                <a:cs typeface="Times New Roman" panose="02020603050405020304" pitchFamily="18" charset="0"/>
              </a:rPr>
              <a:t>RAM</a:t>
            </a:r>
            <a:r>
              <a:rPr lang="zh-CN" altLang="en-US" dirty="0">
                <a:latin typeface="Times New Roman" panose="02020603050405020304" pitchFamily="18" charset="0"/>
                <a:cs typeface="Times New Roman" panose="02020603050405020304" pitchFamily="18" charset="0"/>
              </a:rPr>
              <a:t>中的</a:t>
            </a:r>
            <a:r>
              <a:rPr lang="en-US" altLang="zh-CN" dirty="0">
                <a:solidFill>
                  <a:srgbClr val="FF0000"/>
                </a:solidFill>
                <a:latin typeface="Times New Roman" panose="02020603050405020304" pitchFamily="18" charset="0"/>
                <a:cs typeface="Times New Roman" panose="02020603050405020304" pitchFamily="18" charset="0"/>
              </a:rPr>
              <a:t>30H</a:t>
            </a:r>
            <a:r>
              <a:rPr lang="zh-CN" altLang="en-US" dirty="0">
                <a:solidFill>
                  <a:srgbClr val="FF0000"/>
                </a:solidFill>
                <a:latin typeface="Times New Roman" panose="02020603050405020304" pitchFamily="18" charset="0"/>
                <a:cs typeface="Times New Roman" panose="02020603050405020304" pitchFamily="18" charset="0"/>
              </a:rPr>
              <a:t>～</a:t>
            </a:r>
            <a:r>
              <a:rPr lang="en-US" altLang="zh-CN" dirty="0">
                <a:solidFill>
                  <a:srgbClr val="FF0000"/>
                </a:solidFill>
                <a:latin typeface="Times New Roman" panose="02020603050405020304" pitchFamily="18" charset="0"/>
                <a:cs typeface="Times New Roman" panose="02020603050405020304" pitchFamily="18" charset="0"/>
              </a:rPr>
              <a:t>7FH</a:t>
            </a:r>
            <a:r>
              <a:rPr lang="zh-CN" altLang="en-US" dirty="0">
                <a:latin typeface="Times New Roman" panose="02020603050405020304" pitchFamily="18" charset="0"/>
                <a:cs typeface="Times New Roman" panose="02020603050405020304" pitchFamily="18" charset="0"/>
              </a:rPr>
              <a:t>单元是用户</a:t>
            </a:r>
            <a:r>
              <a:rPr lang="en-US" altLang="zh-CN" dirty="0">
                <a:latin typeface="Times New Roman" panose="02020603050405020304" pitchFamily="18" charset="0"/>
                <a:cs typeface="Times New Roman" panose="02020603050405020304" pitchFamily="18" charset="0"/>
              </a:rPr>
              <a:t>RAM</a:t>
            </a:r>
            <a:r>
              <a:rPr lang="zh-CN" altLang="en-US" dirty="0">
                <a:latin typeface="Times New Roman" panose="02020603050405020304" pitchFamily="18" charset="0"/>
                <a:cs typeface="Times New Roman" panose="02020603050405020304" pitchFamily="18" charset="0"/>
              </a:rPr>
              <a:t>和堆栈区。</a:t>
            </a:r>
          </a:p>
          <a:p>
            <a:pPr marL="174625" lvl="1" indent="-174625" algn="l" eaLnBrk="1" hangingPunct="1">
              <a:spcBef>
                <a:spcPct val="0"/>
              </a:spcBef>
              <a:spcAft>
                <a:spcPts val="1200"/>
              </a:spcAft>
            </a:pPr>
            <a:r>
              <a:rPr lang="zh-CN" altLang="en-US" dirty="0">
                <a:latin typeface="Times New Roman" panose="02020603050405020304" pitchFamily="18" charset="0"/>
                <a:cs typeface="Times New Roman" panose="02020603050405020304" pitchFamily="18" charset="0"/>
              </a:rPr>
              <a:t>有</a:t>
            </a:r>
            <a:r>
              <a:rPr lang="zh-CN" altLang="en-GB" dirty="0">
                <a:latin typeface="Times New Roman" panose="02020603050405020304" pitchFamily="18" charset="0"/>
                <a:cs typeface="Times New Roman" panose="02020603050405020304" pitchFamily="18" charset="0"/>
              </a:rPr>
              <a:t>一个</a:t>
            </a:r>
            <a:r>
              <a:rPr lang="en-GB" altLang="zh-CN" dirty="0">
                <a:solidFill>
                  <a:srgbClr val="FF0000"/>
                </a:solidFill>
                <a:latin typeface="Times New Roman" panose="02020603050405020304" pitchFamily="18" charset="0"/>
                <a:cs typeface="Times New Roman" panose="02020603050405020304" pitchFamily="18" charset="0"/>
              </a:rPr>
              <a:t>8</a:t>
            </a:r>
            <a:r>
              <a:rPr lang="zh-CN" altLang="en-GB" dirty="0">
                <a:solidFill>
                  <a:srgbClr val="FF0000"/>
                </a:solidFill>
                <a:latin typeface="Times New Roman" panose="02020603050405020304" pitchFamily="18" charset="0"/>
                <a:cs typeface="Times New Roman" panose="02020603050405020304" pitchFamily="18" charset="0"/>
              </a:rPr>
              <a:t>位的堆栈指针</a:t>
            </a:r>
            <a:r>
              <a:rPr lang="en-GB" altLang="zh-CN" dirty="0">
                <a:solidFill>
                  <a:srgbClr val="FF0000"/>
                </a:solidFill>
                <a:latin typeface="Times New Roman" panose="02020603050405020304" pitchFamily="18" charset="0"/>
                <a:cs typeface="Times New Roman" panose="02020603050405020304" pitchFamily="18" charset="0"/>
              </a:rPr>
              <a:t>SP</a:t>
            </a:r>
            <a:r>
              <a:rPr lang="zh-CN" altLang="en-GB" dirty="0">
                <a:latin typeface="Times New Roman" panose="02020603050405020304" pitchFamily="18" charset="0"/>
                <a:cs typeface="Times New Roman" panose="02020603050405020304" pitchFamily="18" charset="0"/>
              </a:rPr>
              <a:t>，并且</a:t>
            </a:r>
            <a:r>
              <a:rPr lang="zh-CN" altLang="en-GB" dirty="0">
                <a:solidFill>
                  <a:srgbClr val="0000CC"/>
                </a:solidFill>
                <a:latin typeface="Times New Roman" panose="02020603050405020304" pitchFamily="18" charset="0"/>
                <a:cs typeface="Times New Roman" panose="02020603050405020304" pitchFamily="18" charset="0"/>
              </a:rPr>
              <a:t>堆栈区</a:t>
            </a:r>
            <a:r>
              <a:rPr lang="zh-CN" altLang="en-GB" dirty="0">
                <a:latin typeface="Times New Roman" panose="02020603050405020304" pitchFamily="18" charset="0"/>
                <a:cs typeface="Times New Roman" panose="02020603050405020304" pitchFamily="18" charset="0"/>
              </a:rPr>
              <a:t>只能设置在</a:t>
            </a:r>
            <a:r>
              <a:rPr lang="zh-CN" altLang="en-GB" dirty="0">
                <a:solidFill>
                  <a:srgbClr val="9900CC"/>
                </a:solidFill>
                <a:latin typeface="Times New Roman" panose="02020603050405020304" pitchFamily="18" charset="0"/>
                <a:cs typeface="Times New Roman" panose="02020603050405020304" pitchFamily="18" charset="0"/>
              </a:rPr>
              <a:t>内部数据存储区</a:t>
            </a:r>
            <a:r>
              <a:rPr lang="zh-CN" altLang="en-GB" dirty="0">
                <a:latin typeface="Times New Roman" panose="02020603050405020304" pitchFamily="18" charset="0"/>
                <a:cs typeface="Times New Roman" panose="02020603050405020304" pitchFamily="18" charset="0"/>
              </a:rPr>
              <a:t>。当有子程序调用和中断请求时，</a:t>
            </a:r>
            <a:r>
              <a:rPr lang="zh-CN" altLang="en-GB" dirty="0">
                <a:solidFill>
                  <a:srgbClr val="0000CC"/>
                </a:solidFill>
                <a:latin typeface="Times New Roman" panose="02020603050405020304" pitchFamily="18" charset="0"/>
                <a:cs typeface="Times New Roman" panose="02020603050405020304" pitchFamily="18" charset="0"/>
              </a:rPr>
              <a:t>返回地址等信息被</a:t>
            </a:r>
            <a:r>
              <a:rPr lang="zh-CN" altLang="en-GB" dirty="0">
                <a:latin typeface="Times New Roman" panose="02020603050405020304" pitchFamily="18" charset="0"/>
                <a:cs typeface="Times New Roman" panose="02020603050405020304" pitchFamily="18" charset="0"/>
              </a:rPr>
              <a:t>自动保存在堆栈内。</a:t>
            </a:r>
          </a:p>
          <a:p>
            <a:pPr marL="174625" lvl="1" indent="-174625" algn="l" eaLnBrk="1" hangingPunct="1">
              <a:spcBef>
                <a:spcPct val="0"/>
              </a:spcBef>
              <a:spcAft>
                <a:spcPts val="1200"/>
              </a:spcAft>
            </a:pPr>
            <a:r>
              <a:rPr lang="en-US" altLang="zh-CN" dirty="0">
                <a:latin typeface="Times New Roman" panose="02020603050405020304" pitchFamily="18" charset="0"/>
                <a:cs typeface="Times New Roman" panose="02020603050405020304" pitchFamily="18" charset="0"/>
              </a:rPr>
              <a:t>IAP15W4K58S4</a:t>
            </a:r>
            <a:r>
              <a:rPr lang="zh-CN" altLang="en-GB" dirty="0">
                <a:latin typeface="Times New Roman" panose="02020603050405020304" pitchFamily="18" charset="0"/>
                <a:cs typeface="Times New Roman" panose="02020603050405020304" pitchFamily="18" charset="0"/>
              </a:rPr>
              <a:t>单片机</a:t>
            </a:r>
            <a:r>
              <a:rPr lang="zh-CN" altLang="en-GB" dirty="0">
                <a:solidFill>
                  <a:srgbClr val="FF0000"/>
                </a:solidFill>
                <a:latin typeface="Times New Roman" panose="02020603050405020304" pitchFamily="18" charset="0"/>
                <a:cs typeface="Times New Roman" panose="02020603050405020304" pitchFamily="18" charset="0"/>
              </a:rPr>
              <a:t>复位后，</a:t>
            </a:r>
            <a:r>
              <a:rPr lang="en-GB" altLang="zh-CN" dirty="0">
                <a:solidFill>
                  <a:srgbClr val="FF0000"/>
                </a:solidFill>
                <a:latin typeface="Times New Roman" panose="02020603050405020304" pitchFamily="18" charset="0"/>
                <a:cs typeface="Times New Roman" panose="02020603050405020304" pitchFamily="18" charset="0"/>
              </a:rPr>
              <a:t>SP</a:t>
            </a:r>
            <a:r>
              <a:rPr lang="zh-CN" altLang="en-GB" dirty="0">
                <a:solidFill>
                  <a:srgbClr val="FF0000"/>
                </a:solidFill>
                <a:latin typeface="Times New Roman" panose="02020603050405020304" pitchFamily="18" charset="0"/>
                <a:cs typeface="Times New Roman" panose="02020603050405020304" pitchFamily="18" charset="0"/>
              </a:rPr>
              <a:t>为</a:t>
            </a:r>
            <a:r>
              <a:rPr lang="en-GB" altLang="zh-CN" dirty="0">
                <a:solidFill>
                  <a:srgbClr val="FF0000"/>
                </a:solidFill>
                <a:latin typeface="Times New Roman" panose="02020603050405020304" pitchFamily="18" charset="0"/>
                <a:cs typeface="Times New Roman" panose="02020603050405020304" pitchFamily="18" charset="0"/>
              </a:rPr>
              <a:t>07H</a:t>
            </a:r>
            <a:r>
              <a:rPr lang="zh-CN" altLang="en-GB" dirty="0">
                <a:latin typeface="Times New Roman" panose="02020603050405020304" pitchFamily="18" charset="0"/>
                <a:cs typeface="Times New Roman" panose="02020603050405020304" pitchFamily="18" charset="0"/>
              </a:rPr>
              <a:t>，使堆栈事实上</a:t>
            </a:r>
            <a:r>
              <a:rPr lang="zh-CN" altLang="en-GB" dirty="0">
                <a:solidFill>
                  <a:srgbClr val="FF0000"/>
                </a:solidFill>
                <a:latin typeface="Times New Roman" panose="02020603050405020304" pitchFamily="18" charset="0"/>
                <a:cs typeface="Times New Roman" panose="02020603050405020304" pitchFamily="18" charset="0"/>
              </a:rPr>
              <a:t>由</a:t>
            </a:r>
            <a:r>
              <a:rPr lang="en-GB" altLang="zh-CN" dirty="0">
                <a:solidFill>
                  <a:srgbClr val="FF0000"/>
                </a:solidFill>
                <a:latin typeface="Times New Roman" panose="02020603050405020304" pitchFamily="18" charset="0"/>
                <a:cs typeface="Times New Roman" panose="02020603050405020304" pitchFamily="18" charset="0"/>
              </a:rPr>
              <a:t>08H</a:t>
            </a:r>
            <a:r>
              <a:rPr lang="zh-CN" altLang="en-GB" dirty="0">
                <a:solidFill>
                  <a:srgbClr val="FF0000"/>
                </a:solidFill>
                <a:latin typeface="Times New Roman" panose="02020603050405020304" pitchFamily="18" charset="0"/>
                <a:cs typeface="Times New Roman" panose="02020603050405020304" pitchFamily="18" charset="0"/>
              </a:rPr>
              <a:t>单元开始</a:t>
            </a:r>
            <a:r>
              <a:rPr lang="en-US" altLang="zh-CN" dirty="0">
                <a:latin typeface="Times New Roman" panose="02020603050405020304" pitchFamily="18" charset="0"/>
                <a:cs typeface="Times New Roman" panose="02020603050405020304" pitchFamily="18" charset="0"/>
              </a:rPr>
              <a:t>(</a:t>
            </a:r>
            <a:r>
              <a:rPr lang="zh-CN" altLang="en-US" dirty="0">
                <a:solidFill>
                  <a:srgbClr val="FF00FF"/>
                </a:solidFill>
                <a:latin typeface="Times New Roman" panose="02020603050405020304" pitchFamily="18" charset="0"/>
                <a:cs typeface="Times New Roman" panose="02020603050405020304" pitchFamily="18" charset="0"/>
              </a:rPr>
              <a:t>数据进栈前</a:t>
            </a:r>
            <a:r>
              <a:rPr lang="en-US" altLang="zh-CN" dirty="0">
                <a:solidFill>
                  <a:srgbClr val="FF00FF"/>
                </a:solidFill>
                <a:latin typeface="Times New Roman" panose="02020603050405020304" pitchFamily="18" charset="0"/>
                <a:cs typeface="Times New Roman" panose="02020603050405020304" pitchFamily="18" charset="0"/>
              </a:rPr>
              <a:t>SP</a:t>
            </a:r>
            <a:r>
              <a:rPr lang="zh-CN" altLang="en-US" dirty="0">
                <a:solidFill>
                  <a:srgbClr val="FF00FF"/>
                </a:solidFill>
                <a:latin typeface="Times New Roman" panose="02020603050405020304" pitchFamily="18" charset="0"/>
                <a:cs typeface="Times New Roman" panose="02020603050405020304" pitchFamily="18" charset="0"/>
              </a:rPr>
              <a:t>先加</a:t>
            </a:r>
            <a:r>
              <a:rPr lang="en-US" altLang="zh-CN" dirty="0">
                <a:solidFill>
                  <a:srgbClr val="FF00FF"/>
                </a:solidFill>
                <a:latin typeface="Times New Roman" panose="02020603050405020304" pitchFamily="18" charset="0"/>
                <a:cs typeface="Times New Roman" panose="02020603050405020304" pitchFamily="18" charset="0"/>
              </a:rPr>
              <a:t>1,</a:t>
            </a:r>
            <a:r>
              <a:rPr lang="zh-CN" altLang="en-US" dirty="0">
                <a:solidFill>
                  <a:srgbClr val="FF00FF"/>
                </a:solidFill>
                <a:latin typeface="Times New Roman" panose="02020603050405020304" pitchFamily="18" charset="0"/>
                <a:cs typeface="Times New Roman" panose="02020603050405020304" pitchFamily="18" charset="0"/>
              </a:rPr>
              <a:t>再进栈</a:t>
            </a:r>
            <a:r>
              <a:rPr lang="en-US" altLang="zh-CN" dirty="0">
                <a:latin typeface="Times New Roman" panose="02020603050405020304" pitchFamily="18" charset="0"/>
                <a:cs typeface="Times New Roman" panose="02020603050405020304" pitchFamily="18" charset="0"/>
              </a:rPr>
              <a:t>),</a:t>
            </a:r>
          </a:p>
          <a:p>
            <a:pPr marL="174625" lvl="1" indent="-174625" algn="l" eaLnBrk="1" hangingPunct="1">
              <a:spcBef>
                <a:spcPct val="0"/>
              </a:spcBef>
              <a:spcAft>
                <a:spcPts val="1200"/>
              </a:spcAft>
            </a:pPr>
            <a:r>
              <a:rPr lang="zh-CN" altLang="en-GB" dirty="0">
                <a:latin typeface="Times New Roman" panose="02020603050405020304" pitchFamily="18" charset="0"/>
                <a:cs typeface="Times New Roman" panose="02020603050405020304" pitchFamily="18" charset="0"/>
              </a:rPr>
              <a:t>考虑</a:t>
            </a:r>
            <a:r>
              <a:rPr lang="en-GB" altLang="zh-CN" dirty="0">
                <a:latin typeface="Times New Roman" panose="02020603050405020304" pitchFamily="18" charset="0"/>
                <a:cs typeface="Times New Roman" panose="02020603050405020304" pitchFamily="18" charset="0"/>
                <a:hlinkClick r:id="rId2" action="ppaction://hlinksldjump"/>
              </a:rPr>
              <a:t>08H~1FH</a:t>
            </a:r>
            <a:r>
              <a:rPr lang="zh-CN" altLang="en-GB" dirty="0">
                <a:latin typeface="Times New Roman" panose="02020603050405020304" pitchFamily="18" charset="0"/>
                <a:cs typeface="Times New Roman" panose="02020603050405020304" pitchFamily="18" charset="0"/>
              </a:rPr>
              <a:t>单元分别属于</a:t>
            </a:r>
            <a:r>
              <a:rPr lang="zh-CN" altLang="en-GB" dirty="0">
                <a:latin typeface="Times New Roman" panose="02020603050405020304" pitchFamily="18" charset="0"/>
                <a:cs typeface="Times New Roman" panose="02020603050405020304" pitchFamily="18" charset="0"/>
                <a:hlinkClick r:id="rId2" action="ppaction://hlinksldjump"/>
              </a:rPr>
              <a:t>工作寄存器组</a:t>
            </a:r>
            <a:r>
              <a:rPr lang="en-GB" altLang="zh-CN" dirty="0">
                <a:latin typeface="Times New Roman" panose="02020603050405020304" pitchFamily="18" charset="0"/>
                <a:cs typeface="Times New Roman" panose="02020603050405020304" pitchFamily="18" charset="0"/>
                <a:hlinkClick r:id="rId2" action="ppaction://hlinksldjump"/>
              </a:rPr>
              <a:t>1~3</a:t>
            </a:r>
            <a:r>
              <a:rPr lang="en-US" altLang="zh-CN" dirty="0">
                <a:latin typeface="Times New Roman" panose="02020603050405020304" pitchFamily="18" charset="0"/>
                <a:cs typeface="Times New Roman" panose="02020603050405020304" pitchFamily="18" charset="0"/>
              </a:rPr>
              <a:t>,  </a:t>
            </a:r>
            <a:r>
              <a:rPr lang="zh-CN" altLang="en-GB" dirty="0">
                <a:latin typeface="Times New Roman" panose="02020603050405020304" pitchFamily="18" charset="0"/>
                <a:cs typeface="Times New Roman" panose="02020603050405020304" pitchFamily="18" charset="0"/>
              </a:rPr>
              <a:t>若在程序中用到这些工作寄存器</a:t>
            </a:r>
            <a:r>
              <a:rPr lang="en-US" altLang="zh-CN" dirty="0">
                <a:latin typeface="Times New Roman" panose="02020603050405020304" pitchFamily="18" charset="0"/>
                <a:cs typeface="Times New Roman" panose="02020603050405020304" pitchFamily="18" charset="0"/>
              </a:rPr>
              <a:t>,  </a:t>
            </a:r>
            <a:r>
              <a:rPr lang="zh-CN" altLang="en-GB" dirty="0">
                <a:latin typeface="Times New Roman" panose="02020603050405020304" pitchFamily="18" charset="0"/>
                <a:cs typeface="Times New Roman" panose="02020603050405020304" pitchFamily="18" charset="0"/>
              </a:rPr>
              <a:t>则在用户初始化程序中，</a:t>
            </a:r>
            <a:r>
              <a:rPr lang="zh-CN" altLang="en-GB" dirty="0">
                <a:solidFill>
                  <a:srgbClr val="9900CC"/>
                </a:solidFill>
                <a:latin typeface="Times New Roman" panose="02020603050405020304" pitchFamily="18" charset="0"/>
                <a:cs typeface="Times New Roman" panose="02020603050405020304" pitchFamily="18" charset="0"/>
              </a:rPr>
              <a:t>最好把</a:t>
            </a:r>
            <a:r>
              <a:rPr lang="en-GB" altLang="zh-CN" dirty="0">
                <a:solidFill>
                  <a:srgbClr val="9900CC"/>
                </a:solidFill>
                <a:latin typeface="Times New Roman" panose="02020603050405020304" pitchFamily="18" charset="0"/>
                <a:cs typeface="Times New Roman" panose="02020603050405020304" pitchFamily="18" charset="0"/>
              </a:rPr>
              <a:t>SP</a:t>
            </a:r>
            <a:r>
              <a:rPr lang="zh-CN" altLang="en-GB" dirty="0">
                <a:solidFill>
                  <a:srgbClr val="9900CC"/>
                </a:solidFill>
                <a:latin typeface="Times New Roman" panose="02020603050405020304" pitchFamily="18" charset="0"/>
                <a:cs typeface="Times New Roman" panose="02020603050405020304" pitchFamily="18" charset="0"/>
              </a:rPr>
              <a:t>的值改变为</a:t>
            </a:r>
            <a:r>
              <a:rPr lang="en-GB" altLang="zh-CN" dirty="0">
                <a:solidFill>
                  <a:srgbClr val="9900CC"/>
                </a:solidFill>
                <a:latin typeface="Times New Roman" panose="02020603050405020304" pitchFamily="18" charset="0"/>
                <a:cs typeface="Times New Roman" panose="02020603050405020304" pitchFamily="18" charset="0"/>
              </a:rPr>
              <a:t>80H</a:t>
            </a:r>
            <a:r>
              <a:rPr lang="zh-CN" altLang="en-GB" dirty="0">
                <a:solidFill>
                  <a:srgbClr val="9900CC"/>
                </a:solidFill>
                <a:latin typeface="Times New Roman" panose="02020603050405020304" pitchFamily="18" charset="0"/>
                <a:cs typeface="Times New Roman" panose="02020603050405020304" pitchFamily="18" charset="0"/>
              </a:rPr>
              <a:t>或更大</a:t>
            </a:r>
            <a:r>
              <a:rPr lang="zh-CN" altLang="en-GB" dirty="0">
                <a:latin typeface="Times New Roman" panose="02020603050405020304" pitchFamily="18" charset="0"/>
                <a:cs typeface="Times New Roman" panose="02020603050405020304" pitchFamily="18" charset="0"/>
              </a:rPr>
              <a:t>。</a:t>
            </a:r>
          </a:p>
          <a:p>
            <a:pPr marL="174625" lvl="1" indent="-174625" algn="l" eaLnBrk="1" hangingPunct="1">
              <a:spcBef>
                <a:spcPct val="0"/>
              </a:spcBef>
              <a:spcAft>
                <a:spcPts val="1200"/>
              </a:spcAft>
            </a:pPr>
            <a:r>
              <a:rPr lang="en-US" altLang="zh-CN" dirty="0">
                <a:latin typeface="Times New Roman" panose="02020603050405020304" pitchFamily="18" charset="0"/>
                <a:cs typeface="Times New Roman" panose="02020603050405020304" pitchFamily="18" charset="0"/>
              </a:rPr>
              <a:t>IAP15W4K58S4</a:t>
            </a:r>
            <a:r>
              <a:rPr lang="zh-CN" altLang="en-GB" dirty="0">
                <a:latin typeface="Times New Roman" panose="02020603050405020304" pitchFamily="18" charset="0"/>
                <a:cs typeface="Times New Roman" panose="02020603050405020304" pitchFamily="18" charset="0"/>
              </a:rPr>
              <a:t>单片机的堆栈是朝地址增大的方向生成</a:t>
            </a:r>
            <a:r>
              <a:rPr lang="en-US" altLang="zh-CN" dirty="0">
                <a:latin typeface="Times New Roman" panose="02020603050405020304" pitchFamily="18" charset="0"/>
                <a:cs typeface="Times New Roman" panose="02020603050405020304" pitchFamily="18" charset="0"/>
              </a:rPr>
              <a:t>, </a:t>
            </a:r>
            <a:r>
              <a:rPr lang="zh-CN" altLang="en-GB" dirty="0">
                <a:latin typeface="Times New Roman" panose="02020603050405020304" pitchFamily="18" charset="0"/>
                <a:cs typeface="Times New Roman" panose="02020603050405020304" pitchFamily="18" charset="0"/>
              </a:rPr>
              <a:t>即</a:t>
            </a:r>
            <a:r>
              <a:rPr lang="zh-CN" altLang="en-GB" dirty="0">
                <a:solidFill>
                  <a:srgbClr val="FF0000"/>
                </a:solidFill>
                <a:latin typeface="Times New Roman" panose="02020603050405020304" pitchFamily="18" charset="0"/>
                <a:cs typeface="Times New Roman" panose="02020603050405020304" pitchFamily="18" charset="0"/>
              </a:rPr>
              <a:t>数据压栈</a:t>
            </a:r>
            <a:r>
              <a:rPr lang="zh-CN" altLang="en-US" dirty="0">
                <a:solidFill>
                  <a:srgbClr val="FF0000"/>
                </a:solidFill>
                <a:latin typeface="Times New Roman" panose="02020603050405020304" pitchFamily="18" charset="0"/>
                <a:cs typeface="Times New Roman" panose="02020603050405020304" pitchFamily="18" charset="0"/>
              </a:rPr>
              <a:t>操作</a:t>
            </a:r>
            <a:r>
              <a:rPr lang="zh-CN" altLang="en-GB" dirty="0">
                <a:solidFill>
                  <a:srgbClr val="FF0000"/>
                </a:solidFill>
                <a:latin typeface="Times New Roman" panose="02020603050405020304" pitchFamily="18" charset="0"/>
                <a:cs typeface="Times New Roman" panose="02020603050405020304" pitchFamily="18" charset="0"/>
              </a:rPr>
              <a:t>后</a:t>
            </a:r>
            <a:r>
              <a:rPr lang="en-US" altLang="zh-CN" dirty="0">
                <a:solidFill>
                  <a:srgbClr val="FF0000"/>
                </a:solidFill>
                <a:latin typeface="Times New Roman" panose="02020603050405020304" pitchFamily="18" charset="0"/>
                <a:cs typeface="Times New Roman" panose="02020603050405020304" pitchFamily="18" charset="0"/>
              </a:rPr>
              <a:t>, </a:t>
            </a:r>
            <a:r>
              <a:rPr lang="en-GB" altLang="zh-CN" dirty="0">
                <a:solidFill>
                  <a:srgbClr val="FF0000"/>
                </a:solidFill>
                <a:latin typeface="Times New Roman" panose="02020603050405020304" pitchFamily="18" charset="0"/>
                <a:cs typeface="Times New Roman" panose="02020603050405020304" pitchFamily="18" charset="0"/>
              </a:rPr>
              <a:t>SP</a:t>
            </a:r>
            <a:r>
              <a:rPr lang="zh-CN" altLang="en-GB" dirty="0">
                <a:solidFill>
                  <a:srgbClr val="FF0000"/>
                </a:solidFill>
                <a:latin typeface="Times New Roman" panose="02020603050405020304" pitchFamily="18" charset="0"/>
                <a:cs typeface="Times New Roman" panose="02020603050405020304" pitchFamily="18" charset="0"/>
              </a:rPr>
              <a:t>的值增大</a:t>
            </a:r>
            <a:r>
              <a:rPr lang="en-US" altLang="zh-CN" dirty="0">
                <a:solidFill>
                  <a:srgbClr val="FF0000"/>
                </a:solidFill>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先</a:t>
            </a:r>
            <a:r>
              <a:rPr lang="en-GB" altLang="zh-CN" dirty="0">
                <a:solidFill>
                  <a:srgbClr val="FF0000"/>
                </a:solidFill>
                <a:latin typeface="Times New Roman" panose="02020603050405020304" pitchFamily="18" charset="0"/>
                <a:cs typeface="Times New Roman" panose="02020603050405020304" pitchFamily="18" charset="0"/>
              </a:rPr>
              <a:t>SP</a:t>
            </a:r>
            <a:r>
              <a:rPr lang="en-US" altLang="zh-CN" dirty="0">
                <a:solidFill>
                  <a:srgbClr val="FF0000"/>
                </a:solidFill>
                <a:latin typeface="Times New Roman" panose="02020603050405020304" pitchFamily="18" charset="0"/>
                <a:cs typeface="Times New Roman" panose="02020603050405020304" pitchFamily="18" charset="0"/>
              </a:rPr>
              <a:t>+1, </a:t>
            </a:r>
            <a:r>
              <a:rPr lang="zh-CN" altLang="en-US" dirty="0">
                <a:solidFill>
                  <a:srgbClr val="FF0000"/>
                </a:solidFill>
                <a:latin typeface="Times New Roman" panose="02020603050405020304" pitchFamily="18" charset="0"/>
                <a:cs typeface="Times New Roman" panose="02020603050405020304" pitchFamily="18" charset="0"/>
              </a:rPr>
              <a:t>再入栈</a:t>
            </a:r>
            <a:r>
              <a:rPr lang="en-US" altLang="zh-CN" dirty="0">
                <a:solidFill>
                  <a:srgbClr val="FF0000"/>
                </a:solidFill>
                <a:latin typeface="Times New Roman" panose="02020603050405020304" pitchFamily="18" charset="0"/>
                <a:cs typeface="Times New Roman" panose="02020603050405020304" pitchFamily="18" charset="0"/>
              </a:rPr>
              <a:t>)</a:t>
            </a:r>
            <a:r>
              <a:rPr lang="zh-CN" altLang="en-GB"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680ADC10-3891-42DC-B07F-65DDC7AF83D8}"/>
              </a:ext>
            </a:extLst>
          </p:cNvPr>
          <p:cNvSpPr>
            <a:spLocks noGrp="1"/>
          </p:cNvSpPr>
          <p:nvPr>
            <p:ph type="sldNum" sz="quarter" idx="12"/>
          </p:nvPr>
        </p:nvSpPr>
        <p:spPr/>
        <p:txBody>
          <a:bodyPr/>
          <a:lstStyle/>
          <a:p>
            <a:fld id="{22E77DEE-32E4-4009-988B-F2758F7B8AC2}" type="slidenum">
              <a:rPr lang="zh-CN" altLang="en-US" smtClean="0"/>
              <a:t>36</a:t>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3">
            <a:extLst>
              <a:ext uri="{FF2B5EF4-FFF2-40B4-BE49-F238E27FC236}">
                <a16:creationId xmlns:a16="http://schemas.microsoft.com/office/drawing/2014/main" id="{AE80ABF3-F842-4DC1-9169-CE7A734E144E}"/>
              </a:ext>
            </a:extLst>
          </p:cNvPr>
          <p:cNvSpPr>
            <a:spLocks noGrp="1" noChangeArrowheads="1"/>
          </p:cNvSpPr>
          <p:nvPr>
            <p:ph type="title"/>
          </p:nvPr>
        </p:nvSpPr>
        <p:spPr>
          <a:xfrm>
            <a:off x="529273" y="576262"/>
            <a:ext cx="8229600" cy="504825"/>
          </a:xfrm>
        </p:spPr>
        <p:txBody>
          <a:bodyPr>
            <a:normAutofit fontScale="90000"/>
          </a:bodyPr>
          <a:lstStyle/>
          <a:p>
            <a:pPr eaLnBrk="1" hangingPunct="1"/>
            <a:r>
              <a:rPr lang="zh-CN" altLang="en-US" dirty="0">
                <a:hlinkClick r:id="rId2" action="ppaction://hlinksldjump"/>
              </a:rPr>
              <a:t>高</a:t>
            </a:r>
            <a:r>
              <a:rPr lang="en-US" altLang="zh-CN" dirty="0">
                <a:hlinkClick r:id="rId2" action="ppaction://hlinksldjump"/>
              </a:rPr>
              <a:t>128</a:t>
            </a:r>
            <a:r>
              <a:rPr lang="zh-CN" altLang="en-US" dirty="0">
                <a:hlinkClick r:id="rId2" action="ppaction://hlinksldjump"/>
              </a:rPr>
              <a:t>字节</a:t>
            </a:r>
            <a:r>
              <a:rPr lang="en-US" altLang="zh-CN" dirty="0">
                <a:hlinkClick r:id="rId2" action="ppaction://hlinksldjump"/>
              </a:rPr>
              <a:t>RAM</a:t>
            </a:r>
            <a:r>
              <a:rPr lang="zh-CN" altLang="en-US" dirty="0">
                <a:hlinkClick r:id="rId2" action="ppaction://hlinksldjump"/>
              </a:rPr>
              <a:t>和特殊功能寄存器</a:t>
            </a:r>
            <a:endParaRPr lang="zh-CN" altLang="en-US" dirty="0"/>
          </a:p>
        </p:txBody>
      </p:sp>
      <p:sp>
        <p:nvSpPr>
          <p:cNvPr id="632835" name="Rectangle 3">
            <a:extLst>
              <a:ext uri="{FF2B5EF4-FFF2-40B4-BE49-F238E27FC236}">
                <a16:creationId xmlns:a16="http://schemas.microsoft.com/office/drawing/2014/main" id="{59BCF55B-21DE-4F87-A5A7-2BE513905531}"/>
              </a:ext>
            </a:extLst>
          </p:cNvPr>
          <p:cNvSpPr>
            <a:spLocks noGrp="1" noChangeArrowheads="1"/>
          </p:cNvSpPr>
          <p:nvPr>
            <p:ph idx="1"/>
          </p:nvPr>
        </p:nvSpPr>
        <p:spPr>
          <a:xfrm>
            <a:off x="782320" y="1310640"/>
            <a:ext cx="7208520" cy="5047298"/>
          </a:xfrm>
        </p:spPr>
        <p:txBody>
          <a:bodyPr/>
          <a:lstStyle/>
          <a:p>
            <a:pPr marL="261938" lvl="1" indent="-261938" eaLnBrk="1" hangingPunct="1">
              <a:lnSpc>
                <a:spcPct val="114000"/>
              </a:lnSpc>
              <a:spcAft>
                <a:spcPts val="600"/>
              </a:spcAft>
              <a:defRPr/>
            </a:pPr>
            <a:r>
              <a:rPr lang="zh-CN" altLang="en-US" dirty="0"/>
              <a:t>对于</a:t>
            </a:r>
            <a:r>
              <a:rPr lang="en-US" altLang="zh-CN" dirty="0"/>
              <a:t>IAP15W4K58S4</a:t>
            </a:r>
            <a:r>
              <a:rPr lang="zh-CN" altLang="en-US" dirty="0"/>
              <a:t>单片机，</a:t>
            </a:r>
            <a:r>
              <a:rPr lang="en-US" altLang="zh-CN" dirty="0">
                <a:solidFill>
                  <a:srgbClr val="FF0000"/>
                </a:solidFill>
              </a:rPr>
              <a:t>80H</a:t>
            </a:r>
            <a:r>
              <a:rPr lang="zh-CN" altLang="en-US" dirty="0">
                <a:solidFill>
                  <a:srgbClr val="FF0000"/>
                </a:solidFill>
              </a:rPr>
              <a:t>～</a:t>
            </a:r>
            <a:r>
              <a:rPr lang="en-US" altLang="zh-CN" dirty="0">
                <a:solidFill>
                  <a:srgbClr val="FF0000"/>
                </a:solidFill>
              </a:rPr>
              <a:t>FFH</a:t>
            </a:r>
            <a:r>
              <a:rPr lang="zh-CN" altLang="en-US" dirty="0"/>
              <a:t>既为</a:t>
            </a:r>
            <a:r>
              <a:rPr lang="zh-CN" altLang="en-US" dirty="0">
                <a:solidFill>
                  <a:srgbClr val="FF0000"/>
                </a:solidFill>
              </a:rPr>
              <a:t>高</a:t>
            </a:r>
            <a:r>
              <a:rPr lang="en-US" altLang="zh-CN" dirty="0">
                <a:solidFill>
                  <a:srgbClr val="FF0000"/>
                </a:solidFill>
              </a:rPr>
              <a:t>128</a:t>
            </a:r>
            <a:r>
              <a:rPr lang="zh-CN" altLang="en-US" dirty="0">
                <a:solidFill>
                  <a:srgbClr val="FF0000"/>
                </a:solidFill>
              </a:rPr>
              <a:t>字节</a:t>
            </a:r>
            <a:r>
              <a:rPr lang="en-US" altLang="zh-CN" dirty="0">
                <a:solidFill>
                  <a:srgbClr val="FF0000"/>
                </a:solidFill>
              </a:rPr>
              <a:t>RAM</a:t>
            </a:r>
            <a:r>
              <a:rPr lang="zh-CN" altLang="en-US" dirty="0">
                <a:solidFill>
                  <a:srgbClr val="FF0000"/>
                </a:solidFill>
              </a:rPr>
              <a:t>区</a:t>
            </a:r>
            <a:r>
              <a:rPr lang="zh-CN" altLang="en-US" dirty="0"/>
              <a:t>的地址范围，</a:t>
            </a:r>
            <a:r>
              <a:rPr lang="zh-CN" altLang="en-US" dirty="0">
                <a:solidFill>
                  <a:srgbClr val="9900CC"/>
                </a:solidFill>
              </a:rPr>
              <a:t>又为特殊功能寄存器区</a:t>
            </a:r>
            <a:r>
              <a:rPr lang="en-US" altLang="zh-CN" dirty="0">
                <a:solidFill>
                  <a:srgbClr val="9900CC"/>
                </a:solidFill>
              </a:rPr>
              <a:t>(SFR)</a:t>
            </a:r>
            <a:r>
              <a:rPr lang="zh-CN" altLang="en-US" dirty="0"/>
              <a:t>的地址范围，地址空间重叠，但物理上是独立的。</a:t>
            </a:r>
          </a:p>
          <a:p>
            <a:pPr marL="261938" lvl="1" indent="-261938" eaLnBrk="1" hangingPunct="1">
              <a:lnSpc>
                <a:spcPct val="114000"/>
              </a:lnSpc>
              <a:spcAft>
                <a:spcPts val="600"/>
              </a:spcAft>
              <a:defRPr/>
            </a:pPr>
            <a:r>
              <a:rPr lang="zh-CN" altLang="en-US" dirty="0"/>
              <a:t>使用时，通过不同的寻址方式加以区分：高</a:t>
            </a:r>
            <a:r>
              <a:rPr lang="en-US" altLang="zh-CN" dirty="0"/>
              <a:t>128</a:t>
            </a:r>
            <a:r>
              <a:rPr lang="zh-CN" altLang="en-US" dirty="0"/>
              <a:t>字节的</a:t>
            </a:r>
            <a:r>
              <a:rPr lang="en-US" altLang="zh-CN" dirty="0">
                <a:solidFill>
                  <a:srgbClr val="FF0000"/>
                </a:solidFill>
              </a:rPr>
              <a:t>RAM</a:t>
            </a:r>
            <a:r>
              <a:rPr lang="zh-CN" altLang="en-US" dirty="0">
                <a:solidFill>
                  <a:srgbClr val="FF0000"/>
                </a:solidFill>
              </a:rPr>
              <a:t>区使用间接寻址</a:t>
            </a:r>
            <a:r>
              <a:rPr lang="zh-CN" altLang="en-US" dirty="0"/>
              <a:t>访问，</a:t>
            </a:r>
            <a:r>
              <a:rPr lang="zh-CN" altLang="en-US" dirty="0">
                <a:solidFill>
                  <a:srgbClr val="9900CC"/>
                </a:solidFill>
              </a:rPr>
              <a:t>特殊功能寄存器使用直接寻址</a:t>
            </a:r>
            <a:r>
              <a:rPr lang="zh-CN" altLang="en-US" dirty="0"/>
              <a:t>访问。</a:t>
            </a:r>
            <a:endParaRPr lang="en-US" altLang="zh-CN" dirty="0"/>
          </a:p>
          <a:p>
            <a:pPr marL="261938" lvl="1" indent="-261938" eaLnBrk="1" hangingPunct="1">
              <a:lnSpc>
                <a:spcPct val="114000"/>
              </a:lnSpc>
              <a:spcAft>
                <a:spcPts val="600"/>
              </a:spcAft>
              <a:defRPr/>
            </a:pPr>
            <a:r>
              <a:rPr lang="zh-CN" altLang="en-US" dirty="0"/>
              <a:t>因</a:t>
            </a:r>
            <a:r>
              <a:rPr lang="zh-CN" altLang="en-US" dirty="0">
                <a:solidFill>
                  <a:srgbClr val="0000FF"/>
                </a:solidFill>
              </a:rPr>
              <a:t>堆栈操作</a:t>
            </a:r>
            <a:r>
              <a:rPr lang="zh-CN" altLang="en-US" dirty="0">
                <a:solidFill>
                  <a:srgbClr val="FF0000"/>
                </a:solidFill>
              </a:rPr>
              <a:t>是以</a:t>
            </a:r>
            <a:r>
              <a:rPr lang="zh-CN" altLang="en-US" u="sng" dirty="0">
                <a:solidFill>
                  <a:srgbClr val="FF0000"/>
                </a:solidFill>
              </a:rPr>
              <a:t>堆栈指针</a:t>
            </a:r>
            <a:r>
              <a:rPr lang="en-US" altLang="zh-CN" u="sng" dirty="0">
                <a:solidFill>
                  <a:srgbClr val="FF0000"/>
                </a:solidFill>
              </a:rPr>
              <a:t>SP</a:t>
            </a:r>
            <a:r>
              <a:rPr lang="zh-CN" altLang="en-US" dirty="0">
                <a:solidFill>
                  <a:srgbClr val="FF0000"/>
                </a:solidFill>
              </a:rPr>
              <a:t>作间址寄存器的</a:t>
            </a:r>
            <a:r>
              <a:rPr lang="zh-CN" altLang="en-US" u="sng" dirty="0">
                <a:solidFill>
                  <a:srgbClr val="FF0000"/>
                </a:solidFill>
              </a:rPr>
              <a:t>间接寻址</a:t>
            </a:r>
            <a:r>
              <a:rPr lang="zh-CN" altLang="en-US" dirty="0">
                <a:solidFill>
                  <a:srgbClr val="FF0000"/>
                </a:solidFill>
              </a:rPr>
              <a:t>方式</a:t>
            </a:r>
            <a:r>
              <a:rPr lang="en-US" altLang="zh-CN" dirty="0"/>
              <a:t>,</a:t>
            </a:r>
            <a:r>
              <a:rPr lang="zh-CN" altLang="en-US" dirty="0"/>
              <a:t>所以</a:t>
            </a:r>
            <a:r>
              <a:rPr lang="en-US" altLang="zh-CN" dirty="0"/>
              <a:t>,</a:t>
            </a:r>
            <a:r>
              <a:rPr lang="zh-CN" altLang="en-US" dirty="0"/>
              <a:t>高</a:t>
            </a:r>
            <a:r>
              <a:rPr lang="en-US" altLang="zh-CN" dirty="0"/>
              <a:t>128</a:t>
            </a:r>
            <a:r>
              <a:rPr lang="zh-CN" altLang="en-US" dirty="0"/>
              <a:t>字节数据</a:t>
            </a:r>
            <a:r>
              <a:rPr lang="en-US" altLang="zh-CN" dirty="0"/>
              <a:t>RAM</a:t>
            </a:r>
            <a:r>
              <a:rPr lang="zh-CN" altLang="en-US" dirty="0"/>
              <a:t>亦可作为堆栈区使用。</a:t>
            </a:r>
            <a:endParaRPr lang="en-US" altLang="zh-CN" dirty="0"/>
          </a:p>
          <a:p>
            <a:pPr marL="261938" lvl="1" indent="-261938" eaLnBrk="1" hangingPunct="1">
              <a:lnSpc>
                <a:spcPct val="114000"/>
              </a:lnSpc>
              <a:spcAft>
                <a:spcPts val="600"/>
              </a:spcAft>
              <a:defRPr/>
            </a:pPr>
            <a:r>
              <a:rPr lang="zh-CN" altLang="en-US" dirty="0"/>
              <a:t>除了程序计数器</a:t>
            </a:r>
            <a:r>
              <a:rPr lang="en-US" altLang="zh-CN" dirty="0">
                <a:solidFill>
                  <a:srgbClr val="0000CC"/>
                </a:solidFill>
              </a:rPr>
              <a:t>PC</a:t>
            </a:r>
            <a:r>
              <a:rPr lang="zh-CN" altLang="en-US" dirty="0"/>
              <a:t>和</a:t>
            </a:r>
            <a:r>
              <a:rPr lang="en-US" altLang="zh-CN" dirty="0"/>
              <a:t>4</a:t>
            </a:r>
            <a:r>
              <a:rPr lang="zh-CN" altLang="en-US" dirty="0"/>
              <a:t>个</a:t>
            </a:r>
            <a:r>
              <a:rPr lang="zh-CN" altLang="en-US" dirty="0">
                <a:solidFill>
                  <a:srgbClr val="0000CC"/>
                </a:solidFill>
              </a:rPr>
              <a:t>工作寄存器组</a:t>
            </a:r>
            <a:r>
              <a:rPr lang="zh-CN" altLang="en-US" dirty="0"/>
              <a:t>外，</a:t>
            </a:r>
            <a:r>
              <a:rPr lang="zh-CN" altLang="en-US" dirty="0">
                <a:solidFill>
                  <a:srgbClr val="9900CC"/>
                </a:solidFill>
              </a:rPr>
              <a:t>其余的寄存器都在</a:t>
            </a:r>
            <a:r>
              <a:rPr lang="en-US" altLang="zh-CN" dirty="0">
                <a:solidFill>
                  <a:srgbClr val="9900CC"/>
                </a:solidFill>
              </a:rPr>
              <a:t>SFR</a:t>
            </a:r>
            <a:r>
              <a:rPr lang="zh-CN" altLang="en-US" dirty="0">
                <a:solidFill>
                  <a:srgbClr val="9900CC"/>
                </a:solidFill>
              </a:rPr>
              <a:t>区中</a:t>
            </a:r>
            <a:r>
              <a:rPr lang="zh-CN" altLang="en-US" dirty="0"/>
              <a:t>。</a:t>
            </a:r>
          </a:p>
        </p:txBody>
      </p:sp>
      <p:sp>
        <p:nvSpPr>
          <p:cNvPr id="3" name="灯片编号占位符 2">
            <a:extLst>
              <a:ext uri="{FF2B5EF4-FFF2-40B4-BE49-F238E27FC236}">
                <a16:creationId xmlns:a16="http://schemas.microsoft.com/office/drawing/2014/main" id="{868B3D92-C589-4565-8738-F95C60F8882B}"/>
              </a:ext>
            </a:extLst>
          </p:cNvPr>
          <p:cNvSpPr>
            <a:spLocks noGrp="1"/>
          </p:cNvSpPr>
          <p:nvPr>
            <p:ph type="sldNum" sz="quarter" idx="12"/>
          </p:nvPr>
        </p:nvSpPr>
        <p:spPr/>
        <p:txBody>
          <a:bodyPr/>
          <a:lstStyle/>
          <a:p>
            <a:fld id="{22E77DEE-32E4-4009-988B-F2758F7B8AC2}" type="slidenum">
              <a:rPr lang="zh-CN" altLang="en-US" smtClean="0"/>
              <a:t>37</a:t>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3">
            <a:extLst>
              <a:ext uri="{FF2B5EF4-FFF2-40B4-BE49-F238E27FC236}">
                <a16:creationId xmlns:a16="http://schemas.microsoft.com/office/drawing/2014/main" id="{E9398EE2-5F4D-47B8-81A7-AB917F136B7B}"/>
              </a:ext>
            </a:extLst>
          </p:cNvPr>
          <p:cNvSpPr>
            <a:spLocks noGrp="1" noChangeArrowheads="1"/>
          </p:cNvSpPr>
          <p:nvPr>
            <p:ph type="title"/>
          </p:nvPr>
        </p:nvSpPr>
        <p:spPr>
          <a:xfrm>
            <a:off x="752793" y="519748"/>
            <a:ext cx="7014527" cy="504825"/>
          </a:xfrm>
        </p:spPr>
        <p:txBody>
          <a:bodyPr>
            <a:normAutofit fontScale="90000"/>
          </a:bodyPr>
          <a:lstStyle/>
          <a:p>
            <a:pPr eaLnBrk="1" hangingPunct="1"/>
            <a:r>
              <a:rPr lang="zh-CN" altLang="en-US" dirty="0"/>
              <a:t>特殊功能寄存器</a:t>
            </a:r>
          </a:p>
        </p:txBody>
      </p:sp>
      <p:sp>
        <p:nvSpPr>
          <p:cNvPr id="633859" name="Rectangle 3">
            <a:extLst>
              <a:ext uri="{FF2B5EF4-FFF2-40B4-BE49-F238E27FC236}">
                <a16:creationId xmlns:a16="http://schemas.microsoft.com/office/drawing/2014/main" id="{421156AF-0694-4B91-A487-F68095ED3DC6}"/>
              </a:ext>
            </a:extLst>
          </p:cNvPr>
          <p:cNvSpPr>
            <a:spLocks noGrp="1" noChangeArrowheads="1"/>
          </p:cNvSpPr>
          <p:nvPr>
            <p:ph idx="1"/>
          </p:nvPr>
        </p:nvSpPr>
        <p:spPr>
          <a:xfrm>
            <a:off x="883921" y="1884680"/>
            <a:ext cx="7396480" cy="2321560"/>
          </a:xfrm>
        </p:spPr>
        <p:txBody>
          <a:bodyPr/>
          <a:lstStyle/>
          <a:p>
            <a:pPr marL="261938" lvl="1" indent="-261938" eaLnBrk="1" hangingPunct="1">
              <a:lnSpc>
                <a:spcPct val="114000"/>
              </a:lnSpc>
              <a:spcBef>
                <a:spcPts val="0"/>
              </a:spcBef>
              <a:spcAft>
                <a:spcPts val="1200"/>
              </a:spcAft>
              <a:defRPr/>
            </a:pPr>
            <a:r>
              <a:rPr lang="zh-CN" altLang="en-US" dirty="0"/>
              <a:t>特殊功能寄存器大体</a:t>
            </a:r>
            <a:r>
              <a:rPr lang="zh-CN" altLang="en-US" dirty="0">
                <a:solidFill>
                  <a:srgbClr val="0000CC"/>
                </a:solidFill>
              </a:rPr>
              <a:t>分为两类</a:t>
            </a:r>
          </a:p>
          <a:p>
            <a:pPr marL="536575" lvl="1" indent="-536575" eaLnBrk="1" hangingPunct="1">
              <a:lnSpc>
                <a:spcPct val="114000"/>
              </a:lnSpc>
              <a:spcBef>
                <a:spcPts val="0"/>
              </a:spcBef>
              <a:spcAft>
                <a:spcPts val="1200"/>
              </a:spcAft>
              <a:buFontTx/>
              <a:buNone/>
              <a:defRPr/>
            </a:pPr>
            <a:r>
              <a:rPr lang="zh-CN" altLang="en-US" dirty="0"/>
              <a:t> </a:t>
            </a:r>
            <a:r>
              <a:rPr lang="zh-CN" altLang="en-US" dirty="0">
                <a:solidFill>
                  <a:srgbClr val="CC3300"/>
                </a:solidFill>
              </a:rPr>
              <a:t>①</a:t>
            </a:r>
            <a:r>
              <a:rPr lang="zh-CN" altLang="en-US" dirty="0"/>
              <a:t>一类</a:t>
            </a:r>
            <a:r>
              <a:rPr lang="zh-CN" altLang="en-US" dirty="0">
                <a:solidFill>
                  <a:srgbClr val="FF0000"/>
                </a:solidFill>
              </a:rPr>
              <a:t>与芯片的引脚有关。如</a:t>
            </a:r>
            <a:r>
              <a:rPr lang="en-US" altLang="zh-CN" dirty="0">
                <a:solidFill>
                  <a:srgbClr val="FF0000"/>
                </a:solidFill>
              </a:rPr>
              <a:t>P0</a:t>
            </a:r>
            <a:r>
              <a:rPr lang="zh-CN" altLang="en-US" dirty="0">
                <a:solidFill>
                  <a:srgbClr val="FF0000"/>
                </a:solidFill>
              </a:rPr>
              <a:t>～</a:t>
            </a:r>
            <a:r>
              <a:rPr lang="en-US" altLang="zh-CN" dirty="0">
                <a:solidFill>
                  <a:srgbClr val="FF0000"/>
                </a:solidFill>
              </a:rPr>
              <a:t>P7</a:t>
            </a:r>
            <a:r>
              <a:rPr lang="zh-CN" altLang="en-US" dirty="0"/>
              <a:t>，它们实际上是</a:t>
            </a:r>
            <a:r>
              <a:rPr lang="en-US" altLang="zh-CN" dirty="0">
                <a:solidFill>
                  <a:srgbClr val="FF0000"/>
                </a:solidFill>
              </a:rPr>
              <a:t>8</a:t>
            </a:r>
            <a:r>
              <a:rPr lang="zh-CN" altLang="en-US" dirty="0">
                <a:solidFill>
                  <a:srgbClr val="FF0000"/>
                </a:solidFill>
              </a:rPr>
              <a:t>个锁存器</a:t>
            </a:r>
            <a:r>
              <a:rPr lang="zh-CN" altLang="en-US" dirty="0"/>
              <a:t>，每个锁存器附加上相应的输出驱动器和输入缓冲器就构成了一个并行口。</a:t>
            </a:r>
            <a:endParaRPr lang="en-US" altLang="zh-CN" dirty="0">
              <a:solidFill>
                <a:srgbClr val="CC3300"/>
              </a:solidFill>
            </a:endParaRPr>
          </a:p>
          <a:p>
            <a:pPr marL="536575" lvl="1" indent="-536575" eaLnBrk="1" hangingPunct="1">
              <a:lnSpc>
                <a:spcPct val="114000"/>
              </a:lnSpc>
              <a:spcBef>
                <a:spcPts val="0"/>
              </a:spcBef>
              <a:spcAft>
                <a:spcPts val="1200"/>
              </a:spcAft>
              <a:buFontTx/>
              <a:buNone/>
              <a:defRPr/>
            </a:pPr>
            <a:r>
              <a:rPr lang="zh-CN" altLang="en-US" dirty="0">
                <a:solidFill>
                  <a:srgbClr val="CC3300"/>
                </a:solidFill>
              </a:rPr>
              <a:t>②</a:t>
            </a:r>
            <a:r>
              <a:rPr lang="zh-CN" altLang="en-US" dirty="0"/>
              <a:t>另一类为</a:t>
            </a:r>
            <a:r>
              <a:rPr lang="zh-CN" altLang="en-US" dirty="0">
                <a:solidFill>
                  <a:srgbClr val="9900CC"/>
                </a:solidFill>
              </a:rPr>
              <a:t>芯片内部功能的控制或者内部寄存器</a:t>
            </a:r>
            <a:r>
              <a:rPr lang="zh-CN" altLang="en-US" dirty="0"/>
              <a:t>。如与中断屏蔽及优先级控制、定时器、串行口、</a:t>
            </a:r>
            <a:r>
              <a:rPr lang="en-US" altLang="zh-CN" dirty="0"/>
              <a:t>SPI</a:t>
            </a:r>
            <a:r>
              <a:rPr lang="zh-CN" altLang="en-US" dirty="0"/>
              <a:t>接口等相关的寄存器。。</a:t>
            </a:r>
          </a:p>
        </p:txBody>
      </p:sp>
      <p:sp>
        <p:nvSpPr>
          <p:cNvPr id="3" name="灯片编号占位符 2">
            <a:extLst>
              <a:ext uri="{FF2B5EF4-FFF2-40B4-BE49-F238E27FC236}">
                <a16:creationId xmlns:a16="http://schemas.microsoft.com/office/drawing/2014/main" id="{03129EB1-65A5-4A72-96DE-8BD0EEE39DF0}"/>
              </a:ext>
            </a:extLst>
          </p:cNvPr>
          <p:cNvSpPr>
            <a:spLocks noGrp="1"/>
          </p:cNvSpPr>
          <p:nvPr>
            <p:ph type="sldNum" sz="quarter" idx="12"/>
          </p:nvPr>
        </p:nvSpPr>
        <p:spPr/>
        <p:txBody>
          <a:bodyPr/>
          <a:lstStyle/>
          <a:p>
            <a:fld id="{22E77DEE-32E4-4009-988B-F2758F7B8AC2}" type="slidenum">
              <a:rPr lang="zh-CN" altLang="en-US" smtClean="0"/>
              <a:t>38</a:t>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3">
            <a:extLst>
              <a:ext uri="{FF2B5EF4-FFF2-40B4-BE49-F238E27FC236}">
                <a16:creationId xmlns:a16="http://schemas.microsoft.com/office/drawing/2014/main" id="{1AC937AC-1E11-4EF7-B968-8D8EBA7BEA98}"/>
              </a:ext>
            </a:extLst>
          </p:cNvPr>
          <p:cNvSpPr>
            <a:spLocks noGrp="1" noChangeArrowheads="1"/>
          </p:cNvSpPr>
          <p:nvPr>
            <p:ph type="title"/>
          </p:nvPr>
        </p:nvSpPr>
        <p:spPr>
          <a:xfrm>
            <a:off x="673418" y="606176"/>
            <a:ext cx="7943214" cy="504825"/>
          </a:xfrm>
          <a:solidFill>
            <a:schemeClr val="bg1"/>
          </a:solidFill>
        </p:spPr>
        <p:txBody>
          <a:bodyPr/>
          <a:lstStyle/>
          <a:p>
            <a:pPr eaLnBrk="1" hangingPunct="1"/>
            <a:r>
              <a:rPr lang="en-US" altLang="zh-CN" sz="2800">
                <a:solidFill>
                  <a:srgbClr val="C00000"/>
                </a:solidFill>
              </a:rPr>
              <a:t> </a:t>
            </a:r>
            <a:r>
              <a:rPr lang="en-US" altLang="zh-CN" sz="2800">
                <a:solidFill>
                  <a:srgbClr val="FF00FF"/>
                </a:solidFill>
              </a:rPr>
              <a:t>(2)  </a:t>
            </a:r>
            <a:r>
              <a:rPr lang="zh-CN" altLang="en-US" sz="2800">
                <a:solidFill>
                  <a:srgbClr val="FF00FF"/>
                </a:solidFill>
                <a:hlinkClick r:id="rId2" action="ppaction://hlinksldjump"/>
              </a:rPr>
              <a:t>扩展数据存储区</a:t>
            </a:r>
            <a:r>
              <a:rPr lang="en-US" altLang="zh-CN" sz="2800"/>
              <a:t>on-chip expanded RAM(XRAM)</a:t>
            </a:r>
            <a:endParaRPr lang="zh-CN" altLang="en-US" sz="2800">
              <a:solidFill>
                <a:srgbClr val="C00000"/>
              </a:solidFill>
            </a:endParaRPr>
          </a:p>
        </p:txBody>
      </p:sp>
      <p:sp>
        <p:nvSpPr>
          <p:cNvPr id="480259" name="Rectangle 3">
            <a:extLst>
              <a:ext uri="{FF2B5EF4-FFF2-40B4-BE49-F238E27FC236}">
                <a16:creationId xmlns:a16="http://schemas.microsoft.com/office/drawing/2014/main" id="{82802CD6-AC12-478D-9631-97F4CB2F186D}"/>
              </a:ext>
            </a:extLst>
          </p:cNvPr>
          <p:cNvSpPr>
            <a:spLocks noGrp="1" noChangeArrowheads="1"/>
          </p:cNvSpPr>
          <p:nvPr>
            <p:ph idx="1"/>
          </p:nvPr>
        </p:nvSpPr>
        <p:spPr>
          <a:xfrm>
            <a:off x="741680" y="1433512"/>
            <a:ext cx="7650480" cy="3605848"/>
          </a:xfrm>
        </p:spPr>
        <p:txBody>
          <a:bodyPr>
            <a:normAutofit/>
          </a:bodyPr>
          <a:lstStyle/>
          <a:p>
            <a:pPr eaLnBrk="1" hangingPunct="1">
              <a:lnSpc>
                <a:spcPct val="104000"/>
              </a:lnSpc>
              <a:spcBef>
                <a:spcPts val="0"/>
              </a:spcBef>
              <a:buClr>
                <a:srgbClr val="FF0000"/>
              </a:buClr>
              <a:buFont typeface="Wingdings" panose="05000000000000000000" pitchFamily="2" charset="2"/>
              <a:buChar char="Ø"/>
              <a:defRPr/>
            </a:pPr>
            <a:r>
              <a:rPr lang="zh-CN" altLang="en-US" dirty="0"/>
              <a:t>外部数据存储区也称为</a:t>
            </a:r>
            <a:r>
              <a:rPr lang="zh-CN" altLang="en-US" dirty="0">
                <a:solidFill>
                  <a:srgbClr val="FF00FF"/>
                </a:solidFill>
              </a:rPr>
              <a:t>扩展</a:t>
            </a:r>
            <a:r>
              <a:rPr lang="en-US" altLang="zh-CN" dirty="0">
                <a:solidFill>
                  <a:srgbClr val="FF00FF"/>
                </a:solidFill>
              </a:rPr>
              <a:t>RAM</a:t>
            </a:r>
            <a:r>
              <a:rPr lang="zh-CN" altLang="en-US" dirty="0">
                <a:solidFill>
                  <a:srgbClr val="FF00FF"/>
                </a:solidFill>
              </a:rPr>
              <a:t>区</a:t>
            </a:r>
            <a:r>
              <a:rPr lang="en-US" altLang="zh-CN" dirty="0"/>
              <a:t>(</a:t>
            </a:r>
            <a:r>
              <a:rPr lang="zh-CN" altLang="en-US" dirty="0"/>
              <a:t>简称</a:t>
            </a:r>
            <a:r>
              <a:rPr lang="en-US" altLang="zh-CN" dirty="0"/>
              <a:t>, </a:t>
            </a:r>
            <a:r>
              <a:rPr lang="en-US" altLang="zh-CN" dirty="0">
                <a:solidFill>
                  <a:srgbClr val="FF00FF"/>
                </a:solidFill>
              </a:rPr>
              <a:t>XRAM</a:t>
            </a:r>
            <a:r>
              <a:rPr lang="en-US" altLang="zh-CN" dirty="0"/>
              <a:t>)</a:t>
            </a:r>
            <a:r>
              <a:rPr lang="zh-CN" altLang="en-US" dirty="0"/>
              <a:t>。</a:t>
            </a:r>
            <a:r>
              <a:rPr lang="en-US" altLang="zh-CN" dirty="0"/>
              <a:t> </a:t>
            </a:r>
            <a:r>
              <a:rPr lang="en-US" altLang="zh-CN" dirty="0">
                <a:hlinkClick r:id="rId3" action="ppaction://hlinksldjump"/>
              </a:rPr>
              <a:t>IAP15W4K58S4</a:t>
            </a:r>
            <a:r>
              <a:rPr lang="zh-CN" altLang="zh-CN" dirty="0">
                <a:hlinkClick r:id="rId3" action="ppaction://hlinksldjump"/>
              </a:rPr>
              <a:t>单片机</a:t>
            </a:r>
            <a:r>
              <a:rPr lang="zh-CN" altLang="zh-CN" dirty="0"/>
              <a:t>一共可以访问</a:t>
            </a:r>
            <a:r>
              <a:rPr lang="en-US" altLang="zh-CN" dirty="0"/>
              <a:t>64KB</a:t>
            </a:r>
            <a:r>
              <a:rPr lang="zh-CN" altLang="zh-CN" dirty="0"/>
              <a:t>的扩展数据存储空间。</a:t>
            </a:r>
            <a:r>
              <a:rPr lang="en-US" altLang="zh-CN" dirty="0"/>
              <a:t> IAP15W4K58S4</a:t>
            </a:r>
            <a:r>
              <a:rPr lang="zh-CN" altLang="zh-CN" dirty="0"/>
              <a:t>单片机</a:t>
            </a:r>
            <a:r>
              <a:rPr lang="zh-CN" altLang="zh-CN" dirty="0">
                <a:solidFill>
                  <a:srgbClr val="FF00FF"/>
                </a:solidFill>
              </a:rPr>
              <a:t>片内集成了</a:t>
            </a:r>
            <a:r>
              <a:rPr lang="en-US" altLang="zh-CN" dirty="0">
                <a:solidFill>
                  <a:srgbClr val="FF00FF"/>
                </a:solidFill>
              </a:rPr>
              <a:t>3840B</a:t>
            </a:r>
            <a:r>
              <a:rPr lang="zh-CN" altLang="zh-CN" dirty="0">
                <a:solidFill>
                  <a:srgbClr val="FF00FF"/>
                </a:solidFill>
              </a:rPr>
              <a:t>的</a:t>
            </a:r>
            <a:r>
              <a:rPr lang="en-US" altLang="zh-CN" dirty="0">
                <a:solidFill>
                  <a:srgbClr val="FF00FF"/>
                </a:solidFill>
              </a:rPr>
              <a:t>XRAM</a:t>
            </a:r>
            <a:r>
              <a:rPr lang="zh-CN" altLang="zh-CN" dirty="0"/>
              <a:t>，地址范围为</a:t>
            </a:r>
            <a:r>
              <a:rPr lang="en-US" altLang="zh-CN" dirty="0">
                <a:solidFill>
                  <a:srgbClr val="FF00FF"/>
                </a:solidFill>
              </a:rPr>
              <a:t>0000H</a:t>
            </a:r>
            <a:r>
              <a:rPr lang="zh-CN" altLang="zh-CN" dirty="0">
                <a:solidFill>
                  <a:srgbClr val="FF00FF"/>
                </a:solidFill>
              </a:rPr>
              <a:t>～</a:t>
            </a:r>
            <a:r>
              <a:rPr lang="en-US" altLang="zh-CN" dirty="0">
                <a:solidFill>
                  <a:srgbClr val="FF00FF"/>
                </a:solidFill>
              </a:rPr>
              <a:t>0EFFH</a:t>
            </a:r>
            <a:r>
              <a:rPr lang="zh-CN" altLang="zh-CN" dirty="0"/>
              <a:t>，可用于存放数据。</a:t>
            </a:r>
            <a:r>
              <a:rPr lang="zh-CN" altLang="en-US" dirty="0"/>
              <a:t>        </a:t>
            </a:r>
          </a:p>
          <a:p>
            <a:pPr eaLnBrk="1" hangingPunct="1">
              <a:lnSpc>
                <a:spcPct val="104000"/>
              </a:lnSpc>
              <a:spcBef>
                <a:spcPts val="0"/>
              </a:spcBef>
              <a:buFontTx/>
              <a:buNone/>
              <a:defRPr/>
            </a:pPr>
            <a:r>
              <a:rPr lang="zh-CN" altLang="en-US" dirty="0">
                <a:solidFill>
                  <a:srgbClr val="CC3300"/>
                </a:solidFill>
              </a:rPr>
              <a:t>注意</a:t>
            </a:r>
            <a:r>
              <a:rPr lang="zh-CN" altLang="en-US" dirty="0"/>
              <a:t>，这里的“内部”和“外部”是针对</a:t>
            </a:r>
            <a:r>
              <a:rPr lang="en-US" altLang="zh-CN" dirty="0"/>
              <a:t>8051</a:t>
            </a:r>
            <a:r>
              <a:rPr lang="zh-CN" altLang="en-US" dirty="0"/>
              <a:t>内核的逻辑上的概念，不是指芯片内部和外部。</a:t>
            </a:r>
          </a:p>
          <a:p>
            <a:pPr lvl="1" eaLnBrk="1" hangingPunct="1">
              <a:lnSpc>
                <a:spcPct val="104000"/>
              </a:lnSpc>
              <a:spcBef>
                <a:spcPts val="0"/>
              </a:spcBef>
              <a:spcAft>
                <a:spcPts val="600"/>
              </a:spcAft>
              <a:defRPr/>
            </a:pPr>
            <a:r>
              <a:rPr lang="zh-CN" altLang="en-US" dirty="0"/>
              <a:t>在汇编语言中，</a:t>
            </a:r>
            <a:r>
              <a:rPr lang="en-US" altLang="zh-CN" dirty="0"/>
              <a:t>XRAM</a:t>
            </a:r>
            <a:r>
              <a:rPr lang="zh-CN" altLang="en-US" dirty="0"/>
              <a:t>使用“</a:t>
            </a:r>
            <a:r>
              <a:rPr lang="en-US" altLang="zh-CN" dirty="0">
                <a:solidFill>
                  <a:srgbClr val="FF00FF"/>
                </a:solidFill>
              </a:rPr>
              <a:t>MOVX</a:t>
            </a:r>
            <a:r>
              <a:rPr lang="en-US" altLang="zh-CN" dirty="0"/>
              <a:t>  </a:t>
            </a:r>
            <a:r>
              <a:rPr lang="en-US" altLang="zh-CN" dirty="0">
                <a:solidFill>
                  <a:srgbClr val="FF00FF"/>
                </a:solidFill>
              </a:rPr>
              <a:t>@DPTR</a:t>
            </a:r>
            <a:r>
              <a:rPr lang="en-US" altLang="zh-CN" dirty="0"/>
              <a:t>”</a:t>
            </a:r>
          </a:p>
          <a:p>
            <a:pPr lvl="1" eaLnBrk="1" hangingPunct="1">
              <a:lnSpc>
                <a:spcPct val="104000"/>
              </a:lnSpc>
              <a:spcBef>
                <a:spcPts val="0"/>
              </a:spcBef>
              <a:spcAft>
                <a:spcPts val="600"/>
              </a:spcAft>
              <a:buFontTx/>
              <a:buNone/>
              <a:defRPr/>
            </a:pPr>
            <a:r>
              <a:rPr lang="en-US" altLang="zh-CN" dirty="0"/>
              <a:t>     </a:t>
            </a:r>
            <a:r>
              <a:rPr lang="zh-CN" altLang="en-US" dirty="0"/>
              <a:t>或者“</a:t>
            </a:r>
            <a:r>
              <a:rPr lang="en-US" altLang="zh-CN" dirty="0">
                <a:solidFill>
                  <a:srgbClr val="FF0000"/>
                </a:solidFill>
              </a:rPr>
              <a:t>MOVX  @</a:t>
            </a:r>
            <a:r>
              <a:rPr lang="en-US" altLang="zh-CN" dirty="0" err="1">
                <a:solidFill>
                  <a:srgbClr val="FF0000"/>
                </a:solidFill>
              </a:rPr>
              <a:t>Ri</a:t>
            </a:r>
            <a:r>
              <a:rPr lang="en-US" altLang="zh-CN" dirty="0"/>
              <a:t>”</a:t>
            </a:r>
            <a:r>
              <a:rPr lang="zh-CN" altLang="en-US" dirty="0"/>
              <a:t>指令访问。</a:t>
            </a:r>
          </a:p>
          <a:p>
            <a:pPr lvl="1" eaLnBrk="1" hangingPunct="1">
              <a:lnSpc>
                <a:spcPct val="104000"/>
              </a:lnSpc>
              <a:spcBef>
                <a:spcPts val="0"/>
              </a:spcBef>
              <a:spcAft>
                <a:spcPts val="600"/>
              </a:spcAft>
              <a:defRPr/>
            </a:pPr>
            <a:r>
              <a:rPr lang="zh-CN" altLang="en-US" dirty="0"/>
              <a:t>在</a:t>
            </a:r>
            <a:r>
              <a:rPr lang="en-US" altLang="zh-CN" dirty="0"/>
              <a:t>C</a:t>
            </a:r>
            <a:r>
              <a:rPr lang="zh-CN" altLang="en-US" dirty="0"/>
              <a:t>语言中</a:t>
            </a:r>
            <a:r>
              <a:rPr lang="en-US" altLang="zh-CN" dirty="0"/>
              <a:t>,</a:t>
            </a:r>
            <a:r>
              <a:rPr lang="zh-CN" altLang="en-US" dirty="0"/>
              <a:t>可用</a:t>
            </a:r>
            <a:r>
              <a:rPr lang="en-US" altLang="zh-CN" dirty="0" err="1">
                <a:solidFill>
                  <a:srgbClr val="FF0000"/>
                </a:solidFill>
              </a:rPr>
              <a:t>pdata,</a:t>
            </a:r>
            <a:r>
              <a:rPr lang="en-US" altLang="zh-CN" dirty="0" err="1">
                <a:solidFill>
                  <a:srgbClr val="FF00FF"/>
                </a:solidFill>
              </a:rPr>
              <a:t>xdata</a:t>
            </a:r>
            <a:r>
              <a:rPr lang="zh-CN" altLang="en-US" dirty="0"/>
              <a:t>声明存储类型即可。</a:t>
            </a:r>
          </a:p>
          <a:p>
            <a:pPr lvl="1" eaLnBrk="1" hangingPunct="1">
              <a:lnSpc>
                <a:spcPct val="104000"/>
              </a:lnSpc>
              <a:spcBef>
                <a:spcPts val="0"/>
              </a:spcBef>
              <a:spcAft>
                <a:spcPts val="600"/>
              </a:spcAft>
              <a:buFontTx/>
              <a:buNone/>
              <a:defRPr/>
            </a:pPr>
            <a:r>
              <a:rPr lang="zh-CN" altLang="en-US" dirty="0"/>
              <a:t>    如：</a:t>
            </a:r>
            <a:r>
              <a:rPr lang="en-US" altLang="zh-CN" dirty="0">
                <a:solidFill>
                  <a:srgbClr val="3333FF"/>
                </a:solidFill>
              </a:rPr>
              <a:t>unsigned cha</a:t>
            </a:r>
            <a:r>
              <a:rPr lang="en-US" altLang="zh-CN" dirty="0"/>
              <a:t>r </a:t>
            </a:r>
            <a:r>
              <a:rPr lang="en-US" altLang="zh-CN" dirty="0" err="1">
                <a:solidFill>
                  <a:srgbClr val="FF00FF"/>
                </a:solidFill>
              </a:rPr>
              <a:t>xdata</a:t>
            </a:r>
            <a:r>
              <a:rPr lang="en-US" altLang="zh-CN" dirty="0"/>
              <a:t> </a:t>
            </a:r>
            <a:r>
              <a:rPr lang="en-US" altLang="zh-CN" dirty="0" err="1">
                <a:solidFill>
                  <a:srgbClr val="3333FF"/>
                </a:solidFill>
              </a:rPr>
              <a:t>i</a:t>
            </a:r>
            <a:r>
              <a:rPr lang="en-US" altLang="zh-CN" dirty="0">
                <a:solidFill>
                  <a:srgbClr val="3333FF"/>
                </a:solidFill>
              </a:rPr>
              <a:t>= 0</a:t>
            </a:r>
            <a:r>
              <a:rPr lang="en-US" altLang="zh-CN" dirty="0"/>
              <a:t>;</a:t>
            </a:r>
          </a:p>
          <a:p>
            <a:pPr eaLnBrk="1" hangingPunct="1">
              <a:lnSpc>
                <a:spcPct val="104000"/>
              </a:lnSpc>
              <a:spcBef>
                <a:spcPts val="0"/>
              </a:spcBef>
              <a:buClr>
                <a:srgbClr val="FF0000"/>
              </a:buClr>
              <a:buFont typeface="Wingdings" panose="05000000000000000000" pitchFamily="2" charset="2"/>
              <a:buChar char="Ø"/>
              <a:defRPr/>
            </a:pPr>
            <a:endParaRPr lang="en-US" altLang="zh-CN" dirty="0"/>
          </a:p>
          <a:p>
            <a:pPr eaLnBrk="1" hangingPunct="1">
              <a:lnSpc>
                <a:spcPct val="104000"/>
              </a:lnSpc>
              <a:spcBef>
                <a:spcPts val="0"/>
              </a:spcBef>
              <a:buClr>
                <a:srgbClr val="FF0000"/>
              </a:buClr>
              <a:buFont typeface="Wingdings" panose="05000000000000000000" pitchFamily="2" charset="2"/>
              <a:buChar char="Ø"/>
              <a:defRPr/>
            </a:pPr>
            <a:endParaRPr lang="zh-CN" altLang="en-US" dirty="0"/>
          </a:p>
          <a:p>
            <a:pPr eaLnBrk="1" hangingPunct="1">
              <a:lnSpc>
                <a:spcPct val="104000"/>
              </a:lnSpc>
              <a:spcBef>
                <a:spcPts val="0"/>
              </a:spcBef>
              <a:buFontTx/>
              <a:buNone/>
              <a:defRPr/>
            </a:pPr>
            <a:endParaRPr lang="zh-CN" altLang="en-US" dirty="0">
              <a:solidFill>
                <a:srgbClr val="CC3300"/>
              </a:solidFill>
            </a:endParaRPr>
          </a:p>
        </p:txBody>
      </p:sp>
      <p:sp>
        <p:nvSpPr>
          <p:cNvPr id="3" name="灯片编号占位符 2">
            <a:extLst>
              <a:ext uri="{FF2B5EF4-FFF2-40B4-BE49-F238E27FC236}">
                <a16:creationId xmlns:a16="http://schemas.microsoft.com/office/drawing/2014/main" id="{F8177F61-7193-4EEE-8E7F-57DF3B2DAE11}"/>
              </a:ext>
            </a:extLst>
          </p:cNvPr>
          <p:cNvSpPr>
            <a:spLocks noGrp="1"/>
          </p:cNvSpPr>
          <p:nvPr>
            <p:ph type="sldNum" sz="quarter" idx="12"/>
          </p:nvPr>
        </p:nvSpPr>
        <p:spPr/>
        <p:txBody>
          <a:bodyPr/>
          <a:lstStyle/>
          <a:p>
            <a:fld id="{22E77DEE-32E4-4009-988B-F2758F7B8AC2}" type="slidenum">
              <a:rPr lang="zh-CN" altLang="en-US" smtClean="0"/>
              <a:t>39</a:t>
            </a:fld>
            <a:endParaRPr lang="zh-CN" altLang="en-US"/>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3">
            <a:extLst>
              <a:ext uri="{FF2B5EF4-FFF2-40B4-BE49-F238E27FC236}">
                <a16:creationId xmlns:a16="http://schemas.microsoft.com/office/drawing/2014/main" id="{1482D25C-A243-4730-ABAC-C7772DAB36CD}"/>
              </a:ext>
            </a:extLst>
          </p:cNvPr>
          <p:cNvSpPr>
            <a:spLocks noGrp="1" noChangeArrowheads="1"/>
          </p:cNvSpPr>
          <p:nvPr>
            <p:ph type="title"/>
          </p:nvPr>
        </p:nvSpPr>
        <p:spPr>
          <a:xfrm>
            <a:off x="489744" y="533400"/>
            <a:ext cx="8229600" cy="504825"/>
          </a:xfrm>
        </p:spPr>
        <p:txBody>
          <a:bodyPr>
            <a:normAutofit fontScale="90000"/>
          </a:bodyPr>
          <a:lstStyle/>
          <a:p>
            <a:pPr eaLnBrk="1" hangingPunct="1"/>
            <a:r>
              <a:rPr lang="en-US" altLang="zh-CN" dirty="0">
                <a:solidFill>
                  <a:srgbClr val="C00000"/>
                </a:solidFill>
              </a:rPr>
              <a:t> </a:t>
            </a:r>
            <a:r>
              <a:rPr lang="en-US" altLang="zh-CN" dirty="0">
                <a:solidFill>
                  <a:srgbClr val="FF00FF"/>
                </a:solidFill>
              </a:rPr>
              <a:t>(2)  </a:t>
            </a:r>
            <a:r>
              <a:rPr lang="zh-CN" altLang="en-US" dirty="0">
                <a:solidFill>
                  <a:srgbClr val="FF00FF"/>
                </a:solidFill>
                <a:hlinkClick r:id="rId3" action="ppaction://hlinksldjump"/>
              </a:rPr>
              <a:t>扩展数据存储区</a:t>
            </a:r>
            <a:r>
              <a:rPr lang="en-US" altLang="zh-CN" dirty="0">
                <a:solidFill>
                  <a:srgbClr val="FF00FF"/>
                </a:solidFill>
              </a:rPr>
              <a:t>(XRAM)</a:t>
            </a:r>
            <a:endParaRPr lang="zh-CN" altLang="en-US" dirty="0">
              <a:solidFill>
                <a:srgbClr val="FF00FF"/>
              </a:solidFill>
            </a:endParaRPr>
          </a:p>
        </p:txBody>
      </p:sp>
      <p:sp>
        <p:nvSpPr>
          <p:cNvPr id="588803" name="Rectangle 3">
            <a:extLst>
              <a:ext uri="{FF2B5EF4-FFF2-40B4-BE49-F238E27FC236}">
                <a16:creationId xmlns:a16="http://schemas.microsoft.com/office/drawing/2014/main" id="{80D6D52C-A3B5-4D3E-A608-727EF69BBE40}"/>
              </a:ext>
            </a:extLst>
          </p:cNvPr>
          <p:cNvSpPr>
            <a:spLocks noGrp="1" noChangeArrowheads="1"/>
          </p:cNvSpPr>
          <p:nvPr>
            <p:ph idx="1"/>
          </p:nvPr>
        </p:nvSpPr>
        <p:spPr>
          <a:xfrm>
            <a:off x="369888" y="2792413"/>
            <a:ext cx="8469312" cy="3378200"/>
          </a:xfrm>
        </p:spPr>
        <p:txBody>
          <a:bodyPr/>
          <a:lstStyle/>
          <a:p>
            <a:pPr eaLnBrk="1" hangingPunct="1">
              <a:lnSpc>
                <a:spcPct val="113000"/>
              </a:lnSpc>
              <a:spcAft>
                <a:spcPts val="1200"/>
              </a:spcAft>
            </a:pPr>
            <a:r>
              <a:rPr lang="en-US" altLang="zh-CN">
                <a:hlinkClick r:id="rId4" action="ppaction://hlinksldjump"/>
              </a:rPr>
              <a:t>IAP15W4K58S4</a:t>
            </a:r>
            <a:r>
              <a:rPr lang="zh-CN" altLang="en-US">
                <a:hlinkClick r:id="rId4" action="ppaction://hlinksldjump"/>
              </a:rPr>
              <a:t>单片机</a:t>
            </a:r>
            <a:r>
              <a:rPr lang="zh-CN" altLang="en-US"/>
              <a:t>还可以访问</a:t>
            </a:r>
            <a:r>
              <a:rPr lang="zh-CN" altLang="en-US">
                <a:solidFill>
                  <a:srgbClr val="FF00FF"/>
                </a:solidFill>
              </a:rPr>
              <a:t>片外扩展</a:t>
            </a:r>
            <a:r>
              <a:rPr lang="zh-CN" altLang="en-US"/>
              <a:t>的</a:t>
            </a:r>
            <a:r>
              <a:rPr lang="en-US" altLang="zh-CN"/>
              <a:t>64KB</a:t>
            </a:r>
            <a:r>
              <a:rPr lang="zh-CN" altLang="en-US"/>
              <a:t>外部数据存储器。</a:t>
            </a:r>
          </a:p>
          <a:p>
            <a:pPr eaLnBrk="1" hangingPunct="1">
              <a:lnSpc>
                <a:spcPct val="113000"/>
              </a:lnSpc>
              <a:spcAft>
                <a:spcPts val="1200"/>
              </a:spcAft>
            </a:pPr>
            <a:r>
              <a:rPr lang="en-US" altLang="zh-CN"/>
              <a:t>IAP15W4K58S4</a:t>
            </a:r>
            <a:r>
              <a:rPr lang="zh-CN" altLang="en-US"/>
              <a:t>单片机的</a:t>
            </a:r>
            <a:r>
              <a:rPr lang="zh-CN" altLang="en-US">
                <a:solidFill>
                  <a:srgbClr val="FF0000"/>
                </a:solidFill>
              </a:rPr>
              <a:t>外部扩展</a:t>
            </a:r>
            <a:r>
              <a:rPr lang="en-US" altLang="zh-CN">
                <a:solidFill>
                  <a:srgbClr val="FF0000"/>
                </a:solidFill>
              </a:rPr>
              <a:t>I/O</a:t>
            </a:r>
            <a:r>
              <a:rPr lang="zh-CN" altLang="en-US">
                <a:solidFill>
                  <a:srgbClr val="FF0000"/>
                </a:solidFill>
              </a:rPr>
              <a:t>端口</a:t>
            </a:r>
            <a:r>
              <a:rPr lang="zh-CN" altLang="en-US"/>
              <a:t>与</a:t>
            </a:r>
            <a:r>
              <a:rPr lang="zh-CN" altLang="en-US">
                <a:solidFill>
                  <a:srgbClr val="FF00FF"/>
                </a:solidFill>
              </a:rPr>
              <a:t>扩展数据存储器</a:t>
            </a:r>
            <a:r>
              <a:rPr lang="zh-CN" altLang="en-US">
                <a:solidFill>
                  <a:srgbClr val="FF0000"/>
                </a:solidFill>
              </a:rPr>
              <a:t>统一编址</a:t>
            </a:r>
            <a:r>
              <a:rPr lang="zh-CN" altLang="en-US"/>
              <a:t>，因此外部</a:t>
            </a:r>
            <a:r>
              <a:rPr lang="en-US" altLang="zh-CN"/>
              <a:t>I/O</a:t>
            </a:r>
            <a:r>
              <a:rPr lang="zh-CN" altLang="en-US"/>
              <a:t>端口的地址占用扩展数据存储器的地址单元，外部扩展</a:t>
            </a:r>
            <a:r>
              <a:rPr lang="en-US" altLang="zh-CN"/>
              <a:t>I/O</a:t>
            </a:r>
            <a:r>
              <a:rPr lang="zh-CN" altLang="en-US"/>
              <a:t>端口也用</a:t>
            </a:r>
            <a:r>
              <a:rPr lang="en-US" altLang="zh-CN">
                <a:solidFill>
                  <a:srgbClr val="CC3300"/>
                </a:solidFill>
              </a:rPr>
              <a:t>MOVX</a:t>
            </a:r>
            <a:r>
              <a:rPr lang="zh-CN" altLang="en-US"/>
              <a:t>指令访问。</a:t>
            </a:r>
          </a:p>
        </p:txBody>
      </p:sp>
      <p:grpSp>
        <p:nvGrpSpPr>
          <p:cNvPr id="75781" name="组合 6">
            <a:extLst>
              <a:ext uri="{FF2B5EF4-FFF2-40B4-BE49-F238E27FC236}">
                <a16:creationId xmlns:a16="http://schemas.microsoft.com/office/drawing/2014/main" id="{1F815A1D-F59E-4BE3-AE26-27C07AF78334}"/>
              </a:ext>
            </a:extLst>
          </p:cNvPr>
          <p:cNvGrpSpPr>
            <a:grpSpLocks/>
          </p:cNvGrpSpPr>
          <p:nvPr/>
        </p:nvGrpSpPr>
        <p:grpSpPr bwMode="auto">
          <a:xfrm>
            <a:off x="435928" y="1205865"/>
            <a:ext cx="8469312" cy="1520825"/>
            <a:chOff x="552264" y="1144279"/>
            <a:chExt cx="8469088" cy="1519689"/>
          </a:xfrm>
        </p:grpSpPr>
        <p:sp>
          <p:nvSpPr>
            <p:cNvPr id="9" name="Rectangle 3">
              <a:extLst>
                <a:ext uri="{FF2B5EF4-FFF2-40B4-BE49-F238E27FC236}">
                  <a16:creationId xmlns:a16="http://schemas.microsoft.com/office/drawing/2014/main" id="{28693557-C84A-4ACB-B3FA-89C14B54CCE5}"/>
                </a:ext>
              </a:extLst>
            </p:cNvPr>
            <p:cNvSpPr txBox="1">
              <a:spLocks noChangeArrowheads="1"/>
            </p:cNvSpPr>
            <p:nvPr/>
          </p:nvSpPr>
          <p:spPr bwMode="auto">
            <a:xfrm>
              <a:off x="552264" y="1144279"/>
              <a:ext cx="8469088" cy="1519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5"/>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6"/>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algn="l" eaLnBrk="1" hangingPunct="1">
                <a:lnSpc>
                  <a:spcPct val="113000"/>
                </a:lnSpc>
                <a:spcBef>
                  <a:spcPts val="0"/>
                </a:spcBef>
                <a:defRPr/>
              </a:pPr>
              <a:r>
                <a:rPr lang="zh-CN" altLang="en-US" kern="0" dirty="0">
                  <a:solidFill>
                    <a:srgbClr val="FF00FF"/>
                  </a:solidFill>
                </a:rPr>
                <a:t>访问片内集成的外部</a:t>
              </a:r>
              <a:r>
                <a:rPr lang="en-US" altLang="zh-CN" kern="0" dirty="0">
                  <a:solidFill>
                    <a:srgbClr val="FF00FF"/>
                  </a:solidFill>
                </a:rPr>
                <a:t>RAM</a:t>
              </a:r>
              <a:r>
                <a:rPr lang="zh-CN" altLang="en-US" kern="0" dirty="0">
                  <a:solidFill>
                    <a:srgbClr val="FF00FF"/>
                  </a:solidFill>
                </a:rPr>
                <a:t>时，不影响</a:t>
              </a:r>
              <a:r>
                <a:rPr lang="en-US" altLang="zh-CN" kern="0" dirty="0"/>
                <a:t>P0</a:t>
              </a:r>
              <a:r>
                <a:rPr lang="zh-CN" altLang="en-US" kern="0" dirty="0"/>
                <a:t>口、</a:t>
              </a:r>
              <a:r>
                <a:rPr lang="en-US" altLang="zh-CN" kern="0" dirty="0"/>
                <a:t>P2</a:t>
              </a:r>
              <a:r>
                <a:rPr lang="zh-CN" altLang="en-US" kern="0" dirty="0"/>
                <a:t>口、</a:t>
              </a:r>
              <a:r>
                <a:rPr lang="en-US" altLang="zh-CN" kern="0" dirty="0"/>
                <a:t>P4.2(</a:t>
              </a:r>
              <a:r>
                <a:rPr lang="en-US" altLang="zh-CN" kern="0" dirty="0">
                  <a:solidFill>
                    <a:srgbClr val="0000CC"/>
                  </a:solidFill>
                </a:rPr>
                <a:t>WR</a:t>
              </a:r>
              <a:r>
                <a:rPr lang="en-US" altLang="zh-CN" kern="0" dirty="0"/>
                <a:t>)</a:t>
              </a:r>
              <a:r>
                <a:rPr lang="zh-CN" altLang="en-US" kern="0" dirty="0"/>
                <a:t>、</a:t>
              </a:r>
              <a:r>
                <a:rPr lang="en-US" altLang="zh-CN" kern="0" dirty="0"/>
                <a:t>P4.4(</a:t>
              </a:r>
              <a:r>
                <a:rPr lang="en-US" altLang="zh-CN" kern="0" dirty="0">
                  <a:solidFill>
                    <a:srgbClr val="0000CC"/>
                  </a:solidFill>
                </a:rPr>
                <a:t>RD</a:t>
              </a:r>
              <a:r>
                <a:rPr lang="en-US" altLang="zh-CN" kern="0" dirty="0"/>
                <a:t>)</a:t>
              </a:r>
              <a:r>
                <a:rPr lang="zh-CN" altLang="en-US" kern="0" dirty="0"/>
                <a:t>和</a:t>
              </a:r>
              <a:r>
                <a:rPr lang="en-US" altLang="zh-CN" kern="0" dirty="0"/>
                <a:t>ALE (P4.5)</a:t>
              </a:r>
              <a:r>
                <a:rPr lang="zh-CN" altLang="en-US" kern="0" dirty="0"/>
                <a:t>，而访问片外扩展的</a:t>
              </a:r>
              <a:r>
                <a:rPr lang="en-US" altLang="zh-CN" kern="0" dirty="0"/>
                <a:t>RAM</a:t>
              </a:r>
              <a:r>
                <a:rPr lang="zh-CN" altLang="en-US" kern="0" dirty="0"/>
                <a:t>时是要影响这些口线的。</a:t>
              </a:r>
            </a:p>
          </p:txBody>
        </p:sp>
        <p:cxnSp>
          <p:nvCxnSpPr>
            <p:cNvPr id="75784" name="直接连接符 5">
              <a:extLst>
                <a:ext uri="{FF2B5EF4-FFF2-40B4-BE49-F238E27FC236}">
                  <a16:creationId xmlns:a16="http://schemas.microsoft.com/office/drawing/2014/main" id="{B1AA8755-DE55-4216-B747-5F836CE5A9BE}"/>
                </a:ext>
              </a:extLst>
            </p:cNvPr>
            <p:cNvCxnSpPr>
              <a:cxnSpLocks noChangeShapeType="1"/>
            </p:cNvCxnSpPr>
            <p:nvPr/>
          </p:nvCxnSpPr>
          <p:spPr bwMode="auto">
            <a:xfrm>
              <a:off x="1844635" y="1556983"/>
              <a:ext cx="333828" cy="0"/>
            </a:xfrm>
            <a:prstGeom prst="line">
              <a:avLst/>
            </a:prstGeom>
            <a:noFill/>
            <a:ln w="9525" algn="ctr">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785" name="直接连接符 7">
              <a:extLst>
                <a:ext uri="{FF2B5EF4-FFF2-40B4-BE49-F238E27FC236}">
                  <a16:creationId xmlns:a16="http://schemas.microsoft.com/office/drawing/2014/main" id="{AE36E15A-5557-4BAA-BAC3-4DF18BC76AF7}"/>
                </a:ext>
              </a:extLst>
            </p:cNvPr>
            <p:cNvCxnSpPr>
              <a:cxnSpLocks noChangeShapeType="1"/>
            </p:cNvCxnSpPr>
            <p:nvPr/>
          </p:nvCxnSpPr>
          <p:spPr bwMode="auto">
            <a:xfrm>
              <a:off x="3623296" y="1558307"/>
              <a:ext cx="333828" cy="0"/>
            </a:xfrm>
            <a:prstGeom prst="line">
              <a:avLst/>
            </a:prstGeom>
            <a:noFill/>
            <a:ln w="9525" algn="ctr">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 name="灯片编号占位符 2">
            <a:extLst>
              <a:ext uri="{FF2B5EF4-FFF2-40B4-BE49-F238E27FC236}">
                <a16:creationId xmlns:a16="http://schemas.microsoft.com/office/drawing/2014/main" id="{2F3DD5CF-4060-4110-AB90-733E14F397BA}"/>
              </a:ext>
            </a:extLst>
          </p:cNvPr>
          <p:cNvSpPr>
            <a:spLocks noGrp="1"/>
          </p:cNvSpPr>
          <p:nvPr>
            <p:ph type="sldNum" sz="quarter" idx="12"/>
          </p:nvPr>
        </p:nvSpPr>
        <p:spPr/>
        <p:txBody>
          <a:bodyPr/>
          <a:lstStyle/>
          <a:p>
            <a:fld id="{22E77DEE-32E4-4009-988B-F2758F7B8AC2}" type="slidenum">
              <a:rPr lang="zh-CN" altLang="en-US" smtClean="0"/>
              <a:t>40</a:t>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a:extLst>
              <a:ext uri="{FF2B5EF4-FFF2-40B4-BE49-F238E27FC236}">
                <a16:creationId xmlns:a16="http://schemas.microsoft.com/office/drawing/2014/main" id="{1FFED1BE-A422-486F-861A-84A23846FEE9}"/>
              </a:ext>
            </a:extLst>
          </p:cNvPr>
          <p:cNvSpPr>
            <a:spLocks noGrp="1" noChangeArrowheads="1"/>
          </p:cNvSpPr>
          <p:nvPr>
            <p:ph type="body" idx="1"/>
          </p:nvPr>
        </p:nvSpPr>
        <p:spPr>
          <a:xfrm>
            <a:off x="468313" y="1199833"/>
            <a:ext cx="8098473" cy="925830"/>
          </a:xfrm>
        </p:spPr>
        <p:txBody>
          <a:bodyPr/>
          <a:lstStyle/>
          <a:p>
            <a:pPr marL="261938" indent="-261938" eaLnBrk="1" hangingPunct="1">
              <a:lnSpc>
                <a:spcPct val="125000"/>
              </a:lnSpc>
            </a:pPr>
            <a:r>
              <a:rPr lang="zh-CN" altLang="en-US" dirty="0"/>
              <a:t>单片机</a:t>
            </a:r>
            <a:r>
              <a:rPr lang="zh-CN" altLang="en-US" dirty="0">
                <a:solidFill>
                  <a:srgbClr val="FF00FF"/>
                </a:solidFill>
              </a:rPr>
              <a:t>内部扩展</a:t>
            </a:r>
            <a:r>
              <a:rPr lang="en-US" altLang="zh-CN" dirty="0">
                <a:solidFill>
                  <a:srgbClr val="FF00FF"/>
                </a:solidFill>
              </a:rPr>
              <a:t>RAM</a:t>
            </a:r>
            <a:r>
              <a:rPr lang="zh-CN" altLang="en-US" dirty="0">
                <a:solidFill>
                  <a:srgbClr val="FF00FF"/>
                </a:solidFill>
              </a:rPr>
              <a:t>是否可访问</a:t>
            </a:r>
            <a:r>
              <a:rPr lang="zh-CN" altLang="en-US" dirty="0"/>
              <a:t>受辅助寄存器</a:t>
            </a:r>
            <a:r>
              <a:rPr lang="en-US" altLang="zh-CN" dirty="0">
                <a:solidFill>
                  <a:srgbClr val="FF00FF"/>
                </a:solidFill>
              </a:rPr>
              <a:t>AUXR</a:t>
            </a:r>
            <a:r>
              <a:rPr lang="en-US" altLang="zh-CN" dirty="0"/>
              <a:t> (</a:t>
            </a:r>
            <a:r>
              <a:rPr lang="zh-CN" altLang="en-US" dirty="0"/>
              <a:t>地址为</a:t>
            </a:r>
            <a:r>
              <a:rPr lang="en-US" altLang="zh-CN" dirty="0"/>
              <a:t>8EH, </a:t>
            </a:r>
            <a:r>
              <a:rPr lang="zh-CN" altLang="en-US" dirty="0"/>
              <a:t>复位值为</a:t>
            </a:r>
            <a:r>
              <a:rPr lang="en-US" altLang="zh-CN" dirty="0"/>
              <a:t>01H)</a:t>
            </a:r>
            <a:r>
              <a:rPr lang="zh-CN" altLang="en-US" dirty="0"/>
              <a:t>中的</a:t>
            </a:r>
            <a:r>
              <a:rPr lang="en-US" altLang="zh-CN" dirty="0">
                <a:solidFill>
                  <a:srgbClr val="FF00FF"/>
                </a:solidFill>
              </a:rPr>
              <a:t>EXTRAM</a:t>
            </a:r>
            <a:r>
              <a:rPr lang="zh-CN" altLang="en-US" dirty="0">
                <a:solidFill>
                  <a:srgbClr val="FF00FF"/>
                </a:solidFill>
              </a:rPr>
              <a:t>位控制</a:t>
            </a:r>
            <a:r>
              <a:rPr lang="zh-CN" altLang="en-US" dirty="0"/>
              <a:t>。</a:t>
            </a:r>
            <a:endParaRPr lang="zh-CN" altLang="en-US" dirty="0">
              <a:solidFill>
                <a:schemeClr val="tx1"/>
              </a:solidFill>
            </a:endParaRPr>
          </a:p>
        </p:txBody>
      </p:sp>
      <p:graphicFrame>
        <p:nvGraphicFramePr>
          <p:cNvPr id="646265" name="Group 121">
            <a:extLst>
              <a:ext uri="{FF2B5EF4-FFF2-40B4-BE49-F238E27FC236}">
                <a16:creationId xmlns:a16="http://schemas.microsoft.com/office/drawing/2014/main" id="{31C5B876-CDFC-4BCD-804A-AAA40B0079C3}"/>
              </a:ext>
            </a:extLst>
          </p:cNvPr>
          <p:cNvGraphicFramePr>
            <a:graphicFrameLocks noGrp="1"/>
          </p:cNvGraphicFramePr>
          <p:nvPr/>
        </p:nvGraphicFramePr>
        <p:xfrm>
          <a:off x="42863" y="2324100"/>
          <a:ext cx="9101138" cy="1203325"/>
        </p:xfrm>
        <a:graphic>
          <a:graphicData uri="http://schemas.openxmlformats.org/drawingml/2006/table">
            <a:tbl>
              <a:tblPr/>
              <a:tblGrid>
                <a:gridCol w="748850">
                  <a:extLst>
                    <a:ext uri="{9D8B030D-6E8A-4147-A177-3AD203B41FA5}">
                      <a16:colId xmlns:a16="http://schemas.microsoft.com/office/drawing/2014/main" val="20000"/>
                    </a:ext>
                  </a:extLst>
                </a:gridCol>
                <a:gridCol w="905118">
                  <a:extLst>
                    <a:ext uri="{9D8B030D-6E8A-4147-A177-3AD203B41FA5}">
                      <a16:colId xmlns:a16="http://schemas.microsoft.com/office/drawing/2014/main" val="20001"/>
                    </a:ext>
                  </a:extLst>
                </a:gridCol>
                <a:gridCol w="929768">
                  <a:extLst>
                    <a:ext uri="{9D8B030D-6E8A-4147-A177-3AD203B41FA5}">
                      <a16:colId xmlns:a16="http://schemas.microsoft.com/office/drawing/2014/main" val="20002"/>
                    </a:ext>
                  </a:extLst>
                </a:gridCol>
                <a:gridCol w="1524114">
                  <a:extLst>
                    <a:ext uri="{9D8B030D-6E8A-4147-A177-3AD203B41FA5}">
                      <a16:colId xmlns:a16="http://schemas.microsoft.com/office/drawing/2014/main" val="20003"/>
                    </a:ext>
                  </a:extLst>
                </a:gridCol>
                <a:gridCol w="692882">
                  <a:extLst>
                    <a:ext uri="{9D8B030D-6E8A-4147-A177-3AD203B41FA5}">
                      <a16:colId xmlns:a16="http://schemas.microsoft.com/office/drawing/2014/main" val="20004"/>
                    </a:ext>
                  </a:extLst>
                </a:gridCol>
                <a:gridCol w="1107025">
                  <a:extLst>
                    <a:ext uri="{9D8B030D-6E8A-4147-A177-3AD203B41FA5}">
                      <a16:colId xmlns:a16="http://schemas.microsoft.com/office/drawing/2014/main" val="20005"/>
                    </a:ext>
                  </a:extLst>
                </a:gridCol>
                <a:gridCol w="899953">
                  <a:extLst>
                    <a:ext uri="{9D8B030D-6E8A-4147-A177-3AD203B41FA5}">
                      <a16:colId xmlns:a16="http://schemas.microsoft.com/office/drawing/2014/main" val="20006"/>
                    </a:ext>
                  </a:extLst>
                </a:gridCol>
                <a:gridCol w="1393475">
                  <a:extLst>
                    <a:ext uri="{9D8B030D-6E8A-4147-A177-3AD203B41FA5}">
                      <a16:colId xmlns:a16="http://schemas.microsoft.com/office/drawing/2014/main" val="20007"/>
                    </a:ext>
                  </a:extLst>
                </a:gridCol>
                <a:gridCol w="899953">
                  <a:extLst>
                    <a:ext uri="{9D8B030D-6E8A-4147-A177-3AD203B41FA5}">
                      <a16:colId xmlns:a16="http://schemas.microsoft.com/office/drawing/2014/main" val="20008"/>
                    </a:ext>
                  </a:extLst>
                </a:gridCol>
              </a:tblGrid>
              <a:tr h="42221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位号</a:t>
                      </a:r>
                      <a:endParaRPr kumimoji="0" lang="zh-CN" altLang="en-US" sz="2400" b="1" i="0" u="none" strike="noStrike" cap="none" normalizeH="0" baseline="0" dirty="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D7</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D6</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D5</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D4</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D3</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D2</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D1</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D0</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110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charset="-122"/>
                        </a:rPr>
                        <a:t>位</a:t>
                      </a:r>
                      <a:endParaRPr kumimoji="0" lang="en-US" altLang="zh-CN" sz="2400" b="1" i="0" u="none" strike="noStrike" cap="none" normalizeH="0" baseline="0">
                        <a:ln>
                          <a:noFill/>
                        </a:ln>
                        <a:solidFill>
                          <a:schemeClr val="tx1"/>
                        </a:solidFill>
                        <a:effectLst/>
                        <a:latin typeface="Times New Roman" pitchFamily="18" charset="0"/>
                        <a:ea typeface="宋体" charset="-122"/>
                      </a:endParaRPr>
                    </a:p>
                    <a:p>
                      <a:pPr marL="0" marR="0" lvl="0" indent="0" algn="ctr" defTabSz="914400" rtl="0" eaLnBrk="1" fontAlgn="base" latinLnBrk="0" hangingPunct="1">
                        <a:lnSpc>
                          <a:spcPct val="85000"/>
                        </a:lnSpc>
                        <a:spcBef>
                          <a:spcPct val="0"/>
                        </a:spcBef>
                        <a:spcAft>
                          <a:spcPct val="0"/>
                        </a:spcAft>
                        <a:buClrTx/>
                        <a:buSzTx/>
                        <a:buFontTx/>
                        <a:buNone/>
                        <a:tabLst/>
                      </a:pPr>
                      <a:r>
                        <a:rPr kumimoji="0" lang="zh-CN" altLang="en-US" sz="2400" b="1" i="0" u="none" strike="noStrike" cap="none" normalizeH="0" baseline="0">
                          <a:ln>
                            <a:noFill/>
                          </a:ln>
                          <a:solidFill>
                            <a:schemeClr val="tx1"/>
                          </a:solidFill>
                          <a:effectLst/>
                          <a:latin typeface="Times New Roman" pitchFamily="18" charset="0"/>
                          <a:ea typeface="宋体" charset="-122"/>
                        </a:rPr>
                        <a:t>名称</a:t>
                      </a:r>
                      <a:endParaRPr kumimoji="0" lang="zh-CN" altLang="en-US"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T0x12</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宋体" charset="-122"/>
                          <a:cs typeface="Times New Roman" panose="02020603050405020304" pitchFamily="18" charset="0"/>
                        </a:rPr>
                        <a:t>T1x12</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宋体" charset="-122"/>
                          <a:ea typeface="宋体" charset="-122"/>
                          <a:cs typeface="Times New Roman" pitchFamily="18" charset="0"/>
                        </a:rPr>
                        <a:t>UART_M0x6</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T2R</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T2_C/ </a:t>
                      </a: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pitchFamily="18" charset="0"/>
                          <a:ea typeface="宋体" charset="-122"/>
                          <a:cs typeface="Times New Roman" pitchFamily="18" charset="0"/>
                        </a:rPr>
                        <a:t>T2x12</a:t>
                      </a:r>
                      <a:endParaRPr kumimoji="0" lang="en-US" altLang="zh-CN" sz="2400" b="1" i="0" u="none" strike="noStrike" cap="none" normalizeH="0" baseline="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a:ln>
                            <a:noFill/>
                          </a:ln>
                          <a:solidFill>
                            <a:srgbClr val="FF00FF"/>
                          </a:solidFill>
                          <a:effectLst/>
                          <a:latin typeface="Times New Roman" pitchFamily="18" charset="0"/>
                          <a:ea typeface="宋体" charset="-122"/>
                          <a:cs typeface="Times New Roman" pitchFamily="18" charset="0"/>
                        </a:rPr>
                        <a:t>EXTRAM</a:t>
                      </a:r>
                      <a:endParaRPr kumimoji="0" lang="en-US" altLang="zh-CN" sz="2400" b="1" i="0" u="none" strike="noStrike" cap="none" normalizeH="0" baseline="0">
                        <a:ln>
                          <a:noFill/>
                        </a:ln>
                        <a:solidFill>
                          <a:srgbClr val="FF00FF"/>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pitchFamily="18" charset="0"/>
                          <a:ea typeface="宋体" charset="-122"/>
                          <a:cs typeface="Times New Roman" pitchFamily="18" charset="0"/>
                        </a:rPr>
                        <a:t>S1ST2</a:t>
                      </a:r>
                      <a:endParaRPr kumimoji="0" lang="en-US" altLang="zh-CN" sz="2400" b="1" i="0" u="none" strike="noStrike" cap="none" normalizeH="0" baseline="0" dirty="0">
                        <a:ln>
                          <a:noFill/>
                        </a:ln>
                        <a:solidFill>
                          <a:schemeClr val="tx1"/>
                        </a:solidFill>
                        <a:effectLst/>
                        <a:latin typeface="Arial" charset="0"/>
                        <a:ea typeface="宋体"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77859" name="Rectangle 123">
            <a:extLst>
              <a:ext uri="{FF2B5EF4-FFF2-40B4-BE49-F238E27FC236}">
                <a16:creationId xmlns:a16="http://schemas.microsoft.com/office/drawing/2014/main" id="{85DAFA7B-2BCC-41CF-9636-AE525865C6ED}"/>
              </a:ext>
            </a:extLst>
          </p:cNvPr>
          <p:cNvSpPr>
            <a:spLocks noChangeArrowheads="1"/>
          </p:cNvSpPr>
          <p:nvPr/>
        </p:nvSpPr>
        <p:spPr bwMode="auto">
          <a:xfrm>
            <a:off x="-290513" y="3255963"/>
            <a:ext cx="9144001"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646266" name="Object 122">
            <a:extLst>
              <a:ext uri="{FF2B5EF4-FFF2-40B4-BE49-F238E27FC236}">
                <a16:creationId xmlns:a16="http://schemas.microsoft.com/office/drawing/2014/main" id="{7A0E3598-2250-4677-9DBB-F29B005876E4}"/>
              </a:ext>
            </a:extLst>
          </p:cNvPr>
          <p:cNvGraphicFramePr>
            <a:graphicFrameLocks noChangeAspect="1"/>
          </p:cNvGraphicFramePr>
          <p:nvPr/>
        </p:nvGraphicFramePr>
        <p:xfrm>
          <a:off x="5667375" y="2871788"/>
          <a:ext cx="327025" cy="457200"/>
        </p:xfrm>
        <a:graphic>
          <a:graphicData uri="http://schemas.openxmlformats.org/presentationml/2006/ole">
            <mc:AlternateContent xmlns:mc="http://schemas.openxmlformats.org/markup-compatibility/2006">
              <mc:Choice xmlns:v="urn:schemas-microsoft-com:vml" Requires="v">
                <p:oleObj name="公式" r:id="rId2" imgW="139639" imgH="203112" progId="Equation.3">
                  <p:embed/>
                </p:oleObj>
              </mc:Choice>
              <mc:Fallback>
                <p:oleObj name="公式" r:id="rId2" imgW="139639" imgH="203112" progId="Equation.3">
                  <p:embed/>
                  <p:pic>
                    <p:nvPicPr>
                      <p:cNvPr id="646266" name="Object 122">
                        <a:extLst>
                          <a:ext uri="{FF2B5EF4-FFF2-40B4-BE49-F238E27FC236}">
                            <a16:creationId xmlns:a16="http://schemas.microsoft.com/office/drawing/2014/main" id="{7A0E3598-2250-4677-9DBB-F29B005876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7375" y="2871788"/>
                        <a:ext cx="327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62" name="标题 3">
            <a:extLst>
              <a:ext uri="{FF2B5EF4-FFF2-40B4-BE49-F238E27FC236}">
                <a16:creationId xmlns:a16="http://schemas.microsoft.com/office/drawing/2014/main" id="{DE9753A5-421F-4972-9CB9-30102DE410F8}"/>
              </a:ext>
            </a:extLst>
          </p:cNvPr>
          <p:cNvSpPr>
            <a:spLocks noGrp="1" noChangeArrowheads="1"/>
          </p:cNvSpPr>
          <p:nvPr>
            <p:ph type="title"/>
          </p:nvPr>
        </p:nvSpPr>
        <p:spPr>
          <a:xfrm>
            <a:off x="468313" y="512762"/>
            <a:ext cx="8229600" cy="504825"/>
          </a:xfrm>
        </p:spPr>
        <p:txBody>
          <a:bodyPr>
            <a:normAutofit fontScale="90000"/>
          </a:bodyPr>
          <a:lstStyle/>
          <a:p>
            <a:pPr eaLnBrk="1" hangingPunct="1"/>
            <a:r>
              <a:rPr lang="en-US" altLang="zh-CN" dirty="0">
                <a:solidFill>
                  <a:srgbClr val="C00000"/>
                </a:solidFill>
              </a:rPr>
              <a:t> </a:t>
            </a:r>
            <a:r>
              <a:rPr lang="en-US" altLang="zh-CN" dirty="0">
                <a:solidFill>
                  <a:srgbClr val="FF00FF"/>
                </a:solidFill>
              </a:rPr>
              <a:t>(2)  </a:t>
            </a:r>
            <a:r>
              <a:rPr lang="zh-CN" altLang="en-US" dirty="0">
                <a:solidFill>
                  <a:srgbClr val="FF00FF"/>
                </a:solidFill>
                <a:hlinkClick r:id="rId4" action="ppaction://hlinksldjump"/>
              </a:rPr>
              <a:t>扩展数据存储区</a:t>
            </a:r>
            <a:r>
              <a:rPr lang="en-US" altLang="zh-CN" dirty="0">
                <a:solidFill>
                  <a:srgbClr val="FF00FF"/>
                </a:solidFill>
              </a:rPr>
              <a:t>(XRAM)</a:t>
            </a:r>
            <a:endParaRPr lang="zh-CN" altLang="en-US" dirty="0">
              <a:solidFill>
                <a:srgbClr val="FF00FF"/>
              </a:solidFill>
            </a:endParaRPr>
          </a:p>
        </p:txBody>
      </p:sp>
      <p:sp>
        <p:nvSpPr>
          <p:cNvPr id="9" name="Rectangle 3">
            <a:extLst>
              <a:ext uri="{FF2B5EF4-FFF2-40B4-BE49-F238E27FC236}">
                <a16:creationId xmlns:a16="http://schemas.microsoft.com/office/drawing/2014/main" id="{47D097E6-7510-4856-B1CD-AB4D837A0015}"/>
              </a:ext>
            </a:extLst>
          </p:cNvPr>
          <p:cNvSpPr txBox="1">
            <a:spLocks noChangeArrowheads="1"/>
          </p:cNvSpPr>
          <p:nvPr/>
        </p:nvSpPr>
        <p:spPr bwMode="auto">
          <a:xfrm>
            <a:off x="188913" y="3695700"/>
            <a:ext cx="8955087" cy="271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5"/>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6"/>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1938" indent="-261938" eaLnBrk="1" hangingPunct="1">
              <a:spcBef>
                <a:spcPts val="300"/>
              </a:spcBef>
              <a:defRPr/>
            </a:pPr>
            <a:r>
              <a:rPr lang="en-US" altLang="zh-CN" kern="0" dirty="0">
                <a:solidFill>
                  <a:srgbClr val="FF00FF"/>
                </a:solidFill>
              </a:rPr>
              <a:t>EXTRAM</a:t>
            </a:r>
            <a:r>
              <a:rPr lang="zh-CN" altLang="en-US" kern="0" dirty="0"/>
              <a:t>：</a:t>
            </a:r>
          </a:p>
          <a:p>
            <a:pPr marL="261938" indent="-261938" eaLnBrk="1" hangingPunct="1">
              <a:spcBef>
                <a:spcPts val="300"/>
              </a:spcBef>
              <a:defRPr/>
            </a:pPr>
            <a:r>
              <a:rPr lang="en-US" altLang="zh-CN" kern="0" dirty="0">
                <a:solidFill>
                  <a:srgbClr val="FF00FF"/>
                </a:solidFill>
              </a:rPr>
              <a:t>0</a:t>
            </a:r>
            <a:r>
              <a:rPr lang="en-US" altLang="zh-CN" kern="0" dirty="0">
                <a:solidFill>
                  <a:schemeClr val="tx1"/>
                </a:solidFill>
              </a:rPr>
              <a:t>: </a:t>
            </a:r>
            <a:r>
              <a:rPr lang="zh-CN" altLang="en-US" kern="0" dirty="0">
                <a:solidFill>
                  <a:srgbClr val="FF00FF"/>
                </a:solidFill>
              </a:rPr>
              <a:t>内部扩展</a:t>
            </a:r>
            <a:r>
              <a:rPr lang="en-US" altLang="zh-CN" kern="0" dirty="0">
                <a:solidFill>
                  <a:srgbClr val="FF00FF"/>
                </a:solidFill>
              </a:rPr>
              <a:t>RAM</a:t>
            </a:r>
            <a:r>
              <a:rPr lang="zh-CN" altLang="en-US" kern="0" dirty="0">
                <a:solidFill>
                  <a:srgbClr val="FF00FF"/>
                </a:solidFill>
              </a:rPr>
              <a:t>可以存取</a:t>
            </a:r>
            <a:r>
              <a:rPr lang="en-US" altLang="zh-CN" kern="0" dirty="0">
                <a:solidFill>
                  <a:schemeClr val="tx1"/>
                </a:solidFill>
              </a:rPr>
              <a:t>; </a:t>
            </a:r>
            <a:r>
              <a:rPr lang="zh-CN" altLang="en-US" kern="0" dirty="0">
                <a:solidFill>
                  <a:srgbClr val="FF0000"/>
                </a:solidFill>
              </a:rPr>
              <a:t>地址小于</a:t>
            </a:r>
            <a:r>
              <a:rPr lang="en-US" altLang="zh-CN" kern="0" dirty="0">
                <a:solidFill>
                  <a:srgbClr val="FF0000"/>
                </a:solidFill>
              </a:rPr>
              <a:t>0F00H</a:t>
            </a:r>
            <a:r>
              <a:rPr lang="zh-CN" altLang="en-US" kern="0" dirty="0">
                <a:solidFill>
                  <a:srgbClr val="FF0000"/>
                </a:solidFill>
              </a:rPr>
              <a:t>时</a:t>
            </a:r>
            <a:r>
              <a:rPr lang="en-US" altLang="zh-CN" kern="0" dirty="0">
                <a:solidFill>
                  <a:srgbClr val="FF0000"/>
                </a:solidFill>
              </a:rPr>
              <a:t>, </a:t>
            </a:r>
            <a:r>
              <a:rPr lang="zh-CN" altLang="en-US" kern="0" dirty="0">
                <a:solidFill>
                  <a:srgbClr val="FF0000"/>
                </a:solidFill>
              </a:rPr>
              <a:t>访问内部扩展</a:t>
            </a:r>
            <a:r>
              <a:rPr lang="en-US" altLang="zh-CN" kern="0" dirty="0">
                <a:solidFill>
                  <a:srgbClr val="FF0000"/>
                </a:solidFill>
              </a:rPr>
              <a:t>RAM</a:t>
            </a:r>
            <a:r>
              <a:rPr lang="en-US" altLang="zh-CN" kern="0" dirty="0">
                <a:solidFill>
                  <a:srgbClr val="3333FF"/>
                </a:solidFill>
              </a:rPr>
              <a:t>;</a:t>
            </a:r>
            <a:r>
              <a:rPr lang="en-US" altLang="zh-CN" kern="0" dirty="0">
                <a:solidFill>
                  <a:schemeClr val="tx1"/>
                </a:solidFill>
              </a:rPr>
              <a:t> </a:t>
            </a:r>
            <a:r>
              <a:rPr lang="zh-CN" altLang="en-US" kern="0" dirty="0">
                <a:solidFill>
                  <a:schemeClr val="tx1"/>
                </a:solidFill>
              </a:rPr>
              <a:t>地址</a:t>
            </a:r>
            <a:r>
              <a:rPr lang="zh-CN" altLang="en-US" kern="0" dirty="0">
                <a:solidFill>
                  <a:srgbClr val="3333FF"/>
                </a:solidFill>
              </a:rPr>
              <a:t>大于或等于</a:t>
            </a:r>
            <a:r>
              <a:rPr lang="en-US" altLang="zh-CN" kern="0" dirty="0">
                <a:solidFill>
                  <a:srgbClr val="3333FF"/>
                </a:solidFill>
              </a:rPr>
              <a:t>0F00H</a:t>
            </a:r>
            <a:r>
              <a:rPr lang="zh-CN" altLang="en-US" kern="0" dirty="0">
                <a:solidFill>
                  <a:srgbClr val="3333FF"/>
                </a:solidFill>
              </a:rPr>
              <a:t>时</a:t>
            </a:r>
            <a:r>
              <a:rPr lang="en-US" altLang="zh-CN" kern="0" dirty="0">
                <a:solidFill>
                  <a:srgbClr val="3333FF"/>
                </a:solidFill>
              </a:rPr>
              <a:t>, </a:t>
            </a:r>
            <a:r>
              <a:rPr lang="zh-CN" altLang="en-US" kern="0" dirty="0">
                <a:solidFill>
                  <a:srgbClr val="3333FF"/>
                </a:solidFill>
              </a:rPr>
              <a:t>则访问单片机外部扩展的</a:t>
            </a:r>
            <a:r>
              <a:rPr lang="en-US" altLang="zh-CN" kern="0" dirty="0">
                <a:solidFill>
                  <a:srgbClr val="3333FF"/>
                </a:solidFill>
              </a:rPr>
              <a:t>RAM</a:t>
            </a:r>
            <a:r>
              <a:rPr lang="zh-CN" altLang="en-US" kern="0" dirty="0">
                <a:solidFill>
                  <a:srgbClr val="3333FF"/>
                </a:solidFill>
              </a:rPr>
              <a:t>或</a:t>
            </a:r>
            <a:r>
              <a:rPr lang="en-US" altLang="zh-CN" kern="0" dirty="0">
                <a:solidFill>
                  <a:srgbClr val="3333FF"/>
                </a:solidFill>
              </a:rPr>
              <a:t>I/O</a:t>
            </a:r>
            <a:r>
              <a:rPr lang="zh-CN" altLang="en-US" kern="0" dirty="0">
                <a:solidFill>
                  <a:srgbClr val="3333FF"/>
                </a:solidFill>
              </a:rPr>
              <a:t>空间</a:t>
            </a:r>
            <a:r>
              <a:rPr lang="zh-CN" altLang="en-US" kern="0" dirty="0">
                <a:solidFill>
                  <a:schemeClr val="tx1"/>
                </a:solidFill>
              </a:rPr>
              <a:t>。</a:t>
            </a:r>
          </a:p>
          <a:p>
            <a:pPr marL="261938" indent="-261938" eaLnBrk="1" hangingPunct="1">
              <a:spcBef>
                <a:spcPts val="300"/>
              </a:spcBef>
              <a:defRPr/>
            </a:pPr>
            <a:r>
              <a:rPr lang="en-US" altLang="zh-CN" kern="0" dirty="0">
                <a:solidFill>
                  <a:srgbClr val="FF00FF"/>
                </a:solidFill>
              </a:rPr>
              <a:t>1</a:t>
            </a:r>
            <a:r>
              <a:rPr lang="en-US" altLang="zh-CN" kern="0" dirty="0">
                <a:solidFill>
                  <a:schemeClr val="tx1"/>
                </a:solidFill>
              </a:rPr>
              <a:t>: </a:t>
            </a:r>
            <a:r>
              <a:rPr lang="zh-CN" altLang="en-US" kern="0" dirty="0">
                <a:solidFill>
                  <a:schemeClr val="tx1"/>
                </a:solidFill>
              </a:rPr>
              <a:t>禁止访问内部扩展</a:t>
            </a:r>
            <a:r>
              <a:rPr lang="en-US" altLang="zh-CN" kern="0" dirty="0">
                <a:solidFill>
                  <a:schemeClr val="tx1"/>
                </a:solidFill>
              </a:rPr>
              <a:t>RAM</a:t>
            </a:r>
            <a:r>
              <a:rPr lang="zh-CN" altLang="en-US" kern="0" dirty="0">
                <a:solidFill>
                  <a:schemeClr val="tx1"/>
                </a:solidFill>
              </a:rPr>
              <a:t>。</a:t>
            </a:r>
          </a:p>
        </p:txBody>
      </p:sp>
      <p:sp>
        <p:nvSpPr>
          <p:cNvPr id="10" name="Rectangle 3">
            <a:hlinkClick r:id="rId7" action="ppaction://hlinksldjump"/>
            <a:extLst>
              <a:ext uri="{FF2B5EF4-FFF2-40B4-BE49-F238E27FC236}">
                <a16:creationId xmlns:a16="http://schemas.microsoft.com/office/drawing/2014/main" id="{63B77A67-2C21-4D1F-9708-943F9A2AB22D}"/>
              </a:ext>
            </a:extLst>
          </p:cNvPr>
          <p:cNvSpPr txBox="1">
            <a:spLocks noChangeArrowheads="1"/>
          </p:cNvSpPr>
          <p:nvPr/>
        </p:nvSpPr>
        <p:spPr bwMode="auto">
          <a:xfrm>
            <a:off x="2732088" y="3863975"/>
            <a:ext cx="6296025" cy="444500"/>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342900" indent="-342900" algn="l" rtl="0" fontAlgn="base">
              <a:lnSpc>
                <a:spcPct val="114000"/>
              </a:lnSpc>
              <a:spcBef>
                <a:spcPct val="20000"/>
              </a:spcBef>
              <a:spcAft>
                <a:spcPts val="600"/>
              </a:spcAft>
              <a:buBlip>
                <a:blip r:embed="rId5"/>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6"/>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algn="ctr" eaLnBrk="1" hangingPunct="1">
              <a:lnSpc>
                <a:spcPct val="100000"/>
              </a:lnSpc>
              <a:buClr>
                <a:srgbClr val="FF0000"/>
              </a:buClr>
              <a:buFontTx/>
              <a:buNone/>
              <a:defRPr/>
            </a:pPr>
            <a:r>
              <a:rPr lang="en-US" altLang="zh-CN" kern="0" dirty="0">
                <a:solidFill>
                  <a:srgbClr val="FF0000"/>
                </a:solidFill>
              </a:rPr>
              <a:t>3840</a:t>
            </a:r>
            <a:r>
              <a:rPr lang="zh-CN" altLang="en-US" kern="0" dirty="0">
                <a:solidFill>
                  <a:srgbClr val="FF0000"/>
                </a:solidFill>
              </a:rPr>
              <a:t>字节</a:t>
            </a:r>
            <a:r>
              <a:rPr lang="en-US" altLang="zh-CN" kern="0" dirty="0">
                <a:solidFill>
                  <a:srgbClr val="FF0000"/>
                </a:solidFill>
              </a:rPr>
              <a:t>, </a:t>
            </a:r>
            <a:r>
              <a:rPr lang="zh-CN" altLang="en-US" kern="0" dirty="0"/>
              <a:t>地址范围为</a:t>
            </a:r>
            <a:r>
              <a:rPr lang="en-US" altLang="en-US" kern="0" dirty="0">
                <a:solidFill>
                  <a:srgbClr val="FF0000"/>
                </a:solidFill>
              </a:rPr>
              <a:t>0000H～0EFFH</a:t>
            </a:r>
            <a:endParaRPr lang="en-US" altLang="zh-CN" kern="0" dirty="0"/>
          </a:p>
        </p:txBody>
      </p:sp>
      <p:sp>
        <p:nvSpPr>
          <p:cNvPr id="2" name="灯片编号占位符 1">
            <a:extLst>
              <a:ext uri="{FF2B5EF4-FFF2-40B4-BE49-F238E27FC236}">
                <a16:creationId xmlns:a16="http://schemas.microsoft.com/office/drawing/2014/main" id="{E40A5E04-1112-486E-B95D-AF93F7F323D9}"/>
              </a:ext>
            </a:extLst>
          </p:cNvPr>
          <p:cNvSpPr>
            <a:spLocks noGrp="1"/>
          </p:cNvSpPr>
          <p:nvPr>
            <p:ph type="sldNum" sz="quarter" idx="12"/>
          </p:nvPr>
        </p:nvSpPr>
        <p:spPr/>
        <p:txBody>
          <a:bodyPr/>
          <a:lstStyle/>
          <a:p>
            <a:fld id="{22E77DEE-32E4-4009-988B-F2758F7B8AC2}" type="slidenum">
              <a:rPr lang="zh-CN" altLang="en-US" smtClean="0"/>
              <a:t>41</a:t>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图片 4">
            <a:extLst>
              <a:ext uri="{FF2B5EF4-FFF2-40B4-BE49-F238E27FC236}">
                <a16:creationId xmlns:a16="http://schemas.microsoft.com/office/drawing/2014/main" id="{12D060CE-2F3C-4157-ACC3-5193EAE213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2938" y="862013"/>
            <a:ext cx="5868202" cy="557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1" name="标题 2">
            <a:extLst>
              <a:ext uri="{FF2B5EF4-FFF2-40B4-BE49-F238E27FC236}">
                <a16:creationId xmlns:a16="http://schemas.microsoft.com/office/drawing/2014/main" id="{94BAE359-90DF-421D-A116-BD402927AD46}"/>
              </a:ext>
            </a:extLst>
          </p:cNvPr>
          <p:cNvSpPr>
            <a:spLocks noGrp="1" noChangeArrowheads="1"/>
          </p:cNvSpPr>
          <p:nvPr>
            <p:ph type="title"/>
          </p:nvPr>
        </p:nvSpPr>
        <p:spPr>
          <a:xfrm>
            <a:off x="468313" y="357188"/>
            <a:ext cx="4597400" cy="504825"/>
          </a:xfrm>
        </p:spPr>
        <p:txBody>
          <a:bodyPr>
            <a:normAutofit fontScale="90000"/>
          </a:bodyPr>
          <a:lstStyle/>
          <a:p>
            <a:pPr eaLnBrk="1" hangingPunct="1"/>
            <a:r>
              <a:rPr lang="en-US" altLang="zh-CN" b="0" dirty="0">
                <a:latin typeface="隶书" panose="02010509060101010101" pitchFamily="49" charset="-122"/>
                <a:ea typeface="隶书" panose="02010509060101010101" pitchFamily="49" charset="-122"/>
              </a:rPr>
              <a:t>4.4 </a:t>
            </a:r>
            <a:r>
              <a:rPr lang="zh-CN" altLang="en-US" dirty="0"/>
              <a:t>单片机的引脚</a:t>
            </a:r>
          </a:p>
        </p:txBody>
      </p:sp>
      <p:sp>
        <p:nvSpPr>
          <p:cNvPr id="83973" name="Rectangle 16">
            <a:extLst>
              <a:ext uri="{FF2B5EF4-FFF2-40B4-BE49-F238E27FC236}">
                <a16:creationId xmlns:a16="http://schemas.microsoft.com/office/drawing/2014/main" id="{A2AD9D2E-7D0E-47D7-A916-D99283FA479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3975" name="Rectangle 17">
            <a:extLst>
              <a:ext uri="{FF2B5EF4-FFF2-40B4-BE49-F238E27FC236}">
                <a16:creationId xmlns:a16="http://schemas.microsoft.com/office/drawing/2014/main" id="{70DC2BA5-B863-4D34-8965-43250317998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2276" name="Rectangle 4">
            <a:extLst>
              <a:ext uri="{FF2B5EF4-FFF2-40B4-BE49-F238E27FC236}">
                <a16:creationId xmlns:a16="http://schemas.microsoft.com/office/drawing/2014/main" id="{0121A98B-B359-45B1-ACF0-2FA1E842A81E}"/>
              </a:ext>
            </a:extLst>
          </p:cNvPr>
          <p:cNvSpPr>
            <a:spLocks noGrp="1" noChangeArrowheads="1"/>
          </p:cNvSpPr>
          <p:nvPr>
            <p:ph idx="1"/>
          </p:nvPr>
        </p:nvSpPr>
        <p:spPr>
          <a:xfrm>
            <a:off x="246699" y="1272539"/>
            <a:ext cx="4876800" cy="1254125"/>
          </a:xfrm>
        </p:spPr>
        <p:txBody>
          <a:bodyPr/>
          <a:lstStyle/>
          <a:p>
            <a:pPr eaLnBrk="1" hangingPunct="1">
              <a:buFontTx/>
              <a:buNone/>
            </a:pPr>
            <a:r>
              <a:rPr lang="en-US" altLang="zh-CN" dirty="0">
                <a:solidFill>
                  <a:srgbClr val="3333FF"/>
                </a:solidFill>
              </a:rPr>
              <a:t>4.4.1 </a:t>
            </a:r>
            <a:r>
              <a:rPr lang="zh-CN" altLang="en-US" dirty="0">
                <a:solidFill>
                  <a:srgbClr val="3333FF"/>
                </a:solidFill>
              </a:rPr>
              <a:t>单片机的引脚及功能</a:t>
            </a:r>
          </a:p>
          <a:p>
            <a:pPr eaLnBrk="1" hangingPunct="1"/>
            <a:r>
              <a:rPr lang="zh-CN" altLang="en-US" dirty="0">
                <a:solidFill>
                  <a:srgbClr val="CC3300"/>
                </a:solidFill>
              </a:rPr>
              <a:t>封装</a:t>
            </a:r>
            <a:endParaRPr lang="zh-CN" altLang="en-US" dirty="0"/>
          </a:p>
        </p:txBody>
      </p:sp>
      <p:sp>
        <p:nvSpPr>
          <p:cNvPr id="9" name="Rectangle 4">
            <a:extLst>
              <a:ext uri="{FF2B5EF4-FFF2-40B4-BE49-F238E27FC236}">
                <a16:creationId xmlns:a16="http://schemas.microsoft.com/office/drawing/2014/main" id="{DE061700-00D5-4313-ADAE-07F79BAF2340}"/>
              </a:ext>
            </a:extLst>
          </p:cNvPr>
          <p:cNvSpPr txBox="1">
            <a:spLocks noChangeArrowheads="1"/>
          </p:cNvSpPr>
          <p:nvPr/>
        </p:nvSpPr>
        <p:spPr bwMode="auto">
          <a:xfrm>
            <a:off x="468313" y="3797538"/>
            <a:ext cx="3570288"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3"/>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buFontTx/>
              <a:buNone/>
              <a:defRPr/>
            </a:pPr>
            <a:r>
              <a:rPr lang="en-US" altLang="zh-CN" kern="0" dirty="0">
                <a:solidFill>
                  <a:srgbClr val="3333FF"/>
                </a:solidFill>
              </a:rPr>
              <a:t>LQFP-</a:t>
            </a:r>
            <a:r>
              <a:rPr lang="en-US" altLang="zh-CN" kern="0" dirty="0">
                <a:solidFill>
                  <a:srgbClr val="FF0000"/>
                </a:solidFill>
              </a:rPr>
              <a:t>64 </a:t>
            </a:r>
            <a:r>
              <a:rPr lang="zh-CN" altLang="en-US" kern="0" dirty="0">
                <a:solidFill>
                  <a:srgbClr val="3333FF"/>
                </a:solidFill>
              </a:rPr>
              <a:t>封装</a:t>
            </a:r>
          </a:p>
        </p:txBody>
      </p:sp>
      <p:sp>
        <p:nvSpPr>
          <p:cNvPr id="83978" name="矩形 3">
            <a:extLst>
              <a:ext uri="{FF2B5EF4-FFF2-40B4-BE49-F238E27FC236}">
                <a16:creationId xmlns:a16="http://schemas.microsoft.com/office/drawing/2014/main" id="{50688B63-5066-4C82-967A-3BEB52494074}"/>
              </a:ext>
            </a:extLst>
          </p:cNvPr>
          <p:cNvSpPr>
            <a:spLocks noChangeArrowheads="1"/>
          </p:cNvSpPr>
          <p:nvPr/>
        </p:nvSpPr>
        <p:spPr bwMode="auto">
          <a:xfrm>
            <a:off x="244636" y="4530963"/>
            <a:ext cx="3416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solidFill>
                  <a:srgbClr val="3333FF"/>
                </a:solidFill>
              </a:rPr>
              <a:t>L</a:t>
            </a:r>
            <a:r>
              <a:rPr lang="en-US" altLang="zh-CN" sz="2000" dirty="0"/>
              <a:t>ow Profile </a:t>
            </a:r>
            <a:r>
              <a:rPr lang="en-US" altLang="zh-CN" sz="2000" dirty="0">
                <a:solidFill>
                  <a:srgbClr val="3333FF"/>
                </a:solidFill>
              </a:rPr>
              <a:t>Q</a:t>
            </a:r>
            <a:r>
              <a:rPr lang="en-US" altLang="zh-CN" sz="2000" dirty="0"/>
              <a:t>uad </a:t>
            </a:r>
            <a:r>
              <a:rPr lang="en-US" altLang="zh-CN" sz="2000" dirty="0">
                <a:solidFill>
                  <a:srgbClr val="3333FF"/>
                </a:solidFill>
              </a:rPr>
              <a:t>F</a:t>
            </a:r>
            <a:r>
              <a:rPr lang="en-US" altLang="zh-CN" sz="2000" dirty="0"/>
              <a:t>lat </a:t>
            </a:r>
            <a:r>
              <a:rPr lang="en-US" altLang="zh-CN" sz="2000" dirty="0">
                <a:solidFill>
                  <a:srgbClr val="3333FF"/>
                </a:solidFill>
              </a:rPr>
              <a:t>P</a:t>
            </a:r>
            <a:r>
              <a:rPr lang="en-US" altLang="zh-CN" sz="2000" dirty="0"/>
              <a:t>ackage</a:t>
            </a:r>
            <a:endParaRPr lang="zh-CN" altLang="en-US" sz="2000" dirty="0"/>
          </a:p>
        </p:txBody>
      </p:sp>
      <p:sp>
        <p:nvSpPr>
          <p:cNvPr id="6" name="矩形 5">
            <a:extLst>
              <a:ext uri="{FF2B5EF4-FFF2-40B4-BE49-F238E27FC236}">
                <a16:creationId xmlns:a16="http://schemas.microsoft.com/office/drawing/2014/main" id="{E915F6A6-C70A-48DE-8D5B-C872DC4E2318}"/>
              </a:ext>
            </a:extLst>
          </p:cNvPr>
          <p:cNvSpPr>
            <a:spLocks noChangeArrowheads="1"/>
          </p:cNvSpPr>
          <p:nvPr/>
        </p:nvSpPr>
        <p:spPr bwMode="auto">
          <a:xfrm>
            <a:off x="300832" y="3113563"/>
            <a:ext cx="2724150" cy="4619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3333FF"/>
                </a:solidFill>
              </a:rPr>
              <a:t>输入输出口</a:t>
            </a:r>
            <a:r>
              <a:rPr lang="en-US" altLang="zh-CN" sz="2400" b="1" dirty="0">
                <a:solidFill>
                  <a:srgbClr val="3333FF"/>
                </a:solidFill>
              </a:rPr>
              <a:t>P0</a:t>
            </a:r>
            <a:r>
              <a:rPr lang="zh-CN" altLang="en-US" sz="2400" b="1" dirty="0">
                <a:solidFill>
                  <a:srgbClr val="3333FF"/>
                </a:solidFill>
              </a:rPr>
              <a:t>～</a:t>
            </a:r>
            <a:r>
              <a:rPr lang="en-US" altLang="zh-CN" sz="2400" b="1" dirty="0">
                <a:solidFill>
                  <a:srgbClr val="FF0000"/>
                </a:solidFill>
              </a:rPr>
              <a:t>P7</a:t>
            </a:r>
            <a:endParaRPr lang="zh-CN" altLang="en-US" sz="2400" b="1" dirty="0"/>
          </a:p>
        </p:txBody>
      </p:sp>
      <p:sp>
        <p:nvSpPr>
          <p:cNvPr id="2" name="灯片编号占位符 1">
            <a:extLst>
              <a:ext uri="{FF2B5EF4-FFF2-40B4-BE49-F238E27FC236}">
                <a16:creationId xmlns:a16="http://schemas.microsoft.com/office/drawing/2014/main" id="{7D4DD262-D57A-4361-AE79-0295A65A3D8D}"/>
              </a:ext>
            </a:extLst>
          </p:cNvPr>
          <p:cNvSpPr>
            <a:spLocks noGrp="1"/>
          </p:cNvSpPr>
          <p:nvPr>
            <p:ph type="sldNum" sz="quarter" idx="12"/>
          </p:nvPr>
        </p:nvSpPr>
        <p:spPr/>
        <p:txBody>
          <a:bodyPr/>
          <a:lstStyle/>
          <a:p>
            <a:fld id="{22E77DEE-32E4-4009-988B-F2758F7B8AC2}" type="slidenum">
              <a:rPr lang="zh-CN" altLang="en-US" smtClean="0"/>
              <a:t>42</a:t>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994" name="Object 16">
            <a:extLst>
              <a:ext uri="{FF2B5EF4-FFF2-40B4-BE49-F238E27FC236}">
                <a16:creationId xmlns:a16="http://schemas.microsoft.com/office/drawing/2014/main" id="{49398853-5E4D-4807-86C8-36FC9F241876}"/>
              </a:ext>
            </a:extLst>
          </p:cNvPr>
          <p:cNvGraphicFramePr>
            <a:graphicFrameLocks noChangeAspect="1"/>
          </p:cNvGraphicFramePr>
          <p:nvPr>
            <p:extLst>
              <p:ext uri="{D42A27DB-BD31-4B8C-83A1-F6EECF244321}">
                <p14:modId xmlns:p14="http://schemas.microsoft.com/office/powerpoint/2010/main" val="2644186021"/>
              </p:ext>
            </p:extLst>
          </p:nvPr>
        </p:nvGraphicFramePr>
        <p:xfrm>
          <a:off x="1393729" y="120491"/>
          <a:ext cx="8442142" cy="6617018"/>
        </p:xfrm>
        <a:graphic>
          <a:graphicData uri="http://schemas.openxmlformats.org/presentationml/2006/ole">
            <mc:AlternateContent xmlns:mc="http://schemas.openxmlformats.org/markup-compatibility/2006">
              <mc:Choice xmlns:v="urn:schemas-microsoft-com:vml" Requires="v">
                <p:oleObj name="Visio" r:id="rId2" imgW="6076911" imgH="5554494" progId="Visio.Drawing.11">
                  <p:embed/>
                </p:oleObj>
              </mc:Choice>
              <mc:Fallback>
                <p:oleObj name="Visio" r:id="rId2" imgW="6076911" imgH="5554494" progId="Visio.Drawing.11">
                  <p:embed/>
                  <p:pic>
                    <p:nvPicPr>
                      <p:cNvPr id="84994" name="Object 16">
                        <a:extLst>
                          <a:ext uri="{FF2B5EF4-FFF2-40B4-BE49-F238E27FC236}">
                            <a16:creationId xmlns:a16="http://schemas.microsoft.com/office/drawing/2014/main" id="{49398853-5E4D-4807-86C8-36FC9F2418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3729" y="120491"/>
                        <a:ext cx="8442142" cy="6617018"/>
                      </a:xfrm>
                      <a:prstGeom prst="rect">
                        <a:avLst/>
                      </a:prstGeom>
                      <a:noFill/>
                      <a:ln>
                        <a:noFill/>
                      </a:ln>
                    </p:spPr>
                  </p:pic>
                </p:oleObj>
              </mc:Fallback>
            </mc:AlternateContent>
          </a:graphicData>
        </a:graphic>
      </p:graphicFrame>
      <p:sp>
        <p:nvSpPr>
          <p:cNvPr id="84995" name="标题 2">
            <a:extLst>
              <a:ext uri="{FF2B5EF4-FFF2-40B4-BE49-F238E27FC236}">
                <a16:creationId xmlns:a16="http://schemas.microsoft.com/office/drawing/2014/main" id="{6E15F960-6470-441E-8FD4-4F28EC87CC6F}"/>
              </a:ext>
            </a:extLst>
          </p:cNvPr>
          <p:cNvSpPr>
            <a:spLocks noGrp="1" noChangeArrowheads="1"/>
          </p:cNvSpPr>
          <p:nvPr>
            <p:ph type="title"/>
          </p:nvPr>
        </p:nvSpPr>
        <p:spPr>
          <a:xfrm>
            <a:off x="468313" y="357188"/>
            <a:ext cx="8229600" cy="504825"/>
          </a:xfrm>
        </p:spPr>
        <p:txBody>
          <a:bodyPr>
            <a:normAutofit fontScale="90000"/>
          </a:bodyPr>
          <a:lstStyle/>
          <a:p>
            <a:pPr eaLnBrk="1" hangingPunct="1"/>
            <a:r>
              <a:rPr lang="zh-CN" altLang="en-US" dirty="0"/>
              <a:t>单片机的引脚</a:t>
            </a:r>
          </a:p>
        </p:txBody>
      </p:sp>
      <p:sp>
        <p:nvSpPr>
          <p:cNvPr id="84997" name="Rectangle 16">
            <a:extLst>
              <a:ext uri="{FF2B5EF4-FFF2-40B4-BE49-F238E27FC236}">
                <a16:creationId xmlns:a16="http://schemas.microsoft.com/office/drawing/2014/main" id="{E995E52F-AACB-45E2-8839-0B3DD421296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4999" name="Rectangle 17">
            <a:extLst>
              <a:ext uri="{FF2B5EF4-FFF2-40B4-BE49-F238E27FC236}">
                <a16:creationId xmlns:a16="http://schemas.microsoft.com/office/drawing/2014/main" id="{2BAF06A9-71D5-4446-BCD6-F7FEF19EAF5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82276" name="Rectangle 4">
            <a:extLst>
              <a:ext uri="{FF2B5EF4-FFF2-40B4-BE49-F238E27FC236}">
                <a16:creationId xmlns:a16="http://schemas.microsoft.com/office/drawing/2014/main" id="{61764B44-9D8E-4836-8F48-0EFEEF4F08CB}"/>
              </a:ext>
            </a:extLst>
          </p:cNvPr>
          <p:cNvSpPr>
            <a:spLocks noGrp="1" noChangeArrowheads="1"/>
          </p:cNvSpPr>
          <p:nvPr>
            <p:ph idx="1"/>
          </p:nvPr>
        </p:nvSpPr>
        <p:spPr>
          <a:xfrm>
            <a:off x="620713" y="1363343"/>
            <a:ext cx="3173412" cy="1254125"/>
          </a:xfrm>
        </p:spPr>
        <p:txBody>
          <a:bodyPr/>
          <a:lstStyle/>
          <a:p>
            <a:pPr eaLnBrk="1" hangingPunct="1">
              <a:buFontTx/>
              <a:buNone/>
            </a:pPr>
            <a:r>
              <a:rPr lang="en-US" altLang="zh-CN" dirty="0">
                <a:solidFill>
                  <a:srgbClr val="3333FF"/>
                </a:solidFill>
              </a:rPr>
              <a:t>4.4.1 </a:t>
            </a:r>
            <a:r>
              <a:rPr lang="zh-CN" altLang="en-US" dirty="0">
                <a:solidFill>
                  <a:srgbClr val="3333FF"/>
                </a:solidFill>
              </a:rPr>
              <a:t>单片机的引脚及功能</a:t>
            </a:r>
          </a:p>
          <a:p>
            <a:pPr eaLnBrk="1" hangingPunct="1"/>
            <a:r>
              <a:rPr lang="zh-CN" altLang="en-US" dirty="0">
                <a:solidFill>
                  <a:srgbClr val="CC3300"/>
                </a:solidFill>
              </a:rPr>
              <a:t>封装</a:t>
            </a:r>
            <a:endParaRPr lang="zh-CN" altLang="en-US" dirty="0"/>
          </a:p>
        </p:txBody>
      </p:sp>
      <p:sp>
        <p:nvSpPr>
          <p:cNvPr id="9" name="Rectangle 4">
            <a:extLst>
              <a:ext uri="{FF2B5EF4-FFF2-40B4-BE49-F238E27FC236}">
                <a16:creationId xmlns:a16="http://schemas.microsoft.com/office/drawing/2014/main" id="{8F0BCA46-8156-42FB-8E1D-103850271321}"/>
              </a:ext>
            </a:extLst>
          </p:cNvPr>
          <p:cNvSpPr txBox="1">
            <a:spLocks noChangeArrowheads="1"/>
          </p:cNvSpPr>
          <p:nvPr/>
        </p:nvSpPr>
        <p:spPr bwMode="auto">
          <a:xfrm>
            <a:off x="468313" y="4843143"/>
            <a:ext cx="3570288"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4"/>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buFontTx/>
              <a:buNone/>
              <a:defRPr/>
            </a:pPr>
            <a:r>
              <a:rPr lang="en-US" altLang="zh-CN" kern="0" dirty="0">
                <a:solidFill>
                  <a:srgbClr val="3333FF"/>
                </a:solidFill>
              </a:rPr>
              <a:t>LQFP-</a:t>
            </a:r>
            <a:r>
              <a:rPr lang="en-US" altLang="zh-CN" kern="0" dirty="0">
                <a:solidFill>
                  <a:srgbClr val="FF0000"/>
                </a:solidFill>
              </a:rPr>
              <a:t>44 </a:t>
            </a:r>
            <a:r>
              <a:rPr lang="zh-CN" altLang="en-US" kern="0" dirty="0">
                <a:solidFill>
                  <a:srgbClr val="3333FF"/>
                </a:solidFill>
              </a:rPr>
              <a:t>封装</a:t>
            </a:r>
          </a:p>
        </p:txBody>
      </p:sp>
      <p:sp>
        <p:nvSpPr>
          <p:cNvPr id="85002" name="矩形 3">
            <a:extLst>
              <a:ext uri="{FF2B5EF4-FFF2-40B4-BE49-F238E27FC236}">
                <a16:creationId xmlns:a16="http://schemas.microsoft.com/office/drawing/2014/main" id="{29FEE626-C985-4E1D-9D9D-772A16F886E0}"/>
              </a:ext>
            </a:extLst>
          </p:cNvPr>
          <p:cNvSpPr>
            <a:spLocks noChangeArrowheads="1"/>
          </p:cNvSpPr>
          <p:nvPr/>
        </p:nvSpPr>
        <p:spPr bwMode="auto">
          <a:xfrm>
            <a:off x="377825" y="5486400"/>
            <a:ext cx="3416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solidFill>
                  <a:srgbClr val="3333FF"/>
                </a:solidFill>
              </a:rPr>
              <a:t>L</a:t>
            </a:r>
            <a:r>
              <a:rPr lang="en-US" altLang="zh-CN" sz="2000"/>
              <a:t>ow Profile </a:t>
            </a:r>
            <a:r>
              <a:rPr lang="en-US" altLang="zh-CN" sz="2000">
                <a:solidFill>
                  <a:srgbClr val="3333FF"/>
                </a:solidFill>
              </a:rPr>
              <a:t>Q</a:t>
            </a:r>
            <a:r>
              <a:rPr lang="en-US" altLang="zh-CN" sz="2000"/>
              <a:t>uad </a:t>
            </a:r>
            <a:r>
              <a:rPr lang="en-US" altLang="zh-CN" sz="2000">
                <a:solidFill>
                  <a:srgbClr val="3333FF"/>
                </a:solidFill>
              </a:rPr>
              <a:t>F</a:t>
            </a:r>
            <a:r>
              <a:rPr lang="en-US" altLang="zh-CN" sz="2000"/>
              <a:t>lat </a:t>
            </a:r>
            <a:r>
              <a:rPr lang="en-US" altLang="zh-CN" sz="2000">
                <a:solidFill>
                  <a:srgbClr val="3333FF"/>
                </a:solidFill>
              </a:rPr>
              <a:t>P</a:t>
            </a:r>
            <a:r>
              <a:rPr lang="en-US" altLang="zh-CN" sz="2000"/>
              <a:t>ackage</a:t>
            </a:r>
            <a:endParaRPr lang="zh-CN" altLang="en-US" sz="2000"/>
          </a:p>
        </p:txBody>
      </p:sp>
      <p:sp>
        <p:nvSpPr>
          <p:cNvPr id="12" name="矩形 11">
            <a:extLst>
              <a:ext uri="{FF2B5EF4-FFF2-40B4-BE49-F238E27FC236}">
                <a16:creationId xmlns:a16="http://schemas.microsoft.com/office/drawing/2014/main" id="{2D744E77-7558-4532-BE31-13587EEA836E}"/>
              </a:ext>
            </a:extLst>
          </p:cNvPr>
          <p:cNvSpPr>
            <a:spLocks noChangeArrowheads="1"/>
          </p:cNvSpPr>
          <p:nvPr/>
        </p:nvSpPr>
        <p:spPr bwMode="auto">
          <a:xfrm>
            <a:off x="1171575" y="4302124"/>
            <a:ext cx="2724150" cy="4603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3333FF"/>
                </a:solidFill>
              </a:rPr>
              <a:t>输入输出口</a:t>
            </a:r>
            <a:r>
              <a:rPr lang="en-US" altLang="zh-CN" sz="2400" b="1" dirty="0">
                <a:solidFill>
                  <a:srgbClr val="3333FF"/>
                </a:solidFill>
              </a:rPr>
              <a:t>P0</a:t>
            </a:r>
            <a:r>
              <a:rPr lang="zh-CN" altLang="en-US" sz="2400" b="1" dirty="0">
                <a:solidFill>
                  <a:srgbClr val="3333FF"/>
                </a:solidFill>
              </a:rPr>
              <a:t>～</a:t>
            </a:r>
            <a:r>
              <a:rPr lang="en-US" altLang="zh-CN" sz="2400" b="1" dirty="0">
                <a:solidFill>
                  <a:srgbClr val="FF0000"/>
                </a:solidFill>
              </a:rPr>
              <a:t>P5</a:t>
            </a:r>
            <a:endParaRPr lang="zh-CN" altLang="en-US" sz="2400" b="1" dirty="0"/>
          </a:p>
        </p:txBody>
      </p:sp>
      <p:sp>
        <p:nvSpPr>
          <p:cNvPr id="2" name="灯片编号占位符 1">
            <a:extLst>
              <a:ext uri="{FF2B5EF4-FFF2-40B4-BE49-F238E27FC236}">
                <a16:creationId xmlns:a16="http://schemas.microsoft.com/office/drawing/2014/main" id="{E5BB471C-338D-4CD5-9D08-8EFB81D7F593}"/>
              </a:ext>
            </a:extLst>
          </p:cNvPr>
          <p:cNvSpPr>
            <a:spLocks noGrp="1"/>
          </p:cNvSpPr>
          <p:nvPr>
            <p:ph type="sldNum" sz="quarter" idx="12"/>
          </p:nvPr>
        </p:nvSpPr>
        <p:spPr/>
        <p:txBody>
          <a:bodyPr/>
          <a:lstStyle/>
          <a:p>
            <a:fld id="{22E77DEE-32E4-4009-988B-F2758F7B8AC2}" type="slidenum">
              <a:rPr lang="zh-CN" altLang="en-US" smtClean="0"/>
              <a:t>43</a:t>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3">
            <a:extLst>
              <a:ext uri="{FF2B5EF4-FFF2-40B4-BE49-F238E27FC236}">
                <a16:creationId xmlns:a16="http://schemas.microsoft.com/office/drawing/2014/main" id="{0A4F97D2-6C07-4C45-9263-605445BCBA19}"/>
              </a:ext>
            </a:extLst>
          </p:cNvPr>
          <p:cNvSpPr>
            <a:spLocks noGrp="1" noChangeArrowheads="1"/>
          </p:cNvSpPr>
          <p:nvPr>
            <p:ph idx="1"/>
          </p:nvPr>
        </p:nvSpPr>
        <p:spPr>
          <a:xfrm>
            <a:off x="462281" y="1195389"/>
            <a:ext cx="1037907" cy="358774"/>
          </a:xfrm>
        </p:spPr>
        <p:txBody>
          <a:bodyPr>
            <a:normAutofit lnSpcReduction="10000"/>
          </a:bodyPr>
          <a:lstStyle/>
          <a:p>
            <a:pPr eaLnBrk="1" hangingPunct="1"/>
            <a:r>
              <a:rPr lang="zh-CN" altLang="en-US" dirty="0"/>
              <a:t>封装 </a:t>
            </a:r>
          </a:p>
        </p:txBody>
      </p:sp>
      <p:sp>
        <p:nvSpPr>
          <p:cNvPr id="86020" name="Rectangle 5">
            <a:extLst>
              <a:ext uri="{FF2B5EF4-FFF2-40B4-BE49-F238E27FC236}">
                <a16:creationId xmlns:a16="http://schemas.microsoft.com/office/drawing/2014/main" id="{1B48502E-D3A8-49F3-AE5C-50F41A790806}"/>
              </a:ext>
            </a:extLst>
          </p:cNvPr>
          <p:cNvSpPr>
            <a:spLocks noChangeArrowheads="1"/>
          </p:cNvSpPr>
          <p:nvPr/>
        </p:nvSpPr>
        <p:spPr bwMode="auto">
          <a:xfrm>
            <a:off x="0" y="2157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6021" name="Rectangle 6">
            <a:extLst>
              <a:ext uri="{FF2B5EF4-FFF2-40B4-BE49-F238E27FC236}">
                <a16:creationId xmlns:a16="http://schemas.microsoft.com/office/drawing/2014/main" id="{697230A8-13F3-464A-B19E-B06573F866B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86022" name="Object 5">
            <a:extLst>
              <a:ext uri="{FF2B5EF4-FFF2-40B4-BE49-F238E27FC236}">
                <a16:creationId xmlns:a16="http://schemas.microsoft.com/office/drawing/2014/main" id="{073FC249-217D-4D16-A691-B4373BD362F0}"/>
              </a:ext>
            </a:extLst>
          </p:cNvPr>
          <p:cNvGraphicFramePr>
            <a:graphicFrameLocks noChangeAspect="1"/>
          </p:cNvGraphicFramePr>
          <p:nvPr>
            <p:extLst>
              <p:ext uri="{D42A27DB-BD31-4B8C-83A1-F6EECF244321}">
                <p14:modId xmlns:p14="http://schemas.microsoft.com/office/powerpoint/2010/main" val="1963594665"/>
              </p:ext>
            </p:extLst>
          </p:nvPr>
        </p:nvGraphicFramePr>
        <p:xfrm>
          <a:off x="719138" y="587060"/>
          <a:ext cx="8647112" cy="6081712"/>
        </p:xfrm>
        <a:graphic>
          <a:graphicData uri="http://schemas.openxmlformats.org/presentationml/2006/ole">
            <mc:AlternateContent xmlns:mc="http://schemas.openxmlformats.org/markup-compatibility/2006">
              <mc:Choice xmlns:v="urn:schemas-microsoft-com:vml" Requires="v">
                <p:oleObj name="Visio" r:id="rId2" imgW="4066041" imgH="2865877" progId="Visio.Drawing.11">
                  <p:embed/>
                </p:oleObj>
              </mc:Choice>
              <mc:Fallback>
                <p:oleObj name="Visio" r:id="rId2" imgW="4066041" imgH="2865877" progId="Visio.Drawing.11">
                  <p:embed/>
                  <p:pic>
                    <p:nvPicPr>
                      <p:cNvPr id="86022" name="Object 5">
                        <a:extLst>
                          <a:ext uri="{FF2B5EF4-FFF2-40B4-BE49-F238E27FC236}">
                            <a16:creationId xmlns:a16="http://schemas.microsoft.com/office/drawing/2014/main" id="{073FC249-217D-4D16-A691-B4373BD362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138" y="587060"/>
                        <a:ext cx="8647112" cy="608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4">
            <a:extLst>
              <a:ext uri="{FF2B5EF4-FFF2-40B4-BE49-F238E27FC236}">
                <a16:creationId xmlns:a16="http://schemas.microsoft.com/office/drawing/2014/main" id="{D37DAAB3-7F7F-4226-96EF-C64EC713BEEA}"/>
              </a:ext>
            </a:extLst>
          </p:cNvPr>
          <p:cNvSpPr txBox="1">
            <a:spLocks noChangeArrowheads="1"/>
          </p:cNvSpPr>
          <p:nvPr/>
        </p:nvSpPr>
        <p:spPr bwMode="auto">
          <a:xfrm>
            <a:off x="462281" y="5280026"/>
            <a:ext cx="3570288" cy="62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4"/>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buFontTx/>
              <a:buNone/>
              <a:defRPr/>
            </a:pPr>
            <a:r>
              <a:rPr lang="en-US" altLang="zh-CN" kern="0" dirty="0">
                <a:solidFill>
                  <a:srgbClr val="3333FF"/>
                </a:solidFill>
              </a:rPr>
              <a:t>DIP– </a:t>
            </a:r>
            <a:r>
              <a:rPr lang="en-US" altLang="zh-CN" kern="0" dirty="0">
                <a:solidFill>
                  <a:srgbClr val="FF0000"/>
                </a:solidFill>
              </a:rPr>
              <a:t>40 </a:t>
            </a:r>
            <a:r>
              <a:rPr lang="zh-CN" altLang="en-US" kern="0" dirty="0">
                <a:solidFill>
                  <a:srgbClr val="3333FF"/>
                </a:solidFill>
              </a:rPr>
              <a:t>封装</a:t>
            </a:r>
          </a:p>
        </p:txBody>
      </p:sp>
      <p:sp>
        <p:nvSpPr>
          <p:cNvPr id="86025" name="标题 3">
            <a:extLst>
              <a:ext uri="{FF2B5EF4-FFF2-40B4-BE49-F238E27FC236}">
                <a16:creationId xmlns:a16="http://schemas.microsoft.com/office/drawing/2014/main" id="{2646C61F-8652-4F6A-A98E-AB08626B90E3}"/>
              </a:ext>
            </a:extLst>
          </p:cNvPr>
          <p:cNvSpPr>
            <a:spLocks noGrp="1" noChangeArrowheads="1"/>
          </p:cNvSpPr>
          <p:nvPr>
            <p:ph type="title"/>
          </p:nvPr>
        </p:nvSpPr>
        <p:spPr>
          <a:xfrm>
            <a:off x="468313" y="357188"/>
            <a:ext cx="8229600" cy="504825"/>
          </a:xfrm>
        </p:spPr>
        <p:txBody>
          <a:bodyPr>
            <a:normAutofit fontScale="90000"/>
          </a:bodyPr>
          <a:lstStyle/>
          <a:p>
            <a:pPr eaLnBrk="1" hangingPunct="1"/>
            <a:r>
              <a:rPr lang="zh-CN" altLang="en-US" dirty="0">
                <a:solidFill>
                  <a:srgbClr val="3333FF"/>
                </a:solidFill>
              </a:rPr>
              <a:t>单片机的引脚及功能</a:t>
            </a:r>
            <a:endParaRPr lang="zh-CN" altLang="en-US" dirty="0"/>
          </a:p>
        </p:txBody>
      </p:sp>
      <p:sp>
        <p:nvSpPr>
          <p:cNvPr id="86026" name="矩形 4">
            <a:extLst>
              <a:ext uri="{FF2B5EF4-FFF2-40B4-BE49-F238E27FC236}">
                <a16:creationId xmlns:a16="http://schemas.microsoft.com/office/drawing/2014/main" id="{FB14DC37-5F96-4BF1-8206-ECE4C1C77327}"/>
              </a:ext>
            </a:extLst>
          </p:cNvPr>
          <p:cNvSpPr>
            <a:spLocks noChangeArrowheads="1"/>
          </p:cNvSpPr>
          <p:nvPr/>
        </p:nvSpPr>
        <p:spPr bwMode="auto">
          <a:xfrm>
            <a:off x="304800" y="5853112"/>
            <a:ext cx="23907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333333"/>
                </a:solidFill>
                <a:latin typeface="Arial" panose="020B0604020202020204" pitchFamily="34" charset="0"/>
              </a:rPr>
              <a:t>(</a:t>
            </a:r>
            <a:r>
              <a:rPr lang="en-US" altLang="zh-CN" dirty="0">
                <a:solidFill>
                  <a:srgbClr val="3333FF"/>
                </a:solidFill>
                <a:latin typeface="Arial" panose="020B0604020202020204" pitchFamily="34" charset="0"/>
              </a:rPr>
              <a:t>D</a:t>
            </a:r>
            <a:r>
              <a:rPr lang="en-US" altLang="zh-CN" dirty="0">
                <a:solidFill>
                  <a:srgbClr val="333333"/>
                </a:solidFill>
                <a:latin typeface="Arial" panose="020B0604020202020204" pitchFamily="34" charset="0"/>
              </a:rPr>
              <a:t>ual </a:t>
            </a:r>
            <a:r>
              <a:rPr lang="en-US" altLang="zh-CN" dirty="0">
                <a:solidFill>
                  <a:srgbClr val="3333FF"/>
                </a:solidFill>
                <a:latin typeface="Arial" panose="020B0604020202020204" pitchFamily="34" charset="0"/>
              </a:rPr>
              <a:t>I</a:t>
            </a:r>
            <a:r>
              <a:rPr lang="en-US" altLang="zh-CN" dirty="0">
                <a:solidFill>
                  <a:srgbClr val="333333"/>
                </a:solidFill>
                <a:latin typeface="Arial" panose="020B0604020202020204" pitchFamily="34" charset="0"/>
              </a:rPr>
              <a:t>n-line </a:t>
            </a:r>
            <a:r>
              <a:rPr lang="en-US" altLang="zh-CN" dirty="0">
                <a:solidFill>
                  <a:srgbClr val="3333FF"/>
                </a:solidFill>
                <a:latin typeface="Arial" panose="020B0604020202020204" pitchFamily="34" charset="0"/>
              </a:rPr>
              <a:t>P</a:t>
            </a:r>
            <a:r>
              <a:rPr lang="en-US" altLang="zh-CN" dirty="0">
                <a:solidFill>
                  <a:srgbClr val="333333"/>
                </a:solidFill>
                <a:latin typeface="Arial" panose="020B0604020202020204" pitchFamily="34" charset="0"/>
              </a:rPr>
              <a:t>ackage</a:t>
            </a:r>
            <a:endParaRPr lang="zh-CN" altLang="en-US" dirty="0"/>
          </a:p>
        </p:txBody>
      </p:sp>
      <p:sp>
        <p:nvSpPr>
          <p:cNvPr id="11" name="矩形 10">
            <a:extLst>
              <a:ext uri="{FF2B5EF4-FFF2-40B4-BE49-F238E27FC236}">
                <a16:creationId xmlns:a16="http://schemas.microsoft.com/office/drawing/2014/main" id="{9AE45CAD-6C21-4BAA-85A1-BFEA754CFAF9}"/>
              </a:ext>
            </a:extLst>
          </p:cNvPr>
          <p:cNvSpPr>
            <a:spLocks noChangeArrowheads="1"/>
          </p:cNvSpPr>
          <p:nvPr/>
        </p:nvSpPr>
        <p:spPr bwMode="auto">
          <a:xfrm>
            <a:off x="217488" y="3860800"/>
            <a:ext cx="2724150" cy="4619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33FF"/>
                </a:solidFill>
              </a:rPr>
              <a:t>输入输出口</a:t>
            </a:r>
            <a:r>
              <a:rPr lang="en-US" altLang="zh-CN" sz="2400" b="1">
                <a:solidFill>
                  <a:srgbClr val="3333FF"/>
                </a:solidFill>
              </a:rPr>
              <a:t>P0</a:t>
            </a:r>
            <a:r>
              <a:rPr lang="zh-CN" altLang="en-US" sz="2400" b="1">
                <a:solidFill>
                  <a:srgbClr val="3333FF"/>
                </a:solidFill>
              </a:rPr>
              <a:t>～</a:t>
            </a:r>
            <a:r>
              <a:rPr lang="en-US" altLang="zh-CN" sz="2400" b="1">
                <a:solidFill>
                  <a:srgbClr val="FF0000"/>
                </a:solidFill>
              </a:rPr>
              <a:t>P5</a:t>
            </a:r>
            <a:endParaRPr lang="zh-CN" altLang="en-US" sz="2400" b="1"/>
          </a:p>
        </p:txBody>
      </p:sp>
      <p:sp>
        <p:nvSpPr>
          <p:cNvPr id="86028" name="矩形 5">
            <a:extLst>
              <a:ext uri="{FF2B5EF4-FFF2-40B4-BE49-F238E27FC236}">
                <a16:creationId xmlns:a16="http://schemas.microsoft.com/office/drawing/2014/main" id="{665FA59B-EC9C-4D51-86DC-534876E53B12}"/>
              </a:ext>
            </a:extLst>
          </p:cNvPr>
          <p:cNvSpPr>
            <a:spLocks noChangeArrowheads="1"/>
          </p:cNvSpPr>
          <p:nvPr/>
        </p:nvSpPr>
        <p:spPr bwMode="auto">
          <a:xfrm>
            <a:off x="58738" y="1498601"/>
            <a:ext cx="28829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dirty="0">
                <a:solidFill>
                  <a:srgbClr val="0000FF"/>
                </a:solidFill>
              </a:rPr>
              <a:t>双列直插封装</a:t>
            </a:r>
            <a:r>
              <a:rPr lang="en-US" altLang="zh-CN" sz="2400" dirty="0">
                <a:solidFill>
                  <a:srgbClr val="0000FF"/>
                </a:solidFill>
              </a:rPr>
              <a:t>DIP</a:t>
            </a:r>
          </a:p>
          <a:p>
            <a:pPr eaLnBrk="1" hangingPunct="1"/>
            <a:r>
              <a:rPr lang="en-US" altLang="zh-CN" sz="2400" dirty="0">
                <a:solidFill>
                  <a:srgbClr val="0000FF"/>
                </a:solidFill>
              </a:rPr>
              <a:t>(Dual In-line Package)</a:t>
            </a:r>
            <a:endParaRPr lang="zh-CN" altLang="en-US" sz="2400" dirty="0">
              <a:solidFill>
                <a:srgbClr val="0000FF"/>
              </a:solidFill>
            </a:endParaRPr>
          </a:p>
        </p:txBody>
      </p:sp>
      <p:sp>
        <p:nvSpPr>
          <p:cNvPr id="2" name="灯片编号占位符 1">
            <a:extLst>
              <a:ext uri="{FF2B5EF4-FFF2-40B4-BE49-F238E27FC236}">
                <a16:creationId xmlns:a16="http://schemas.microsoft.com/office/drawing/2014/main" id="{AE583C87-0C08-48BA-B22E-842026E9E66C}"/>
              </a:ext>
            </a:extLst>
          </p:cNvPr>
          <p:cNvSpPr>
            <a:spLocks noGrp="1"/>
          </p:cNvSpPr>
          <p:nvPr>
            <p:ph type="sldNum" sz="quarter" idx="12"/>
          </p:nvPr>
        </p:nvSpPr>
        <p:spPr/>
        <p:txBody>
          <a:bodyPr/>
          <a:lstStyle/>
          <a:p>
            <a:fld id="{22E77DEE-32E4-4009-988B-F2758F7B8AC2}" type="slidenum">
              <a:rPr lang="zh-CN" altLang="en-US" smtClean="0"/>
              <a:t>44</a:t>
            </a:fld>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4">
            <a:extLst>
              <a:ext uri="{FF2B5EF4-FFF2-40B4-BE49-F238E27FC236}">
                <a16:creationId xmlns:a16="http://schemas.microsoft.com/office/drawing/2014/main" id="{4569EE80-F337-42CB-93E9-71A6AF7A7F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910" y="1303337"/>
            <a:ext cx="3571875"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3" name="Rectangle 3">
            <a:extLst>
              <a:ext uri="{FF2B5EF4-FFF2-40B4-BE49-F238E27FC236}">
                <a16:creationId xmlns:a16="http://schemas.microsoft.com/office/drawing/2014/main" id="{C5253C5B-A557-45F7-BBFC-74EE0CF1B209}"/>
              </a:ext>
            </a:extLst>
          </p:cNvPr>
          <p:cNvSpPr>
            <a:spLocks noGrp="1" noChangeArrowheads="1"/>
          </p:cNvSpPr>
          <p:nvPr>
            <p:ph idx="1"/>
          </p:nvPr>
        </p:nvSpPr>
        <p:spPr>
          <a:xfrm>
            <a:off x="217488" y="981075"/>
            <a:ext cx="6807200" cy="644525"/>
          </a:xfrm>
        </p:spPr>
        <p:txBody>
          <a:bodyPr/>
          <a:lstStyle/>
          <a:p>
            <a:pPr eaLnBrk="1" hangingPunct="1"/>
            <a:r>
              <a:rPr lang="zh-CN" altLang="en-US"/>
              <a:t>封装 </a:t>
            </a:r>
          </a:p>
        </p:txBody>
      </p:sp>
      <p:sp>
        <p:nvSpPr>
          <p:cNvPr id="87045" name="Rectangle 5">
            <a:extLst>
              <a:ext uri="{FF2B5EF4-FFF2-40B4-BE49-F238E27FC236}">
                <a16:creationId xmlns:a16="http://schemas.microsoft.com/office/drawing/2014/main" id="{7BE1681F-75C3-4890-B703-8D962698C4E7}"/>
              </a:ext>
            </a:extLst>
          </p:cNvPr>
          <p:cNvSpPr>
            <a:spLocks noChangeArrowheads="1"/>
          </p:cNvSpPr>
          <p:nvPr/>
        </p:nvSpPr>
        <p:spPr bwMode="auto">
          <a:xfrm>
            <a:off x="0" y="2157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7046" name="Rectangle 6">
            <a:extLst>
              <a:ext uri="{FF2B5EF4-FFF2-40B4-BE49-F238E27FC236}">
                <a16:creationId xmlns:a16="http://schemas.microsoft.com/office/drawing/2014/main" id="{C645F7D5-9D73-4773-8B68-4D5F5B33851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7047" name="标题 3">
            <a:extLst>
              <a:ext uri="{FF2B5EF4-FFF2-40B4-BE49-F238E27FC236}">
                <a16:creationId xmlns:a16="http://schemas.microsoft.com/office/drawing/2014/main" id="{73E09219-5EAC-4DA1-B84B-FF81E5DCC75B}"/>
              </a:ext>
            </a:extLst>
          </p:cNvPr>
          <p:cNvSpPr>
            <a:spLocks noGrp="1" noChangeArrowheads="1"/>
          </p:cNvSpPr>
          <p:nvPr>
            <p:ph type="title"/>
          </p:nvPr>
        </p:nvSpPr>
        <p:spPr>
          <a:xfrm>
            <a:off x="468313" y="357188"/>
            <a:ext cx="8229600" cy="504825"/>
          </a:xfrm>
        </p:spPr>
        <p:txBody>
          <a:bodyPr>
            <a:normAutofit fontScale="90000"/>
          </a:bodyPr>
          <a:lstStyle/>
          <a:p>
            <a:pPr eaLnBrk="1" hangingPunct="1"/>
            <a:r>
              <a:rPr lang="zh-CN" altLang="en-US" dirty="0">
                <a:solidFill>
                  <a:srgbClr val="3333FF"/>
                </a:solidFill>
              </a:rPr>
              <a:t>单片机的引脚及功能</a:t>
            </a:r>
            <a:endParaRPr lang="zh-CN" altLang="en-US" dirty="0"/>
          </a:p>
        </p:txBody>
      </p:sp>
      <p:pic>
        <p:nvPicPr>
          <p:cNvPr id="87048" name="Picture 2">
            <a:extLst>
              <a:ext uri="{FF2B5EF4-FFF2-40B4-BE49-F238E27FC236}">
                <a16:creationId xmlns:a16="http://schemas.microsoft.com/office/drawing/2014/main" id="{537E8E72-FC3A-4F59-8981-2DF2340253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8466" y="1249998"/>
            <a:ext cx="4899447" cy="4966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E1858289-0E53-4A6C-B656-5162DCA65F7B}"/>
              </a:ext>
            </a:extLst>
          </p:cNvPr>
          <p:cNvSpPr>
            <a:spLocks noGrp="1"/>
          </p:cNvSpPr>
          <p:nvPr>
            <p:ph type="sldNum" sz="quarter" idx="12"/>
          </p:nvPr>
        </p:nvSpPr>
        <p:spPr/>
        <p:txBody>
          <a:bodyPr/>
          <a:lstStyle/>
          <a:p>
            <a:fld id="{22E77DEE-32E4-4009-988B-F2758F7B8AC2}" type="slidenum">
              <a:rPr lang="zh-CN" altLang="en-US" smtClean="0"/>
              <a:t>45</a:t>
            </a:fld>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0">
            <a:extLst>
              <a:ext uri="{FF2B5EF4-FFF2-40B4-BE49-F238E27FC236}">
                <a16:creationId xmlns:a16="http://schemas.microsoft.com/office/drawing/2014/main" id="{EF872410-4A7A-49A5-B3E7-314BA85FAB1F}"/>
              </a:ext>
            </a:extLst>
          </p:cNvPr>
          <p:cNvSpPr>
            <a:spLocks noGrp="1" noChangeArrowheads="1"/>
          </p:cNvSpPr>
          <p:nvPr>
            <p:ph type="title"/>
          </p:nvPr>
        </p:nvSpPr>
        <p:spPr>
          <a:xfrm>
            <a:off x="282575" y="525463"/>
            <a:ext cx="8469312" cy="504825"/>
          </a:xfrm>
        </p:spPr>
        <p:txBody>
          <a:bodyPr>
            <a:normAutofit fontScale="90000"/>
          </a:bodyPr>
          <a:lstStyle/>
          <a:p>
            <a:pPr eaLnBrk="1" hangingPunct="1"/>
            <a:r>
              <a:rPr lang="en-US" altLang="zh-CN" b="0" dirty="0" err="1">
                <a:latin typeface="隶书" panose="02010509060101010101" pitchFamily="49" charset="-122"/>
                <a:ea typeface="隶书" panose="02010509060101010101" pitchFamily="49" charset="-122"/>
              </a:rPr>
              <a:t>Broadcomm</a:t>
            </a:r>
            <a:r>
              <a:rPr lang="en-US" altLang="zh-CN" b="0" dirty="0">
                <a:latin typeface="隶书" panose="02010509060101010101" pitchFamily="49" charset="-122"/>
                <a:ea typeface="隶书" panose="02010509060101010101" pitchFamily="49" charset="-122"/>
              </a:rPr>
              <a:t> BCM2711</a:t>
            </a:r>
            <a:endParaRPr kumimoji="1" lang="zh-CN" altLang="en-US" dirty="0"/>
          </a:p>
        </p:txBody>
      </p:sp>
      <p:sp>
        <p:nvSpPr>
          <p:cNvPr id="3" name="内容占位符 2">
            <a:extLst>
              <a:ext uri="{FF2B5EF4-FFF2-40B4-BE49-F238E27FC236}">
                <a16:creationId xmlns:a16="http://schemas.microsoft.com/office/drawing/2014/main" id="{54FF6C23-C00D-4CD4-9098-0A0091053403}"/>
              </a:ext>
            </a:extLst>
          </p:cNvPr>
          <p:cNvSpPr>
            <a:spLocks noGrp="1"/>
          </p:cNvSpPr>
          <p:nvPr>
            <p:ph idx="1"/>
          </p:nvPr>
        </p:nvSpPr>
        <p:spPr/>
        <p:txBody>
          <a:bodyPr/>
          <a:lstStyle/>
          <a:p>
            <a:endParaRPr lang="zh-CN" altLang="en-US"/>
          </a:p>
        </p:txBody>
      </p:sp>
      <p:pic>
        <p:nvPicPr>
          <p:cNvPr id="1028" name="Picture 4" descr="An introduction to Raspberry Pi 4 GPIO and controlling it with Node.js | by  Uday Hiwarale | System Failure | Medium">
            <a:extLst>
              <a:ext uri="{FF2B5EF4-FFF2-40B4-BE49-F238E27FC236}">
                <a16:creationId xmlns:a16="http://schemas.microsoft.com/office/drawing/2014/main" id="{F629D247-2811-4D79-A6BE-7420CA829B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9" y="1030288"/>
            <a:ext cx="9144000" cy="5245100"/>
          </a:xfrm>
          <a:prstGeom prst="rect">
            <a:avLst/>
          </a:prstGeom>
          <a:noFill/>
          <a:extLst>
            <a:ext uri="{909E8E84-426E-40DD-AFC4-6F175D3DCCD1}">
              <a14:hiddenFill xmlns:a14="http://schemas.microsoft.com/office/drawing/2010/main">
                <a:solidFill>
                  <a:srgbClr val="FFFFFF"/>
                </a:solidFill>
              </a14:hiddenFill>
            </a:ext>
          </a:extLst>
        </p:spPr>
      </p:pic>
      <p:sp>
        <p:nvSpPr>
          <p:cNvPr id="2" name="灯片编号占位符 1">
            <a:extLst>
              <a:ext uri="{FF2B5EF4-FFF2-40B4-BE49-F238E27FC236}">
                <a16:creationId xmlns:a16="http://schemas.microsoft.com/office/drawing/2014/main" id="{5E242323-1568-42E8-99AE-6A2E6621527E}"/>
              </a:ext>
            </a:extLst>
          </p:cNvPr>
          <p:cNvSpPr>
            <a:spLocks noGrp="1"/>
          </p:cNvSpPr>
          <p:nvPr>
            <p:ph type="sldNum" sz="quarter" idx="12"/>
          </p:nvPr>
        </p:nvSpPr>
        <p:spPr/>
        <p:txBody>
          <a:bodyPr/>
          <a:lstStyle/>
          <a:p>
            <a:fld id="{22E77DEE-32E4-4009-988B-F2758F7B8AC2}" type="slidenum">
              <a:rPr lang="zh-CN" altLang="en-US" smtClean="0"/>
              <a:t>46</a:t>
            </a:fld>
            <a:endParaRPr lang="zh-CN" altLang="en-US"/>
          </a:p>
        </p:txBody>
      </p:sp>
    </p:spTree>
    <p:extLst>
      <p:ext uri="{BB962C8B-B14F-4D97-AF65-F5344CB8AC3E}">
        <p14:creationId xmlns:p14="http://schemas.microsoft.com/office/powerpoint/2010/main" val="36600800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3">
            <a:extLst>
              <a:ext uri="{FF2B5EF4-FFF2-40B4-BE49-F238E27FC236}">
                <a16:creationId xmlns:a16="http://schemas.microsoft.com/office/drawing/2014/main" id="{9A60784B-FC33-4026-A287-17ABC9B9A8D9}"/>
              </a:ext>
            </a:extLst>
          </p:cNvPr>
          <p:cNvSpPr>
            <a:spLocks noGrp="1" noChangeArrowheads="1"/>
          </p:cNvSpPr>
          <p:nvPr>
            <p:ph type="title"/>
          </p:nvPr>
        </p:nvSpPr>
        <p:spPr>
          <a:xfrm>
            <a:off x="600393" y="612775"/>
            <a:ext cx="8229600" cy="504825"/>
          </a:xfrm>
        </p:spPr>
        <p:txBody>
          <a:bodyPr>
            <a:normAutofit fontScale="90000"/>
          </a:bodyPr>
          <a:lstStyle/>
          <a:p>
            <a:pPr eaLnBrk="1" hangingPunct="1"/>
            <a:r>
              <a:rPr lang="zh-CN" altLang="en-US" dirty="0">
                <a:solidFill>
                  <a:srgbClr val="FF0000"/>
                </a:solidFill>
              </a:rPr>
              <a:t>单片机的引脚及功能</a:t>
            </a:r>
          </a:p>
        </p:txBody>
      </p:sp>
      <p:sp>
        <p:nvSpPr>
          <p:cNvPr id="594947" name="Rectangle 3">
            <a:extLst>
              <a:ext uri="{FF2B5EF4-FFF2-40B4-BE49-F238E27FC236}">
                <a16:creationId xmlns:a16="http://schemas.microsoft.com/office/drawing/2014/main" id="{B6F514ED-FFAE-4B81-84A3-ACD38DAE0FE3}"/>
              </a:ext>
            </a:extLst>
          </p:cNvPr>
          <p:cNvSpPr>
            <a:spLocks noGrp="1" noChangeArrowheads="1"/>
          </p:cNvSpPr>
          <p:nvPr>
            <p:ph idx="1"/>
          </p:nvPr>
        </p:nvSpPr>
        <p:spPr>
          <a:xfrm>
            <a:off x="772160" y="1117600"/>
            <a:ext cx="7310120" cy="3754120"/>
          </a:xfrm>
        </p:spPr>
        <p:txBody>
          <a:bodyPr/>
          <a:lstStyle/>
          <a:p>
            <a:pPr lvl="1" eaLnBrk="1" hangingPunct="1">
              <a:lnSpc>
                <a:spcPct val="124000"/>
              </a:lnSpc>
              <a:defRPr/>
            </a:pPr>
            <a:r>
              <a:rPr lang="en-US" altLang="zh-CN" dirty="0">
                <a:solidFill>
                  <a:srgbClr val="FF0000"/>
                </a:solidFill>
              </a:rPr>
              <a:t>DIP-40</a:t>
            </a:r>
            <a:r>
              <a:rPr lang="zh-CN" altLang="en-US" dirty="0">
                <a:solidFill>
                  <a:srgbClr val="FF0000"/>
                </a:solidFill>
              </a:rPr>
              <a:t>封装</a:t>
            </a:r>
            <a:r>
              <a:rPr lang="zh-CN" altLang="en-US" dirty="0"/>
              <a:t>的</a:t>
            </a:r>
            <a:r>
              <a:rPr lang="en-US" altLang="zh-CN" dirty="0"/>
              <a:t>IAP15W4K58S4</a:t>
            </a:r>
            <a:r>
              <a:rPr lang="zh-CN" altLang="en-US" dirty="0"/>
              <a:t>单片机和</a:t>
            </a:r>
            <a:r>
              <a:rPr lang="en-US" altLang="zh-CN" dirty="0">
                <a:solidFill>
                  <a:srgbClr val="FF0000"/>
                </a:solidFill>
              </a:rPr>
              <a:t>LQFP-44</a:t>
            </a:r>
            <a:r>
              <a:rPr lang="zh-CN" altLang="en-US" dirty="0"/>
              <a:t>封装相比，除了</a:t>
            </a:r>
            <a:r>
              <a:rPr lang="zh-CN" altLang="en-US" dirty="0">
                <a:solidFill>
                  <a:srgbClr val="FF0000"/>
                </a:solidFill>
              </a:rPr>
              <a:t>没有</a:t>
            </a:r>
            <a:r>
              <a:rPr lang="en-US" altLang="zh-CN" dirty="0">
                <a:solidFill>
                  <a:srgbClr val="FF0000"/>
                </a:solidFill>
              </a:rPr>
              <a:t>P4.0</a:t>
            </a:r>
            <a:r>
              <a:rPr lang="zh-CN" altLang="en-US" dirty="0">
                <a:solidFill>
                  <a:srgbClr val="FF0000"/>
                </a:solidFill>
              </a:rPr>
              <a:t>、</a:t>
            </a:r>
            <a:r>
              <a:rPr lang="en-US" altLang="zh-CN" dirty="0">
                <a:solidFill>
                  <a:srgbClr val="FF0000"/>
                </a:solidFill>
              </a:rPr>
              <a:t>P4.3</a:t>
            </a:r>
            <a:r>
              <a:rPr lang="zh-CN" altLang="en-US" dirty="0">
                <a:solidFill>
                  <a:srgbClr val="FF0000"/>
                </a:solidFill>
              </a:rPr>
              <a:t>、</a:t>
            </a:r>
            <a:r>
              <a:rPr lang="en-US" altLang="zh-CN" dirty="0">
                <a:solidFill>
                  <a:srgbClr val="FF0000"/>
                </a:solidFill>
              </a:rPr>
              <a:t>P4.6</a:t>
            </a:r>
            <a:r>
              <a:rPr lang="zh-CN" altLang="en-US" dirty="0">
                <a:solidFill>
                  <a:srgbClr val="FF0000"/>
                </a:solidFill>
              </a:rPr>
              <a:t>、</a:t>
            </a:r>
            <a:r>
              <a:rPr lang="en-US" altLang="zh-CN" dirty="0">
                <a:solidFill>
                  <a:srgbClr val="FF0000"/>
                </a:solidFill>
              </a:rPr>
              <a:t>P4.7</a:t>
            </a:r>
            <a:r>
              <a:rPr lang="zh-CN" altLang="en-US" dirty="0">
                <a:solidFill>
                  <a:srgbClr val="FF0000"/>
                </a:solidFill>
              </a:rPr>
              <a:t>引脚</a:t>
            </a:r>
            <a:r>
              <a:rPr lang="zh-CN" altLang="en-US" dirty="0"/>
              <a:t>外，其他资源和的单片机完全相同。 </a:t>
            </a:r>
          </a:p>
          <a:p>
            <a:pPr lvl="1" eaLnBrk="1" hangingPunct="1">
              <a:lnSpc>
                <a:spcPct val="124000"/>
              </a:lnSpc>
              <a:defRPr/>
            </a:pPr>
            <a:r>
              <a:rPr lang="zh-CN" altLang="en-US" dirty="0"/>
              <a:t>由于</a:t>
            </a:r>
            <a:r>
              <a:rPr lang="en-US" altLang="zh-CN" dirty="0">
                <a:solidFill>
                  <a:srgbClr val="0000CC"/>
                </a:solidFill>
              </a:rPr>
              <a:t>DIP</a:t>
            </a:r>
            <a:r>
              <a:rPr lang="zh-CN" altLang="en-US" dirty="0">
                <a:solidFill>
                  <a:srgbClr val="0000CC"/>
                </a:solidFill>
              </a:rPr>
              <a:t>封装的单片机焊接比较容易</a:t>
            </a:r>
            <a:r>
              <a:rPr lang="zh-CN" altLang="en-US" dirty="0"/>
              <a:t>，因此，对于初学者，最好选用</a:t>
            </a:r>
            <a:r>
              <a:rPr lang="en-US" altLang="zh-CN" dirty="0"/>
              <a:t>DIP</a:t>
            </a:r>
            <a:r>
              <a:rPr lang="zh-CN" altLang="en-US" dirty="0"/>
              <a:t>封装的单片机进行学习。</a:t>
            </a:r>
          </a:p>
          <a:p>
            <a:pPr lvl="1" eaLnBrk="1" hangingPunct="1">
              <a:lnSpc>
                <a:spcPct val="124000"/>
              </a:lnSpc>
              <a:defRPr/>
            </a:pPr>
            <a:r>
              <a:rPr lang="zh-CN" altLang="en-US" dirty="0"/>
              <a:t>注意：在实际应用中，设计单片机应用系统的</a:t>
            </a:r>
            <a:r>
              <a:rPr lang="zh-CN" altLang="en-US" dirty="0">
                <a:solidFill>
                  <a:srgbClr val="C00000"/>
                </a:solidFill>
              </a:rPr>
              <a:t>原理图</a:t>
            </a:r>
            <a:r>
              <a:rPr lang="zh-CN" altLang="en-US" dirty="0"/>
              <a:t>时，一般应使用</a:t>
            </a:r>
            <a:r>
              <a:rPr lang="zh-CN" altLang="en-US" dirty="0">
                <a:solidFill>
                  <a:srgbClr val="C00000"/>
                </a:solidFill>
                <a:hlinkClick r:id="rId2" action="ppaction://hlinksldjump"/>
              </a:rPr>
              <a:t>逻辑符号图</a:t>
            </a:r>
            <a:r>
              <a:rPr lang="zh-CN" altLang="en-US" dirty="0"/>
              <a:t>，以便进行电路分析，而设计应用系统的</a:t>
            </a:r>
            <a:r>
              <a:rPr lang="zh-CN" altLang="en-US" dirty="0">
                <a:solidFill>
                  <a:srgbClr val="9900CC"/>
                </a:solidFill>
              </a:rPr>
              <a:t>印刷电路板图</a:t>
            </a:r>
            <a:r>
              <a:rPr lang="zh-CN" altLang="en-US" dirty="0"/>
              <a:t>时，必须使用单片机的</a:t>
            </a:r>
            <a:r>
              <a:rPr lang="zh-CN" altLang="en-US" dirty="0">
                <a:solidFill>
                  <a:srgbClr val="9900CC"/>
                </a:solidFill>
                <a:hlinkClick r:id="rId3" action="ppaction://hlinksldjump"/>
              </a:rPr>
              <a:t>引脚图</a:t>
            </a:r>
            <a:r>
              <a:rPr lang="zh-CN" altLang="en-US" dirty="0"/>
              <a:t>。</a:t>
            </a:r>
            <a:endParaRPr lang="en-US" altLang="zh-CN" dirty="0"/>
          </a:p>
          <a:p>
            <a:pPr lvl="1" eaLnBrk="1" hangingPunct="1">
              <a:lnSpc>
                <a:spcPct val="124000"/>
              </a:lnSpc>
              <a:defRPr/>
            </a:pPr>
            <a:endParaRPr lang="en-US" altLang="zh-CN" dirty="0"/>
          </a:p>
          <a:p>
            <a:pPr lvl="1" eaLnBrk="1" hangingPunct="1">
              <a:lnSpc>
                <a:spcPct val="124000"/>
              </a:lnSpc>
              <a:defRPr/>
            </a:pPr>
            <a:r>
              <a:rPr lang="zh-CN" altLang="en-US" dirty="0"/>
              <a:t>最小功能板</a:t>
            </a:r>
          </a:p>
          <a:p>
            <a:pPr eaLnBrk="1" hangingPunct="1">
              <a:lnSpc>
                <a:spcPct val="124000"/>
              </a:lnSpc>
              <a:defRPr/>
            </a:pPr>
            <a:endParaRPr lang="en-US" altLang="zh-CN" dirty="0"/>
          </a:p>
        </p:txBody>
      </p:sp>
      <p:sp>
        <p:nvSpPr>
          <p:cNvPr id="3" name="灯片编号占位符 2">
            <a:extLst>
              <a:ext uri="{FF2B5EF4-FFF2-40B4-BE49-F238E27FC236}">
                <a16:creationId xmlns:a16="http://schemas.microsoft.com/office/drawing/2014/main" id="{7CF5A209-864D-41C3-BA06-2DD42558B455}"/>
              </a:ext>
            </a:extLst>
          </p:cNvPr>
          <p:cNvSpPr>
            <a:spLocks noGrp="1"/>
          </p:cNvSpPr>
          <p:nvPr>
            <p:ph type="sldNum" sz="quarter" idx="12"/>
          </p:nvPr>
        </p:nvSpPr>
        <p:spPr/>
        <p:txBody>
          <a:bodyPr/>
          <a:lstStyle/>
          <a:p>
            <a:fld id="{22E77DEE-32E4-4009-988B-F2758F7B8AC2}" type="slidenum">
              <a:rPr lang="zh-CN" altLang="en-US" smtClean="0"/>
              <a:t>47</a:t>
            </a:fld>
            <a:endParaRPr lang="zh-CN"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3">
            <a:extLst>
              <a:ext uri="{FF2B5EF4-FFF2-40B4-BE49-F238E27FC236}">
                <a16:creationId xmlns:a16="http://schemas.microsoft.com/office/drawing/2014/main" id="{504950CC-D1BA-4338-8D8B-5352E5160ADA}"/>
              </a:ext>
            </a:extLst>
          </p:cNvPr>
          <p:cNvSpPr>
            <a:spLocks noGrp="1" noChangeArrowheads="1"/>
          </p:cNvSpPr>
          <p:nvPr>
            <p:ph type="title"/>
          </p:nvPr>
        </p:nvSpPr>
        <p:spPr>
          <a:xfrm>
            <a:off x="752793" y="495301"/>
            <a:ext cx="8229600" cy="504825"/>
          </a:xfrm>
        </p:spPr>
        <p:txBody>
          <a:bodyPr>
            <a:normAutofit fontScale="90000"/>
          </a:bodyPr>
          <a:lstStyle/>
          <a:p>
            <a:pPr eaLnBrk="1" hangingPunct="1"/>
            <a:r>
              <a:rPr lang="zh-CN" altLang="en-US" dirty="0">
                <a:solidFill>
                  <a:srgbClr val="FF0000"/>
                </a:solidFill>
              </a:rPr>
              <a:t>单片机的引脚及功能</a:t>
            </a:r>
          </a:p>
        </p:txBody>
      </p:sp>
      <p:sp>
        <p:nvSpPr>
          <p:cNvPr id="489475" name="Rectangle 3">
            <a:extLst>
              <a:ext uri="{FF2B5EF4-FFF2-40B4-BE49-F238E27FC236}">
                <a16:creationId xmlns:a16="http://schemas.microsoft.com/office/drawing/2014/main" id="{E2B5365E-EB36-4ED4-8F86-91E5822E88A5}"/>
              </a:ext>
            </a:extLst>
          </p:cNvPr>
          <p:cNvSpPr>
            <a:spLocks noGrp="1" noChangeArrowheads="1"/>
          </p:cNvSpPr>
          <p:nvPr>
            <p:ph idx="1"/>
          </p:nvPr>
        </p:nvSpPr>
        <p:spPr>
          <a:xfrm>
            <a:off x="514033" y="1350963"/>
            <a:ext cx="8229600" cy="2574925"/>
          </a:xfrm>
        </p:spPr>
        <p:txBody>
          <a:bodyPr/>
          <a:lstStyle/>
          <a:p>
            <a:pPr eaLnBrk="1" hangingPunct="1">
              <a:spcBef>
                <a:spcPts val="0"/>
              </a:spcBef>
              <a:spcAft>
                <a:spcPts val="0"/>
              </a:spcAft>
              <a:defRPr/>
            </a:pPr>
            <a:r>
              <a:rPr lang="zh-CN" altLang="en-US" b="1" dirty="0">
                <a:solidFill>
                  <a:srgbClr val="FF0000"/>
                </a:solidFill>
                <a:hlinkClick r:id="rId2" action="ppaction://hlinksldjump">
                  <a:extLst>
                    <a:ext uri="{A12FA001-AC4F-418D-AE19-62706E023703}">
                      <ahyp:hlinkClr xmlns:ahyp="http://schemas.microsoft.com/office/drawing/2018/hyperlinkcolor" val="tx"/>
                    </a:ext>
                  </a:extLst>
                </a:hlinkClick>
              </a:rPr>
              <a:t>最小功能板：</a:t>
            </a:r>
            <a:r>
              <a:rPr lang="zh-CN" altLang="en-US" dirty="0">
                <a:solidFill>
                  <a:srgbClr val="2998E3"/>
                </a:solidFill>
                <a:hlinkClick r:id="rId2" action="ppaction://hlinksldjump">
                  <a:extLst>
                    <a:ext uri="{A12FA001-AC4F-418D-AE19-62706E023703}">
                      <ahyp:hlinkClr xmlns:ahyp="http://schemas.microsoft.com/office/drawing/2018/hyperlinkcolor" val="tx"/>
                    </a:ext>
                  </a:extLst>
                </a:hlinkClick>
              </a:rPr>
              <a:t>引脚</a:t>
            </a:r>
            <a:endParaRPr lang="zh-CN" altLang="en-US" dirty="0">
              <a:solidFill>
                <a:srgbClr val="CC3300"/>
              </a:solidFill>
            </a:endParaRPr>
          </a:p>
          <a:p>
            <a:pPr lvl="1" eaLnBrk="1" hangingPunct="1">
              <a:defRPr/>
            </a:pPr>
            <a:r>
              <a:rPr lang="zh-CN" altLang="en-US" sz="3200" dirty="0"/>
              <a:t>电源引脚</a:t>
            </a:r>
          </a:p>
          <a:p>
            <a:pPr lvl="1" eaLnBrk="1" hangingPunct="1">
              <a:defRPr/>
            </a:pPr>
            <a:r>
              <a:rPr lang="zh-CN" altLang="en-US" sz="3200" dirty="0"/>
              <a:t>外接晶振引脚</a:t>
            </a:r>
          </a:p>
          <a:p>
            <a:pPr lvl="1" eaLnBrk="1" hangingPunct="1">
              <a:defRPr/>
            </a:pPr>
            <a:r>
              <a:rPr lang="zh-CN" altLang="en-US" sz="3200" dirty="0"/>
              <a:t>控制和复位引脚</a:t>
            </a:r>
          </a:p>
          <a:p>
            <a:pPr lvl="1" eaLnBrk="1" hangingPunct="1">
              <a:defRPr/>
            </a:pPr>
            <a:r>
              <a:rPr lang="zh-CN" altLang="en-US" sz="3200" dirty="0"/>
              <a:t>输入</a:t>
            </a:r>
            <a:r>
              <a:rPr lang="en-US" altLang="zh-CN" sz="3200" dirty="0"/>
              <a:t>/</a:t>
            </a:r>
            <a:r>
              <a:rPr lang="zh-CN" altLang="en-US" sz="3200" dirty="0"/>
              <a:t>输出（</a:t>
            </a:r>
            <a:r>
              <a:rPr lang="en-US" altLang="zh-CN" sz="3200" dirty="0"/>
              <a:t>I/O</a:t>
            </a:r>
            <a:r>
              <a:rPr lang="zh-CN" altLang="en-US" sz="3200" dirty="0"/>
              <a:t>）引脚</a:t>
            </a:r>
          </a:p>
          <a:p>
            <a:pPr eaLnBrk="1" hangingPunct="1">
              <a:buFontTx/>
              <a:buNone/>
              <a:defRPr/>
            </a:pPr>
            <a:endParaRPr lang="zh-CN" altLang="en-US" dirty="0"/>
          </a:p>
          <a:p>
            <a:pPr eaLnBrk="1" hangingPunct="1">
              <a:buFontTx/>
              <a:buNone/>
              <a:defRPr/>
            </a:pPr>
            <a:endParaRPr lang="zh-CN" altLang="en-US" dirty="0"/>
          </a:p>
          <a:p>
            <a:pPr eaLnBrk="1" hangingPunct="1">
              <a:buFontTx/>
              <a:buNone/>
              <a:defRPr/>
            </a:pPr>
            <a:endParaRPr lang="zh-CN" altLang="en-US" dirty="0"/>
          </a:p>
          <a:p>
            <a:pPr eaLnBrk="1" hangingPunct="1">
              <a:buFontTx/>
              <a:buNone/>
              <a:defRPr/>
            </a:pPr>
            <a:endParaRPr lang="zh-CN" altLang="en-US" dirty="0"/>
          </a:p>
          <a:p>
            <a:pPr eaLnBrk="1" hangingPunct="1">
              <a:buFontTx/>
              <a:buNone/>
              <a:defRPr/>
            </a:pPr>
            <a:endParaRPr lang="en-US" altLang="zh-CN" dirty="0">
              <a:solidFill>
                <a:srgbClr val="3366FF"/>
              </a:solidFill>
            </a:endParaRPr>
          </a:p>
        </p:txBody>
      </p:sp>
      <p:sp>
        <p:nvSpPr>
          <p:cNvPr id="6" name="Rectangle 3">
            <a:extLst>
              <a:ext uri="{FF2B5EF4-FFF2-40B4-BE49-F238E27FC236}">
                <a16:creationId xmlns:a16="http://schemas.microsoft.com/office/drawing/2014/main" id="{156D0610-3A18-43A0-9B7F-0995B239F707}"/>
              </a:ext>
            </a:extLst>
          </p:cNvPr>
          <p:cNvSpPr txBox="1">
            <a:spLocks noChangeArrowheads="1"/>
          </p:cNvSpPr>
          <p:nvPr/>
        </p:nvSpPr>
        <p:spPr bwMode="auto">
          <a:xfrm>
            <a:off x="598408" y="3890328"/>
            <a:ext cx="8060849" cy="2205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3"/>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spcBef>
                <a:spcPts val="0"/>
              </a:spcBef>
              <a:buFontTx/>
              <a:buNone/>
              <a:defRPr/>
            </a:pPr>
            <a:r>
              <a:rPr lang="en-US" altLang="zh-CN" sz="2400" kern="0" dirty="0">
                <a:solidFill>
                  <a:srgbClr val="FF0000"/>
                </a:solidFill>
              </a:rPr>
              <a:t>1. </a:t>
            </a:r>
            <a:r>
              <a:rPr lang="zh-CN" altLang="en-US" sz="2400" kern="0" dirty="0">
                <a:solidFill>
                  <a:srgbClr val="FF0000"/>
                </a:solidFill>
              </a:rPr>
              <a:t>电源引脚</a:t>
            </a:r>
          </a:p>
          <a:p>
            <a:pPr eaLnBrk="1" hangingPunct="1">
              <a:spcBef>
                <a:spcPts val="0"/>
              </a:spcBef>
              <a:defRPr/>
            </a:pPr>
            <a:r>
              <a:rPr lang="en-US" altLang="zh-CN" sz="2400" kern="0" dirty="0" err="1">
                <a:solidFill>
                  <a:srgbClr val="CC3300"/>
                </a:solidFill>
              </a:rPr>
              <a:t>Vcc</a:t>
            </a:r>
            <a:r>
              <a:rPr lang="zh-CN" altLang="en-US" sz="2400" kern="0" dirty="0"/>
              <a:t>：一般接电源的＋</a:t>
            </a:r>
            <a:r>
              <a:rPr lang="en-US" altLang="zh-CN" sz="2400" kern="0" dirty="0"/>
              <a:t>5V</a:t>
            </a:r>
            <a:r>
              <a:rPr lang="zh-CN" altLang="en-US" sz="2400" kern="0" dirty="0"/>
              <a:t>。具体的电压幅度应参考单片机的手册。</a:t>
            </a:r>
          </a:p>
          <a:p>
            <a:pPr eaLnBrk="1" hangingPunct="1">
              <a:spcBef>
                <a:spcPts val="0"/>
              </a:spcBef>
              <a:defRPr/>
            </a:pPr>
            <a:r>
              <a:rPr lang="en-US" altLang="zh-CN" sz="2400" kern="0" dirty="0">
                <a:solidFill>
                  <a:srgbClr val="CC3300"/>
                </a:solidFill>
              </a:rPr>
              <a:t>GND</a:t>
            </a:r>
            <a:r>
              <a:rPr lang="zh-CN" altLang="en-US" sz="2400" kern="0" dirty="0"/>
              <a:t>：接电源地。</a:t>
            </a:r>
          </a:p>
        </p:txBody>
      </p:sp>
      <p:sp>
        <p:nvSpPr>
          <p:cNvPr id="3" name="灯片编号占位符 2">
            <a:extLst>
              <a:ext uri="{FF2B5EF4-FFF2-40B4-BE49-F238E27FC236}">
                <a16:creationId xmlns:a16="http://schemas.microsoft.com/office/drawing/2014/main" id="{E12D5A35-AE93-47CA-B2B0-AA89324EEDAB}"/>
              </a:ext>
            </a:extLst>
          </p:cNvPr>
          <p:cNvSpPr>
            <a:spLocks noGrp="1"/>
          </p:cNvSpPr>
          <p:nvPr>
            <p:ph type="sldNum" sz="quarter" idx="12"/>
          </p:nvPr>
        </p:nvSpPr>
        <p:spPr/>
        <p:txBody>
          <a:bodyPr/>
          <a:lstStyle/>
          <a:p>
            <a:fld id="{22E77DEE-32E4-4009-988B-F2758F7B8AC2}" type="slidenum">
              <a:rPr lang="zh-CN" altLang="en-US" smtClean="0"/>
              <a:t>48</a:t>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2">
            <a:extLst>
              <a:ext uri="{FF2B5EF4-FFF2-40B4-BE49-F238E27FC236}">
                <a16:creationId xmlns:a16="http://schemas.microsoft.com/office/drawing/2014/main" id="{81331A70-D301-4D14-8042-EB7D8D47901F}"/>
              </a:ext>
            </a:extLst>
          </p:cNvPr>
          <p:cNvSpPr>
            <a:spLocks noGrp="1" noChangeArrowheads="1"/>
          </p:cNvSpPr>
          <p:nvPr>
            <p:ph type="title"/>
          </p:nvPr>
        </p:nvSpPr>
        <p:spPr>
          <a:xfrm>
            <a:off x="468312" y="488950"/>
            <a:ext cx="8229600" cy="504825"/>
          </a:xfrm>
        </p:spPr>
        <p:txBody>
          <a:bodyPr>
            <a:normAutofit fontScale="90000"/>
          </a:bodyPr>
          <a:lstStyle/>
          <a:p>
            <a:pPr eaLnBrk="1" hangingPunct="1"/>
            <a:r>
              <a:rPr lang="zh-CN" altLang="en-US" dirty="0">
                <a:solidFill>
                  <a:srgbClr val="FF0000"/>
                </a:solidFill>
              </a:rPr>
              <a:t>单片机的引脚及功能</a:t>
            </a:r>
          </a:p>
        </p:txBody>
      </p:sp>
      <p:graphicFrame>
        <p:nvGraphicFramePr>
          <p:cNvPr id="490500" name="Object 4">
            <a:extLst>
              <a:ext uri="{FF2B5EF4-FFF2-40B4-BE49-F238E27FC236}">
                <a16:creationId xmlns:a16="http://schemas.microsoft.com/office/drawing/2014/main" id="{3A266257-0147-40ED-A6B5-2E373BC7D5DE}"/>
              </a:ext>
            </a:extLst>
          </p:cNvPr>
          <p:cNvGraphicFramePr>
            <a:graphicFrameLocks noGrp="1" noChangeAspect="1"/>
          </p:cNvGraphicFramePr>
          <p:nvPr>
            <p:ph idx="1"/>
          </p:nvPr>
        </p:nvGraphicFramePr>
        <p:xfrm>
          <a:off x="4451350" y="1222375"/>
          <a:ext cx="4465638" cy="3203575"/>
        </p:xfrm>
        <a:graphic>
          <a:graphicData uri="http://schemas.openxmlformats.org/presentationml/2006/ole">
            <mc:AlternateContent xmlns:mc="http://schemas.openxmlformats.org/markup-compatibility/2006">
              <mc:Choice xmlns:v="urn:schemas-microsoft-com:vml" Requires="v">
                <p:oleObj name="Microsoft Drawing" r:id="rId2" imgW="1673225" imgH="1262063" progId="MSDraw">
                  <p:embed/>
                </p:oleObj>
              </mc:Choice>
              <mc:Fallback>
                <p:oleObj name="Microsoft Drawing" r:id="rId2" imgW="1673225" imgH="1262063" progId="MSDraw">
                  <p:embed/>
                  <p:pic>
                    <p:nvPicPr>
                      <p:cNvPr id="490500" name="Object 4">
                        <a:extLst>
                          <a:ext uri="{FF2B5EF4-FFF2-40B4-BE49-F238E27FC236}">
                            <a16:creationId xmlns:a16="http://schemas.microsoft.com/office/drawing/2014/main" id="{3A266257-0147-40ED-A6B5-2E373BC7D5DE}"/>
                          </a:ext>
                        </a:extLst>
                      </p:cNvPr>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1350" y="1222375"/>
                        <a:ext cx="4465638" cy="3203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90499" name="Rectangle 3">
            <a:extLst>
              <a:ext uri="{FF2B5EF4-FFF2-40B4-BE49-F238E27FC236}">
                <a16:creationId xmlns:a16="http://schemas.microsoft.com/office/drawing/2014/main" id="{5FF6E4CD-6835-4C92-9C93-A45AD262E70A}"/>
              </a:ext>
            </a:extLst>
          </p:cNvPr>
          <p:cNvSpPr>
            <a:spLocks noGrp="1" noChangeArrowheads="1"/>
          </p:cNvSpPr>
          <p:nvPr>
            <p:ph type="body" sz="half" idx="4294967295"/>
          </p:nvPr>
        </p:nvSpPr>
        <p:spPr>
          <a:xfrm>
            <a:off x="406400" y="1248570"/>
            <a:ext cx="8737600" cy="1209675"/>
          </a:xfrm>
        </p:spPr>
        <p:txBody>
          <a:bodyPr/>
          <a:lstStyle/>
          <a:p>
            <a:pPr eaLnBrk="1" hangingPunct="1">
              <a:buFontTx/>
              <a:buNone/>
              <a:defRPr/>
            </a:pPr>
            <a:r>
              <a:rPr lang="en-US" altLang="zh-CN" sz="2800" dirty="0">
                <a:solidFill>
                  <a:srgbClr val="FF0000"/>
                </a:solidFill>
              </a:rPr>
              <a:t>  2.  </a:t>
            </a:r>
            <a:r>
              <a:rPr lang="zh-CN" altLang="en-US" sz="2800" dirty="0">
                <a:solidFill>
                  <a:srgbClr val="FF0000"/>
                </a:solidFill>
                <a:latin typeface="+mj-ea"/>
                <a:hlinkClick r:id="rId4" action="ppaction://hlinksldjump"/>
              </a:rPr>
              <a:t>外接晶振引脚</a:t>
            </a:r>
            <a:endParaRPr lang="zh-CN" altLang="en-US" sz="2800" dirty="0">
              <a:solidFill>
                <a:srgbClr val="FF0000"/>
              </a:solidFill>
              <a:latin typeface="+mj-ea"/>
            </a:endParaRPr>
          </a:p>
          <a:p>
            <a:pPr eaLnBrk="1" hangingPunct="1">
              <a:defRPr/>
            </a:pPr>
            <a:r>
              <a:rPr lang="en-US" altLang="zh-CN" sz="2800" dirty="0">
                <a:solidFill>
                  <a:srgbClr val="CC3300"/>
                </a:solidFill>
                <a:latin typeface="+mj-ea"/>
              </a:rPr>
              <a:t>XTAL1</a:t>
            </a:r>
            <a:r>
              <a:rPr lang="zh-CN" altLang="en-US" sz="2800" dirty="0">
                <a:latin typeface="+mj-ea"/>
              </a:rPr>
              <a:t>和</a:t>
            </a:r>
            <a:r>
              <a:rPr lang="en-US" altLang="zh-CN" sz="2800" dirty="0">
                <a:solidFill>
                  <a:srgbClr val="CC3300"/>
                </a:solidFill>
                <a:latin typeface="+mj-ea"/>
              </a:rPr>
              <a:t>XATL2</a:t>
            </a:r>
          </a:p>
        </p:txBody>
      </p:sp>
      <p:sp>
        <p:nvSpPr>
          <p:cNvPr id="10" name="Rectangle 3">
            <a:extLst>
              <a:ext uri="{FF2B5EF4-FFF2-40B4-BE49-F238E27FC236}">
                <a16:creationId xmlns:a16="http://schemas.microsoft.com/office/drawing/2014/main" id="{F0EBE4F5-1D73-4F58-8D3C-C06CAEDB923B}"/>
              </a:ext>
            </a:extLst>
          </p:cNvPr>
          <p:cNvSpPr txBox="1">
            <a:spLocks noChangeArrowheads="1"/>
          </p:cNvSpPr>
          <p:nvPr/>
        </p:nvSpPr>
        <p:spPr bwMode="auto">
          <a:xfrm>
            <a:off x="153670" y="2425858"/>
            <a:ext cx="4368800" cy="158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spcBef>
                <a:spcPct val="20000"/>
              </a:spcBef>
              <a:spcAft>
                <a:spcPct val="0"/>
              </a:spcAft>
              <a:buBlip>
                <a:blip r:embed="rId5"/>
              </a:buBlip>
              <a:defRPr sz="3200" b="1">
                <a:solidFill>
                  <a:schemeClr val="accent2"/>
                </a:solidFill>
                <a:latin typeface="+mn-lt"/>
                <a:ea typeface="+mn-ea"/>
                <a:cs typeface="+mn-cs"/>
              </a:defRPr>
            </a:lvl1pPr>
            <a:lvl2pPr marL="742950" indent="-285750" algn="just" rtl="0" fontAlgn="base">
              <a:spcBef>
                <a:spcPct val="20000"/>
              </a:spcBef>
              <a:spcAft>
                <a:spcPct val="0"/>
              </a:spcAft>
              <a:buBlip>
                <a:blip r:embed="rId6"/>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1938" indent="-261938" algn="l" eaLnBrk="1" hangingPunct="1">
              <a:lnSpc>
                <a:spcPct val="125000"/>
              </a:lnSpc>
              <a:defRPr/>
            </a:pPr>
            <a:r>
              <a:rPr lang="zh-CN" altLang="en-US" sz="2800" kern="0" dirty="0">
                <a:latin typeface="+mj-ea"/>
                <a:ea typeface="+mj-ea"/>
              </a:rPr>
              <a:t>芯片内部一个反相放大器的输入端和输出端。常用于连接晶体振荡器。</a:t>
            </a:r>
          </a:p>
        </p:txBody>
      </p:sp>
      <p:sp>
        <p:nvSpPr>
          <p:cNvPr id="11" name="Rectangle 3">
            <a:extLst>
              <a:ext uri="{FF2B5EF4-FFF2-40B4-BE49-F238E27FC236}">
                <a16:creationId xmlns:a16="http://schemas.microsoft.com/office/drawing/2014/main" id="{16D74DF2-1FFB-45DD-A8CE-EA0C97433CF4}"/>
              </a:ext>
            </a:extLst>
          </p:cNvPr>
          <p:cNvSpPr txBox="1">
            <a:spLocks noChangeArrowheads="1"/>
          </p:cNvSpPr>
          <p:nvPr/>
        </p:nvSpPr>
        <p:spPr bwMode="auto">
          <a:xfrm>
            <a:off x="68580" y="4597173"/>
            <a:ext cx="9029065" cy="165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5"/>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6"/>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174625" lvl="1" indent="-174625" algn="l" eaLnBrk="1" hangingPunct="1">
              <a:lnSpc>
                <a:spcPct val="114000"/>
              </a:lnSpc>
              <a:defRPr/>
            </a:pPr>
            <a:r>
              <a:rPr lang="zh-CN" altLang="en-US" kern="0" dirty="0"/>
              <a:t>晶振频率可在</a:t>
            </a:r>
            <a:r>
              <a:rPr lang="en-US" altLang="zh-CN" kern="0" dirty="0">
                <a:solidFill>
                  <a:srgbClr val="FF0000"/>
                </a:solidFill>
              </a:rPr>
              <a:t>4MHz</a:t>
            </a:r>
            <a:r>
              <a:rPr lang="zh-CN" altLang="en-US" kern="0" dirty="0">
                <a:solidFill>
                  <a:srgbClr val="FF0000"/>
                </a:solidFill>
              </a:rPr>
              <a:t>～</a:t>
            </a:r>
            <a:r>
              <a:rPr lang="en-US" altLang="zh-CN" kern="0" dirty="0">
                <a:solidFill>
                  <a:srgbClr val="FF0000"/>
                </a:solidFill>
              </a:rPr>
              <a:t>48MHz</a:t>
            </a:r>
            <a:r>
              <a:rPr lang="zh-CN" altLang="en-US" kern="0" dirty="0"/>
              <a:t>间选择</a:t>
            </a:r>
            <a:r>
              <a:rPr lang="en-US" altLang="zh-CN" kern="0" dirty="0"/>
              <a:t>,</a:t>
            </a:r>
            <a:r>
              <a:rPr lang="zh-CN" altLang="en-US" kern="0" dirty="0"/>
              <a:t>典型值是</a:t>
            </a:r>
            <a:r>
              <a:rPr lang="en-US" altLang="zh-CN" kern="0" dirty="0">
                <a:solidFill>
                  <a:srgbClr val="FF0000"/>
                </a:solidFill>
              </a:rPr>
              <a:t>11.0592MHz</a:t>
            </a:r>
            <a:r>
              <a:rPr lang="zh-CN" altLang="en-US" kern="0" dirty="0"/>
              <a:t>（因设计单片机通信应用系统时，用这个频率的晶振可准确地得到</a:t>
            </a:r>
            <a:r>
              <a:rPr lang="en-US" altLang="zh-CN" kern="0" dirty="0"/>
              <a:t>9600bits/s</a:t>
            </a:r>
            <a:r>
              <a:rPr lang="zh-CN" altLang="en-US" kern="0" dirty="0"/>
              <a:t>和</a:t>
            </a:r>
            <a:r>
              <a:rPr lang="en-US" altLang="zh-CN" kern="0" dirty="0"/>
              <a:t>19200bits/s</a:t>
            </a:r>
            <a:r>
              <a:rPr lang="zh-CN" altLang="en-US" kern="0" dirty="0"/>
              <a:t>的波特率）。</a:t>
            </a:r>
          </a:p>
        </p:txBody>
      </p:sp>
      <p:sp>
        <p:nvSpPr>
          <p:cNvPr id="5" name="矩形 4">
            <a:extLst>
              <a:ext uri="{FF2B5EF4-FFF2-40B4-BE49-F238E27FC236}">
                <a16:creationId xmlns:a16="http://schemas.microsoft.com/office/drawing/2014/main" id="{CD1CBE6B-BD46-487C-BA68-AFBB2F4B1B10}"/>
              </a:ext>
            </a:extLst>
          </p:cNvPr>
          <p:cNvSpPr/>
          <p:nvPr/>
        </p:nvSpPr>
        <p:spPr>
          <a:xfrm>
            <a:off x="8089900" y="1665288"/>
            <a:ext cx="841375" cy="461962"/>
          </a:xfrm>
          <a:prstGeom prst="rect">
            <a:avLst/>
          </a:prstGeom>
        </p:spPr>
        <p:txBody>
          <a:bodyPr wrap="none">
            <a:spAutoFit/>
          </a:bodyPr>
          <a:lstStyle/>
          <a:p>
            <a:pPr algn="ctr" eaLnBrk="1" hangingPunct="1">
              <a:defRPr/>
            </a:pPr>
            <a:r>
              <a:rPr lang="en-US" altLang="zh-CN" sz="2400" b="1" kern="0">
                <a:solidFill>
                  <a:srgbClr val="FF0000"/>
                </a:solidFill>
              </a:rPr>
              <a:t>/P1.6</a:t>
            </a:r>
            <a:endParaRPr lang="zh-CN" altLang="en-US" sz="2400" b="1"/>
          </a:p>
        </p:txBody>
      </p:sp>
      <p:sp>
        <p:nvSpPr>
          <p:cNvPr id="12" name="矩形 11">
            <a:extLst>
              <a:ext uri="{FF2B5EF4-FFF2-40B4-BE49-F238E27FC236}">
                <a16:creationId xmlns:a16="http://schemas.microsoft.com/office/drawing/2014/main" id="{C9B1D95B-FDAA-4D16-BB27-F09D54EFF777}"/>
              </a:ext>
            </a:extLst>
          </p:cNvPr>
          <p:cNvSpPr/>
          <p:nvPr/>
        </p:nvSpPr>
        <p:spPr>
          <a:xfrm>
            <a:off x="8061325" y="3040063"/>
            <a:ext cx="841375" cy="461962"/>
          </a:xfrm>
          <a:prstGeom prst="rect">
            <a:avLst/>
          </a:prstGeom>
        </p:spPr>
        <p:txBody>
          <a:bodyPr wrap="none">
            <a:spAutoFit/>
          </a:bodyPr>
          <a:lstStyle/>
          <a:p>
            <a:pPr algn="ctr" eaLnBrk="1" hangingPunct="1">
              <a:defRPr/>
            </a:pPr>
            <a:r>
              <a:rPr lang="en-US" altLang="zh-CN" sz="2400" b="1" kern="0">
                <a:solidFill>
                  <a:srgbClr val="FF0000"/>
                </a:solidFill>
              </a:rPr>
              <a:t>/P1.7</a:t>
            </a:r>
            <a:endParaRPr lang="zh-CN" altLang="en-US" sz="2400" b="1"/>
          </a:p>
        </p:txBody>
      </p:sp>
      <p:sp>
        <p:nvSpPr>
          <p:cNvPr id="6" name="矩形 5">
            <a:extLst>
              <a:ext uri="{FF2B5EF4-FFF2-40B4-BE49-F238E27FC236}">
                <a16:creationId xmlns:a16="http://schemas.microsoft.com/office/drawing/2014/main" id="{DBC4866D-81EB-4DB5-86F5-D14247ACF79C}"/>
              </a:ext>
            </a:extLst>
          </p:cNvPr>
          <p:cNvSpPr/>
          <p:nvPr/>
        </p:nvSpPr>
        <p:spPr>
          <a:xfrm>
            <a:off x="5222875" y="1450975"/>
            <a:ext cx="817563" cy="461963"/>
          </a:xfrm>
          <a:prstGeom prst="rect">
            <a:avLst/>
          </a:prstGeom>
        </p:spPr>
        <p:txBody>
          <a:bodyPr wrap="none">
            <a:spAutoFit/>
          </a:bodyPr>
          <a:lstStyle/>
          <a:p>
            <a:pPr algn="ctr" eaLnBrk="1" hangingPunct="1">
              <a:defRPr/>
            </a:pPr>
            <a:r>
              <a:rPr lang="en-US" altLang="zh-CN" sz="2400" kern="0" dirty="0"/>
              <a:t>47pF</a:t>
            </a:r>
            <a:endParaRPr lang="zh-CN" altLang="en-US" sz="2400" dirty="0"/>
          </a:p>
        </p:txBody>
      </p:sp>
      <p:sp>
        <p:nvSpPr>
          <p:cNvPr id="13" name="矩形 12">
            <a:extLst>
              <a:ext uri="{FF2B5EF4-FFF2-40B4-BE49-F238E27FC236}">
                <a16:creationId xmlns:a16="http://schemas.microsoft.com/office/drawing/2014/main" id="{DDBAAA20-9290-4FAE-8A55-5821C00D62EC}"/>
              </a:ext>
            </a:extLst>
          </p:cNvPr>
          <p:cNvSpPr/>
          <p:nvPr/>
        </p:nvSpPr>
        <p:spPr>
          <a:xfrm>
            <a:off x="5168900" y="3243263"/>
            <a:ext cx="817563" cy="460375"/>
          </a:xfrm>
          <a:prstGeom prst="rect">
            <a:avLst/>
          </a:prstGeom>
        </p:spPr>
        <p:txBody>
          <a:bodyPr wrap="none">
            <a:spAutoFit/>
          </a:bodyPr>
          <a:lstStyle/>
          <a:p>
            <a:pPr algn="ctr" eaLnBrk="1" hangingPunct="1">
              <a:defRPr/>
            </a:pPr>
            <a:r>
              <a:rPr lang="en-US" altLang="zh-CN" sz="2400" kern="0" dirty="0"/>
              <a:t>47pF</a:t>
            </a:r>
            <a:endParaRPr lang="zh-CN" altLang="en-US" sz="2400" dirty="0"/>
          </a:p>
        </p:txBody>
      </p:sp>
      <p:sp>
        <p:nvSpPr>
          <p:cNvPr id="3" name="灯片编号占位符 2">
            <a:extLst>
              <a:ext uri="{FF2B5EF4-FFF2-40B4-BE49-F238E27FC236}">
                <a16:creationId xmlns:a16="http://schemas.microsoft.com/office/drawing/2014/main" id="{31DCD1DB-39D7-4D5B-BA80-2C680E346C8D}"/>
              </a:ext>
            </a:extLst>
          </p:cNvPr>
          <p:cNvSpPr>
            <a:spLocks noGrp="1"/>
          </p:cNvSpPr>
          <p:nvPr>
            <p:ph type="sldNum" sz="quarter" idx="12"/>
          </p:nvPr>
        </p:nvSpPr>
        <p:spPr/>
        <p:txBody>
          <a:bodyPr/>
          <a:lstStyle/>
          <a:p>
            <a:fld id="{22E77DEE-32E4-4009-988B-F2758F7B8AC2}" type="slidenum">
              <a:rPr lang="zh-CN" altLang="en-US" smtClean="0"/>
              <a:t>49</a:t>
            </a:fld>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7C86428-F7E4-4713-A7F1-BFF63119F0F5}"/>
              </a:ext>
            </a:extLst>
          </p:cNvPr>
          <p:cNvSpPr>
            <a:spLocks noGrp="1"/>
          </p:cNvSpPr>
          <p:nvPr>
            <p:ph type="title"/>
          </p:nvPr>
        </p:nvSpPr>
        <p:spPr>
          <a:xfrm>
            <a:off x="457200" y="507684"/>
            <a:ext cx="8229600" cy="504825"/>
          </a:xfrm>
        </p:spPr>
        <p:txBody>
          <a:bodyPr>
            <a:normAutofit fontScale="90000"/>
          </a:bodyPr>
          <a:lstStyle/>
          <a:p>
            <a:pPr eaLnBrk="1" hangingPunct="1">
              <a:defRPr/>
            </a:pPr>
            <a:r>
              <a:rPr lang="en-US" altLang="zh-CN" dirty="0">
                <a:solidFill>
                  <a:srgbClr val="FF0000"/>
                </a:solidFill>
              </a:rPr>
              <a:t>2.   </a:t>
            </a:r>
            <a:r>
              <a:rPr lang="zh-CN" altLang="en-US" dirty="0">
                <a:solidFill>
                  <a:srgbClr val="FF0000"/>
                </a:solidFill>
                <a:latin typeface="+mj-ea"/>
              </a:rPr>
              <a:t>外接晶振引脚</a:t>
            </a:r>
          </a:p>
        </p:txBody>
      </p:sp>
      <p:sp>
        <p:nvSpPr>
          <p:cNvPr id="491523" name="Rectangle 3">
            <a:extLst>
              <a:ext uri="{FF2B5EF4-FFF2-40B4-BE49-F238E27FC236}">
                <a16:creationId xmlns:a16="http://schemas.microsoft.com/office/drawing/2014/main" id="{90F128B1-C480-48C3-8E6F-AAE015D9AB04}"/>
              </a:ext>
            </a:extLst>
          </p:cNvPr>
          <p:cNvSpPr>
            <a:spLocks noGrp="1" noChangeArrowheads="1"/>
          </p:cNvSpPr>
          <p:nvPr>
            <p:ph idx="1"/>
          </p:nvPr>
        </p:nvSpPr>
        <p:spPr>
          <a:xfrm>
            <a:off x="144463" y="1204912"/>
            <a:ext cx="8883650" cy="635001"/>
          </a:xfrm>
        </p:spPr>
        <p:txBody>
          <a:bodyPr>
            <a:normAutofit lnSpcReduction="10000"/>
          </a:bodyPr>
          <a:lstStyle/>
          <a:p>
            <a:pPr marL="261938" lvl="1" indent="-261938" algn="l" eaLnBrk="1" hangingPunct="1">
              <a:lnSpc>
                <a:spcPct val="104000"/>
              </a:lnSpc>
            </a:pPr>
            <a:r>
              <a:rPr lang="en-US" altLang="zh-CN" dirty="0">
                <a:latin typeface="Times New Roman" panose="02020603050405020304" pitchFamily="18" charset="0"/>
                <a:cs typeface="Times New Roman" panose="02020603050405020304" pitchFamily="18" charset="0"/>
              </a:rPr>
              <a:t>IAP15W4K58S4</a:t>
            </a:r>
            <a:r>
              <a:rPr lang="zh-CN" altLang="en-US" dirty="0">
                <a:latin typeface="Times New Roman" panose="02020603050405020304" pitchFamily="18" charset="0"/>
                <a:cs typeface="Times New Roman" panose="02020603050405020304" pitchFamily="18" charset="0"/>
              </a:rPr>
              <a:t>单片机</a:t>
            </a:r>
            <a:r>
              <a:rPr lang="zh-CN" altLang="en-US" dirty="0">
                <a:solidFill>
                  <a:srgbClr val="FF0000"/>
                </a:solidFill>
                <a:latin typeface="Times New Roman" panose="02020603050405020304" pitchFamily="18" charset="0"/>
                <a:cs typeface="Times New Roman" panose="02020603050405020304" pitchFamily="18" charset="0"/>
              </a:rPr>
              <a:t>内部集成高精度</a:t>
            </a:r>
            <a:r>
              <a:rPr lang="en-US" altLang="zh-CN" dirty="0">
                <a:solidFill>
                  <a:srgbClr val="FF0000"/>
                </a:solidFill>
                <a:latin typeface="Times New Roman" panose="02020603050405020304" pitchFamily="18" charset="0"/>
                <a:cs typeface="Times New Roman" panose="02020603050405020304" pitchFamily="18" charset="0"/>
              </a:rPr>
              <a:t>R/C</a:t>
            </a:r>
            <a:r>
              <a:rPr lang="zh-CN" altLang="en-US" dirty="0">
                <a:solidFill>
                  <a:srgbClr val="FF0000"/>
                </a:solidFill>
                <a:latin typeface="Times New Roman" panose="02020603050405020304" pitchFamily="18" charset="0"/>
                <a:cs typeface="Times New Roman" panose="02020603050405020304" pitchFamily="18" charset="0"/>
              </a:rPr>
              <a:t>时钟</a:t>
            </a:r>
            <a:r>
              <a:rPr lang="zh-CN" altLang="en-US" dirty="0">
                <a:latin typeface="Times New Roman" panose="02020603050405020304" pitchFamily="18" charset="0"/>
                <a:cs typeface="Times New Roman" panose="02020603050405020304" pitchFamily="18" charset="0"/>
              </a:rPr>
              <a:t>，工作时钟可用内部振荡器或外部晶振产生的时钟。</a:t>
            </a:r>
            <a:endParaRPr lang="en-US" altLang="zh-CN" dirty="0">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B554C545-C91D-4279-95BD-75221B2A008D}"/>
              </a:ext>
            </a:extLst>
          </p:cNvPr>
          <p:cNvSpPr txBox="1">
            <a:spLocks noChangeArrowheads="1"/>
          </p:cNvSpPr>
          <p:nvPr/>
        </p:nvSpPr>
        <p:spPr bwMode="auto">
          <a:xfrm>
            <a:off x="130175" y="1814513"/>
            <a:ext cx="8883650" cy="1001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1938" lvl="1" indent="-261938" algn="l" eaLnBrk="1" hangingPunct="1">
              <a:lnSpc>
                <a:spcPct val="114000"/>
              </a:lnSpc>
              <a:defRPr/>
            </a:pPr>
            <a:r>
              <a:rPr lang="en-US" altLang="zh-CN" kern="0" dirty="0">
                <a:latin typeface="Times New Roman" panose="02020603050405020304" pitchFamily="18" charset="0"/>
                <a:cs typeface="Times New Roman" panose="02020603050405020304" pitchFamily="18" charset="0"/>
              </a:rPr>
              <a:t>40</a:t>
            </a:r>
            <a:r>
              <a:rPr lang="zh-CN" altLang="en-US" kern="0" dirty="0">
                <a:latin typeface="Times New Roman" panose="02020603050405020304" pitchFamily="18" charset="0"/>
                <a:cs typeface="Times New Roman" panose="02020603050405020304" pitchFamily="18" charset="0"/>
              </a:rPr>
              <a:t>引脚和</a:t>
            </a:r>
            <a:r>
              <a:rPr lang="en-US" altLang="zh-CN" kern="0" dirty="0">
                <a:latin typeface="Times New Roman" panose="02020603050405020304" pitchFamily="18" charset="0"/>
                <a:cs typeface="Times New Roman" panose="02020603050405020304" pitchFamily="18" charset="0"/>
              </a:rPr>
              <a:t>44</a:t>
            </a:r>
            <a:r>
              <a:rPr lang="zh-CN" altLang="en-US" kern="0" dirty="0">
                <a:latin typeface="Times New Roman" panose="02020603050405020304" pitchFamily="18" charset="0"/>
                <a:cs typeface="Times New Roman" panose="02020603050405020304" pitchFamily="18" charset="0"/>
              </a:rPr>
              <a:t>引脚封装的</a:t>
            </a:r>
            <a:r>
              <a:rPr lang="en-US" altLang="zh-CN" kern="0" dirty="0">
                <a:latin typeface="Times New Roman" panose="02020603050405020304" pitchFamily="18" charset="0"/>
                <a:cs typeface="Times New Roman" panose="02020603050405020304" pitchFamily="18" charset="0"/>
              </a:rPr>
              <a:t>IAP15W4K58S4</a:t>
            </a:r>
            <a:r>
              <a:rPr lang="zh-CN" altLang="en-US" kern="0" dirty="0">
                <a:latin typeface="Times New Roman" panose="02020603050405020304" pitchFamily="18" charset="0"/>
                <a:cs typeface="Times New Roman" panose="02020603050405020304" pitchFamily="18" charset="0"/>
              </a:rPr>
              <a:t>单片机</a:t>
            </a:r>
            <a:r>
              <a:rPr lang="zh-CN" altLang="en-US" kern="0" dirty="0">
                <a:solidFill>
                  <a:srgbClr val="FF0000"/>
                </a:solidFill>
                <a:latin typeface="Times New Roman" panose="02020603050405020304" pitchFamily="18" charset="0"/>
                <a:cs typeface="Times New Roman" panose="02020603050405020304" pitchFamily="18" charset="0"/>
              </a:rPr>
              <a:t>出厂标准配置是用外部时钟</a:t>
            </a:r>
            <a:r>
              <a:rPr lang="zh-CN" altLang="en-US" kern="0" dirty="0">
                <a:latin typeface="Times New Roman" panose="02020603050405020304" pitchFamily="18" charset="0"/>
                <a:cs typeface="Times New Roman" panose="02020603050405020304" pitchFamily="18" charset="0"/>
              </a:rPr>
              <a:t>。</a:t>
            </a:r>
            <a:endParaRPr lang="en-US" altLang="zh-CN" kern="0" dirty="0">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9E5D9040-612B-415E-A4A3-3842B86B1B82}"/>
              </a:ext>
            </a:extLst>
          </p:cNvPr>
          <p:cNvSpPr txBox="1">
            <a:spLocks noChangeArrowheads="1"/>
          </p:cNvSpPr>
          <p:nvPr/>
        </p:nvSpPr>
        <p:spPr bwMode="auto">
          <a:xfrm>
            <a:off x="231775" y="4248150"/>
            <a:ext cx="8883650" cy="190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1938" lvl="1" indent="-261938" algn="l" eaLnBrk="1" hangingPunct="1">
              <a:lnSpc>
                <a:spcPct val="104000"/>
              </a:lnSpc>
              <a:spcBef>
                <a:spcPts val="0"/>
              </a:spcBef>
              <a:defRPr/>
            </a:pPr>
            <a:r>
              <a:rPr lang="zh-CN" altLang="en-US" kern="0" dirty="0">
                <a:latin typeface="Times New Roman" panose="02020603050405020304" pitchFamily="18" charset="0"/>
                <a:cs typeface="Times New Roman" panose="02020603050405020304" pitchFamily="18" charset="0"/>
              </a:rPr>
              <a:t>用内部</a:t>
            </a:r>
            <a:r>
              <a:rPr lang="en-US" altLang="zh-CN" kern="0" dirty="0">
                <a:latin typeface="Times New Roman" panose="02020603050405020304" pitchFamily="18" charset="0"/>
                <a:cs typeface="Times New Roman" panose="02020603050405020304" pitchFamily="18" charset="0"/>
              </a:rPr>
              <a:t>R/C</a:t>
            </a:r>
            <a:r>
              <a:rPr lang="zh-CN" altLang="en-US" kern="0" dirty="0">
                <a:latin typeface="Times New Roman" panose="02020603050405020304" pitchFamily="18" charset="0"/>
                <a:cs typeface="Times New Roman" panose="02020603050405020304" pitchFamily="18" charset="0"/>
              </a:rPr>
              <a:t>振荡器时钟时</a:t>
            </a:r>
            <a:r>
              <a:rPr lang="en-US" altLang="zh-CN" kern="0" dirty="0">
                <a:latin typeface="Times New Roman" panose="02020603050405020304" pitchFamily="18" charset="0"/>
                <a:cs typeface="Times New Roman" panose="02020603050405020304" pitchFamily="18" charset="0"/>
              </a:rPr>
              <a:t>, XTAL1</a:t>
            </a:r>
            <a:r>
              <a:rPr lang="zh-CN" altLang="en-US" kern="0" dirty="0">
                <a:latin typeface="Times New Roman" panose="02020603050405020304" pitchFamily="18" charset="0"/>
                <a:cs typeface="Times New Roman" panose="02020603050405020304" pitchFamily="18" charset="0"/>
              </a:rPr>
              <a:t>和</a:t>
            </a:r>
            <a:r>
              <a:rPr lang="en-US" altLang="zh-CN" kern="0" dirty="0">
                <a:latin typeface="Times New Roman" panose="02020603050405020304" pitchFamily="18" charset="0"/>
                <a:cs typeface="Times New Roman" panose="02020603050405020304" pitchFamily="18" charset="0"/>
              </a:rPr>
              <a:t>XTAL2</a:t>
            </a:r>
            <a:r>
              <a:rPr lang="zh-CN" altLang="en-US" kern="0" dirty="0">
                <a:latin typeface="Times New Roman" panose="02020603050405020304" pitchFamily="18" charset="0"/>
                <a:cs typeface="Times New Roman" panose="02020603050405020304" pitchFamily="18" charset="0"/>
              </a:rPr>
              <a:t>引脚悬空。</a:t>
            </a:r>
            <a:endParaRPr lang="en-US" altLang="zh-CN" kern="0" dirty="0">
              <a:latin typeface="Times New Roman" panose="02020603050405020304" pitchFamily="18" charset="0"/>
              <a:cs typeface="Times New Roman" panose="02020603050405020304" pitchFamily="18" charset="0"/>
            </a:endParaRPr>
          </a:p>
          <a:p>
            <a:pPr marL="261938" lvl="1" indent="-261938" algn="l" eaLnBrk="1" hangingPunct="1">
              <a:lnSpc>
                <a:spcPct val="104000"/>
              </a:lnSpc>
              <a:spcBef>
                <a:spcPts val="0"/>
              </a:spcBef>
              <a:defRPr/>
            </a:pPr>
            <a:r>
              <a:rPr lang="zh-CN" altLang="en-US" kern="0" dirty="0"/>
              <a:t>用</a:t>
            </a:r>
            <a:r>
              <a:rPr lang="zh-CN" altLang="en-US" kern="0" dirty="0">
                <a:solidFill>
                  <a:srgbClr val="FF0000"/>
                </a:solidFill>
              </a:rPr>
              <a:t>在系统编程</a:t>
            </a:r>
            <a:r>
              <a:rPr lang="en-US" altLang="zh-CN" kern="0" dirty="0"/>
              <a:t>(In-System </a:t>
            </a:r>
            <a:r>
              <a:rPr lang="en-US" altLang="zh-CN" kern="0" dirty="0" err="1"/>
              <a:t>Programming,</a:t>
            </a:r>
            <a:r>
              <a:rPr lang="en-US" altLang="zh-CN" kern="0" dirty="0" err="1">
                <a:solidFill>
                  <a:srgbClr val="FF0000"/>
                </a:solidFill>
              </a:rPr>
              <a:t>ISP</a:t>
            </a:r>
            <a:r>
              <a:rPr lang="en-US" altLang="zh-CN" kern="0" dirty="0"/>
              <a:t>)</a:t>
            </a:r>
            <a:r>
              <a:rPr lang="zh-CN" altLang="en-US" kern="0" dirty="0">
                <a:solidFill>
                  <a:srgbClr val="FF0000"/>
                </a:solidFill>
              </a:rPr>
              <a:t>工具</a:t>
            </a:r>
            <a:r>
              <a:rPr lang="zh-CN" altLang="en-US" kern="0" dirty="0"/>
              <a:t>对</a:t>
            </a:r>
            <a:r>
              <a:rPr lang="en-US" altLang="zh-CN" kern="0" dirty="0">
                <a:latin typeface="Times New Roman" panose="02020603050405020304" pitchFamily="18" charset="0"/>
                <a:cs typeface="Times New Roman" panose="02020603050405020304" pitchFamily="18" charset="0"/>
              </a:rPr>
              <a:t>IAP15W4K58S4</a:t>
            </a:r>
            <a:r>
              <a:rPr lang="zh-CN" altLang="en-US" kern="0" dirty="0"/>
              <a:t>单片机</a:t>
            </a:r>
            <a:r>
              <a:rPr lang="zh-CN" altLang="en-US" kern="0" dirty="0">
                <a:solidFill>
                  <a:srgbClr val="FF0000"/>
                </a:solidFill>
              </a:rPr>
              <a:t>下载用户程序时</a:t>
            </a:r>
            <a:r>
              <a:rPr lang="zh-CN" altLang="en-US" kern="0" dirty="0"/>
              <a:t>，可</a:t>
            </a:r>
            <a:r>
              <a:rPr lang="zh-CN" altLang="en-US" kern="0" dirty="0">
                <a:solidFill>
                  <a:srgbClr val="0000CC"/>
                </a:solidFill>
              </a:rPr>
              <a:t>在选项中设置</a:t>
            </a:r>
            <a:r>
              <a:rPr lang="zh-CN" altLang="en-US" kern="0" dirty="0"/>
              <a:t>选用外部</a:t>
            </a:r>
            <a:r>
              <a:rPr lang="zh-CN" altLang="en-US" kern="0" dirty="0">
                <a:solidFill>
                  <a:srgbClr val="0000CC"/>
                </a:solidFill>
              </a:rPr>
              <a:t>晶振时钟</a:t>
            </a:r>
            <a:r>
              <a:rPr lang="zh-CN" altLang="en-US" kern="0" dirty="0"/>
              <a:t>或者选用</a:t>
            </a:r>
            <a:r>
              <a:rPr lang="zh-CN" altLang="en-US" kern="0" dirty="0">
                <a:solidFill>
                  <a:srgbClr val="0000CC"/>
                </a:solidFill>
              </a:rPr>
              <a:t>内部</a:t>
            </a:r>
            <a:r>
              <a:rPr lang="en-US" altLang="zh-CN" kern="0" dirty="0">
                <a:solidFill>
                  <a:srgbClr val="0000CC"/>
                </a:solidFill>
              </a:rPr>
              <a:t>R/C</a:t>
            </a:r>
            <a:r>
              <a:rPr lang="zh-CN" altLang="en-US" kern="0" dirty="0">
                <a:solidFill>
                  <a:srgbClr val="0000CC"/>
                </a:solidFill>
              </a:rPr>
              <a:t>振荡器时钟</a:t>
            </a:r>
            <a:r>
              <a:rPr lang="zh-CN" altLang="en-US" kern="0" dirty="0"/>
              <a:t>。</a:t>
            </a:r>
          </a:p>
          <a:p>
            <a:pPr marL="261938" lvl="1" indent="-261938" algn="l" eaLnBrk="1" hangingPunct="1">
              <a:lnSpc>
                <a:spcPct val="104000"/>
              </a:lnSpc>
              <a:spcBef>
                <a:spcPts val="0"/>
              </a:spcBef>
              <a:defRPr/>
            </a:pPr>
            <a:endParaRPr lang="zh-CN" altLang="en-US" kern="0" dirty="0">
              <a:latin typeface="Times New Roman" panose="02020603050405020304" pitchFamily="18" charset="0"/>
              <a:cs typeface="Times New Roman" panose="02020603050405020304" pitchFamily="18" charset="0"/>
            </a:endParaRPr>
          </a:p>
          <a:p>
            <a:pPr marL="261938" lvl="1" indent="-261938" algn="l" eaLnBrk="1" hangingPunct="1">
              <a:lnSpc>
                <a:spcPct val="104000"/>
              </a:lnSpc>
              <a:spcBef>
                <a:spcPts val="0"/>
              </a:spcBef>
              <a:defRPr/>
            </a:pPr>
            <a:endParaRPr lang="en-US" altLang="zh-CN" kern="0" dirty="0">
              <a:latin typeface="Times New Roman" panose="02020603050405020304" pitchFamily="18" charset="0"/>
              <a:cs typeface="Times New Roman" panose="02020603050405020304" pitchFamily="18" charset="0"/>
            </a:endParaRPr>
          </a:p>
        </p:txBody>
      </p:sp>
      <p:sp>
        <p:nvSpPr>
          <p:cNvPr id="8" name="Rectangle 3">
            <a:extLst>
              <a:ext uri="{FF2B5EF4-FFF2-40B4-BE49-F238E27FC236}">
                <a16:creationId xmlns:a16="http://schemas.microsoft.com/office/drawing/2014/main" id="{8836923E-D317-4CB5-8746-19E2523F53F7}"/>
              </a:ext>
            </a:extLst>
          </p:cNvPr>
          <p:cNvSpPr txBox="1">
            <a:spLocks noChangeArrowheads="1"/>
          </p:cNvSpPr>
          <p:nvPr/>
        </p:nvSpPr>
        <p:spPr bwMode="auto">
          <a:xfrm>
            <a:off x="276225" y="2257425"/>
            <a:ext cx="8751888" cy="1611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l" eaLnBrk="1" hangingPunct="1">
              <a:lnSpc>
                <a:spcPct val="114000"/>
              </a:lnSpc>
              <a:buFontTx/>
              <a:buNone/>
              <a:defRPr/>
            </a:pPr>
            <a:r>
              <a:rPr lang="en-US" altLang="zh-CN" kern="0" dirty="0">
                <a:latin typeface="Times New Roman" panose="02020603050405020304" pitchFamily="18" charset="0"/>
                <a:cs typeface="Times New Roman" panose="02020603050405020304" pitchFamily="18" charset="0"/>
              </a:rPr>
              <a:t>                                           </a:t>
            </a:r>
            <a:r>
              <a:rPr lang="zh-CN" altLang="en-US" kern="0" dirty="0">
                <a:latin typeface="Times New Roman" panose="02020603050405020304" pitchFamily="18" charset="0"/>
                <a:cs typeface="Times New Roman" panose="02020603050405020304" pitchFamily="18" charset="0"/>
              </a:rPr>
              <a:t>内部集成的高精度</a:t>
            </a:r>
            <a:r>
              <a:rPr lang="en-US" altLang="zh-CN" kern="0" dirty="0">
                <a:solidFill>
                  <a:srgbClr val="0000CC"/>
                </a:solidFill>
                <a:latin typeface="Times New Roman" panose="02020603050405020304" pitchFamily="18" charset="0"/>
                <a:cs typeface="Times New Roman" panose="02020603050405020304" pitchFamily="18" charset="0"/>
              </a:rPr>
              <a:t>R/C</a:t>
            </a:r>
            <a:r>
              <a:rPr lang="zh-CN" altLang="en-US" kern="0" dirty="0">
                <a:solidFill>
                  <a:srgbClr val="0000CC"/>
                </a:solidFill>
                <a:latin typeface="Times New Roman" panose="02020603050405020304" pitchFamily="18" charset="0"/>
                <a:cs typeface="Times New Roman" panose="02020603050405020304" pitchFamily="18" charset="0"/>
              </a:rPr>
              <a:t>时钟</a:t>
            </a:r>
            <a:r>
              <a:rPr lang="zh-CN" altLang="en-US" kern="0" dirty="0">
                <a:latin typeface="Times New Roman" panose="02020603050405020304" pitchFamily="18" charset="0"/>
                <a:cs typeface="Times New Roman" panose="02020603050405020304" pitchFamily="18" charset="0"/>
              </a:rPr>
              <a:t>工业环境下温漂为</a:t>
            </a:r>
            <a:r>
              <a:rPr lang="en-US" altLang="zh-CN" kern="0" dirty="0">
                <a:latin typeface="Times New Roman" panose="02020603050405020304" pitchFamily="18" charset="0"/>
                <a:cs typeface="Times New Roman" panose="02020603050405020304" pitchFamily="18" charset="0"/>
              </a:rPr>
              <a:t>±1%</a:t>
            </a:r>
            <a:r>
              <a:rPr lang="zh-CN" altLang="en-US" kern="0" dirty="0">
                <a:latin typeface="Times New Roman" panose="02020603050405020304" pitchFamily="18" charset="0"/>
                <a:cs typeface="Times New Roman" panose="02020603050405020304" pitchFamily="18" charset="0"/>
              </a:rPr>
              <a:t>，常温下温飘</a:t>
            </a:r>
            <a:r>
              <a:rPr lang="en-US" altLang="zh-CN" kern="0" dirty="0">
                <a:latin typeface="Times New Roman" panose="02020603050405020304" pitchFamily="18" charset="0"/>
                <a:cs typeface="Times New Roman" panose="02020603050405020304" pitchFamily="18" charset="0"/>
              </a:rPr>
              <a:t>5‰</a:t>
            </a:r>
            <a:r>
              <a:rPr lang="zh-CN" altLang="en-US" kern="0" dirty="0">
                <a:latin typeface="Times New Roman" panose="02020603050405020304" pitchFamily="18" charset="0"/>
                <a:cs typeface="Times New Roman" panose="02020603050405020304" pitchFamily="18" charset="0"/>
              </a:rPr>
              <a:t>，频率范围为</a:t>
            </a:r>
            <a:r>
              <a:rPr lang="en-US" altLang="zh-CN" kern="0" dirty="0">
                <a:solidFill>
                  <a:srgbClr val="0000CC"/>
                </a:solidFill>
                <a:latin typeface="Times New Roman" panose="02020603050405020304" pitchFamily="18" charset="0"/>
                <a:cs typeface="Times New Roman" panose="02020603050405020304" pitchFamily="18" charset="0"/>
              </a:rPr>
              <a:t>5MHz~35MHz</a:t>
            </a:r>
            <a:r>
              <a:rPr lang="zh-CN" altLang="en-US" kern="0" dirty="0">
                <a:latin typeface="Times New Roman" panose="02020603050405020304" pitchFamily="18" charset="0"/>
                <a:cs typeface="Times New Roman" panose="02020603050405020304" pitchFamily="18" charset="0"/>
              </a:rPr>
              <a:t>，可在编程时设置。</a:t>
            </a:r>
            <a:endParaRPr lang="en-US" altLang="zh-CN" kern="0" dirty="0">
              <a:latin typeface="Times New Roman" panose="02020603050405020304" pitchFamily="18" charset="0"/>
              <a:cs typeface="Times New Roman" panose="02020603050405020304" pitchFamily="18" charset="0"/>
            </a:endParaRPr>
          </a:p>
        </p:txBody>
      </p:sp>
      <p:sp>
        <p:nvSpPr>
          <p:cNvPr id="9" name="Rectangle 3">
            <a:extLst>
              <a:ext uri="{FF2B5EF4-FFF2-40B4-BE49-F238E27FC236}">
                <a16:creationId xmlns:a16="http://schemas.microsoft.com/office/drawing/2014/main" id="{571D95C7-5019-4714-99AB-D6BE36B2FE87}"/>
              </a:ext>
            </a:extLst>
          </p:cNvPr>
          <p:cNvSpPr txBox="1">
            <a:spLocks noChangeArrowheads="1"/>
          </p:cNvSpPr>
          <p:nvPr/>
        </p:nvSpPr>
        <p:spPr bwMode="auto">
          <a:xfrm>
            <a:off x="363538" y="3217863"/>
            <a:ext cx="8751887" cy="1049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l" eaLnBrk="1" hangingPunct="1">
              <a:lnSpc>
                <a:spcPct val="114000"/>
              </a:lnSpc>
              <a:buFontTx/>
              <a:buNone/>
              <a:defRPr/>
            </a:pPr>
            <a:r>
              <a:rPr lang="zh-CN" altLang="en-US" kern="0" dirty="0">
                <a:latin typeface="Times New Roman" panose="02020603050405020304" pitchFamily="18" charset="0"/>
                <a:cs typeface="Times New Roman" panose="02020603050405020304" pitchFamily="18" charset="0"/>
              </a:rPr>
              <a:t>                                                             对时钟频率要求不太敏感的场合，内部</a:t>
            </a:r>
            <a:r>
              <a:rPr lang="en-US" altLang="zh-CN" kern="0" dirty="0">
                <a:latin typeface="Times New Roman" panose="02020603050405020304" pitchFamily="18" charset="0"/>
                <a:cs typeface="Times New Roman" panose="02020603050405020304" pitchFamily="18" charset="0"/>
              </a:rPr>
              <a:t>R/C</a:t>
            </a:r>
            <a:r>
              <a:rPr lang="zh-CN" altLang="en-US" kern="0" dirty="0">
                <a:latin typeface="Times New Roman" panose="02020603050405020304" pitchFamily="18" charset="0"/>
                <a:cs typeface="Times New Roman" panose="02020603050405020304" pitchFamily="18" charset="0"/>
              </a:rPr>
              <a:t>振荡器完全能够满足要求</a:t>
            </a:r>
            <a:endParaRPr lang="en-US" altLang="zh-CN" kern="0" dirty="0">
              <a:latin typeface="Times New Roman" panose="02020603050405020304" pitchFamily="18" charset="0"/>
              <a:cs typeface="Times New Roman" panose="02020603050405020304" pitchFamily="18" charset="0"/>
            </a:endParaRPr>
          </a:p>
        </p:txBody>
      </p:sp>
      <p:sp>
        <p:nvSpPr>
          <p:cNvPr id="3" name="灯片编号占位符 2">
            <a:extLst>
              <a:ext uri="{FF2B5EF4-FFF2-40B4-BE49-F238E27FC236}">
                <a16:creationId xmlns:a16="http://schemas.microsoft.com/office/drawing/2014/main" id="{5517B5E4-D527-46F2-84FB-E0061D8D8111}"/>
              </a:ext>
            </a:extLst>
          </p:cNvPr>
          <p:cNvSpPr>
            <a:spLocks noGrp="1"/>
          </p:cNvSpPr>
          <p:nvPr>
            <p:ph type="sldNum" sz="quarter" idx="12"/>
          </p:nvPr>
        </p:nvSpPr>
        <p:spPr/>
        <p:txBody>
          <a:bodyPr/>
          <a:lstStyle/>
          <a:p>
            <a:fld id="{22E77DEE-32E4-4009-988B-F2758F7B8AC2}" type="slidenum">
              <a:rPr lang="zh-CN" altLang="en-US" smtClean="0"/>
              <a:t>50</a:t>
            </a:fld>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3">
            <a:extLst>
              <a:ext uri="{FF2B5EF4-FFF2-40B4-BE49-F238E27FC236}">
                <a16:creationId xmlns:a16="http://schemas.microsoft.com/office/drawing/2014/main" id="{1F2D2EB0-0D67-467B-8B25-8F5052B471A4}"/>
              </a:ext>
            </a:extLst>
          </p:cNvPr>
          <p:cNvSpPr>
            <a:spLocks noGrp="1" noChangeArrowheads="1"/>
          </p:cNvSpPr>
          <p:nvPr>
            <p:ph type="title"/>
          </p:nvPr>
        </p:nvSpPr>
        <p:spPr>
          <a:xfrm>
            <a:off x="493713" y="494348"/>
            <a:ext cx="8229600" cy="504825"/>
          </a:xfrm>
        </p:spPr>
        <p:txBody>
          <a:bodyPr>
            <a:normAutofit fontScale="90000"/>
          </a:bodyPr>
          <a:lstStyle/>
          <a:p>
            <a:pPr eaLnBrk="1" hangingPunct="1">
              <a:lnSpc>
                <a:spcPct val="110000"/>
              </a:lnSpc>
            </a:pPr>
            <a:r>
              <a:rPr lang="zh-CN" altLang="en-US" dirty="0">
                <a:solidFill>
                  <a:srgbClr val="FF0000"/>
                </a:solidFill>
              </a:rPr>
              <a:t> </a:t>
            </a:r>
            <a:r>
              <a:rPr lang="en-US" altLang="zh-CN" dirty="0">
                <a:solidFill>
                  <a:srgbClr val="FF0000"/>
                </a:solidFill>
              </a:rPr>
              <a:t>3.  </a:t>
            </a:r>
            <a:r>
              <a:rPr lang="zh-CN" altLang="en-US" dirty="0">
                <a:solidFill>
                  <a:srgbClr val="FF0000"/>
                </a:solidFill>
                <a:hlinkClick r:id="rId2" action="ppaction://hlinksldjump"/>
              </a:rPr>
              <a:t>控制和复位引脚</a:t>
            </a:r>
            <a:endParaRPr lang="zh-CN" altLang="en-US" dirty="0">
              <a:solidFill>
                <a:srgbClr val="FF0000"/>
              </a:solidFill>
            </a:endParaRPr>
          </a:p>
        </p:txBody>
      </p:sp>
      <p:sp>
        <p:nvSpPr>
          <p:cNvPr id="494595" name="Rectangle 3">
            <a:extLst>
              <a:ext uri="{FF2B5EF4-FFF2-40B4-BE49-F238E27FC236}">
                <a16:creationId xmlns:a16="http://schemas.microsoft.com/office/drawing/2014/main" id="{197A9BF3-0A86-46F2-89B0-E4FD5F861745}"/>
              </a:ext>
            </a:extLst>
          </p:cNvPr>
          <p:cNvSpPr>
            <a:spLocks noGrp="1" noChangeArrowheads="1"/>
          </p:cNvSpPr>
          <p:nvPr>
            <p:ph idx="1"/>
          </p:nvPr>
        </p:nvSpPr>
        <p:spPr>
          <a:xfrm>
            <a:off x="704850" y="1263333"/>
            <a:ext cx="7570470" cy="3506787"/>
          </a:xfrm>
        </p:spPr>
        <p:txBody>
          <a:bodyPr/>
          <a:lstStyle/>
          <a:p>
            <a:pPr eaLnBrk="1" hangingPunct="1">
              <a:lnSpc>
                <a:spcPct val="120000"/>
              </a:lnSpc>
              <a:spcBef>
                <a:spcPts val="0"/>
              </a:spcBef>
              <a:spcAft>
                <a:spcPts val="900"/>
              </a:spcAft>
              <a:defRPr/>
            </a:pPr>
            <a:r>
              <a:rPr lang="en-US" altLang="zh-CN" dirty="0">
                <a:solidFill>
                  <a:srgbClr val="FF0000"/>
                </a:solidFill>
              </a:rPr>
              <a:t>(1)  ALE</a:t>
            </a:r>
            <a:r>
              <a:rPr lang="en-US" altLang="zh-CN" b="0" dirty="0"/>
              <a:t> (</a:t>
            </a:r>
            <a:r>
              <a:rPr lang="en-US" altLang="zh-CN" b="0" dirty="0">
                <a:solidFill>
                  <a:srgbClr val="FF0000"/>
                </a:solidFill>
              </a:rPr>
              <a:t>A</a:t>
            </a:r>
            <a:r>
              <a:rPr lang="en-US" altLang="zh-CN" b="0" dirty="0"/>
              <a:t>ddress </a:t>
            </a:r>
            <a:r>
              <a:rPr lang="en-US" altLang="zh-CN" b="0" dirty="0">
                <a:solidFill>
                  <a:srgbClr val="FF0000"/>
                </a:solidFill>
              </a:rPr>
              <a:t>L</a:t>
            </a:r>
            <a:r>
              <a:rPr lang="en-US" altLang="zh-CN" b="0" dirty="0"/>
              <a:t>ock </a:t>
            </a:r>
            <a:r>
              <a:rPr lang="en-US" altLang="zh-CN" b="0" dirty="0">
                <a:solidFill>
                  <a:srgbClr val="FF0000"/>
                </a:solidFill>
              </a:rPr>
              <a:t>E</a:t>
            </a:r>
            <a:r>
              <a:rPr lang="en-US" altLang="zh-CN" b="0" dirty="0"/>
              <a:t>nable) </a:t>
            </a:r>
            <a:r>
              <a:rPr lang="zh-CN" altLang="en-US" dirty="0"/>
              <a:t>（与</a:t>
            </a:r>
            <a:r>
              <a:rPr lang="en-US" altLang="zh-CN" dirty="0"/>
              <a:t>P4.5</a:t>
            </a:r>
            <a:r>
              <a:rPr lang="zh-CN" altLang="en-US" dirty="0"/>
              <a:t>复用） </a:t>
            </a:r>
            <a:endParaRPr lang="zh-CN" altLang="en-US" dirty="0">
              <a:solidFill>
                <a:srgbClr val="CC3300"/>
              </a:solidFill>
            </a:endParaRPr>
          </a:p>
          <a:p>
            <a:pPr marL="363538" lvl="1" indent="-276225" algn="l" eaLnBrk="1" hangingPunct="1">
              <a:lnSpc>
                <a:spcPct val="120000"/>
              </a:lnSpc>
              <a:spcBef>
                <a:spcPts val="0"/>
              </a:spcBef>
              <a:spcAft>
                <a:spcPts val="900"/>
              </a:spcAft>
              <a:defRPr/>
            </a:pPr>
            <a:r>
              <a:rPr lang="zh-CN" altLang="en-US" dirty="0">
                <a:solidFill>
                  <a:srgbClr val="FF0000"/>
                </a:solidFill>
              </a:rPr>
              <a:t>功能</a:t>
            </a:r>
            <a:r>
              <a:rPr lang="zh-CN" altLang="en-US" dirty="0"/>
              <a:t>：当用</a:t>
            </a:r>
            <a:r>
              <a:rPr lang="en-US" altLang="zh-CN" dirty="0">
                <a:solidFill>
                  <a:srgbClr val="FF0000"/>
                </a:solidFill>
              </a:rPr>
              <a:t>MOVX</a:t>
            </a:r>
            <a:r>
              <a:rPr lang="zh-CN" altLang="en-US" dirty="0">
                <a:solidFill>
                  <a:srgbClr val="FF0000"/>
                </a:solidFill>
              </a:rPr>
              <a:t>指令</a:t>
            </a:r>
            <a:r>
              <a:rPr lang="zh-CN" altLang="en-US" dirty="0"/>
              <a:t>访问外部存储器或外部扩展的并行</a:t>
            </a:r>
            <a:r>
              <a:rPr lang="en-US" altLang="zh-CN" dirty="0"/>
              <a:t>I/O</a:t>
            </a:r>
            <a:r>
              <a:rPr lang="zh-CN" altLang="en-US" dirty="0"/>
              <a:t>口时</a:t>
            </a:r>
            <a:r>
              <a:rPr lang="en-US" altLang="zh-CN" dirty="0"/>
              <a:t>, </a:t>
            </a:r>
            <a:r>
              <a:rPr lang="en-US" altLang="zh-CN" dirty="0">
                <a:solidFill>
                  <a:srgbClr val="3333FF"/>
                </a:solidFill>
              </a:rPr>
              <a:t>P0</a:t>
            </a:r>
            <a:r>
              <a:rPr lang="zh-CN" altLang="en-US" dirty="0">
                <a:solidFill>
                  <a:srgbClr val="3333FF"/>
                </a:solidFill>
              </a:rPr>
              <a:t>口做为地址</a:t>
            </a:r>
            <a:r>
              <a:rPr lang="en-US" altLang="zh-CN" dirty="0">
                <a:solidFill>
                  <a:srgbClr val="3333FF"/>
                </a:solidFill>
              </a:rPr>
              <a:t>/</a:t>
            </a:r>
            <a:r>
              <a:rPr lang="zh-CN" altLang="en-US" dirty="0">
                <a:solidFill>
                  <a:srgbClr val="3333FF"/>
                </a:solidFill>
              </a:rPr>
              <a:t>数据</a:t>
            </a:r>
            <a:r>
              <a:rPr lang="zh-CN" altLang="en-US" dirty="0">
                <a:solidFill>
                  <a:srgbClr val="FF0000"/>
                </a:solidFill>
              </a:rPr>
              <a:t>分时复用口</a:t>
            </a:r>
            <a:r>
              <a:rPr lang="zh-CN" altLang="en-US" dirty="0"/>
              <a:t>，</a:t>
            </a:r>
            <a:r>
              <a:rPr lang="en-US" altLang="zh-CN" dirty="0">
                <a:solidFill>
                  <a:srgbClr val="FF0000"/>
                </a:solidFill>
                <a:hlinkClick r:id="" action="ppaction://noaction"/>
              </a:rPr>
              <a:t>ALE</a:t>
            </a:r>
            <a:r>
              <a:rPr lang="zh-CN" altLang="en-US" dirty="0"/>
              <a:t>引脚</a:t>
            </a:r>
            <a:r>
              <a:rPr lang="zh-CN" altLang="en-US" dirty="0">
                <a:solidFill>
                  <a:srgbClr val="FF0000"/>
                </a:solidFill>
              </a:rPr>
              <a:t>输出地址锁存信号</a:t>
            </a:r>
            <a:r>
              <a:rPr lang="en-US" altLang="zh-CN" dirty="0">
                <a:solidFill>
                  <a:srgbClr val="FF00FF"/>
                </a:solidFill>
              </a:rPr>
              <a:t>,</a:t>
            </a:r>
            <a:r>
              <a:rPr lang="zh-CN" altLang="en-US" dirty="0">
                <a:solidFill>
                  <a:srgbClr val="FF00FF"/>
                </a:solidFill>
              </a:rPr>
              <a:t>用于锁存低</a:t>
            </a:r>
            <a:r>
              <a:rPr lang="en-US" altLang="zh-CN" dirty="0">
                <a:solidFill>
                  <a:srgbClr val="FF00FF"/>
                </a:solidFill>
              </a:rPr>
              <a:t>8</a:t>
            </a:r>
            <a:r>
              <a:rPr lang="zh-CN" altLang="en-US" dirty="0">
                <a:solidFill>
                  <a:srgbClr val="FF00FF"/>
                </a:solidFill>
              </a:rPr>
              <a:t>位地址</a:t>
            </a:r>
            <a:r>
              <a:rPr lang="zh-CN" altLang="en-US" dirty="0"/>
              <a:t>。</a:t>
            </a:r>
            <a:endParaRPr lang="en-US" altLang="zh-CN" dirty="0"/>
          </a:p>
          <a:p>
            <a:pPr marL="363538" lvl="1" indent="-276225" algn="l" eaLnBrk="1" hangingPunct="1">
              <a:lnSpc>
                <a:spcPct val="120000"/>
              </a:lnSpc>
              <a:spcBef>
                <a:spcPts val="0"/>
              </a:spcBef>
              <a:spcAft>
                <a:spcPts val="900"/>
              </a:spcAft>
              <a:defRPr/>
            </a:pPr>
            <a:r>
              <a:rPr lang="zh-CN" altLang="en-US" dirty="0"/>
              <a:t>当</a:t>
            </a:r>
            <a:r>
              <a:rPr lang="en-US" altLang="zh-CN" dirty="0">
                <a:solidFill>
                  <a:srgbClr val="3333FF"/>
                </a:solidFill>
              </a:rPr>
              <a:t>ALE</a:t>
            </a:r>
            <a:r>
              <a:rPr lang="zh-CN" altLang="en-US" dirty="0"/>
              <a:t>信号为</a:t>
            </a:r>
            <a:r>
              <a:rPr lang="zh-CN" altLang="en-US" dirty="0">
                <a:solidFill>
                  <a:srgbClr val="3333FF"/>
                </a:solidFill>
              </a:rPr>
              <a:t>高电平</a:t>
            </a:r>
            <a:r>
              <a:rPr lang="zh-CN" altLang="en-US" dirty="0"/>
              <a:t>时，</a:t>
            </a:r>
            <a:r>
              <a:rPr lang="en-US" altLang="zh-CN" dirty="0">
                <a:solidFill>
                  <a:srgbClr val="FF00FF"/>
                </a:solidFill>
              </a:rPr>
              <a:t>P0</a:t>
            </a:r>
            <a:r>
              <a:rPr lang="zh-CN" altLang="en-US" dirty="0">
                <a:solidFill>
                  <a:srgbClr val="FF00FF"/>
                </a:solidFill>
              </a:rPr>
              <a:t>口上的信息为低</a:t>
            </a:r>
            <a:r>
              <a:rPr lang="en-US" altLang="zh-CN" dirty="0">
                <a:solidFill>
                  <a:srgbClr val="FF00FF"/>
                </a:solidFill>
              </a:rPr>
              <a:t>8</a:t>
            </a:r>
            <a:r>
              <a:rPr lang="zh-CN" altLang="en-US" dirty="0">
                <a:solidFill>
                  <a:srgbClr val="FF00FF"/>
                </a:solidFill>
              </a:rPr>
              <a:t>位地址</a:t>
            </a:r>
            <a:r>
              <a:rPr lang="zh-CN" altLang="en-US" dirty="0"/>
              <a:t>，在</a:t>
            </a:r>
            <a:r>
              <a:rPr lang="en-US" altLang="zh-CN" dirty="0">
                <a:solidFill>
                  <a:srgbClr val="3333FF"/>
                </a:solidFill>
              </a:rPr>
              <a:t>ALE</a:t>
            </a:r>
            <a:r>
              <a:rPr lang="zh-CN" altLang="en-US" dirty="0">
                <a:solidFill>
                  <a:srgbClr val="3333FF"/>
                </a:solidFill>
              </a:rPr>
              <a:t>信号的下降沿</a:t>
            </a:r>
            <a:r>
              <a:rPr lang="zh-CN" altLang="en-US" dirty="0"/>
              <a:t>时将</a:t>
            </a:r>
            <a:r>
              <a:rPr lang="en-US" altLang="zh-CN" dirty="0"/>
              <a:t>P0</a:t>
            </a:r>
            <a:r>
              <a:rPr lang="zh-CN" altLang="en-US" dirty="0"/>
              <a:t>口上的</a:t>
            </a:r>
            <a:r>
              <a:rPr lang="zh-CN" altLang="en-US" dirty="0">
                <a:solidFill>
                  <a:srgbClr val="FF00FF"/>
                </a:solidFill>
              </a:rPr>
              <a:t>低</a:t>
            </a:r>
            <a:r>
              <a:rPr lang="en-US" altLang="zh-CN" dirty="0">
                <a:solidFill>
                  <a:srgbClr val="FF00FF"/>
                </a:solidFill>
              </a:rPr>
              <a:t>8</a:t>
            </a:r>
            <a:r>
              <a:rPr lang="zh-CN" altLang="en-US" dirty="0">
                <a:solidFill>
                  <a:srgbClr val="FF00FF"/>
                </a:solidFill>
              </a:rPr>
              <a:t>位地址送到地址锁存器锁存起来</a:t>
            </a:r>
            <a:r>
              <a:rPr lang="zh-CN" altLang="en-US" dirty="0"/>
              <a:t>。</a:t>
            </a:r>
            <a:endParaRPr lang="en-US" altLang="zh-CN" dirty="0"/>
          </a:p>
          <a:p>
            <a:pPr marL="363538" lvl="1" indent="-276225" algn="l" eaLnBrk="1" hangingPunct="1">
              <a:lnSpc>
                <a:spcPct val="120000"/>
              </a:lnSpc>
              <a:spcBef>
                <a:spcPts val="0"/>
              </a:spcBef>
              <a:spcAft>
                <a:spcPts val="900"/>
              </a:spcAft>
              <a:defRPr/>
            </a:pPr>
            <a:r>
              <a:rPr lang="zh-CN" altLang="en-US" dirty="0"/>
              <a:t>在</a:t>
            </a:r>
            <a:r>
              <a:rPr lang="en-US" altLang="zh-CN" dirty="0">
                <a:solidFill>
                  <a:srgbClr val="3333FF"/>
                </a:solidFill>
              </a:rPr>
              <a:t>ALE</a:t>
            </a:r>
            <a:r>
              <a:rPr lang="zh-CN" altLang="en-US" dirty="0">
                <a:solidFill>
                  <a:srgbClr val="3333FF"/>
                </a:solidFill>
              </a:rPr>
              <a:t>为低电平</a:t>
            </a:r>
            <a:r>
              <a:rPr lang="zh-CN" altLang="en-US" dirty="0"/>
              <a:t>期间</a:t>
            </a:r>
            <a:r>
              <a:rPr lang="en-US" altLang="zh-CN" dirty="0">
                <a:solidFill>
                  <a:srgbClr val="FF00FF"/>
                </a:solidFill>
              </a:rPr>
              <a:t>P0</a:t>
            </a:r>
            <a:r>
              <a:rPr lang="zh-CN" altLang="en-US" dirty="0">
                <a:solidFill>
                  <a:srgbClr val="FF00FF"/>
                </a:solidFill>
              </a:rPr>
              <a:t>口</a:t>
            </a:r>
            <a:r>
              <a:rPr lang="zh-CN" altLang="en-US" dirty="0"/>
              <a:t>上的信息</a:t>
            </a:r>
            <a:r>
              <a:rPr lang="zh-CN" altLang="en-US" dirty="0">
                <a:solidFill>
                  <a:srgbClr val="FF00FF"/>
                </a:solidFill>
              </a:rPr>
              <a:t>为指令或数据</a:t>
            </a:r>
            <a:r>
              <a:rPr lang="zh-CN" altLang="en-US" dirty="0"/>
              <a:t>信息，以实现低位地址与数据的分</a:t>
            </a:r>
            <a:r>
              <a:rPr lang="zh-CN" altLang="en-US" b="0" dirty="0"/>
              <a:t>离。</a:t>
            </a:r>
            <a:endParaRPr lang="en-US" altLang="zh-CN" dirty="0"/>
          </a:p>
        </p:txBody>
      </p:sp>
      <p:sp>
        <p:nvSpPr>
          <p:cNvPr id="3" name="灯片编号占位符 2">
            <a:extLst>
              <a:ext uri="{FF2B5EF4-FFF2-40B4-BE49-F238E27FC236}">
                <a16:creationId xmlns:a16="http://schemas.microsoft.com/office/drawing/2014/main" id="{DF097CB3-7570-4F04-A7C2-8F297F1AD785}"/>
              </a:ext>
            </a:extLst>
          </p:cNvPr>
          <p:cNvSpPr>
            <a:spLocks noGrp="1"/>
          </p:cNvSpPr>
          <p:nvPr>
            <p:ph type="sldNum" sz="quarter" idx="12"/>
          </p:nvPr>
        </p:nvSpPr>
        <p:spPr/>
        <p:txBody>
          <a:bodyPr/>
          <a:lstStyle/>
          <a:p>
            <a:fld id="{22E77DEE-32E4-4009-988B-F2758F7B8AC2}" type="slidenum">
              <a:rPr lang="zh-CN" altLang="en-US" smtClean="0"/>
              <a:t>51</a:t>
            </a:fld>
            <a:endParaRPr lang="zh-CN" altLang="en-US"/>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3">
            <a:extLst>
              <a:ext uri="{FF2B5EF4-FFF2-40B4-BE49-F238E27FC236}">
                <a16:creationId xmlns:a16="http://schemas.microsoft.com/office/drawing/2014/main" id="{EB4CC532-78D9-4C7E-8583-9F85EA659599}"/>
              </a:ext>
            </a:extLst>
          </p:cNvPr>
          <p:cNvSpPr>
            <a:spLocks noGrp="1" noChangeArrowheads="1"/>
          </p:cNvSpPr>
          <p:nvPr>
            <p:ph type="title"/>
          </p:nvPr>
        </p:nvSpPr>
        <p:spPr>
          <a:xfrm>
            <a:off x="529431" y="479425"/>
            <a:ext cx="8229600" cy="504825"/>
          </a:xfrm>
        </p:spPr>
        <p:txBody>
          <a:bodyPr>
            <a:normAutofit fontScale="90000"/>
          </a:bodyPr>
          <a:lstStyle/>
          <a:p>
            <a:pPr eaLnBrk="1" hangingPunct="1">
              <a:lnSpc>
                <a:spcPct val="110000"/>
              </a:lnSpc>
            </a:pPr>
            <a:r>
              <a:rPr lang="zh-CN" altLang="en-US" dirty="0">
                <a:solidFill>
                  <a:srgbClr val="FF0000"/>
                </a:solidFill>
              </a:rPr>
              <a:t> </a:t>
            </a:r>
            <a:r>
              <a:rPr lang="en-US" altLang="zh-CN" dirty="0">
                <a:solidFill>
                  <a:srgbClr val="FF0000"/>
                </a:solidFill>
              </a:rPr>
              <a:t>3.  </a:t>
            </a:r>
            <a:r>
              <a:rPr lang="zh-CN" altLang="en-US" dirty="0">
                <a:solidFill>
                  <a:srgbClr val="FF0000"/>
                </a:solidFill>
                <a:hlinkClick r:id="rId2" action="ppaction://hlinksldjump"/>
              </a:rPr>
              <a:t>控制和复位引脚</a:t>
            </a:r>
            <a:endParaRPr lang="zh-CN" altLang="en-US" dirty="0">
              <a:solidFill>
                <a:srgbClr val="FF0000"/>
              </a:solidFill>
            </a:endParaRPr>
          </a:p>
        </p:txBody>
      </p:sp>
      <p:sp>
        <p:nvSpPr>
          <p:cNvPr id="494595" name="Rectangle 3">
            <a:extLst>
              <a:ext uri="{FF2B5EF4-FFF2-40B4-BE49-F238E27FC236}">
                <a16:creationId xmlns:a16="http://schemas.microsoft.com/office/drawing/2014/main" id="{D995671D-24BE-492A-98E3-017528E21B3B}"/>
              </a:ext>
            </a:extLst>
          </p:cNvPr>
          <p:cNvSpPr>
            <a:spLocks noGrp="1" noChangeArrowheads="1"/>
          </p:cNvSpPr>
          <p:nvPr>
            <p:ph idx="1"/>
          </p:nvPr>
        </p:nvSpPr>
        <p:spPr>
          <a:xfrm>
            <a:off x="657224" y="1139826"/>
            <a:ext cx="7974013" cy="533400"/>
          </a:xfrm>
        </p:spPr>
        <p:txBody>
          <a:bodyPr/>
          <a:lstStyle/>
          <a:p>
            <a:pPr eaLnBrk="1" hangingPunct="1">
              <a:lnSpc>
                <a:spcPct val="95000"/>
              </a:lnSpc>
              <a:spcBef>
                <a:spcPct val="0"/>
              </a:spcBef>
              <a:spcAft>
                <a:spcPts val="400"/>
              </a:spcAft>
            </a:pPr>
            <a:r>
              <a:rPr lang="en-US" altLang="zh-CN" dirty="0">
                <a:solidFill>
                  <a:srgbClr val="FF0000"/>
                </a:solidFill>
              </a:rPr>
              <a:t>(1)  ALE</a:t>
            </a:r>
            <a:r>
              <a:rPr lang="en-US" altLang="zh-CN" b="0" dirty="0"/>
              <a:t> (</a:t>
            </a:r>
            <a:r>
              <a:rPr lang="en-US" altLang="zh-CN" b="0" dirty="0">
                <a:solidFill>
                  <a:srgbClr val="FF0000"/>
                </a:solidFill>
              </a:rPr>
              <a:t>A</a:t>
            </a:r>
            <a:r>
              <a:rPr lang="en-US" altLang="zh-CN" b="0" dirty="0"/>
              <a:t>ddress </a:t>
            </a:r>
            <a:r>
              <a:rPr lang="en-US" altLang="zh-CN" b="0" dirty="0">
                <a:solidFill>
                  <a:srgbClr val="FF0000"/>
                </a:solidFill>
              </a:rPr>
              <a:t>L</a:t>
            </a:r>
            <a:r>
              <a:rPr lang="en-US" altLang="zh-CN" b="0" dirty="0"/>
              <a:t>ock </a:t>
            </a:r>
            <a:r>
              <a:rPr lang="en-US" altLang="zh-CN" b="0" dirty="0">
                <a:solidFill>
                  <a:srgbClr val="FF0000"/>
                </a:solidFill>
              </a:rPr>
              <a:t>E</a:t>
            </a:r>
            <a:r>
              <a:rPr lang="en-US" altLang="zh-CN" b="0" dirty="0"/>
              <a:t>nable) </a:t>
            </a:r>
            <a:r>
              <a:rPr lang="zh-CN" altLang="en-US" dirty="0"/>
              <a:t>（与</a:t>
            </a:r>
            <a:r>
              <a:rPr lang="en-US" altLang="zh-CN" dirty="0"/>
              <a:t>P4.5</a:t>
            </a:r>
            <a:r>
              <a:rPr lang="zh-CN" altLang="en-US" dirty="0"/>
              <a:t>复用） </a:t>
            </a:r>
            <a:endParaRPr lang="en-US" altLang="zh-CN" dirty="0"/>
          </a:p>
        </p:txBody>
      </p:sp>
      <p:sp>
        <p:nvSpPr>
          <p:cNvPr id="6" name="Rectangle 3">
            <a:extLst>
              <a:ext uri="{FF2B5EF4-FFF2-40B4-BE49-F238E27FC236}">
                <a16:creationId xmlns:a16="http://schemas.microsoft.com/office/drawing/2014/main" id="{74430F75-B154-42D1-9D83-BCC0B7DD18FD}"/>
              </a:ext>
            </a:extLst>
          </p:cNvPr>
          <p:cNvSpPr txBox="1">
            <a:spLocks noChangeArrowheads="1"/>
          </p:cNvSpPr>
          <p:nvPr/>
        </p:nvSpPr>
        <p:spPr bwMode="auto">
          <a:xfrm>
            <a:off x="375920" y="2644775"/>
            <a:ext cx="8649335" cy="3622675"/>
          </a:xfrm>
          <a:prstGeom prst="rect">
            <a:avLst/>
          </a:prstGeom>
          <a:solidFill>
            <a:schemeClr val="bg1"/>
          </a:solidFill>
          <a:ln>
            <a:noFill/>
          </a:ln>
          <a:effectLst/>
        </p:spPr>
        <p:txBody>
          <a:bodyPr/>
          <a:lstStyle>
            <a:lvl1pPr marL="342900" indent="-342900" algn="just" rtl="0" fontAlgn="base">
              <a:lnSpc>
                <a:spcPct val="114000"/>
              </a:lnSpc>
              <a:spcBef>
                <a:spcPct val="20000"/>
              </a:spcBef>
              <a:spcAft>
                <a:spcPts val="600"/>
              </a:spcAft>
              <a:buBlip>
                <a:blip r:embed="rId3"/>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174625" lvl="1" indent="-174625" algn="l" eaLnBrk="1" hangingPunct="1">
              <a:lnSpc>
                <a:spcPct val="124000"/>
              </a:lnSpc>
              <a:spcBef>
                <a:spcPts val="0"/>
              </a:spcBef>
              <a:spcAft>
                <a:spcPts val="900"/>
              </a:spcAft>
              <a:defRPr/>
            </a:pPr>
            <a:r>
              <a:rPr lang="zh-CN" altLang="en-US" kern="0" dirty="0"/>
              <a:t>当</a:t>
            </a:r>
            <a:r>
              <a:rPr lang="en-US" altLang="zh-CN" kern="0" dirty="0"/>
              <a:t>8051</a:t>
            </a:r>
            <a:r>
              <a:rPr lang="zh-CN" altLang="en-US" kern="0" dirty="0"/>
              <a:t>单片机时钟频率较高时，</a:t>
            </a:r>
            <a:r>
              <a:rPr lang="en-US" altLang="zh-CN" kern="0" dirty="0"/>
              <a:t>ALE</a:t>
            </a:r>
            <a:r>
              <a:rPr lang="zh-CN" altLang="en-US" kern="0" dirty="0"/>
              <a:t>脚是一干扰源。</a:t>
            </a:r>
          </a:p>
          <a:p>
            <a:pPr marL="174625" lvl="1" indent="-174625" algn="l" eaLnBrk="1" hangingPunct="1">
              <a:lnSpc>
                <a:spcPct val="124000"/>
              </a:lnSpc>
              <a:spcBef>
                <a:spcPts val="0"/>
              </a:spcBef>
              <a:spcAft>
                <a:spcPts val="900"/>
              </a:spcAft>
              <a:defRPr/>
            </a:pPr>
            <a:r>
              <a:rPr lang="en-US" altLang="zh-CN" kern="0" dirty="0"/>
              <a:t>IAP15W4K58S4</a:t>
            </a:r>
            <a:r>
              <a:rPr lang="zh-CN" altLang="en-US" kern="0" dirty="0"/>
              <a:t>单片机直接</a:t>
            </a:r>
            <a:r>
              <a:rPr lang="zh-CN" altLang="en-US" kern="0" dirty="0">
                <a:solidFill>
                  <a:srgbClr val="FF0000"/>
                </a:solidFill>
              </a:rPr>
              <a:t>禁止</a:t>
            </a:r>
            <a:r>
              <a:rPr lang="en-US" altLang="zh-CN" kern="0" dirty="0">
                <a:solidFill>
                  <a:srgbClr val="FF0000"/>
                </a:solidFill>
              </a:rPr>
              <a:t>ALE</a:t>
            </a:r>
            <a:r>
              <a:rPr lang="zh-CN" altLang="en-US" kern="0" dirty="0">
                <a:solidFill>
                  <a:srgbClr val="FF0000"/>
                </a:solidFill>
              </a:rPr>
              <a:t>脚对系统时钟进行</a:t>
            </a:r>
            <a:r>
              <a:rPr lang="en-US" altLang="zh-CN" kern="0" dirty="0">
                <a:solidFill>
                  <a:srgbClr val="FF0000"/>
                </a:solidFill>
              </a:rPr>
              <a:t>6</a:t>
            </a:r>
            <a:r>
              <a:rPr lang="zh-CN" altLang="en-US" kern="0" dirty="0">
                <a:solidFill>
                  <a:srgbClr val="FF0000"/>
                </a:solidFill>
              </a:rPr>
              <a:t>分频输出</a:t>
            </a:r>
            <a:r>
              <a:rPr lang="en-US" altLang="zh-CN" kern="0" dirty="0"/>
              <a:t>,</a:t>
            </a:r>
            <a:r>
              <a:rPr lang="zh-CN" altLang="en-US" kern="0" dirty="0"/>
              <a:t>彻底清除此干扰源</a:t>
            </a:r>
            <a:r>
              <a:rPr lang="en-US" altLang="zh-CN" kern="0" dirty="0"/>
              <a:t>,</a:t>
            </a:r>
            <a:r>
              <a:rPr lang="zh-CN" altLang="en-US" kern="0" dirty="0"/>
              <a:t>有利于系统抗干扰。</a:t>
            </a:r>
            <a:endParaRPr lang="en-US" altLang="zh-CN" kern="0" dirty="0"/>
          </a:p>
          <a:p>
            <a:pPr marL="174625" lvl="1" indent="-174625" algn="l" eaLnBrk="1" hangingPunct="1">
              <a:lnSpc>
                <a:spcPct val="124000"/>
              </a:lnSpc>
              <a:spcBef>
                <a:spcPts val="0"/>
              </a:spcBef>
              <a:spcAft>
                <a:spcPts val="900"/>
              </a:spcAft>
              <a:defRPr/>
            </a:pPr>
            <a:r>
              <a:rPr lang="zh-CN" altLang="en-US" kern="0" dirty="0"/>
              <a:t>若要输出时钟</a:t>
            </a:r>
            <a:r>
              <a:rPr lang="en-US" altLang="zh-CN" kern="0" dirty="0"/>
              <a:t>,</a:t>
            </a:r>
            <a:r>
              <a:rPr lang="zh-CN" altLang="en-US" kern="0" dirty="0"/>
              <a:t>可用</a:t>
            </a:r>
            <a:r>
              <a:rPr lang="en-US" altLang="zh-CN" kern="0" dirty="0"/>
              <a:t>IAP15W4K58S4</a:t>
            </a:r>
            <a:r>
              <a:rPr lang="zh-CN" altLang="en-US" kern="0" dirty="0"/>
              <a:t>单片机的可编程</a:t>
            </a:r>
            <a:r>
              <a:rPr lang="zh-CN" altLang="en-US" kern="0" dirty="0">
                <a:solidFill>
                  <a:srgbClr val="9900CC"/>
                </a:solidFill>
                <a:hlinkClick r:id="rId5" action="ppaction://hlinksldjump"/>
              </a:rPr>
              <a:t>时钟输出脚</a:t>
            </a:r>
            <a:r>
              <a:rPr lang="en-US" altLang="zh-CN" kern="0" dirty="0">
                <a:solidFill>
                  <a:srgbClr val="9900CC"/>
                </a:solidFill>
              </a:rPr>
              <a:t>(</a:t>
            </a:r>
            <a:r>
              <a:rPr lang="en-US" altLang="zh-CN" dirty="0">
                <a:solidFill>
                  <a:srgbClr val="FF00FF"/>
                </a:solidFill>
              </a:rPr>
              <a:t>P5.4/SYSCLKO,</a:t>
            </a:r>
            <a:r>
              <a:rPr lang="en-US" altLang="zh-CN" dirty="0"/>
              <a:t>T2CLKO/P3.0,T1CLKO/P3.4</a:t>
            </a:r>
            <a:r>
              <a:rPr lang="zh-CN" altLang="en-US" dirty="0"/>
              <a:t>和</a:t>
            </a:r>
            <a:r>
              <a:rPr lang="en-US" altLang="zh-CN" dirty="0"/>
              <a:t>T0CLKO/P3.5</a:t>
            </a:r>
            <a:r>
              <a:rPr lang="zh-CN" altLang="en-US" dirty="0">
                <a:solidFill>
                  <a:srgbClr val="3333FF"/>
                </a:solidFill>
              </a:rPr>
              <a:t>等</a:t>
            </a:r>
            <a:r>
              <a:rPr lang="en-US" altLang="zh-CN" kern="0" dirty="0">
                <a:solidFill>
                  <a:srgbClr val="9900CC"/>
                </a:solidFill>
              </a:rPr>
              <a:t>)</a:t>
            </a:r>
            <a:r>
              <a:rPr lang="zh-CN" altLang="en-US" kern="0" dirty="0"/>
              <a:t>对外输出时钟。</a:t>
            </a:r>
          </a:p>
        </p:txBody>
      </p:sp>
      <p:sp>
        <p:nvSpPr>
          <p:cNvPr id="7" name="Rectangle 3">
            <a:extLst>
              <a:ext uri="{FF2B5EF4-FFF2-40B4-BE49-F238E27FC236}">
                <a16:creationId xmlns:a16="http://schemas.microsoft.com/office/drawing/2014/main" id="{06BA0988-9BB2-4414-860D-B49A5887575E}"/>
              </a:ext>
            </a:extLst>
          </p:cNvPr>
          <p:cNvSpPr txBox="1">
            <a:spLocks noChangeArrowheads="1"/>
          </p:cNvSpPr>
          <p:nvPr/>
        </p:nvSpPr>
        <p:spPr bwMode="auto">
          <a:xfrm>
            <a:off x="320040" y="1503363"/>
            <a:ext cx="7894320" cy="1074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3"/>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363538" lvl="1" indent="-276225" algn="l" eaLnBrk="1" hangingPunct="1">
              <a:lnSpc>
                <a:spcPct val="125000"/>
              </a:lnSpc>
              <a:spcBef>
                <a:spcPts val="0"/>
              </a:spcBef>
              <a:spcAft>
                <a:spcPts val="400"/>
              </a:spcAft>
              <a:defRPr/>
            </a:pPr>
            <a:r>
              <a:rPr lang="zh-CN" altLang="en-US" kern="0" dirty="0">
                <a:solidFill>
                  <a:srgbClr val="3333FF"/>
                </a:solidFill>
              </a:rPr>
              <a:t>标准</a:t>
            </a:r>
            <a:r>
              <a:rPr lang="en-US" altLang="zh-CN" kern="0" dirty="0">
                <a:solidFill>
                  <a:srgbClr val="3333FF"/>
                </a:solidFill>
              </a:rPr>
              <a:t>8051</a:t>
            </a:r>
            <a:r>
              <a:rPr lang="zh-CN" altLang="en-US" kern="0" dirty="0">
                <a:solidFill>
                  <a:srgbClr val="3333FF"/>
                </a:solidFill>
              </a:rPr>
              <a:t>单片机</a:t>
            </a:r>
            <a:r>
              <a:rPr lang="zh-CN" altLang="en-US" kern="0" dirty="0"/>
              <a:t>的</a:t>
            </a:r>
            <a:r>
              <a:rPr lang="en-US" altLang="zh-CN" kern="0" dirty="0"/>
              <a:t>ALE </a:t>
            </a:r>
            <a:r>
              <a:rPr lang="zh-CN" altLang="en-US" kern="0" dirty="0"/>
              <a:t>脚</a:t>
            </a:r>
            <a:r>
              <a:rPr lang="zh-CN" altLang="en-US" kern="0" dirty="0">
                <a:solidFill>
                  <a:srgbClr val="3333FF"/>
                </a:solidFill>
              </a:rPr>
              <a:t>对系统时钟进行</a:t>
            </a:r>
            <a:r>
              <a:rPr lang="en-US" altLang="zh-CN" kern="0" dirty="0">
                <a:solidFill>
                  <a:srgbClr val="3333FF"/>
                </a:solidFill>
              </a:rPr>
              <a:t>6</a:t>
            </a:r>
            <a:r>
              <a:rPr lang="zh-CN" altLang="en-US" kern="0" dirty="0">
                <a:solidFill>
                  <a:srgbClr val="3333FF"/>
                </a:solidFill>
              </a:rPr>
              <a:t>分频输出</a:t>
            </a:r>
            <a:r>
              <a:rPr lang="zh-CN" altLang="en-US" kern="0" dirty="0"/>
              <a:t>，可对外提供时钟。</a:t>
            </a:r>
          </a:p>
          <a:p>
            <a:pPr marL="363538" indent="-276225" eaLnBrk="1" hangingPunct="1">
              <a:lnSpc>
                <a:spcPct val="125000"/>
              </a:lnSpc>
              <a:spcBef>
                <a:spcPts val="0"/>
              </a:spcBef>
              <a:spcAft>
                <a:spcPts val="400"/>
              </a:spcAft>
              <a:defRPr/>
            </a:pPr>
            <a:endParaRPr lang="en-US" altLang="zh-CN" kern="0" dirty="0"/>
          </a:p>
        </p:txBody>
      </p:sp>
      <p:sp>
        <p:nvSpPr>
          <p:cNvPr id="3" name="灯片编号占位符 2">
            <a:extLst>
              <a:ext uri="{FF2B5EF4-FFF2-40B4-BE49-F238E27FC236}">
                <a16:creationId xmlns:a16="http://schemas.microsoft.com/office/drawing/2014/main" id="{188E9E11-8587-4537-B145-7465FFCA4EA5}"/>
              </a:ext>
            </a:extLst>
          </p:cNvPr>
          <p:cNvSpPr>
            <a:spLocks noGrp="1"/>
          </p:cNvSpPr>
          <p:nvPr>
            <p:ph type="sldNum" sz="quarter" idx="12"/>
          </p:nvPr>
        </p:nvSpPr>
        <p:spPr/>
        <p:txBody>
          <a:bodyPr/>
          <a:lstStyle/>
          <a:p>
            <a:fld id="{22E77DEE-32E4-4009-988B-F2758F7B8AC2}" type="slidenum">
              <a:rPr lang="zh-CN" altLang="en-US" smtClean="0"/>
              <a:t>52</a:t>
            </a:fld>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2">
            <a:extLst>
              <a:ext uri="{FF2B5EF4-FFF2-40B4-BE49-F238E27FC236}">
                <a16:creationId xmlns:a16="http://schemas.microsoft.com/office/drawing/2014/main" id="{4277BC3E-DB55-4D48-B600-40EA7BC2E268}"/>
              </a:ext>
            </a:extLst>
          </p:cNvPr>
          <p:cNvSpPr>
            <a:spLocks noGrp="1" noChangeArrowheads="1"/>
          </p:cNvSpPr>
          <p:nvPr>
            <p:ph type="title"/>
          </p:nvPr>
        </p:nvSpPr>
        <p:spPr>
          <a:xfrm>
            <a:off x="369888" y="511051"/>
            <a:ext cx="8229600" cy="504825"/>
          </a:xfrm>
        </p:spPr>
        <p:txBody>
          <a:bodyPr>
            <a:normAutofit fontScale="90000"/>
          </a:bodyPr>
          <a:lstStyle/>
          <a:p>
            <a:pPr eaLnBrk="1" hangingPunct="1"/>
            <a:r>
              <a:rPr lang="zh-CN" altLang="en-US" dirty="0">
                <a:solidFill>
                  <a:srgbClr val="FF0000"/>
                </a:solidFill>
              </a:rPr>
              <a:t> </a:t>
            </a:r>
            <a:r>
              <a:rPr lang="en-US" altLang="zh-CN" dirty="0">
                <a:solidFill>
                  <a:srgbClr val="FF0000"/>
                </a:solidFill>
              </a:rPr>
              <a:t>3.  </a:t>
            </a:r>
            <a:r>
              <a:rPr lang="zh-CN" altLang="en-US" dirty="0">
                <a:solidFill>
                  <a:srgbClr val="FF0000"/>
                </a:solidFill>
                <a:hlinkClick r:id="rId2" action="ppaction://hlinksldjump"/>
              </a:rPr>
              <a:t>控制和复位引脚</a:t>
            </a:r>
            <a:endParaRPr lang="zh-CN" altLang="en-US" dirty="0"/>
          </a:p>
        </p:txBody>
      </p:sp>
      <p:graphicFrame>
        <p:nvGraphicFramePr>
          <p:cNvPr id="495620" name="Object 4">
            <a:extLst>
              <a:ext uri="{FF2B5EF4-FFF2-40B4-BE49-F238E27FC236}">
                <a16:creationId xmlns:a16="http://schemas.microsoft.com/office/drawing/2014/main" id="{9D0511F5-83CC-48DD-B46C-4B9A776614D1}"/>
              </a:ext>
            </a:extLst>
          </p:cNvPr>
          <p:cNvGraphicFramePr>
            <a:graphicFrameLocks noGrp="1" noChangeAspect="1"/>
          </p:cNvGraphicFramePr>
          <p:nvPr>
            <p:ph idx="1"/>
            <p:extLst>
              <p:ext uri="{D42A27DB-BD31-4B8C-83A1-F6EECF244321}">
                <p14:modId xmlns:p14="http://schemas.microsoft.com/office/powerpoint/2010/main" val="754526173"/>
              </p:ext>
            </p:extLst>
          </p:nvPr>
        </p:nvGraphicFramePr>
        <p:xfrm>
          <a:off x="3714750" y="2763044"/>
          <a:ext cx="3783013" cy="3468687"/>
        </p:xfrm>
        <a:graphic>
          <a:graphicData uri="http://schemas.openxmlformats.org/presentationml/2006/ole">
            <mc:AlternateContent xmlns:mc="http://schemas.openxmlformats.org/markup-compatibility/2006">
              <mc:Choice xmlns:v="urn:schemas-microsoft-com:vml" Requires="v">
                <p:oleObj name="Microsoft Drawing" r:id="rId3" imgW="1514475" imgH="1450975" progId="MSDraw">
                  <p:embed/>
                </p:oleObj>
              </mc:Choice>
              <mc:Fallback>
                <p:oleObj name="Microsoft Drawing" r:id="rId3" imgW="1514475" imgH="1450975" progId="MSDraw">
                  <p:embed/>
                  <p:pic>
                    <p:nvPicPr>
                      <p:cNvPr id="495620" name="Object 4">
                        <a:extLst>
                          <a:ext uri="{FF2B5EF4-FFF2-40B4-BE49-F238E27FC236}">
                            <a16:creationId xmlns:a16="http://schemas.microsoft.com/office/drawing/2014/main" id="{9D0511F5-83CC-48DD-B46C-4B9A776614D1}"/>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4750" y="2763044"/>
                        <a:ext cx="3783013" cy="3468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95619" name="Rectangle 3">
            <a:extLst>
              <a:ext uri="{FF2B5EF4-FFF2-40B4-BE49-F238E27FC236}">
                <a16:creationId xmlns:a16="http://schemas.microsoft.com/office/drawing/2014/main" id="{B83CC329-0327-46C1-8CEB-0B6EB26E211E}"/>
              </a:ext>
            </a:extLst>
          </p:cNvPr>
          <p:cNvSpPr>
            <a:spLocks noGrp="1" noChangeArrowheads="1"/>
          </p:cNvSpPr>
          <p:nvPr>
            <p:ph type="body" sz="half" idx="4294967295"/>
          </p:nvPr>
        </p:nvSpPr>
        <p:spPr>
          <a:xfrm>
            <a:off x="563881" y="1439802"/>
            <a:ext cx="8321039" cy="1287338"/>
          </a:xfrm>
        </p:spPr>
        <p:txBody>
          <a:bodyPr/>
          <a:lstStyle/>
          <a:p>
            <a:pPr eaLnBrk="1" hangingPunct="1">
              <a:spcBef>
                <a:spcPct val="0"/>
              </a:spcBef>
              <a:spcAft>
                <a:spcPts val="600"/>
              </a:spcAft>
            </a:pPr>
            <a:r>
              <a:rPr lang="en-US" altLang="zh-CN" sz="2800" dirty="0">
                <a:solidFill>
                  <a:srgbClr val="FF0000"/>
                </a:solidFill>
              </a:rPr>
              <a:t>(2) </a:t>
            </a:r>
            <a:r>
              <a:rPr lang="en-US" altLang="zh-CN" sz="2800" dirty="0">
                <a:solidFill>
                  <a:srgbClr val="CC3300"/>
                </a:solidFill>
              </a:rPr>
              <a:t>RST</a:t>
            </a:r>
            <a:r>
              <a:rPr lang="en-US" altLang="zh-CN" sz="2800" b="0" dirty="0"/>
              <a:t> (</a:t>
            </a:r>
            <a:r>
              <a:rPr lang="en-US" altLang="zh-CN" sz="2800" b="0" dirty="0">
                <a:solidFill>
                  <a:srgbClr val="FF0000"/>
                </a:solidFill>
              </a:rPr>
              <a:t>R</a:t>
            </a:r>
            <a:r>
              <a:rPr lang="en-US" altLang="zh-CN" sz="2800" b="0" dirty="0">
                <a:solidFill>
                  <a:srgbClr val="3333FF"/>
                </a:solidFill>
              </a:rPr>
              <a:t>E</a:t>
            </a:r>
            <a:r>
              <a:rPr lang="en-US" altLang="zh-CN" sz="2800" b="0" dirty="0">
                <a:solidFill>
                  <a:srgbClr val="FF0000"/>
                </a:solidFill>
              </a:rPr>
              <a:t>S</a:t>
            </a:r>
            <a:r>
              <a:rPr lang="en-US" altLang="zh-CN" sz="2800" b="0" dirty="0">
                <a:solidFill>
                  <a:srgbClr val="3333FF"/>
                </a:solidFill>
              </a:rPr>
              <a:t>E</a:t>
            </a:r>
            <a:r>
              <a:rPr lang="en-US" altLang="zh-CN" sz="2800" b="0" dirty="0">
                <a:solidFill>
                  <a:srgbClr val="FF0000"/>
                </a:solidFill>
              </a:rPr>
              <a:t>T</a:t>
            </a:r>
            <a:r>
              <a:rPr lang="en-US" altLang="zh-CN" sz="2800" b="0" dirty="0"/>
              <a:t>) </a:t>
            </a:r>
            <a:r>
              <a:rPr lang="en-US" altLang="zh-CN" sz="2800" dirty="0"/>
              <a:t>(</a:t>
            </a:r>
            <a:r>
              <a:rPr lang="zh-CN" altLang="en-US" sz="2800" dirty="0"/>
              <a:t>与</a:t>
            </a:r>
            <a:r>
              <a:rPr lang="en-US" altLang="zh-CN" sz="2800" dirty="0"/>
              <a:t>P5.4</a:t>
            </a:r>
            <a:r>
              <a:rPr lang="zh-CN" altLang="en-US" sz="2800" dirty="0"/>
              <a:t>复用</a:t>
            </a:r>
            <a:r>
              <a:rPr lang="en-US" altLang="zh-CN" sz="2800" dirty="0"/>
              <a:t>)</a:t>
            </a:r>
            <a:r>
              <a:rPr lang="zh-CN" altLang="en-US" sz="2800" dirty="0"/>
              <a:t> </a:t>
            </a:r>
            <a:endParaRPr lang="zh-CN" altLang="en-US" sz="2800" dirty="0">
              <a:solidFill>
                <a:srgbClr val="CC3300"/>
              </a:solidFill>
            </a:endParaRPr>
          </a:p>
          <a:p>
            <a:pPr marL="536575" lvl="1" indent="-274638" algn="l" eaLnBrk="1" hangingPunct="1">
              <a:spcBef>
                <a:spcPct val="0"/>
              </a:spcBef>
              <a:spcAft>
                <a:spcPts val="600"/>
              </a:spcAft>
            </a:pPr>
            <a:r>
              <a:rPr lang="zh-CN" altLang="en-US" dirty="0"/>
              <a:t>当振荡器运行时，在此引脚上出现两个机器周期的</a:t>
            </a:r>
            <a:r>
              <a:rPr lang="zh-CN" altLang="en-US" dirty="0">
                <a:solidFill>
                  <a:srgbClr val="FF0000"/>
                </a:solidFill>
              </a:rPr>
              <a:t>高电平将使单片机复位</a:t>
            </a:r>
            <a:r>
              <a:rPr lang="zh-CN" altLang="en-US" dirty="0"/>
              <a:t>。</a:t>
            </a:r>
          </a:p>
          <a:p>
            <a:pPr marL="536575" lvl="1" indent="-274638" algn="l" eaLnBrk="1" hangingPunct="1">
              <a:spcBef>
                <a:spcPct val="0"/>
              </a:spcBef>
              <a:spcAft>
                <a:spcPts val="600"/>
              </a:spcAft>
            </a:pPr>
            <a:r>
              <a:rPr lang="zh-CN" altLang="en-US" dirty="0"/>
              <a:t>若需单片机接上电源就可复位，则可用</a:t>
            </a:r>
            <a:r>
              <a:rPr lang="zh-CN" altLang="en-US" dirty="0">
                <a:solidFill>
                  <a:srgbClr val="CC3300"/>
                </a:solidFill>
              </a:rPr>
              <a:t>上电复位</a:t>
            </a:r>
            <a:r>
              <a:rPr lang="zh-CN" altLang="en-US" dirty="0"/>
              <a:t>电路。</a:t>
            </a:r>
            <a:endParaRPr lang="en-US" altLang="zh-CN" dirty="0"/>
          </a:p>
        </p:txBody>
      </p:sp>
      <p:sp>
        <p:nvSpPr>
          <p:cNvPr id="7" name="矩形 6">
            <a:extLst>
              <a:ext uri="{FF2B5EF4-FFF2-40B4-BE49-F238E27FC236}">
                <a16:creationId xmlns:a16="http://schemas.microsoft.com/office/drawing/2014/main" id="{9788380F-DB8C-432C-8B4A-A7F0123ADA0F}"/>
              </a:ext>
            </a:extLst>
          </p:cNvPr>
          <p:cNvSpPr>
            <a:spLocks noChangeArrowheads="1"/>
          </p:cNvSpPr>
          <p:nvPr/>
        </p:nvSpPr>
        <p:spPr bwMode="auto">
          <a:xfrm>
            <a:off x="7186453" y="3904933"/>
            <a:ext cx="187642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400" dirty="0">
                <a:solidFill>
                  <a:srgbClr val="FF00FF"/>
                </a:solidFill>
              </a:rPr>
              <a:t>VPD: </a:t>
            </a:r>
            <a:r>
              <a:rPr lang="zh-CN" altLang="en-US" sz="2400" dirty="0">
                <a:solidFill>
                  <a:srgbClr val="FF00FF"/>
                </a:solidFill>
              </a:rPr>
              <a:t>传统</a:t>
            </a:r>
            <a:r>
              <a:rPr lang="en-US" altLang="zh-CN" sz="2400" dirty="0">
                <a:solidFill>
                  <a:srgbClr val="FF00FF"/>
                </a:solidFill>
              </a:rPr>
              <a:t>C51</a:t>
            </a:r>
            <a:r>
              <a:rPr lang="zh-CN" altLang="en-US" sz="2400" dirty="0">
                <a:solidFill>
                  <a:srgbClr val="FF00FF"/>
                </a:solidFill>
              </a:rPr>
              <a:t>单片机备用电源引脚</a:t>
            </a:r>
          </a:p>
        </p:txBody>
      </p:sp>
      <p:sp>
        <p:nvSpPr>
          <p:cNvPr id="8" name="矩形 7">
            <a:extLst>
              <a:ext uri="{FF2B5EF4-FFF2-40B4-BE49-F238E27FC236}">
                <a16:creationId xmlns:a16="http://schemas.microsoft.com/office/drawing/2014/main" id="{9EDE2BBF-AE33-4777-96B1-1CFD177B28A8}"/>
              </a:ext>
            </a:extLst>
          </p:cNvPr>
          <p:cNvSpPr>
            <a:spLocks noChangeArrowheads="1"/>
          </p:cNvSpPr>
          <p:nvPr/>
        </p:nvSpPr>
        <p:spPr bwMode="auto">
          <a:xfrm>
            <a:off x="0" y="4130861"/>
            <a:ext cx="44513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solidFill>
                  <a:srgbClr val="FF0000"/>
                </a:solidFill>
              </a:rPr>
              <a:t>SS_3 </a:t>
            </a:r>
            <a:r>
              <a:rPr lang="en-US" altLang="zh-CN" sz="2800" dirty="0">
                <a:solidFill>
                  <a:srgbClr val="3333FF"/>
                </a:solidFill>
              </a:rPr>
              <a:t>/SYSCLKO</a:t>
            </a:r>
            <a:r>
              <a:rPr lang="en-US" altLang="zh-CN" sz="2800" dirty="0">
                <a:solidFill>
                  <a:srgbClr val="FF0000"/>
                </a:solidFill>
              </a:rPr>
              <a:t> /RST /P5.4</a:t>
            </a:r>
            <a:endParaRPr lang="zh-CN" altLang="en-US" sz="2800" dirty="0">
              <a:solidFill>
                <a:srgbClr val="FF0000"/>
              </a:solidFill>
            </a:endParaRPr>
          </a:p>
        </p:txBody>
      </p:sp>
      <p:cxnSp>
        <p:nvCxnSpPr>
          <p:cNvPr id="12" name="直接连接符 11">
            <a:extLst>
              <a:ext uri="{FF2B5EF4-FFF2-40B4-BE49-F238E27FC236}">
                <a16:creationId xmlns:a16="http://schemas.microsoft.com/office/drawing/2014/main" id="{655AA1E1-89CB-4DE1-AC1D-7B7A5E1B2347}"/>
              </a:ext>
            </a:extLst>
          </p:cNvPr>
          <p:cNvCxnSpPr>
            <a:cxnSpLocks noChangeShapeType="1"/>
          </p:cNvCxnSpPr>
          <p:nvPr/>
        </p:nvCxnSpPr>
        <p:spPr bwMode="auto">
          <a:xfrm>
            <a:off x="6425406" y="4071620"/>
            <a:ext cx="552450" cy="0"/>
          </a:xfrm>
          <a:prstGeom prst="line">
            <a:avLst/>
          </a:prstGeom>
          <a:noFill/>
          <a:ln w="28575" algn="ctr">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 name="图片 4">
            <a:extLst>
              <a:ext uri="{FF2B5EF4-FFF2-40B4-BE49-F238E27FC236}">
                <a16:creationId xmlns:a16="http://schemas.microsoft.com/office/drawing/2014/main" id="{DDA98EAE-99B6-42D4-9028-5551E5D7CF1F}"/>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384800" y="814388"/>
            <a:ext cx="3094038" cy="760412"/>
          </a:xfrm>
          <a:prstGeom prst="rect">
            <a:avLst/>
          </a:prstGeom>
          <a:noFill/>
          <a:ln w="9525">
            <a:solidFill>
              <a:srgbClr val="00B050"/>
            </a:solidFill>
            <a:miter lim="800000"/>
            <a:headEnd/>
            <a:tailEnd/>
          </a:ln>
          <a:extLst>
            <a:ext uri="{909E8E84-426E-40DD-AFC4-6F175D3DCCD1}">
              <a14:hiddenFill xmlns:a14="http://schemas.microsoft.com/office/drawing/2010/main">
                <a:solidFill>
                  <a:srgbClr val="FFFFFF"/>
                </a:solidFill>
              </a14:hiddenFill>
            </a:ext>
          </a:extLst>
        </p:spPr>
      </p:pic>
      <p:pic>
        <p:nvPicPr>
          <p:cNvPr id="95244" name="图片 8">
            <a:extLst>
              <a:ext uri="{FF2B5EF4-FFF2-40B4-BE49-F238E27FC236}">
                <a16:creationId xmlns:a16="http://schemas.microsoft.com/office/drawing/2014/main" id="{0929ECA9-6301-4AF1-9D22-7AB4EA5FCA8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83200" y="304800"/>
            <a:ext cx="3389312"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直接箭头连接符 9">
            <a:extLst>
              <a:ext uri="{FF2B5EF4-FFF2-40B4-BE49-F238E27FC236}">
                <a16:creationId xmlns:a16="http://schemas.microsoft.com/office/drawing/2014/main" id="{B26EBBB8-048F-4469-AE65-D7435A2ACE98}"/>
              </a:ext>
            </a:extLst>
          </p:cNvPr>
          <p:cNvCxnSpPr>
            <a:cxnSpLocks noChangeShapeType="1"/>
          </p:cNvCxnSpPr>
          <p:nvPr/>
        </p:nvCxnSpPr>
        <p:spPr bwMode="auto">
          <a:xfrm flipV="1">
            <a:off x="4811713" y="1228725"/>
            <a:ext cx="942975" cy="3268663"/>
          </a:xfrm>
          <a:prstGeom prst="straightConnector1">
            <a:avLst/>
          </a:prstGeom>
          <a:noFill/>
          <a:ln w="9525" algn="ctr">
            <a:solidFill>
              <a:srgbClr val="FF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 Box 7">
            <a:extLst>
              <a:ext uri="{FF2B5EF4-FFF2-40B4-BE49-F238E27FC236}">
                <a16:creationId xmlns:a16="http://schemas.microsoft.com/office/drawing/2014/main" id="{8C2A9D1C-A546-442C-B09D-3A072BC88AEB}"/>
              </a:ext>
            </a:extLst>
          </p:cNvPr>
          <p:cNvSpPr txBox="1">
            <a:spLocks noChangeArrowheads="1"/>
          </p:cNvSpPr>
          <p:nvPr/>
        </p:nvSpPr>
        <p:spPr bwMode="auto">
          <a:xfrm>
            <a:off x="5813425" y="841375"/>
            <a:ext cx="20399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FF0000"/>
                </a:solidFill>
              </a:rPr>
              <a:t>上电充电电位</a:t>
            </a:r>
          </a:p>
        </p:txBody>
      </p:sp>
      <p:sp>
        <p:nvSpPr>
          <p:cNvPr id="3" name="灯片编号占位符 2">
            <a:extLst>
              <a:ext uri="{FF2B5EF4-FFF2-40B4-BE49-F238E27FC236}">
                <a16:creationId xmlns:a16="http://schemas.microsoft.com/office/drawing/2014/main" id="{B1D5E5DD-3873-4B25-BE01-44C970C06D9D}"/>
              </a:ext>
            </a:extLst>
          </p:cNvPr>
          <p:cNvSpPr>
            <a:spLocks noGrp="1"/>
          </p:cNvSpPr>
          <p:nvPr>
            <p:ph type="sldNum" sz="quarter" idx="12"/>
          </p:nvPr>
        </p:nvSpPr>
        <p:spPr/>
        <p:txBody>
          <a:bodyPr/>
          <a:lstStyle/>
          <a:p>
            <a:fld id="{22E77DEE-32E4-4009-988B-F2758F7B8AC2}" type="slidenum">
              <a:rPr lang="zh-CN" altLang="en-US" smtClean="0"/>
              <a:t>53</a:t>
            </a:fld>
            <a:endParaRPr lang="zh-CN"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标题 2">
            <a:extLst>
              <a:ext uri="{FF2B5EF4-FFF2-40B4-BE49-F238E27FC236}">
                <a16:creationId xmlns:a16="http://schemas.microsoft.com/office/drawing/2014/main" id="{DB875110-27F9-440B-94C3-D0172D5D075F}"/>
              </a:ext>
            </a:extLst>
          </p:cNvPr>
          <p:cNvSpPr>
            <a:spLocks noGrp="1" noChangeArrowheads="1"/>
          </p:cNvSpPr>
          <p:nvPr>
            <p:ph type="title"/>
          </p:nvPr>
        </p:nvSpPr>
        <p:spPr>
          <a:xfrm>
            <a:off x="519113" y="472952"/>
            <a:ext cx="8229600" cy="504825"/>
          </a:xfrm>
        </p:spPr>
        <p:txBody>
          <a:bodyPr>
            <a:normAutofit fontScale="90000"/>
          </a:bodyPr>
          <a:lstStyle/>
          <a:p>
            <a:pPr eaLnBrk="1" hangingPunct="1"/>
            <a:r>
              <a:rPr lang="en-US" altLang="zh-CN" dirty="0">
                <a:solidFill>
                  <a:srgbClr val="FF0000"/>
                </a:solidFill>
              </a:rPr>
              <a:t>(2)  RST</a:t>
            </a:r>
            <a:r>
              <a:rPr lang="zh-CN" altLang="en-US" dirty="0">
                <a:solidFill>
                  <a:srgbClr val="FF0000"/>
                </a:solidFill>
              </a:rPr>
              <a:t>（与</a:t>
            </a:r>
            <a:r>
              <a:rPr lang="en-US" altLang="zh-CN" dirty="0">
                <a:solidFill>
                  <a:srgbClr val="FF0000"/>
                </a:solidFill>
              </a:rPr>
              <a:t>P5.4</a:t>
            </a:r>
            <a:r>
              <a:rPr lang="zh-CN" altLang="en-US" dirty="0">
                <a:solidFill>
                  <a:srgbClr val="FF0000"/>
                </a:solidFill>
              </a:rPr>
              <a:t>复用） </a:t>
            </a:r>
            <a:r>
              <a:rPr lang="zh-CN" altLang="en-US" dirty="0">
                <a:solidFill>
                  <a:srgbClr val="FF0000"/>
                </a:solidFill>
                <a:hlinkClick r:id="rId2" action="ppaction://hlinksldjump"/>
              </a:rPr>
              <a:t>引脚</a:t>
            </a:r>
            <a:endParaRPr lang="zh-CN" altLang="en-US" dirty="0"/>
          </a:p>
        </p:txBody>
      </p:sp>
      <p:sp>
        <p:nvSpPr>
          <p:cNvPr id="495619" name="Rectangle 3">
            <a:extLst>
              <a:ext uri="{FF2B5EF4-FFF2-40B4-BE49-F238E27FC236}">
                <a16:creationId xmlns:a16="http://schemas.microsoft.com/office/drawing/2014/main" id="{53DDB1C3-197A-40E6-85E5-C26807834CCC}"/>
              </a:ext>
            </a:extLst>
          </p:cNvPr>
          <p:cNvSpPr>
            <a:spLocks noGrp="1" noChangeArrowheads="1"/>
          </p:cNvSpPr>
          <p:nvPr>
            <p:ph type="body" sz="half" idx="4294967295"/>
          </p:nvPr>
        </p:nvSpPr>
        <p:spPr>
          <a:xfrm>
            <a:off x="460104" y="1198246"/>
            <a:ext cx="7957456" cy="827404"/>
          </a:xfrm>
        </p:spPr>
        <p:txBody>
          <a:bodyPr/>
          <a:lstStyle/>
          <a:p>
            <a:pPr marL="363538" lvl="1" indent="-188913" algn="l" eaLnBrk="1" hangingPunct="1">
              <a:lnSpc>
                <a:spcPct val="114000"/>
              </a:lnSpc>
              <a:spcBef>
                <a:spcPts val="0"/>
              </a:spcBef>
              <a:spcAft>
                <a:spcPts val="300"/>
              </a:spcAft>
              <a:defRPr/>
            </a:pPr>
            <a:r>
              <a:rPr lang="en-US" altLang="zh-CN" dirty="0">
                <a:latin typeface="Times New Roman" panose="02020603050405020304" pitchFamily="18" charset="0"/>
                <a:cs typeface="Times New Roman" panose="02020603050405020304" pitchFamily="18" charset="0"/>
              </a:rPr>
              <a:t>P5.4</a:t>
            </a:r>
            <a:r>
              <a:rPr lang="en-US" altLang="zh-CN" dirty="0">
                <a:solidFill>
                  <a:srgbClr val="FF0000"/>
                </a:solidFill>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RST</a:t>
            </a:r>
            <a:r>
              <a:rPr lang="en-US" altLang="zh-CN" dirty="0">
                <a:solidFill>
                  <a:srgbClr val="FF0000"/>
                </a:solidFill>
                <a:latin typeface="Times New Roman" panose="02020603050405020304" pitchFamily="18" charset="0"/>
                <a:cs typeface="Times New Roman" panose="02020603050405020304" pitchFamily="18" charset="0"/>
              </a:rPr>
              <a:t>/</a:t>
            </a:r>
            <a:r>
              <a:rPr lang="en-US" altLang="zh-CN" strike="dblStrike" dirty="0">
                <a:solidFill>
                  <a:srgbClr val="FF00FF"/>
                </a:solidFill>
                <a:latin typeface="Times New Roman" panose="02020603050405020304" pitchFamily="18" charset="0"/>
                <a:cs typeface="Times New Roman" panose="02020603050405020304" pitchFamily="18" charset="0"/>
              </a:rPr>
              <a:t>MCLKO</a:t>
            </a:r>
            <a:r>
              <a:rPr lang="en-US" altLang="zh-CN" dirty="0">
                <a:latin typeface="Times New Roman" panose="02020603050405020304" pitchFamily="18" charset="0"/>
                <a:cs typeface="Times New Roman" panose="02020603050405020304" pitchFamily="18" charset="0"/>
              </a:rPr>
              <a:t> </a:t>
            </a:r>
            <a:r>
              <a:rPr lang="en-US" altLang="zh-CN" dirty="0">
                <a:solidFill>
                  <a:srgbClr val="FF0000"/>
                </a:solidFill>
                <a:latin typeface="Times New Roman" panose="02020603050405020304" pitchFamily="18" charset="0"/>
                <a:cs typeface="Times New Roman" panose="02020603050405020304" pitchFamily="18" charset="0"/>
              </a:rPr>
              <a:t>SYSCLKO</a:t>
            </a:r>
            <a:r>
              <a:rPr lang="zh-CN" altLang="en-US" dirty="0">
                <a:latin typeface="Times New Roman" panose="02020603050405020304" pitchFamily="18" charset="0"/>
                <a:cs typeface="Times New Roman" panose="02020603050405020304" pitchFamily="18" charset="0"/>
              </a:rPr>
              <a:t>脚出厂时默认为</a:t>
            </a:r>
            <a:r>
              <a:rPr lang="en-US" altLang="zh-CN" dirty="0">
                <a:latin typeface="Times New Roman" panose="02020603050405020304" pitchFamily="18" charset="0"/>
                <a:cs typeface="Times New Roman" panose="02020603050405020304" pitchFamily="18" charset="0"/>
              </a:rPr>
              <a:t>I/O</a:t>
            </a:r>
            <a:r>
              <a:rPr lang="zh-CN" altLang="en-US" dirty="0">
                <a:latin typeface="Times New Roman" panose="02020603050405020304" pitchFamily="18" charset="0"/>
                <a:cs typeface="Times New Roman" panose="02020603050405020304" pitchFamily="18" charset="0"/>
              </a:rPr>
              <a:t>口</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可在</a:t>
            </a:r>
            <a:r>
              <a:rPr lang="en-US" altLang="zh-CN" dirty="0">
                <a:latin typeface="Times New Roman" panose="02020603050405020304" pitchFamily="18" charset="0"/>
                <a:cs typeface="Times New Roman" panose="02020603050405020304" pitchFamily="18" charset="0"/>
                <a:hlinkClick r:id="" action="ppaction://noaction"/>
              </a:rPr>
              <a:t>STC-ISP</a:t>
            </a:r>
            <a:r>
              <a:rPr lang="zh-CN" altLang="en-US" dirty="0">
                <a:latin typeface="Times New Roman" panose="02020603050405020304" pitchFamily="18" charset="0"/>
                <a:cs typeface="Times New Roman" panose="02020603050405020304" pitchFamily="18" charset="0"/>
                <a:hlinkClick r:id="" action="ppaction://noaction"/>
              </a:rPr>
              <a:t>编程软件</a:t>
            </a:r>
            <a:r>
              <a:rPr lang="zh-CN" altLang="en-US" dirty="0">
                <a:latin typeface="Times New Roman" panose="02020603050405020304" pitchFamily="18" charset="0"/>
                <a:cs typeface="Times New Roman" panose="02020603050405020304" pitchFamily="18" charset="0"/>
              </a:rPr>
              <a:t>下载程序时，将其设置为</a:t>
            </a:r>
            <a:r>
              <a:rPr lang="en-US" altLang="zh-CN" dirty="0">
                <a:latin typeface="Times New Roman" panose="02020603050405020304" pitchFamily="18" charset="0"/>
                <a:cs typeface="Times New Roman" panose="02020603050405020304" pitchFamily="18" charset="0"/>
              </a:rPr>
              <a:t>RST</a:t>
            </a:r>
            <a:r>
              <a:rPr lang="zh-CN" altLang="en-US" dirty="0">
                <a:latin typeface="Times New Roman" panose="02020603050405020304" pitchFamily="18" charset="0"/>
                <a:cs typeface="Times New Roman" panose="02020603050405020304" pitchFamily="18" charset="0"/>
              </a:rPr>
              <a:t>复位脚。</a:t>
            </a:r>
          </a:p>
        </p:txBody>
      </p:sp>
      <p:graphicFrame>
        <p:nvGraphicFramePr>
          <p:cNvPr id="495620" name="Object 4">
            <a:extLst>
              <a:ext uri="{FF2B5EF4-FFF2-40B4-BE49-F238E27FC236}">
                <a16:creationId xmlns:a16="http://schemas.microsoft.com/office/drawing/2014/main" id="{1DD09377-A5BF-44FD-BF06-EA1CF6F60D1A}"/>
              </a:ext>
            </a:extLst>
          </p:cNvPr>
          <p:cNvGraphicFramePr>
            <a:graphicFrameLocks noGrp="1" noChangeAspect="1"/>
          </p:cNvGraphicFramePr>
          <p:nvPr>
            <p:ph idx="1"/>
          </p:nvPr>
        </p:nvGraphicFramePr>
        <p:xfrm>
          <a:off x="4903788" y="2025650"/>
          <a:ext cx="3913187" cy="3749675"/>
        </p:xfrm>
        <a:graphic>
          <a:graphicData uri="http://schemas.openxmlformats.org/presentationml/2006/ole">
            <mc:AlternateContent xmlns:mc="http://schemas.openxmlformats.org/markup-compatibility/2006">
              <mc:Choice xmlns:v="urn:schemas-microsoft-com:vml" Requires="v">
                <p:oleObj name="Microsoft Drawing" r:id="rId3" imgW="1514475" imgH="1450975" progId="MSDraw">
                  <p:embed/>
                </p:oleObj>
              </mc:Choice>
              <mc:Fallback>
                <p:oleObj name="Microsoft Drawing" r:id="rId3" imgW="1514475" imgH="1450975" progId="MSDraw">
                  <p:embed/>
                  <p:pic>
                    <p:nvPicPr>
                      <p:cNvPr id="495620" name="Object 4">
                        <a:extLst>
                          <a:ext uri="{FF2B5EF4-FFF2-40B4-BE49-F238E27FC236}">
                            <a16:creationId xmlns:a16="http://schemas.microsoft.com/office/drawing/2014/main" id="{1DD09377-A5BF-44FD-BF06-EA1CF6F60D1A}"/>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3788" y="2025650"/>
                        <a:ext cx="3913187" cy="3749675"/>
                      </a:xfrm>
                      <a:prstGeom prst="rect">
                        <a:avLst/>
                      </a:prstGeom>
                      <a:solidFill>
                        <a:schemeClr val="bg1"/>
                      </a:solidFill>
                      <a:ln>
                        <a:noFill/>
                      </a:ln>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0" name="Rectangle 3">
            <a:extLst>
              <a:ext uri="{FF2B5EF4-FFF2-40B4-BE49-F238E27FC236}">
                <a16:creationId xmlns:a16="http://schemas.microsoft.com/office/drawing/2014/main" id="{DE765DEB-575A-43B7-98AD-28AFE8880DCC}"/>
              </a:ext>
            </a:extLst>
          </p:cNvPr>
          <p:cNvSpPr txBox="1">
            <a:spLocks noChangeArrowheads="1"/>
          </p:cNvSpPr>
          <p:nvPr/>
        </p:nvSpPr>
        <p:spPr bwMode="auto">
          <a:xfrm>
            <a:off x="6350" y="2198688"/>
            <a:ext cx="4897438" cy="370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spcBef>
                <a:spcPct val="20000"/>
              </a:spcBef>
              <a:spcAft>
                <a:spcPct val="0"/>
              </a:spcAft>
              <a:buBlip>
                <a:blip r:embed="rId5"/>
              </a:buBlip>
              <a:defRPr sz="3200" b="1">
                <a:solidFill>
                  <a:schemeClr val="accent2"/>
                </a:solidFill>
                <a:latin typeface="+mn-lt"/>
                <a:ea typeface="+mn-ea"/>
                <a:cs typeface="+mn-cs"/>
              </a:defRPr>
            </a:lvl1pPr>
            <a:lvl2pPr marL="742950" indent="-285750" algn="just" rtl="0" fontAlgn="base">
              <a:spcBef>
                <a:spcPct val="20000"/>
              </a:spcBef>
              <a:spcAft>
                <a:spcPct val="0"/>
              </a:spcAft>
              <a:buBlip>
                <a:blip r:embed="rId6"/>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363538" lvl="1" indent="-188913" algn="l" eaLnBrk="1" hangingPunct="1">
              <a:lnSpc>
                <a:spcPct val="134000"/>
              </a:lnSpc>
              <a:spcBef>
                <a:spcPts val="0"/>
              </a:spcBef>
              <a:spcAft>
                <a:spcPts val="300"/>
              </a:spcAft>
              <a:defRPr/>
            </a:pPr>
            <a:r>
              <a:rPr lang="en-US" altLang="zh-CN" kern="0" dirty="0">
                <a:latin typeface="Times New Roman" panose="02020603050405020304" pitchFamily="18" charset="0"/>
                <a:cs typeface="Times New Roman" panose="02020603050405020304" pitchFamily="18" charset="0"/>
              </a:rPr>
              <a:t>IAP15W4K58S4</a:t>
            </a:r>
            <a:r>
              <a:rPr lang="zh-CN" altLang="en-US" kern="0" dirty="0">
                <a:latin typeface="Times New Roman" panose="02020603050405020304" pitchFamily="18" charset="0"/>
                <a:cs typeface="Times New Roman" panose="02020603050405020304" pitchFamily="18" charset="0"/>
              </a:rPr>
              <a:t>单片机内部集成了</a:t>
            </a:r>
            <a:r>
              <a:rPr lang="en-US" altLang="zh-CN" kern="0" dirty="0">
                <a:solidFill>
                  <a:srgbClr val="9900CC"/>
                </a:solidFill>
                <a:latin typeface="Times New Roman" panose="02020603050405020304" pitchFamily="18" charset="0"/>
                <a:cs typeface="Times New Roman" panose="02020603050405020304" pitchFamily="18" charset="0"/>
              </a:rPr>
              <a:t>MAX810</a:t>
            </a:r>
            <a:r>
              <a:rPr lang="zh-CN" altLang="en-US" kern="0" dirty="0">
                <a:solidFill>
                  <a:srgbClr val="9900CC"/>
                </a:solidFill>
                <a:latin typeface="Times New Roman" panose="02020603050405020304" pitchFamily="18" charset="0"/>
                <a:cs typeface="Times New Roman" panose="02020603050405020304" pitchFamily="18" charset="0"/>
              </a:rPr>
              <a:t>专用复位电路</a:t>
            </a:r>
            <a:r>
              <a:rPr lang="zh-CN" altLang="en-US" kern="0" dirty="0">
                <a:latin typeface="Times New Roman" panose="02020603050405020304" pitchFamily="18" charset="0"/>
                <a:cs typeface="Times New Roman" panose="02020603050405020304" pitchFamily="18" charset="0"/>
              </a:rPr>
              <a:t>，时钟频率在</a:t>
            </a:r>
            <a:r>
              <a:rPr lang="en-US" altLang="zh-CN" kern="0" dirty="0">
                <a:latin typeface="Times New Roman" panose="02020603050405020304" pitchFamily="18" charset="0"/>
                <a:cs typeface="Times New Roman" panose="02020603050405020304" pitchFamily="18" charset="0"/>
              </a:rPr>
              <a:t>12MHZ</a:t>
            </a:r>
            <a:r>
              <a:rPr lang="zh-CN" altLang="en-US" kern="0" dirty="0">
                <a:latin typeface="Times New Roman" panose="02020603050405020304" pitchFamily="18" charset="0"/>
                <a:cs typeface="Times New Roman" panose="02020603050405020304" pitchFamily="18" charset="0"/>
              </a:rPr>
              <a:t>以下时，复位脚可接</a:t>
            </a:r>
            <a:r>
              <a:rPr lang="en-US" altLang="zh-CN" kern="0" dirty="0">
                <a:latin typeface="Times New Roman" panose="02020603050405020304" pitchFamily="18" charset="0"/>
                <a:cs typeface="Times New Roman" panose="02020603050405020304" pitchFamily="18" charset="0"/>
              </a:rPr>
              <a:t>1K</a:t>
            </a:r>
            <a:r>
              <a:rPr lang="zh-CN" altLang="en-US" kern="0" dirty="0">
                <a:latin typeface="Times New Roman" panose="02020603050405020304" pitchFamily="18" charset="0"/>
                <a:cs typeface="Times New Roman" panose="02020603050405020304" pitchFamily="18" charset="0"/>
              </a:rPr>
              <a:t>电阻再接地，也可用图所示的传统复位电路。</a:t>
            </a:r>
          </a:p>
        </p:txBody>
      </p:sp>
      <p:cxnSp>
        <p:nvCxnSpPr>
          <p:cNvPr id="6" name="直接连接符 5">
            <a:extLst>
              <a:ext uri="{FF2B5EF4-FFF2-40B4-BE49-F238E27FC236}">
                <a16:creationId xmlns:a16="http://schemas.microsoft.com/office/drawing/2014/main" id="{E0A61872-26EE-496B-9089-D36E0809E98B}"/>
              </a:ext>
            </a:extLst>
          </p:cNvPr>
          <p:cNvCxnSpPr>
            <a:cxnSpLocks noChangeShapeType="1"/>
          </p:cNvCxnSpPr>
          <p:nvPr/>
        </p:nvCxnSpPr>
        <p:spPr bwMode="auto">
          <a:xfrm>
            <a:off x="7780338" y="3508375"/>
            <a:ext cx="550862" cy="0"/>
          </a:xfrm>
          <a:prstGeom prst="line">
            <a:avLst/>
          </a:prstGeom>
          <a:noFill/>
          <a:ln w="28575" algn="ctr">
            <a:solidFill>
              <a:srgbClr val="FF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灯片编号占位符 2">
            <a:extLst>
              <a:ext uri="{FF2B5EF4-FFF2-40B4-BE49-F238E27FC236}">
                <a16:creationId xmlns:a16="http://schemas.microsoft.com/office/drawing/2014/main" id="{07DB39B7-D32D-4DD8-B398-E1E85E2F0BB2}"/>
              </a:ext>
            </a:extLst>
          </p:cNvPr>
          <p:cNvSpPr>
            <a:spLocks noGrp="1"/>
          </p:cNvSpPr>
          <p:nvPr>
            <p:ph type="sldNum" sz="quarter" idx="12"/>
          </p:nvPr>
        </p:nvSpPr>
        <p:spPr/>
        <p:txBody>
          <a:bodyPr/>
          <a:lstStyle/>
          <a:p>
            <a:fld id="{22E77DEE-32E4-4009-988B-F2758F7B8AC2}" type="slidenum">
              <a:rPr lang="zh-CN" altLang="en-US" smtClean="0"/>
              <a:t>54</a:t>
            </a:fld>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标题 3">
            <a:extLst>
              <a:ext uri="{FF2B5EF4-FFF2-40B4-BE49-F238E27FC236}">
                <a16:creationId xmlns:a16="http://schemas.microsoft.com/office/drawing/2014/main" id="{02FEF46D-3AE0-4BDB-AF06-B9AF67486C41}"/>
              </a:ext>
            </a:extLst>
          </p:cNvPr>
          <p:cNvSpPr>
            <a:spLocks noGrp="1" noChangeArrowheads="1"/>
          </p:cNvSpPr>
          <p:nvPr>
            <p:ph type="title"/>
          </p:nvPr>
        </p:nvSpPr>
        <p:spPr>
          <a:xfrm>
            <a:off x="607536" y="555625"/>
            <a:ext cx="7827328" cy="504825"/>
          </a:xfrm>
        </p:spPr>
        <p:txBody>
          <a:bodyPr>
            <a:normAutofit fontScale="90000"/>
          </a:bodyPr>
          <a:lstStyle/>
          <a:p>
            <a:pPr eaLnBrk="1" hangingPunct="1"/>
            <a:r>
              <a:rPr lang="zh-CN" altLang="en-US" dirty="0">
                <a:solidFill>
                  <a:srgbClr val="FF0000"/>
                </a:solidFill>
                <a:latin typeface="Times New Roman" panose="02020603050405020304" pitchFamily="18" charset="0"/>
                <a:cs typeface="Times New Roman" panose="02020603050405020304" pitchFamily="18" charset="0"/>
              </a:rPr>
              <a:t>单片机的输入</a:t>
            </a:r>
            <a:r>
              <a:rPr lang="en-US" altLang="zh-CN" dirty="0">
                <a:solidFill>
                  <a:srgbClr val="FF0000"/>
                </a:solidFill>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rPr>
              <a:t>输出（</a:t>
            </a:r>
            <a:r>
              <a:rPr lang="en-US" altLang="zh-CN" dirty="0">
                <a:solidFill>
                  <a:srgbClr val="FF0000"/>
                </a:solidFill>
                <a:latin typeface="Times New Roman" panose="02020603050405020304" pitchFamily="18" charset="0"/>
                <a:cs typeface="Times New Roman" panose="02020603050405020304" pitchFamily="18" charset="0"/>
              </a:rPr>
              <a:t>I/O</a:t>
            </a:r>
            <a:r>
              <a:rPr lang="zh-CN" altLang="en-US" dirty="0">
                <a:solidFill>
                  <a:srgbClr val="FF0000"/>
                </a:solidFill>
                <a:latin typeface="Times New Roman" panose="02020603050405020304" pitchFamily="18" charset="0"/>
                <a:cs typeface="Times New Roman" panose="02020603050405020304" pitchFamily="18" charset="0"/>
              </a:rPr>
              <a:t>）</a:t>
            </a:r>
            <a:r>
              <a:rPr lang="zh-CN" altLang="en-US" dirty="0">
                <a:solidFill>
                  <a:srgbClr val="FF0000"/>
                </a:solidFill>
                <a:latin typeface="Times New Roman" panose="02020603050405020304" pitchFamily="18" charset="0"/>
                <a:cs typeface="Times New Roman" panose="02020603050405020304" pitchFamily="18" charset="0"/>
                <a:hlinkClick r:id="rId2" action="ppaction://hlinksldjump"/>
              </a:rPr>
              <a:t>引脚</a:t>
            </a:r>
            <a:endParaRPr lang="zh-CN" altLang="en-US" dirty="0"/>
          </a:p>
        </p:txBody>
      </p:sp>
      <p:sp>
        <p:nvSpPr>
          <p:cNvPr id="497667" name="Rectangle 3">
            <a:extLst>
              <a:ext uri="{FF2B5EF4-FFF2-40B4-BE49-F238E27FC236}">
                <a16:creationId xmlns:a16="http://schemas.microsoft.com/office/drawing/2014/main" id="{E7A8C8FA-1808-40F3-B961-2B9B9EA786D3}"/>
              </a:ext>
            </a:extLst>
          </p:cNvPr>
          <p:cNvSpPr>
            <a:spLocks noGrp="1" noChangeArrowheads="1"/>
          </p:cNvSpPr>
          <p:nvPr>
            <p:ph idx="1"/>
          </p:nvPr>
        </p:nvSpPr>
        <p:spPr>
          <a:xfrm>
            <a:off x="822961" y="1235710"/>
            <a:ext cx="7409497" cy="2316480"/>
          </a:xfrm>
        </p:spPr>
        <p:txBody>
          <a:bodyPr/>
          <a:lstStyle/>
          <a:p>
            <a:pPr marL="0" indent="0" eaLnBrk="1" hangingPunct="1">
              <a:lnSpc>
                <a:spcPct val="90000"/>
              </a:lnSpc>
              <a:spcBef>
                <a:spcPct val="0"/>
              </a:spcBef>
              <a:spcAft>
                <a:spcPct val="0"/>
              </a:spcAft>
              <a:buFontTx/>
              <a:buNone/>
            </a:pPr>
            <a:r>
              <a:rPr lang="en-US" altLang="zh-CN" dirty="0">
                <a:solidFill>
                  <a:srgbClr val="FF00FF"/>
                </a:solidFill>
              </a:rPr>
              <a:t>LQFP-44</a:t>
            </a:r>
            <a:r>
              <a:rPr lang="zh-CN" altLang="zh-CN" dirty="0">
                <a:solidFill>
                  <a:srgbClr val="FF00FF"/>
                </a:solidFill>
              </a:rPr>
              <a:t>封装</a:t>
            </a:r>
            <a:r>
              <a:rPr lang="zh-CN" altLang="zh-CN" dirty="0"/>
              <a:t>格式的</a:t>
            </a:r>
            <a:r>
              <a:rPr lang="en-US" altLang="zh-CN" dirty="0"/>
              <a:t>IAP15W4K58S4</a:t>
            </a:r>
            <a:r>
              <a:rPr lang="zh-CN" altLang="en-US" dirty="0"/>
              <a:t>单片机</a:t>
            </a:r>
            <a:r>
              <a:rPr lang="zh-CN" altLang="en-US" dirty="0">
                <a:solidFill>
                  <a:srgbClr val="9900CC"/>
                </a:solidFill>
              </a:rPr>
              <a:t>最多可有</a:t>
            </a:r>
            <a:r>
              <a:rPr lang="en-US" altLang="zh-CN" dirty="0">
                <a:solidFill>
                  <a:srgbClr val="9900CC"/>
                </a:solidFill>
                <a:hlinkClick r:id="rId3" action="ppaction://hlinksldjump"/>
              </a:rPr>
              <a:t>42</a:t>
            </a:r>
            <a:r>
              <a:rPr lang="zh-CN" altLang="en-US" dirty="0">
                <a:solidFill>
                  <a:srgbClr val="9900CC"/>
                </a:solidFill>
                <a:hlinkClick r:id="rId3" action="ppaction://hlinksldjump"/>
              </a:rPr>
              <a:t>根</a:t>
            </a:r>
            <a:r>
              <a:rPr lang="en-US" altLang="zh-CN" dirty="0">
                <a:solidFill>
                  <a:srgbClr val="9900CC"/>
                </a:solidFill>
                <a:hlinkClick r:id="rId3" action="ppaction://hlinksldjump"/>
              </a:rPr>
              <a:t>I/O</a:t>
            </a:r>
            <a:r>
              <a:rPr lang="zh-CN" altLang="en-US" dirty="0">
                <a:solidFill>
                  <a:srgbClr val="9900CC"/>
                </a:solidFill>
                <a:hlinkClick r:id="rId3" action="ppaction://hlinksldjump"/>
              </a:rPr>
              <a:t>口</a:t>
            </a:r>
            <a:r>
              <a:rPr lang="zh-CN" altLang="en-US" dirty="0">
                <a:hlinkClick r:id="rId3" action="ppaction://hlinksldjump"/>
              </a:rPr>
              <a:t>线</a:t>
            </a:r>
            <a:r>
              <a:rPr lang="zh-CN" altLang="en-US" dirty="0"/>
              <a:t>：</a:t>
            </a:r>
          </a:p>
          <a:p>
            <a:pPr lvl="1" algn="l" eaLnBrk="1" hangingPunct="1">
              <a:lnSpc>
                <a:spcPct val="90000"/>
              </a:lnSpc>
              <a:spcBef>
                <a:spcPct val="0"/>
              </a:spcBef>
            </a:pPr>
            <a:r>
              <a:rPr lang="en-US" altLang="zh-CN" dirty="0">
                <a:solidFill>
                  <a:srgbClr val="CC3300"/>
                </a:solidFill>
                <a:latin typeface="Times New Roman" panose="02020603050405020304" pitchFamily="18" charset="0"/>
                <a:cs typeface="Times New Roman" panose="02020603050405020304" pitchFamily="18" charset="0"/>
              </a:rPr>
              <a:t>P0</a:t>
            </a:r>
            <a:r>
              <a:rPr lang="zh-CN" altLang="en-US" dirty="0">
                <a:solidFill>
                  <a:srgbClr val="CC3300"/>
                </a:solidFill>
                <a:latin typeface="Times New Roman" panose="02020603050405020304" pitchFamily="18" charset="0"/>
                <a:cs typeface="Times New Roman" panose="02020603050405020304" pitchFamily="18" charset="0"/>
              </a:rPr>
              <a:t>口</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8</a:t>
            </a:r>
            <a:r>
              <a:rPr lang="zh-CN" altLang="en-US" dirty="0">
                <a:latin typeface="Times New Roman" panose="02020603050405020304" pitchFamily="18" charset="0"/>
                <a:cs typeface="Times New Roman" panose="02020603050405020304" pitchFamily="18" charset="0"/>
              </a:rPr>
              <a:t>根）：</a:t>
            </a:r>
            <a:r>
              <a:rPr lang="en-US" altLang="zh-CN" dirty="0">
                <a:latin typeface="Times New Roman" panose="02020603050405020304" pitchFamily="18" charset="0"/>
                <a:cs typeface="Times New Roman" panose="02020603050405020304" pitchFamily="18" charset="0"/>
              </a:rPr>
              <a:t>P0.0~P0.7</a:t>
            </a:r>
          </a:p>
          <a:p>
            <a:pPr lvl="1" algn="l" eaLnBrk="1" hangingPunct="1">
              <a:lnSpc>
                <a:spcPct val="90000"/>
              </a:lnSpc>
              <a:spcBef>
                <a:spcPct val="0"/>
              </a:spcBef>
            </a:pPr>
            <a:r>
              <a:rPr lang="en-US" altLang="zh-CN" dirty="0">
                <a:solidFill>
                  <a:srgbClr val="CC3300"/>
                </a:solidFill>
                <a:latin typeface="Times New Roman" panose="02020603050405020304" pitchFamily="18" charset="0"/>
                <a:cs typeface="Times New Roman" panose="02020603050405020304" pitchFamily="18" charset="0"/>
              </a:rPr>
              <a:t>P1</a:t>
            </a:r>
            <a:r>
              <a:rPr lang="zh-CN" altLang="en-US" dirty="0">
                <a:solidFill>
                  <a:srgbClr val="CC3300"/>
                </a:solidFill>
                <a:latin typeface="Times New Roman" panose="02020603050405020304" pitchFamily="18" charset="0"/>
                <a:cs typeface="Times New Roman" panose="02020603050405020304" pitchFamily="18" charset="0"/>
              </a:rPr>
              <a:t>口</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8</a:t>
            </a:r>
            <a:r>
              <a:rPr lang="zh-CN" altLang="en-US" dirty="0">
                <a:latin typeface="Times New Roman" panose="02020603050405020304" pitchFamily="18" charset="0"/>
                <a:cs typeface="Times New Roman" panose="02020603050405020304" pitchFamily="18" charset="0"/>
              </a:rPr>
              <a:t>根）：</a:t>
            </a:r>
            <a:r>
              <a:rPr lang="en-US" altLang="zh-CN" dirty="0">
                <a:latin typeface="Times New Roman" panose="02020603050405020304" pitchFamily="18" charset="0"/>
                <a:cs typeface="Times New Roman" panose="02020603050405020304" pitchFamily="18" charset="0"/>
              </a:rPr>
              <a:t>P1.0~P1.7</a:t>
            </a:r>
          </a:p>
          <a:p>
            <a:pPr lvl="1" algn="l" eaLnBrk="1" hangingPunct="1">
              <a:lnSpc>
                <a:spcPct val="90000"/>
              </a:lnSpc>
              <a:spcBef>
                <a:spcPct val="0"/>
              </a:spcBef>
            </a:pPr>
            <a:r>
              <a:rPr lang="en-US" altLang="zh-CN" dirty="0">
                <a:solidFill>
                  <a:srgbClr val="CC3300"/>
                </a:solidFill>
                <a:latin typeface="Times New Roman" panose="02020603050405020304" pitchFamily="18" charset="0"/>
                <a:cs typeface="Times New Roman" panose="02020603050405020304" pitchFamily="18" charset="0"/>
              </a:rPr>
              <a:t>P2</a:t>
            </a:r>
            <a:r>
              <a:rPr lang="zh-CN" altLang="en-US" dirty="0">
                <a:solidFill>
                  <a:srgbClr val="CC3300"/>
                </a:solidFill>
                <a:latin typeface="Times New Roman" panose="02020603050405020304" pitchFamily="18" charset="0"/>
                <a:cs typeface="Times New Roman" panose="02020603050405020304" pitchFamily="18" charset="0"/>
              </a:rPr>
              <a:t>口</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8</a:t>
            </a:r>
            <a:r>
              <a:rPr lang="zh-CN" altLang="en-US" dirty="0">
                <a:latin typeface="Times New Roman" panose="02020603050405020304" pitchFamily="18" charset="0"/>
                <a:cs typeface="Times New Roman" panose="02020603050405020304" pitchFamily="18" charset="0"/>
              </a:rPr>
              <a:t>根）：</a:t>
            </a:r>
            <a:r>
              <a:rPr lang="en-US" altLang="zh-CN" dirty="0">
                <a:latin typeface="Times New Roman" panose="02020603050405020304" pitchFamily="18" charset="0"/>
                <a:cs typeface="Times New Roman" panose="02020603050405020304" pitchFamily="18" charset="0"/>
              </a:rPr>
              <a:t>P2.0~P2.7</a:t>
            </a:r>
          </a:p>
          <a:p>
            <a:pPr lvl="1" algn="l" eaLnBrk="1" hangingPunct="1">
              <a:lnSpc>
                <a:spcPct val="90000"/>
              </a:lnSpc>
              <a:spcBef>
                <a:spcPct val="0"/>
              </a:spcBef>
            </a:pPr>
            <a:r>
              <a:rPr lang="en-US" altLang="zh-CN" dirty="0">
                <a:solidFill>
                  <a:srgbClr val="CC3300"/>
                </a:solidFill>
                <a:latin typeface="Times New Roman" panose="02020603050405020304" pitchFamily="18" charset="0"/>
                <a:cs typeface="Times New Roman" panose="02020603050405020304" pitchFamily="18" charset="0"/>
              </a:rPr>
              <a:t>P3</a:t>
            </a:r>
            <a:r>
              <a:rPr lang="zh-CN" altLang="en-US" dirty="0">
                <a:solidFill>
                  <a:srgbClr val="CC3300"/>
                </a:solidFill>
                <a:latin typeface="Times New Roman" panose="02020603050405020304" pitchFamily="18" charset="0"/>
                <a:cs typeface="Times New Roman" panose="02020603050405020304" pitchFamily="18" charset="0"/>
              </a:rPr>
              <a:t>口</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8</a:t>
            </a:r>
            <a:r>
              <a:rPr lang="zh-CN" altLang="en-US" dirty="0">
                <a:latin typeface="Times New Roman" panose="02020603050405020304" pitchFamily="18" charset="0"/>
                <a:cs typeface="Times New Roman" panose="02020603050405020304" pitchFamily="18" charset="0"/>
              </a:rPr>
              <a:t>根）：</a:t>
            </a:r>
            <a:r>
              <a:rPr lang="en-US" altLang="zh-CN" dirty="0">
                <a:latin typeface="Times New Roman" panose="02020603050405020304" pitchFamily="18" charset="0"/>
                <a:cs typeface="Times New Roman" panose="02020603050405020304" pitchFamily="18" charset="0"/>
              </a:rPr>
              <a:t>P3.0~P3.7</a:t>
            </a:r>
          </a:p>
          <a:p>
            <a:pPr lvl="1" algn="l" eaLnBrk="1" hangingPunct="1">
              <a:lnSpc>
                <a:spcPct val="90000"/>
              </a:lnSpc>
              <a:spcBef>
                <a:spcPct val="0"/>
              </a:spcBef>
            </a:pPr>
            <a:r>
              <a:rPr lang="en-US" altLang="zh-CN" dirty="0">
                <a:solidFill>
                  <a:srgbClr val="CC3300"/>
                </a:solidFill>
                <a:latin typeface="Times New Roman" panose="02020603050405020304" pitchFamily="18" charset="0"/>
                <a:cs typeface="Times New Roman" panose="02020603050405020304" pitchFamily="18" charset="0"/>
              </a:rPr>
              <a:t>P4</a:t>
            </a:r>
            <a:r>
              <a:rPr lang="zh-CN" altLang="en-US" dirty="0">
                <a:solidFill>
                  <a:srgbClr val="CC3300"/>
                </a:solidFill>
                <a:latin typeface="Times New Roman" panose="02020603050405020304" pitchFamily="18" charset="0"/>
                <a:cs typeface="Times New Roman" panose="02020603050405020304" pitchFamily="18" charset="0"/>
              </a:rPr>
              <a:t>口</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8</a:t>
            </a:r>
            <a:r>
              <a:rPr lang="zh-CN" altLang="en-US" dirty="0">
                <a:latin typeface="Times New Roman" panose="02020603050405020304" pitchFamily="18" charset="0"/>
                <a:cs typeface="Times New Roman" panose="02020603050405020304" pitchFamily="18" charset="0"/>
              </a:rPr>
              <a:t>根）：</a:t>
            </a:r>
            <a:r>
              <a:rPr lang="en-US" altLang="zh-CN" dirty="0">
                <a:latin typeface="Times New Roman" panose="02020603050405020304" pitchFamily="18" charset="0"/>
                <a:cs typeface="Times New Roman" panose="02020603050405020304" pitchFamily="18" charset="0"/>
              </a:rPr>
              <a:t>P4.0~P4.7</a:t>
            </a:r>
          </a:p>
          <a:p>
            <a:pPr lvl="1" algn="l" eaLnBrk="1" hangingPunct="1">
              <a:lnSpc>
                <a:spcPct val="90000"/>
              </a:lnSpc>
              <a:spcBef>
                <a:spcPct val="0"/>
              </a:spcBef>
            </a:pPr>
            <a:r>
              <a:rPr lang="en-US" altLang="zh-CN" dirty="0">
                <a:solidFill>
                  <a:srgbClr val="CC3300"/>
                </a:solidFill>
                <a:latin typeface="Times New Roman" panose="02020603050405020304" pitchFamily="18" charset="0"/>
                <a:cs typeface="Times New Roman" panose="02020603050405020304" pitchFamily="18" charset="0"/>
              </a:rPr>
              <a:t>P5</a:t>
            </a:r>
            <a:r>
              <a:rPr lang="zh-CN" altLang="en-US" dirty="0">
                <a:solidFill>
                  <a:srgbClr val="CC3300"/>
                </a:solidFill>
                <a:latin typeface="Times New Roman" panose="02020603050405020304" pitchFamily="18" charset="0"/>
                <a:cs typeface="Times New Roman" panose="02020603050405020304" pitchFamily="18" charset="0"/>
              </a:rPr>
              <a:t>口</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根）：</a:t>
            </a:r>
            <a:r>
              <a:rPr lang="en-US" altLang="zh-CN" dirty="0">
                <a:latin typeface="Times New Roman" panose="02020603050405020304" pitchFamily="18" charset="0"/>
                <a:cs typeface="Times New Roman" panose="02020603050405020304" pitchFamily="18" charset="0"/>
              </a:rPr>
              <a:t>P5.4</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P5.5</a:t>
            </a:r>
            <a:r>
              <a:rPr lang="zh-CN" altLang="en-US" dirty="0">
                <a:latin typeface="Times New Roman" panose="02020603050405020304" pitchFamily="18" charset="0"/>
                <a:cs typeface="Times New Roman" panose="02020603050405020304" pitchFamily="18" charset="0"/>
              </a:rPr>
              <a:t>。 </a:t>
            </a:r>
          </a:p>
        </p:txBody>
      </p:sp>
      <p:sp>
        <p:nvSpPr>
          <p:cNvPr id="6" name="Rectangle 3">
            <a:extLst>
              <a:ext uri="{FF2B5EF4-FFF2-40B4-BE49-F238E27FC236}">
                <a16:creationId xmlns:a16="http://schemas.microsoft.com/office/drawing/2014/main" id="{D68CFD02-F308-4623-A857-586D801363AF}"/>
              </a:ext>
            </a:extLst>
          </p:cNvPr>
          <p:cNvSpPr txBox="1">
            <a:spLocks noChangeArrowheads="1"/>
          </p:cNvSpPr>
          <p:nvPr/>
        </p:nvSpPr>
        <p:spPr bwMode="auto">
          <a:xfrm>
            <a:off x="388620" y="4094480"/>
            <a:ext cx="8366760" cy="172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4"/>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1938" lvl="1" indent="-261938" algn="l" eaLnBrk="1" hangingPunct="1">
              <a:spcBef>
                <a:spcPts val="0"/>
              </a:spcBef>
              <a:spcAft>
                <a:spcPts val="600"/>
              </a:spcAft>
              <a:tabLst>
                <a:tab pos="261938" algn="l"/>
              </a:tabLst>
              <a:defRPr/>
            </a:pPr>
            <a:r>
              <a:rPr lang="en-US" altLang="zh-CN" kern="0" dirty="0">
                <a:solidFill>
                  <a:srgbClr val="FF0000"/>
                </a:solidFill>
              </a:rPr>
              <a:t>4</a:t>
            </a:r>
            <a:r>
              <a:rPr lang="zh-CN" altLang="en-US" kern="0" dirty="0">
                <a:solidFill>
                  <a:srgbClr val="FF0000"/>
                </a:solidFill>
              </a:rPr>
              <a:t>种模式</a:t>
            </a:r>
            <a:r>
              <a:rPr lang="zh-CN" altLang="en-US" kern="0" dirty="0"/>
              <a:t>：</a:t>
            </a:r>
            <a:r>
              <a:rPr lang="zh-CN" altLang="en-US" kern="0" dirty="0">
                <a:solidFill>
                  <a:srgbClr val="0000CC"/>
                </a:solidFill>
              </a:rPr>
              <a:t>准双向口</a:t>
            </a:r>
            <a:r>
              <a:rPr lang="en-US" altLang="zh-CN" kern="0" dirty="0">
                <a:solidFill>
                  <a:srgbClr val="0000CC"/>
                </a:solidFill>
              </a:rPr>
              <a:t>/</a:t>
            </a:r>
            <a:r>
              <a:rPr lang="zh-CN" altLang="en-US" kern="0" dirty="0">
                <a:solidFill>
                  <a:srgbClr val="0000CC"/>
                </a:solidFill>
              </a:rPr>
              <a:t>弱上拉</a:t>
            </a:r>
            <a:r>
              <a:rPr lang="zh-CN" altLang="en-US" kern="0" dirty="0"/>
              <a:t>，</a:t>
            </a:r>
            <a:r>
              <a:rPr lang="zh-CN" altLang="en-US" kern="0" dirty="0">
                <a:solidFill>
                  <a:srgbClr val="9900CC"/>
                </a:solidFill>
              </a:rPr>
              <a:t>推挽</a:t>
            </a:r>
            <a:r>
              <a:rPr lang="en-US" altLang="zh-CN" kern="0" dirty="0">
                <a:solidFill>
                  <a:srgbClr val="9900CC"/>
                </a:solidFill>
              </a:rPr>
              <a:t>/</a:t>
            </a:r>
            <a:r>
              <a:rPr lang="zh-CN" altLang="en-US" kern="0" dirty="0">
                <a:solidFill>
                  <a:srgbClr val="9900CC"/>
                </a:solidFill>
              </a:rPr>
              <a:t>强上拉</a:t>
            </a:r>
            <a:r>
              <a:rPr lang="zh-CN" altLang="en-US" kern="0" dirty="0"/>
              <a:t>，</a:t>
            </a:r>
            <a:r>
              <a:rPr lang="zh-CN" altLang="en-US" kern="0" dirty="0">
                <a:solidFill>
                  <a:srgbClr val="C00000"/>
                </a:solidFill>
              </a:rPr>
              <a:t>输入</a:t>
            </a:r>
            <a:r>
              <a:rPr lang="en-US" altLang="zh-CN" kern="0" dirty="0">
                <a:solidFill>
                  <a:srgbClr val="C00000"/>
                </a:solidFill>
              </a:rPr>
              <a:t>/</a:t>
            </a:r>
            <a:r>
              <a:rPr lang="zh-CN" altLang="en-US" kern="0" dirty="0">
                <a:solidFill>
                  <a:srgbClr val="C00000"/>
                </a:solidFill>
              </a:rPr>
              <a:t>高阻</a:t>
            </a:r>
            <a:r>
              <a:rPr lang="zh-CN" altLang="en-US" kern="0" dirty="0"/>
              <a:t>和</a:t>
            </a:r>
            <a:r>
              <a:rPr lang="zh-CN" altLang="en-US" kern="0" dirty="0">
                <a:solidFill>
                  <a:srgbClr val="3366FF"/>
                </a:solidFill>
              </a:rPr>
              <a:t>开漏模式</a:t>
            </a:r>
            <a:r>
              <a:rPr lang="zh-CN" altLang="en-US" kern="0" dirty="0"/>
              <a:t>。复位后为准双向口</a:t>
            </a:r>
            <a:r>
              <a:rPr lang="en-US" altLang="zh-CN" kern="0" dirty="0"/>
              <a:t>/</a:t>
            </a:r>
            <a:r>
              <a:rPr lang="zh-CN" altLang="en-US" kern="0" dirty="0"/>
              <a:t>弱上拉模式。</a:t>
            </a:r>
          </a:p>
          <a:p>
            <a:pPr marL="261938" lvl="1" indent="-261938" algn="l" eaLnBrk="1" hangingPunct="1">
              <a:spcBef>
                <a:spcPts val="0"/>
              </a:spcBef>
              <a:spcAft>
                <a:spcPts val="600"/>
              </a:spcAft>
              <a:tabLst>
                <a:tab pos="261938" algn="l"/>
              </a:tabLst>
              <a:defRPr/>
            </a:pPr>
            <a:r>
              <a:rPr lang="zh-CN" altLang="en-US" kern="0" dirty="0"/>
              <a:t>每个口的工作模式由</a:t>
            </a:r>
            <a:r>
              <a:rPr lang="en-US" altLang="zh-CN" kern="0" dirty="0">
                <a:solidFill>
                  <a:srgbClr val="FF0000"/>
                </a:solidFill>
              </a:rPr>
              <a:t>2</a:t>
            </a:r>
            <a:r>
              <a:rPr lang="zh-CN" altLang="en-US" kern="0" dirty="0">
                <a:solidFill>
                  <a:srgbClr val="FF0000"/>
                </a:solidFill>
              </a:rPr>
              <a:t>个控制寄存器</a:t>
            </a:r>
            <a:r>
              <a:rPr lang="zh-CN" altLang="en-US" kern="0" dirty="0"/>
              <a:t>中的相应位控制（</a:t>
            </a:r>
            <a:r>
              <a:rPr lang="en-US" altLang="zh-CN" kern="0" dirty="0">
                <a:solidFill>
                  <a:srgbClr val="FF0000"/>
                </a:solidFill>
              </a:rPr>
              <a:t>PnM0</a:t>
            </a:r>
            <a:r>
              <a:rPr lang="zh-CN" altLang="en-US" kern="0" dirty="0"/>
              <a:t>和</a:t>
            </a:r>
            <a:r>
              <a:rPr lang="en-US" altLang="zh-CN" kern="0" dirty="0">
                <a:solidFill>
                  <a:srgbClr val="FF0000"/>
                </a:solidFill>
              </a:rPr>
              <a:t>PnM1</a:t>
            </a:r>
            <a:r>
              <a:rPr lang="zh-CN" altLang="en-US" kern="0" dirty="0"/>
              <a:t>，</a:t>
            </a:r>
            <a:r>
              <a:rPr lang="en-US" altLang="zh-CN" kern="0" dirty="0"/>
              <a:t>n=0</a:t>
            </a:r>
            <a:r>
              <a:rPr lang="zh-CN" altLang="en-US" kern="0" dirty="0"/>
              <a:t>、</a:t>
            </a:r>
            <a:r>
              <a:rPr lang="en-US" altLang="zh-CN" kern="0" dirty="0"/>
              <a:t>1</a:t>
            </a:r>
            <a:r>
              <a:rPr lang="zh-CN" altLang="en-US" kern="0" dirty="0"/>
              <a:t>、</a:t>
            </a:r>
            <a:r>
              <a:rPr lang="en-US" altLang="zh-CN" kern="0" dirty="0"/>
              <a:t>2</a:t>
            </a:r>
            <a:r>
              <a:rPr lang="zh-CN" altLang="en-US" kern="0" dirty="0"/>
              <a:t>、</a:t>
            </a:r>
            <a:r>
              <a:rPr lang="en-US" altLang="zh-CN" kern="0" dirty="0"/>
              <a:t>3</a:t>
            </a:r>
            <a:r>
              <a:rPr lang="zh-CN" altLang="en-US" kern="0" dirty="0"/>
              <a:t>、</a:t>
            </a:r>
            <a:r>
              <a:rPr lang="en-US" altLang="zh-CN" kern="0" dirty="0"/>
              <a:t>4</a:t>
            </a:r>
            <a:r>
              <a:rPr lang="zh-CN" altLang="en-US" kern="0" dirty="0"/>
              <a:t>、</a:t>
            </a:r>
            <a:r>
              <a:rPr lang="en-US" altLang="zh-CN" kern="0" dirty="0"/>
              <a:t>5</a:t>
            </a:r>
            <a:r>
              <a:rPr lang="zh-CN" altLang="en-US" kern="0" dirty="0"/>
              <a:t>、</a:t>
            </a:r>
            <a:r>
              <a:rPr lang="en-US" altLang="zh-CN" kern="0" dirty="0"/>
              <a:t>6</a:t>
            </a:r>
            <a:r>
              <a:rPr lang="zh-CN" altLang="en-US" kern="0" dirty="0"/>
              <a:t>、</a:t>
            </a:r>
            <a:r>
              <a:rPr lang="en-US" altLang="zh-CN" kern="0" dirty="0"/>
              <a:t>7 </a:t>
            </a:r>
            <a:r>
              <a:rPr lang="zh-CN" altLang="en-US" kern="0" dirty="0"/>
              <a:t>）。</a:t>
            </a:r>
          </a:p>
          <a:p>
            <a:pPr marL="261938" indent="-261938" algn="l" eaLnBrk="1" hangingPunct="1">
              <a:lnSpc>
                <a:spcPct val="100000"/>
              </a:lnSpc>
              <a:spcBef>
                <a:spcPts val="0"/>
              </a:spcBef>
              <a:buFontTx/>
              <a:buNone/>
              <a:tabLst>
                <a:tab pos="261938" algn="l"/>
              </a:tabLst>
              <a:defRPr/>
            </a:pPr>
            <a:endParaRPr lang="en-US" altLang="zh-CN" kern="0" dirty="0"/>
          </a:p>
        </p:txBody>
      </p:sp>
      <p:sp>
        <p:nvSpPr>
          <p:cNvPr id="5" name="矩形 4">
            <a:extLst>
              <a:ext uri="{FF2B5EF4-FFF2-40B4-BE49-F238E27FC236}">
                <a16:creationId xmlns:a16="http://schemas.microsoft.com/office/drawing/2014/main" id="{3BE0AA56-ACDA-4399-9116-D0B5B812C84B}"/>
              </a:ext>
            </a:extLst>
          </p:cNvPr>
          <p:cNvSpPr>
            <a:spLocks noChangeArrowheads="1"/>
          </p:cNvSpPr>
          <p:nvPr/>
        </p:nvSpPr>
        <p:spPr bwMode="auto">
          <a:xfrm>
            <a:off x="607536" y="3429000"/>
            <a:ext cx="3316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FF0000"/>
                </a:solidFill>
              </a:rPr>
              <a:t>1.  I/O</a:t>
            </a:r>
            <a:r>
              <a:rPr lang="zh-CN" altLang="en-US" sz="2800" b="1" dirty="0">
                <a:solidFill>
                  <a:srgbClr val="FF0000"/>
                </a:solidFill>
              </a:rPr>
              <a:t>口的工作模式</a:t>
            </a:r>
            <a:endParaRPr lang="zh-CN" altLang="en-US" sz="2800" b="1" dirty="0"/>
          </a:p>
        </p:txBody>
      </p:sp>
      <p:sp>
        <p:nvSpPr>
          <p:cNvPr id="3" name="灯片编号占位符 2">
            <a:extLst>
              <a:ext uri="{FF2B5EF4-FFF2-40B4-BE49-F238E27FC236}">
                <a16:creationId xmlns:a16="http://schemas.microsoft.com/office/drawing/2014/main" id="{167AA23B-4235-422D-B629-094401CEA1C8}"/>
              </a:ext>
            </a:extLst>
          </p:cNvPr>
          <p:cNvSpPr>
            <a:spLocks noGrp="1"/>
          </p:cNvSpPr>
          <p:nvPr>
            <p:ph type="sldNum" sz="quarter" idx="12"/>
          </p:nvPr>
        </p:nvSpPr>
        <p:spPr/>
        <p:txBody>
          <a:bodyPr/>
          <a:lstStyle/>
          <a:p>
            <a:fld id="{22E77DEE-32E4-4009-988B-F2758F7B8AC2}" type="slidenum">
              <a:rPr lang="zh-CN" altLang="en-US" smtClean="0"/>
              <a:t>55</a:t>
            </a:fld>
            <a:endParaRPr lang="zh-CN" altLang="en-US"/>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9" name="Rectangle 3">
            <a:extLst>
              <a:ext uri="{FF2B5EF4-FFF2-40B4-BE49-F238E27FC236}">
                <a16:creationId xmlns:a16="http://schemas.microsoft.com/office/drawing/2014/main" id="{E83671ED-A9A4-4A7D-809B-DF975D414633}"/>
              </a:ext>
            </a:extLst>
          </p:cNvPr>
          <p:cNvSpPr>
            <a:spLocks noGrp="1" noChangeArrowheads="1"/>
          </p:cNvSpPr>
          <p:nvPr>
            <p:ph idx="1"/>
          </p:nvPr>
        </p:nvSpPr>
        <p:spPr>
          <a:xfrm>
            <a:off x="801688" y="1112839"/>
            <a:ext cx="7185025" cy="1250950"/>
          </a:xfrm>
        </p:spPr>
        <p:txBody>
          <a:bodyPr/>
          <a:lstStyle/>
          <a:p>
            <a:pPr marL="261938" lvl="1" indent="-261938" eaLnBrk="1" hangingPunct="1"/>
            <a:r>
              <a:rPr lang="zh-CN" altLang="en-US" dirty="0">
                <a:latin typeface="Times New Roman" panose="02020603050405020304" pitchFamily="18" charset="0"/>
                <a:cs typeface="Times New Roman" panose="02020603050405020304" pitchFamily="18" charset="0"/>
              </a:rPr>
              <a:t>准双向口有</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个上拉场效应管</a:t>
            </a:r>
            <a:r>
              <a:rPr lang="en-US" altLang="zh-CN" dirty="0">
                <a:solidFill>
                  <a:srgbClr val="FF0000"/>
                </a:solidFill>
                <a:latin typeface="Times New Roman" panose="02020603050405020304" pitchFamily="18" charset="0"/>
                <a:cs typeface="Times New Roman" panose="02020603050405020304" pitchFamily="18" charset="0"/>
              </a:rPr>
              <a:t>T1,T2,T3</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以适应不同需要。其中</a:t>
            </a:r>
            <a:r>
              <a:rPr lang="en-US" altLang="zh-CN" dirty="0">
                <a:latin typeface="Times New Roman" panose="02020603050405020304" pitchFamily="18" charset="0"/>
                <a:cs typeface="Times New Roman" panose="02020603050405020304" pitchFamily="18" charset="0"/>
              </a:rPr>
              <a:t>,</a:t>
            </a:r>
            <a:r>
              <a:rPr lang="en-US" altLang="zh-CN" dirty="0">
                <a:solidFill>
                  <a:srgbClr val="FF00FF"/>
                </a:solidFill>
                <a:latin typeface="Times New Roman" panose="02020603050405020304" pitchFamily="18" charset="0"/>
                <a:cs typeface="Times New Roman" panose="02020603050405020304" pitchFamily="18" charset="0"/>
              </a:rPr>
              <a:t>T1</a:t>
            </a:r>
            <a:r>
              <a:rPr lang="zh-CN" altLang="en-US" dirty="0">
                <a:solidFill>
                  <a:srgbClr val="FF00FF"/>
                </a:solidFill>
                <a:latin typeface="Times New Roman" panose="02020603050405020304" pitchFamily="18" charset="0"/>
                <a:cs typeface="Times New Roman" panose="02020603050405020304" pitchFamily="18" charset="0"/>
              </a:rPr>
              <a:t>称为强上拉</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上拉能力可达</a:t>
            </a:r>
            <a:r>
              <a:rPr lang="en-US" altLang="zh-CN" dirty="0">
                <a:latin typeface="Times New Roman" panose="02020603050405020304" pitchFamily="18" charset="0"/>
                <a:cs typeface="Times New Roman" panose="02020603050405020304" pitchFamily="18" charset="0"/>
              </a:rPr>
              <a:t>20mA; </a:t>
            </a:r>
            <a:r>
              <a:rPr lang="en-US" altLang="zh-CN" dirty="0">
                <a:solidFill>
                  <a:srgbClr val="FF00FF"/>
                </a:solidFill>
                <a:latin typeface="Times New Roman" panose="02020603050405020304" pitchFamily="18" charset="0"/>
                <a:cs typeface="Times New Roman" panose="02020603050405020304" pitchFamily="18" charset="0"/>
              </a:rPr>
              <a:t>T2</a:t>
            </a:r>
            <a:r>
              <a:rPr lang="zh-CN" altLang="en-US" dirty="0">
                <a:solidFill>
                  <a:srgbClr val="FF00FF"/>
                </a:solidFill>
                <a:latin typeface="Times New Roman" panose="02020603050405020304" pitchFamily="18" charset="0"/>
                <a:cs typeface="Times New Roman" panose="02020603050405020304" pitchFamily="18" charset="0"/>
              </a:rPr>
              <a:t>称为极弱上拉</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上拉能力一般为</a:t>
            </a:r>
            <a:r>
              <a:rPr lang="en-US" altLang="zh-CN" dirty="0">
                <a:latin typeface="Times New Roman" panose="02020603050405020304" pitchFamily="18" charset="0"/>
                <a:cs typeface="Times New Roman" panose="02020603050405020304" pitchFamily="18" charset="0"/>
              </a:rPr>
              <a:t>30μA; </a:t>
            </a:r>
            <a:r>
              <a:rPr lang="en-US" altLang="zh-CN" dirty="0">
                <a:solidFill>
                  <a:srgbClr val="FF00FF"/>
                </a:solidFill>
                <a:latin typeface="Times New Roman" panose="02020603050405020304" pitchFamily="18" charset="0"/>
                <a:cs typeface="Times New Roman" panose="02020603050405020304" pitchFamily="18" charset="0"/>
              </a:rPr>
              <a:t>T3</a:t>
            </a:r>
            <a:r>
              <a:rPr lang="zh-CN" altLang="en-US" dirty="0">
                <a:solidFill>
                  <a:srgbClr val="FF00FF"/>
                </a:solidFill>
                <a:latin typeface="Times New Roman" panose="02020603050405020304" pitchFamily="18" charset="0"/>
                <a:cs typeface="Times New Roman" panose="02020603050405020304" pitchFamily="18" charset="0"/>
              </a:rPr>
              <a:t>称为弱上拉</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一般上拉能力为</a:t>
            </a:r>
            <a:r>
              <a:rPr lang="en-US" altLang="zh-CN" dirty="0">
                <a:latin typeface="Times New Roman" panose="02020603050405020304" pitchFamily="18" charset="0"/>
                <a:cs typeface="Times New Roman" panose="02020603050405020304" pitchFamily="18" charset="0"/>
              </a:rPr>
              <a:t>150μA~250μA, </a:t>
            </a:r>
            <a:r>
              <a:rPr lang="zh-CN" altLang="en-US" dirty="0">
                <a:latin typeface="Times New Roman" panose="02020603050405020304" pitchFamily="18" charset="0"/>
                <a:cs typeface="Times New Roman" panose="02020603050405020304" pitchFamily="18" charset="0"/>
              </a:rPr>
              <a:t>典型值为</a:t>
            </a:r>
            <a:r>
              <a:rPr lang="en-US" altLang="zh-CN" dirty="0">
                <a:latin typeface="Times New Roman" panose="02020603050405020304" pitchFamily="18" charset="0"/>
                <a:cs typeface="Times New Roman" panose="02020603050405020304" pitchFamily="18" charset="0"/>
              </a:rPr>
              <a:t>200μA</a:t>
            </a:r>
            <a:r>
              <a:rPr lang="zh-CN" altLang="en-US" dirty="0">
                <a:latin typeface="Times New Roman" panose="02020603050405020304" pitchFamily="18" charset="0"/>
                <a:cs typeface="Times New Roman" panose="02020603050405020304" pitchFamily="18" charset="0"/>
              </a:rPr>
              <a:t>。</a:t>
            </a:r>
            <a:r>
              <a:rPr lang="zh-CN" altLang="en-US" dirty="0">
                <a:solidFill>
                  <a:srgbClr val="3333FF"/>
                </a:solidFill>
                <a:latin typeface="Times New Roman" panose="02020603050405020304" pitchFamily="18" charset="0"/>
                <a:cs typeface="Times New Roman" panose="02020603050405020304" pitchFamily="18" charset="0"/>
              </a:rPr>
              <a:t>输出低电平时，最大灌电流可达</a:t>
            </a:r>
            <a:r>
              <a:rPr lang="en-US" altLang="zh-CN" dirty="0">
                <a:solidFill>
                  <a:srgbClr val="3333FF"/>
                </a:solidFill>
                <a:latin typeface="Times New Roman" panose="02020603050405020304" pitchFamily="18" charset="0"/>
                <a:cs typeface="Times New Roman" panose="02020603050405020304" pitchFamily="18" charset="0"/>
              </a:rPr>
              <a:t>20mA</a:t>
            </a:r>
            <a:r>
              <a:rPr lang="zh-CN" altLang="en-US" dirty="0">
                <a:latin typeface="Times New Roman" panose="02020603050405020304" pitchFamily="18" charset="0"/>
                <a:cs typeface="Times New Roman" panose="02020603050405020304" pitchFamily="18" charset="0"/>
              </a:rPr>
              <a:t>。</a:t>
            </a:r>
          </a:p>
        </p:txBody>
      </p:sp>
      <p:pic>
        <p:nvPicPr>
          <p:cNvPr id="6" name="Picture 189" descr="D:\DOCUME~1\ADMINI~1\LOCALS~1\Temp\HS5ClipImage_56b00a7d.gif">
            <a:extLst>
              <a:ext uri="{FF2B5EF4-FFF2-40B4-BE49-F238E27FC236}">
                <a16:creationId xmlns:a16="http://schemas.microsoft.com/office/drawing/2014/main" id="{0AF0F6A7-3D34-4F0C-8A9D-F7E752BB2C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2558098"/>
            <a:ext cx="8258175" cy="334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a:extLst>
              <a:ext uri="{FF2B5EF4-FFF2-40B4-BE49-F238E27FC236}">
                <a16:creationId xmlns:a16="http://schemas.microsoft.com/office/drawing/2014/main" id="{FAB9D567-6B7B-4B6A-A252-E63C9651F7FD}"/>
              </a:ext>
            </a:extLst>
          </p:cNvPr>
          <p:cNvGrpSpPr>
            <a:grpSpLocks/>
          </p:cNvGrpSpPr>
          <p:nvPr/>
        </p:nvGrpSpPr>
        <p:grpSpPr bwMode="auto">
          <a:xfrm>
            <a:off x="4913312" y="2885123"/>
            <a:ext cx="2887663" cy="655637"/>
            <a:chOff x="5091972" y="2721819"/>
            <a:chExt cx="2888642" cy="656816"/>
          </a:xfrm>
        </p:grpSpPr>
        <p:sp>
          <p:nvSpPr>
            <p:cNvPr id="103456" name="矩形 7">
              <a:extLst>
                <a:ext uri="{FF2B5EF4-FFF2-40B4-BE49-F238E27FC236}">
                  <a16:creationId xmlns:a16="http://schemas.microsoft.com/office/drawing/2014/main" id="{C52A8464-DAC7-4AF8-A0EA-6D674F24D637}"/>
                </a:ext>
              </a:extLst>
            </p:cNvPr>
            <p:cNvSpPr>
              <a:spLocks noChangeArrowheads="1"/>
            </p:cNvSpPr>
            <p:nvPr/>
          </p:nvSpPr>
          <p:spPr bwMode="auto">
            <a:xfrm>
              <a:off x="5091972" y="3009303"/>
              <a:ext cx="4154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强</a:t>
              </a:r>
              <a:endParaRPr lang="zh-CN" altLang="en-US"/>
            </a:p>
          </p:txBody>
        </p:sp>
        <p:sp>
          <p:nvSpPr>
            <p:cNvPr id="103457" name="矩形 8">
              <a:extLst>
                <a:ext uri="{FF2B5EF4-FFF2-40B4-BE49-F238E27FC236}">
                  <a16:creationId xmlns:a16="http://schemas.microsoft.com/office/drawing/2014/main" id="{A5D3F2E1-03AB-4221-84A8-3D971AE1B610}"/>
                </a:ext>
              </a:extLst>
            </p:cNvPr>
            <p:cNvSpPr>
              <a:spLocks noChangeArrowheads="1"/>
            </p:cNvSpPr>
            <p:nvPr/>
          </p:nvSpPr>
          <p:spPr bwMode="auto">
            <a:xfrm>
              <a:off x="6099636" y="2766063"/>
              <a:ext cx="6463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极弱</a:t>
              </a:r>
              <a:endParaRPr lang="zh-CN" altLang="en-US"/>
            </a:p>
          </p:txBody>
        </p:sp>
        <p:sp>
          <p:nvSpPr>
            <p:cNvPr id="103458" name="矩形 9">
              <a:extLst>
                <a:ext uri="{FF2B5EF4-FFF2-40B4-BE49-F238E27FC236}">
                  <a16:creationId xmlns:a16="http://schemas.microsoft.com/office/drawing/2014/main" id="{002BA965-792C-491D-91ED-43D4BF4C8C05}"/>
                </a:ext>
              </a:extLst>
            </p:cNvPr>
            <p:cNvSpPr>
              <a:spLocks noChangeArrowheads="1"/>
            </p:cNvSpPr>
            <p:nvPr/>
          </p:nvSpPr>
          <p:spPr bwMode="auto">
            <a:xfrm>
              <a:off x="7565116" y="2721819"/>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弱</a:t>
              </a:r>
              <a:endParaRPr lang="zh-CN" altLang="en-US"/>
            </a:p>
          </p:txBody>
        </p:sp>
      </p:grpSp>
      <p:sp>
        <p:nvSpPr>
          <p:cNvPr id="11" name="矩形 10">
            <a:extLst>
              <a:ext uri="{FF2B5EF4-FFF2-40B4-BE49-F238E27FC236}">
                <a16:creationId xmlns:a16="http://schemas.microsoft.com/office/drawing/2014/main" id="{E892B146-28E6-44E1-ABF5-96F1C8A5EF3C}"/>
              </a:ext>
            </a:extLst>
          </p:cNvPr>
          <p:cNvSpPr>
            <a:spLocks noChangeArrowheads="1"/>
          </p:cNvSpPr>
          <p:nvPr/>
        </p:nvSpPr>
        <p:spPr bwMode="auto">
          <a:xfrm>
            <a:off x="17462" y="4802823"/>
            <a:ext cx="1951038"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solidFill>
                  <a:srgbClr val="FF0000"/>
                </a:solidFill>
                <a:cs typeface="Times New Roman" panose="02020603050405020304" pitchFamily="18" charset="0"/>
              </a:rPr>
              <a:t>P0</a:t>
            </a:r>
            <a:r>
              <a:rPr lang="zh-CN" altLang="en-US" sz="2400">
                <a:solidFill>
                  <a:srgbClr val="FF0000"/>
                </a:solidFill>
                <a:cs typeface="Times New Roman" panose="02020603050405020304" pitchFamily="18" charset="0"/>
              </a:rPr>
              <a:t>～</a:t>
            </a:r>
            <a:r>
              <a:rPr lang="en-US" altLang="zh-CN" sz="2400">
                <a:solidFill>
                  <a:srgbClr val="FF0000"/>
                </a:solidFill>
                <a:cs typeface="Times New Roman" panose="02020603050405020304" pitchFamily="18" charset="0"/>
              </a:rPr>
              <a:t>P7</a:t>
            </a:r>
            <a:r>
              <a:rPr lang="zh-CN" altLang="en-US" sz="2400">
                <a:solidFill>
                  <a:srgbClr val="FF0000"/>
                </a:solidFill>
                <a:cs typeface="Times New Roman" panose="02020603050405020304" pitchFamily="18" charset="0"/>
              </a:rPr>
              <a:t>口的任一位口线</a:t>
            </a:r>
            <a:endParaRPr lang="zh-CN" altLang="en-US" sz="2400">
              <a:cs typeface="Times New Roman" panose="02020603050405020304" pitchFamily="18" charset="0"/>
            </a:endParaRPr>
          </a:p>
        </p:txBody>
      </p:sp>
      <p:sp>
        <p:nvSpPr>
          <p:cNvPr id="103432" name="标题 3">
            <a:extLst>
              <a:ext uri="{FF2B5EF4-FFF2-40B4-BE49-F238E27FC236}">
                <a16:creationId xmlns:a16="http://schemas.microsoft.com/office/drawing/2014/main" id="{E3DCD49A-DB3C-4F59-99EC-238AE62A5429}"/>
              </a:ext>
            </a:extLst>
          </p:cNvPr>
          <p:cNvSpPr>
            <a:spLocks noGrp="1" noChangeArrowheads="1"/>
          </p:cNvSpPr>
          <p:nvPr>
            <p:ph type="title"/>
          </p:nvPr>
        </p:nvSpPr>
        <p:spPr>
          <a:xfrm>
            <a:off x="0" y="303213"/>
            <a:ext cx="9113838" cy="700087"/>
          </a:xfrm>
          <a:solidFill>
            <a:schemeClr val="bg1"/>
          </a:solidFill>
        </p:spPr>
        <p:txBody>
          <a:bodyPr>
            <a:normAutofit fontScale="90000"/>
          </a:bodyPr>
          <a:lstStyle/>
          <a:p>
            <a:pPr eaLnBrk="1" hangingPunct="1"/>
            <a:br>
              <a:rPr lang="en-US" altLang="zh-CN" sz="2800" dirty="0">
                <a:solidFill>
                  <a:srgbClr val="FF0000"/>
                </a:solidFill>
              </a:rPr>
            </a:br>
            <a:r>
              <a:rPr lang="en-US" altLang="zh-CN" sz="2800" dirty="0">
                <a:solidFill>
                  <a:srgbClr val="FF0000"/>
                </a:solidFill>
              </a:rPr>
              <a:t>  </a:t>
            </a:r>
            <a:r>
              <a:rPr lang="zh-CN" altLang="en-US" sz="2800" dirty="0">
                <a:solidFill>
                  <a:srgbClr val="FF0000"/>
                </a:solidFill>
              </a:rPr>
              <a:t>（</a:t>
            </a:r>
            <a:r>
              <a:rPr lang="en-US" altLang="zh-CN" sz="2800" dirty="0">
                <a:solidFill>
                  <a:srgbClr val="FF0000"/>
                </a:solidFill>
              </a:rPr>
              <a:t>1</a:t>
            </a:r>
            <a:r>
              <a:rPr lang="zh-CN" altLang="en-US" sz="2800" dirty="0">
                <a:solidFill>
                  <a:srgbClr val="FF0000"/>
                </a:solidFill>
              </a:rPr>
              <a:t>）准双向口</a:t>
            </a:r>
            <a:r>
              <a:rPr lang="en-US" altLang="zh-CN" sz="2800" dirty="0">
                <a:solidFill>
                  <a:srgbClr val="FF0000"/>
                </a:solidFill>
              </a:rPr>
              <a:t>(</a:t>
            </a:r>
            <a:r>
              <a:rPr lang="zh-CN" altLang="en-US" sz="2800" dirty="0"/>
              <a:t>弱上拉</a:t>
            </a:r>
            <a:r>
              <a:rPr lang="en-US" altLang="zh-CN" sz="2800" dirty="0">
                <a:solidFill>
                  <a:srgbClr val="FF0000"/>
                </a:solidFill>
              </a:rPr>
              <a:t>)</a:t>
            </a:r>
            <a:r>
              <a:rPr lang="zh-CN" altLang="en-US" sz="2800" dirty="0">
                <a:solidFill>
                  <a:srgbClr val="3D41D1"/>
                </a:solidFill>
              </a:rPr>
              <a:t>工作模式的结构</a:t>
            </a:r>
          </a:p>
        </p:txBody>
      </p:sp>
      <p:sp>
        <p:nvSpPr>
          <p:cNvPr id="17" name="任意多边形 16">
            <a:extLst>
              <a:ext uri="{FF2B5EF4-FFF2-40B4-BE49-F238E27FC236}">
                <a16:creationId xmlns:a16="http://schemas.microsoft.com/office/drawing/2014/main" id="{B4D9925B-0CC6-4141-A94F-577D7D9308F1}"/>
              </a:ext>
            </a:extLst>
          </p:cNvPr>
          <p:cNvSpPr>
            <a:spLocks/>
          </p:cNvSpPr>
          <p:nvPr/>
        </p:nvSpPr>
        <p:spPr bwMode="auto">
          <a:xfrm>
            <a:off x="4718050" y="2978785"/>
            <a:ext cx="2916237" cy="919163"/>
          </a:xfrm>
          <a:custGeom>
            <a:avLst/>
            <a:gdLst>
              <a:gd name="T0" fmla="*/ 1500 w 1792757"/>
              <a:gd name="T1" fmla="*/ 0 h 683441"/>
              <a:gd name="T2" fmla="*/ 460921 w 1792757"/>
              <a:gd name="T3" fmla="*/ 810326 h 683441"/>
              <a:gd name="T4" fmla="*/ 2917061 w 1792757"/>
              <a:gd name="T5" fmla="*/ 888307 h 683441"/>
              <a:gd name="T6" fmla="*/ 0 60000 65536"/>
              <a:gd name="T7" fmla="*/ 0 60000 65536"/>
              <a:gd name="T8" fmla="*/ 0 60000 65536"/>
            </a:gdLst>
            <a:ahLst/>
            <a:cxnLst>
              <a:cxn ang="T6">
                <a:pos x="T0" y="T1"/>
              </a:cxn>
              <a:cxn ang="T7">
                <a:pos x="T2" y="T3"/>
              </a:cxn>
              <a:cxn ang="T8">
                <a:pos x="T4" y="T5"/>
              </a:cxn>
            </a:cxnLst>
            <a:rect l="0" t="0" r="r" b="b"/>
            <a:pathLst>
              <a:path w="1792757" h="683441">
                <a:moveTo>
                  <a:pt x="922" y="0"/>
                </a:moveTo>
                <a:cubicBezTo>
                  <a:pt x="-3046" y="292334"/>
                  <a:pt x="-7015" y="494432"/>
                  <a:pt x="283271" y="603289"/>
                </a:cubicBezTo>
                <a:cubicBezTo>
                  <a:pt x="573557" y="712146"/>
                  <a:pt x="1183157" y="686746"/>
                  <a:pt x="1792757" y="661346"/>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矩形 18">
            <a:extLst>
              <a:ext uri="{FF2B5EF4-FFF2-40B4-BE49-F238E27FC236}">
                <a16:creationId xmlns:a16="http://schemas.microsoft.com/office/drawing/2014/main" id="{F3326478-6027-4E1B-9535-1992C3604BCC}"/>
              </a:ext>
            </a:extLst>
          </p:cNvPr>
          <p:cNvSpPr>
            <a:spLocks noChangeArrowheads="1"/>
          </p:cNvSpPr>
          <p:nvPr/>
        </p:nvSpPr>
        <p:spPr bwMode="auto">
          <a:xfrm>
            <a:off x="6062662" y="2645410"/>
            <a:ext cx="773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cs typeface="Times New Roman" panose="02020603050405020304" pitchFamily="18" charset="0"/>
              </a:rPr>
              <a:t>30μA</a:t>
            </a:r>
            <a:endParaRPr lang="zh-CN" altLang="en-US" sz="2000" b="1">
              <a:solidFill>
                <a:srgbClr val="FF0000"/>
              </a:solidFill>
            </a:endParaRPr>
          </a:p>
        </p:txBody>
      </p:sp>
      <p:sp>
        <p:nvSpPr>
          <p:cNvPr id="20" name="矩形 19">
            <a:extLst>
              <a:ext uri="{FF2B5EF4-FFF2-40B4-BE49-F238E27FC236}">
                <a16:creationId xmlns:a16="http://schemas.microsoft.com/office/drawing/2014/main" id="{733E3AC0-A6A7-41D1-9EFF-68AA04E81B04}"/>
              </a:ext>
            </a:extLst>
          </p:cNvPr>
          <p:cNvSpPr>
            <a:spLocks noChangeArrowheads="1"/>
          </p:cNvSpPr>
          <p:nvPr/>
        </p:nvSpPr>
        <p:spPr bwMode="auto">
          <a:xfrm>
            <a:off x="4672012" y="2842260"/>
            <a:ext cx="841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cs typeface="Times New Roman" panose="02020603050405020304" pitchFamily="18" charset="0"/>
              </a:rPr>
              <a:t>20mA</a:t>
            </a:r>
            <a:endParaRPr lang="zh-CN" altLang="en-US" sz="2000" b="1">
              <a:solidFill>
                <a:srgbClr val="FF0000"/>
              </a:solidFill>
            </a:endParaRPr>
          </a:p>
        </p:txBody>
      </p:sp>
      <p:sp>
        <p:nvSpPr>
          <p:cNvPr id="21" name="矩形 20">
            <a:extLst>
              <a:ext uri="{FF2B5EF4-FFF2-40B4-BE49-F238E27FC236}">
                <a16:creationId xmlns:a16="http://schemas.microsoft.com/office/drawing/2014/main" id="{A6E9AC53-21E8-43E2-B29C-DC128CC724A9}"/>
              </a:ext>
            </a:extLst>
          </p:cNvPr>
          <p:cNvSpPr>
            <a:spLocks noChangeArrowheads="1"/>
          </p:cNvSpPr>
          <p:nvPr/>
        </p:nvSpPr>
        <p:spPr bwMode="auto">
          <a:xfrm>
            <a:off x="7627937" y="2980373"/>
            <a:ext cx="900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cs typeface="Times New Roman" panose="02020603050405020304" pitchFamily="18" charset="0"/>
              </a:rPr>
              <a:t>200μA</a:t>
            </a:r>
            <a:endParaRPr lang="zh-CN" altLang="en-US" sz="2000" b="1">
              <a:solidFill>
                <a:srgbClr val="FF0000"/>
              </a:solidFill>
            </a:endParaRPr>
          </a:p>
        </p:txBody>
      </p:sp>
      <p:grpSp>
        <p:nvGrpSpPr>
          <p:cNvPr id="26" name="组合 25">
            <a:extLst>
              <a:ext uri="{FF2B5EF4-FFF2-40B4-BE49-F238E27FC236}">
                <a16:creationId xmlns:a16="http://schemas.microsoft.com/office/drawing/2014/main" id="{DEA7A157-18AF-4A6F-ACE4-E6F8149C6162}"/>
              </a:ext>
            </a:extLst>
          </p:cNvPr>
          <p:cNvGrpSpPr>
            <a:grpSpLocks/>
          </p:cNvGrpSpPr>
          <p:nvPr/>
        </p:nvGrpSpPr>
        <p:grpSpPr bwMode="auto">
          <a:xfrm>
            <a:off x="8297862" y="3875723"/>
            <a:ext cx="679450" cy="1843087"/>
            <a:chOff x="8330084" y="4626889"/>
            <a:chExt cx="679714" cy="1844515"/>
          </a:xfrm>
        </p:grpSpPr>
        <p:pic>
          <p:nvPicPr>
            <p:cNvPr id="103453" name="图片 15">
              <a:extLst>
                <a:ext uri="{FF2B5EF4-FFF2-40B4-BE49-F238E27FC236}">
                  <a16:creationId xmlns:a16="http://schemas.microsoft.com/office/drawing/2014/main" id="{05906296-8F06-4ABA-9A6D-1E6F51334F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0084" y="5211550"/>
              <a:ext cx="679714" cy="1259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454" name="直接连接符 22">
              <a:extLst>
                <a:ext uri="{FF2B5EF4-FFF2-40B4-BE49-F238E27FC236}">
                  <a16:creationId xmlns:a16="http://schemas.microsoft.com/office/drawing/2014/main" id="{BDEDB20F-35C2-4CDD-866C-393E2F07BEE3}"/>
                </a:ext>
              </a:extLst>
            </p:cNvPr>
            <p:cNvCxnSpPr>
              <a:cxnSpLocks/>
            </p:cNvCxnSpPr>
            <p:nvPr/>
          </p:nvCxnSpPr>
          <p:spPr bwMode="auto">
            <a:xfrm>
              <a:off x="8455741" y="4627084"/>
              <a:ext cx="234497" cy="0"/>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455" name="直接连接符 26">
              <a:extLst>
                <a:ext uri="{FF2B5EF4-FFF2-40B4-BE49-F238E27FC236}">
                  <a16:creationId xmlns:a16="http://schemas.microsoft.com/office/drawing/2014/main" id="{F9B95202-1EEC-4379-85FE-F7CE43007937}"/>
                </a:ext>
              </a:extLst>
            </p:cNvPr>
            <p:cNvCxnSpPr>
              <a:cxnSpLocks/>
              <a:endCxn id="103453" idx="0"/>
            </p:cNvCxnSpPr>
            <p:nvPr/>
          </p:nvCxnSpPr>
          <p:spPr bwMode="auto">
            <a:xfrm>
              <a:off x="8669941" y="4626889"/>
              <a:ext cx="0" cy="584661"/>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1" name="任意多边形 30">
            <a:extLst>
              <a:ext uri="{FF2B5EF4-FFF2-40B4-BE49-F238E27FC236}">
                <a16:creationId xmlns:a16="http://schemas.microsoft.com/office/drawing/2014/main" id="{0CB12F70-2669-45FD-B855-8089764A5404}"/>
              </a:ext>
            </a:extLst>
          </p:cNvPr>
          <p:cNvSpPr>
            <a:spLocks/>
          </p:cNvSpPr>
          <p:nvPr/>
        </p:nvSpPr>
        <p:spPr bwMode="auto">
          <a:xfrm>
            <a:off x="5935662" y="2950210"/>
            <a:ext cx="1722438" cy="947738"/>
          </a:xfrm>
          <a:custGeom>
            <a:avLst/>
            <a:gdLst>
              <a:gd name="T0" fmla="*/ 886 w 1792757"/>
              <a:gd name="T1" fmla="*/ 0 h 683441"/>
              <a:gd name="T2" fmla="*/ 272278 w 1792757"/>
              <a:gd name="T3" fmla="*/ 835600 h 683441"/>
              <a:gd name="T4" fmla="*/ 1723187 w 1792757"/>
              <a:gd name="T5" fmla="*/ 916013 h 683441"/>
              <a:gd name="T6" fmla="*/ 0 60000 65536"/>
              <a:gd name="T7" fmla="*/ 0 60000 65536"/>
              <a:gd name="T8" fmla="*/ 0 60000 65536"/>
            </a:gdLst>
            <a:ahLst/>
            <a:cxnLst>
              <a:cxn ang="T6">
                <a:pos x="T0" y="T1"/>
              </a:cxn>
              <a:cxn ang="T7">
                <a:pos x="T2" y="T3"/>
              </a:cxn>
              <a:cxn ang="T8">
                <a:pos x="T4" y="T5"/>
              </a:cxn>
            </a:cxnLst>
            <a:rect l="0" t="0" r="r" b="b"/>
            <a:pathLst>
              <a:path w="1792757" h="683441">
                <a:moveTo>
                  <a:pt x="922" y="0"/>
                </a:moveTo>
                <a:cubicBezTo>
                  <a:pt x="-3046" y="292334"/>
                  <a:pt x="-7015" y="494432"/>
                  <a:pt x="283271" y="603289"/>
                </a:cubicBezTo>
                <a:cubicBezTo>
                  <a:pt x="573557" y="712146"/>
                  <a:pt x="1183157" y="686746"/>
                  <a:pt x="1792757" y="661346"/>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任意多边形 31">
            <a:extLst>
              <a:ext uri="{FF2B5EF4-FFF2-40B4-BE49-F238E27FC236}">
                <a16:creationId xmlns:a16="http://schemas.microsoft.com/office/drawing/2014/main" id="{56FCF712-BB21-4426-8C9B-15B379C781C7}"/>
              </a:ext>
            </a:extLst>
          </p:cNvPr>
          <p:cNvSpPr>
            <a:spLocks/>
          </p:cNvSpPr>
          <p:nvPr/>
        </p:nvSpPr>
        <p:spPr bwMode="auto">
          <a:xfrm>
            <a:off x="7408862" y="3069273"/>
            <a:ext cx="525463" cy="741362"/>
          </a:xfrm>
          <a:custGeom>
            <a:avLst/>
            <a:gdLst>
              <a:gd name="T0" fmla="*/ 270 w 1792757"/>
              <a:gd name="T1" fmla="*/ 0 h 683441"/>
              <a:gd name="T2" fmla="*/ 82849 w 1792757"/>
              <a:gd name="T3" fmla="*/ 654306 h 683441"/>
              <a:gd name="T4" fmla="*/ 524331 w 1792757"/>
              <a:gd name="T5" fmla="*/ 717273 h 683441"/>
              <a:gd name="T6" fmla="*/ 0 60000 65536"/>
              <a:gd name="T7" fmla="*/ 0 60000 65536"/>
              <a:gd name="T8" fmla="*/ 0 60000 65536"/>
            </a:gdLst>
            <a:ahLst/>
            <a:cxnLst>
              <a:cxn ang="T6">
                <a:pos x="T0" y="T1"/>
              </a:cxn>
              <a:cxn ang="T7">
                <a:pos x="T2" y="T3"/>
              </a:cxn>
              <a:cxn ang="T8">
                <a:pos x="T4" y="T5"/>
              </a:cxn>
            </a:cxnLst>
            <a:rect l="0" t="0" r="r" b="b"/>
            <a:pathLst>
              <a:path w="1792757" h="683441">
                <a:moveTo>
                  <a:pt x="922" y="0"/>
                </a:moveTo>
                <a:cubicBezTo>
                  <a:pt x="-3046" y="292334"/>
                  <a:pt x="-7015" y="494432"/>
                  <a:pt x="283271" y="603289"/>
                </a:cubicBezTo>
                <a:cubicBezTo>
                  <a:pt x="573557" y="712146"/>
                  <a:pt x="1183157" y="686746"/>
                  <a:pt x="1792757" y="661346"/>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16103" name="组合 516102">
            <a:extLst>
              <a:ext uri="{FF2B5EF4-FFF2-40B4-BE49-F238E27FC236}">
                <a16:creationId xmlns:a16="http://schemas.microsoft.com/office/drawing/2014/main" id="{0AD91248-AD22-456D-A853-6D0585D1920F}"/>
              </a:ext>
            </a:extLst>
          </p:cNvPr>
          <p:cNvGrpSpPr>
            <a:grpSpLocks/>
          </p:cNvGrpSpPr>
          <p:nvPr/>
        </p:nvGrpSpPr>
        <p:grpSpPr bwMode="auto">
          <a:xfrm>
            <a:off x="8415337" y="2407285"/>
            <a:ext cx="728663" cy="1473200"/>
            <a:chOff x="8466965" y="3159241"/>
            <a:chExt cx="728995" cy="1473352"/>
          </a:xfrm>
        </p:grpSpPr>
        <p:pic>
          <p:nvPicPr>
            <p:cNvPr id="103450" name="图片 27">
              <a:extLst>
                <a:ext uri="{FF2B5EF4-FFF2-40B4-BE49-F238E27FC236}">
                  <a16:creationId xmlns:a16="http://schemas.microsoft.com/office/drawing/2014/main" id="{53C5A2A4-16DD-4FD9-A8EB-AE5EEE8494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77982" y="3159241"/>
              <a:ext cx="717978" cy="1295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3451" name="直接连接符 33">
              <a:extLst>
                <a:ext uri="{FF2B5EF4-FFF2-40B4-BE49-F238E27FC236}">
                  <a16:creationId xmlns:a16="http://schemas.microsoft.com/office/drawing/2014/main" id="{37D344BD-AE44-45DC-B9E5-A6B8240BC3F6}"/>
                </a:ext>
              </a:extLst>
            </p:cNvPr>
            <p:cNvCxnSpPr>
              <a:cxnSpLocks noChangeShapeType="1"/>
            </p:cNvCxnSpPr>
            <p:nvPr/>
          </p:nvCxnSpPr>
          <p:spPr bwMode="auto">
            <a:xfrm flipV="1">
              <a:off x="8466965" y="4626889"/>
              <a:ext cx="286056" cy="912"/>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3452" name="直接连接符 34">
              <a:extLst>
                <a:ext uri="{FF2B5EF4-FFF2-40B4-BE49-F238E27FC236}">
                  <a16:creationId xmlns:a16="http://schemas.microsoft.com/office/drawing/2014/main" id="{B47E24A6-D5B6-41D9-AF85-D8D322D8118A}"/>
                </a:ext>
              </a:extLst>
            </p:cNvPr>
            <p:cNvCxnSpPr>
              <a:cxnSpLocks noChangeShapeType="1"/>
            </p:cNvCxnSpPr>
            <p:nvPr/>
          </p:nvCxnSpPr>
          <p:spPr bwMode="auto">
            <a:xfrm flipV="1">
              <a:off x="8753021" y="4393765"/>
              <a:ext cx="4480" cy="238828"/>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6" name="任意多边形 45">
            <a:extLst>
              <a:ext uri="{FF2B5EF4-FFF2-40B4-BE49-F238E27FC236}">
                <a16:creationId xmlns:a16="http://schemas.microsoft.com/office/drawing/2014/main" id="{3B32D5E5-1A98-46E9-9030-6649410EAC44}"/>
              </a:ext>
            </a:extLst>
          </p:cNvPr>
          <p:cNvSpPr>
            <a:spLocks/>
          </p:cNvSpPr>
          <p:nvPr/>
        </p:nvSpPr>
        <p:spPr bwMode="auto">
          <a:xfrm flipV="1">
            <a:off x="5948362" y="4013835"/>
            <a:ext cx="1765300" cy="665163"/>
          </a:xfrm>
          <a:custGeom>
            <a:avLst/>
            <a:gdLst>
              <a:gd name="T0" fmla="*/ 5863 w 1797807"/>
              <a:gd name="T1" fmla="*/ 0 h 699131"/>
              <a:gd name="T2" fmla="*/ 236351 w 1797807"/>
              <a:gd name="T3" fmla="*/ 608961 h 699131"/>
              <a:gd name="T4" fmla="*/ 1764889 w 1797807"/>
              <a:gd name="T5" fmla="*/ 664273 h 699131"/>
              <a:gd name="T6" fmla="*/ 0 60000 65536"/>
              <a:gd name="T7" fmla="*/ 0 60000 65536"/>
              <a:gd name="T8" fmla="*/ 0 60000 65536"/>
            </a:gdLst>
            <a:ahLst/>
            <a:cxnLst>
              <a:cxn ang="T6">
                <a:pos x="T0" y="T1"/>
              </a:cxn>
              <a:cxn ang="T7">
                <a:pos x="T2" y="T3"/>
              </a:cxn>
              <a:cxn ang="T8">
                <a:pos x="T4" y="T5"/>
              </a:cxn>
            </a:cxnLst>
            <a:rect l="0" t="0" r="r" b="b"/>
            <a:pathLst>
              <a:path w="1797807" h="699131">
                <a:moveTo>
                  <a:pt x="5972" y="0"/>
                </a:moveTo>
                <a:cubicBezTo>
                  <a:pt x="2004" y="292334"/>
                  <a:pt x="-49527" y="602063"/>
                  <a:pt x="240759" y="639167"/>
                </a:cubicBezTo>
                <a:cubicBezTo>
                  <a:pt x="531045" y="712147"/>
                  <a:pt x="1223877" y="698705"/>
                  <a:pt x="1797807" y="697223"/>
                </a:cubicBezTo>
              </a:path>
            </a:pathLst>
          </a:custGeom>
          <a:noFill/>
          <a:ln w="19050" cap="flat" cmpd="sng" algn="ctr">
            <a:solidFill>
              <a:srgbClr val="3333FF"/>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矩形 46">
            <a:extLst>
              <a:ext uri="{FF2B5EF4-FFF2-40B4-BE49-F238E27FC236}">
                <a16:creationId xmlns:a16="http://schemas.microsoft.com/office/drawing/2014/main" id="{AD581779-219E-4C3A-94CF-C4159F26A992}"/>
              </a:ext>
            </a:extLst>
          </p:cNvPr>
          <p:cNvSpPr>
            <a:spLocks noChangeArrowheads="1"/>
          </p:cNvSpPr>
          <p:nvPr/>
        </p:nvSpPr>
        <p:spPr bwMode="auto">
          <a:xfrm>
            <a:off x="6530975" y="4064635"/>
            <a:ext cx="839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3333FF"/>
                </a:solidFill>
                <a:cs typeface="Times New Roman" panose="02020603050405020304" pitchFamily="18" charset="0"/>
              </a:rPr>
              <a:t>20mA</a:t>
            </a:r>
            <a:endParaRPr lang="zh-CN" altLang="en-US" sz="2000" b="1">
              <a:solidFill>
                <a:srgbClr val="3333FF"/>
              </a:solidFill>
            </a:endParaRPr>
          </a:p>
        </p:txBody>
      </p:sp>
      <p:sp>
        <p:nvSpPr>
          <p:cNvPr id="48" name="矩形 47">
            <a:extLst>
              <a:ext uri="{FF2B5EF4-FFF2-40B4-BE49-F238E27FC236}">
                <a16:creationId xmlns:a16="http://schemas.microsoft.com/office/drawing/2014/main" id="{028F0679-5E2A-4A35-A4CE-A1F6FFBD6D2A}"/>
              </a:ext>
            </a:extLst>
          </p:cNvPr>
          <p:cNvSpPr>
            <a:spLocks noChangeArrowheads="1"/>
          </p:cNvSpPr>
          <p:nvPr/>
        </p:nvSpPr>
        <p:spPr bwMode="auto">
          <a:xfrm>
            <a:off x="1451928" y="3968591"/>
            <a:ext cx="3635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FF0000"/>
                </a:solidFill>
                <a:cs typeface="Times New Roman" panose="02020603050405020304" pitchFamily="18" charset="0"/>
              </a:rPr>
              <a:t>1</a:t>
            </a:r>
            <a:endParaRPr lang="zh-CN" altLang="en-US" sz="2800" b="1" dirty="0">
              <a:solidFill>
                <a:srgbClr val="FF0000"/>
              </a:solidFill>
            </a:endParaRPr>
          </a:p>
        </p:txBody>
      </p:sp>
      <p:sp>
        <p:nvSpPr>
          <p:cNvPr id="49" name="矩形 48">
            <a:extLst>
              <a:ext uri="{FF2B5EF4-FFF2-40B4-BE49-F238E27FC236}">
                <a16:creationId xmlns:a16="http://schemas.microsoft.com/office/drawing/2014/main" id="{0BC35C00-20AC-4D47-A3BA-B5EA6647CBFD}"/>
              </a:ext>
            </a:extLst>
          </p:cNvPr>
          <p:cNvSpPr>
            <a:spLocks noChangeArrowheads="1"/>
          </p:cNvSpPr>
          <p:nvPr/>
        </p:nvSpPr>
        <p:spPr bwMode="auto">
          <a:xfrm>
            <a:off x="5191125" y="4309110"/>
            <a:ext cx="3635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0000"/>
                </a:solidFill>
                <a:cs typeface="Times New Roman" panose="02020603050405020304" pitchFamily="18" charset="0"/>
              </a:rPr>
              <a:t>0</a:t>
            </a:r>
            <a:endParaRPr lang="zh-CN" altLang="en-US" sz="2800" b="1">
              <a:solidFill>
                <a:srgbClr val="FF0000"/>
              </a:solidFill>
            </a:endParaRPr>
          </a:p>
        </p:txBody>
      </p:sp>
      <p:sp>
        <p:nvSpPr>
          <p:cNvPr id="50" name="矩形 49">
            <a:extLst>
              <a:ext uri="{FF2B5EF4-FFF2-40B4-BE49-F238E27FC236}">
                <a16:creationId xmlns:a16="http://schemas.microsoft.com/office/drawing/2014/main" id="{4ACA189C-ACD6-402B-BF0B-465B8B463E38}"/>
              </a:ext>
            </a:extLst>
          </p:cNvPr>
          <p:cNvSpPr>
            <a:spLocks noChangeArrowheads="1"/>
          </p:cNvSpPr>
          <p:nvPr/>
        </p:nvSpPr>
        <p:spPr bwMode="auto">
          <a:xfrm>
            <a:off x="7361237" y="3880485"/>
            <a:ext cx="365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FF0000"/>
                </a:solidFill>
                <a:cs typeface="Times New Roman" panose="02020603050405020304" pitchFamily="18" charset="0"/>
              </a:rPr>
              <a:t>1</a:t>
            </a:r>
            <a:endParaRPr lang="zh-CN" altLang="en-US" sz="2800" b="1">
              <a:solidFill>
                <a:srgbClr val="FF0000"/>
              </a:solidFill>
            </a:endParaRPr>
          </a:p>
        </p:txBody>
      </p:sp>
      <p:sp>
        <p:nvSpPr>
          <p:cNvPr id="51" name="矩形 50">
            <a:extLst>
              <a:ext uri="{FF2B5EF4-FFF2-40B4-BE49-F238E27FC236}">
                <a16:creationId xmlns:a16="http://schemas.microsoft.com/office/drawing/2014/main" id="{E752542C-BD15-4699-B822-DE78E4BC4CD8}"/>
              </a:ext>
            </a:extLst>
          </p:cNvPr>
          <p:cNvSpPr>
            <a:spLocks noChangeArrowheads="1"/>
          </p:cNvSpPr>
          <p:nvPr/>
        </p:nvSpPr>
        <p:spPr bwMode="auto">
          <a:xfrm>
            <a:off x="7469187" y="4105910"/>
            <a:ext cx="3540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3333FF"/>
                </a:solidFill>
                <a:cs typeface="Times New Roman" panose="02020603050405020304" pitchFamily="18" charset="0"/>
              </a:rPr>
              <a:t>0</a:t>
            </a:r>
            <a:endParaRPr lang="zh-CN" altLang="en-US" sz="2800" b="1">
              <a:solidFill>
                <a:srgbClr val="3333FF"/>
              </a:solidFill>
            </a:endParaRPr>
          </a:p>
        </p:txBody>
      </p:sp>
      <p:sp>
        <p:nvSpPr>
          <p:cNvPr id="52" name="矩形 51">
            <a:extLst>
              <a:ext uri="{FF2B5EF4-FFF2-40B4-BE49-F238E27FC236}">
                <a16:creationId xmlns:a16="http://schemas.microsoft.com/office/drawing/2014/main" id="{E956F277-EA17-4E92-9E0A-717CCB4CA973}"/>
              </a:ext>
            </a:extLst>
          </p:cNvPr>
          <p:cNvSpPr>
            <a:spLocks noChangeArrowheads="1"/>
          </p:cNvSpPr>
          <p:nvPr/>
        </p:nvSpPr>
        <p:spPr bwMode="auto">
          <a:xfrm>
            <a:off x="6061921" y="4767103"/>
            <a:ext cx="3635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3333FF"/>
                </a:solidFill>
                <a:cs typeface="Times New Roman" panose="02020603050405020304" pitchFamily="18" charset="0"/>
              </a:rPr>
              <a:t>1</a:t>
            </a:r>
            <a:endParaRPr lang="zh-CN" altLang="en-US" sz="2800" b="1" dirty="0">
              <a:solidFill>
                <a:srgbClr val="3333FF"/>
              </a:solidFill>
            </a:endParaRPr>
          </a:p>
        </p:txBody>
      </p:sp>
      <p:sp>
        <p:nvSpPr>
          <p:cNvPr id="53" name="矩形 52">
            <a:extLst>
              <a:ext uri="{FF2B5EF4-FFF2-40B4-BE49-F238E27FC236}">
                <a16:creationId xmlns:a16="http://schemas.microsoft.com/office/drawing/2014/main" id="{D98CBD0D-0E96-4DE2-B22E-C089F5FE7E0C}"/>
              </a:ext>
            </a:extLst>
          </p:cNvPr>
          <p:cNvSpPr>
            <a:spLocks noChangeArrowheads="1"/>
          </p:cNvSpPr>
          <p:nvPr/>
        </p:nvSpPr>
        <p:spPr bwMode="auto">
          <a:xfrm>
            <a:off x="3656012" y="4776083"/>
            <a:ext cx="3556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3333FF"/>
                </a:solidFill>
                <a:cs typeface="Times New Roman" panose="02020603050405020304" pitchFamily="18" charset="0"/>
              </a:rPr>
              <a:t>0</a:t>
            </a:r>
            <a:endParaRPr lang="zh-CN" altLang="en-US" sz="2800" b="1" dirty="0">
              <a:solidFill>
                <a:srgbClr val="3333FF"/>
              </a:solidFill>
            </a:endParaRPr>
          </a:p>
        </p:txBody>
      </p:sp>
      <p:sp>
        <p:nvSpPr>
          <p:cNvPr id="3" name="灯片编号占位符 2">
            <a:extLst>
              <a:ext uri="{FF2B5EF4-FFF2-40B4-BE49-F238E27FC236}">
                <a16:creationId xmlns:a16="http://schemas.microsoft.com/office/drawing/2014/main" id="{2C4B565E-EB8C-4DFB-A8BD-DC3026805F1F}"/>
              </a:ext>
            </a:extLst>
          </p:cNvPr>
          <p:cNvSpPr>
            <a:spLocks noGrp="1"/>
          </p:cNvSpPr>
          <p:nvPr>
            <p:ph type="sldNum" sz="quarter" idx="12"/>
          </p:nvPr>
        </p:nvSpPr>
        <p:spPr/>
        <p:txBody>
          <a:bodyPr/>
          <a:lstStyle/>
          <a:p>
            <a:fld id="{22E77DEE-32E4-4009-988B-F2758F7B8AC2}" type="slidenum">
              <a:rPr lang="zh-CN" altLang="en-US" smtClean="0"/>
              <a:t>56</a:t>
            </a:fld>
            <a:endParaRPr lang="zh-CN"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3">
            <a:extLst>
              <a:ext uri="{FF2B5EF4-FFF2-40B4-BE49-F238E27FC236}">
                <a16:creationId xmlns:a16="http://schemas.microsoft.com/office/drawing/2014/main" id="{89E8B184-3FAE-4061-850C-EB43660D6E7C}"/>
              </a:ext>
            </a:extLst>
          </p:cNvPr>
          <p:cNvSpPr>
            <a:spLocks noGrp="1" noChangeArrowheads="1"/>
          </p:cNvSpPr>
          <p:nvPr>
            <p:ph type="title"/>
          </p:nvPr>
        </p:nvSpPr>
        <p:spPr>
          <a:xfrm>
            <a:off x="284163" y="347663"/>
            <a:ext cx="8229600" cy="504825"/>
          </a:xfrm>
        </p:spPr>
        <p:txBody>
          <a:bodyPr>
            <a:normAutofit fontScale="90000"/>
          </a:bodyPr>
          <a:lstStyle/>
          <a:p>
            <a:pPr eaLnBrk="1" hangingPunct="1"/>
            <a:r>
              <a:rPr lang="zh-CN" altLang="en-US" dirty="0">
                <a:solidFill>
                  <a:srgbClr val="FF0000"/>
                </a:solidFill>
              </a:rPr>
              <a:t>准双向口</a:t>
            </a:r>
            <a:r>
              <a:rPr lang="en-US" altLang="zh-CN" dirty="0">
                <a:solidFill>
                  <a:srgbClr val="FF0000"/>
                </a:solidFill>
              </a:rPr>
              <a:t>(</a:t>
            </a:r>
            <a:r>
              <a:rPr lang="zh-CN" altLang="en-US" dirty="0"/>
              <a:t>弱上拉</a:t>
            </a:r>
            <a:r>
              <a:rPr lang="en-US" altLang="zh-CN" dirty="0">
                <a:solidFill>
                  <a:srgbClr val="FF0000"/>
                </a:solidFill>
              </a:rPr>
              <a:t>)</a:t>
            </a:r>
            <a:r>
              <a:rPr lang="zh-CN" altLang="en-US" dirty="0">
                <a:solidFill>
                  <a:srgbClr val="FF0000"/>
                </a:solidFill>
              </a:rPr>
              <a:t>工作模式的结构</a:t>
            </a:r>
            <a:endParaRPr lang="zh-CN" altLang="en-US" sz="2800" dirty="0">
              <a:solidFill>
                <a:srgbClr val="FF0000"/>
              </a:solidFill>
            </a:endParaRPr>
          </a:p>
        </p:txBody>
      </p:sp>
      <p:sp>
        <p:nvSpPr>
          <p:cNvPr id="618499" name="Rectangle 3">
            <a:extLst>
              <a:ext uri="{FF2B5EF4-FFF2-40B4-BE49-F238E27FC236}">
                <a16:creationId xmlns:a16="http://schemas.microsoft.com/office/drawing/2014/main" id="{4F480C82-7BE4-4496-8F5A-1F424E8DFE6C}"/>
              </a:ext>
            </a:extLst>
          </p:cNvPr>
          <p:cNvSpPr>
            <a:spLocks noGrp="1" noChangeArrowheads="1"/>
          </p:cNvSpPr>
          <p:nvPr>
            <p:ph idx="1"/>
          </p:nvPr>
        </p:nvSpPr>
        <p:spPr>
          <a:xfrm>
            <a:off x="323850" y="1460313"/>
            <a:ext cx="8777288" cy="2520167"/>
          </a:xfrm>
        </p:spPr>
        <p:txBody>
          <a:bodyPr/>
          <a:lstStyle/>
          <a:p>
            <a:pPr marL="261938" lvl="1" indent="-261938" algn="l" eaLnBrk="1" hangingPunct="1">
              <a:lnSpc>
                <a:spcPct val="90000"/>
              </a:lnSpc>
              <a:spcBef>
                <a:spcPct val="0"/>
              </a:spcBef>
              <a:spcAft>
                <a:spcPts val="200"/>
              </a:spcAft>
            </a:pPr>
            <a:r>
              <a:rPr lang="zh-CN" altLang="en-US" dirty="0">
                <a:solidFill>
                  <a:srgbClr val="FF0000"/>
                </a:solidFill>
                <a:latin typeface="Times New Roman" panose="02020603050405020304" pitchFamily="18" charset="0"/>
                <a:cs typeface="Times New Roman" panose="02020603050405020304" pitchFamily="18" charset="0"/>
              </a:rPr>
              <a:t>每个端口都含一个锁存器</a:t>
            </a:r>
            <a:r>
              <a:rPr lang="en-US" altLang="zh-CN" dirty="0">
                <a:solidFill>
                  <a:srgbClr val="FF0000"/>
                </a:solidFill>
                <a:latin typeface="Times New Roman" panose="02020603050405020304" pitchFamily="18" charset="0"/>
                <a:cs typeface="Times New Roman" panose="02020603050405020304" pitchFamily="18" charset="0"/>
              </a:rPr>
              <a:t>, </a:t>
            </a:r>
            <a:r>
              <a:rPr lang="zh-CN" altLang="en-US" dirty="0">
                <a:solidFill>
                  <a:srgbClr val="FF0000"/>
                </a:solidFill>
                <a:latin typeface="Times New Roman" panose="02020603050405020304" pitchFamily="18" charset="0"/>
                <a:cs typeface="Times New Roman" panose="02020603050405020304" pitchFamily="18" charset="0"/>
              </a:rPr>
              <a:t>即</a:t>
            </a:r>
            <a:r>
              <a:rPr lang="zh-CN" altLang="en-US" dirty="0">
                <a:solidFill>
                  <a:srgbClr val="FF0000"/>
                </a:solidFill>
                <a:latin typeface="Times New Roman" panose="02020603050405020304" pitchFamily="18" charset="0"/>
                <a:cs typeface="Times New Roman" panose="02020603050405020304" pitchFamily="18" charset="0"/>
                <a:hlinkClick r:id="rId2" action="ppaction://hlinksldjump"/>
              </a:rPr>
              <a:t>特殊功能寄存器</a:t>
            </a:r>
            <a:r>
              <a:rPr lang="en-US" altLang="zh-CN" dirty="0">
                <a:solidFill>
                  <a:srgbClr val="FF0000"/>
                </a:solidFill>
                <a:latin typeface="Times New Roman" panose="02020603050405020304" pitchFamily="18" charset="0"/>
                <a:cs typeface="Times New Roman" panose="02020603050405020304" pitchFamily="18" charset="0"/>
              </a:rPr>
              <a:t>P0</a:t>
            </a:r>
            <a:r>
              <a:rPr lang="zh-CN" altLang="en-US" dirty="0">
                <a:solidFill>
                  <a:srgbClr val="FF0000"/>
                </a:solidFill>
                <a:latin typeface="Times New Roman" panose="02020603050405020304" pitchFamily="18" charset="0"/>
                <a:cs typeface="Times New Roman" panose="02020603050405020304" pitchFamily="18" charset="0"/>
              </a:rPr>
              <a:t>～</a:t>
            </a:r>
            <a:r>
              <a:rPr lang="en-US" altLang="zh-CN" dirty="0">
                <a:solidFill>
                  <a:srgbClr val="FF0000"/>
                </a:solidFill>
                <a:latin typeface="Times New Roman" panose="02020603050405020304" pitchFamily="18" charset="0"/>
                <a:cs typeface="Times New Roman" panose="02020603050405020304" pitchFamily="18" charset="0"/>
              </a:rPr>
              <a:t>P7</a:t>
            </a:r>
            <a:r>
              <a:rPr lang="zh-CN" altLang="en-US" dirty="0">
                <a:latin typeface="Times New Roman" panose="02020603050405020304" pitchFamily="18" charset="0"/>
                <a:cs typeface="Times New Roman" panose="02020603050405020304" pitchFamily="18" charset="0"/>
              </a:rPr>
              <a:t>。这种结构在</a:t>
            </a:r>
            <a:r>
              <a:rPr lang="zh-CN" altLang="en-US" dirty="0">
                <a:solidFill>
                  <a:srgbClr val="0000CC"/>
                </a:solidFill>
                <a:latin typeface="Times New Roman" panose="02020603050405020304" pitchFamily="18" charset="0"/>
                <a:cs typeface="Times New Roman" panose="02020603050405020304" pitchFamily="18" charset="0"/>
              </a:rPr>
              <a:t>数据输出时，具有锁存功能</a:t>
            </a:r>
            <a:r>
              <a:rPr lang="zh-CN" altLang="en-US" dirty="0">
                <a:latin typeface="Times New Roman" panose="02020603050405020304" pitchFamily="18" charset="0"/>
                <a:cs typeface="Times New Roman" panose="02020603050405020304" pitchFamily="18" charset="0"/>
              </a:rPr>
              <a:t>，即在重新输出新的数据之前，口线上的数据一直保持不变。</a:t>
            </a:r>
            <a:endParaRPr lang="en-US" altLang="zh-CN" dirty="0">
              <a:latin typeface="Times New Roman" panose="02020603050405020304" pitchFamily="18" charset="0"/>
              <a:cs typeface="Times New Roman" panose="02020603050405020304" pitchFamily="18" charset="0"/>
            </a:endParaRPr>
          </a:p>
          <a:p>
            <a:pPr marL="261938" lvl="1" indent="-261938" eaLnBrk="1" hangingPunct="1">
              <a:lnSpc>
                <a:spcPct val="90000"/>
              </a:lnSpc>
              <a:spcBef>
                <a:spcPct val="0"/>
              </a:spcBef>
              <a:spcAft>
                <a:spcPts val="200"/>
              </a:spcAft>
            </a:pPr>
            <a:r>
              <a:rPr lang="zh-CN" altLang="en-US" dirty="0">
                <a:latin typeface="Times New Roman" panose="02020603050405020304" pitchFamily="18" charset="0"/>
                <a:cs typeface="Times New Roman" panose="02020603050405020304" pitchFamily="18" charset="0"/>
              </a:rPr>
              <a:t>但</a:t>
            </a:r>
            <a:r>
              <a:rPr lang="zh-CN" altLang="en-US" dirty="0">
                <a:solidFill>
                  <a:srgbClr val="0000CC"/>
                </a:solidFill>
                <a:latin typeface="Times New Roman" panose="02020603050405020304" pitchFamily="18" charset="0"/>
                <a:cs typeface="Times New Roman" panose="02020603050405020304" pitchFamily="18" charset="0"/>
              </a:rPr>
              <a:t>对输入信号是不锁存</a:t>
            </a:r>
            <a:r>
              <a:rPr lang="zh-CN" altLang="en-US" dirty="0">
                <a:latin typeface="Times New Roman" panose="02020603050405020304" pitchFamily="18" charset="0"/>
                <a:cs typeface="Times New Roman" panose="02020603050405020304" pitchFamily="18" charset="0"/>
              </a:rPr>
              <a:t>的，所以外设输入的数据必须保持到取数指令执行为止。</a:t>
            </a:r>
            <a:endParaRPr lang="en-US" altLang="zh-CN" dirty="0">
              <a:latin typeface="Times New Roman" panose="02020603050405020304" pitchFamily="18" charset="0"/>
              <a:cs typeface="Times New Roman" panose="02020603050405020304" pitchFamily="18" charset="0"/>
            </a:endParaRPr>
          </a:p>
        </p:txBody>
      </p:sp>
      <p:pic>
        <p:nvPicPr>
          <p:cNvPr id="7" name="Picture 189" descr="D:\DOCUME~1\ADMINI~1\LOCALS~1\Temp\HS5ClipImage_56b00a7d.gif">
            <a:extLst>
              <a:ext uri="{FF2B5EF4-FFF2-40B4-BE49-F238E27FC236}">
                <a16:creationId xmlns:a16="http://schemas.microsoft.com/office/drawing/2014/main" id="{75374C1A-01CB-4224-A3D4-EFA6D1B36F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4" y="3222782"/>
            <a:ext cx="8258175" cy="301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4143A48B-AFA4-4FD3-AE0C-42846BFAFA65}"/>
              </a:ext>
            </a:extLst>
          </p:cNvPr>
          <p:cNvSpPr>
            <a:spLocks noChangeArrowheads="1"/>
          </p:cNvSpPr>
          <p:nvPr/>
        </p:nvSpPr>
        <p:spPr bwMode="auto">
          <a:xfrm>
            <a:off x="42862" y="5154770"/>
            <a:ext cx="20066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solidFill>
                  <a:srgbClr val="FF0000"/>
                </a:solidFill>
                <a:cs typeface="Times New Roman" panose="02020603050405020304" pitchFamily="18" charset="0"/>
              </a:rPr>
              <a:t>P0</a:t>
            </a:r>
            <a:r>
              <a:rPr lang="zh-CN" altLang="en-US" sz="2400">
                <a:solidFill>
                  <a:srgbClr val="FF0000"/>
                </a:solidFill>
                <a:cs typeface="Times New Roman" panose="02020603050405020304" pitchFamily="18" charset="0"/>
              </a:rPr>
              <a:t>～</a:t>
            </a:r>
            <a:r>
              <a:rPr lang="en-US" altLang="zh-CN" sz="2400">
                <a:solidFill>
                  <a:srgbClr val="FF0000"/>
                </a:solidFill>
                <a:cs typeface="Times New Roman" panose="02020603050405020304" pitchFamily="18" charset="0"/>
              </a:rPr>
              <a:t>P7</a:t>
            </a:r>
            <a:r>
              <a:rPr lang="zh-CN" altLang="en-US" sz="2400">
                <a:solidFill>
                  <a:srgbClr val="FF0000"/>
                </a:solidFill>
                <a:cs typeface="Times New Roman" panose="02020603050405020304" pitchFamily="18" charset="0"/>
              </a:rPr>
              <a:t>口的任一位口线</a:t>
            </a:r>
            <a:endParaRPr lang="zh-CN" altLang="en-US" sz="2400">
              <a:cs typeface="Times New Roman" panose="02020603050405020304" pitchFamily="18" charset="0"/>
            </a:endParaRPr>
          </a:p>
        </p:txBody>
      </p:sp>
      <p:sp>
        <p:nvSpPr>
          <p:cNvPr id="6" name="Rectangle 3">
            <a:extLst>
              <a:ext uri="{FF2B5EF4-FFF2-40B4-BE49-F238E27FC236}">
                <a16:creationId xmlns:a16="http://schemas.microsoft.com/office/drawing/2014/main" id="{76A3D602-866E-4C57-9239-7743A2EF38CE}"/>
              </a:ext>
            </a:extLst>
          </p:cNvPr>
          <p:cNvSpPr txBox="1">
            <a:spLocks noChangeArrowheads="1"/>
          </p:cNvSpPr>
          <p:nvPr/>
        </p:nvSpPr>
        <p:spPr bwMode="auto">
          <a:xfrm>
            <a:off x="120752" y="2357584"/>
            <a:ext cx="8980386" cy="930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4"/>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1938" lvl="1" indent="-261938" algn="l" eaLnBrk="1" hangingPunct="1">
              <a:lnSpc>
                <a:spcPct val="90000"/>
              </a:lnSpc>
              <a:spcBef>
                <a:spcPts val="0"/>
              </a:spcBef>
              <a:spcAft>
                <a:spcPts val="0"/>
              </a:spcAft>
              <a:defRPr/>
            </a:pPr>
            <a:r>
              <a:rPr lang="zh-CN" altLang="en-US" kern="0" dirty="0"/>
              <a:t>为了便于叙述，以后将</a:t>
            </a:r>
            <a:r>
              <a:rPr lang="en-US" altLang="zh-CN" kern="0" dirty="0">
                <a:solidFill>
                  <a:srgbClr val="FF0000"/>
                </a:solidFill>
              </a:rPr>
              <a:t>8</a:t>
            </a:r>
            <a:r>
              <a:rPr lang="zh-CN" altLang="en-US" kern="0" dirty="0">
                <a:solidFill>
                  <a:srgbClr val="FF0000"/>
                </a:solidFill>
              </a:rPr>
              <a:t>个端口引脚</a:t>
            </a:r>
            <a:r>
              <a:rPr lang="zh-CN" altLang="en-US" kern="0" dirty="0">
                <a:solidFill>
                  <a:srgbClr val="FF00FF"/>
                </a:solidFill>
              </a:rPr>
              <a:t>及其锁存器</a:t>
            </a:r>
            <a:r>
              <a:rPr lang="zh-CN" altLang="en-US" kern="0" dirty="0">
                <a:solidFill>
                  <a:srgbClr val="FF0000"/>
                </a:solidFill>
              </a:rPr>
              <a:t>都表示为</a:t>
            </a:r>
            <a:r>
              <a:rPr lang="en-US" altLang="zh-CN" kern="0" dirty="0">
                <a:solidFill>
                  <a:srgbClr val="FF0000"/>
                </a:solidFill>
              </a:rPr>
              <a:t>P0</a:t>
            </a:r>
            <a:r>
              <a:rPr lang="zh-CN" altLang="en-US" kern="0" dirty="0">
                <a:solidFill>
                  <a:srgbClr val="FF0000"/>
                </a:solidFill>
              </a:rPr>
              <a:t>～</a:t>
            </a:r>
            <a:r>
              <a:rPr lang="en-US" altLang="zh-CN" kern="0" dirty="0">
                <a:solidFill>
                  <a:srgbClr val="FF0000"/>
                </a:solidFill>
              </a:rPr>
              <a:t>P7</a:t>
            </a:r>
            <a:r>
              <a:rPr lang="zh-CN" altLang="en-US" kern="0" dirty="0"/>
              <a:t>。</a:t>
            </a:r>
          </a:p>
        </p:txBody>
      </p:sp>
      <p:grpSp>
        <p:nvGrpSpPr>
          <p:cNvPr id="9" name="组合 8">
            <a:extLst>
              <a:ext uri="{FF2B5EF4-FFF2-40B4-BE49-F238E27FC236}">
                <a16:creationId xmlns:a16="http://schemas.microsoft.com/office/drawing/2014/main" id="{9EB9432D-272D-4162-9A9B-AB5211B29C87}"/>
              </a:ext>
            </a:extLst>
          </p:cNvPr>
          <p:cNvGrpSpPr>
            <a:grpSpLocks/>
          </p:cNvGrpSpPr>
          <p:nvPr/>
        </p:nvGrpSpPr>
        <p:grpSpPr bwMode="auto">
          <a:xfrm>
            <a:off x="8423274" y="3064032"/>
            <a:ext cx="681038" cy="1412875"/>
            <a:chOff x="8466965" y="3220133"/>
            <a:chExt cx="682399" cy="1412460"/>
          </a:xfrm>
        </p:grpSpPr>
        <p:pic>
          <p:nvPicPr>
            <p:cNvPr id="105528" name="图片 9">
              <a:extLst>
                <a:ext uri="{FF2B5EF4-FFF2-40B4-BE49-F238E27FC236}">
                  <a16:creationId xmlns:a16="http://schemas.microsoft.com/office/drawing/2014/main" id="{B61D58D0-E314-4985-A370-75D825CB86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89545" y="3220133"/>
              <a:ext cx="659819" cy="119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5529" name="直接连接符 10">
              <a:extLst>
                <a:ext uri="{FF2B5EF4-FFF2-40B4-BE49-F238E27FC236}">
                  <a16:creationId xmlns:a16="http://schemas.microsoft.com/office/drawing/2014/main" id="{74B3B8B1-ADC6-4903-86FC-4EE2408C3BB6}"/>
                </a:ext>
              </a:extLst>
            </p:cNvPr>
            <p:cNvCxnSpPr>
              <a:cxnSpLocks noChangeShapeType="1"/>
            </p:cNvCxnSpPr>
            <p:nvPr/>
          </p:nvCxnSpPr>
          <p:spPr bwMode="auto">
            <a:xfrm flipV="1">
              <a:off x="8466965" y="4626889"/>
              <a:ext cx="286056" cy="912"/>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530" name="直接连接符 11">
              <a:extLst>
                <a:ext uri="{FF2B5EF4-FFF2-40B4-BE49-F238E27FC236}">
                  <a16:creationId xmlns:a16="http://schemas.microsoft.com/office/drawing/2014/main" id="{E780FF8F-88E9-45D5-B6FC-D1FDA40B2FC2}"/>
                </a:ext>
              </a:extLst>
            </p:cNvPr>
            <p:cNvCxnSpPr>
              <a:cxnSpLocks noChangeShapeType="1"/>
            </p:cNvCxnSpPr>
            <p:nvPr/>
          </p:nvCxnSpPr>
          <p:spPr bwMode="auto">
            <a:xfrm flipV="1">
              <a:off x="8742004" y="4393765"/>
              <a:ext cx="4480" cy="238828"/>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 name="任意多边形 12">
            <a:extLst>
              <a:ext uri="{FF2B5EF4-FFF2-40B4-BE49-F238E27FC236}">
                <a16:creationId xmlns:a16="http://schemas.microsoft.com/office/drawing/2014/main" id="{8A6B12EE-1AA0-4B78-9ABC-760C54826906}"/>
              </a:ext>
            </a:extLst>
          </p:cNvPr>
          <p:cNvSpPr>
            <a:spLocks/>
          </p:cNvSpPr>
          <p:nvPr/>
        </p:nvSpPr>
        <p:spPr bwMode="auto">
          <a:xfrm flipV="1">
            <a:off x="5967412" y="4575332"/>
            <a:ext cx="1763712" cy="604838"/>
          </a:xfrm>
          <a:custGeom>
            <a:avLst/>
            <a:gdLst>
              <a:gd name="T0" fmla="*/ 5863 w 1797807"/>
              <a:gd name="T1" fmla="*/ 0 h 699131"/>
              <a:gd name="T2" fmla="*/ 236351 w 1797807"/>
              <a:gd name="T3" fmla="*/ 552312 h 699131"/>
              <a:gd name="T4" fmla="*/ 1764889 w 1797807"/>
              <a:gd name="T5" fmla="*/ 602479 h 699131"/>
              <a:gd name="T6" fmla="*/ 0 60000 65536"/>
              <a:gd name="T7" fmla="*/ 0 60000 65536"/>
              <a:gd name="T8" fmla="*/ 0 60000 65536"/>
            </a:gdLst>
            <a:ahLst/>
            <a:cxnLst>
              <a:cxn ang="T6">
                <a:pos x="T0" y="T1"/>
              </a:cxn>
              <a:cxn ang="T7">
                <a:pos x="T2" y="T3"/>
              </a:cxn>
              <a:cxn ang="T8">
                <a:pos x="T4" y="T5"/>
              </a:cxn>
            </a:cxnLst>
            <a:rect l="0" t="0" r="r" b="b"/>
            <a:pathLst>
              <a:path w="1797807" h="699131">
                <a:moveTo>
                  <a:pt x="5972" y="0"/>
                </a:moveTo>
                <a:cubicBezTo>
                  <a:pt x="2004" y="292334"/>
                  <a:pt x="-49527" y="602063"/>
                  <a:pt x="240759" y="639167"/>
                </a:cubicBezTo>
                <a:cubicBezTo>
                  <a:pt x="531045" y="712147"/>
                  <a:pt x="1223877" y="698705"/>
                  <a:pt x="1797807" y="697223"/>
                </a:cubicBezTo>
              </a:path>
            </a:pathLst>
          </a:custGeom>
          <a:noFill/>
          <a:ln w="19050" cap="flat" cmpd="sng" algn="ctr">
            <a:solidFill>
              <a:srgbClr val="3333FF"/>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矩形 13">
            <a:extLst>
              <a:ext uri="{FF2B5EF4-FFF2-40B4-BE49-F238E27FC236}">
                <a16:creationId xmlns:a16="http://schemas.microsoft.com/office/drawing/2014/main" id="{FE1693E6-42DF-486C-8993-00F1731FBA79}"/>
              </a:ext>
            </a:extLst>
          </p:cNvPr>
          <p:cNvSpPr>
            <a:spLocks noChangeArrowheads="1"/>
          </p:cNvSpPr>
          <p:nvPr/>
        </p:nvSpPr>
        <p:spPr bwMode="auto">
          <a:xfrm>
            <a:off x="6538912" y="4661057"/>
            <a:ext cx="839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3333FF"/>
                </a:solidFill>
                <a:cs typeface="Times New Roman" panose="02020603050405020304" pitchFamily="18" charset="0"/>
              </a:rPr>
              <a:t>20mA</a:t>
            </a:r>
            <a:endParaRPr lang="zh-CN" altLang="en-US" sz="2000" b="1">
              <a:solidFill>
                <a:srgbClr val="3333FF"/>
              </a:solidFill>
            </a:endParaRPr>
          </a:p>
        </p:txBody>
      </p:sp>
      <p:sp>
        <p:nvSpPr>
          <p:cNvPr id="15" name="矩形 14">
            <a:extLst>
              <a:ext uri="{FF2B5EF4-FFF2-40B4-BE49-F238E27FC236}">
                <a16:creationId xmlns:a16="http://schemas.microsoft.com/office/drawing/2014/main" id="{280D1B67-7F70-4442-9286-1F40388B51A7}"/>
              </a:ext>
            </a:extLst>
          </p:cNvPr>
          <p:cNvSpPr>
            <a:spLocks noChangeArrowheads="1"/>
          </p:cNvSpPr>
          <p:nvPr/>
        </p:nvSpPr>
        <p:spPr bwMode="auto">
          <a:xfrm>
            <a:off x="393699" y="4757895"/>
            <a:ext cx="3635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3333FF"/>
                </a:solidFill>
                <a:cs typeface="Times New Roman" panose="02020603050405020304" pitchFamily="18" charset="0"/>
              </a:rPr>
              <a:t>0</a:t>
            </a:r>
            <a:endParaRPr lang="zh-CN" altLang="en-US" sz="2800" b="1">
              <a:solidFill>
                <a:srgbClr val="3333FF"/>
              </a:solidFill>
            </a:endParaRPr>
          </a:p>
        </p:txBody>
      </p:sp>
      <p:sp>
        <p:nvSpPr>
          <p:cNvPr id="16" name="矩形 15">
            <a:extLst>
              <a:ext uri="{FF2B5EF4-FFF2-40B4-BE49-F238E27FC236}">
                <a16:creationId xmlns:a16="http://schemas.microsoft.com/office/drawing/2014/main" id="{E5338144-012A-4D0B-9C51-C513A7C9343B}"/>
              </a:ext>
            </a:extLst>
          </p:cNvPr>
          <p:cNvSpPr>
            <a:spLocks noChangeArrowheads="1"/>
          </p:cNvSpPr>
          <p:nvPr/>
        </p:nvSpPr>
        <p:spPr bwMode="auto">
          <a:xfrm>
            <a:off x="5326062" y="4775357"/>
            <a:ext cx="365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3333FF"/>
                </a:solidFill>
                <a:cs typeface="Times New Roman" panose="02020603050405020304" pitchFamily="18" charset="0"/>
              </a:rPr>
              <a:t>1</a:t>
            </a:r>
            <a:endParaRPr lang="zh-CN" altLang="en-US" sz="2800" b="1">
              <a:solidFill>
                <a:srgbClr val="3333FF"/>
              </a:solidFill>
            </a:endParaRPr>
          </a:p>
        </p:txBody>
      </p:sp>
      <p:sp>
        <p:nvSpPr>
          <p:cNvPr id="17" name="矩形 16">
            <a:extLst>
              <a:ext uri="{FF2B5EF4-FFF2-40B4-BE49-F238E27FC236}">
                <a16:creationId xmlns:a16="http://schemas.microsoft.com/office/drawing/2014/main" id="{E30DD8A0-FEC5-43ED-AAC6-71BAFC42425D}"/>
              </a:ext>
            </a:extLst>
          </p:cNvPr>
          <p:cNvSpPr>
            <a:spLocks noChangeArrowheads="1"/>
          </p:cNvSpPr>
          <p:nvPr/>
        </p:nvSpPr>
        <p:spPr bwMode="auto">
          <a:xfrm>
            <a:off x="7466012" y="4489607"/>
            <a:ext cx="365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3333FF"/>
                </a:solidFill>
                <a:cs typeface="Times New Roman" panose="02020603050405020304" pitchFamily="18" charset="0"/>
              </a:rPr>
              <a:t>0</a:t>
            </a:r>
            <a:endParaRPr lang="zh-CN" altLang="en-US" sz="2800" b="1">
              <a:solidFill>
                <a:srgbClr val="3333FF"/>
              </a:solidFill>
            </a:endParaRPr>
          </a:p>
        </p:txBody>
      </p:sp>
      <p:grpSp>
        <p:nvGrpSpPr>
          <p:cNvPr id="24" name="组合 23">
            <a:extLst>
              <a:ext uri="{FF2B5EF4-FFF2-40B4-BE49-F238E27FC236}">
                <a16:creationId xmlns:a16="http://schemas.microsoft.com/office/drawing/2014/main" id="{E1152382-C88D-439B-8474-FBA706F5A733}"/>
              </a:ext>
            </a:extLst>
          </p:cNvPr>
          <p:cNvGrpSpPr>
            <a:grpSpLocks/>
          </p:cNvGrpSpPr>
          <p:nvPr/>
        </p:nvGrpSpPr>
        <p:grpSpPr bwMode="auto">
          <a:xfrm>
            <a:off x="8437562" y="3064032"/>
            <a:ext cx="619125" cy="1412875"/>
            <a:chOff x="8466965" y="3220133"/>
            <a:chExt cx="620077" cy="1412460"/>
          </a:xfrm>
        </p:grpSpPr>
        <p:pic>
          <p:nvPicPr>
            <p:cNvPr id="105524" name="图片 24">
              <a:extLst>
                <a:ext uri="{FF2B5EF4-FFF2-40B4-BE49-F238E27FC236}">
                  <a16:creationId xmlns:a16="http://schemas.microsoft.com/office/drawing/2014/main" id="{6218F87A-E621-4227-93CA-CD8EC549E96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88415" y="3220133"/>
              <a:ext cx="598627" cy="119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5525" name="直接连接符 25">
              <a:extLst>
                <a:ext uri="{FF2B5EF4-FFF2-40B4-BE49-F238E27FC236}">
                  <a16:creationId xmlns:a16="http://schemas.microsoft.com/office/drawing/2014/main" id="{6930B181-C6C3-4A2B-A2F8-41DC67DB2408}"/>
                </a:ext>
              </a:extLst>
            </p:cNvPr>
            <p:cNvCxnSpPr>
              <a:cxnSpLocks noChangeShapeType="1"/>
            </p:cNvCxnSpPr>
            <p:nvPr/>
          </p:nvCxnSpPr>
          <p:spPr bwMode="auto">
            <a:xfrm flipV="1">
              <a:off x="8466965" y="4626889"/>
              <a:ext cx="286056" cy="912"/>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526" name="直接连接符 26">
              <a:extLst>
                <a:ext uri="{FF2B5EF4-FFF2-40B4-BE49-F238E27FC236}">
                  <a16:creationId xmlns:a16="http://schemas.microsoft.com/office/drawing/2014/main" id="{BFC8EEBD-74D9-4EFB-A0F9-7D2688683941}"/>
                </a:ext>
              </a:extLst>
            </p:cNvPr>
            <p:cNvCxnSpPr>
              <a:cxnSpLocks noChangeShapeType="1"/>
            </p:cNvCxnSpPr>
            <p:nvPr/>
          </p:nvCxnSpPr>
          <p:spPr bwMode="auto">
            <a:xfrm flipV="1">
              <a:off x="8742004" y="4393765"/>
              <a:ext cx="4480" cy="238828"/>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527" name="直接连接符 33">
              <a:extLst>
                <a:ext uri="{FF2B5EF4-FFF2-40B4-BE49-F238E27FC236}">
                  <a16:creationId xmlns:a16="http://schemas.microsoft.com/office/drawing/2014/main" id="{56173F79-E0CB-4106-A77A-53FBB94E435C}"/>
                </a:ext>
              </a:extLst>
            </p:cNvPr>
            <p:cNvCxnSpPr>
              <a:cxnSpLocks/>
            </p:cNvCxnSpPr>
            <p:nvPr/>
          </p:nvCxnSpPr>
          <p:spPr bwMode="auto">
            <a:xfrm rot="16200000" flipV="1">
              <a:off x="8712181" y="4019015"/>
              <a:ext cx="264766" cy="238086"/>
            </a:xfrm>
            <a:prstGeom prst="curvedConnector3">
              <a:avLst>
                <a:gd name="adj1" fmla="val 96741"/>
              </a:avLst>
            </a:prstGeom>
            <a:noFill/>
            <a:ln w="28575" algn="ctr">
              <a:solidFill>
                <a:srgbClr val="3333FF"/>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2" name="矩形 21">
            <a:extLst>
              <a:ext uri="{FF2B5EF4-FFF2-40B4-BE49-F238E27FC236}">
                <a16:creationId xmlns:a16="http://schemas.microsoft.com/office/drawing/2014/main" id="{53E37148-DD42-4B2B-811B-049F3974EA7A}"/>
              </a:ext>
            </a:extLst>
          </p:cNvPr>
          <p:cNvSpPr/>
          <p:nvPr/>
        </p:nvSpPr>
        <p:spPr>
          <a:xfrm>
            <a:off x="7348537" y="5103970"/>
            <a:ext cx="1071562" cy="500062"/>
          </a:xfrm>
          <a:prstGeom prst="rect">
            <a:avLst/>
          </a:prstGeom>
          <a:noFill/>
        </p:spPr>
        <p:txBody>
          <a:bodyPr lIns="0" tIns="36000" rIns="0" bIns="0" anchor="b">
            <a:spAutoFit/>
          </a:bodyPr>
          <a:lstStyle/>
          <a:p>
            <a:pPr algn="ctr" eaLnBrk="1" hangingPunct="1">
              <a:lnSpc>
                <a:spcPct val="75000"/>
              </a:lnSpc>
              <a:defRPr/>
            </a:pPr>
            <a:r>
              <a:rPr lang="zh-CN" altLang="en-US" sz="2000" b="1" kern="0" dirty="0">
                <a:solidFill>
                  <a:srgbClr val="00B050"/>
                </a:solidFill>
                <a:cs typeface="Times New Roman" panose="02020603050405020304" pitchFamily="18" charset="0"/>
              </a:rPr>
              <a:t>例</a:t>
            </a:r>
            <a:r>
              <a:rPr lang="en-US" altLang="zh-CN" sz="2000" b="1" kern="0" dirty="0">
                <a:solidFill>
                  <a:srgbClr val="00B050"/>
                </a:solidFill>
                <a:cs typeface="Times New Roman" panose="02020603050405020304" pitchFamily="18" charset="0"/>
              </a:rPr>
              <a:t>:</a:t>
            </a:r>
            <a:r>
              <a:rPr lang="zh-CN" altLang="en-US" sz="2000" b="1" kern="0" dirty="0">
                <a:solidFill>
                  <a:srgbClr val="00B050"/>
                </a:solidFill>
                <a:cs typeface="Times New Roman" panose="02020603050405020304" pitchFamily="18" charset="0"/>
              </a:rPr>
              <a:t>口线</a:t>
            </a:r>
            <a:r>
              <a:rPr lang="en-US" altLang="zh-CN" sz="2000" b="1" kern="0" dirty="0">
                <a:solidFill>
                  <a:srgbClr val="00B050"/>
                </a:solidFill>
                <a:cs typeface="Times New Roman" panose="02020603050405020304" pitchFamily="18" charset="0"/>
              </a:rPr>
              <a:t>P1.0</a:t>
            </a:r>
            <a:endParaRPr lang="en-US" altLang="zh-CN" sz="2000" b="1" dirty="0">
              <a:solidFill>
                <a:srgbClr val="00B050"/>
              </a:solidFill>
              <a:ea typeface="宋体" charset="-122"/>
              <a:cs typeface="Times New Roman" pitchFamily="18" charset="0"/>
            </a:endParaRPr>
          </a:p>
        </p:txBody>
      </p:sp>
      <p:sp>
        <p:nvSpPr>
          <p:cNvPr id="23" name="矩形 22">
            <a:extLst>
              <a:ext uri="{FF2B5EF4-FFF2-40B4-BE49-F238E27FC236}">
                <a16:creationId xmlns:a16="http://schemas.microsoft.com/office/drawing/2014/main" id="{330DD5A2-42CC-49FF-8509-3F820382EB4A}"/>
              </a:ext>
            </a:extLst>
          </p:cNvPr>
          <p:cNvSpPr/>
          <p:nvPr/>
        </p:nvSpPr>
        <p:spPr>
          <a:xfrm>
            <a:off x="131762" y="3333907"/>
            <a:ext cx="1209675" cy="868363"/>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00B050"/>
                </a:solidFill>
                <a:cs typeface="Times New Roman" panose="02020603050405020304" pitchFamily="18" charset="0"/>
              </a:rPr>
              <a:t>例</a:t>
            </a:r>
            <a:r>
              <a:rPr lang="en-US" altLang="zh-CN" sz="2400" b="1" kern="0" dirty="0">
                <a:solidFill>
                  <a:srgbClr val="00B050"/>
                </a:solidFill>
                <a:cs typeface="Times New Roman" panose="02020603050405020304" pitchFamily="18" charset="0"/>
              </a:rPr>
              <a:t>:</a:t>
            </a:r>
            <a:r>
              <a:rPr lang="zh-CN" altLang="en-US" sz="2400" b="1" kern="0" dirty="0">
                <a:solidFill>
                  <a:srgbClr val="00B050"/>
                </a:solidFill>
                <a:cs typeface="Times New Roman" panose="02020603050405020304" pitchFamily="18" charset="0"/>
              </a:rPr>
              <a:t>口线</a:t>
            </a:r>
            <a:r>
              <a:rPr lang="en-US" altLang="zh-CN" sz="2400" b="1" kern="0" dirty="0">
                <a:solidFill>
                  <a:srgbClr val="00B050"/>
                </a:solidFill>
                <a:cs typeface="Times New Roman" panose="02020603050405020304" pitchFamily="18" charset="0"/>
              </a:rPr>
              <a:t>P1.0</a:t>
            </a:r>
            <a:r>
              <a:rPr lang="zh-CN" altLang="en-US" sz="2400" b="1" kern="0" dirty="0">
                <a:solidFill>
                  <a:srgbClr val="00B050"/>
                </a:solidFill>
                <a:cs typeface="Times New Roman" panose="02020603050405020304" pitchFamily="18" charset="0"/>
              </a:rPr>
              <a:t>的锁存器位</a:t>
            </a:r>
            <a:endParaRPr lang="en-US" altLang="zh-CN" sz="2400" b="1" dirty="0">
              <a:solidFill>
                <a:srgbClr val="00B050"/>
              </a:solidFill>
              <a:ea typeface="宋体" charset="-122"/>
              <a:cs typeface="Times New Roman" pitchFamily="18" charset="0"/>
            </a:endParaRPr>
          </a:p>
        </p:txBody>
      </p:sp>
      <p:sp>
        <p:nvSpPr>
          <p:cNvPr id="28" name="矩形 27">
            <a:extLst>
              <a:ext uri="{FF2B5EF4-FFF2-40B4-BE49-F238E27FC236}">
                <a16:creationId xmlns:a16="http://schemas.microsoft.com/office/drawing/2014/main" id="{09F2EBC4-D2AF-4A8D-AAB3-183581073BD1}"/>
              </a:ext>
            </a:extLst>
          </p:cNvPr>
          <p:cNvSpPr/>
          <p:nvPr/>
        </p:nvSpPr>
        <p:spPr>
          <a:xfrm>
            <a:off x="2284412" y="5932645"/>
            <a:ext cx="3157537" cy="312737"/>
          </a:xfrm>
          <a:prstGeom prst="rect">
            <a:avLst/>
          </a:prstGeom>
          <a:noFill/>
        </p:spPr>
        <p:txBody>
          <a:bodyPr lIns="0" tIns="36000" rIns="0" bIns="0" anchor="b">
            <a:spAutoFit/>
          </a:bodyPr>
          <a:lstStyle/>
          <a:p>
            <a:pPr algn="ctr" eaLnBrk="1" hangingPunct="1">
              <a:lnSpc>
                <a:spcPct val="75000"/>
              </a:lnSpc>
              <a:defRPr/>
            </a:pPr>
            <a:r>
              <a:rPr lang="en-US" altLang="zh-CN" sz="2400" b="1" kern="0" dirty="0">
                <a:solidFill>
                  <a:srgbClr val="00B050"/>
                </a:solidFill>
                <a:cs typeface="Times New Roman" panose="02020603050405020304" pitchFamily="18" charset="0"/>
              </a:rPr>
              <a:t>CPU</a:t>
            </a:r>
            <a:r>
              <a:rPr lang="zh-CN" altLang="en-US" sz="2400" b="1" kern="0" dirty="0">
                <a:solidFill>
                  <a:srgbClr val="00B050"/>
                </a:solidFill>
                <a:cs typeface="Times New Roman" panose="02020603050405020304" pitchFamily="18" charset="0"/>
              </a:rPr>
              <a:t>读引脚状态数据</a:t>
            </a:r>
            <a:endParaRPr lang="en-US" altLang="zh-CN" sz="2400" b="1" dirty="0">
              <a:solidFill>
                <a:srgbClr val="00B050"/>
              </a:solidFill>
              <a:ea typeface="宋体" charset="-122"/>
              <a:cs typeface="Times New Roman" pitchFamily="18" charset="0"/>
            </a:endParaRPr>
          </a:p>
        </p:txBody>
      </p:sp>
      <p:cxnSp>
        <p:nvCxnSpPr>
          <p:cNvPr id="29" name="直接箭头连接符 28">
            <a:extLst>
              <a:ext uri="{FF2B5EF4-FFF2-40B4-BE49-F238E27FC236}">
                <a16:creationId xmlns:a16="http://schemas.microsoft.com/office/drawing/2014/main" id="{26EC2DC1-0665-4B3B-9B77-2E2128C31835}"/>
              </a:ext>
            </a:extLst>
          </p:cNvPr>
          <p:cNvCxnSpPr>
            <a:cxnSpLocks/>
            <a:stCxn id="22" idx="0"/>
          </p:cNvCxnSpPr>
          <p:nvPr/>
        </p:nvCxnSpPr>
        <p:spPr bwMode="auto">
          <a:xfrm flipV="1">
            <a:off x="7885112" y="4791232"/>
            <a:ext cx="149225" cy="312738"/>
          </a:xfrm>
          <a:prstGeom prst="straightConnector1">
            <a:avLst/>
          </a:prstGeom>
          <a:noFill/>
          <a:ln w="38100" algn="ctr">
            <a:solidFill>
              <a:srgbClr val="00B05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箭头连接符 29">
            <a:extLst>
              <a:ext uri="{FF2B5EF4-FFF2-40B4-BE49-F238E27FC236}">
                <a16:creationId xmlns:a16="http://schemas.microsoft.com/office/drawing/2014/main" id="{73F9CBB5-8A79-4C86-877E-4D1B095C9545}"/>
              </a:ext>
            </a:extLst>
          </p:cNvPr>
          <p:cNvCxnSpPr>
            <a:cxnSpLocks noChangeShapeType="1"/>
          </p:cNvCxnSpPr>
          <p:nvPr/>
        </p:nvCxnSpPr>
        <p:spPr bwMode="auto">
          <a:xfrm>
            <a:off x="174624" y="3943507"/>
            <a:ext cx="0" cy="830263"/>
          </a:xfrm>
          <a:prstGeom prst="straightConnector1">
            <a:avLst/>
          </a:prstGeom>
          <a:noFill/>
          <a:ln w="38100" algn="ctr">
            <a:solidFill>
              <a:srgbClr val="00B05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矩形 30">
            <a:extLst>
              <a:ext uri="{FF2B5EF4-FFF2-40B4-BE49-F238E27FC236}">
                <a16:creationId xmlns:a16="http://schemas.microsoft.com/office/drawing/2014/main" id="{90D3AD59-DE3A-417D-B0CE-153F6F8A14AA}"/>
              </a:ext>
            </a:extLst>
          </p:cNvPr>
          <p:cNvSpPr/>
          <p:nvPr/>
        </p:nvSpPr>
        <p:spPr>
          <a:xfrm>
            <a:off x="7375524" y="4588032"/>
            <a:ext cx="536575" cy="363538"/>
          </a:xfrm>
          <a:prstGeom prst="rect">
            <a:avLst/>
          </a:prstGeom>
          <a:noFill/>
        </p:spPr>
        <p:txBody>
          <a:bodyPr lIns="0" tIns="36000" rIns="0" bIns="0" anchor="b">
            <a:spAutoFit/>
          </a:bodyPr>
          <a:lstStyle/>
          <a:p>
            <a:pPr algn="ctr" eaLnBrk="1" hangingPunct="1">
              <a:lnSpc>
                <a:spcPct val="75000"/>
              </a:lnSpc>
              <a:defRPr/>
            </a:pPr>
            <a:r>
              <a:rPr lang="en-US" altLang="zh-CN" sz="2800" b="1" kern="0" dirty="0">
                <a:solidFill>
                  <a:srgbClr val="00B050"/>
                </a:solidFill>
                <a:cs typeface="Times New Roman" panose="02020603050405020304" pitchFamily="18" charset="0"/>
              </a:rPr>
              <a:t>1</a:t>
            </a:r>
            <a:endParaRPr lang="en-US" altLang="zh-CN" sz="2800" b="1" dirty="0">
              <a:solidFill>
                <a:srgbClr val="00B050"/>
              </a:solidFill>
              <a:ea typeface="宋体" charset="-122"/>
              <a:cs typeface="Times New Roman" pitchFamily="18" charset="0"/>
            </a:endParaRPr>
          </a:p>
        </p:txBody>
      </p:sp>
      <p:sp>
        <p:nvSpPr>
          <p:cNvPr id="32" name="矩形 31">
            <a:extLst>
              <a:ext uri="{FF2B5EF4-FFF2-40B4-BE49-F238E27FC236}">
                <a16:creationId xmlns:a16="http://schemas.microsoft.com/office/drawing/2014/main" id="{201E4EE6-8672-49C0-8D98-944C0551B146}"/>
              </a:ext>
            </a:extLst>
          </p:cNvPr>
          <p:cNvSpPr/>
          <p:nvPr/>
        </p:nvSpPr>
        <p:spPr>
          <a:xfrm>
            <a:off x="292099" y="4851557"/>
            <a:ext cx="536575" cy="361950"/>
          </a:xfrm>
          <a:prstGeom prst="rect">
            <a:avLst/>
          </a:prstGeom>
          <a:noFill/>
        </p:spPr>
        <p:txBody>
          <a:bodyPr lIns="0" tIns="36000" rIns="0" bIns="0" anchor="b">
            <a:spAutoFit/>
          </a:bodyPr>
          <a:lstStyle/>
          <a:p>
            <a:pPr algn="ctr" eaLnBrk="1" hangingPunct="1">
              <a:lnSpc>
                <a:spcPct val="75000"/>
              </a:lnSpc>
              <a:defRPr/>
            </a:pPr>
            <a:r>
              <a:rPr lang="en-US" altLang="zh-CN" sz="2800" b="1" kern="0" dirty="0">
                <a:solidFill>
                  <a:srgbClr val="00B050"/>
                </a:solidFill>
                <a:cs typeface="Times New Roman" panose="02020603050405020304" pitchFamily="18" charset="0"/>
              </a:rPr>
              <a:t>1</a:t>
            </a:r>
            <a:endParaRPr lang="en-US" altLang="zh-CN" sz="2800" b="1" dirty="0">
              <a:solidFill>
                <a:srgbClr val="00B050"/>
              </a:solidFill>
              <a:ea typeface="宋体" charset="-122"/>
              <a:cs typeface="Times New Roman" pitchFamily="18" charset="0"/>
            </a:endParaRPr>
          </a:p>
        </p:txBody>
      </p:sp>
      <p:graphicFrame>
        <p:nvGraphicFramePr>
          <p:cNvPr id="33" name="Group 116">
            <a:extLst>
              <a:ext uri="{FF2B5EF4-FFF2-40B4-BE49-F238E27FC236}">
                <a16:creationId xmlns:a16="http://schemas.microsoft.com/office/drawing/2014/main" id="{CC242261-ECD4-4938-A650-DCCE45D26EC5}"/>
              </a:ext>
            </a:extLst>
          </p:cNvPr>
          <p:cNvGraphicFramePr>
            <a:graphicFrameLocks noGrp="1"/>
          </p:cNvGraphicFramePr>
          <p:nvPr>
            <p:extLst>
              <p:ext uri="{D42A27DB-BD31-4B8C-83A1-F6EECF244321}">
                <p14:modId xmlns:p14="http://schemas.microsoft.com/office/powerpoint/2010/main" val="2301385563"/>
              </p:ext>
            </p:extLst>
          </p:nvPr>
        </p:nvGraphicFramePr>
        <p:xfrm>
          <a:off x="4534484" y="791975"/>
          <a:ext cx="4443408" cy="573087"/>
        </p:xfrm>
        <a:graphic>
          <a:graphicData uri="http://schemas.openxmlformats.org/drawingml/2006/table">
            <a:tbl>
              <a:tblPr/>
              <a:tblGrid>
                <a:gridCol w="493712">
                  <a:extLst>
                    <a:ext uri="{9D8B030D-6E8A-4147-A177-3AD203B41FA5}">
                      <a16:colId xmlns:a16="http://schemas.microsoft.com/office/drawing/2014/main" val="20000"/>
                    </a:ext>
                  </a:extLst>
                </a:gridCol>
                <a:gridCol w="493712">
                  <a:extLst>
                    <a:ext uri="{9D8B030D-6E8A-4147-A177-3AD203B41FA5}">
                      <a16:colId xmlns:a16="http://schemas.microsoft.com/office/drawing/2014/main" val="20001"/>
                    </a:ext>
                  </a:extLst>
                </a:gridCol>
                <a:gridCol w="493712">
                  <a:extLst>
                    <a:ext uri="{9D8B030D-6E8A-4147-A177-3AD203B41FA5}">
                      <a16:colId xmlns:a16="http://schemas.microsoft.com/office/drawing/2014/main" val="20002"/>
                    </a:ext>
                  </a:extLst>
                </a:gridCol>
                <a:gridCol w="493712">
                  <a:extLst>
                    <a:ext uri="{9D8B030D-6E8A-4147-A177-3AD203B41FA5}">
                      <a16:colId xmlns:a16="http://schemas.microsoft.com/office/drawing/2014/main" val="20003"/>
                    </a:ext>
                  </a:extLst>
                </a:gridCol>
                <a:gridCol w="493712">
                  <a:extLst>
                    <a:ext uri="{9D8B030D-6E8A-4147-A177-3AD203B41FA5}">
                      <a16:colId xmlns:a16="http://schemas.microsoft.com/office/drawing/2014/main" val="20004"/>
                    </a:ext>
                  </a:extLst>
                </a:gridCol>
                <a:gridCol w="493712">
                  <a:extLst>
                    <a:ext uri="{9D8B030D-6E8A-4147-A177-3AD203B41FA5}">
                      <a16:colId xmlns:a16="http://schemas.microsoft.com/office/drawing/2014/main" val="20005"/>
                    </a:ext>
                  </a:extLst>
                </a:gridCol>
                <a:gridCol w="493712">
                  <a:extLst>
                    <a:ext uri="{9D8B030D-6E8A-4147-A177-3AD203B41FA5}">
                      <a16:colId xmlns:a16="http://schemas.microsoft.com/office/drawing/2014/main" val="20006"/>
                    </a:ext>
                  </a:extLst>
                </a:gridCol>
                <a:gridCol w="493712">
                  <a:extLst>
                    <a:ext uri="{9D8B030D-6E8A-4147-A177-3AD203B41FA5}">
                      <a16:colId xmlns:a16="http://schemas.microsoft.com/office/drawing/2014/main" val="20007"/>
                    </a:ext>
                  </a:extLst>
                </a:gridCol>
                <a:gridCol w="493712">
                  <a:extLst>
                    <a:ext uri="{9D8B030D-6E8A-4147-A177-3AD203B41FA5}">
                      <a16:colId xmlns:a16="http://schemas.microsoft.com/office/drawing/2014/main" val="20008"/>
                    </a:ext>
                  </a:extLst>
                </a:gridCol>
              </a:tblGrid>
              <a:tr h="573087">
                <a:tc>
                  <a:txBody>
                    <a:bodyPr/>
                    <a:lstStyle/>
                    <a:p>
                      <a:pPr marL="0" marR="0" lvl="0" indent="0" algn="ctr" defTabSz="914400" rtl="0" eaLnBrk="1" fontAlgn="base" latinLnBrk="0" hangingPunct="1">
                        <a:lnSpc>
                          <a:spcPct val="75000"/>
                        </a:lnSpc>
                        <a:spcBef>
                          <a:spcPct val="0"/>
                        </a:spcBef>
                        <a:spcAft>
                          <a:spcPct val="0"/>
                        </a:spcAft>
                        <a:buClrTx/>
                        <a:buSzTx/>
                        <a:buFontTx/>
                        <a:buNone/>
                        <a:tabLst/>
                        <a:defRPr/>
                      </a:pPr>
                      <a:r>
                        <a:rPr lang="zh-CN" altLang="en-US" sz="1600" b="1" kern="0" dirty="0">
                          <a:solidFill>
                            <a:srgbClr val="FF00FF"/>
                          </a:solidFill>
                          <a:latin typeface="Times New Roman" panose="02020603050405020304" pitchFamily="18" charset="0"/>
                          <a:ea typeface="宋体" charset="-122"/>
                          <a:cs typeface="Times New Roman" panose="02020603050405020304" pitchFamily="18" charset="0"/>
                        </a:rPr>
                        <a:t>例</a:t>
                      </a:r>
                      <a:endParaRPr lang="en-US" altLang="zh-CN" sz="1600" b="1" kern="0" dirty="0">
                        <a:solidFill>
                          <a:srgbClr val="FF00FF"/>
                        </a:solidFill>
                        <a:latin typeface="Times New Roman" panose="02020603050405020304" pitchFamily="18" charset="0"/>
                        <a:ea typeface="宋体" charset="-122"/>
                        <a:cs typeface="Times New Roman" panose="02020603050405020304" pitchFamily="18" charset="0"/>
                      </a:endParaRPr>
                    </a:p>
                    <a:p>
                      <a:pPr marL="0" marR="0" lvl="0" indent="0" algn="ctr" defTabSz="914400" rtl="0" eaLnBrk="1" fontAlgn="base" latinLnBrk="0" hangingPunct="1">
                        <a:lnSpc>
                          <a:spcPct val="75000"/>
                        </a:lnSpc>
                        <a:spcBef>
                          <a:spcPct val="0"/>
                        </a:spcBef>
                        <a:spcAft>
                          <a:spcPct val="0"/>
                        </a:spcAft>
                        <a:buClrTx/>
                        <a:buSzTx/>
                        <a:buFontTx/>
                        <a:buNone/>
                        <a:tabLst/>
                        <a:defRPr/>
                      </a:pPr>
                      <a:r>
                        <a:rPr lang="en-US" altLang="zh-CN" sz="1600" b="1" kern="0" dirty="0">
                          <a:solidFill>
                            <a:srgbClr val="FF00FF"/>
                          </a:solidFill>
                          <a:latin typeface="Times New Roman" panose="02020603050405020304" pitchFamily="18" charset="0"/>
                          <a:ea typeface="宋体" charset="-122"/>
                          <a:cs typeface="Times New Roman" panose="02020603050405020304" pitchFamily="18" charset="0"/>
                        </a:rPr>
                        <a:t>P1</a:t>
                      </a:r>
                      <a:r>
                        <a:rPr lang="zh-CN" altLang="en-US" sz="1600" b="1" kern="0" dirty="0">
                          <a:solidFill>
                            <a:srgbClr val="FF00FF"/>
                          </a:solidFill>
                          <a:latin typeface="Times New Roman" panose="02020603050405020304" pitchFamily="18" charset="0"/>
                          <a:ea typeface="宋体" charset="-122"/>
                          <a:cs typeface="Times New Roman" panose="02020603050405020304" pitchFamily="18" charset="0"/>
                        </a:rPr>
                        <a:t>口</a:t>
                      </a:r>
                      <a:endParaRPr kumimoji="0" lang="zh-CN" altLang="en-US" sz="1600" b="1" i="0" u="none" strike="noStrike" cap="none" normalizeH="0" baseline="0" dirty="0">
                        <a:ln>
                          <a:noFill/>
                        </a:ln>
                        <a:solidFill>
                          <a:srgbClr val="FF00FF"/>
                        </a:solidFill>
                        <a:effectLst/>
                        <a:latin typeface="Times New Roman" pitchFamily="18" charset="0"/>
                        <a:ea typeface="宋体" charset="-122"/>
                        <a:cs typeface="Times New Roman"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75000"/>
                        </a:lnSpc>
                        <a:spcBef>
                          <a:spcPct val="0"/>
                        </a:spcBef>
                        <a:spcAft>
                          <a:spcPct val="0"/>
                        </a:spcAft>
                        <a:buClrTx/>
                        <a:buSzTx/>
                        <a:buFontTx/>
                        <a:buNone/>
                        <a:tabLst/>
                        <a:defRPr/>
                      </a:pPr>
                      <a:r>
                        <a:rPr lang="en-US" altLang="zh-CN" sz="1800" b="1" kern="0" dirty="0">
                          <a:solidFill>
                            <a:srgbClr val="3366FF"/>
                          </a:solidFill>
                          <a:latin typeface="Times New Roman" panose="02020603050405020304" pitchFamily="18" charset="0"/>
                          <a:ea typeface="宋体" charset="-122"/>
                          <a:cs typeface="Times New Roman" panose="02020603050405020304" pitchFamily="18" charset="0"/>
                        </a:rPr>
                        <a:t>P1.7</a:t>
                      </a:r>
                      <a:endParaRPr kumimoji="0" lang="en-US" altLang="zh-CN" sz="1800" b="1" i="0" u="none" strike="noStrike" cap="none" normalizeH="0" baseline="0" dirty="0">
                        <a:ln>
                          <a:noFill/>
                        </a:ln>
                        <a:solidFill>
                          <a:srgbClr val="3366FF"/>
                        </a:solidFill>
                        <a:effectLst/>
                        <a:latin typeface="Times New Roman" pitchFamily="18" charset="0"/>
                        <a:ea typeface="宋体" charset="-122"/>
                        <a:cs typeface="Times New Roman"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75000"/>
                        </a:lnSpc>
                        <a:spcBef>
                          <a:spcPct val="0"/>
                        </a:spcBef>
                        <a:spcAft>
                          <a:spcPct val="0"/>
                        </a:spcAft>
                        <a:buClrTx/>
                        <a:buSzTx/>
                        <a:buFontTx/>
                        <a:buNone/>
                        <a:tabLst/>
                        <a:defRPr/>
                      </a:pPr>
                      <a:r>
                        <a:rPr lang="en-US" altLang="zh-CN" sz="1800" b="1" kern="0" dirty="0">
                          <a:solidFill>
                            <a:srgbClr val="3366FF"/>
                          </a:solidFill>
                          <a:latin typeface="Times New Roman" panose="02020603050405020304" pitchFamily="18" charset="0"/>
                          <a:ea typeface="宋体" charset="-122"/>
                          <a:cs typeface="Times New Roman" panose="02020603050405020304" pitchFamily="18" charset="0"/>
                        </a:rPr>
                        <a:t>P1.6</a:t>
                      </a:r>
                      <a:endParaRPr kumimoji="0" lang="en-US" altLang="zh-CN" sz="1800" b="1" i="0" u="none" strike="noStrike" cap="none" normalizeH="0" baseline="0" dirty="0">
                        <a:ln>
                          <a:noFill/>
                        </a:ln>
                        <a:solidFill>
                          <a:srgbClr val="3366FF"/>
                        </a:solidFill>
                        <a:effectLst/>
                        <a:latin typeface="Times New Roman" pitchFamily="18" charset="0"/>
                        <a:ea typeface="宋体" charset="-122"/>
                        <a:cs typeface="Times New Roman"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75000"/>
                        </a:lnSpc>
                        <a:spcBef>
                          <a:spcPct val="0"/>
                        </a:spcBef>
                        <a:spcAft>
                          <a:spcPct val="0"/>
                        </a:spcAft>
                        <a:buClrTx/>
                        <a:buSzTx/>
                        <a:buFontTx/>
                        <a:buNone/>
                        <a:tabLst/>
                        <a:defRPr/>
                      </a:pPr>
                      <a:r>
                        <a:rPr lang="en-US" altLang="zh-CN" sz="1800" b="1" kern="0" dirty="0">
                          <a:solidFill>
                            <a:srgbClr val="3366FF"/>
                          </a:solidFill>
                          <a:latin typeface="Times New Roman" panose="02020603050405020304" pitchFamily="18" charset="0"/>
                          <a:ea typeface="宋体" charset="-122"/>
                          <a:cs typeface="Times New Roman" panose="02020603050405020304" pitchFamily="18" charset="0"/>
                        </a:rPr>
                        <a:t>P1.5</a:t>
                      </a:r>
                      <a:endParaRPr kumimoji="0" lang="en-US" altLang="zh-CN" sz="1800" b="1" i="0" u="none" strike="noStrike" cap="none" normalizeH="0" baseline="0" dirty="0">
                        <a:ln>
                          <a:noFill/>
                        </a:ln>
                        <a:solidFill>
                          <a:srgbClr val="3366FF"/>
                        </a:solidFill>
                        <a:effectLst/>
                        <a:latin typeface="Times New Roman" pitchFamily="18" charset="0"/>
                        <a:ea typeface="宋体" charset="-122"/>
                        <a:cs typeface="Times New Roman"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75000"/>
                        </a:lnSpc>
                        <a:spcBef>
                          <a:spcPct val="0"/>
                        </a:spcBef>
                        <a:spcAft>
                          <a:spcPct val="0"/>
                        </a:spcAft>
                        <a:buClrTx/>
                        <a:buSzTx/>
                        <a:buFontTx/>
                        <a:buNone/>
                        <a:tabLst/>
                        <a:defRPr/>
                      </a:pPr>
                      <a:r>
                        <a:rPr lang="en-US" altLang="zh-CN" sz="1800" b="1" kern="0" dirty="0">
                          <a:solidFill>
                            <a:srgbClr val="3366FF"/>
                          </a:solidFill>
                          <a:latin typeface="Times New Roman" panose="02020603050405020304" pitchFamily="18" charset="0"/>
                          <a:ea typeface="宋体" charset="-122"/>
                          <a:cs typeface="Times New Roman" panose="02020603050405020304" pitchFamily="18" charset="0"/>
                        </a:rPr>
                        <a:t>P1.4</a:t>
                      </a:r>
                      <a:endParaRPr kumimoji="0" lang="en-US" altLang="zh-CN" sz="1800" b="1" i="0" u="none" strike="noStrike" cap="none" normalizeH="0" baseline="0" dirty="0">
                        <a:ln>
                          <a:noFill/>
                        </a:ln>
                        <a:solidFill>
                          <a:srgbClr val="3366FF"/>
                        </a:solidFill>
                        <a:effectLst/>
                        <a:latin typeface="Times New Roman" pitchFamily="18" charset="0"/>
                        <a:ea typeface="宋体" charset="-122"/>
                        <a:cs typeface="Times New Roman"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75000"/>
                        </a:lnSpc>
                        <a:spcBef>
                          <a:spcPct val="0"/>
                        </a:spcBef>
                        <a:spcAft>
                          <a:spcPct val="0"/>
                        </a:spcAft>
                        <a:buClrTx/>
                        <a:buSzTx/>
                        <a:buFontTx/>
                        <a:buNone/>
                        <a:tabLst/>
                        <a:defRPr/>
                      </a:pPr>
                      <a:r>
                        <a:rPr lang="en-US" altLang="zh-CN" sz="1800" b="1" kern="0" dirty="0">
                          <a:solidFill>
                            <a:srgbClr val="3366FF"/>
                          </a:solidFill>
                          <a:latin typeface="Times New Roman" panose="02020603050405020304" pitchFamily="18" charset="0"/>
                          <a:ea typeface="宋体" charset="-122"/>
                          <a:cs typeface="Times New Roman" panose="02020603050405020304" pitchFamily="18" charset="0"/>
                        </a:rPr>
                        <a:t>P1.3</a:t>
                      </a:r>
                      <a:endParaRPr kumimoji="0" lang="en-US" altLang="zh-CN" sz="1800" b="1" i="0" u="none" strike="noStrike" cap="none" normalizeH="0" baseline="0" dirty="0">
                        <a:ln>
                          <a:noFill/>
                        </a:ln>
                        <a:solidFill>
                          <a:srgbClr val="3366FF"/>
                        </a:solidFill>
                        <a:effectLst/>
                        <a:latin typeface="Times New Roman" pitchFamily="18" charset="0"/>
                        <a:ea typeface="宋体" charset="-122"/>
                        <a:cs typeface="Times New Roman"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75000"/>
                        </a:lnSpc>
                        <a:spcBef>
                          <a:spcPct val="0"/>
                        </a:spcBef>
                        <a:spcAft>
                          <a:spcPct val="0"/>
                        </a:spcAft>
                        <a:buClrTx/>
                        <a:buSzTx/>
                        <a:buFontTx/>
                        <a:buNone/>
                        <a:tabLst/>
                        <a:defRPr/>
                      </a:pPr>
                      <a:r>
                        <a:rPr lang="en-US" altLang="zh-CN" sz="1800" b="1" kern="0" dirty="0">
                          <a:solidFill>
                            <a:srgbClr val="3366FF"/>
                          </a:solidFill>
                          <a:latin typeface="Times New Roman" panose="02020603050405020304" pitchFamily="18" charset="0"/>
                          <a:ea typeface="宋体" charset="-122"/>
                          <a:cs typeface="Times New Roman" panose="02020603050405020304" pitchFamily="18" charset="0"/>
                        </a:rPr>
                        <a:t>P1.2</a:t>
                      </a:r>
                      <a:endParaRPr kumimoji="0" lang="en-US" altLang="zh-CN" sz="1800" b="1" i="0" u="none" strike="noStrike" cap="none" normalizeH="0" baseline="0" dirty="0">
                        <a:ln>
                          <a:noFill/>
                        </a:ln>
                        <a:solidFill>
                          <a:srgbClr val="3366FF"/>
                        </a:solidFill>
                        <a:effectLst/>
                        <a:latin typeface="Times New Roman" pitchFamily="18" charset="0"/>
                        <a:ea typeface="宋体" charset="-122"/>
                        <a:cs typeface="Times New Roman"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75000"/>
                        </a:lnSpc>
                        <a:spcBef>
                          <a:spcPct val="0"/>
                        </a:spcBef>
                        <a:spcAft>
                          <a:spcPct val="0"/>
                        </a:spcAft>
                        <a:buClrTx/>
                        <a:buSzTx/>
                        <a:buFontTx/>
                        <a:buNone/>
                        <a:tabLst/>
                        <a:defRPr/>
                      </a:pPr>
                      <a:r>
                        <a:rPr lang="en-US" altLang="zh-CN" sz="1800" b="1" kern="0" dirty="0">
                          <a:solidFill>
                            <a:srgbClr val="3366FF"/>
                          </a:solidFill>
                          <a:latin typeface="Times New Roman" panose="02020603050405020304" pitchFamily="18" charset="0"/>
                          <a:ea typeface="宋体" charset="-122"/>
                          <a:cs typeface="Times New Roman" panose="02020603050405020304" pitchFamily="18" charset="0"/>
                        </a:rPr>
                        <a:t>P1.1</a:t>
                      </a:r>
                      <a:endParaRPr kumimoji="0" lang="en-US" altLang="zh-CN" sz="1800" b="1" i="0" u="none" strike="noStrike" cap="none" normalizeH="0" baseline="0" dirty="0">
                        <a:ln>
                          <a:noFill/>
                        </a:ln>
                        <a:solidFill>
                          <a:srgbClr val="3366FF"/>
                        </a:solidFill>
                        <a:effectLst/>
                        <a:latin typeface="Times New Roman" pitchFamily="18" charset="0"/>
                        <a:ea typeface="宋体" charset="-122"/>
                        <a:cs typeface="Times New Roman"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just">
                        <a:spcBef>
                          <a:spcPct val="20000"/>
                        </a:spcBef>
                        <a:defRPr sz="2800" b="1">
                          <a:solidFill>
                            <a:schemeClr val="accent2"/>
                          </a:solidFill>
                          <a:latin typeface="Times New Roman" pitchFamily="18" charset="0"/>
                          <a:ea typeface="宋体" charset="-122"/>
                        </a:defRPr>
                      </a:lvl1pPr>
                      <a:lvl2pPr algn="just">
                        <a:spcBef>
                          <a:spcPct val="20000"/>
                        </a:spcBef>
                        <a:defRPr sz="2400" b="1">
                          <a:solidFill>
                            <a:schemeClr val="tx1"/>
                          </a:solidFill>
                          <a:latin typeface="Times New Roman" pitchFamily="18" charset="0"/>
                          <a:ea typeface="宋体" charset="-122"/>
                        </a:defRPr>
                      </a:lvl2pPr>
                      <a:lvl3pPr algn="just">
                        <a:spcBef>
                          <a:spcPct val="20000"/>
                        </a:spcBef>
                        <a:defRPr sz="2000">
                          <a:solidFill>
                            <a:schemeClr val="tx1"/>
                          </a:solidFill>
                          <a:latin typeface="Times New Roman" pitchFamily="18" charset="0"/>
                          <a:ea typeface="宋体" charset="-122"/>
                        </a:defRPr>
                      </a:lvl3pPr>
                      <a:lvl4pPr algn="just">
                        <a:spcBef>
                          <a:spcPct val="20000"/>
                        </a:spcBef>
                        <a:defRPr>
                          <a:solidFill>
                            <a:schemeClr val="tx1"/>
                          </a:solidFill>
                          <a:latin typeface="Times New Roman" pitchFamily="18" charset="0"/>
                          <a:ea typeface="宋体" charset="-122"/>
                        </a:defRPr>
                      </a:lvl4pPr>
                      <a:lvl5pPr algn="just">
                        <a:spcBef>
                          <a:spcPct val="20000"/>
                        </a:spcBef>
                        <a:defRPr>
                          <a:solidFill>
                            <a:schemeClr val="tx1"/>
                          </a:solidFill>
                          <a:latin typeface="Times New Roman" pitchFamily="18" charset="0"/>
                          <a:ea typeface="宋体" charset="-122"/>
                        </a:defRPr>
                      </a:lvl5pPr>
                      <a:lvl6pPr algn="just" fontAlgn="base">
                        <a:spcBef>
                          <a:spcPct val="20000"/>
                        </a:spcBef>
                        <a:spcAft>
                          <a:spcPct val="0"/>
                        </a:spcAft>
                        <a:defRPr>
                          <a:solidFill>
                            <a:schemeClr val="tx1"/>
                          </a:solidFill>
                          <a:latin typeface="Times New Roman" pitchFamily="18" charset="0"/>
                          <a:ea typeface="宋体" charset="-122"/>
                        </a:defRPr>
                      </a:lvl6pPr>
                      <a:lvl7pPr algn="just" fontAlgn="base">
                        <a:spcBef>
                          <a:spcPct val="20000"/>
                        </a:spcBef>
                        <a:spcAft>
                          <a:spcPct val="0"/>
                        </a:spcAft>
                        <a:defRPr>
                          <a:solidFill>
                            <a:schemeClr val="tx1"/>
                          </a:solidFill>
                          <a:latin typeface="Times New Roman" pitchFamily="18" charset="0"/>
                          <a:ea typeface="宋体" charset="-122"/>
                        </a:defRPr>
                      </a:lvl7pPr>
                      <a:lvl8pPr algn="just" fontAlgn="base">
                        <a:spcBef>
                          <a:spcPct val="20000"/>
                        </a:spcBef>
                        <a:spcAft>
                          <a:spcPct val="0"/>
                        </a:spcAft>
                        <a:defRPr>
                          <a:solidFill>
                            <a:schemeClr val="tx1"/>
                          </a:solidFill>
                          <a:latin typeface="Times New Roman" pitchFamily="18" charset="0"/>
                          <a:ea typeface="宋体" charset="-122"/>
                        </a:defRPr>
                      </a:lvl8pPr>
                      <a:lvl9pPr algn="just" fontAlgn="base">
                        <a:spcBef>
                          <a:spcPct val="20000"/>
                        </a:spcBef>
                        <a:spcAft>
                          <a:spcPct val="0"/>
                        </a:spcAft>
                        <a:defRPr>
                          <a:solidFill>
                            <a:schemeClr val="tx1"/>
                          </a:solidFill>
                          <a:latin typeface="Times New Roman" pitchFamily="18" charset="0"/>
                          <a:ea typeface="宋体" charset="-122"/>
                        </a:defRPr>
                      </a:lvl9pPr>
                    </a:lstStyle>
                    <a:p>
                      <a:pPr marL="0" marR="0" lvl="0" indent="0" algn="ctr" defTabSz="914400" rtl="0" eaLnBrk="1" fontAlgn="base" latinLnBrk="0" hangingPunct="1">
                        <a:lnSpc>
                          <a:spcPct val="75000"/>
                        </a:lnSpc>
                        <a:spcBef>
                          <a:spcPct val="0"/>
                        </a:spcBef>
                        <a:spcAft>
                          <a:spcPct val="0"/>
                        </a:spcAft>
                        <a:buClrTx/>
                        <a:buSzTx/>
                        <a:buFontTx/>
                        <a:buNone/>
                        <a:tabLst/>
                        <a:defRPr/>
                      </a:pPr>
                      <a:r>
                        <a:rPr lang="en-US" altLang="zh-CN" sz="1800" b="1" kern="0" dirty="0">
                          <a:solidFill>
                            <a:srgbClr val="FF00FF"/>
                          </a:solidFill>
                          <a:latin typeface="Times New Roman" panose="02020603050405020304" pitchFamily="18" charset="0"/>
                          <a:ea typeface="宋体" charset="-122"/>
                          <a:cs typeface="Times New Roman" panose="02020603050405020304" pitchFamily="18" charset="0"/>
                        </a:rPr>
                        <a:t>P1.0</a:t>
                      </a:r>
                      <a:endParaRPr kumimoji="0" lang="en-US" altLang="zh-CN" sz="1800" b="1" i="0" u="none" strike="noStrike" cap="none" normalizeH="0" baseline="0" dirty="0">
                        <a:ln>
                          <a:noFill/>
                        </a:ln>
                        <a:solidFill>
                          <a:srgbClr val="FF00FF"/>
                        </a:solidFill>
                        <a:effectLst/>
                        <a:latin typeface="Times New Roman" pitchFamily="18" charset="0"/>
                        <a:ea typeface="宋体" charset="-122"/>
                        <a:cs typeface="Times New Roman"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36" name="矩形 35">
            <a:extLst>
              <a:ext uri="{FF2B5EF4-FFF2-40B4-BE49-F238E27FC236}">
                <a16:creationId xmlns:a16="http://schemas.microsoft.com/office/drawing/2014/main" id="{F6412BCD-D18D-4B72-B24B-09394890CB28}"/>
              </a:ext>
            </a:extLst>
          </p:cNvPr>
          <p:cNvSpPr/>
          <p:nvPr/>
        </p:nvSpPr>
        <p:spPr>
          <a:xfrm>
            <a:off x="5254624" y="4902357"/>
            <a:ext cx="534988" cy="361950"/>
          </a:xfrm>
          <a:prstGeom prst="rect">
            <a:avLst/>
          </a:prstGeom>
          <a:noFill/>
        </p:spPr>
        <p:txBody>
          <a:bodyPr lIns="0" tIns="36000" rIns="0" bIns="0" anchor="b">
            <a:spAutoFit/>
          </a:bodyPr>
          <a:lstStyle/>
          <a:p>
            <a:pPr algn="ctr" eaLnBrk="1" hangingPunct="1">
              <a:lnSpc>
                <a:spcPct val="75000"/>
              </a:lnSpc>
              <a:defRPr/>
            </a:pPr>
            <a:r>
              <a:rPr lang="en-US" altLang="zh-CN" sz="2800" b="1" kern="0" dirty="0">
                <a:solidFill>
                  <a:srgbClr val="00B050"/>
                </a:solidFill>
                <a:cs typeface="Times New Roman" panose="02020603050405020304" pitchFamily="18" charset="0"/>
              </a:rPr>
              <a:t>0</a:t>
            </a:r>
            <a:endParaRPr lang="en-US" altLang="zh-CN" sz="2800" b="1" dirty="0">
              <a:solidFill>
                <a:srgbClr val="00B050"/>
              </a:solidFill>
              <a:ea typeface="宋体" charset="-122"/>
              <a:cs typeface="Times New Roman" pitchFamily="18" charset="0"/>
            </a:endParaRPr>
          </a:p>
        </p:txBody>
      </p:sp>
      <p:sp>
        <p:nvSpPr>
          <p:cNvPr id="3" name="矩形 2">
            <a:extLst>
              <a:ext uri="{FF2B5EF4-FFF2-40B4-BE49-F238E27FC236}">
                <a16:creationId xmlns:a16="http://schemas.microsoft.com/office/drawing/2014/main" id="{E63BDB09-098E-4E4E-A61D-C56C754E7DA5}"/>
              </a:ext>
            </a:extLst>
          </p:cNvPr>
          <p:cNvSpPr/>
          <p:nvPr/>
        </p:nvSpPr>
        <p:spPr>
          <a:xfrm>
            <a:off x="7048499" y="5616732"/>
            <a:ext cx="1611313" cy="369888"/>
          </a:xfrm>
          <a:prstGeom prst="rect">
            <a:avLst/>
          </a:prstGeom>
        </p:spPr>
        <p:txBody>
          <a:bodyPr>
            <a:spAutoFit/>
          </a:bodyPr>
          <a:lstStyle/>
          <a:p>
            <a:pPr algn="ctr" eaLnBrk="1" hangingPunct="1">
              <a:defRPr/>
            </a:pPr>
            <a:r>
              <a:rPr lang="zh-CN" altLang="en-US" b="1" dirty="0">
                <a:hlinkClick r:id="" action="ppaction://noaction"/>
              </a:rPr>
              <a:t>施密特触发</a:t>
            </a:r>
            <a:r>
              <a:rPr lang="zh-CN" altLang="en-US" b="1" kern="0" dirty="0">
                <a:solidFill>
                  <a:srgbClr val="FF0000"/>
                </a:solidFill>
                <a:cs typeface="Times New Roman" panose="02020603050405020304" pitchFamily="18" charset="0"/>
                <a:hlinkClick r:id="" action="ppaction://noaction"/>
              </a:rPr>
              <a:t>管</a:t>
            </a:r>
            <a:endParaRPr lang="zh-CN" altLang="en-US" b="1" dirty="0"/>
          </a:p>
        </p:txBody>
      </p:sp>
      <p:grpSp>
        <p:nvGrpSpPr>
          <p:cNvPr id="43" name="组合 42">
            <a:extLst>
              <a:ext uri="{FF2B5EF4-FFF2-40B4-BE49-F238E27FC236}">
                <a16:creationId xmlns:a16="http://schemas.microsoft.com/office/drawing/2014/main" id="{96CFD662-657A-433E-823E-B9A102566B41}"/>
              </a:ext>
            </a:extLst>
          </p:cNvPr>
          <p:cNvGrpSpPr>
            <a:grpSpLocks/>
          </p:cNvGrpSpPr>
          <p:nvPr/>
        </p:nvGrpSpPr>
        <p:grpSpPr bwMode="auto">
          <a:xfrm>
            <a:off x="8399462" y="4472145"/>
            <a:ext cx="595312" cy="1470025"/>
            <a:chOff x="8364824" y="5083095"/>
            <a:chExt cx="596483" cy="1470809"/>
          </a:xfrm>
        </p:grpSpPr>
        <p:pic>
          <p:nvPicPr>
            <p:cNvPr id="105520" name="图片 43">
              <a:extLst>
                <a:ext uri="{FF2B5EF4-FFF2-40B4-BE49-F238E27FC236}">
                  <a16:creationId xmlns:a16="http://schemas.microsoft.com/office/drawing/2014/main" id="{59864D0E-1D2C-4CE0-A811-4C3F3D752D6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64824" y="5408656"/>
              <a:ext cx="596483" cy="1145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5521" name="直接连接符 44">
              <a:extLst>
                <a:ext uri="{FF2B5EF4-FFF2-40B4-BE49-F238E27FC236}">
                  <a16:creationId xmlns:a16="http://schemas.microsoft.com/office/drawing/2014/main" id="{3E9B12C0-0C0A-4C0E-9FFF-05D65D769319}"/>
                </a:ext>
              </a:extLst>
            </p:cNvPr>
            <p:cNvCxnSpPr>
              <a:cxnSpLocks/>
            </p:cNvCxnSpPr>
            <p:nvPr/>
          </p:nvCxnSpPr>
          <p:spPr bwMode="auto">
            <a:xfrm>
              <a:off x="8405208" y="5083095"/>
              <a:ext cx="242699" cy="0"/>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522" name="直接连接符 45">
              <a:extLst>
                <a:ext uri="{FF2B5EF4-FFF2-40B4-BE49-F238E27FC236}">
                  <a16:creationId xmlns:a16="http://schemas.microsoft.com/office/drawing/2014/main" id="{F971815E-2756-46A8-AFD6-44A7157E44C4}"/>
                </a:ext>
              </a:extLst>
            </p:cNvPr>
            <p:cNvCxnSpPr>
              <a:cxnSpLocks/>
            </p:cNvCxnSpPr>
            <p:nvPr/>
          </p:nvCxnSpPr>
          <p:spPr bwMode="auto">
            <a:xfrm>
              <a:off x="8647907" y="5089213"/>
              <a:ext cx="0" cy="320069"/>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523" name="直接连接符 59">
              <a:extLst>
                <a:ext uri="{FF2B5EF4-FFF2-40B4-BE49-F238E27FC236}">
                  <a16:creationId xmlns:a16="http://schemas.microsoft.com/office/drawing/2014/main" id="{F5790380-A279-4D37-AA1F-1C88E107D899}"/>
                </a:ext>
              </a:extLst>
            </p:cNvPr>
            <p:cNvCxnSpPr>
              <a:cxnSpLocks/>
            </p:cNvCxnSpPr>
            <p:nvPr/>
          </p:nvCxnSpPr>
          <p:spPr bwMode="auto">
            <a:xfrm rot="10800000" flipV="1">
              <a:off x="8695744" y="5537738"/>
              <a:ext cx="217046" cy="158640"/>
            </a:xfrm>
            <a:prstGeom prst="curvedConnector3">
              <a:avLst>
                <a:gd name="adj1" fmla="val 2486"/>
              </a:avLst>
            </a:prstGeom>
            <a:noFill/>
            <a:ln w="28575" algn="ctr">
              <a:solidFill>
                <a:srgbClr val="0000FF"/>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 name="灯片编号占位符 3">
            <a:extLst>
              <a:ext uri="{FF2B5EF4-FFF2-40B4-BE49-F238E27FC236}">
                <a16:creationId xmlns:a16="http://schemas.microsoft.com/office/drawing/2014/main" id="{6DF4599B-3DC7-4290-9891-E3BCB75D2B66}"/>
              </a:ext>
            </a:extLst>
          </p:cNvPr>
          <p:cNvSpPr>
            <a:spLocks noGrp="1"/>
          </p:cNvSpPr>
          <p:nvPr>
            <p:ph type="sldNum" sz="quarter" idx="12"/>
          </p:nvPr>
        </p:nvSpPr>
        <p:spPr/>
        <p:txBody>
          <a:bodyPr/>
          <a:lstStyle/>
          <a:p>
            <a:fld id="{22E77DEE-32E4-4009-988B-F2758F7B8AC2}" type="slidenum">
              <a:rPr lang="zh-CN" altLang="en-US" smtClean="0"/>
              <a:t>57</a:t>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3">
            <a:extLst>
              <a:ext uri="{FF2B5EF4-FFF2-40B4-BE49-F238E27FC236}">
                <a16:creationId xmlns:a16="http://schemas.microsoft.com/office/drawing/2014/main" id="{5CF7A9E3-97F7-4C8C-8BB8-B2ED4838CFC0}"/>
              </a:ext>
            </a:extLst>
          </p:cNvPr>
          <p:cNvSpPr>
            <a:spLocks noGrp="1" noChangeArrowheads="1"/>
          </p:cNvSpPr>
          <p:nvPr>
            <p:ph type="title"/>
          </p:nvPr>
        </p:nvSpPr>
        <p:spPr>
          <a:xfrm>
            <a:off x="538163" y="419100"/>
            <a:ext cx="7662862" cy="700088"/>
          </a:xfrm>
          <a:solidFill>
            <a:schemeClr val="bg1"/>
          </a:solidFill>
        </p:spPr>
        <p:txBody>
          <a:bodyPr>
            <a:normAutofit fontScale="90000"/>
          </a:bodyPr>
          <a:lstStyle/>
          <a:p>
            <a:pPr eaLnBrk="1" hangingPunct="1"/>
            <a:br>
              <a:rPr lang="en-US" altLang="zh-CN" sz="2800" dirty="0">
                <a:solidFill>
                  <a:srgbClr val="FF0000"/>
                </a:solidFill>
              </a:rPr>
            </a:br>
            <a:r>
              <a:rPr lang="zh-CN" altLang="en-US" sz="2800" dirty="0">
                <a:solidFill>
                  <a:srgbClr val="FF0000"/>
                </a:solidFill>
              </a:rPr>
              <a:t>准双向口</a:t>
            </a:r>
            <a:r>
              <a:rPr lang="en-US" altLang="zh-CN" sz="2800" dirty="0">
                <a:solidFill>
                  <a:srgbClr val="FF0000"/>
                </a:solidFill>
              </a:rPr>
              <a:t>(</a:t>
            </a:r>
            <a:r>
              <a:rPr lang="zh-CN" altLang="en-US" sz="2800" dirty="0"/>
              <a:t>弱上拉</a:t>
            </a:r>
            <a:r>
              <a:rPr lang="en-US" altLang="zh-CN" sz="2800" dirty="0">
                <a:solidFill>
                  <a:srgbClr val="FF0000"/>
                </a:solidFill>
              </a:rPr>
              <a:t>)</a:t>
            </a:r>
            <a:r>
              <a:rPr lang="zh-CN" altLang="en-US" sz="2800" dirty="0">
                <a:solidFill>
                  <a:srgbClr val="FF0000"/>
                </a:solidFill>
              </a:rPr>
              <a:t>工作模式的结构</a:t>
            </a:r>
            <a:endParaRPr lang="zh-CN" altLang="en-US" sz="2800" dirty="0"/>
          </a:p>
        </p:txBody>
      </p:sp>
      <p:sp>
        <p:nvSpPr>
          <p:cNvPr id="501763" name="Rectangle 3">
            <a:extLst>
              <a:ext uri="{FF2B5EF4-FFF2-40B4-BE49-F238E27FC236}">
                <a16:creationId xmlns:a16="http://schemas.microsoft.com/office/drawing/2014/main" id="{3E2CCBCF-8A00-4FBA-9B9D-F5FAABF4B7B2}"/>
              </a:ext>
            </a:extLst>
          </p:cNvPr>
          <p:cNvSpPr>
            <a:spLocks noGrp="1" noChangeArrowheads="1"/>
          </p:cNvSpPr>
          <p:nvPr>
            <p:ph idx="1"/>
          </p:nvPr>
        </p:nvSpPr>
        <p:spPr>
          <a:xfrm>
            <a:off x="705517" y="1171575"/>
            <a:ext cx="7512971" cy="2324100"/>
          </a:xfrm>
        </p:spPr>
        <p:txBody>
          <a:bodyPr/>
          <a:lstStyle/>
          <a:p>
            <a:pPr marL="261938" lvl="1" indent="-261938" eaLnBrk="1" hangingPunct="1">
              <a:lnSpc>
                <a:spcPct val="95000"/>
              </a:lnSpc>
              <a:spcBef>
                <a:spcPts val="0"/>
              </a:spcBef>
              <a:spcAft>
                <a:spcPts val="600"/>
              </a:spcAft>
              <a:defRPr/>
            </a:pPr>
            <a:r>
              <a:rPr lang="en-US" altLang="zh-CN" dirty="0"/>
              <a:t>IAP15W4K58S4</a:t>
            </a:r>
            <a:r>
              <a:rPr lang="zh-CN" altLang="en-US" dirty="0"/>
              <a:t>单片机的每个</a:t>
            </a:r>
            <a:r>
              <a:rPr lang="en-US" altLang="zh-CN" dirty="0"/>
              <a:t>I/O</a:t>
            </a:r>
            <a:r>
              <a:rPr lang="zh-CN" altLang="en-US" dirty="0"/>
              <a:t>口在弱上拉模式时能承受</a:t>
            </a:r>
            <a:r>
              <a:rPr lang="en-US" altLang="zh-CN" dirty="0"/>
              <a:t>20mA</a:t>
            </a:r>
            <a:r>
              <a:rPr lang="zh-CN" altLang="en-US" dirty="0"/>
              <a:t>的灌电流</a:t>
            </a:r>
            <a:r>
              <a:rPr lang="en-US" altLang="zh-CN" dirty="0"/>
              <a:t>(</a:t>
            </a:r>
            <a:r>
              <a:rPr lang="zh-CN" altLang="en-US" dirty="0"/>
              <a:t>最好使用</a:t>
            </a:r>
            <a:r>
              <a:rPr lang="zh-CN" altLang="en-US" dirty="0">
                <a:solidFill>
                  <a:srgbClr val="FF0000"/>
                </a:solidFill>
              </a:rPr>
              <a:t>限流电阻</a:t>
            </a:r>
            <a:r>
              <a:rPr lang="en-US" altLang="zh-CN" dirty="0"/>
              <a:t>,</a:t>
            </a:r>
            <a:r>
              <a:rPr lang="zh-CN" altLang="en-US" dirty="0"/>
              <a:t>如</a:t>
            </a:r>
            <a:r>
              <a:rPr lang="en-US" altLang="zh-CN" dirty="0"/>
              <a:t>1KΩ)</a:t>
            </a:r>
            <a:r>
              <a:rPr lang="zh-CN" altLang="en-US" dirty="0"/>
              <a:t>。</a:t>
            </a:r>
          </a:p>
          <a:p>
            <a:pPr marL="261938" lvl="1" indent="-261938" eaLnBrk="1" hangingPunct="1">
              <a:lnSpc>
                <a:spcPct val="95000"/>
              </a:lnSpc>
              <a:spcBef>
                <a:spcPts val="0"/>
              </a:spcBef>
              <a:spcAft>
                <a:spcPts val="600"/>
              </a:spcAft>
              <a:defRPr/>
            </a:pPr>
            <a:r>
              <a:rPr lang="zh-CN" altLang="en-US" dirty="0"/>
              <a:t>整个芯片的工作电流推荐不要超过</a:t>
            </a:r>
            <a:r>
              <a:rPr lang="en-US" altLang="zh-CN" dirty="0"/>
              <a:t>90mA</a:t>
            </a:r>
            <a:r>
              <a:rPr lang="zh-CN" altLang="en-US" dirty="0"/>
              <a:t>。即</a:t>
            </a:r>
            <a:r>
              <a:rPr lang="zh-CN" altLang="en-US" dirty="0">
                <a:solidFill>
                  <a:srgbClr val="FF00FF"/>
                </a:solidFill>
              </a:rPr>
              <a:t>从</a:t>
            </a:r>
            <a:r>
              <a:rPr lang="en-US" altLang="zh-CN" dirty="0">
                <a:solidFill>
                  <a:srgbClr val="FF00FF"/>
                </a:solidFill>
              </a:rPr>
              <a:t>MCU-</a:t>
            </a:r>
            <a:r>
              <a:rPr lang="en-US" altLang="zh-CN" dirty="0" err="1">
                <a:solidFill>
                  <a:srgbClr val="FF00FF"/>
                </a:solidFill>
              </a:rPr>
              <a:t>Vcc</a:t>
            </a:r>
            <a:r>
              <a:rPr lang="zh-CN" altLang="en-US" dirty="0">
                <a:solidFill>
                  <a:srgbClr val="FF00FF"/>
                </a:solidFill>
              </a:rPr>
              <a:t>流入的电流不超过</a:t>
            </a:r>
            <a:r>
              <a:rPr lang="en-US" altLang="zh-CN" dirty="0">
                <a:solidFill>
                  <a:srgbClr val="FF00FF"/>
                </a:solidFill>
              </a:rPr>
              <a:t>90mA</a:t>
            </a:r>
            <a:r>
              <a:rPr lang="zh-CN" altLang="en-US" dirty="0"/>
              <a:t>，</a:t>
            </a:r>
            <a:r>
              <a:rPr lang="zh-CN" altLang="en-US" dirty="0">
                <a:solidFill>
                  <a:srgbClr val="3366FF"/>
                </a:solidFill>
              </a:rPr>
              <a:t>从</a:t>
            </a:r>
            <a:r>
              <a:rPr lang="en-US" altLang="zh-CN" dirty="0">
                <a:solidFill>
                  <a:srgbClr val="3366FF"/>
                </a:solidFill>
              </a:rPr>
              <a:t>MCU-GND</a:t>
            </a:r>
            <a:r>
              <a:rPr lang="zh-CN" altLang="en-US" dirty="0">
                <a:solidFill>
                  <a:srgbClr val="3366FF"/>
                </a:solidFill>
              </a:rPr>
              <a:t>流出的电流不超过</a:t>
            </a:r>
            <a:r>
              <a:rPr lang="en-US" altLang="zh-CN" dirty="0">
                <a:solidFill>
                  <a:srgbClr val="3366FF"/>
                </a:solidFill>
              </a:rPr>
              <a:t>90mA</a:t>
            </a:r>
            <a:r>
              <a:rPr lang="zh-CN" altLang="en-US" dirty="0"/>
              <a:t>，整体流入</a:t>
            </a:r>
            <a:r>
              <a:rPr lang="en-US" altLang="zh-CN" dirty="0"/>
              <a:t>/</a:t>
            </a:r>
            <a:r>
              <a:rPr lang="zh-CN" altLang="en-US" dirty="0"/>
              <a:t>流出电流都不能超过</a:t>
            </a:r>
            <a:r>
              <a:rPr lang="en-US" altLang="zh-CN" dirty="0"/>
              <a:t>90mA</a:t>
            </a:r>
            <a:r>
              <a:rPr lang="zh-CN" altLang="en-US" dirty="0"/>
              <a:t>。</a:t>
            </a:r>
          </a:p>
        </p:txBody>
      </p:sp>
      <p:pic>
        <p:nvPicPr>
          <p:cNvPr id="10" name="Picture 189" descr="D:\DOCUME~1\ADMINI~1\LOCALS~1\Temp\HS5ClipImage_56b00a7d.gif">
            <a:extLst>
              <a:ext uri="{FF2B5EF4-FFF2-40B4-BE49-F238E27FC236}">
                <a16:creationId xmlns:a16="http://schemas.microsoft.com/office/drawing/2014/main" id="{2A225741-9866-4668-A251-A43A8F2DD4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 y="2738018"/>
            <a:ext cx="7888288" cy="334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组合 10">
            <a:extLst>
              <a:ext uri="{FF2B5EF4-FFF2-40B4-BE49-F238E27FC236}">
                <a16:creationId xmlns:a16="http://schemas.microsoft.com/office/drawing/2014/main" id="{5E69B210-96A6-4CE2-B432-2F5CE442D7E4}"/>
              </a:ext>
            </a:extLst>
          </p:cNvPr>
          <p:cNvGrpSpPr>
            <a:grpSpLocks/>
          </p:cNvGrpSpPr>
          <p:nvPr/>
        </p:nvGrpSpPr>
        <p:grpSpPr bwMode="auto">
          <a:xfrm>
            <a:off x="4803775" y="3330155"/>
            <a:ext cx="3073400" cy="603250"/>
            <a:chOff x="5077307" y="2987550"/>
            <a:chExt cx="3073844" cy="602582"/>
          </a:xfrm>
        </p:grpSpPr>
        <p:sp>
          <p:nvSpPr>
            <p:cNvPr id="106520" name="矩形 11">
              <a:extLst>
                <a:ext uri="{FF2B5EF4-FFF2-40B4-BE49-F238E27FC236}">
                  <a16:creationId xmlns:a16="http://schemas.microsoft.com/office/drawing/2014/main" id="{2C84B853-DCC4-4E28-9EBD-762499175E94}"/>
                </a:ext>
              </a:extLst>
            </p:cNvPr>
            <p:cNvSpPr>
              <a:spLocks noChangeArrowheads="1"/>
            </p:cNvSpPr>
            <p:nvPr/>
          </p:nvSpPr>
          <p:spPr bwMode="auto">
            <a:xfrm>
              <a:off x="5077307" y="3021767"/>
              <a:ext cx="4154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强</a:t>
              </a:r>
              <a:endParaRPr lang="zh-CN" altLang="en-US"/>
            </a:p>
          </p:txBody>
        </p:sp>
        <p:sp>
          <p:nvSpPr>
            <p:cNvPr id="106521" name="矩形 12">
              <a:extLst>
                <a:ext uri="{FF2B5EF4-FFF2-40B4-BE49-F238E27FC236}">
                  <a16:creationId xmlns:a16="http://schemas.microsoft.com/office/drawing/2014/main" id="{B7579746-6E27-4BE4-B313-F34D147467D2}"/>
                </a:ext>
              </a:extLst>
            </p:cNvPr>
            <p:cNvSpPr>
              <a:spLocks noChangeArrowheads="1"/>
            </p:cNvSpPr>
            <p:nvPr/>
          </p:nvSpPr>
          <p:spPr bwMode="auto">
            <a:xfrm>
              <a:off x="5884146" y="3220800"/>
              <a:ext cx="6463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极弱</a:t>
              </a:r>
              <a:endParaRPr lang="zh-CN" altLang="en-US"/>
            </a:p>
          </p:txBody>
        </p:sp>
        <p:sp>
          <p:nvSpPr>
            <p:cNvPr id="106522" name="矩形 13">
              <a:extLst>
                <a:ext uri="{FF2B5EF4-FFF2-40B4-BE49-F238E27FC236}">
                  <a16:creationId xmlns:a16="http://schemas.microsoft.com/office/drawing/2014/main" id="{3056028E-EC1A-491D-BE7F-865CECAF4B11}"/>
                </a:ext>
              </a:extLst>
            </p:cNvPr>
            <p:cNvSpPr>
              <a:spLocks noChangeArrowheads="1"/>
            </p:cNvSpPr>
            <p:nvPr/>
          </p:nvSpPr>
          <p:spPr bwMode="auto">
            <a:xfrm>
              <a:off x="7735653" y="2987550"/>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弱</a:t>
              </a:r>
              <a:endParaRPr lang="zh-CN" altLang="en-US"/>
            </a:p>
          </p:txBody>
        </p:sp>
      </p:grpSp>
      <p:grpSp>
        <p:nvGrpSpPr>
          <p:cNvPr id="16" name="组合 15">
            <a:extLst>
              <a:ext uri="{FF2B5EF4-FFF2-40B4-BE49-F238E27FC236}">
                <a16:creationId xmlns:a16="http://schemas.microsoft.com/office/drawing/2014/main" id="{6EC2F187-589E-4187-8989-BD758EA446C8}"/>
              </a:ext>
            </a:extLst>
          </p:cNvPr>
          <p:cNvGrpSpPr>
            <a:grpSpLocks/>
          </p:cNvGrpSpPr>
          <p:nvPr/>
        </p:nvGrpSpPr>
        <p:grpSpPr bwMode="auto">
          <a:xfrm>
            <a:off x="4591050" y="3033293"/>
            <a:ext cx="3487738" cy="438150"/>
            <a:chOff x="4661714" y="3583322"/>
            <a:chExt cx="3487291" cy="438201"/>
          </a:xfrm>
        </p:grpSpPr>
        <p:sp>
          <p:nvSpPr>
            <p:cNvPr id="106517" name="矩形 16">
              <a:extLst>
                <a:ext uri="{FF2B5EF4-FFF2-40B4-BE49-F238E27FC236}">
                  <a16:creationId xmlns:a16="http://schemas.microsoft.com/office/drawing/2014/main" id="{1D306FDE-0AE6-48CE-B22B-B54F4E76CC0D}"/>
                </a:ext>
              </a:extLst>
            </p:cNvPr>
            <p:cNvSpPr>
              <a:spLocks noChangeArrowheads="1"/>
            </p:cNvSpPr>
            <p:nvPr/>
          </p:nvSpPr>
          <p:spPr bwMode="auto">
            <a:xfrm>
              <a:off x="5828965" y="3600021"/>
              <a:ext cx="7729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cs typeface="Times New Roman" panose="02020603050405020304" pitchFamily="18" charset="0"/>
                </a:rPr>
                <a:t>30μA</a:t>
              </a:r>
              <a:endParaRPr lang="zh-CN" altLang="en-US" sz="2000" b="1">
                <a:solidFill>
                  <a:srgbClr val="FF0000"/>
                </a:solidFill>
              </a:endParaRPr>
            </a:p>
          </p:txBody>
        </p:sp>
        <p:sp>
          <p:nvSpPr>
            <p:cNvPr id="106518" name="矩形 17">
              <a:extLst>
                <a:ext uri="{FF2B5EF4-FFF2-40B4-BE49-F238E27FC236}">
                  <a16:creationId xmlns:a16="http://schemas.microsoft.com/office/drawing/2014/main" id="{249C298A-B8BA-4F8E-B397-6F05DDD6EC40}"/>
                </a:ext>
              </a:extLst>
            </p:cNvPr>
            <p:cNvSpPr>
              <a:spLocks noChangeArrowheads="1"/>
            </p:cNvSpPr>
            <p:nvPr/>
          </p:nvSpPr>
          <p:spPr bwMode="auto">
            <a:xfrm>
              <a:off x="4661714" y="3621413"/>
              <a:ext cx="8402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cs typeface="Times New Roman" panose="02020603050405020304" pitchFamily="18" charset="0"/>
                </a:rPr>
                <a:t>20mA</a:t>
              </a:r>
              <a:endParaRPr lang="zh-CN" altLang="en-US" sz="2000" b="1">
                <a:solidFill>
                  <a:srgbClr val="FF0000"/>
                </a:solidFill>
              </a:endParaRPr>
            </a:p>
          </p:txBody>
        </p:sp>
        <p:sp>
          <p:nvSpPr>
            <p:cNvPr id="106519" name="矩形 18">
              <a:extLst>
                <a:ext uri="{FF2B5EF4-FFF2-40B4-BE49-F238E27FC236}">
                  <a16:creationId xmlns:a16="http://schemas.microsoft.com/office/drawing/2014/main" id="{B3AE47A0-2278-47D3-8128-D0E6A01B60D8}"/>
                </a:ext>
              </a:extLst>
            </p:cNvPr>
            <p:cNvSpPr>
              <a:spLocks noChangeArrowheads="1"/>
            </p:cNvSpPr>
            <p:nvPr/>
          </p:nvSpPr>
          <p:spPr bwMode="auto">
            <a:xfrm>
              <a:off x="7247796" y="3583322"/>
              <a:ext cx="9012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cs typeface="Times New Roman" panose="02020603050405020304" pitchFamily="18" charset="0"/>
                </a:rPr>
                <a:t>200μA</a:t>
              </a:r>
              <a:endParaRPr lang="zh-CN" altLang="en-US" sz="2000" b="1">
                <a:solidFill>
                  <a:srgbClr val="FF0000"/>
                </a:solidFill>
              </a:endParaRPr>
            </a:p>
          </p:txBody>
        </p:sp>
      </p:grpSp>
      <p:sp>
        <p:nvSpPr>
          <p:cNvPr id="7" name="任意多边形 6">
            <a:extLst>
              <a:ext uri="{FF2B5EF4-FFF2-40B4-BE49-F238E27FC236}">
                <a16:creationId xmlns:a16="http://schemas.microsoft.com/office/drawing/2014/main" id="{EAAC8FA0-9C29-4957-A4A5-8F89BBA0BED3}"/>
              </a:ext>
            </a:extLst>
          </p:cNvPr>
          <p:cNvSpPr>
            <a:spLocks/>
          </p:cNvSpPr>
          <p:nvPr/>
        </p:nvSpPr>
        <p:spPr bwMode="auto">
          <a:xfrm rot="21404582">
            <a:off x="5815013" y="4135018"/>
            <a:ext cx="1836737" cy="566737"/>
          </a:xfrm>
          <a:custGeom>
            <a:avLst/>
            <a:gdLst>
              <a:gd name="T0" fmla="*/ 1837088 w 1941838"/>
              <a:gd name="T1" fmla="*/ 27428 h 732096"/>
              <a:gd name="T2" fmla="*/ 230523 w 1941838"/>
              <a:gd name="T3" fmla="*/ 61154 h 732096"/>
              <a:gd name="T4" fmla="*/ 10821 w 1941838"/>
              <a:gd name="T5" fmla="*/ 567058 h 732096"/>
              <a:gd name="T6" fmla="*/ 10821 w 1941838"/>
              <a:gd name="T7" fmla="*/ 567058 h 7320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1838" h="732096">
                <a:moveTo>
                  <a:pt x="1941838" y="35411"/>
                </a:moveTo>
                <a:cubicBezTo>
                  <a:pt x="1253619" y="-875"/>
                  <a:pt x="565400" y="-37161"/>
                  <a:pt x="243667" y="78953"/>
                </a:cubicBezTo>
                <a:cubicBezTo>
                  <a:pt x="-78066" y="195067"/>
                  <a:pt x="11438" y="732096"/>
                  <a:pt x="11438" y="732096"/>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 name="矩形 2">
            <a:extLst>
              <a:ext uri="{FF2B5EF4-FFF2-40B4-BE49-F238E27FC236}">
                <a16:creationId xmlns:a16="http://schemas.microsoft.com/office/drawing/2014/main" id="{69CE8328-0D98-41FB-BC85-63F2CB5C5C1D}"/>
              </a:ext>
            </a:extLst>
          </p:cNvPr>
          <p:cNvSpPr>
            <a:spLocks noChangeArrowheads="1"/>
          </p:cNvSpPr>
          <p:nvPr/>
        </p:nvSpPr>
        <p:spPr bwMode="auto">
          <a:xfrm>
            <a:off x="6915150" y="4514430"/>
            <a:ext cx="1924050" cy="615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FF0000"/>
                </a:solidFill>
              </a:rPr>
              <a:t>输出低时</a:t>
            </a:r>
            <a:r>
              <a:rPr lang="en-US" altLang="zh-CN" sz="2000" b="1">
                <a:solidFill>
                  <a:srgbClr val="FF0000"/>
                </a:solidFill>
              </a:rPr>
              <a:t>,</a:t>
            </a:r>
            <a:r>
              <a:rPr lang="zh-CN" altLang="en-US" sz="2000" b="1">
                <a:solidFill>
                  <a:srgbClr val="FF0000"/>
                </a:solidFill>
              </a:rPr>
              <a:t>灌电流最大可达</a:t>
            </a:r>
            <a:r>
              <a:rPr lang="en-US" altLang="zh-CN" sz="2000" b="1">
                <a:solidFill>
                  <a:srgbClr val="FF0000"/>
                </a:solidFill>
              </a:rPr>
              <a:t>20mA</a:t>
            </a:r>
            <a:endParaRPr lang="zh-CN" altLang="en-US" sz="2000" b="1">
              <a:solidFill>
                <a:srgbClr val="FF0000"/>
              </a:solidFill>
            </a:endParaRPr>
          </a:p>
        </p:txBody>
      </p:sp>
      <p:sp>
        <p:nvSpPr>
          <p:cNvPr id="15" name="矩形 14">
            <a:extLst>
              <a:ext uri="{FF2B5EF4-FFF2-40B4-BE49-F238E27FC236}">
                <a16:creationId xmlns:a16="http://schemas.microsoft.com/office/drawing/2014/main" id="{682F4024-BEAF-4F12-A04A-66CC5C333FA6}"/>
              </a:ext>
            </a:extLst>
          </p:cNvPr>
          <p:cNvSpPr>
            <a:spLocks noChangeArrowheads="1"/>
          </p:cNvSpPr>
          <p:nvPr/>
        </p:nvSpPr>
        <p:spPr bwMode="auto">
          <a:xfrm>
            <a:off x="134938" y="3433343"/>
            <a:ext cx="12207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solidFill>
                  <a:srgbClr val="FF0000"/>
                </a:solidFill>
                <a:cs typeface="Times New Roman" panose="02020603050405020304" pitchFamily="18" charset="0"/>
              </a:rPr>
              <a:t>P0</a:t>
            </a:r>
            <a:r>
              <a:rPr lang="zh-CN" altLang="en-US" sz="2400">
                <a:solidFill>
                  <a:srgbClr val="FF0000"/>
                </a:solidFill>
                <a:cs typeface="Times New Roman" panose="02020603050405020304" pitchFamily="18" charset="0"/>
              </a:rPr>
              <a:t>～</a:t>
            </a:r>
            <a:r>
              <a:rPr lang="en-US" altLang="zh-CN" sz="2400">
                <a:solidFill>
                  <a:srgbClr val="FF0000"/>
                </a:solidFill>
                <a:cs typeface="Times New Roman" panose="02020603050405020304" pitchFamily="18" charset="0"/>
              </a:rPr>
              <a:t> P7</a:t>
            </a:r>
            <a:endParaRPr lang="zh-CN" altLang="en-US" sz="2400">
              <a:cs typeface="Times New Roman" panose="02020603050405020304" pitchFamily="18" charset="0"/>
            </a:endParaRPr>
          </a:p>
        </p:txBody>
      </p:sp>
      <p:grpSp>
        <p:nvGrpSpPr>
          <p:cNvPr id="20" name="组合 19">
            <a:extLst>
              <a:ext uri="{FF2B5EF4-FFF2-40B4-BE49-F238E27FC236}">
                <a16:creationId xmlns:a16="http://schemas.microsoft.com/office/drawing/2014/main" id="{B958B8C0-AB1C-41A7-998E-E60F4C352BA8}"/>
              </a:ext>
            </a:extLst>
          </p:cNvPr>
          <p:cNvGrpSpPr>
            <a:grpSpLocks/>
          </p:cNvGrpSpPr>
          <p:nvPr/>
        </p:nvGrpSpPr>
        <p:grpSpPr bwMode="auto">
          <a:xfrm>
            <a:off x="8201025" y="2638005"/>
            <a:ext cx="728663" cy="1473200"/>
            <a:chOff x="8466965" y="3159241"/>
            <a:chExt cx="728995" cy="1473352"/>
          </a:xfrm>
        </p:grpSpPr>
        <p:pic>
          <p:nvPicPr>
            <p:cNvPr id="106514" name="图片 20">
              <a:extLst>
                <a:ext uri="{FF2B5EF4-FFF2-40B4-BE49-F238E27FC236}">
                  <a16:creationId xmlns:a16="http://schemas.microsoft.com/office/drawing/2014/main" id="{2AA9F54B-DA5E-4839-85BD-791EA610AE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7982" y="3159241"/>
              <a:ext cx="717978" cy="1295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6515" name="直接连接符 21">
              <a:extLst>
                <a:ext uri="{FF2B5EF4-FFF2-40B4-BE49-F238E27FC236}">
                  <a16:creationId xmlns:a16="http://schemas.microsoft.com/office/drawing/2014/main" id="{80BCD73C-70F6-444F-9D0D-78E39A2C9E10}"/>
                </a:ext>
              </a:extLst>
            </p:cNvPr>
            <p:cNvCxnSpPr>
              <a:cxnSpLocks noChangeShapeType="1"/>
            </p:cNvCxnSpPr>
            <p:nvPr/>
          </p:nvCxnSpPr>
          <p:spPr bwMode="auto">
            <a:xfrm flipV="1">
              <a:off x="8466965" y="4626889"/>
              <a:ext cx="286056" cy="912"/>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516" name="直接连接符 22">
              <a:extLst>
                <a:ext uri="{FF2B5EF4-FFF2-40B4-BE49-F238E27FC236}">
                  <a16:creationId xmlns:a16="http://schemas.microsoft.com/office/drawing/2014/main" id="{ED76DB8D-81E3-45E2-891F-7B470785B42F}"/>
                </a:ext>
              </a:extLst>
            </p:cNvPr>
            <p:cNvCxnSpPr>
              <a:cxnSpLocks noChangeShapeType="1"/>
            </p:cNvCxnSpPr>
            <p:nvPr/>
          </p:nvCxnSpPr>
          <p:spPr bwMode="auto">
            <a:xfrm flipV="1">
              <a:off x="8753021" y="4393765"/>
              <a:ext cx="4480" cy="238828"/>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4" name="矩形 23">
            <a:extLst>
              <a:ext uri="{FF2B5EF4-FFF2-40B4-BE49-F238E27FC236}">
                <a16:creationId xmlns:a16="http://schemas.microsoft.com/office/drawing/2014/main" id="{0D6173EF-84CE-47F6-867C-2AA032E62782}"/>
              </a:ext>
            </a:extLst>
          </p:cNvPr>
          <p:cNvSpPr/>
          <p:nvPr/>
        </p:nvSpPr>
        <p:spPr>
          <a:xfrm>
            <a:off x="7859713" y="5251030"/>
            <a:ext cx="1071562" cy="592138"/>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00B050"/>
                </a:solidFill>
                <a:cs typeface="Times New Roman" panose="02020603050405020304" pitchFamily="18" charset="0"/>
              </a:rPr>
              <a:t>例</a:t>
            </a:r>
            <a:r>
              <a:rPr lang="en-US" altLang="zh-CN" sz="2400" b="1" kern="0" dirty="0">
                <a:solidFill>
                  <a:srgbClr val="00B050"/>
                </a:solidFill>
                <a:cs typeface="Times New Roman" panose="02020603050405020304" pitchFamily="18" charset="0"/>
              </a:rPr>
              <a:t>:</a:t>
            </a:r>
            <a:r>
              <a:rPr lang="zh-CN" altLang="en-US" sz="2400" b="1" kern="0" dirty="0">
                <a:solidFill>
                  <a:srgbClr val="00B050"/>
                </a:solidFill>
                <a:cs typeface="Times New Roman" panose="02020603050405020304" pitchFamily="18" charset="0"/>
              </a:rPr>
              <a:t>口线</a:t>
            </a:r>
            <a:r>
              <a:rPr lang="en-US" altLang="zh-CN" sz="2400" b="1" kern="0" dirty="0">
                <a:solidFill>
                  <a:srgbClr val="00B050"/>
                </a:solidFill>
                <a:cs typeface="Times New Roman" panose="02020603050405020304" pitchFamily="18" charset="0"/>
              </a:rPr>
              <a:t>P1.0</a:t>
            </a:r>
            <a:endParaRPr lang="en-US" altLang="zh-CN" sz="2400" b="1" dirty="0">
              <a:solidFill>
                <a:srgbClr val="00B050"/>
              </a:solidFill>
              <a:ea typeface="宋体" charset="-122"/>
              <a:cs typeface="Times New Roman" pitchFamily="18" charset="0"/>
            </a:endParaRPr>
          </a:p>
        </p:txBody>
      </p:sp>
      <p:sp>
        <p:nvSpPr>
          <p:cNvPr id="25" name="矩形 24">
            <a:extLst>
              <a:ext uri="{FF2B5EF4-FFF2-40B4-BE49-F238E27FC236}">
                <a16:creationId xmlns:a16="http://schemas.microsoft.com/office/drawing/2014/main" id="{531D8E2B-C971-4B6E-B53B-1D4EA9818076}"/>
              </a:ext>
            </a:extLst>
          </p:cNvPr>
          <p:cNvSpPr>
            <a:spLocks noChangeArrowheads="1"/>
          </p:cNvSpPr>
          <p:nvPr/>
        </p:nvSpPr>
        <p:spPr bwMode="auto">
          <a:xfrm>
            <a:off x="5056188" y="4514430"/>
            <a:ext cx="3635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solidFill>
                  <a:srgbClr val="3333FF"/>
                </a:solidFill>
                <a:cs typeface="Times New Roman" panose="02020603050405020304" pitchFamily="18" charset="0"/>
              </a:rPr>
              <a:t>1</a:t>
            </a:r>
            <a:endParaRPr lang="zh-CN" altLang="en-US" sz="2800" b="1">
              <a:solidFill>
                <a:srgbClr val="3333FF"/>
              </a:solidFill>
            </a:endParaRPr>
          </a:p>
        </p:txBody>
      </p:sp>
      <p:sp>
        <p:nvSpPr>
          <p:cNvPr id="26" name="矩形 25">
            <a:extLst>
              <a:ext uri="{FF2B5EF4-FFF2-40B4-BE49-F238E27FC236}">
                <a16:creationId xmlns:a16="http://schemas.microsoft.com/office/drawing/2014/main" id="{103C0C39-F2B9-4625-9A0C-63A80A88EEB0}"/>
              </a:ext>
            </a:extLst>
          </p:cNvPr>
          <p:cNvSpPr/>
          <p:nvPr/>
        </p:nvSpPr>
        <p:spPr>
          <a:xfrm>
            <a:off x="7115175" y="4158830"/>
            <a:ext cx="493713" cy="363538"/>
          </a:xfrm>
          <a:prstGeom prst="rect">
            <a:avLst/>
          </a:prstGeom>
          <a:noFill/>
        </p:spPr>
        <p:txBody>
          <a:bodyPr lIns="0" tIns="36000" rIns="0" bIns="0" anchor="b">
            <a:spAutoFit/>
          </a:bodyPr>
          <a:lstStyle/>
          <a:p>
            <a:pPr algn="ctr" eaLnBrk="1" hangingPunct="1">
              <a:lnSpc>
                <a:spcPct val="75000"/>
              </a:lnSpc>
              <a:defRPr/>
            </a:pPr>
            <a:r>
              <a:rPr lang="en-US" altLang="zh-CN" sz="2800" b="1" kern="0" dirty="0">
                <a:solidFill>
                  <a:srgbClr val="0000FF"/>
                </a:solidFill>
                <a:cs typeface="Times New Roman" panose="02020603050405020304" pitchFamily="18" charset="0"/>
              </a:rPr>
              <a:t>0</a:t>
            </a:r>
            <a:endParaRPr lang="en-US" altLang="zh-CN" sz="2800" b="1" dirty="0">
              <a:solidFill>
                <a:srgbClr val="0000FF"/>
              </a:solidFill>
              <a:ea typeface="宋体" charset="-122"/>
              <a:cs typeface="Times New Roman" pitchFamily="18" charset="0"/>
            </a:endParaRPr>
          </a:p>
        </p:txBody>
      </p:sp>
      <p:sp>
        <p:nvSpPr>
          <p:cNvPr id="27" name="矩形 26">
            <a:extLst>
              <a:ext uri="{FF2B5EF4-FFF2-40B4-BE49-F238E27FC236}">
                <a16:creationId xmlns:a16="http://schemas.microsoft.com/office/drawing/2014/main" id="{40D8BCC1-33FF-4003-A2BD-173C12BA7F08}"/>
              </a:ext>
            </a:extLst>
          </p:cNvPr>
          <p:cNvSpPr/>
          <p:nvPr/>
        </p:nvSpPr>
        <p:spPr>
          <a:xfrm>
            <a:off x="336550" y="4590630"/>
            <a:ext cx="536575" cy="361950"/>
          </a:xfrm>
          <a:prstGeom prst="rect">
            <a:avLst/>
          </a:prstGeom>
          <a:noFill/>
        </p:spPr>
        <p:txBody>
          <a:bodyPr lIns="0" tIns="36000" rIns="0" bIns="0" anchor="b">
            <a:spAutoFit/>
          </a:bodyPr>
          <a:lstStyle/>
          <a:p>
            <a:pPr algn="ctr" eaLnBrk="1" hangingPunct="1">
              <a:lnSpc>
                <a:spcPct val="75000"/>
              </a:lnSpc>
              <a:defRPr/>
            </a:pPr>
            <a:r>
              <a:rPr lang="en-US" altLang="zh-CN" sz="2800" b="1" kern="0" dirty="0">
                <a:solidFill>
                  <a:srgbClr val="0000FF"/>
                </a:solidFill>
                <a:cs typeface="Times New Roman" panose="02020603050405020304" pitchFamily="18" charset="0"/>
              </a:rPr>
              <a:t>0</a:t>
            </a:r>
            <a:endParaRPr lang="en-US" altLang="zh-CN" sz="2800" b="1" dirty="0">
              <a:solidFill>
                <a:srgbClr val="0000FF"/>
              </a:solidFill>
              <a:ea typeface="宋体" charset="-122"/>
              <a:cs typeface="Times New Roman" pitchFamily="18" charset="0"/>
            </a:endParaRPr>
          </a:p>
        </p:txBody>
      </p:sp>
      <p:sp>
        <p:nvSpPr>
          <p:cNvPr id="4" name="灯片编号占位符 3">
            <a:extLst>
              <a:ext uri="{FF2B5EF4-FFF2-40B4-BE49-F238E27FC236}">
                <a16:creationId xmlns:a16="http://schemas.microsoft.com/office/drawing/2014/main" id="{ED62913C-4338-4EC3-82C8-5940CAC2F673}"/>
              </a:ext>
            </a:extLst>
          </p:cNvPr>
          <p:cNvSpPr>
            <a:spLocks noGrp="1"/>
          </p:cNvSpPr>
          <p:nvPr>
            <p:ph type="sldNum" sz="quarter" idx="12"/>
          </p:nvPr>
        </p:nvSpPr>
        <p:spPr/>
        <p:txBody>
          <a:bodyPr/>
          <a:lstStyle/>
          <a:p>
            <a:fld id="{22E77DEE-32E4-4009-988B-F2758F7B8AC2}" type="slidenum">
              <a:rPr lang="zh-CN" altLang="en-US" smtClean="0"/>
              <a:t>58</a:t>
            </a:fld>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3">
            <a:extLst>
              <a:ext uri="{FF2B5EF4-FFF2-40B4-BE49-F238E27FC236}">
                <a16:creationId xmlns:a16="http://schemas.microsoft.com/office/drawing/2014/main" id="{9286676E-306B-4C2C-BB0F-FECBBC2E78C4}"/>
              </a:ext>
            </a:extLst>
          </p:cNvPr>
          <p:cNvSpPr>
            <a:spLocks noGrp="1" noChangeArrowheads="1"/>
          </p:cNvSpPr>
          <p:nvPr>
            <p:ph type="title"/>
          </p:nvPr>
        </p:nvSpPr>
        <p:spPr>
          <a:xfrm>
            <a:off x="517525" y="596900"/>
            <a:ext cx="8229600" cy="504825"/>
          </a:xfrm>
        </p:spPr>
        <p:txBody>
          <a:bodyPr>
            <a:normAutofit fontScale="90000"/>
          </a:bodyPr>
          <a:lstStyle/>
          <a:p>
            <a:pPr eaLnBrk="1" hangingPunct="1"/>
            <a:r>
              <a:rPr lang="zh-CN" altLang="en-US" dirty="0">
                <a:solidFill>
                  <a:srgbClr val="FF0000"/>
                </a:solidFill>
              </a:rPr>
              <a:t>准双向口</a:t>
            </a:r>
            <a:r>
              <a:rPr lang="en-US" altLang="zh-CN" dirty="0">
                <a:solidFill>
                  <a:srgbClr val="FF0000"/>
                </a:solidFill>
              </a:rPr>
              <a:t>(</a:t>
            </a:r>
            <a:r>
              <a:rPr lang="zh-CN" altLang="en-US" dirty="0"/>
              <a:t>弱上拉</a:t>
            </a:r>
            <a:r>
              <a:rPr lang="en-US" altLang="zh-CN" dirty="0">
                <a:solidFill>
                  <a:srgbClr val="FF0000"/>
                </a:solidFill>
              </a:rPr>
              <a:t>)</a:t>
            </a:r>
            <a:r>
              <a:rPr lang="zh-CN" altLang="en-US" dirty="0">
                <a:solidFill>
                  <a:srgbClr val="FF0000"/>
                </a:solidFill>
              </a:rPr>
              <a:t>工作模式的结构</a:t>
            </a:r>
            <a:endParaRPr lang="zh-CN" altLang="en-US" sz="2800" dirty="0">
              <a:solidFill>
                <a:srgbClr val="FF0000"/>
              </a:solidFill>
            </a:endParaRPr>
          </a:p>
        </p:txBody>
      </p:sp>
      <p:sp>
        <p:nvSpPr>
          <p:cNvPr id="517123" name="Rectangle 3">
            <a:extLst>
              <a:ext uri="{FF2B5EF4-FFF2-40B4-BE49-F238E27FC236}">
                <a16:creationId xmlns:a16="http://schemas.microsoft.com/office/drawing/2014/main" id="{AB104A4C-B383-4AF3-B832-B09F00295B1C}"/>
              </a:ext>
            </a:extLst>
          </p:cNvPr>
          <p:cNvSpPr>
            <a:spLocks noGrp="1" noChangeArrowheads="1"/>
          </p:cNvSpPr>
          <p:nvPr>
            <p:ph idx="1"/>
          </p:nvPr>
        </p:nvSpPr>
        <p:spPr>
          <a:xfrm>
            <a:off x="537734" y="1237511"/>
            <a:ext cx="8101013" cy="1283440"/>
          </a:xfrm>
        </p:spPr>
        <p:txBody>
          <a:bodyPr>
            <a:normAutofit lnSpcReduction="10000"/>
          </a:bodyPr>
          <a:lstStyle/>
          <a:p>
            <a:pPr marL="261938" lvl="1" indent="-261938" eaLnBrk="1" hangingPunct="1">
              <a:spcBef>
                <a:spcPct val="0"/>
              </a:spcBef>
              <a:spcAft>
                <a:spcPts val="200"/>
              </a:spcAft>
            </a:pPr>
            <a:r>
              <a:rPr lang="zh-CN" altLang="en-US" dirty="0">
                <a:latin typeface="Times New Roman" panose="02020603050405020304" pitchFamily="18" charset="0"/>
                <a:cs typeface="Times New Roman" panose="02020603050405020304" pitchFamily="18" charset="0"/>
              </a:rPr>
              <a:t>当</a:t>
            </a:r>
            <a:r>
              <a:rPr lang="zh-CN" altLang="en-US" dirty="0">
                <a:solidFill>
                  <a:srgbClr val="0000FF"/>
                </a:solidFill>
                <a:latin typeface="Times New Roman" panose="02020603050405020304" pitchFamily="18" charset="0"/>
                <a:cs typeface="Times New Roman" panose="02020603050405020304" pitchFamily="18" charset="0"/>
              </a:rPr>
              <a:t>口线寄存器为</a:t>
            </a:r>
            <a:r>
              <a:rPr lang="en-US" altLang="zh-CN" dirty="0">
                <a:solidFill>
                  <a:srgbClr val="0000FF"/>
                </a:solidFill>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且</a:t>
            </a:r>
            <a:r>
              <a:rPr lang="zh-CN" altLang="en-US" dirty="0">
                <a:solidFill>
                  <a:srgbClr val="FF00FF"/>
                </a:solidFill>
                <a:latin typeface="Times New Roman" panose="02020603050405020304" pitchFamily="18" charset="0"/>
                <a:cs typeface="Times New Roman" panose="02020603050405020304" pitchFamily="18" charset="0"/>
              </a:rPr>
              <a:t>口线引脚本身也为</a:t>
            </a:r>
            <a:r>
              <a:rPr lang="en-US" altLang="zh-CN" dirty="0">
                <a:solidFill>
                  <a:srgbClr val="FF00FF"/>
                </a:solidFill>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时</a:t>
            </a:r>
            <a:r>
              <a:rPr lang="en-US" altLang="zh-CN" dirty="0">
                <a:latin typeface="Times New Roman" panose="02020603050405020304" pitchFamily="18" charset="0"/>
                <a:cs typeface="Times New Roman" panose="02020603050405020304" pitchFamily="18" charset="0"/>
              </a:rPr>
              <a:t>, T3</a:t>
            </a:r>
            <a:r>
              <a:rPr lang="zh-CN" altLang="en-US" dirty="0">
                <a:latin typeface="Times New Roman" panose="02020603050405020304" pitchFamily="18" charset="0"/>
                <a:cs typeface="Times New Roman" panose="02020603050405020304" pitchFamily="18" charset="0"/>
              </a:rPr>
              <a:t>导通。</a:t>
            </a:r>
            <a:r>
              <a:rPr lang="en-US" altLang="zh-CN" dirty="0">
                <a:latin typeface="Times New Roman" panose="02020603050405020304" pitchFamily="18" charset="0"/>
                <a:cs typeface="Times New Roman" panose="02020603050405020304" pitchFamily="18" charset="0"/>
              </a:rPr>
              <a:t>T3</a:t>
            </a:r>
            <a:r>
              <a:rPr lang="zh-CN" altLang="en-US" dirty="0">
                <a:latin typeface="Times New Roman" panose="02020603050405020304" pitchFamily="18" charset="0"/>
                <a:cs typeface="Times New Roman" panose="02020603050405020304" pitchFamily="18" charset="0"/>
              </a:rPr>
              <a:t>提供基本驱动电流使准双向口输出为</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261938" lvl="1" indent="-261938" eaLnBrk="1" hangingPunct="1">
              <a:spcBef>
                <a:spcPct val="0"/>
              </a:spcBef>
              <a:spcAft>
                <a:spcPts val="200"/>
              </a:spcAft>
            </a:pPr>
            <a:r>
              <a:rPr lang="zh-CN" altLang="en-US" dirty="0">
                <a:latin typeface="Times New Roman" panose="02020603050405020304" pitchFamily="18" charset="0"/>
                <a:cs typeface="Times New Roman" panose="02020603050405020304" pitchFamily="18" charset="0"/>
              </a:rPr>
              <a:t>若</a:t>
            </a:r>
            <a:r>
              <a:rPr lang="zh-CN" altLang="en-US" dirty="0">
                <a:solidFill>
                  <a:srgbClr val="FF0000"/>
                </a:solidFill>
                <a:latin typeface="Times New Roman" panose="02020603050405020304" pitchFamily="18" charset="0"/>
                <a:cs typeface="Times New Roman" panose="02020603050405020304" pitchFamily="18" charset="0"/>
              </a:rPr>
              <a:t>引脚输出为</a:t>
            </a:r>
            <a:r>
              <a:rPr lang="en-US" altLang="zh-CN" dirty="0">
                <a:solidFill>
                  <a:srgbClr val="FF0000"/>
                </a:solidFill>
                <a:latin typeface="Times New Roman" panose="02020603050405020304" pitchFamily="18" charset="0"/>
                <a:cs typeface="Times New Roman" panose="02020603050405020304" pitchFamily="18" charset="0"/>
              </a:rPr>
              <a:t>“1”</a:t>
            </a:r>
            <a:r>
              <a:rPr lang="zh-CN" altLang="en-US" dirty="0">
                <a:solidFill>
                  <a:srgbClr val="FF0000"/>
                </a:solidFill>
                <a:latin typeface="Times New Roman" panose="02020603050405020304" pitchFamily="18" charset="0"/>
                <a:cs typeface="Times New Roman" panose="02020603050405020304" pitchFamily="18" charset="0"/>
              </a:rPr>
              <a:t>而由外部装置下拉到低</a:t>
            </a:r>
            <a:r>
              <a:rPr lang="zh-CN" altLang="en-US" dirty="0">
                <a:latin typeface="Times New Roman" panose="02020603050405020304" pitchFamily="18" charset="0"/>
                <a:cs typeface="Times New Roman" panose="02020603050405020304" pitchFamily="18" charset="0"/>
              </a:rPr>
              <a:t>时</a:t>
            </a:r>
            <a:r>
              <a:rPr lang="en-US" altLang="zh-CN" dirty="0">
                <a:latin typeface="Times New Roman" panose="02020603050405020304" pitchFamily="18" charset="0"/>
                <a:cs typeface="Times New Roman" panose="02020603050405020304" pitchFamily="18" charset="0"/>
              </a:rPr>
              <a:t>, T3</a:t>
            </a:r>
            <a:r>
              <a:rPr lang="zh-CN" altLang="en-US" dirty="0">
                <a:latin typeface="Times New Roman" panose="02020603050405020304" pitchFamily="18" charset="0"/>
                <a:cs typeface="Times New Roman" panose="02020603050405020304" pitchFamily="18" charset="0"/>
              </a:rPr>
              <a:t>断开</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而</a:t>
            </a:r>
            <a:r>
              <a:rPr lang="en-US" altLang="zh-CN" dirty="0">
                <a:latin typeface="Times New Roman" panose="02020603050405020304" pitchFamily="18" charset="0"/>
                <a:cs typeface="Times New Roman" panose="02020603050405020304" pitchFamily="18" charset="0"/>
              </a:rPr>
              <a:t>T2</a:t>
            </a:r>
            <a:r>
              <a:rPr lang="zh-CN" altLang="en-US" dirty="0">
                <a:latin typeface="Times New Roman" panose="02020603050405020304" pitchFamily="18" charset="0"/>
                <a:cs typeface="Times New Roman" panose="02020603050405020304" pitchFamily="18" charset="0"/>
              </a:rPr>
              <a:t>维持导通状态</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为把这个引脚强拉为低</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外部装置须有足够灌电流能力使引脚上电压降到门槛电压以下。</a:t>
            </a:r>
          </a:p>
        </p:txBody>
      </p:sp>
      <p:pic>
        <p:nvPicPr>
          <p:cNvPr id="16" name="Picture 189" descr="D:\DOCUME~1\ADMINI~1\LOCALS~1\Temp\HS5ClipImage_56b00a7d.gif">
            <a:extLst>
              <a:ext uri="{FF2B5EF4-FFF2-40B4-BE49-F238E27FC236}">
                <a16:creationId xmlns:a16="http://schemas.microsoft.com/office/drawing/2014/main" id="{45B161D3-FCCF-41EC-B5B6-643A135470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348" y="2520951"/>
            <a:ext cx="8258175" cy="334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7" name="组合 16">
            <a:extLst>
              <a:ext uri="{FF2B5EF4-FFF2-40B4-BE49-F238E27FC236}">
                <a16:creationId xmlns:a16="http://schemas.microsoft.com/office/drawing/2014/main" id="{A31B447F-1A16-474E-9909-58D3993D2457}"/>
              </a:ext>
            </a:extLst>
          </p:cNvPr>
          <p:cNvGrpSpPr>
            <a:grpSpLocks/>
          </p:cNvGrpSpPr>
          <p:nvPr/>
        </p:nvGrpSpPr>
        <p:grpSpPr bwMode="auto">
          <a:xfrm>
            <a:off x="4840923" y="2847976"/>
            <a:ext cx="2974975" cy="400050"/>
            <a:chOff x="5018288" y="2721819"/>
            <a:chExt cx="2975952" cy="400110"/>
          </a:xfrm>
        </p:grpSpPr>
        <p:sp>
          <p:nvSpPr>
            <p:cNvPr id="107555" name="矩形 17">
              <a:extLst>
                <a:ext uri="{FF2B5EF4-FFF2-40B4-BE49-F238E27FC236}">
                  <a16:creationId xmlns:a16="http://schemas.microsoft.com/office/drawing/2014/main" id="{48828460-4048-4A2B-A6D2-C24A2A05D461}"/>
                </a:ext>
              </a:extLst>
            </p:cNvPr>
            <p:cNvSpPr>
              <a:spLocks noChangeArrowheads="1"/>
            </p:cNvSpPr>
            <p:nvPr/>
          </p:nvSpPr>
          <p:spPr bwMode="auto">
            <a:xfrm>
              <a:off x="5018288" y="2721819"/>
              <a:ext cx="442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B050"/>
                  </a:solidFill>
                </a:rPr>
                <a:t>强</a:t>
              </a:r>
            </a:p>
          </p:txBody>
        </p:sp>
        <p:sp>
          <p:nvSpPr>
            <p:cNvPr id="107556" name="矩形 18">
              <a:extLst>
                <a:ext uri="{FF2B5EF4-FFF2-40B4-BE49-F238E27FC236}">
                  <a16:creationId xmlns:a16="http://schemas.microsoft.com/office/drawing/2014/main" id="{BC1B77A8-09EE-4159-BDBB-84FA4A401E44}"/>
                </a:ext>
              </a:extLst>
            </p:cNvPr>
            <p:cNvSpPr>
              <a:spLocks noChangeArrowheads="1"/>
            </p:cNvSpPr>
            <p:nvPr/>
          </p:nvSpPr>
          <p:spPr bwMode="auto">
            <a:xfrm>
              <a:off x="6087133" y="2721819"/>
              <a:ext cx="7008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B050"/>
                  </a:solidFill>
                </a:rPr>
                <a:t>极弱</a:t>
              </a:r>
            </a:p>
          </p:txBody>
        </p:sp>
        <p:sp>
          <p:nvSpPr>
            <p:cNvPr id="107557" name="矩形 19">
              <a:extLst>
                <a:ext uri="{FF2B5EF4-FFF2-40B4-BE49-F238E27FC236}">
                  <a16:creationId xmlns:a16="http://schemas.microsoft.com/office/drawing/2014/main" id="{451A8D6B-C036-49CE-8E62-A40E30AF1D92}"/>
                </a:ext>
              </a:extLst>
            </p:cNvPr>
            <p:cNvSpPr>
              <a:spLocks noChangeArrowheads="1"/>
            </p:cNvSpPr>
            <p:nvPr/>
          </p:nvSpPr>
          <p:spPr bwMode="auto">
            <a:xfrm>
              <a:off x="7551490" y="2721819"/>
              <a:ext cx="442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B050"/>
                  </a:solidFill>
                </a:rPr>
                <a:t>弱</a:t>
              </a:r>
            </a:p>
          </p:txBody>
        </p:sp>
      </p:grpSp>
      <p:sp>
        <p:nvSpPr>
          <p:cNvPr id="21" name="矩形 20">
            <a:extLst>
              <a:ext uri="{FF2B5EF4-FFF2-40B4-BE49-F238E27FC236}">
                <a16:creationId xmlns:a16="http://schemas.microsoft.com/office/drawing/2014/main" id="{E416DB30-97C8-4E00-B360-5526B5A28706}"/>
              </a:ext>
            </a:extLst>
          </p:cNvPr>
          <p:cNvSpPr>
            <a:spLocks noChangeArrowheads="1"/>
          </p:cNvSpPr>
          <p:nvPr/>
        </p:nvSpPr>
        <p:spPr bwMode="auto">
          <a:xfrm>
            <a:off x="83185" y="3216276"/>
            <a:ext cx="1143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solidFill>
                  <a:srgbClr val="FF0000"/>
                </a:solidFill>
                <a:cs typeface="Times New Roman" panose="02020603050405020304" pitchFamily="18" charset="0"/>
              </a:rPr>
              <a:t>P0</a:t>
            </a:r>
            <a:r>
              <a:rPr lang="zh-CN" altLang="en-US" sz="2400">
                <a:solidFill>
                  <a:srgbClr val="FF0000"/>
                </a:solidFill>
                <a:cs typeface="Times New Roman" panose="02020603050405020304" pitchFamily="18" charset="0"/>
              </a:rPr>
              <a:t>～</a:t>
            </a:r>
            <a:r>
              <a:rPr lang="en-US" altLang="zh-CN" sz="2400">
                <a:solidFill>
                  <a:srgbClr val="FF0000"/>
                </a:solidFill>
                <a:cs typeface="Times New Roman" panose="02020603050405020304" pitchFamily="18" charset="0"/>
              </a:rPr>
              <a:t>P7</a:t>
            </a:r>
            <a:endParaRPr lang="zh-CN" altLang="en-US" sz="2400">
              <a:cs typeface="Times New Roman" panose="02020603050405020304" pitchFamily="18" charset="0"/>
            </a:endParaRPr>
          </a:p>
        </p:txBody>
      </p:sp>
      <p:sp>
        <p:nvSpPr>
          <p:cNvPr id="22" name="矩形 21">
            <a:extLst>
              <a:ext uri="{FF2B5EF4-FFF2-40B4-BE49-F238E27FC236}">
                <a16:creationId xmlns:a16="http://schemas.microsoft.com/office/drawing/2014/main" id="{C3C71D9A-6689-40D8-8878-25F898C3353E}"/>
              </a:ext>
            </a:extLst>
          </p:cNvPr>
          <p:cNvSpPr>
            <a:spLocks noChangeArrowheads="1"/>
          </p:cNvSpPr>
          <p:nvPr/>
        </p:nvSpPr>
        <p:spPr bwMode="auto">
          <a:xfrm>
            <a:off x="311785" y="4276726"/>
            <a:ext cx="338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23" name="矩形 22">
            <a:extLst>
              <a:ext uri="{FF2B5EF4-FFF2-40B4-BE49-F238E27FC236}">
                <a16:creationId xmlns:a16="http://schemas.microsoft.com/office/drawing/2014/main" id="{619423E8-1997-45B1-9743-A186C2050768}"/>
              </a:ext>
            </a:extLst>
          </p:cNvPr>
          <p:cNvSpPr>
            <a:spLocks noChangeArrowheads="1"/>
          </p:cNvSpPr>
          <p:nvPr/>
        </p:nvSpPr>
        <p:spPr bwMode="auto">
          <a:xfrm>
            <a:off x="3108960" y="394811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0</a:t>
            </a:r>
            <a:endParaRPr lang="zh-CN" altLang="en-US" sz="2400" b="1"/>
          </a:p>
        </p:txBody>
      </p:sp>
      <p:sp>
        <p:nvSpPr>
          <p:cNvPr id="24" name="矩形 23">
            <a:extLst>
              <a:ext uri="{FF2B5EF4-FFF2-40B4-BE49-F238E27FC236}">
                <a16:creationId xmlns:a16="http://schemas.microsoft.com/office/drawing/2014/main" id="{5F2C2138-613A-4EBD-945C-5FBFBA3352A3}"/>
              </a:ext>
            </a:extLst>
          </p:cNvPr>
          <p:cNvSpPr>
            <a:spLocks noChangeArrowheads="1"/>
          </p:cNvSpPr>
          <p:nvPr/>
        </p:nvSpPr>
        <p:spPr bwMode="auto">
          <a:xfrm>
            <a:off x="1927860" y="2520951"/>
            <a:ext cx="338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25" name="矩形 24">
            <a:extLst>
              <a:ext uri="{FF2B5EF4-FFF2-40B4-BE49-F238E27FC236}">
                <a16:creationId xmlns:a16="http://schemas.microsoft.com/office/drawing/2014/main" id="{A84E7FEC-7B32-415D-88DC-E6D2EACF7188}"/>
              </a:ext>
            </a:extLst>
          </p:cNvPr>
          <p:cNvSpPr>
            <a:spLocks noChangeArrowheads="1"/>
          </p:cNvSpPr>
          <p:nvPr/>
        </p:nvSpPr>
        <p:spPr bwMode="auto">
          <a:xfrm>
            <a:off x="3907473" y="2770188"/>
            <a:ext cx="3381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29" name="矩形 28">
            <a:extLst>
              <a:ext uri="{FF2B5EF4-FFF2-40B4-BE49-F238E27FC236}">
                <a16:creationId xmlns:a16="http://schemas.microsoft.com/office/drawing/2014/main" id="{C5B3BCFC-806C-43C9-A3BD-79E5BAAA9622}"/>
              </a:ext>
            </a:extLst>
          </p:cNvPr>
          <p:cNvSpPr>
            <a:spLocks noChangeArrowheads="1"/>
          </p:cNvSpPr>
          <p:nvPr/>
        </p:nvSpPr>
        <p:spPr bwMode="auto">
          <a:xfrm>
            <a:off x="3305810" y="2517776"/>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33" name="任意多边形 32">
            <a:extLst>
              <a:ext uri="{FF2B5EF4-FFF2-40B4-BE49-F238E27FC236}">
                <a16:creationId xmlns:a16="http://schemas.microsoft.com/office/drawing/2014/main" id="{659184EE-31CF-4DDB-B619-52839A75A0C6}"/>
              </a:ext>
            </a:extLst>
          </p:cNvPr>
          <p:cNvSpPr>
            <a:spLocks/>
          </p:cNvSpPr>
          <p:nvPr/>
        </p:nvSpPr>
        <p:spPr bwMode="auto">
          <a:xfrm>
            <a:off x="6049010" y="2930526"/>
            <a:ext cx="1657350" cy="885825"/>
          </a:xfrm>
          <a:custGeom>
            <a:avLst/>
            <a:gdLst>
              <a:gd name="T0" fmla="*/ 16487 w 1759219"/>
              <a:gd name="T1" fmla="*/ 0 h 675238"/>
              <a:gd name="T2" fmla="*/ 235210 w 1759219"/>
              <a:gd name="T3" fmla="*/ 780613 h 675238"/>
              <a:gd name="T4" fmla="*/ 1656911 w 1759219"/>
              <a:gd name="T5" fmla="*/ 856771 h 675238"/>
              <a:gd name="T6" fmla="*/ 0 60000 65536"/>
              <a:gd name="T7" fmla="*/ 0 60000 65536"/>
              <a:gd name="T8" fmla="*/ 0 60000 65536"/>
            </a:gdLst>
            <a:ahLst/>
            <a:cxnLst>
              <a:cxn ang="T6">
                <a:pos x="T0" y="T1"/>
              </a:cxn>
              <a:cxn ang="T7">
                <a:pos x="T2" y="T3"/>
              </a:cxn>
              <a:cxn ang="T8">
                <a:pos x="T4" y="T5"/>
              </a:cxn>
            </a:cxnLst>
            <a:rect l="0" t="0" r="r" b="b"/>
            <a:pathLst>
              <a:path w="1759219" h="675238">
                <a:moveTo>
                  <a:pt x="17505" y="0"/>
                </a:moveTo>
                <a:cubicBezTo>
                  <a:pt x="-11524" y="243114"/>
                  <a:pt x="-40553" y="486229"/>
                  <a:pt x="249733" y="595086"/>
                </a:cubicBezTo>
                <a:cubicBezTo>
                  <a:pt x="540019" y="703943"/>
                  <a:pt x="1149619" y="678543"/>
                  <a:pt x="1759219" y="653143"/>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任意多边形 33">
            <a:extLst>
              <a:ext uri="{FF2B5EF4-FFF2-40B4-BE49-F238E27FC236}">
                <a16:creationId xmlns:a16="http://schemas.microsoft.com/office/drawing/2014/main" id="{EBF1822E-2A73-4A41-8144-08553E973BDD}"/>
              </a:ext>
            </a:extLst>
          </p:cNvPr>
          <p:cNvSpPr>
            <a:spLocks/>
          </p:cNvSpPr>
          <p:nvPr/>
        </p:nvSpPr>
        <p:spPr bwMode="auto">
          <a:xfrm>
            <a:off x="7758748" y="2820988"/>
            <a:ext cx="827087" cy="885825"/>
          </a:xfrm>
          <a:custGeom>
            <a:avLst/>
            <a:gdLst>
              <a:gd name="T0" fmla="*/ 8243 w 1759219"/>
              <a:gd name="T1" fmla="*/ 0 h 675238"/>
              <a:gd name="T2" fmla="*/ 117605 w 1759219"/>
              <a:gd name="T3" fmla="*/ 780613 h 675238"/>
              <a:gd name="T4" fmla="*/ 828455 w 1759219"/>
              <a:gd name="T5" fmla="*/ 856771 h 675238"/>
              <a:gd name="T6" fmla="*/ 0 60000 65536"/>
              <a:gd name="T7" fmla="*/ 0 60000 65536"/>
              <a:gd name="T8" fmla="*/ 0 60000 65536"/>
            </a:gdLst>
            <a:ahLst/>
            <a:cxnLst>
              <a:cxn ang="T6">
                <a:pos x="T0" y="T1"/>
              </a:cxn>
              <a:cxn ang="T7">
                <a:pos x="T2" y="T3"/>
              </a:cxn>
              <a:cxn ang="T8">
                <a:pos x="T4" y="T5"/>
              </a:cxn>
            </a:cxnLst>
            <a:rect l="0" t="0" r="r" b="b"/>
            <a:pathLst>
              <a:path w="1759219" h="675238">
                <a:moveTo>
                  <a:pt x="17505" y="0"/>
                </a:moveTo>
                <a:cubicBezTo>
                  <a:pt x="-11524" y="243114"/>
                  <a:pt x="-40553" y="486229"/>
                  <a:pt x="249733" y="595086"/>
                </a:cubicBezTo>
                <a:cubicBezTo>
                  <a:pt x="540019" y="703943"/>
                  <a:pt x="1149619" y="678543"/>
                  <a:pt x="1759219" y="653143"/>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矩形 35">
            <a:extLst>
              <a:ext uri="{FF2B5EF4-FFF2-40B4-BE49-F238E27FC236}">
                <a16:creationId xmlns:a16="http://schemas.microsoft.com/office/drawing/2014/main" id="{FB1A261D-1F96-44F3-8ED4-7218C6AE25B5}"/>
              </a:ext>
            </a:extLst>
          </p:cNvPr>
          <p:cNvSpPr>
            <a:spLocks noChangeArrowheads="1"/>
          </p:cNvSpPr>
          <p:nvPr/>
        </p:nvSpPr>
        <p:spPr bwMode="auto">
          <a:xfrm>
            <a:off x="4617085" y="3381376"/>
            <a:ext cx="803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截止</a:t>
            </a:r>
          </a:p>
        </p:txBody>
      </p:sp>
      <p:sp>
        <p:nvSpPr>
          <p:cNvPr id="37" name="矩形 36">
            <a:extLst>
              <a:ext uri="{FF2B5EF4-FFF2-40B4-BE49-F238E27FC236}">
                <a16:creationId xmlns:a16="http://schemas.microsoft.com/office/drawing/2014/main" id="{1E09E7EE-1D89-45DB-AAD1-74557934C4D0}"/>
              </a:ext>
            </a:extLst>
          </p:cNvPr>
          <p:cNvSpPr>
            <a:spLocks noChangeArrowheads="1"/>
          </p:cNvSpPr>
          <p:nvPr/>
        </p:nvSpPr>
        <p:spPr bwMode="auto">
          <a:xfrm>
            <a:off x="5482273" y="3384551"/>
            <a:ext cx="493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通</a:t>
            </a:r>
          </a:p>
        </p:txBody>
      </p:sp>
      <p:sp>
        <p:nvSpPr>
          <p:cNvPr id="38" name="矩形 37">
            <a:extLst>
              <a:ext uri="{FF2B5EF4-FFF2-40B4-BE49-F238E27FC236}">
                <a16:creationId xmlns:a16="http://schemas.microsoft.com/office/drawing/2014/main" id="{47153412-B0EA-4E49-86A0-8B6CF49DDA4B}"/>
              </a:ext>
            </a:extLst>
          </p:cNvPr>
          <p:cNvSpPr>
            <a:spLocks noChangeArrowheads="1"/>
          </p:cNvSpPr>
          <p:nvPr/>
        </p:nvSpPr>
        <p:spPr bwMode="auto">
          <a:xfrm>
            <a:off x="6964998" y="3392488"/>
            <a:ext cx="493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通</a:t>
            </a:r>
          </a:p>
        </p:txBody>
      </p:sp>
      <p:sp>
        <p:nvSpPr>
          <p:cNvPr id="39" name="任意多边形 38">
            <a:extLst>
              <a:ext uri="{FF2B5EF4-FFF2-40B4-BE49-F238E27FC236}">
                <a16:creationId xmlns:a16="http://schemas.microsoft.com/office/drawing/2014/main" id="{BA98BA0F-53DE-4105-B332-071CA2601434}"/>
              </a:ext>
            </a:extLst>
          </p:cNvPr>
          <p:cNvSpPr>
            <a:spLocks/>
          </p:cNvSpPr>
          <p:nvPr/>
        </p:nvSpPr>
        <p:spPr bwMode="auto">
          <a:xfrm>
            <a:off x="6615748" y="3436938"/>
            <a:ext cx="757237" cy="1428750"/>
          </a:xfrm>
          <a:custGeom>
            <a:avLst/>
            <a:gdLst>
              <a:gd name="T0" fmla="*/ 743021 w 757535"/>
              <a:gd name="T1" fmla="*/ 624115 h 1429925"/>
              <a:gd name="T2" fmla="*/ 757535 w 757535"/>
              <a:gd name="T3" fmla="*/ 783772 h 1429925"/>
              <a:gd name="T4" fmla="*/ 743021 w 757535"/>
              <a:gd name="T5" fmla="*/ 1103086 h 1429925"/>
              <a:gd name="T6" fmla="*/ 743021 w 757535"/>
              <a:gd name="T7" fmla="*/ 1378858 h 1429925"/>
              <a:gd name="T8" fmla="*/ 612393 w 757535"/>
              <a:gd name="T9" fmla="*/ 1422400 h 1429925"/>
              <a:gd name="T10" fmla="*/ 322107 w 757535"/>
              <a:gd name="T11" fmla="*/ 1422400 h 1429925"/>
              <a:gd name="T12" fmla="*/ 104393 w 757535"/>
              <a:gd name="T13" fmla="*/ 1422400 h 1429925"/>
              <a:gd name="T14" fmla="*/ 31821 w 757535"/>
              <a:gd name="T15" fmla="*/ 1320800 h 1429925"/>
              <a:gd name="T16" fmla="*/ 2793 w 757535"/>
              <a:gd name="T17" fmla="*/ 1117600 h 1429925"/>
              <a:gd name="T18" fmla="*/ 2793 w 757535"/>
              <a:gd name="T19" fmla="*/ 740229 h 1429925"/>
              <a:gd name="T20" fmla="*/ 17307 w 757535"/>
              <a:gd name="T21" fmla="*/ 319315 h 1429925"/>
              <a:gd name="T22" fmla="*/ 17307 w 757535"/>
              <a:gd name="T23" fmla="*/ 72572 h 1429925"/>
              <a:gd name="T24" fmla="*/ 162450 w 757535"/>
              <a:gd name="T25" fmla="*/ 14515 h 1429925"/>
              <a:gd name="T26" fmla="*/ 409193 w 757535"/>
              <a:gd name="T27" fmla="*/ 0 h 14299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57535" h="1429925">
                <a:moveTo>
                  <a:pt x="743021" y="624115"/>
                </a:moveTo>
                <a:cubicBezTo>
                  <a:pt x="750278" y="664029"/>
                  <a:pt x="757535" y="703944"/>
                  <a:pt x="757535" y="783772"/>
                </a:cubicBezTo>
                <a:cubicBezTo>
                  <a:pt x="757535" y="863600"/>
                  <a:pt x="745440" y="1003905"/>
                  <a:pt x="743021" y="1103086"/>
                </a:cubicBezTo>
                <a:cubicBezTo>
                  <a:pt x="740602" y="1202267"/>
                  <a:pt x="764792" y="1325639"/>
                  <a:pt x="743021" y="1378858"/>
                </a:cubicBezTo>
                <a:cubicBezTo>
                  <a:pt x="721250" y="1432077"/>
                  <a:pt x="682545" y="1415143"/>
                  <a:pt x="612393" y="1422400"/>
                </a:cubicBezTo>
                <a:cubicBezTo>
                  <a:pt x="542241" y="1429657"/>
                  <a:pt x="322107" y="1422400"/>
                  <a:pt x="322107" y="1422400"/>
                </a:cubicBezTo>
                <a:cubicBezTo>
                  <a:pt x="237440" y="1422400"/>
                  <a:pt x="152774" y="1439333"/>
                  <a:pt x="104393" y="1422400"/>
                </a:cubicBezTo>
                <a:cubicBezTo>
                  <a:pt x="56012" y="1405467"/>
                  <a:pt x="48754" y="1371600"/>
                  <a:pt x="31821" y="1320800"/>
                </a:cubicBezTo>
                <a:cubicBezTo>
                  <a:pt x="14888" y="1270000"/>
                  <a:pt x="7631" y="1214362"/>
                  <a:pt x="2793" y="1117600"/>
                </a:cubicBezTo>
                <a:cubicBezTo>
                  <a:pt x="-2045" y="1020838"/>
                  <a:pt x="374" y="873276"/>
                  <a:pt x="2793" y="740229"/>
                </a:cubicBezTo>
                <a:cubicBezTo>
                  <a:pt x="5212" y="607182"/>
                  <a:pt x="14888" y="430591"/>
                  <a:pt x="17307" y="319315"/>
                </a:cubicBezTo>
                <a:cubicBezTo>
                  <a:pt x="19726" y="208039"/>
                  <a:pt x="-6883" y="123372"/>
                  <a:pt x="17307" y="72572"/>
                </a:cubicBezTo>
                <a:cubicBezTo>
                  <a:pt x="41497" y="21772"/>
                  <a:pt x="97136" y="26610"/>
                  <a:pt x="162450" y="14515"/>
                </a:cubicBezTo>
                <a:cubicBezTo>
                  <a:pt x="227764" y="2420"/>
                  <a:pt x="318478" y="1210"/>
                  <a:pt x="409193" y="0"/>
                </a:cubicBezTo>
              </a:path>
            </a:pathLst>
          </a:custGeom>
          <a:noFill/>
          <a:ln w="952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矩形 39">
            <a:extLst>
              <a:ext uri="{FF2B5EF4-FFF2-40B4-BE49-F238E27FC236}">
                <a16:creationId xmlns:a16="http://schemas.microsoft.com/office/drawing/2014/main" id="{38EF5233-8AD9-44B5-A233-B6F63F073DB9}"/>
              </a:ext>
            </a:extLst>
          </p:cNvPr>
          <p:cNvSpPr>
            <a:spLocks noChangeArrowheads="1"/>
          </p:cNvSpPr>
          <p:nvPr/>
        </p:nvSpPr>
        <p:spPr bwMode="auto">
          <a:xfrm>
            <a:off x="7465060" y="3408363"/>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grpSp>
        <p:nvGrpSpPr>
          <p:cNvPr id="45" name="组合 44">
            <a:extLst>
              <a:ext uri="{FF2B5EF4-FFF2-40B4-BE49-F238E27FC236}">
                <a16:creationId xmlns:a16="http://schemas.microsoft.com/office/drawing/2014/main" id="{32E5901C-FA4B-4C43-8E9D-9C447DFD3585}"/>
              </a:ext>
            </a:extLst>
          </p:cNvPr>
          <p:cNvGrpSpPr>
            <a:grpSpLocks/>
          </p:cNvGrpSpPr>
          <p:nvPr/>
        </p:nvGrpSpPr>
        <p:grpSpPr bwMode="auto">
          <a:xfrm>
            <a:off x="4945698" y="2554288"/>
            <a:ext cx="3667125" cy="946150"/>
            <a:chOff x="4874106" y="3312640"/>
            <a:chExt cx="3666444" cy="945293"/>
          </a:xfrm>
        </p:grpSpPr>
        <p:sp>
          <p:nvSpPr>
            <p:cNvPr id="107552" name="矩形 45">
              <a:extLst>
                <a:ext uri="{FF2B5EF4-FFF2-40B4-BE49-F238E27FC236}">
                  <a16:creationId xmlns:a16="http://schemas.microsoft.com/office/drawing/2014/main" id="{B79BE043-CEB3-47B3-A974-E1945E6A562E}"/>
                </a:ext>
              </a:extLst>
            </p:cNvPr>
            <p:cNvSpPr>
              <a:spLocks noChangeArrowheads="1"/>
            </p:cNvSpPr>
            <p:nvPr/>
          </p:nvSpPr>
          <p:spPr bwMode="auto">
            <a:xfrm>
              <a:off x="6095382" y="3312718"/>
              <a:ext cx="7729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30μA</a:t>
              </a:r>
              <a:endParaRPr lang="zh-CN" altLang="en-US" sz="2000" b="1">
                <a:solidFill>
                  <a:srgbClr val="00B050"/>
                </a:solidFill>
              </a:endParaRPr>
            </a:p>
          </p:txBody>
        </p:sp>
        <p:sp>
          <p:nvSpPr>
            <p:cNvPr id="107553" name="矩形 46">
              <a:extLst>
                <a:ext uri="{FF2B5EF4-FFF2-40B4-BE49-F238E27FC236}">
                  <a16:creationId xmlns:a16="http://schemas.microsoft.com/office/drawing/2014/main" id="{52AB4941-EC5F-4FDB-A6D3-C9826F10CE16}"/>
                </a:ext>
              </a:extLst>
            </p:cNvPr>
            <p:cNvSpPr>
              <a:spLocks noChangeArrowheads="1"/>
            </p:cNvSpPr>
            <p:nvPr/>
          </p:nvSpPr>
          <p:spPr bwMode="auto">
            <a:xfrm>
              <a:off x="4874106" y="3312640"/>
              <a:ext cx="8402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20mA</a:t>
              </a:r>
              <a:endParaRPr lang="zh-CN" altLang="en-US" sz="2000" b="1">
                <a:solidFill>
                  <a:srgbClr val="00B050"/>
                </a:solidFill>
              </a:endParaRPr>
            </a:p>
          </p:txBody>
        </p:sp>
        <p:sp>
          <p:nvSpPr>
            <p:cNvPr id="107554" name="矩形 47">
              <a:extLst>
                <a:ext uri="{FF2B5EF4-FFF2-40B4-BE49-F238E27FC236}">
                  <a16:creationId xmlns:a16="http://schemas.microsoft.com/office/drawing/2014/main" id="{566AB4FD-D0BC-4E13-80E4-88D872B059A9}"/>
                </a:ext>
              </a:extLst>
            </p:cNvPr>
            <p:cNvSpPr>
              <a:spLocks noChangeArrowheads="1"/>
            </p:cNvSpPr>
            <p:nvPr/>
          </p:nvSpPr>
          <p:spPr bwMode="auto">
            <a:xfrm>
              <a:off x="7639341" y="3857823"/>
              <a:ext cx="9012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200μA</a:t>
              </a:r>
              <a:endParaRPr lang="zh-CN" altLang="en-US" sz="2000" b="1">
                <a:solidFill>
                  <a:srgbClr val="00B050"/>
                </a:solidFill>
              </a:endParaRPr>
            </a:p>
          </p:txBody>
        </p:sp>
      </p:grpSp>
      <p:sp>
        <p:nvSpPr>
          <p:cNvPr id="49" name="矩形 48">
            <a:extLst>
              <a:ext uri="{FF2B5EF4-FFF2-40B4-BE49-F238E27FC236}">
                <a16:creationId xmlns:a16="http://schemas.microsoft.com/office/drawing/2014/main" id="{03B8FA0C-EF80-407D-A678-4484B8E28965}"/>
              </a:ext>
            </a:extLst>
          </p:cNvPr>
          <p:cNvSpPr>
            <a:spLocks noChangeArrowheads="1"/>
          </p:cNvSpPr>
          <p:nvPr/>
        </p:nvSpPr>
        <p:spPr bwMode="auto">
          <a:xfrm>
            <a:off x="8531860" y="3387726"/>
            <a:ext cx="5302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5400" b="1">
                <a:solidFill>
                  <a:srgbClr val="00B050"/>
                </a:solidFill>
              </a:rPr>
              <a:t>0</a:t>
            </a:r>
            <a:endParaRPr lang="zh-CN" altLang="en-US" sz="5400" b="1">
              <a:solidFill>
                <a:srgbClr val="00B050"/>
              </a:solidFill>
            </a:endParaRPr>
          </a:p>
        </p:txBody>
      </p:sp>
      <p:sp>
        <p:nvSpPr>
          <p:cNvPr id="50" name="任意多边形 49">
            <a:extLst>
              <a:ext uri="{FF2B5EF4-FFF2-40B4-BE49-F238E27FC236}">
                <a16:creationId xmlns:a16="http://schemas.microsoft.com/office/drawing/2014/main" id="{0885E088-B7DD-432F-8691-49FF891C9FB5}"/>
              </a:ext>
            </a:extLst>
          </p:cNvPr>
          <p:cNvSpPr>
            <a:spLocks/>
          </p:cNvSpPr>
          <p:nvPr/>
        </p:nvSpPr>
        <p:spPr bwMode="auto">
          <a:xfrm>
            <a:off x="6631623" y="3436938"/>
            <a:ext cx="757237" cy="1428750"/>
          </a:xfrm>
          <a:custGeom>
            <a:avLst/>
            <a:gdLst>
              <a:gd name="T0" fmla="*/ 743021 w 757535"/>
              <a:gd name="T1" fmla="*/ 624115 h 1429925"/>
              <a:gd name="T2" fmla="*/ 757535 w 757535"/>
              <a:gd name="T3" fmla="*/ 783772 h 1429925"/>
              <a:gd name="T4" fmla="*/ 743021 w 757535"/>
              <a:gd name="T5" fmla="*/ 1103086 h 1429925"/>
              <a:gd name="T6" fmla="*/ 743021 w 757535"/>
              <a:gd name="T7" fmla="*/ 1378858 h 1429925"/>
              <a:gd name="T8" fmla="*/ 612393 w 757535"/>
              <a:gd name="T9" fmla="*/ 1422400 h 1429925"/>
              <a:gd name="T10" fmla="*/ 322107 w 757535"/>
              <a:gd name="T11" fmla="*/ 1422400 h 1429925"/>
              <a:gd name="T12" fmla="*/ 104393 w 757535"/>
              <a:gd name="T13" fmla="*/ 1422400 h 1429925"/>
              <a:gd name="T14" fmla="*/ 31821 w 757535"/>
              <a:gd name="T15" fmla="*/ 1320800 h 1429925"/>
              <a:gd name="T16" fmla="*/ 2793 w 757535"/>
              <a:gd name="T17" fmla="*/ 1117600 h 1429925"/>
              <a:gd name="T18" fmla="*/ 2793 w 757535"/>
              <a:gd name="T19" fmla="*/ 740229 h 1429925"/>
              <a:gd name="T20" fmla="*/ 17307 w 757535"/>
              <a:gd name="T21" fmla="*/ 319315 h 1429925"/>
              <a:gd name="T22" fmla="*/ 17307 w 757535"/>
              <a:gd name="T23" fmla="*/ 72572 h 1429925"/>
              <a:gd name="T24" fmla="*/ 162450 w 757535"/>
              <a:gd name="T25" fmla="*/ 14515 h 1429925"/>
              <a:gd name="T26" fmla="*/ 409193 w 757535"/>
              <a:gd name="T27" fmla="*/ 0 h 14299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57535" h="1429925">
                <a:moveTo>
                  <a:pt x="743021" y="624115"/>
                </a:moveTo>
                <a:cubicBezTo>
                  <a:pt x="750278" y="664029"/>
                  <a:pt x="757535" y="703944"/>
                  <a:pt x="757535" y="783772"/>
                </a:cubicBezTo>
                <a:cubicBezTo>
                  <a:pt x="757535" y="863600"/>
                  <a:pt x="745440" y="1003905"/>
                  <a:pt x="743021" y="1103086"/>
                </a:cubicBezTo>
                <a:cubicBezTo>
                  <a:pt x="740602" y="1202267"/>
                  <a:pt x="764792" y="1325639"/>
                  <a:pt x="743021" y="1378858"/>
                </a:cubicBezTo>
                <a:cubicBezTo>
                  <a:pt x="721250" y="1432077"/>
                  <a:pt x="682545" y="1415143"/>
                  <a:pt x="612393" y="1422400"/>
                </a:cubicBezTo>
                <a:cubicBezTo>
                  <a:pt x="542241" y="1429657"/>
                  <a:pt x="322107" y="1422400"/>
                  <a:pt x="322107" y="1422400"/>
                </a:cubicBezTo>
                <a:cubicBezTo>
                  <a:pt x="237440" y="1422400"/>
                  <a:pt x="152774" y="1439333"/>
                  <a:pt x="104393" y="1422400"/>
                </a:cubicBezTo>
                <a:cubicBezTo>
                  <a:pt x="56012" y="1405467"/>
                  <a:pt x="48754" y="1371600"/>
                  <a:pt x="31821" y="1320800"/>
                </a:cubicBezTo>
                <a:cubicBezTo>
                  <a:pt x="14888" y="1270000"/>
                  <a:pt x="7631" y="1214362"/>
                  <a:pt x="2793" y="1117600"/>
                </a:cubicBezTo>
                <a:cubicBezTo>
                  <a:pt x="-2045" y="1020838"/>
                  <a:pt x="374" y="873276"/>
                  <a:pt x="2793" y="740229"/>
                </a:cubicBezTo>
                <a:cubicBezTo>
                  <a:pt x="5212" y="607182"/>
                  <a:pt x="14888" y="430591"/>
                  <a:pt x="17307" y="319315"/>
                </a:cubicBezTo>
                <a:cubicBezTo>
                  <a:pt x="19726" y="208039"/>
                  <a:pt x="-6883" y="123372"/>
                  <a:pt x="17307" y="72572"/>
                </a:cubicBezTo>
                <a:cubicBezTo>
                  <a:pt x="41497" y="21772"/>
                  <a:pt x="97136" y="26610"/>
                  <a:pt x="162450" y="14515"/>
                </a:cubicBezTo>
                <a:cubicBezTo>
                  <a:pt x="227764" y="2420"/>
                  <a:pt x="318478" y="1210"/>
                  <a:pt x="409193" y="0"/>
                </a:cubicBezTo>
              </a:path>
            </a:pathLst>
          </a:custGeom>
          <a:noFill/>
          <a:ln w="38100" cap="flat" cmpd="sng" algn="ctr">
            <a:solidFill>
              <a:srgbClr val="00B05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矩形 50">
            <a:extLst>
              <a:ext uri="{FF2B5EF4-FFF2-40B4-BE49-F238E27FC236}">
                <a16:creationId xmlns:a16="http://schemas.microsoft.com/office/drawing/2014/main" id="{71E884CF-0910-44F2-AEC9-FAFD52C52C68}"/>
              </a:ext>
            </a:extLst>
          </p:cNvPr>
          <p:cNvSpPr>
            <a:spLocks noChangeArrowheads="1"/>
          </p:cNvSpPr>
          <p:nvPr/>
        </p:nvSpPr>
        <p:spPr bwMode="auto">
          <a:xfrm>
            <a:off x="7063423" y="3395663"/>
            <a:ext cx="619125"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00B050"/>
                </a:solidFill>
              </a:rPr>
              <a:t>截止</a:t>
            </a:r>
          </a:p>
        </p:txBody>
      </p:sp>
      <p:sp>
        <p:nvSpPr>
          <p:cNvPr id="31" name="矩形 30">
            <a:extLst>
              <a:ext uri="{FF2B5EF4-FFF2-40B4-BE49-F238E27FC236}">
                <a16:creationId xmlns:a16="http://schemas.microsoft.com/office/drawing/2014/main" id="{DC9EFAC7-E8B9-4851-8CAC-94CDA41AE430}"/>
              </a:ext>
            </a:extLst>
          </p:cNvPr>
          <p:cNvSpPr/>
          <p:nvPr/>
        </p:nvSpPr>
        <p:spPr>
          <a:xfrm>
            <a:off x="7965123" y="2589213"/>
            <a:ext cx="1071562" cy="593725"/>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FF00FF"/>
                </a:solidFill>
                <a:cs typeface="Times New Roman" panose="02020603050405020304" pitchFamily="18" charset="0"/>
              </a:rPr>
              <a:t>例</a:t>
            </a:r>
            <a:r>
              <a:rPr lang="en-US" altLang="zh-CN" sz="2400" b="1" kern="0" dirty="0">
                <a:solidFill>
                  <a:srgbClr val="FF00FF"/>
                </a:solidFill>
                <a:cs typeface="Times New Roman" panose="02020603050405020304" pitchFamily="18" charset="0"/>
              </a:rPr>
              <a:t>:</a:t>
            </a:r>
            <a:r>
              <a:rPr lang="zh-CN" altLang="en-US" sz="2400" b="1" kern="0" dirty="0">
                <a:solidFill>
                  <a:srgbClr val="FF00FF"/>
                </a:solidFill>
                <a:cs typeface="Times New Roman" panose="02020603050405020304" pitchFamily="18" charset="0"/>
              </a:rPr>
              <a:t>口线</a:t>
            </a:r>
            <a:r>
              <a:rPr lang="en-US" altLang="zh-CN" sz="2400" b="1" kern="0" dirty="0">
                <a:solidFill>
                  <a:srgbClr val="FF00FF"/>
                </a:solidFill>
                <a:cs typeface="Times New Roman" panose="02020603050405020304" pitchFamily="18" charset="0"/>
              </a:rPr>
              <a:t>P1.2</a:t>
            </a:r>
            <a:endParaRPr lang="en-US" altLang="zh-CN" sz="2400" b="1" dirty="0">
              <a:solidFill>
                <a:srgbClr val="FF00FF"/>
              </a:solidFill>
              <a:ea typeface="宋体" charset="-122"/>
              <a:cs typeface="Times New Roman" pitchFamily="18" charset="0"/>
            </a:endParaRPr>
          </a:p>
        </p:txBody>
      </p:sp>
      <p:sp>
        <p:nvSpPr>
          <p:cNvPr id="32" name="矩形 31">
            <a:extLst>
              <a:ext uri="{FF2B5EF4-FFF2-40B4-BE49-F238E27FC236}">
                <a16:creationId xmlns:a16="http://schemas.microsoft.com/office/drawing/2014/main" id="{39CD4C75-1A05-4706-B630-2D1815C5AB2E}"/>
              </a:ext>
            </a:extLst>
          </p:cNvPr>
          <p:cNvSpPr/>
          <p:nvPr/>
        </p:nvSpPr>
        <p:spPr>
          <a:xfrm>
            <a:off x="364173" y="4910138"/>
            <a:ext cx="1273175" cy="868363"/>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0000FF"/>
                </a:solidFill>
                <a:cs typeface="Times New Roman" panose="02020603050405020304" pitchFamily="18" charset="0"/>
              </a:rPr>
              <a:t>例</a:t>
            </a:r>
            <a:r>
              <a:rPr lang="en-US" altLang="zh-CN" sz="2400" b="1" kern="0" dirty="0">
                <a:solidFill>
                  <a:srgbClr val="0000FF"/>
                </a:solidFill>
                <a:cs typeface="Times New Roman" panose="02020603050405020304" pitchFamily="18" charset="0"/>
              </a:rPr>
              <a:t>:</a:t>
            </a:r>
            <a:r>
              <a:rPr lang="zh-CN" altLang="en-US" sz="2400" b="1" kern="0" dirty="0">
                <a:solidFill>
                  <a:srgbClr val="0000FF"/>
                </a:solidFill>
                <a:cs typeface="Times New Roman" panose="02020603050405020304" pitchFamily="18" charset="0"/>
              </a:rPr>
              <a:t>口线</a:t>
            </a:r>
            <a:r>
              <a:rPr lang="en-US" altLang="zh-CN" sz="2400" b="1" kern="0" dirty="0">
                <a:solidFill>
                  <a:srgbClr val="0000FF"/>
                </a:solidFill>
                <a:cs typeface="Times New Roman" panose="02020603050405020304" pitchFamily="18" charset="0"/>
              </a:rPr>
              <a:t>P1.2</a:t>
            </a:r>
            <a:r>
              <a:rPr lang="zh-CN" altLang="en-US" sz="2400" b="1" kern="0" dirty="0">
                <a:solidFill>
                  <a:srgbClr val="0000FF"/>
                </a:solidFill>
                <a:cs typeface="Times New Roman" panose="02020603050405020304" pitchFamily="18" charset="0"/>
              </a:rPr>
              <a:t>的锁存器位</a:t>
            </a:r>
            <a:endParaRPr lang="en-US" altLang="zh-CN" sz="2400" b="1" dirty="0">
              <a:solidFill>
                <a:srgbClr val="0000FF"/>
              </a:solidFill>
              <a:ea typeface="宋体" charset="-122"/>
              <a:cs typeface="Times New Roman" pitchFamily="18" charset="0"/>
            </a:endParaRPr>
          </a:p>
        </p:txBody>
      </p:sp>
      <p:grpSp>
        <p:nvGrpSpPr>
          <p:cNvPr id="41" name="组合 40">
            <a:extLst>
              <a:ext uri="{FF2B5EF4-FFF2-40B4-BE49-F238E27FC236}">
                <a16:creationId xmlns:a16="http://schemas.microsoft.com/office/drawing/2014/main" id="{EB993CE0-7515-4719-9B85-4BCBC2182CE1}"/>
              </a:ext>
            </a:extLst>
          </p:cNvPr>
          <p:cNvGrpSpPr>
            <a:grpSpLocks/>
          </p:cNvGrpSpPr>
          <p:nvPr/>
        </p:nvGrpSpPr>
        <p:grpSpPr bwMode="auto">
          <a:xfrm>
            <a:off x="8347710" y="3948113"/>
            <a:ext cx="641350" cy="1884363"/>
            <a:chOff x="8390097" y="4627084"/>
            <a:chExt cx="641132" cy="1884822"/>
          </a:xfrm>
        </p:grpSpPr>
        <p:pic>
          <p:nvPicPr>
            <p:cNvPr id="107549" name="图片 41">
              <a:extLst>
                <a:ext uri="{FF2B5EF4-FFF2-40B4-BE49-F238E27FC236}">
                  <a16:creationId xmlns:a16="http://schemas.microsoft.com/office/drawing/2014/main" id="{FB5D6386-5741-46F8-82BA-82D7519574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0097" y="5380031"/>
              <a:ext cx="641132" cy="11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7550" name="直接连接符 42">
              <a:extLst>
                <a:ext uri="{FF2B5EF4-FFF2-40B4-BE49-F238E27FC236}">
                  <a16:creationId xmlns:a16="http://schemas.microsoft.com/office/drawing/2014/main" id="{5C4E0DAB-D73C-4C93-B138-1DE944EA6416}"/>
                </a:ext>
              </a:extLst>
            </p:cNvPr>
            <p:cNvCxnSpPr>
              <a:cxnSpLocks noChangeShapeType="1"/>
            </p:cNvCxnSpPr>
            <p:nvPr/>
          </p:nvCxnSpPr>
          <p:spPr bwMode="auto">
            <a:xfrm>
              <a:off x="8469491" y="4627084"/>
              <a:ext cx="178416" cy="0"/>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551" name="直接连接符 43">
              <a:extLst>
                <a:ext uri="{FF2B5EF4-FFF2-40B4-BE49-F238E27FC236}">
                  <a16:creationId xmlns:a16="http://schemas.microsoft.com/office/drawing/2014/main" id="{FE7D4C77-E631-4F5F-8069-1638B97C052B}"/>
                </a:ext>
              </a:extLst>
            </p:cNvPr>
            <p:cNvCxnSpPr>
              <a:cxnSpLocks noChangeShapeType="1"/>
            </p:cNvCxnSpPr>
            <p:nvPr/>
          </p:nvCxnSpPr>
          <p:spPr bwMode="auto">
            <a:xfrm>
              <a:off x="8666595" y="4627084"/>
              <a:ext cx="0" cy="752947"/>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 name="灯片编号占位符 2">
            <a:extLst>
              <a:ext uri="{FF2B5EF4-FFF2-40B4-BE49-F238E27FC236}">
                <a16:creationId xmlns:a16="http://schemas.microsoft.com/office/drawing/2014/main" id="{EF07B1EF-6DE6-4096-BC2B-78C9FABDB7E6}"/>
              </a:ext>
            </a:extLst>
          </p:cNvPr>
          <p:cNvSpPr>
            <a:spLocks noGrp="1"/>
          </p:cNvSpPr>
          <p:nvPr>
            <p:ph type="sldNum" sz="quarter" idx="12"/>
          </p:nvPr>
        </p:nvSpPr>
        <p:spPr/>
        <p:txBody>
          <a:bodyPr/>
          <a:lstStyle/>
          <a:p>
            <a:fld id="{22E77DEE-32E4-4009-988B-F2758F7B8AC2}" type="slidenum">
              <a:rPr lang="zh-CN" altLang="en-US" smtClean="0"/>
              <a:t>59</a:t>
            </a:fld>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标题 3">
            <a:extLst>
              <a:ext uri="{FF2B5EF4-FFF2-40B4-BE49-F238E27FC236}">
                <a16:creationId xmlns:a16="http://schemas.microsoft.com/office/drawing/2014/main" id="{1615FE67-B852-4305-A1B5-C753FEF7164D}"/>
              </a:ext>
            </a:extLst>
          </p:cNvPr>
          <p:cNvSpPr>
            <a:spLocks noGrp="1" noChangeArrowheads="1"/>
          </p:cNvSpPr>
          <p:nvPr>
            <p:ph type="title"/>
          </p:nvPr>
        </p:nvSpPr>
        <p:spPr>
          <a:xfrm>
            <a:off x="457200" y="545306"/>
            <a:ext cx="8229600" cy="504825"/>
          </a:xfrm>
        </p:spPr>
        <p:txBody>
          <a:bodyPr>
            <a:normAutofit fontScale="90000"/>
          </a:bodyPr>
          <a:lstStyle/>
          <a:p>
            <a:pPr eaLnBrk="1" hangingPunct="1"/>
            <a:r>
              <a:rPr lang="zh-CN" altLang="en-US" dirty="0">
                <a:solidFill>
                  <a:srgbClr val="FF0000"/>
                </a:solidFill>
              </a:rPr>
              <a:t>准双向口</a:t>
            </a:r>
            <a:r>
              <a:rPr lang="en-US" altLang="zh-CN" dirty="0">
                <a:solidFill>
                  <a:srgbClr val="FF0000"/>
                </a:solidFill>
              </a:rPr>
              <a:t>(</a:t>
            </a:r>
            <a:r>
              <a:rPr lang="zh-CN" altLang="en-US" dirty="0"/>
              <a:t>弱上拉</a:t>
            </a:r>
            <a:r>
              <a:rPr lang="en-US" altLang="zh-CN" dirty="0">
                <a:solidFill>
                  <a:srgbClr val="FF0000"/>
                </a:solidFill>
              </a:rPr>
              <a:t>)</a:t>
            </a:r>
            <a:r>
              <a:rPr lang="zh-CN" altLang="en-US" dirty="0">
                <a:solidFill>
                  <a:srgbClr val="FF0000"/>
                </a:solidFill>
              </a:rPr>
              <a:t>工作模式的结构</a:t>
            </a:r>
            <a:endParaRPr lang="zh-CN" altLang="en-US" sz="2800" dirty="0">
              <a:solidFill>
                <a:srgbClr val="FF0000"/>
              </a:solidFill>
            </a:endParaRPr>
          </a:p>
        </p:txBody>
      </p:sp>
      <p:sp>
        <p:nvSpPr>
          <p:cNvPr id="517123" name="Rectangle 3">
            <a:extLst>
              <a:ext uri="{FF2B5EF4-FFF2-40B4-BE49-F238E27FC236}">
                <a16:creationId xmlns:a16="http://schemas.microsoft.com/office/drawing/2014/main" id="{C6C075AC-70C8-49AE-8B97-CF42F72ED1EA}"/>
              </a:ext>
            </a:extLst>
          </p:cNvPr>
          <p:cNvSpPr>
            <a:spLocks noGrp="1" noChangeArrowheads="1"/>
          </p:cNvSpPr>
          <p:nvPr>
            <p:ph idx="1"/>
          </p:nvPr>
        </p:nvSpPr>
        <p:spPr>
          <a:xfrm>
            <a:off x="274638" y="1154113"/>
            <a:ext cx="8616950" cy="1576387"/>
          </a:xfrm>
        </p:spPr>
        <p:txBody>
          <a:bodyPr/>
          <a:lstStyle/>
          <a:p>
            <a:pPr marL="261938" lvl="1" indent="-261938" algn="l" eaLnBrk="1" hangingPunct="1">
              <a:spcAft>
                <a:spcPts val="600"/>
              </a:spcAft>
              <a:defRPr/>
            </a:pPr>
            <a:r>
              <a:rPr lang="zh-CN" altLang="en-US" dirty="0"/>
              <a:t>当</a:t>
            </a:r>
            <a:r>
              <a:rPr lang="zh-CN" altLang="en-US" dirty="0">
                <a:solidFill>
                  <a:srgbClr val="FF0000"/>
                </a:solidFill>
              </a:rPr>
              <a:t>口线锁存为</a:t>
            </a:r>
            <a:r>
              <a:rPr lang="en-US" altLang="zh-CN" dirty="0">
                <a:solidFill>
                  <a:srgbClr val="FF0000"/>
                </a:solidFill>
              </a:rPr>
              <a:t>1</a:t>
            </a:r>
            <a:r>
              <a:rPr lang="zh-CN" altLang="en-US" dirty="0">
                <a:solidFill>
                  <a:srgbClr val="FF0000"/>
                </a:solidFill>
              </a:rPr>
              <a:t>时</a:t>
            </a:r>
            <a:r>
              <a:rPr lang="en-US" altLang="zh-CN" dirty="0"/>
              <a:t>,T2</a:t>
            </a:r>
            <a:r>
              <a:rPr lang="zh-CN" altLang="en-US" dirty="0"/>
              <a:t>、</a:t>
            </a:r>
            <a:r>
              <a:rPr lang="en-US" altLang="zh-CN" dirty="0"/>
              <a:t>T3</a:t>
            </a:r>
            <a:r>
              <a:rPr lang="zh-CN" altLang="en-US" dirty="0"/>
              <a:t>导通。引脚输出为高电平。</a:t>
            </a:r>
          </a:p>
          <a:p>
            <a:pPr marL="261938" lvl="1" indent="-261938" algn="l" eaLnBrk="1" hangingPunct="1">
              <a:spcAft>
                <a:spcPts val="600"/>
              </a:spcAft>
              <a:defRPr/>
            </a:pPr>
            <a:r>
              <a:rPr lang="zh-CN" altLang="en-US" dirty="0"/>
              <a:t>当</a:t>
            </a:r>
            <a:r>
              <a:rPr lang="zh-CN" altLang="en-US" dirty="0">
                <a:solidFill>
                  <a:srgbClr val="3333FF"/>
                </a:solidFill>
              </a:rPr>
              <a:t>口线锁存为</a:t>
            </a:r>
            <a:r>
              <a:rPr lang="en-US" altLang="zh-CN" dirty="0">
                <a:solidFill>
                  <a:srgbClr val="3333FF"/>
                </a:solidFill>
              </a:rPr>
              <a:t>0</a:t>
            </a:r>
            <a:r>
              <a:rPr lang="zh-CN" altLang="en-US" dirty="0">
                <a:solidFill>
                  <a:srgbClr val="3333FF"/>
                </a:solidFill>
              </a:rPr>
              <a:t>时</a:t>
            </a:r>
            <a:r>
              <a:rPr lang="zh-CN" altLang="en-US" dirty="0"/>
              <a:t>，</a:t>
            </a:r>
            <a:r>
              <a:rPr lang="en-US" altLang="zh-CN" dirty="0"/>
              <a:t>T1</a:t>
            </a:r>
            <a:r>
              <a:rPr lang="zh-CN" altLang="en-US" dirty="0"/>
              <a:t>、</a:t>
            </a:r>
            <a:r>
              <a:rPr lang="en-US" altLang="zh-CN" dirty="0"/>
              <a:t>T2</a:t>
            </a:r>
            <a:r>
              <a:rPr lang="zh-CN" altLang="en-US" dirty="0"/>
              <a:t>和</a:t>
            </a:r>
            <a:r>
              <a:rPr lang="en-US" altLang="zh-CN" dirty="0"/>
              <a:t>T3</a:t>
            </a:r>
            <a:r>
              <a:rPr lang="zh-CN" altLang="en-US" dirty="0"/>
              <a:t>均截止，</a:t>
            </a:r>
            <a:r>
              <a:rPr lang="en-US" altLang="zh-CN" dirty="0"/>
              <a:t>T4</a:t>
            </a:r>
            <a:r>
              <a:rPr lang="zh-CN" altLang="en-US" dirty="0"/>
              <a:t>导通，引脚输出为低电平。</a:t>
            </a:r>
          </a:p>
        </p:txBody>
      </p:sp>
      <p:pic>
        <p:nvPicPr>
          <p:cNvPr id="12" name="Picture 189" descr="D:\DOCUME~1\ADMINI~1\LOCALS~1\Temp\HS5ClipImage_56b00a7d.gif">
            <a:extLst>
              <a:ext uri="{FF2B5EF4-FFF2-40B4-BE49-F238E27FC236}">
                <a16:creationId xmlns:a16="http://schemas.microsoft.com/office/drawing/2014/main" id="{316276BC-B867-4751-9A38-3812286F15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88" y="2605212"/>
            <a:ext cx="8258175" cy="334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组合 12">
            <a:extLst>
              <a:ext uri="{FF2B5EF4-FFF2-40B4-BE49-F238E27FC236}">
                <a16:creationId xmlns:a16="http://schemas.microsoft.com/office/drawing/2014/main" id="{84D57058-DC8D-4CE7-9CBD-431D7571FE1C}"/>
              </a:ext>
            </a:extLst>
          </p:cNvPr>
          <p:cNvGrpSpPr>
            <a:grpSpLocks/>
          </p:cNvGrpSpPr>
          <p:nvPr/>
        </p:nvGrpSpPr>
        <p:grpSpPr bwMode="auto">
          <a:xfrm>
            <a:off x="4792663" y="2932237"/>
            <a:ext cx="2974975" cy="400050"/>
            <a:chOff x="5018288" y="2721819"/>
            <a:chExt cx="2975952" cy="400110"/>
          </a:xfrm>
        </p:grpSpPr>
        <p:sp>
          <p:nvSpPr>
            <p:cNvPr id="108588" name="矩形 13">
              <a:extLst>
                <a:ext uri="{FF2B5EF4-FFF2-40B4-BE49-F238E27FC236}">
                  <a16:creationId xmlns:a16="http://schemas.microsoft.com/office/drawing/2014/main" id="{58FD2A80-432D-44A7-8580-04FCC6C86262}"/>
                </a:ext>
              </a:extLst>
            </p:cNvPr>
            <p:cNvSpPr>
              <a:spLocks noChangeArrowheads="1"/>
            </p:cNvSpPr>
            <p:nvPr/>
          </p:nvSpPr>
          <p:spPr bwMode="auto">
            <a:xfrm>
              <a:off x="5018288" y="2721819"/>
              <a:ext cx="442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B050"/>
                  </a:solidFill>
                </a:rPr>
                <a:t>强</a:t>
              </a:r>
            </a:p>
          </p:txBody>
        </p:sp>
        <p:sp>
          <p:nvSpPr>
            <p:cNvPr id="108589" name="矩形 14">
              <a:extLst>
                <a:ext uri="{FF2B5EF4-FFF2-40B4-BE49-F238E27FC236}">
                  <a16:creationId xmlns:a16="http://schemas.microsoft.com/office/drawing/2014/main" id="{804B22CE-A8FB-48C8-8542-6EF0E77A235A}"/>
                </a:ext>
              </a:extLst>
            </p:cNvPr>
            <p:cNvSpPr>
              <a:spLocks noChangeArrowheads="1"/>
            </p:cNvSpPr>
            <p:nvPr/>
          </p:nvSpPr>
          <p:spPr bwMode="auto">
            <a:xfrm>
              <a:off x="6087133" y="2721819"/>
              <a:ext cx="7008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B050"/>
                  </a:solidFill>
                </a:rPr>
                <a:t>极弱</a:t>
              </a:r>
            </a:p>
          </p:txBody>
        </p:sp>
        <p:sp>
          <p:nvSpPr>
            <p:cNvPr id="108590" name="矩形 15">
              <a:extLst>
                <a:ext uri="{FF2B5EF4-FFF2-40B4-BE49-F238E27FC236}">
                  <a16:creationId xmlns:a16="http://schemas.microsoft.com/office/drawing/2014/main" id="{23037EE5-B13A-41FD-8F1A-F53049907B56}"/>
                </a:ext>
              </a:extLst>
            </p:cNvPr>
            <p:cNvSpPr>
              <a:spLocks noChangeArrowheads="1"/>
            </p:cNvSpPr>
            <p:nvPr/>
          </p:nvSpPr>
          <p:spPr bwMode="auto">
            <a:xfrm>
              <a:off x="7551490" y="2721819"/>
              <a:ext cx="442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B050"/>
                  </a:solidFill>
                </a:rPr>
                <a:t>弱</a:t>
              </a:r>
            </a:p>
          </p:txBody>
        </p:sp>
      </p:grpSp>
      <p:sp>
        <p:nvSpPr>
          <p:cNvPr id="17" name="矩形 16">
            <a:extLst>
              <a:ext uri="{FF2B5EF4-FFF2-40B4-BE49-F238E27FC236}">
                <a16:creationId xmlns:a16="http://schemas.microsoft.com/office/drawing/2014/main" id="{96373550-05B7-41C0-AB44-9420C2AF5DFB}"/>
              </a:ext>
            </a:extLst>
          </p:cNvPr>
          <p:cNvSpPr>
            <a:spLocks noChangeArrowheads="1"/>
          </p:cNvSpPr>
          <p:nvPr/>
        </p:nvSpPr>
        <p:spPr bwMode="auto">
          <a:xfrm>
            <a:off x="34925" y="3300537"/>
            <a:ext cx="1143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solidFill>
                  <a:srgbClr val="FF0000"/>
                </a:solidFill>
                <a:cs typeface="Times New Roman" panose="02020603050405020304" pitchFamily="18" charset="0"/>
              </a:rPr>
              <a:t>P0</a:t>
            </a:r>
            <a:r>
              <a:rPr lang="zh-CN" altLang="en-US" sz="2400">
                <a:solidFill>
                  <a:srgbClr val="FF0000"/>
                </a:solidFill>
                <a:cs typeface="Times New Roman" panose="02020603050405020304" pitchFamily="18" charset="0"/>
              </a:rPr>
              <a:t>～</a:t>
            </a:r>
            <a:r>
              <a:rPr lang="en-US" altLang="zh-CN" sz="2400">
                <a:solidFill>
                  <a:srgbClr val="FF0000"/>
                </a:solidFill>
                <a:cs typeface="Times New Roman" panose="02020603050405020304" pitchFamily="18" charset="0"/>
              </a:rPr>
              <a:t>P7</a:t>
            </a:r>
            <a:endParaRPr lang="zh-CN" altLang="en-US" sz="2400">
              <a:cs typeface="Times New Roman" panose="02020603050405020304" pitchFamily="18" charset="0"/>
            </a:endParaRPr>
          </a:p>
        </p:txBody>
      </p:sp>
      <p:sp>
        <p:nvSpPr>
          <p:cNvPr id="18" name="矩形 17">
            <a:extLst>
              <a:ext uri="{FF2B5EF4-FFF2-40B4-BE49-F238E27FC236}">
                <a16:creationId xmlns:a16="http://schemas.microsoft.com/office/drawing/2014/main" id="{D1841781-39AD-4671-8788-79A3AD1CA334}"/>
              </a:ext>
            </a:extLst>
          </p:cNvPr>
          <p:cNvSpPr>
            <a:spLocks noChangeArrowheads="1"/>
          </p:cNvSpPr>
          <p:nvPr/>
        </p:nvSpPr>
        <p:spPr bwMode="auto">
          <a:xfrm>
            <a:off x="263525" y="4360987"/>
            <a:ext cx="338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19" name="矩形 18">
            <a:extLst>
              <a:ext uri="{FF2B5EF4-FFF2-40B4-BE49-F238E27FC236}">
                <a16:creationId xmlns:a16="http://schemas.microsoft.com/office/drawing/2014/main" id="{90A73092-8B9C-4B2E-99CD-69F9BC5816FA}"/>
              </a:ext>
            </a:extLst>
          </p:cNvPr>
          <p:cNvSpPr>
            <a:spLocks noChangeArrowheads="1"/>
          </p:cNvSpPr>
          <p:nvPr/>
        </p:nvSpPr>
        <p:spPr bwMode="auto">
          <a:xfrm>
            <a:off x="3060700" y="4032374"/>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0</a:t>
            </a:r>
            <a:endParaRPr lang="zh-CN" altLang="en-US" sz="2400" b="1"/>
          </a:p>
        </p:txBody>
      </p:sp>
      <p:sp>
        <p:nvSpPr>
          <p:cNvPr id="20" name="矩形 19">
            <a:extLst>
              <a:ext uri="{FF2B5EF4-FFF2-40B4-BE49-F238E27FC236}">
                <a16:creationId xmlns:a16="http://schemas.microsoft.com/office/drawing/2014/main" id="{6FCE49FC-9AB5-4BA8-9E4F-635DFE386CDA}"/>
              </a:ext>
            </a:extLst>
          </p:cNvPr>
          <p:cNvSpPr>
            <a:spLocks noChangeArrowheads="1"/>
          </p:cNvSpPr>
          <p:nvPr/>
        </p:nvSpPr>
        <p:spPr bwMode="auto">
          <a:xfrm>
            <a:off x="1879600" y="2605212"/>
            <a:ext cx="338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21" name="矩形 20">
            <a:extLst>
              <a:ext uri="{FF2B5EF4-FFF2-40B4-BE49-F238E27FC236}">
                <a16:creationId xmlns:a16="http://schemas.microsoft.com/office/drawing/2014/main" id="{FEDC3DA3-8E19-4A7A-9905-E4741F4913CA}"/>
              </a:ext>
            </a:extLst>
          </p:cNvPr>
          <p:cNvSpPr>
            <a:spLocks noChangeArrowheads="1"/>
          </p:cNvSpPr>
          <p:nvPr/>
        </p:nvSpPr>
        <p:spPr bwMode="auto">
          <a:xfrm>
            <a:off x="3859213" y="2854449"/>
            <a:ext cx="3381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22" name="矩形 21">
            <a:extLst>
              <a:ext uri="{FF2B5EF4-FFF2-40B4-BE49-F238E27FC236}">
                <a16:creationId xmlns:a16="http://schemas.microsoft.com/office/drawing/2014/main" id="{844BB2FC-F6A6-43A2-B6BB-07A7E4EB6630}"/>
              </a:ext>
            </a:extLst>
          </p:cNvPr>
          <p:cNvSpPr>
            <a:spLocks noChangeArrowheads="1"/>
          </p:cNvSpPr>
          <p:nvPr/>
        </p:nvSpPr>
        <p:spPr bwMode="auto">
          <a:xfrm>
            <a:off x="282575" y="4662612"/>
            <a:ext cx="338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23" name="矩形 22">
            <a:extLst>
              <a:ext uri="{FF2B5EF4-FFF2-40B4-BE49-F238E27FC236}">
                <a16:creationId xmlns:a16="http://schemas.microsoft.com/office/drawing/2014/main" id="{FD11FB1D-ACC7-4428-8980-9EE8541C1AB4}"/>
              </a:ext>
            </a:extLst>
          </p:cNvPr>
          <p:cNvSpPr>
            <a:spLocks noChangeArrowheads="1"/>
          </p:cNvSpPr>
          <p:nvPr/>
        </p:nvSpPr>
        <p:spPr bwMode="auto">
          <a:xfrm>
            <a:off x="3089275" y="4419724"/>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1</a:t>
            </a:r>
            <a:endParaRPr lang="zh-CN" altLang="en-US" sz="2400" b="1">
              <a:solidFill>
                <a:srgbClr val="3366FF"/>
              </a:solidFill>
            </a:endParaRPr>
          </a:p>
        </p:txBody>
      </p:sp>
      <p:sp>
        <p:nvSpPr>
          <p:cNvPr id="24" name="矩形 23">
            <a:extLst>
              <a:ext uri="{FF2B5EF4-FFF2-40B4-BE49-F238E27FC236}">
                <a16:creationId xmlns:a16="http://schemas.microsoft.com/office/drawing/2014/main" id="{655D5A83-27CF-4429-8F86-3AEA8D75D0E8}"/>
              </a:ext>
            </a:extLst>
          </p:cNvPr>
          <p:cNvSpPr>
            <a:spLocks noChangeArrowheads="1"/>
          </p:cNvSpPr>
          <p:nvPr/>
        </p:nvSpPr>
        <p:spPr bwMode="auto">
          <a:xfrm>
            <a:off x="1858963" y="3327524"/>
            <a:ext cx="338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25" name="矩形 24">
            <a:extLst>
              <a:ext uri="{FF2B5EF4-FFF2-40B4-BE49-F238E27FC236}">
                <a16:creationId xmlns:a16="http://schemas.microsoft.com/office/drawing/2014/main" id="{BBE8BD44-9F91-48BA-B7AA-6142AABB8156}"/>
              </a:ext>
            </a:extLst>
          </p:cNvPr>
          <p:cNvSpPr>
            <a:spLocks noChangeArrowheads="1"/>
          </p:cNvSpPr>
          <p:nvPr/>
        </p:nvSpPr>
        <p:spPr bwMode="auto">
          <a:xfrm>
            <a:off x="3257550" y="2602037"/>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26" name="矩形 25">
            <a:extLst>
              <a:ext uri="{FF2B5EF4-FFF2-40B4-BE49-F238E27FC236}">
                <a16:creationId xmlns:a16="http://schemas.microsoft.com/office/drawing/2014/main" id="{79A704B5-1E12-4924-9BB7-F7CBD18F16C5}"/>
              </a:ext>
            </a:extLst>
          </p:cNvPr>
          <p:cNvSpPr>
            <a:spLocks noChangeArrowheads="1"/>
          </p:cNvSpPr>
          <p:nvPr/>
        </p:nvSpPr>
        <p:spPr bwMode="auto">
          <a:xfrm>
            <a:off x="3200400" y="3224337"/>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27" name="任意多边形 26">
            <a:extLst>
              <a:ext uri="{FF2B5EF4-FFF2-40B4-BE49-F238E27FC236}">
                <a16:creationId xmlns:a16="http://schemas.microsoft.com/office/drawing/2014/main" id="{B333A178-7620-44A4-ABF1-03F7EEA2AE59}"/>
              </a:ext>
            </a:extLst>
          </p:cNvPr>
          <p:cNvSpPr>
            <a:spLocks/>
          </p:cNvSpPr>
          <p:nvPr/>
        </p:nvSpPr>
        <p:spPr bwMode="auto">
          <a:xfrm rot="21404582">
            <a:off x="5935663" y="4022849"/>
            <a:ext cx="1836737" cy="566738"/>
          </a:xfrm>
          <a:custGeom>
            <a:avLst/>
            <a:gdLst>
              <a:gd name="T0" fmla="*/ 1837088 w 1941838"/>
              <a:gd name="T1" fmla="*/ 27428 h 732096"/>
              <a:gd name="T2" fmla="*/ 230523 w 1941838"/>
              <a:gd name="T3" fmla="*/ 61154 h 732096"/>
              <a:gd name="T4" fmla="*/ 10821 w 1941838"/>
              <a:gd name="T5" fmla="*/ 567058 h 732096"/>
              <a:gd name="T6" fmla="*/ 10821 w 1941838"/>
              <a:gd name="T7" fmla="*/ 567058 h 7320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1838" h="732096">
                <a:moveTo>
                  <a:pt x="1941838" y="35411"/>
                </a:moveTo>
                <a:cubicBezTo>
                  <a:pt x="1253619" y="-875"/>
                  <a:pt x="565400" y="-37161"/>
                  <a:pt x="243667" y="78953"/>
                </a:cubicBezTo>
                <a:cubicBezTo>
                  <a:pt x="-78066" y="195067"/>
                  <a:pt x="11438" y="732096"/>
                  <a:pt x="11438" y="732096"/>
                </a:cubicBezTo>
              </a:path>
            </a:pathLst>
          </a:custGeom>
          <a:noFill/>
          <a:ln w="19050" cap="flat" cmpd="sng" algn="ctr">
            <a:solidFill>
              <a:srgbClr val="3366FF"/>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矩形 27">
            <a:extLst>
              <a:ext uri="{FF2B5EF4-FFF2-40B4-BE49-F238E27FC236}">
                <a16:creationId xmlns:a16="http://schemas.microsoft.com/office/drawing/2014/main" id="{81586367-B57D-4F61-B7DD-CC9A2DAEEC12}"/>
              </a:ext>
            </a:extLst>
          </p:cNvPr>
          <p:cNvSpPr>
            <a:spLocks noChangeArrowheads="1"/>
          </p:cNvSpPr>
          <p:nvPr/>
        </p:nvSpPr>
        <p:spPr bwMode="auto">
          <a:xfrm>
            <a:off x="7454900" y="4391149"/>
            <a:ext cx="1490663" cy="9239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3366FF"/>
                </a:solidFill>
              </a:rPr>
              <a:t>输出低时</a:t>
            </a:r>
            <a:r>
              <a:rPr lang="en-US" altLang="zh-CN" sz="2000" b="1">
                <a:solidFill>
                  <a:srgbClr val="3366FF"/>
                </a:solidFill>
              </a:rPr>
              <a:t>,</a:t>
            </a:r>
            <a:r>
              <a:rPr lang="zh-CN" altLang="en-US" sz="2000" b="1">
                <a:solidFill>
                  <a:srgbClr val="3366FF"/>
                </a:solidFill>
              </a:rPr>
              <a:t>灌电流最大可达</a:t>
            </a:r>
            <a:r>
              <a:rPr lang="en-US" altLang="zh-CN" sz="2000" b="1">
                <a:solidFill>
                  <a:srgbClr val="3366FF"/>
                </a:solidFill>
              </a:rPr>
              <a:t>20mA</a:t>
            </a:r>
            <a:endParaRPr lang="zh-CN" altLang="en-US" sz="2000" b="1">
              <a:solidFill>
                <a:srgbClr val="3366FF"/>
              </a:solidFill>
            </a:endParaRPr>
          </a:p>
        </p:txBody>
      </p:sp>
      <p:sp>
        <p:nvSpPr>
          <p:cNvPr id="29" name="任意多边形 28">
            <a:extLst>
              <a:ext uri="{FF2B5EF4-FFF2-40B4-BE49-F238E27FC236}">
                <a16:creationId xmlns:a16="http://schemas.microsoft.com/office/drawing/2014/main" id="{6C258F47-014C-428C-99C2-30285529EAD0}"/>
              </a:ext>
            </a:extLst>
          </p:cNvPr>
          <p:cNvSpPr>
            <a:spLocks/>
          </p:cNvSpPr>
          <p:nvPr/>
        </p:nvSpPr>
        <p:spPr bwMode="auto">
          <a:xfrm>
            <a:off x="6000750" y="3014787"/>
            <a:ext cx="1657350" cy="885825"/>
          </a:xfrm>
          <a:custGeom>
            <a:avLst/>
            <a:gdLst>
              <a:gd name="T0" fmla="*/ 16487 w 1759219"/>
              <a:gd name="T1" fmla="*/ 0 h 675238"/>
              <a:gd name="T2" fmla="*/ 235210 w 1759219"/>
              <a:gd name="T3" fmla="*/ 780613 h 675238"/>
              <a:gd name="T4" fmla="*/ 1656911 w 1759219"/>
              <a:gd name="T5" fmla="*/ 856771 h 675238"/>
              <a:gd name="T6" fmla="*/ 0 60000 65536"/>
              <a:gd name="T7" fmla="*/ 0 60000 65536"/>
              <a:gd name="T8" fmla="*/ 0 60000 65536"/>
            </a:gdLst>
            <a:ahLst/>
            <a:cxnLst>
              <a:cxn ang="T6">
                <a:pos x="T0" y="T1"/>
              </a:cxn>
              <a:cxn ang="T7">
                <a:pos x="T2" y="T3"/>
              </a:cxn>
              <a:cxn ang="T8">
                <a:pos x="T4" y="T5"/>
              </a:cxn>
            </a:cxnLst>
            <a:rect l="0" t="0" r="r" b="b"/>
            <a:pathLst>
              <a:path w="1759219" h="675238">
                <a:moveTo>
                  <a:pt x="17505" y="0"/>
                </a:moveTo>
                <a:cubicBezTo>
                  <a:pt x="-11524" y="243114"/>
                  <a:pt x="-40553" y="486229"/>
                  <a:pt x="249733" y="595086"/>
                </a:cubicBezTo>
                <a:cubicBezTo>
                  <a:pt x="540019" y="703943"/>
                  <a:pt x="1149619" y="678543"/>
                  <a:pt x="1759219" y="653143"/>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任意多边形 29">
            <a:extLst>
              <a:ext uri="{FF2B5EF4-FFF2-40B4-BE49-F238E27FC236}">
                <a16:creationId xmlns:a16="http://schemas.microsoft.com/office/drawing/2014/main" id="{B1D24789-24B7-4A3B-8A24-985AF7679A10}"/>
              </a:ext>
            </a:extLst>
          </p:cNvPr>
          <p:cNvSpPr>
            <a:spLocks/>
          </p:cNvSpPr>
          <p:nvPr/>
        </p:nvSpPr>
        <p:spPr bwMode="auto">
          <a:xfrm>
            <a:off x="7421563" y="2905249"/>
            <a:ext cx="828675" cy="885825"/>
          </a:xfrm>
          <a:custGeom>
            <a:avLst/>
            <a:gdLst>
              <a:gd name="T0" fmla="*/ 8243 w 1759219"/>
              <a:gd name="T1" fmla="*/ 0 h 675238"/>
              <a:gd name="T2" fmla="*/ 117605 w 1759219"/>
              <a:gd name="T3" fmla="*/ 780613 h 675238"/>
              <a:gd name="T4" fmla="*/ 828455 w 1759219"/>
              <a:gd name="T5" fmla="*/ 856771 h 675238"/>
              <a:gd name="T6" fmla="*/ 0 60000 65536"/>
              <a:gd name="T7" fmla="*/ 0 60000 65536"/>
              <a:gd name="T8" fmla="*/ 0 60000 65536"/>
            </a:gdLst>
            <a:ahLst/>
            <a:cxnLst>
              <a:cxn ang="T6">
                <a:pos x="T0" y="T1"/>
              </a:cxn>
              <a:cxn ang="T7">
                <a:pos x="T2" y="T3"/>
              </a:cxn>
              <a:cxn ang="T8">
                <a:pos x="T4" y="T5"/>
              </a:cxn>
            </a:cxnLst>
            <a:rect l="0" t="0" r="r" b="b"/>
            <a:pathLst>
              <a:path w="1759219" h="675238">
                <a:moveTo>
                  <a:pt x="17505" y="0"/>
                </a:moveTo>
                <a:cubicBezTo>
                  <a:pt x="-11524" y="243114"/>
                  <a:pt x="-40553" y="486229"/>
                  <a:pt x="249733" y="595086"/>
                </a:cubicBezTo>
                <a:cubicBezTo>
                  <a:pt x="540019" y="703943"/>
                  <a:pt x="1149619" y="678543"/>
                  <a:pt x="1759219" y="653143"/>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矩形 30">
            <a:extLst>
              <a:ext uri="{FF2B5EF4-FFF2-40B4-BE49-F238E27FC236}">
                <a16:creationId xmlns:a16="http://schemas.microsoft.com/office/drawing/2014/main" id="{0D4DABCA-99D9-4AB7-B657-6CC3253B566E}"/>
              </a:ext>
            </a:extLst>
          </p:cNvPr>
          <p:cNvSpPr>
            <a:spLocks noChangeArrowheads="1"/>
          </p:cNvSpPr>
          <p:nvPr/>
        </p:nvSpPr>
        <p:spPr bwMode="auto">
          <a:xfrm>
            <a:off x="3879850" y="3360862"/>
            <a:ext cx="338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1</a:t>
            </a:r>
            <a:endParaRPr lang="zh-CN" altLang="en-US" sz="2400" b="1">
              <a:solidFill>
                <a:srgbClr val="3366FF"/>
              </a:solidFill>
            </a:endParaRPr>
          </a:p>
        </p:txBody>
      </p:sp>
      <p:sp>
        <p:nvSpPr>
          <p:cNvPr id="32" name="矩形 31">
            <a:extLst>
              <a:ext uri="{FF2B5EF4-FFF2-40B4-BE49-F238E27FC236}">
                <a16:creationId xmlns:a16="http://schemas.microsoft.com/office/drawing/2014/main" id="{C471CD88-BDD0-47BF-B237-D9A7182D864F}"/>
              </a:ext>
            </a:extLst>
          </p:cNvPr>
          <p:cNvSpPr>
            <a:spLocks noChangeArrowheads="1"/>
          </p:cNvSpPr>
          <p:nvPr/>
        </p:nvSpPr>
        <p:spPr bwMode="auto">
          <a:xfrm>
            <a:off x="4568825" y="3465637"/>
            <a:ext cx="803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截止</a:t>
            </a:r>
          </a:p>
        </p:txBody>
      </p:sp>
      <p:sp>
        <p:nvSpPr>
          <p:cNvPr id="33" name="矩形 32">
            <a:extLst>
              <a:ext uri="{FF2B5EF4-FFF2-40B4-BE49-F238E27FC236}">
                <a16:creationId xmlns:a16="http://schemas.microsoft.com/office/drawing/2014/main" id="{999BFDD9-BF72-4077-84D7-12F375753CDA}"/>
              </a:ext>
            </a:extLst>
          </p:cNvPr>
          <p:cNvSpPr>
            <a:spLocks noChangeArrowheads="1"/>
          </p:cNvSpPr>
          <p:nvPr/>
        </p:nvSpPr>
        <p:spPr bwMode="auto">
          <a:xfrm>
            <a:off x="5434013" y="3468812"/>
            <a:ext cx="493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通</a:t>
            </a:r>
          </a:p>
        </p:txBody>
      </p:sp>
      <p:sp>
        <p:nvSpPr>
          <p:cNvPr id="34" name="矩形 33">
            <a:extLst>
              <a:ext uri="{FF2B5EF4-FFF2-40B4-BE49-F238E27FC236}">
                <a16:creationId xmlns:a16="http://schemas.microsoft.com/office/drawing/2014/main" id="{81FC2043-ED96-4A7D-89E9-D96582D21D1F}"/>
              </a:ext>
            </a:extLst>
          </p:cNvPr>
          <p:cNvSpPr>
            <a:spLocks noChangeArrowheads="1"/>
          </p:cNvSpPr>
          <p:nvPr/>
        </p:nvSpPr>
        <p:spPr bwMode="auto">
          <a:xfrm>
            <a:off x="6916738" y="3476749"/>
            <a:ext cx="493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通</a:t>
            </a:r>
          </a:p>
        </p:txBody>
      </p:sp>
      <p:sp>
        <p:nvSpPr>
          <p:cNvPr id="35" name="任意多边形 34">
            <a:extLst>
              <a:ext uri="{FF2B5EF4-FFF2-40B4-BE49-F238E27FC236}">
                <a16:creationId xmlns:a16="http://schemas.microsoft.com/office/drawing/2014/main" id="{6C26D868-8A34-4E50-B877-4652F95A00BB}"/>
              </a:ext>
            </a:extLst>
          </p:cNvPr>
          <p:cNvSpPr>
            <a:spLocks/>
          </p:cNvSpPr>
          <p:nvPr/>
        </p:nvSpPr>
        <p:spPr bwMode="auto">
          <a:xfrm>
            <a:off x="6567488" y="3521199"/>
            <a:ext cx="757237" cy="1428750"/>
          </a:xfrm>
          <a:custGeom>
            <a:avLst/>
            <a:gdLst>
              <a:gd name="T0" fmla="*/ 743021 w 757535"/>
              <a:gd name="T1" fmla="*/ 624115 h 1429925"/>
              <a:gd name="T2" fmla="*/ 757535 w 757535"/>
              <a:gd name="T3" fmla="*/ 783772 h 1429925"/>
              <a:gd name="T4" fmla="*/ 743021 w 757535"/>
              <a:gd name="T5" fmla="*/ 1103086 h 1429925"/>
              <a:gd name="T6" fmla="*/ 743021 w 757535"/>
              <a:gd name="T7" fmla="*/ 1378858 h 1429925"/>
              <a:gd name="T8" fmla="*/ 612393 w 757535"/>
              <a:gd name="T9" fmla="*/ 1422400 h 1429925"/>
              <a:gd name="T10" fmla="*/ 322107 w 757535"/>
              <a:gd name="T11" fmla="*/ 1422400 h 1429925"/>
              <a:gd name="T12" fmla="*/ 104393 w 757535"/>
              <a:gd name="T13" fmla="*/ 1422400 h 1429925"/>
              <a:gd name="T14" fmla="*/ 31821 w 757535"/>
              <a:gd name="T15" fmla="*/ 1320800 h 1429925"/>
              <a:gd name="T16" fmla="*/ 2793 w 757535"/>
              <a:gd name="T17" fmla="*/ 1117600 h 1429925"/>
              <a:gd name="T18" fmla="*/ 2793 w 757535"/>
              <a:gd name="T19" fmla="*/ 740229 h 1429925"/>
              <a:gd name="T20" fmla="*/ 17307 w 757535"/>
              <a:gd name="T21" fmla="*/ 319315 h 1429925"/>
              <a:gd name="T22" fmla="*/ 17307 w 757535"/>
              <a:gd name="T23" fmla="*/ 72572 h 1429925"/>
              <a:gd name="T24" fmla="*/ 162450 w 757535"/>
              <a:gd name="T25" fmla="*/ 14515 h 1429925"/>
              <a:gd name="T26" fmla="*/ 409193 w 757535"/>
              <a:gd name="T27" fmla="*/ 0 h 14299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57535" h="1429925">
                <a:moveTo>
                  <a:pt x="743021" y="624115"/>
                </a:moveTo>
                <a:cubicBezTo>
                  <a:pt x="750278" y="664029"/>
                  <a:pt x="757535" y="703944"/>
                  <a:pt x="757535" y="783772"/>
                </a:cubicBezTo>
                <a:cubicBezTo>
                  <a:pt x="757535" y="863600"/>
                  <a:pt x="745440" y="1003905"/>
                  <a:pt x="743021" y="1103086"/>
                </a:cubicBezTo>
                <a:cubicBezTo>
                  <a:pt x="740602" y="1202267"/>
                  <a:pt x="764792" y="1325639"/>
                  <a:pt x="743021" y="1378858"/>
                </a:cubicBezTo>
                <a:cubicBezTo>
                  <a:pt x="721250" y="1432077"/>
                  <a:pt x="682545" y="1415143"/>
                  <a:pt x="612393" y="1422400"/>
                </a:cubicBezTo>
                <a:cubicBezTo>
                  <a:pt x="542241" y="1429657"/>
                  <a:pt x="322107" y="1422400"/>
                  <a:pt x="322107" y="1422400"/>
                </a:cubicBezTo>
                <a:cubicBezTo>
                  <a:pt x="237440" y="1422400"/>
                  <a:pt x="152774" y="1439333"/>
                  <a:pt x="104393" y="1422400"/>
                </a:cubicBezTo>
                <a:cubicBezTo>
                  <a:pt x="56012" y="1405467"/>
                  <a:pt x="48754" y="1371600"/>
                  <a:pt x="31821" y="1320800"/>
                </a:cubicBezTo>
                <a:cubicBezTo>
                  <a:pt x="14888" y="1270000"/>
                  <a:pt x="7631" y="1214362"/>
                  <a:pt x="2793" y="1117600"/>
                </a:cubicBezTo>
                <a:cubicBezTo>
                  <a:pt x="-2045" y="1020838"/>
                  <a:pt x="374" y="873276"/>
                  <a:pt x="2793" y="740229"/>
                </a:cubicBezTo>
                <a:cubicBezTo>
                  <a:pt x="5212" y="607182"/>
                  <a:pt x="14888" y="430591"/>
                  <a:pt x="17307" y="319315"/>
                </a:cubicBezTo>
                <a:cubicBezTo>
                  <a:pt x="19726" y="208039"/>
                  <a:pt x="-6883" y="123372"/>
                  <a:pt x="17307" y="72572"/>
                </a:cubicBezTo>
                <a:cubicBezTo>
                  <a:pt x="41497" y="21772"/>
                  <a:pt x="97136" y="26610"/>
                  <a:pt x="162450" y="14515"/>
                </a:cubicBezTo>
                <a:cubicBezTo>
                  <a:pt x="227764" y="2420"/>
                  <a:pt x="318478" y="1210"/>
                  <a:pt x="409193" y="0"/>
                </a:cubicBezTo>
              </a:path>
            </a:pathLst>
          </a:custGeom>
          <a:noFill/>
          <a:ln w="952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矩形 35">
            <a:extLst>
              <a:ext uri="{FF2B5EF4-FFF2-40B4-BE49-F238E27FC236}">
                <a16:creationId xmlns:a16="http://schemas.microsoft.com/office/drawing/2014/main" id="{64629F35-4D53-40B8-B774-26003DF71189}"/>
              </a:ext>
            </a:extLst>
          </p:cNvPr>
          <p:cNvSpPr>
            <a:spLocks noChangeArrowheads="1"/>
          </p:cNvSpPr>
          <p:nvPr/>
        </p:nvSpPr>
        <p:spPr bwMode="auto">
          <a:xfrm>
            <a:off x="7299325" y="3505324"/>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37" name="矩形 36">
            <a:extLst>
              <a:ext uri="{FF2B5EF4-FFF2-40B4-BE49-F238E27FC236}">
                <a16:creationId xmlns:a16="http://schemas.microsoft.com/office/drawing/2014/main" id="{075010DA-D192-4EAC-9024-3E909C8FB3F6}"/>
              </a:ext>
            </a:extLst>
          </p:cNvPr>
          <p:cNvSpPr>
            <a:spLocks noChangeArrowheads="1"/>
          </p:cNvSpPr>
          <p:nvPr/>
        </p:nvSpPr>
        <p:spPr bwMode="auto">
          <a:xfrm>
            <a:off x="5356225" y="4602287"/>
            <a:ext cx="4937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66FF"/>
                </a:solidFill>
              </a:rPr>
              <a:t>通</a:t>
            </a:r>
          </a:p>
        </p:txBody>
      </p:sp>
      <p:sp>
        <p:nvSpPr>
          <p:cNvPr id="38" name="矩形 37">
            <a:extLst>
              <a:ext uri="{FF2B5EF4-FFF2-40B4-BE49-F238E27FC236}">
                <a16:creationId xmlns:a16="http://schemas.microsoft.com/office/drawing/2014/main" id="{F35097C4-746D-46E6-AE87-5AFB259BD617}"/>
              </a:ext>
            </a:extLst>
          </p:cNvPr>
          <p:cNvSpPr>
            <a:spLocks noChangeArrowheads="1"/>
          </p:cNvSpPr>
          <p:nvPr/>
        </p:nvSpPr>
        <p:spPr bwMode="auto">
          <a:xfrm>
            <a:off x="5357813" y="3740274"/>
            <a:ext cx="493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66FF"/>
                </a:solidFill>
              </a:rPr>
              <a:t>止</a:t>
            </a:r>
          </a:p>
        </p:txBody>
      </p:sp>
      <p:sp>
        <p:nvSpPr>
          <p:cNvPr id="40" name="矩形 39">
            <a:extLst>
              <a:ext uri="{FF2B5EF4-FFF2-40B4-BE49-F238E27FC236}">
                <a16:creationId xmlns:a16="http://schemas.microsoft.com/office/drawing/2014/main" id="{E2C20493-BF39-43A5-9875-CA9A67144D63}"/>
              </a:ext>
            </a:extLst>
          </p:cNvPr>
          <p:cNvSpPr>
            <a:spLocks noChangeArrowheads="1"/>
          </p:cNvSpPr>
          <p:nvPr/>
        </p:nvSpPr>
        <p:spPr bwMode="auto">
          <a:xfrm>
            <a:off x="7462838" y="3968874"/>
            <a:ext cx="338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grpSp>
        <p:nvGrpSpPr>
          <p:cNvPr id="41" name="组合 40">
            <a:extLst>
              <a:ext uri="{FF2B5EF4-FFF2-40B4-BE49-F238E27FC236}">
                <a16:creationId xmlns:a16="http://schemas.microsoft.com/office/drawing/2014/main" id="{FA20A168-07F5-41E3-B57A-52FE38D46A22}"/>
              </a:ext>
            </a:extLst>
          </p:cNvPr>
          <p:cNvGrpSpPr>
            <a:grpSpLocks/>
          </p:cNvGrpSpPr>
          <p:nvPr/>
        </p:nvGrpSpPr>
        <p:grpSpPr bwMode="auto">
          <a:xfrm>
            <a:off x="4897438" y="2638549"/>
            <a:ext cx="3651250" cy="603250"/>
            <a:chOff x="4874106" y="3312640"/>
            <a:chExt cx="3650419" cy="603548"/>
          </a:xfrm>
        </p:grpSpPr>
        <p:sp>
          <p:nvSpPr>
            <p:cNvPr id="108585" name="矩形 41">
              <a:extLst>
                <a:ext uri="{FF2B5EF4-FFF2-40B4-BE49-F238E27FC236}">
                  <a16:creationId xmlns:a16="http://schemas.microsoft.com/office/drawing/2014/main" id="{730A9D35-CE9F-4498-ABBC-7844F7A06934}"/>
                </a:ext>
              </a:extLst>
            </p:cNvPr>
            <p:cNvSpPr>
              <a:spLocks noChangeArrowheads="1"/>
            </p:cNvSpPr>
            <p:nvPr/>
          </p:nvSpPr>
          <p:spPr bwMode="auto">
            <a:xfrm>
              <a:off x="6095382" y="3312718"/>
              <a:ext cx="7729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30μA</a:t>
              </a:r>
              <a:endParaRPr lang="zh-CN" altLang="en-US" sz="2000" b="1">
                <a:solidFill>
                  <a:srgbClr val="00B050"/>
                </a:solidFill>
              </a:endParaRPr>
            </a:p>
          </p:txBody>
        </p:sp>
        <p:sp>
          <p:nvSpPr>
            <p:cNvPr id="108586" name="矩形 42">
              <a:extLst>
                <a:ext uri="{FF2B5EF4-FFF2-40B4-BE49-F238E27FC236}">
                  <a16:creationId xmlns:a16="http://schemas.microsoft.com/office/drawing/2014/main" id="{2CE8D555-3E15-4D99-848C-3787B73C9B37}"/>
                </a:ext>
              </a:extLst>
            </p:cNvPr>
            <p:cNvSpPr>
              <a:spLocks noChangeArrowheads="1"/>
            </p:cNvSpPr>
            <p:nvPr/>
          </p:nvSpPr>
          <p:spPr bwMode="auto">
            <a:xfrm>
              <a:off x="4874106" y="3312640"/>
              <a:ext cx="8402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20mA</a:t>
              </a:r>
              <a:endParaRPr lang="zh-CN" altLang="en-US" sz="2000" b="1">
                <a:solidFill>
                  <a:srgbClr val="00B050"/>
                </a:solidFill>
              </a:endParaRPr>
            </a:p>
          </p:txBody>
        </p:sp>
        <p:sp>
          <p:nvSpPr>
            <p:cNvPr id="108587" name="矩形 43">
              <a:extLst>
                <a:ext uri="{FF2B5EF4-FFF2-40B4-BE49-F238E27FC236}">
                  <a16:creationId xmlns:a16="http://schemas.microsoft.com/office/drawing/2014/main" id="{DB7024BC-F7B6-429E-8FD4-A9A716A1944E}"/>
                </a:ext>
              </a:extLst>
            </p:cNvPr>
            <p:cNvSpPr>
              <a:spLocks noChangeArrowheads="1"/>
            </p:cNvSpPr>
            <p:nvPr/>
          </p:nvSpPr>
          <p:spPr bwMode="auto">
            <a:xfrm>
              <a:off x="7623316" y="3516078"/>
              <a:ext cx="9012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200μA</a:t>
              </a:r>
              <a:endParaRPr lang="zh-CN" altLang="en-US" sz="2000" b="1">
                <a:solidFill>
                  <a:srgbClr val="00B050"/>
                </a:solidFill>
              </a:endParaRPr>
            </a:p>
          </p:txBody>
        </p:sp>
      </p:grpSp>
      <p:sp>
        <p:nvSpPr>
          <p:cNvPr id="46" name="任意多边形 45">
            <a:extLst>
              <a:ext uri="{FF2B5EF4-FFF2-40B4-BE49-F238E27FC236}">
                <a16:creationId xmlns:a16="http://schemas.microsoft.com/office/drawing/2014/main" id="{DFC26A9D-B1B2-4112-B2F7-71FB50DA3D2F}"/>
              </a:ext>
            </a:extLst>
          </p:cNvPr>
          <p:cNvSpPr>
            <a:spLocks/>
          </p:cNvSpPr>
          <p:nvPr/>
        </p:nvSpPr>
        <p:spPr bwMode="auto">
          <a:xfrm>
            <a:off x="6569075" y="3521199"/>
            <a:ext cx="757238" cy="1428750"/>
          </a:xfrm>
          <a:custGeom>
            <a:avLst/>
            <a:gdLst>
              <a:gd name="T0" fmla="*/ 743021 w 757535"/>
              <a:gd name="T1" fmla="*/ 624115 h 1429925"/>
              <a:gd name="T2" fmla="*/ 757535 w 757535"/>
              <a:gd name="T3" fmla="*/ 783772 h 1429925"/>
              <a:gd name="T4" fmla="*/ 743021 w 757535"/>
              <a:gd name="T5" fmla="*/ 1103086 h 1429925"/>
              <a:gd name="T6" fmla="*/ 743021 w 757535"/>
              <a:gd name="T7" fmla="*/ 1378858 h 1429925"/>
              <a:gd name="T8" fmla="*/ 612393 w 757535"/>
              <a:gd name="T9" fmla="*/ 1422400 h 1429925"/>
              <a:gd name="T10" fmla="*/ 322107 w 757535"/>
              <a:gd name="T11" fmla="*/ 1422400 h 1429925"/>
              <a:gd name="T12" fmla="*/ 104393 w 757535"/>
              <a:gd name="T13" fmla="*/ 1422400 h 1429925"/>
              <a:gd name="T14" fmla="*/ 31821 w 757535"/>
              <a:gd name="T15" fmla="*/ 1320800 h 1429925"/>
              <a:gd name="T16" fmla="*/ 2793 w 757535"/>
              <a:gd name="T17" fmla="*/ 1117600 h 1429925"/>
              <a:gd name="T18" fmla="*/ 2793 w 757535"/>
              <a:gd name="T19" fmla="*/ 740229 h 1429925"/>
              <a:gd name="T20" fmla="*/ 17307 w 757535"/>
              <a:gd name="T21" fmla="*/ 319315 h 1429925"/>
              <a:gd name="T22" fmla="*/ 17307 w 757535"/>
              <a:gd name="T23" fmla="*/ 72572 h 1429925"/>
              <a:gd name="T24" fmla="*/ 162450 w 757535"/>
              <a:gd name="T25" fmla="*/ 14515 h 1429925"/>
              <a:gd name="T26" fmla="*/ 409193 w 757535"/>
              <a:gd name="T27" fmla="*/ 0 h 14299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57535" h="1429925">
                <a:moveTo>
                  <a:pt x="743021" y="624115"/>
                </a:moveTo>
                <a:cubicBezTo>
                  <a:pt x="750278" y="664029"/>
                  <a:pt x="757535" y="703944"/>
                  <a:pt x="757535" y="783772"/>
                </a:cubicBezTo>
                <a:cubicBezTo>
                  <a:pt x="757535" y="863600"/>
                  <a:pt x="745440" y="1003905"/>
                  <a:pt x="743021" y="1103086"/>
                </a:cubicBezTo>
                <a:cubicBezTo>
                  <a:pt x="740602" y="1202267"/>
                  <a:pt x="764792" y="1325639"/>
                  <a:pt x="743021" y="1378858"/>
                </a:cubicBezTo>
                <a:cubicBezTo>
                  <a:pt x="721250" y="1432077"/>
                  <a:pt x="682545" y="1415143"/>
                  <a:pt x="612393" y="1422400"/>
                </a:cubicBezTo>
                <a:cubicBezTo>
                  <a:pt x="542241" y="1429657"/>
                  <a:pt x="322107" y="1422400"/>
                  <a:pt x="322107" y="1422400"/>
                </a:cubicBezTo>
                <a:cubicBezTo>
                  <a:pt x="237440" y="1422400"/>
                  <a:pt x="152774" y="1439333"/>
                  <a:pt x="104393" y="1422400"/>
                </a:cubicBezTo>
                <a:cubicBezTo>
                  <a:pt x="56012" y="1405467"/>
                  <a:pt x="48754" y="1371600"/>
                  <a:pt x="31821" y="1320800"/>
                </a:cubicBezTo>
                <a:cubicBezTo>
                  <a:pt x="14888" y="1270000"/>
                  <a:pt x="7631" y="1214362"/>
                  <a:pt x="2793" y="1117600"/>
                </a:cubicBezTo>
                <a:cubicBezTo>
                  <a:pt x="-2045" y="1020838"/>
                  <a:pt x="374" y="873276"/>
                  <a:pt x="2793" y="740229"/>
                </a:cubicBezTo>
                <a:cubicBezTo>
                  <a:pt x="5212" y="607182"/>
                  <a:pt x="14888" y="430591"/>
                  <a:pt x="17307" y="319315"/>
                </a:cubicBezTo>
                <a:cubicBezTo>
                  <a:pt x="19726" y="208039"/>
                  <a:pt x="-6883" y="123372"/>
                  <a:pt x="17307" y="72572"/>
                </a:cubicBezTo>
                <a:cubicBezTo>
                  <a:pt x="41497" y="21772"/>
                  <a:pt x="97136" y="26610"/>
                  <a:pt x="162450" y="14515"/>
                </a:cubicBezTo>
                <a:cubicBezTo>
                  <a:pt x="227764" y="2420"/>
                  <a:pt x="318478" y="1210"/>
                  <a:pt x="409193" y="0"/>
                </a:cubicBezTo>
              </a:path>
            </a:pathLst>
          </a:custGeom>
          <a:noFill/>
          <a:ln w="38100" cap="flat" cmpd="sng" algn="ctr">
            <a:solidFill>
              <a:srgbClr val="00B05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矩形 46">
            <a:extLst>
              <a:ext uri="{FF2B5EF4-FFF2-40B4-BE49-F238E27FC236}">
                <a16:creationId xmlns:a16="http://schemas.microsoft.com/office/drawing/2014/main" id="{E33F1503-475E-489F-822A-9D496B4AD8EC}"/>
              </a:ext>
            </a:extLst>
          </p:cNvPr>
          <p:cNvSpPr>
            <a:spLocks noChangeArrowheads="1"/>
          </p:cNvSpPr>
          <p:nvPr/>
        </p:nvSpPr>
        <p:spPr bwMode="auto">
          <a:xfrm>
            <a:off x="7015163" y="3511674"/>
            <a:ext cx="320675"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00B050"/>
                </a:solidFill>
              </a:rPr>
              <a:t>止</a:t>
            </a:r>
          </a:p>
        </p:txBody>
      </p:sp>
      <p:grpSp>
        <p:nvGrpSpPr>
          <p:cNvPr id="48" name="组合 47">
            <a:extLst>
              <a:ext uri="{FF2B5EF4-FFF2-40B4-BE49-F238E27FC236}">
                <a16:creationId xmlns:a16="http://schemas.microsoft.com/office/drawing/2014/main" id="{F19550B8-CC53-48B5-9698-E07277863D96}"/>
              </a:ext>
            </a:extLst>
          </p:cNvPr>
          <p:cNvGrpSpPr>
            <a:grpSpLocks/>
          </p:cNvGrpSpPr>
          <p:nvPr/>
        </p:nvGrpSpPr>
        <p:grpSpPr bwMode="auto">
          <a:xfrm>
            <a:off x="8413750" y="2522662"/>
            <a:ext cx="730250" cy="1473200"/>
            <a:chOff x="8466965" y="3159241"/>
            <a:chExt cx="728995" cy="1473352"/>
          </a:xfrm>
        </p:grpSpPr>
        <p:pic>
          <p:nvPicPr>
            <p:cNvPr id="108582" name="图片 48">
              <a:extLst>
                <a:ext uri="{FF2B5EF4-FFF2-40B4-BE49-F238E27FC236}">
                  <a16:creationId xmlns:a16="http://schemas.microsoft.com/office/drawing/2014/main" id="{21871B3A-A3FD-48D6-A99C-8DA5BCD8E6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77982" y="3159241"/>
              <a:ext cx="717978" cy="1295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8583" name="直接连接符 49">
              <a:extLst>
                <a:ext uri="{FF2B5EF4-FFF2-40B4-BE49-F238E27FC236}">
                  <a16:creationId xmlns:a16="http://schemas.microsoft.com/office/drawing/2014/main" id="{018A1897-FA47-4E3A-AD70-3CDDA89A4CFF}"/>
                </a:ext>
              </a:extLst>
            </p:cNvPr>
            <p:cNvCxnSpPr>
              <a:cxnSpLocks noChangeShapeType="1"/>
            </p:cNvCxnSpPr>
            <p:nvPr/>
          </p:nvCxnSpPr>
          <p:spPr bwMode="auto">
            <a:xfrm flipV="1">
              <a:off x="8466965" y="4626889"/>
              <a:ext cx="286056" cy="912"/>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584" name="直接连接符 50">
              <a:extLst>
                <a:ext uri="{FF2B5EF4-FFF2-40B4-BE49-F238E27FC236}">
                  <a16:creationId xmlns:a16="http://schemas.microsoft.com/office/drawing/2014/main" id="{D9CAD4EF-1EEC-459D-9A3C-E4E85FED2418}"/>
                </a:ext>
              </a:extLst>
            </p:cNvPr>
            <p:cNvCxnSpPr>
              <a:cxnSpLocks noChangeShapeType="1"/>
            </p:cNvCxnSpPr>
            <p:nvPr/>
          </p:nvCxnSpPr>
          <p:spPr bwMode="auto">
            <a:xfrm flipV="1">
              <a:off x="8753021" y="4393765"/>
              <a:ext cx="4480" cy="238828"/>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2" name="矩形 51">
            <a:extLst>
              <a:ext uri="{FF2B5EF4-FFF2-40B4-BE49-F238E27FC236}">
                <a16:creationId xmlns:a16="http://schemas.microsoft.com/office/drawing/2014/main" id="{CAC68960-0A7B-4032-8609-706D4878D617}"/>
              </a:ext>
            </a:extLst>
          </p:cNvPr>
          <p:cNvSpPr/>
          <p:nvPr/>
        </p:nvSpPr>
        <p:spPr>
          <a:xfrm>
            <a:off x="7435850" y="1970212"/>
            <a:ext cx="1016000" cy="612775"/>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FF00FF"/>
                </a:solidFill>
                <a:cs typeface="Times New Roman" panose="02020603050405020304" pitchFamily="18" charset="0"/>
              </a:rPr>
              <a:t>例</a:t>
            </a:r>
            <a:r>
              <a:rPr lang="en-US" altLang="zh-CN" sz="2400" b="1" kern="0" dirty="0">
                <a:solidFill>
                  <a:srgbClr val="FF00FF"/>
                </a:solidFill>
                <a:cs typeface="Times New Roman" panose="02020603050405020304" pitchFamily="18" charset="0"/>
              </a:rPr>
              <a:t>:</a:t>
            </a:r>
            <a:r>
              <a:rPr lang="zh-CN" altLang="en-US" sz="2400" b="1" kern="0" dirty="0">
                <a:solidFill>
                  <a:srgbClr val="FF00FF"/>
                </a:solidFill>
                <a:cs typeface="Times New Roman" panose="02020603050405020304" pitchFamily="18" charset="0"/>
              </a:rPr>
              <a:t>口线</a:t>
            </a:r>
            <a:r>
              <a:rPr lang="en-US" altLang="zh-CN" sz="2400" b="1" kern="0" dirty="0">
                <a:solidFill>
                  <a:srgbClr val="FF00FF"/>
                </a:solidFill>
                <a:cs typeface="Times New Roman" panose="02020603050405020304" pitchFamily="18" charset="0"/>
              </a:rPr>
              <a:t>P3.2</a:t>
            </a:r>
            <a:endParaRPr lang="en-US" altLang="zh-CN" sz="2400" b="1" dirty="0">
              <a:solidFill>
                <a:srgbClr val="FF00FF"/>
              </a:solidFill>
              <a:ea typeface="宋体" charset="-122"/>
              <a:cs typeface="Times New Roman" pitchFamily="18" charset="0"/>
            </a:endParaRPr>
          </a:p>
        </p:txBody>
      </p:sp>
      <p:sp>
        <p:nvSpPr>
          <p:cNvPr id="53" name="矩形 52">
            <a:extLst>
              <a:ext uri="{FF2B5EF4-FFF2-40B4-BE49-F238E27FC236}">
                <a16:creationId xmlns:a16="http://schemas.microsoft.com/office/drawing/2014/main" id="{131B4471-8BD4-4794-AC78-AE0D32E22C28}"/>
              </a:ext>
            </a:extLst>
          </p:cNvPr>
          <p:cNvSpPr/>
          <p:nvPr/>
        </p:nvSpPr>
        <p:spPr>
          <a:xfrm>
            <a:off x="693738" y="4957887"/>
            <a:ext cx="1284287" cy="866775"/>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0000FF"/>
                </a:solidFill>
                <a:cs typeface="Times New Roman" panose="02020603050405020304" pitchFamily="18" charset="0"/>
              </a:rPr>
              <a:t>例</a:t>
            </a:r>
            <a:r>
              <a:rPr lang="en-US" altLang="zh-CN" sz="2400" b="1" kern="0" dirty="0">
                <a:solidFill>
                  <a:srgbClr val="0000FF"/>
                </a:solidFill>
                <a:cs typeface="Times New Roman" panose="02020603050405020304" pitchFamily="18" charset="0"/>
              </a:rPr>
              <a:t>:</a:t>
            </a:r>
            <a:r>
              <a:rPr lang="zh-CN" altLang="en-US" sz="2400" b="1" kern="0" dirty="0">
                <a:solidFill>
                  <a:srgbClr val="0000FF"/>
                </a:solidFill>
                <a:cs typeface="Times New Roman" panose="02020603050405020304" pitchFamily="18" charset="0"/>
              </a:rPr>
              <a:t>口线</a:t>
            </a:r>
            <a:r>
              <a:rPr lang="en-US" altLang="zh-CN" sz="2400" b="1" kern="0" dirty="0">
                <a:solidFill>
                  <a:srgbClr val="0000FF"/>
                </a:solidFill>
                <a:cs typeface="Times New Roman" panose="02020603050405020304" pitchFamily="18" charset="0"/>
              </a:rPr>
              <a:t>P3.2</a:t>
            </a:r>
            <a:r>
              <a:rPr lang="zh-CN" altLang="en-US" sz="2400" b="1" kern="0" dirty="0">
                <a:solidFill>
                  <a:srgbClr val="0000FF"/>
                </a:solidFill>
                <a:cs typeface="Times New Roman" panose="02020603050405020304" pitchFamily="18" charset="0"/>
              </a:rPr>
              <a:t>的锁存器位</a:t>
            </a:r>
            <a:endParaRPr lang="en-US" altLang="zh-CN" sz="2400" b="1" dirty="0">
              <a:solidFill>
                <a:srgbClr val="0000FF"/>
              </a:solidFill>
              <a:ea typeface="宋体" charset="-122"/>
              <a:cs typeface="Times New Roman" pitchFamily="18" charset="0"/>
            </a:endParaRPr>
          </a:p>
        </p:txBody>
      </p:sp>
      <p:sp>
        <p:nvSpPr>
          <p:cNvPr id="54" name="矩形 53">
            <a:extLst>
              <a:ext uri="{FF2B5EF4-FFF2-40B4-BE49-F238E27FC236}">
                <a16:creationId xmlns:a16="http://schemas.microsoft.com/office/drawing/2014/main" id="{AFB714F2-A020-419D-BBB7-80ACC2ED2308}"/>
              </a:ext>
            </a:extLst>
          </p:cNvPr>
          <p:cNvSpPr>
            <a:spLocks noChangeArrowheads="1"/>
          </p:cNvSpPr>
          <p:nvPr/>
        </p:nvSpPr>
        <p:spPr bwMode="auto">
          <a:xfrm>
            <a:off x="4924425" y="4394324"/>
            <a:ext cx="8032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截止</a:t>
            </a:r>
          </a:p>
        </p:txBody>
      </p:sp>
      <p:sp>
        <p:nvSpPr>
          <p:cNvPr id="3" name="灯片编号占位符 2">
            <a:extLst>
              <a:ext uri="{FF2B5EF4-FFF2-40B4-BE49-F238E27FC236}">
                <a16:creationId xmlns:a16="http://schemas.microsoft.com/office/drawing/2014/main" id="{65063C78-E977-400A-9629-4E0AD112B212}"/>
              </a:ext>
            </a:extLst>
          </p:cNvPr>
          <p:cNvSpPr>
            <a:spLocks noGrp="1"/>
          </p:cNvSpPr>
          <p:nvPr>
            <p:ph type="sldNum" sz="quarter" idx="12"/>
          </p:nvPr>
        </p:nvSpPr>
        <p:spPr/>
        <p:txBody>
          <a:bodyPr/>
          <a:lstStyle/>
          <a:p>
            <a:fld id="{22E77DEE-32E4-4009-988B-F2758F7B8AC2}" type="slidenum">
              <a:rPr lang="zh-CN" altLang="en-US" smtClean="0"/>
              <a:t>60</a:t>
            </a:fld>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3">
            <a:extLst>
              <a:ext uri="{FF2B5EF4-FFF2-40B4-BE49-F238E27FC236}">
                <a16:creationId xmlns:a16="http://schemas.microsoft.com/office/drawing/2014/main" id="{32D52067-6D79-4E89-9CAD-168381A110C5}"/>
              </a:ext>
            </a:extLst>
          </p:cNvPr>
          <p:cNvSpPr>
            <a:spLocks noGrp="1" noChangeArrowheads="1"/>
          </p:cNvSpPr>
          <p:nvPr>
            <p:ph type="title"/>
          </p:nvPr>
        </p:nvSpPr>
        <p:spPr>
          <a:xfrm>
            <a:off x="468313" y="357188"/>
            <a:ext cx="8229600" cy="504825"/>
          </a:xfrm>
        </p:spPr>
        <p:txBody>
          <a:bodyPr>
            <a:normAutofit fontScale="90000"/>
          </a:bodyPr>
          <a:lstStyle/>
          <a:p>
            <a:pPr eaLnBrk="1" hangingPunct="1"/>
            <a:r>
              <a:rPr lang="zh-CN" altLang="en-US" dirty="0">
                <a:solidFill>
                  <a:srgbClr val="FF0000"/>
                </a:solidFill>
              </a:rPr>
              <a:t>准双向口</a:t>
            </a:r>
            <a:r>
              <a:rPr lang="en-US" altLang="zh-CN" dirty="0">
                <a:solidFill>
                  <a:srgbClr val="FF0000"/>
                </a:solidFill>
              </a:rPr>
              <a:t>(</a:t>
            </a:r>
            <a:r>
              <a:rPr lang="zh-CN" altLang="en-US" dirty="0"/>
              <a:t>弱上拉</a:t>
            </a:r>
            <a:r>
              <a:rPr lang="en-US" altLang="zh-CN" dirty="0">
                <a:solidFill>
                  <a:srgbClr val="FF0000"/>
                </a:solidFill>
              </a:rPr>
              <a:t>)</a:t>
            </a:r>
            <a:r>
              <a:rPr lang="zh-CN" altLang="en-US" dirty="0">
                <a:solidFill>
                  <a:srgbClr val="FF0000"/>
                </a:solidFill>
              </a:rPr>
              <a:t>工作模式的结构</a:t>
            </a:r>
            <a:endParaRPr lang="zh-CN" altLang="en-US" sz="2800" dirty="0">
              <a:solidFill>
                <a:srgbClr val="FF0000"/>
              </a:solidFill>
            </a:endParaRPr>
          </a:p>
        </p:txBody>
      </p:sp>
      <p:sp>
        <p:nvSpPr>
          <p:cNvPr id="618499" name="Rectangle 3">
            <a:extLst>
              <a:ext uri="{FF2B5EF4-FFF2-40B4-BE49-F238E27FC236}">
                <a16:creationId xmlns:a16="http://schemas.microsoft.com/office/drawing/2014/main" id="{3153379B-21AD-47CF-9AE7-56AE89308A20}"/>
              </a:ext>
            </a:extLst>
          </p:cNvPr>
          <p:cNvSpPr>
            <a:spLocks noGrp="1" noChangeArrowheads="1"/>
          </p:cNvSpPr>
          <p:nvPr>
            <p:ph idx="1"/>
          </p:nvPr>
        </p:nvSpPr>
        <p:spPr>
          <a:xfrm>
            <a:off x="665163" y="1229044"/>
            <a:ext cx="7681914" cy="1554162"/>
          </a:xfrm>
        </p:spPr>
        <p:txBody>
          <a:bodyPr/>
          <a:lstStyle/>
          <a:p>
            <a:pPr marL="261938" lvl="1" indent="-261938" eaLnBrk="1" hangingPunct="1">
              <a:defRPr/>
            </a:pPr>
            <a:r>
              <a:rPr lang="zh-CN" altLang="en-US" dirty="0"/>
              <a:t>当口线锁存器</a:t>
            </a:r>
            <a:r>
              <a:rPr lang="zh-CN" altLang="en-US" dirty="0">
                <a:solidFill>
                  <a:srgbClr val="FF0000"/>
                </a:solidFill>
              </a:rPr>
              <a:t>由</a:t>
            </a:r>
            <a:r>
              <a:rPr lang="en-US" altLang="zh-CN" dirty="0">
                <a:solidFill>
                  <a:srgbClr val="FF0000"/>
                </a:solidFill>
              </a:rPr>
              <a:t>0</a:t>
            </a:r>
            <a:r>
              <a:rPr lang="zh-CN" altLang="en-US" dirty="0">
                <a:solidFill>
                  <a:srgbClr val="FF0000"/>
                </a:solidFill>
              </a:rPr>
              <a:t>到</a:t>
            </a:r>
            <a:r>
              <a:rPr lang="en-US" altLang="zh-CN" dirty="0">
                <a:solidFill>
                  <a:srgbClr val="FF0000"/>
                </a:solidFill>
              </a:rPr>
              <a:t>1</a:t>
            </a:r>
            <a:r>
              <a:rPr lang="zh-CN" altLang="en-US" dirty="0">
                <a:solidFill>
                  <a:srgbClr val="FF0000"/>
                </a:solidFill>
              </a:rPr>
              <a:t>跳变时</a:t>
            </a:r>
            <a:r>
              <a:rPr lang="zh-CN" altLang="en-US" dirty="0"/>
              <a:t>，</a:t>
            </a:r>
            <a:r>
              <a:rPr lang="en-US" altLang="zh-CN" dirty="0">
                <a:solidFill>
                  <a:srgbClr val="FF00FF"/>
                </a:solidFill>
              </a:rPr>
              <a:t>T1</a:t>
            </a:r>
            <a:r>
              <a:rPr lang="zh-CN" altLang="en-US" dirty="0">
                <a:solidFill>
                  <a:srgbClr val="FF00FF"/>
                </a:solidFill>
              </a:rPr>
              <a:t>用来加快准双向口由逻辑</a:t>
            </a:r>
            <a:r>
              <a:rPr lang="en-US" altLang="zh-CN" dirty="0">
                <a:solidFill>
                  <a:srgbClr val="FF00FF"/>
                </a:solidFill>
              </a:rPr>
              <a:t>0</a:t>
            </a:r>
            <a:r>
              <a:rPr lang="zh-CN" altLang="en-US" dirty="0">
                <a:solidFill>
                  <a:srgbClr val="FF00FF"/>
                </a:solidFill>
              </a:rPr>
              <a:t>到逻辑</a:t>
            </a:r>
            <a:r>
              <a:rPr lang="en-US" altLang="zh-CN" dirty="0">
                <a:solidFill>
                  <a:srgbClr val="FF00FF"/>
                </a:solidFill>
              </a:rPr>
              <a:t>1</a:t>
            </a:r>
            <a:r>
              <a:rPr lang="zh-CN" altLang="en-US" dirty="0">
                <a:solidFill>
                  <a:srgbClr val="FF00FF"/>
                </a:solidFill>
              </a:rPr>
              <a:t>的转换</a:t>
            </a:r>
            <a:r>
              <a:rPr lang="zh-CN" altLang="en-US" dirty="0"/>
              <a:t>。发生这种情况时，</a:t>
            </a:r>
            <a:r>
              <a:rPr lang="en-US" altLang="zh-CN" dirty="0">
                <a:solidFill>
                  <a:srgbClr val="FF0000"/>
                </a:solidFill>
              </a:rPr>
              <a:t>T1</a:t>
            </a:r>
            <a:r>
              <a:rPr lang="zh-CN" altLang="en-US" dirty="0">
                <a:solidFill>
                  <a:srgbClr val="FF0000"/>
                </a:solidFill>
              </a:rPr>
              <a:t>导通约</a:t>
            </a:r>
            <a:r>
              <a:rPr lang="en-US" altLang="zh-CN" dirty="0">
                <a:solidFill>
                  <a:srgbClr val="FF0000"/>
                </a:solidFill>
              </a:rPr>
              <a:t>2</a:t>
            </a:r>
            <a:r>
              <a:rPr lang="zh-CN" altLang="en-US" dirty="0">
                <a:solidFill>
                  <a:srgbClr val="FF0000"/>
                </a:solidFill>
              </a:rPr>
              <a:t>个时钟</a:t>
            </a:r>
            <a:r>
              <a:rPr lang="zh-CN" altLang="en-US" dirty="0"/>
              <a:t>使引脚能迅速地上拉到高电平。</a:t>
            </a:r>
          </a:p>
          <a:p>
            <a:pPr marL="261938" lvl="1" indent="-261938" eaLnBrk="1" hangingPunct="1">
              <a:defRPr/>
            </a:pPr>
            <a:r>
              <a:rPr lang="zh-CN" altLang="en-US" dirty="0"/>
              <a:t>准双向口带有一个</a:t>
            </a:r>
            <a:r>
              <a:rPr lang="zh-CN" altLang="en-US" dirty="0">
                <a:hlinkClick r:id="" action="ppaction://noaction"/>
              </a:rPr>
              <a:t>施密特触发</a:t>
            </a:r>
            <a:r>
              <a:rPr lang="zh-CN" altLang="en-US" dirty="0"/>
              <a:t>输入及干扰抑制电路。</a:t>
            </a:r>
          </a:p>
        </p:txBody>
      </p:sp>
      <p:pic>
        <p:nvPicPr>
          <p:cNvPr id="6" name="Picture 189" descr="D:\DOCUME~1\ADMINI~1\LOCALS~1\Temp\HS5ClipImage_56b00a7d.gif">
            <a:extLst>
              <a:ext uri="{FF2B5EF4-FFF2-40B4-BE49-F238E27FC236}">
                <a16:creationId xmlns:a16="http://schemas.microsoft.com/office/drawing/2014/main" id="{D8C12414-4FB7-47EE-80F1-5AEC77FF88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8" y="2987675"/>
            <a:ext cx="8258175" cy="334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a:extLst>
              <a:ext uri="{FF2B5EF4-FFF2-40B4-BE49-F238E27FC236}">
                <a16:creationId xmlns:a16="http://schemas.microsoft.com/office/drawing/2014/main" id="{64648B0C-8C9F-4352-9289-C78EF799768B}"/>
              </a:ext>
            </a:extLst>
          </p:cNvPr>
          <p:cNvGrpSpPr>
            <a:grpSpLocks/>
          </p:cNvGrpSpPr>
          <p:nvPr/>
        </p:nvGrpSpPr>
        <p:grpSpPr bwMode="auto">
          <a:xfrm>
            <a:off x="4856163" y="3314700"/>
            <a:ext cx="2974975" cy="400050"/>
            <a:chOff x="5018288" y="2721819"/>
            <a:chExt cx="2975952" cy="400110"/>
          </a:xfrm>
        </p:grpSpPr>
        <p:sp>
          <p:nvSpPr>
            <p:cNvPr id="109617" name="矩形 7">
              <a:extLst>
                <a:ext uri="{FF2B5EF4-FFF2-40B4-BE49-F238E27FC236}">
                  <a16:creationId xmlns:a16="http://schemas.microsoft.com/office/drawing/2014/main" id="{47D212A7-F537-4BEB-8404-BE8BC336560A}"/>
                </a:ext>
              </a:extLst>
            </p:cNvPr>
            <p:cNvSpPr>
              <a:spLocks noChangeArrowheads="1"/>
            </p:cNvSpPr>
            <p:nvPr/>
          </p:nvSpPr>
          <p:spPr bwMode="auto">
            <a:xfrm>
              <a:off x="5018288" y="2721819"/>
              <a:ext cx="442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B050"/>
                  </a:solidFill>
                </a:rPr>
                <a:t>强</a:t>
              </a:r>
            </a:p>
          </p:txBody>
        </p:sp>
        <p:sp>
          <p:nvSpPr>
            <p:cNvPr id="109618" name="矩形 8">
              <a:extLst>
                <a:ext uri="{FF2B5EF4-FFF2-40B4-BE49-F238E27FC236}">
                  <a16:creationId xmlns:a16="http://schemas.microsoft.com/office/drawing/2014/main" id="{B9526D5B-D432-40FD-B68F-90F2E5B20D81}"/>
                </a:ext>
              </a:extLst>
            </p:cNvPr>
            <p:cNvSpPr>
              <a:spLocks noChangeArrowheads="1"/>
            </p:cNvSpPr>
            <p:nvPr/>
          </p:nvSpPr>
          <p:spPr bwMode="auto">
            <a:xfrm>
              <a:off x="6087133" y="2721819"/>
              <a:ext cx="7008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B050"/>
                  </a:solidFill>
                </a:rPr>
                <a:t>极弱</a:t>
              </a:r>
            </a:p>
          </p:txBody>
        </p:sp>
        <p:sp>
          <p:nvSpPr>
            <p:cNvPr id="109619" name="矩形 9">
              <a:extLst>
                <a:ext uri="{FF2B5EF4-FFF2-40B4-BE49-F238E27FC236}">
                  <a16:creationId xmlns:a16="http://schemas.microsoft.com/office/drawing/2014/main" id="{3C6124B2-07BF-4B53-AF92-7474EA624734}"/>
                </a:ext>
              </a:extLst>
            </p:cNvPr>
            <p:cNvSpPr>
              <a:spLocks noChangeArrowheads="1"/>
            </p:cNvSpPr>
            <p:nvPr/>
          </p:nvSpPr>
          <p:spPr bwMode="auto">
            <a:xfrm>
              <a:off x="7551490" y="2721819"/>
              <a:ext cx="442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B050"/>
                  </a:solidFill>
                </a:rPr>
                <a:t>弱</a:t>
              </a:r>
            </a:p>
          </p:txBody>
        </p:sp>
      </p:grpSp>
      <p:sp>
        <p:nvSpPr>
          <p:cNvPr id="11" name="矩形 10">
            <a:extLst>
              <a:ext uri="{FF2B5EF4-FFF2-40B4-BE49-F238E27FC236}">
                <a16:creationId xmlns:a16="http://schemas.microsoft.com/office/drawing/2014/main" id="{307B5000-657D-40D0-A7E2-C1A2DC1E9605}"/>
              </a:ext>
            </a:extLst>
          </p:cNvPr>
          <p:cNvSpPr>
            <a:spLocks noChangeArrowheads="1"/>
          </p:cNvSpPr>
          <p:nvPr/>
        </p:nvSpPr>
        <p:spPr bwMode="auto">
          <a:xfrm>
            <a:off x="98425" y="3684588"/>
            <a:ext cx="1143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solidFill>
                  <a:srgbClr val="FF0000"/>
                </a:solidFill>
                <a:cs typeface="Times New Roman" panose="02020603050405020304" pitchFamily="18" charset="0"/>
              </a:rPr>
              <a:t>P0</a:t>
            </a:r>
            <a:r>
              <a:rPr lang="zh-CN" altLang="en-US" sz="2400">
                <a:solidFill>
                  <a:srgbClr val="FF0000"/>
                </a:solidFill>
                <a:cs typeface="Times New Roman" panose="02020603050405020304" pitchFamily="18" charset="0"/>
              </a:rPr>
              <a:t>～</a:t>
            </a:r>
            <a:r>
              <a:rPr lang="en-US" altLang="zh-CN" sz="2400">
                <a:solidFill>
                  <a:srgbClr val="FF0000"/>
                </a:solidFill>
                <a:cs typeface="Times New Roman" panose="02020603050405020304" pitchFamily="18" charset="0"/>
              </a:rPr>
              <a:t>P7</a:t>
            </a:r>
            <a:endParaRPr lang="zh-CN" altLang="en-US" sz="2400">
              <a:cs typeface="Times New Roman" panose="02020603050405020304" pitchFamily="18" charset="0"/>
            </a:endParaRPr>
          </a:p>
        </p:txBody>
      </p:sp>
      <p:sp>
        <p:nvSpPr>
          <p:cNvPr id="13" name="矩形 12">
            <a:extLst>
              <a:ext uri="{FF2B5EF4-FFF2-40B4-BE49-F238E27FC236}">
                <a16:creationId xmlns:a16="http://schemas.microsoft.com/office/drawing/2014/main" id="{8B7DD5B0-9607-41E8-850B-13F7E05BA023}"/>
              </a:ext>
            </a:extLst>
          </p:cNvPr>
          <p:cNvSpPr>
            <a:spLocks noChangeArrowheads="1"/>
          </p:cNvSpPr>
          <p:nvPr/>
        </p:nvSpPr>
        <p:spPr bwMode="auto">
          <a:xfrm>
            <a:off x="327025" y="4745038"/>
            <a:ext cx="338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14" name="矩形 13">
            <a:extLst>
              <a:ext uri="{FF2B5EF4-FFF2-40B4-BE49-F238E27FC236}">
                <a16:creationId xmlns:a16="http://schemas.microsoft.com/office/drawing/2014/main" id="{4BB65701-110B-4B33-933B-2EA79BF05D00}"/>
              </a:ext>
            </a:extLst>
          </p:cNvPr>
          <p:cNvSpPr>
            <a:spLocks noChangeArrowheads="1"/>
          </p:cNvSpPr>
          <p:nvPr/>
        </p:nvSpPr>
        <p:spPr bwMode="auto">
          <a:xfrm>
            <a:off x="3095625" y="4475163"/>
            <a:ext cx="338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0</a:t>
            </a:r>
            <a:endParaRPr lang="zh-CN" altLang="en-US" sz="2400" b="1"/>
          </a:p>
        </p:txBody>
      </p:sp>
      <p:sp>
        <p:nvSpPr>
          <p:cNvPr id="15" name="矩形 14">
            <a:extLst>
              <a:ext uri="{FF2B5EF4-FFF2-40B4-BE49-F238E27FC236}">
                <a16:creationId xmlns:a16="http://schemas.microsoft.com/office/drawing/2014/main" id="{275DBB15-2DA9-4B48-B651-C0C93476DCA6}"/>
              </a:ext>
            </a:extLst>
          </p:cNvPr>
          <p:cNvSpPr>
            <a:spLocks noChangeArrowheads="1"/>
          </p:cNvSpPr>
          <p:nvPr/>
        </p:nvSpPr>
        <p:spPr bwMode="auto">
          <a:xfrm>
            <a:off x="1928813" y="3116263"/>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16" name="矩形 15">
            <a:extLst>
              <a:ext uri="{FF2B5EF4-FFF2-40B4-BE49-F238E27FC236}">
                <a16:creationId xmlns:a16="http://schemas.microsoft.com/office/drawing/2014/main" id="{6FC4E117-8133-4C6E-BD13-1ABB317EBB0C}"/>
              </a:ext>
            </a:extLst>
          </p:cNvPr>
          <p:cNvSpPr>
            <a:spLocks noChangeArrowheads="1"/>
          </p:cNvSpPr>
          <p:nvPr/>
        </p:nvSpPr>
        <p:spPr bwMode="auto">
          <a:xfrm>
            <a:off x="3922713" y="3236913"/>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17" name="矩形 16">
            <a:extLst>
              <a:ext uri="{FF2B5EF4-FFF2-40B4-BE49-F238E27FC236}">
                <a16:creationId xmlns:a16="http://schemas.microsoft.com/office/drawing/2014/main" id="{A553ECEF-2FE5-45A2-852A-07732A9FF6CC}"/>
              </a:ext>
            </a:extLst>
          </p:cNvPr>
          <p:cNvSpPr>
            <a:spLocks noChangeArrowheads="1"/>
          </p:cNvSpPr>
          <p:nvPr/>
        </p:nvSpPr>
        <p:spPr bwMode="auto">
          <a:xfrm>
            <a:off x="331788" y="5060950"/>
            <a:ext cx="338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18" name="矩形 17">
            <a:extLst>
              <a:ext uri="{FF2B5EF4-FFF2-40B4-BE49-F238E27FC236}">
                <a16:creationId xmlns:a16="http://schemas.microsoft.com/office/drawing/2014/main" id="{A042E2E5-EEF5-4197-81B5-53A813576F9F}"/>
              </a:ext>
            </a:extLst>
          </p:cNvPr>
          <p:cNvSpPr>
            <a:spLocks noChangeArrowheads="1"/>
          </p:cNvSpPr>
          <p:nvPr/>
        </p:nvSpPr>
        <p:spPr bwMode="auto">
          <a:xfrm>
            <a:off x="3114675" y="4954588"/>
            <a:ext cx="338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1</a:t>
            </a:r>
            <a:endParaRPr lang="zh-CN" altLang="en-US" sz="2400" b="1">
              <a:solidFill>
                <a:srgbClr val="3366FF"/>
              </a:solidFill>
            </a:endParaRPr>
          </a:p>
        </p:txBody>
      </p:sp>
      <p:sp>
        <p:nvSpPr>
          <p:cNvPr id="19" name="矩形 18">
            <a:extLst>
              <a:ext uri="{FF2B5EF4-FFF2-40B4-BE49-F238E27FC236}">
                <a16:creationId xmlns:a16="http://schemas.microsoft.com/office/drawing/2014/main" id="{E85DF51D-04B1-4FDD-8A56-598543BA89C4}"/>
              </a:ext>
            </a:extLst>
          </p:cNvPr>
          <p:cNvSpPr>
            <a:spLocks noChangeArrowheads="1"/>
          </p:cNvSpPr>
          <p:nvPr/>
        </p:nvSpPr>
        <p:spPr bwMode="auto">
          <a:xfrm>
            <a:off x="1865313" y="3568700"/>
            <a:ext cx="338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20" name="矩形 19">
            <a:extLst>
              <a:ext uri="{FF2B5EF4-FFF2-40B4-BE49-F238E27FC236}">
                <a16:creationId xmlns:a16="http://schemas.microsoft.com/office/drawing/2014/main" id="{02AB15C1-A913-49A1-BA1D-7518A8A99432}"/>
              </a:ext>
            </a:extLst>
          </p:cNvPr>
          <p:cNvSpPr>
            <a:spLocks noChangeArrowheads="1"/>
          </p:cNvSpPr>
          <p:nvPr/>
        </p:nvSpPr>
        <p:spPr bwMode="auto">
          <a:xfrm>
            <a:off x="1931988" y="2754313"/>
            <a:ext cx="20399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FF"/>
                </a:solidFill>
              </a:rPr>
              <a:t>延迟</a:t>
            </a:r>
            <a:r>
              <a:rPr lang="en-US" altLang="zh-CN" sz="2400" b="1">
                <a:solidFill>
                  <a:srgbClr val="FF00FF"/>
                </a:solidFill>
              </a:rPr>
              <a:t>2</a:t>
            </a:r>
            <a:r>
              <a:rPr lang="zh-CN" altLang="en-US" sz="2400" b="1">
                <a:solidFill>
                  <a:srgbClr val="FF00FF"/>
                </a:solidFill>
              </a:rPr>
              <a:t>时钟变</a:t>
            </a:r>
            <a:r>
              <a:rPr lang="en-US" altLang="zh-CN" sz="2400" b="1">
                <a:solidFill>
                  <a:srgbClr val="FF00FF"/>
                </a:solidFill>
              </a:rPr>
              <a:t>1</a:t>
            </a:r>
            <a:endParaRPr lang="zh-CN" altLang="en-US" sz="2400" b="1">
              <a:solidFill>
                <a:srgbClr val="FF00FF"/>
              </a:solidFill>
            </a:endParaRPr>
          </a:p>
        </p:txBody>
      </p:sp>
      <p:sp>
        <p:nvSpPr>
          <p:cNvPr id="21" name="矩形 20">
            <a:extLst>
              <a:ext uri="{FF2B5EF4-FFF2-40B4-BE49-F238E27FC236}">
                <a16:creationId xmlns:a16="http://schemas.microsoft.com/office/drawing/2014/main" id="{76688510-E0F7-47CE-B3FE-E831D19C2D1E}"/>
              </a:ext>
            </a:extLst>
          </p:cNvPr>
          <p:cNvSpPr>
            <a:spLocks noChangeArrowheads="1"/>
          </p:cNvSpPr>
          <p:nvPr/>
        </p:nvSpPr>
        <p:spPr bwMode="auto">
          <a:xfrm>
            <a:off x="3257550" y="35464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22" name="矩形 21">
            <a:extLst>
              <a:ext uri="{FF2B5EF4-FFF2-40B4-BE49-F238E27FC236}">
                <a16:creationId xmlns:a16="http://schemas.microsoft.com/office/drawing/2014/main" id="{50EDA7BE-064A-4B71-83A6-AEDFF3B4AA45}"/>
              </a:ext>
            </a:extLst>
          </p:cNvPr>
          <p:cNvSpPr>
            <a:spLocks noChangeArrowheads="1"/>
          </p:cNvSpPr>
          <p:nvPr/>
        </p:nvSpPr>
        <p:spPr bwMode="auto">
          <a:xfrm>
            <a:off x="3662363" y="3892550"/>
            <a:ext cx="1081087"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zh-CN" altLang="en-US" sz="2200" b="1">
                <a:solidFill>
                  <a:srgbClr val="FF00FF"/>
                </a:solidFill>
              </a:rPr>
              <a:t>为</a:t>
            </a:r>
            <a:r>
              <a:rPr lang="en-US" altLang="zh-CN" sz="2200" b="1">
                <a:solidFill>
                  <a:srgbClr val="0000FF"/>
                </a:solidFill>
              </a:rPr>
              <a:t>0</a:t>
            </a:r>
          </a:p>
          <a:p>
            <a:pPr eaLnBrk="1" hangingPunct="1">
              <a:lnSpc>
                <a:spcPct val="85000"/>
              </a:lnSpc>
            </a:pPr>
            <a:r>
              <a:rPr lang="en-US" altLang="zh-CN" sz="2200" b="1">
                <a:solidFill>
                  <a:srgbClr val="FF00FF"/>
                </a:solidFill>
              </a:rPr>
              <a:t>2</a:t>
            </a:r>
            <a:r>
              <a:rPr lang="zh-CN" altLang="en-US" sz="2200" b="1">
                <a:solidFill>
                  <a:srgbClr val="FF00FF"/>
                </a:solidFill>
              </a:rPr>
              <a:t>个时钟</a:t>
            </a:r>
          </a:p>
        </p:txBody>
      </p:sp>
      <p:sp>
        <p:nvSpPr>
          <p:cNvPr id="28" name="矩形 27">
            <a:extLst>
              <a:ext uri="{FF2B5EF4-FFF2-40B4-BE49-F238E27FC236}">
                <a16:creationId xmlns:a16="http://schemas.microsoft.com/office/drawing/2014/main" id="{02BCED88-8325-44A1-AC88-05FD059D5A5E}"/>
              </a:ext>
            </a:extLst>
          </p:cNvPr>
          <p:cNvSpPr>
            <a:spLocks noChangeArrowheads="1"/>
          </p:cNvSpPr>
          <p:nvPr/>
        </p:nvSpPr>
        <p:spPr bwMode="auto">
          <a:xfrm>
            <a:off x="3943350" y="3744913"/>
            <a:ext cx="338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1</a:t>
            </a:r>
            <a:endParaRPr lang="zh-CN" altLang="en-US" sz="2400" b="1">
              <a:solidFill>
                <a:srgbClr val="3366FF"/>
              </a:solidFill>
            </a:endParaRPr>
          </a:p>
        </p:txBody>
      </p:sp>
      <p:sp>
        <p:nvSpPr>
          <p:cNvPr id="29" name="矩形 28">
            <a:extLst>
              <a:ext uri="{FF2B5EF4-FFF2-40B4-BE49-F238E27FC236}">
                <a16:creationId xmlns:a16="http://schemas.microsoft.com/office/drawing/2014/main" id="{9EC893E8-8B67-4AE9-97B2-362AA6698B54}"/>
              </a:ext>
            </a:extLst>
          </p:cNvPr>
          <p:cNvSpPr>
            <a:spLocks noChangeArrowheads="1"/>
          </p:cNvSpPr>
          <p:nvPr/>
        </p:nvSpPr>
        <p:spPr bwMode="auto">
          <a:xfrm>
            <a:off x="4632325" y="3790950"/>
            <a:ext cx="80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截止</a:t>
            </a:r>
          </a:p>
        </p:txBody>
      </p:sp>
      <p:sp>
        <p:nvSpPr>
          <p:cNvPr id="34" name="矩形 33">
            <a:extLst>
              <a:ext uri="{FF2B5EF4-FFF2-40B4-BE49-F238E27FC236}">
                <a16:creationId xmlns:a16="http://schemas.microsoft.com/office/drawing/2014/main" id="{87954FD9-41F3-4658-9429-34C84244432D}"/>
              </a:ext>
            </a:extLst>
          </p:cNvPr>
          <p:cNvSpPr>
            <a:spLocks noChangeArrowheads="1"/>
          </p:cNvSpPr>
          <p:nvPr/>
        </p:nvSpPr>
        <p:spPr bwMode="auto">
          <a:xfrm>
            <a:off x="7521575" y="3910013"/>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35" name="矩形 34">
            <a:extLst>
              <a:ext uri="{FF2B5EF4-FFF2-40B4-BE49-F238E27FC236}">
                <a16:creationId xmlns:a16="http://schemas.microsoft.com/office/drawing/2014/main" id="{97663B98-981E-4D6C-8F4D-F5550534130A}"/>
              </a:ext>
            </a:extLst>
          </p:cNvPr>
          <p:cNvSpPr>
            <a:spLocks noChangeArrowheads="1"/>
          </p:cNvSpPr>
          <p:nvPr/>
        </p:nvSpPr>
        <p:spPr bwMode="auto">
          <a:xfrm>
            <a:off x="5337175" y="4899025"/>
            <a:ext cx="4937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66FF"/>
                </a:solidFill>
              </a:rPr>
              <a:t>通</a:t>
            </a:r>
          </a:p>
        </p:txBody>
      </p:sp>
      <p:grpSp>
        <p:nvGrpSpPr>
          <p:cNvPr id="618497" name="组合 618496">
            <a:extLst>
              <a:ext uri="{FF2B5EF4-FFF2-40B4-BE49-F238E27FC236}">
                <a16:creationId xmlns:a16="http://schemas.microsoft.com/office/drawing/2014/main" id="{DB9BD53D-92D5-4DD0-8DF5-79272B44EF5F}"/>
              </a:ext>
            </a:extLst>
          </p:cNvPr>
          <p:cNvGrpSpPr>
            <a:grpSpLocks/>
          </p:cNvGrpSpPr>
          <p:nvPr/>
        </p:nvGrpSpPr>
        <p:grpSpPr bwMode="auto">
          <a:xfrm>
            <a:off x="4873625" y="3079750"/>
            <a:ext cx="3763963" cy="604838"/>
            <a:chOff x="4874106" y="3312640"/>
            <a:chExt cx="3764086" cy="603548"/>
          </a:xfrm>
        </p:grpSpPr>
        <p:sp>
          <p:nvSpPr>
            <p:cNvPr id="109614" name="矩形 11">
              <a:extLst>
                <a:ext uri="{FF2B5EF4-FFF2-40B4-BE49-F238E27FC236}">
                  <a16:creationId xmlns:a16="http://schemas.microsoft.com/office/drawing/2014/main" id="{01D5FB5B-7C1E-45BF-8D5C-4BA10B4046E0}"/>
                </a:ext>
              </a:extLst>
            </p:cNvPr>
            <p:cNvSpPr>
              <a:spLocks noChangeArrowheads="1"/>
            </p:cNvSpPr>
            <p:nvPr/>
          </p:nvSpPr>
          <p:spPr bwMode="auto">
            <a:xfrm>
              <a:off x="6226008" y="3312718"/>
              <a:ext cx="7729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30μA</a:t>
              </a:r>
              <a:endParaRPr lang="zh-CN" altLang="en-US" sz="2000" b="1">
                <a:solidFill>
                  <a:srgbClr val="00B050"/>
                </a:solidFill>
              </a:endParaRPr>
            </a:p>
          </p:txBody>
        </p:sp>
        <p:sp>
          <p:nvSpPr>
            <p:cNvPr id="109615" name="矩形 35">
              <a:extLst>
                <a:ext uri="{FF2B5EF4-FFF2-40B4-BE49-F238E27FC236}">
                  <a16:creationId xmlns:a16="http://schemas.microsoft.com/office/drawing/2014/main" id="{3EC38DCA-6B87-4505-9B8B-8D845BC11AD7}"/>
                </a:ext>
              </a:extLst>
            </p:cNvPr>
            <p:cNvSpPr>
              <a:spLocks noChangeArrowheads="1"/>
            </p:cNvSpPr>
            <p:nvPr/>
          </p:nvSpPr>
          <p:spPr bwMode="auto">
            <a:xfrm>
              <a:off x="4874106" y="3312640"/>
              <a:ext cx="8402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20mA</a:t>
              </a:r>
              <a:endParaRPr lang="zh-CN" altLang="en-US" sz="2000" b="1">
                <a:solidFill>
                  <a:srgbClr val="00B050"/>
                </a:solidFill>
              </a:endParaRPr>
            </a:p>
          </p:txBody>
        </p:sp>
        <p:sp>
          <p:nvSpPr>
            <p:cNvPr id="109616" name="矩形 36">
              <a:extLst>
                <a:ext uri="{FF2B5EF4-FFF2-40B4-BE49-F238E27FC236}">
                  <a16:creationId xmlns:a16="http://schemas.microsoft.com/office/drawing/2014/main" id="{C651EF69-A20D-46D1-9396-AC0A40FBA239}"/>
                </a:ext>
              </a:extLst>
            </p:cNvPr>
            <p:cNvSpPr>
              <a:spLocks noChangeArrowheads="1"/>
            </p:cNvSpPr>
            <p:nvPr/>
          </p:nvSpPr>
          <p:spPr bwMode="auto">
            <a:xfrm>
              <a:off x="7736983" y="3516078"/>
              <a:ext cx="9012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200μA</a:t>
              </a:r>
              <a:endParaRPr lang="zh-CN" altLang="en-US" sz="2000" b="1">
                <a:solidFill>
                  <a:srgbClr val="00B050"/>
                </a:solidFill>
              </a:endParaRPr>
            </a:p>
          </p:txBody>
        </p:sp>
      </p:grpSp>
      <p:sp>
        <p:nvSpPr>
          <p:cNvPr id="39" name="矩形 38">
            <a:extLst>
              <a:ext uri="{FF2B5EF4-FFF2-40B4-BE49-F238E27FC236}">
                <a16:creationId xmlns:a16="http://schemas.microsoft.com/office/drawing/2014/main" id="{6CF28A79-445C-4EF0-916A-09F01C21AB36}"/>
              </a:ext>
            </a:extLst>
          </p:cNvPr>
          <p:cNvSpPr>
            <a:spLocks noChangeArrowheads="1"/>
          </p:cNvSpPr>
          <p:nvPr/>
        </p:nvSpPr>
        <p:spPr bwMode="auto">
          <a:xfrm>
            <a:off x="5376863" y="3760788"/>
            <a:ext cx="493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66FF"/>
                </a:solidFill>
              </a:rPr>
              <a:t>止</a:t>
            </a:r>
          </a:p>
        </p:txBody>
      </p:sp>
      <p:sp>
        <p:nvSpPr>
          <p:cNvPr id="40" name="矩形 39">
            <a:extLst>
              <a:ext uri="{FF2B5EF4-FFF2-40B4-BE49-F238E27FC236}">
                <a16:creationId xmlns:a16="http://schemas.microsoft.com/office/drawing/2014/main" id="{84C04629-9599-4487-8B03-CCD1D7212078}"/>
              </a:ext>
            </a:extLst>
          </p:cNvPr>
          <p:cNvSpPr>
            <a:spLocks noChangeArrowheads="1"/>
          </p:cNvSpPr>
          <p:nvPr/>
        </p:nvSpPr>
        <p:spPr bwMode="auto">
          <a:xfrm>
            <a:off x="6892925" y="3933825"/>
            <a:ext cx="4937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66FF"/>
                </a:solidFill>
              </a:rPr>
              <a:t>止</a:t>
            </a:r>
          </a:p>
        </p:txBody>
      </p:sp>
      <p:sp>
        <p:nvSpPr>
          <p:cNvPr id="41" name="矩形 40">
            <a:extLst>
              <a:ext uri="{FF2B5EF4-FFF2-40B4-BE49-F238E27FC236}">
                <a16:creationId xmlns:a16="http://schemas.microsoft.com/office/drawing/2014/main" id="{4B86B1D6-59EC-49CF-B1E6-20AD27364D26}"/>
              </a:ext>
            </a:extLst>
          </p:cNvPr>
          <p:cNvSpPr>
            <a:spLocks noChangeArrowheads="1"/>
          </p:cNvSpPr>
          <p:nvPr/>
        </p:nvSpPr>
        <p:spPr bwMode="auto">
          <a:xfrm>
            <a:off x="7558088" y="4618038"/>
            <a:ext cx="3381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30" name="矩形 29">
            <a:extLst>
              <a:ext uri="{FF2B5EF4-FFF2-40B4-BE49-F238E27FC236}">
                <a16:creationId xmlns:a16="http://schemas.microsoft.com/office/drawing/2014/main" id="{154E392B-F699-4D5A-9365-CBA3F013C1D8}"/>
              </a:ext>
            </a:extLst>
          </p:cNvPr>
          <p:cNvSpPr>
            <a:spLocks noChangeArrowheads="1"/>
          </p:cNvSpPr>
          <p:nvPr/>
        </p:nvSpPr>
        <p:spPr bwMode="auto">
          <a:xfrm>
            <a:off x="5473700" y="3867150"/>
            <a:ext cx="309563"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通</a:t>
            </a:r>
          </a:p>
        </p:txBody>
      </p:sp>
      <p:sp>
        <p:nvSpPr>
          <p:cNvPr id="42" name="矩形 41">
            <a:extLst>
              <a:ext uri="{FF2B5EF4-FFF2-40B4-BE49-F238E27FC236}">
                <a16:creationId xmlns:a16="http://schemas.microsoft.com/office/drawing/2014/main" id="{37224A14-776D-4436-9312-CCD7CCC4B53D}"/>
              </a:ext>
            </a:extLst>
          </p:cNvPr>
          <p:cNvSpPr>
            <a:spLocks noChangeArrowheads="1"/>
          </p:cNvSpPr>
          <p:nvPr/>
        </p:nvSpPr>
        <p:spPr bwMode="auto">
          <a:xfrm>
            <a:off x="6991350" y="4008438"/>
            <a:ext cx="309563"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通</a:t>
            </a:r>
          </a:p>
        </p:txBody>
      </p:sp>
      <p:cxnSp>
        <p:nvCxnSpPr>
          <p:cNvPr id="618500" name="直接箭头连接符 618499">
            <a:extLst>
              <a:ext uri="{FF2B5EF4-FFF2-40B4-BE49-F238E27FC236}">
                <a16:creationId xmlns:a16="http://schemas.microsoft.com/office/drawing/2014/main" id="{1DF5AAB5-6A01-40F1-B353-F6B024A8A71E}"/>
              </a:ext>
            </a:extLst>
          </p:cNvPr>
          <p:cNvCxnSpPr>
            <a:cxnSpLocks noChangeShapeType="1"/>
          </p:cNvCxnSpPr>
          <p:nvPr/>
        </p:nvCxnSpPr>
        <p:spPr bwMode="auto">
          <a:xfrm flipV="1">
            <a:off x="331788" y="4903788"/>
            <a:ext cx="0" cy="355600"/>
          </a:xfrm>
          <a:prstGeom prst="straightConnector1">
            <a:avLst/>
          </a:prstGeom>
          <a:noFill/>
          <a:ln w="28575"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矩形 44">
            <a:extLst>
              <a:ext uri="{FF2B5EF4-FFF2-40B4-BE49-F238E27FC236}">
                <a16:creationId xmlns:a16="http://schemas.microsoft.com/office/drawing/2014/main" id="{A8FE8728-0CCA-4DC3-877A-C8E43B6F3C86}"/>
              </a:ext>
            </a:extLst>
          </p:cNvPr>
          <p:cNvSpPr>
            <a:spLocks noChangeArrowheads="1"/>
          </p:cNvSpPr>
          <p:nvPr/>
        </p:nvSpPr>
        <p:spPr bwMode="auto">
          <a:xfrm>
            <a:off x="4494213" y="4176713"/>
            <a:ext cx="10795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zh-CN" altLang="en-US" sz="2200" b="1">
                <a:solidFill>
                  <a:srgbClr val="FF00FF"/>
                </a:solidFill>
              </a:rPr>
              <a:t>导通</a:t>
            </a:r>
            <a:endParaRPr lang="en-US" altLang="zh-CN" sz="2200" b="1">
              <a:solidFill>
                <a:srgbClr val="FF00FF"/>
              </a:solidFill>
            </a:endParaRPr>
          </a:p>
          <a:p>
            <a:pPr eaLnBrk="1" hangingPunct="1">
              <a:lnSpc>
                <a:spcPct val="85000"/>
              </a:lnSpc>
            </a:pPr>
            <a:r>
              <a:rPr lang="en-US" altLang="zh-CN" sz="2200" b="1">
                <a:solidFill>
                  <a:srgbClr val="FF00FF"/>
                </a:solidFill>
              </a:rPr>
              <a:t>2</a:t>
            </a:r>
            <a:r>
              <a:rPr lang="zh-CN" altLang="en-US" sz="2200" b="1">
                <a:solidFill>
                  <a:srgbClr val="FF00FF"/>
                </a:solidFill>
              </a:rPr>
              <a:t>个时钟</a:t>
            </a:r>
          </a:p>
        </p:txBody>
      </p:sp>
      <p:sp>
        <p:nvSpPr>
          <p:cNvPr id="38" name="矩形 37">
            <a:extLst>
              <a:ext uri="{FF2B5EF4-FFF2-40B4-BE49-F238E27FC236}">
                <a16:creationId xmlns:a16="http://schemas.microsoft.com/office/drawing/2014/main" id="{EE0F5432-628C-484F-B116-2B34E39990A6}"/>
              </a:ext>
            </a:extLst>
          </p:cNvPr>
          <p:cNvSpPr>
            <a:spLocks noChangeArrowheads="1"/>
          </p:cNvSpPr>
          <p:nvPr/>
        </p:nvSpPr>
        <p:spPr bwMode="auto">
          <a:xfrm>
            <a:off x="3328988" y="3113088"/>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43" name="任意多边形 42">
            <a:extLst>
              <a:ext uri="{FF2B5EF4-FFF2-40B4-BE49-F238E27FC236}">
                <a16:creationId xmlns:a16="http://schemas.microsoft.com/office/drawing/2014/main" id="{A89B9AA0-92B6-4C51-8BFA-342C490CF680}"/>
              </a:ext>
            </a:extLst>
          </p:cNvPr>
          <p:cNvSpPr>
            <a:spLocks/>
          </p:cNvSpPr>
          <p:nvPr/>
        </p:nvSpPr>
        <p:spPr bwMode="auto">
          <a:xfrm>
            <a:off x="4759325" y="3433763"/>
            <a:ext cx="2917825" cy="917575"/>
          </a:xfrm>
          <a:custGeom>
            <a:avLst/>
            <a:gdLst>
              <a:gd name="T0" fmla="*/ 1500 w 1792757"/>
              <a:gd name="T1" fmla="*/ 0 h 683441"/>
              <a:gd name="T2" fmla="*/ 460921 w 1792757"/>
              <a:gd name="T3" fmla="*/ 810326 h 683441"/>
              <a:gd name="T4" fmla="*/ 2917061 w 1792757"/>
              <a:gd name="T5" fmla="*/ 888307 h 683441"/>
              <a:gd name="T6" fmla="*/ 0 60000 65536"/>
              <a:gd name="T7" fmla="*/ 0 60000 65536"/>
              <a:gd name="T8" fmla="*/ 0 60000 65536"/>
            </a:gdLst>
            <a:ahLst/>
            <a:cxnLst>
              <a:cxn ang="T6">
                <a:pos x="T0" y="T1"/>
              </a:cxn>
              <a:cxn ang="T7">
                <a:pos x="T2" y="T3"/>
              </a:cxn>
              <a:cxn ang="T8">
                <a:pos x="T4" y="T5"/>
              </a:cxn>
            </a:cxnLst>
            <a:rect l="0" t="0" r="r" b="b"/>
            <a:pathLst>
              <a:path w="1792757" h="683441">
                <a:moveTo>
                  <a:pt x="922" y="0"/>
                </a:moveTo>
                <a:cubicBezTo>
                  <a:pt x="-3046" y="292334"/>
                  <a:pt x="-7015" y="494432"/>
                  <a:pt x="283271" y="603289"/>
                </a:cubicBezTo>
                <a:cubicBezTo>
                  <a:pt x="573557" y="712146"/>
                  <a:pt x="1183157" y="686746"/>
                  <a:pt x="1792757" y="661346"/>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任意多边形 43">
            <a:extLst>
              <a:ext uri="{FF2B5EF4-FFF2-40B4-BE49-F238E27FC236}">
                <a16:creationId xmlns:a16="http://schemas.microsoft.com/office/drawing/2014/main" id="{A4C7510A-5A75-44C1-B909-AA3AE9B8FA85}"/>
              </a:ext>
            </a:extLst>
          </p:cNvPr>
          <p:cNvSpPr>
            <a:spLocks/>
          </p:cNvSpPr>
          <p:nvPr/>
        </p:nvSpPr>
        <p:spPr bwMode="auto">
          <a:xfrm>
            <a:off x="6019800" y="3414713"/>
            <a:ext cx="1722438" cy="947737"/>
          </a:xfrm>
          <a:custGeom>
            <a:avLst/>
            <a:gdLst>
              <a:gd name="T0" fmla="*/ 886 w 1792757"/>
              <a:gd name="T1" fmla="*/ 0 h 683441"/>
              <a:gd name="T2" fmla="*/ 272278 w 1792757"/>
              <a:gd name="T3" fmla="*/ 835600 h 683441"/>
              <a:gd name="T4" fmla="*/ 1723187 w 1792757"/>
              <a:gd name="T5" fmla="*/ 916013 h 683441"/>
              <a:gd name="T6" fmla="*/ 0 60000 65536"/>
              <a:gd name="T7" fmla="*/ 0 60000 65536"/>
              <a:gd name="T8" fmla="*/ 0 60000 65536"/>
            </a:gdLst>
            <a:ahLst/>
            <a:cxnLst>
              <a:cxn ang="T6">
                <a:pos x="T0" y="T1"/>
              </a:cxn>
              <a:cxn ang="T7">
                <a:pos x="T2" y="T3"/>
              </a:cxn>
              <a:cxn ang="T8">
                <a:pos x="T4" y="T5"/>
              </a:cxn>
            </a:cxnLst>
            <a:rect l="0" t="0" r="r" b="b"/>
            <a:pathLst>
              <a:path w="1792757" h="683441">
                <a:moveTo>
                  <a:pt x="922" y="0"/>
                </a:moveTo>
                <a:cubicBezTo>
                  <a:pt x="-3046" y="292334"/>
                  <a:pt x="-7015" y="494432"/>
                  <a:pt x="283271" y="603289"/>
                </a:cubicBezTo>
                <a:cubicBezTo>
                  <a:pt x="573557" y="712146"/>
                  <a:pt x="1183157" y="686746"/>
                  <a:pt x="1792757" y="661346"/>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任意多边形 45">
            <a:extLst>
              <a:ext uri="{FF2B5EF4-FFF2-40B4-BE49-F238E27FC236}">
                <a16:creationId xmlns:a16="http://schemas.microsoft.com/office/drawing/2014/main" id="{CBE77490-546D-48B8-BD00-49C2B9B8841C}"/>
              </a:ext>
            </a:extLst>
          </p:cNvPr>
          <p:cNvSpPr>
            <a:spLocks/>
          </p:cNvSpPr>
          <p:nvPr/>
        </p:nvSpPr>
        <p:spPr bwMode="auto">
          <a:xfrm>
            <a:off x="7472363" y="3565525"/>
            <a:ext cx="523875" cy="741363"/>
          </a:xfrm>
          <a:custGeom>
            <a:avLst/>
            <a:gdLst>
              <a:gd name="T0" fmla="*/ 270 w 1792757"/>
              <a:gd name="T1" fmla="*/ 0 h 683441"/>
              <a:gd name="T2" fmla="*/ 82849 w 1792757"/>
              <a:gd name="T3" fmla="*/ 654306 h 683441"/>
              <a:gd name="T4" fmla="*/ 524331 w 1792757"/>
              <a:gd name="T5" fmla="*/ 717273 h 683441"/>
              <a:gd name="T6" fmla="*/ 0 60000 65536"/>
              <a:gd name="T7" fmla="*/ 0 60000 65536"/>
              <a:gd name="T8" fmla="*/ 0 60000 65536"/>
            </a:gdLst>
            <a:ahLst/>
            <a:cxnLst>
              <a:cxn ang="T6">
                <a:pos x="T0" y="T1"/>
              </a:cxn>
              <a:cxn ang="T7">
                <a:pos x="T2" y="T3"/>
              </a:cxn>
              <a:cxn ang="T8">
                <a:pos x="T4" y="T5"/>
              </a:cxn>
            </a:cxnLst>
            <a:rect l="0" t="0" r="r" b="b"/>
            <a:pathLst>
              <a:path w="1792757" h="683441">
                <a:moveTo>
                  <a:pt x="922" y="0"/>
                </a:moveTo>
                <a:cubicBezTo>
                  <a:pt x="-3046" y="292334"/>
                  <a:pt x="-7015" y="494432"/>
                  <a:pt x="283271" y="603289"/>
                </a:cubicBezTo>
                <a:cubicBezTo>
                  <a:pt x="573557" y="712146"/>
                  <a:pt x="1183157" y="686746"/>
                  <a:pt x="1792757" y="661346"/>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矩形 46">
            <a:extLst>
              <a:ext uri="{FF2B5EF4-FFF2-40B4-BE49-F238E27FC236}">
                <a16:creationId xmlns:a16="http://schemas.microsoft.com/office/drawing/2014/main" id="{85525FD2-1390-4322-8ADB-A46D0368E532}"/>
              </a:ext>
            </a:extLst>
          </p:cNvPr>
          <p:cNvSpPr/>
          <p:nvPr/>
        </p:nvSpPr>
        <p:spPr>
          <a:xfrm>
            <a:off x="7989888" y="4951413"/>
            <a:ext cx="1016000" cy="612775"/>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FF00FF"/>
                </a:solidFill>
                <a:cs typeface="Times New Roman" panose="02020603050405020304" pitchFamily="18" charset="0"/>
              </a:rPr>
              <a:t>例</a:t>
            </a:r>
            <a:r>
              <a:rPr lang="en-US" altLang="zh-CN" sz="2400" b="1" kern="0" dirty="0">
                <a:solidFill>
                  <a:srgbClr val="FF00FF"/>
                </a:solidFill>
                <a:cs typeface="Times New Roman" panose="02020603050405020304" pitchFamily="18" charset="0"/>
              </a:rPr>
              <a:t>:</a:t>
            </a:r>
            <a:r>
              <a:rPr lang="zh-CN" altLang="en-US" sz="2400" b="1" kern="0" dirty="0">
                <a:solidFill>
                  <a:srgbClr val="FF00FF"/>
                </a:solidFill>
                <a:cs typeface="Times New Roman" panose="02020603050405020304" pitchFamily="18" charset="0"/>
              </a:rPr>
              <a:t>口线</a:t>
            </a:r>
            <a:r>
              <a:rPr lang="en-US" altLang="zh-CN" sz="2400" b="1" kern="0" dirty="0">
                <a:solidFill>
                  <a:srgbClr val="FF00FF"/>
                </a:solidFill>
                <a:cs typeface="Times New Roman" panose="02020603050405020304" pitchFamily="18" charset="0"/>
              </a:rPr>
              <a:t>P3.2</a:t>
            </a:r>
            <a:endParaRPr lang="en-US" altLang="zh-CN" sz="2400" b="1" dirty="0">
              <a:solidFill>
                <a:srgbClr val="FF00FF"/>
              </a:solidFill>
              <a:ea typeface="宋体" charset="-122"/>
              <a:cs typeface="Times New Roman" pitchFamily="18" charset="0"/>
            </a:endParaRPr>
          </a:p>
        </p:txBody>
      </p:sp>
      <p:sp>
        <p:nvSpPr>
          <p:cNvPr id="48" name="矩形 47">
            <a:extLst>
              <a:ext uri="{FF2B5EF4-FFF2-40B4-BE49-F238E27FC236}">
                <a16:creationId xmlns:a16="http://schemas.microsoft.com/office/drawing/2014/main" id="{6C6178FC-47BE-4E98-A72F-20D3AF793E50}"/>
              </a:ext>
            </a:extLst>
          </p:cNvPr>
          <p:cNvSpPr/>
          <p:nvPr/>
        </p:nvSpPr>
        <p:spPr>
          <a:xfrm>
            <a:off x="766763" y="5472113"/>
            <a:ext cx="1311275" cy="866775"/>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0000FF"/>
                </a:solidFill>
                <a:cs typeface="Times New Roman" panose="02020603050405020304" pitchFamily="18" charset="0"/>
              </a:rPr>
              <a:t>例</a:t>
            </a:r>
            <a:r>
              <a:rPr lang="en-US" altLang="zh-CN" sz="2400" b="1" kern="0" dirty="0">
                <a:solidFill>
                  <a:srgbClr val="0000FF"/>
                </a:solidFill>
                <a:cs typeface="Times New Roman" panose="02020603050405020304" pitchFamily="18" charset="0"/>
              </a:rPr>
              <a:t>:</a:t>
            </a:r>
            <a:r>
              <a:rPr lang="zh-CN" altLang="en-US" sz="2400" b="1" kern="0" dirty="0">
                <a:solidFill>
                  <a:srgbClr val="0000FF"/>
                </a:solidFill>
                <a:cs typeface="Times New Roman" panose="02020603050405020304" pitchFamily="18" charset="0"/>
              </a:rPr>
              <a:t>口线</a:t>
            </a:r>
            <a:r>
              <a:rPr lang="en-US" altLang="zh-CN" sz="2400" b="1" kern="0" dirty="0">
                <a:solidFill>
                  <a:srgbClr val="0000FF"/>
                </a:solidFill>
                <a:cs typeface="Times New Roman" panose="02020603050405020304" pitchFamily="18" charset="0"/>
              </a:rPr>
              <a:t>P3.2</a:t>
            </a:r>
            <a:r>
              <a:rPr lang="zh-CN" altLang="en-US" sz="2400" b="1" kern="0" dirty="0">
                <a:solidFill>
                  <a:srgbClr val="0000FF"/>
                </a:solidFill>
                <a:cs typeface="Times New Roman" panose="02020603050405020304" pitchFamily="18" charset="0"/>
              </a:rPr>
              <a:t>的锁存器位</a:t>
            </a:r>
            <a:endParaRPr lang="en-US" altLang="zh-CN" sz="2400" b="1" dirty="0">
              <a:solidFill>
                <a:srgbClr val="0000FF"/>
              </a:solidFill>
              <a:ea typeface="宋体" charset="-122"/>
              <a:cs typeface="Times New Roman" pitchFamily="18" charset="0"/>
            </a:endParaRPr>
          </a:p>
        </p:txBody>
      </p:sp>
      <p:cxnSp>
        <p:nvCxnSpPr>
          <p:cNvPr id="49" name="直接箭头连接符 48">
            <a:extLst>
              <a:ext uri="{FF2B5EF4-FFF2-40B4-BE49-F238E27FC236}">
                <a16:creationId xmlns:a16="http://schemas.microsoft.com/office/drawing/2014/main" id="{9D3ABF9A-38C5-4480-AC1B-A3A62D8050A2}"/>
              </a:ext>
            </a:extLst>
          </p:cNvPr>
          <p:cNvCxnSpPr>
            <a:cxnSpLocks noChangeShapeType="1"/>
          </p:cNvCxnSpPr>
          <p:nvPr/>
        </p:nvCxnSpPr>
        <p:spPr bwMode="auto">
          <a:xfrm flipV="1">
            <a:off x="7618413" y="4449763"/>
            <a:ext cx="0" cy="357187"/>
          </a:xfrm>
          <a:prstGeom prst="straightConnector1">
            <a:avLst/>
          </a:prstGeom>
          <a:noFill/>
          <a:ln w="28575"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接箭头连接符 49">
            <a:extLst>
              <a:ext uri="{FF2B5EF4-FFF2-40B4-BE49-F238E27FC236}">
                <a16:creationId xmlns:a16="http://schemas.microsoft.com/office/drawing/2014/main" id="{56E42279-3640-43C4-B9CE-D5E80C630534}"/>
              </a:ext>
            </a:extLst>
          </p:cNvPr>
          <p:cNvCxnSpPr>
            <a:cxnSpLocks noChangeShapeType="1"/>
          </p:cNvCxnSpPr>
          <p:nvPr/>
        </p:nvCxnSpPr>
        <p:spPr bwMode="auto">
          <a:xfrm flipV="1">
            <a:off x="3200400" y="4872038"/>
            <a:ext cx="0" cy="355600"/>
          </a:xfrm>
          <a:prstGeom prst="straightConnector1">
            <a:avLst/>
          </a:prstGeom>
          <a:noFill/>
          <a:ln w="28575"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1" name="矩形 50">
            <a:extLst>
              <a:ext uri="{FF2B5EF4-FFF2-40B4-BE49-F238E27FC236}">
                <a16:creationId xmlns:a16="http://schemas.microsoft.com/office/drawing/2014/main" id="{2D023959-2F0B-4369-A19A-AE89280544A3}"/>
              </a:ext>
            </a:extLst>
          </p:cNvPr>
          <p:cNvSpPr/>
          <p:nvPr/>
        </p:nvSpPr>
        <p:spPr>
          <a:xfrm>
            <a:off x="2392363" y="6046788"/>
            <a:ext cx="3157537" cy="312737"/>
          </a:xfrm>
          <a:prstGeom prst="rect">
            <a:avLst/>
          </a:prstGeom>
          <a:noFill/>
        </p:spPr>
        <p:txBody>
          <a:bodyPr lIns="0" tIns="36000" rIns="0" bIns="0" anchor="b">
            <a:spAutoFit/>
          </a:bodyPr>
          <a:lstStyle/>
          <a:p>
            <a:pPr algn="ctr" eaLnBrk="1" hangingPunct="1">
              <a:lnSpc>
                <a:spcPct val="75000"/>
              </a:lnSpc>
              <a:defRPr/>
            </a:pPr>
            <a:r>
              <a:rPr lang="en-US" altLang="zh-CN" sz="2400" b="1" kern="0" dirty="0">
                <a:solidFill>
                  <a:srgbClr val="00B050"/>
                </a:solidFill>
                <a:cs typeface="Times New Roman" panose="02020603050405020304" pitchFamily="18" charset="0"/>
              </a:rPr>
              <a:t>CPU</a:t>
            </a:r>
            <a:r>
              <a:rPr lang="zh-CN" altLang="en-US" sz="2400" b="1" kern="0" dirty="0">
                <a:solidFill>
                  <a:srgbClr val="00B050"/>
                </a:solidFill>
                <a:cs typeface="Times New Roman" panose="02020603050405020304" pitchFamily="18" charset="0"/>
              </a:rPr>
              <a:t>读引脚状态数据</a:t>
            </a:r>
            <a:endParaRPr lang="en-US" altLang="zh-CN" sz="2400" b="1" dirty="0">
              <a:solidFill>
                <a:srgbClr val="00B050"/>
              </a:solidFill>
              <a:ea typeface="宋体" charset="-122"/>
              <a:cs typeface="Times New Roman" pitchFamily="18" charset="0"/>
            </a:endParaRPr>
          </a:p>
        </p:txBody>
      </p:sp>
      <p:sp>
        <p:nvSpPr>
          <p:cNvPr id="52" name="矩形 51">
            <a:extLst>
              <a:ext uri="{FF2B5EF4-FFF2-40B4-BE49-F238E27FC236}">
                <a16:creationId xmlns:a16="http://schemas.microsoft.com/office/drawing/2014/main" id="{CA26DFB4-47F7-4134-9071-4706B26A25F5}"/>
              </a:ext>
            </a:extLst>
          </p:cNvPr>
          <p:cNvSpPr>
            <a:spLocks noChangeArrowheads="1"/>
          </p:cNvSpPr>
          <p:nvPr/>
        </p:nvSpPr>
        <p:spPr bwMode="auto">
          <a:xfrm>
            <a:off x="1338263" y="4997450"/>
            <a:ext cx="338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1</a:t>
            </a:r>
            <a:endParaRPr lang="zh-CN" altLang="en-US" sz="2400" b="1">
              <a:solidFill>
                <a:srgbClr val="3366FF"/>
              </a:solidFill>
            </a:endParaRPr>
          </a:p>
        </p:txBody>
      </p:sp>
      <p:cxnSp>
        <p:nvCxnSpPr>
          <p:cNvPr id="53" name="直接箭头连接符 52">
            <a:extLst>
              <a:ext uri="{FF2B5EF4-FFF2-40B4-BE49-F238E27FC236}">
                <a16:creationId xmlns:a16="http://schemas.microsoft.com/office/drawing/2014/main" id="{9E4230FF-24E2-46F3-83E7-303E3BE0E7B8}"/>
              </a:ext>
            </a:extLst>
          </p:cNvPr>
          <p:cNvCxnSpPr>
            <a:cxnSpLocks noChangeShapeType="1"/>
          </p:cNvCxnSpPr>
          <p:nvPr/>
        </p:nvCxnSpPr>
        <p:spPr bwMode="auto">
          <a:xfrm flipV="1">
            <a:off x="1570038" y="4891088"/>
            <a:ext cx="0" cy="357187"/>
          </a:xfrm>
          <a:prstGeom prst="straightConnector1">
            <a:avLst/>
          </a:prstGeom>
          <a:noFill/>
          <a:ln w="28575"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矩形 53">
            <a:extLst>
              <a:ext uri="{FF2B5EF4-FFF2-40B4-BE49-F238E27FC236}">
                <a16:creationId xmlns:a16="http://schemas.microsoft.com/office/drawing/2014/main" id="{DAE566FC-65F4-4985-8267-7A318D282054}"/>
              </a:ext>
            </a:extLst>
          </p:cNvPr>
          <p:cNvSpPr>
            <a:spLocks noChangeArrowheads="1"/>
          </p:cNvSpPr>
          <p:nvPr/>
        </p:nvSpPr>
        <p:spPr bwMode="auto">
          <a:xfrm>
            <a:off x="1401763" y="4451350"/>
            <a:ext cx="338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0</a:t>
            </a:r>
            <a:endParaRPr lang="zh-CN" altLang="en-US" sz="2400" b="1"/>
          </a:p>
        </p:txBody>
      </p:sp>
      <p:cxnSp>
        <p:nvCxnSpPr>
          <p:cNvPr id="55" name="直接箭头连接符 54">
            <a:extLst>
              <a:ext uri="{FF2B5EF4-FFF2-40B4-BE49-F238E27FC236}">
                <a16:creationId xmlns:a16="http://schemas.microsoft.com/office/drawing/2014/main" id="{69C6B01C-415A-49EF-A3EC-5EAE5224E950}"/>
              </a:ext>
            </a:extLst>
          </p:cNvPr>
          <p:cNvCxnSpPr>
            <a:cxnSpLocks/>
          </p:cNvCxnSpPr>
          <p:nvPr/>
        </p:nvCxnSpPr>
        <p:spPr bwMode="auto">
          <a:xfrm flipV="1">
            <a:off x="2112963" y="3516313"/>
            <a:ext cx="0" cy="274637"/>
          </a:xfrm>
          <a:prstGeom prst="straightConnector1">
            <a:avLst/>
          </a:prstGeom>
          <a:noFill/>
          <a:ln w="28575"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直接箭头连接符 55">
            <a:extLst>
              <a:ext uri="{FF2B5EF4-FFF2-40B4-BE49-F238E27FC236}">
                <a16:creationId xmlns:a16="http://schemas.microsoft.com/office/drawing/2014/main" id="{098C7EC6-7522-43FF-B36C-71625908B5CC}"/>
              </a:ext>
            </a:extLst>
          </p:cNvPr>
          <p:cNvCxnSpPr>
            <a:cxnSpLocks/>
          </p:cNvCxnSpPr>
          <p:nvPr/>
        </p:nvCxnSpPr>
        <p:spPr bwMode="auto">
          <a:xfrm flipV="1">
            <a:off x="3425825" y="3406775"/>
            <a:ext cx="0" cy="277813"/>
          </a:xfrm>
          <a:prstGeom prst="straightConnector1">
            <a:avLst/>
          </a:prstGeom>
          <a:noFill/>
          <a:ln w="28575" algn="ctr">
            <a:solidFill>
              <a:srgbClr val="FF0000"/>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矩形 56">
            <a:extLst>
              <a:ext uri="{FF2B5EF4-FFF2-40B4-BE49-F238E27FC236}">
                <a16:creationId xmlns:a16="http://schemas.microsoft.com/office/drawing/2014/main" id="{503160C6-A951-467C-9CBC-40DD1BEC6F55}"/>
              </a:ext>
            </a:extLst>
          </p:cNvPr>
          <p:cNvSpPr>
            <a:spLocks noChangeArrowheads="1"/>
          </p:cNvSpPr>
          <p:nvPr/>
        </p:nvSpPr>
        <p:spPr bwMode="auto">
          <a:xfrm>
            <a:off x="5376863" y="4889500"/>
            <a:ext cx="4937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止</a:t>
            </a:r>
          </a:p>
        </p:txBody>
      </p:sp>
      <p:sp>
        <p:nvSpPr>
          <p:cNvPr id="3" name="灯片编号占位符 2">
            <a:extLst>
              <a:ext uri="{FF2B5EF4-FFF2-40B4-BE49-F238E27FC236}">
                <a16:creationId xmlns:a16="http://schemas.microsoft.com/office/drawing/2014/main" id="{0A480D23-8923-41F6-9011-B63F52BA96B4}"/>
              </a:ext>
            </a:extLst>
          </p:cNvPr>
          <p:cNvSpPr>
            <a:spLocks noGrp="1"/>
          </p:cNvSpPr>
          <p:nvPr>
            <p:ph type="sldNum" sz="quarter" idx="12"/>
          </p:nvPr>
        </p:nvSpPr>
        <p:spPr/>
        <p:txBody>
          <a:bodyPr/>
          <a:lstStyle/>
          <a:p>
            <a:fld id="{22E77DEE-32E4-4009-988B-F2758F7B8AC2}" type="slidenum">
              <a:rPr lang="zh-CN" altLang="en-US" smtClean="0"/>
              <a:t>61</a:t>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标题 3">
            <a:extLst>
              <a:ext uri="{FF2B5EF4-FFF2-40B4-BE49-F238E27FC236}">
                <a16:creationId xmlns:a16="http://schemas.microsoft.com/office/drawing/2014/main" id="{75543B0F-7534-4C48-8B1B-4CB54F7C9A27}"/>
              </a:ext>
            </a:extLst>
          </p:cNvPr>
          <p:cNvSpPr>
            <a:spLocks noGrp="1" noChangeArrowheads="1"/>
          </p:cNvSpPr>
          <p:nvPr>
            <p:ph type="title"/>
          </p:nvPr>
        </p:nvSpPr>
        <p:spPr>
          <a:xfrm>
            <a:off x="468313" y="357188"/>
            <a:ext cx="8229600" cy="504825"/>
          </a:xfrm>
        </p:spPr>
        <p:txBody>
          <a:bodyPr>
            <a:normAutofit fontScale="90000"/>
          </a:bodyPr>
          <a:lstStyle/>
          <a:p>
            <a:pPr eaLnBrk="1" hangingPunct="1"/>
            <a:r>
              <a:rPr lang="zh-CN" altLang="en-US" dirty="0">
                <a:solidFill>
                  <a:srgbClr val="FF0000"/>
                </a:solidFill>
              </a:rPr>
              <a:t>准双向口</a:t>
            </a:r>
            <a:r>
              <a:rPr lang="en-US" altLang="zh-CN" dirty="0">
                <a:solidFill>
                  <a:srgbClr val="FF0000"/>
                </a:solidFill>
              </a:rPr>
              <a:t>(</a:t>
            </a:r>
            <a:r>
              <a:rPr lang="zh-CN" altLang="en-US" dirty="0"/>
              <a:t>弱上拉</a:t>
            </a:r>
            <a:r>
              <a:rPr lang="en-US" altLang="zh-CN" dirty="0">
                <a:solidFill>
                  <a:srgbClr val="FF0000"/>
                </a:solidFill>
              </a:rPr>
              <a:t>)</a:t>
            </a:r>
            <a:r>
              <a:rPr lang="zh-CN" altLang="en-US" dirty="0">
                <a:solidFill>
                  <a:srgbClr val="FF0000"/>
                </a:solidFill>
              </a:rPr>
              <a:t>工作模式的结构</a:t>
            </a:r>
            <a:endParaRPr lang="zh-CN" altLang="en-US" sz="2800" dirty="0">
              <a:solidFill>
                <a:srgbClr val="FF0000"/>
              </a:solidFill>
            </a:endParaRPr>
          </a:p>
        </p:txBody>
      </p:sp>
      <p:sp>
        <p:nvSpPr>
          <p:cNvPr id="618499" name="Rectangle 3">
            <a:extLst>
              <a:ext uri="{FF2B5EF4-FFF2-40B4-BE49-F238E27FC236}">
                <a16:creationId xmlns:a16="http://schemas.microsoft.com/office/drawing/2014/main" id="{D31D9D6A-116E-448A-8367-2287A40D6118}"/>
              </a:ext>
            </a:extLst>
          </p:cNvPr>
          <p:cNvSpPr>
            <a:spLocks noGrp="1" noChangeArrowheads="1"/>
          </p:cNvSpPr>
          <p:nvPr>
            <p:ph idx="1"/>
          </p:nvPr>
        </p:nvSpPr>
        <p:spPr>
          <a:xfrm>
            <a:off x="127000" y="1204913"/>
            <a:ext cx="8853488" cy="557212"/>
          </a:xfrm>
        </p:spPr>
        <p:txBody>
          <a:bodyPr/>
          <a:lstStyle/>
          <a:p>
            <a:pPr marL="261938" lvl="1" indent="-261938" algn="l" eaLnBrk="1" hangingPunct="1">
              <a:lnSpc>
                <a:spcPct val="101000"/>
              </a:lnSpc>
              <a:spcBef>
                <a:spcPct val="0"/>
              </a:spcBef>
              <a:spcAft>
                <a:spcPts val="200"/>
              </a:spcAft>
            </a:pPr>
            <a:r>
              <a:rPr lang="en-US" altLang="zh-CN" dirty="0">
                <a:latin typeface="Times New Roman" panose="02020603050405020304" pitchFamily="18" charset="0"/>
                <a:cs typeface="Times New Roman" panose="02020603050405020304" pitchFamily="18" charset="0"/>
              </a:rPr>
              <a:t>I/O</a:t>
            </a:r>
            <a:r>
              <a:rPr lang="zh-CN" altLang="en-US" dirty="0">
                <a:latin typeface="Times New Roman" panose="02020603050405020304" pitchFamily="18" charset="0"/>
                <a:cs typeface="Times New Roman" panose="02020603050405020304" pitchFamily="18" charset="0"/>
              </a:rPr>
              <a:t>口可用作输出和输入功能而不需</a:t>
            </a:r>
            <a:r>
              <a:rPr lang="zh-CN" altLang="en-US" dirty="0">
                <a:solidFill>
                  <a:srgbClr val="FF0000"/>
                </a:solidFill>
                <a:latin typeface="Times New Roman" panose="02020603050405020304" pitchFamily="18" charset="0"/>
                <a:cs typeface="Times New Roman" panose="02020603050405020304" pitchFamily="18" charset="0"/>
              </a:rPr>
              <a:t>重新配置口线输出状态（</a:t>
            </a:r>
            <a:r>
              <a:rPr lang="en-US" altLang="zh-CN" dirty="0">
                <a:solidFill>
                  <a:srgbClr val="FF00FF"/>
                </a:solidFill>
                <a:latin typeface="Times New Roman" panose="02020603050405020304" pitchFamily="18" charset="0"/>
                <a:cs typeface="Times New Roman" panose="02020603050405020304" pitchFamily="18" charset="0"/>
              </a:rPr>
              <a:t>4</a:t>
            </a:r>
            <a:r>
              <a:rPr lang="zh-CN" altLang="en-US" dirty="0">
                <a:solidFill>
                  <a:srgbClr val="FF00FF"/>
                </a:solidFill>
                <a:latin typeface="Times New Roman" panose="02020603050405020304" pitchFamily="18" charset="0"/>
                <a:cs typeface="Times New Roman" panose="02020603050405020304" pitchFamily="18" charset="0"/>
              </a:rPr>
              <a:t>种口线工作模式</a:t>
            </a:r>
            <a:r>
              <a:rPr lang="zh-CN" altLang="en-US" dirty="0">
                <a:solidFill>
                  <a:srgbClr val="FF0000"/>
                </a:solidFill>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p>
        </p:txBody>
      </p:sp>
      <p:pic>
        <p:nvPicPr>
          <p:cNvPr id="6" name="Picture 189" descr="D:\DOCUME~1\ADMINI~1\LOCALS~1\Temp\HS5ClipImage_56b00a7d.gif">
            <a:extLst>
              <a:ext uri="{FF2B5EF4-FFF2-40B4-BE49-F238E27FC236}">
                <a16:creationId xmlns:a16="http://schemas.microsoft.com/office/drawing/2014/main" id="{B46DEB5F-F8FF-429D-8FF5-50E8F0AE3E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88" y="3176588"/>
            <a:ext cx="8258175" cy="334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a:extLst>
              <a:ext uri="{FF2B5EF4-FFF2-40B4-BE49-F238E27FC236}">
                <a16:creationId xmlns:a16="http://schemas.microsoft.com/office/drawing/2014/main" id="{C30560E3-0F26-4B23-9386-563D1C43A5E0}"/>
              </a:ext>
            </a:extLst>
          </p:cNvPr>
          <p:cNvGrpSpPr>
            <a:grpSpLocks/>
          </p:cNvGrpSpPr>
          <p:nvPr/>
        </p:nvGrpSpPr>
        <p:grpSpPr bwMode="auto">
          <a:xfrm>
            <a:off x="4767263" y="3503613"/>
            <a:ext cx="2976562" cy="400050"/>
            <a:chOff x="5018288" y="2721819"/>
            <a:chExt cx="2975952" cy="400110"/>
          </a:xfrm>
        </p:grpSpPr>
        <p:sp>
          <p:nvSpPr>
            <p:cNvPr id="110640" name="矩形 7">
              <a:extLst>
                <a:ext uri="{FF2B5EF4-FFF2-40B4-BE49-F238E27FC236}">
                  <a16:creationId xmlns:a16="http://schemas.microsoft.com/office/drawing/2014/main" id="{13AE5700-9F17-4C21-BBFB-7F91E52B2DA8}"/>
                </a:ext>
              </a:extLst>
            </p:cNvPr>
            <p:cNvSpPr>
              <a:spLocks noChangeArrowheads="1"/>
            </p:cNvSpPr>
            <p:nvPr/>
          </p:nvSpPr>
          <p:spPr bwMode="auto">
            <a:xfrm>
              <a:off x="5018288" y="2721819"/>
              <a:ext cx="442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B050"/>
                  </a:solidFill>
                </a:rPr>
                <a:t>强</a:t>
              </a:r>
            </a:p>
          </p:txBody>
        </p:sp>
        <p:sp>
          <p:nvSpPr>
            <p:cNvPr id="110641" name="矩形 8">
              <a:extLst>
                <a:ext uri="{FF2B5EF4-FFF2-40B4-BE49-F238E27FC236}">
                  <a16:creationId xmlns:a16="http://schemas.microsoft.com/office/drawing/2014/main" id="{A4E6AE99-3458-4608-ACC2-6BB5A864C2DA}"/>
                </a:ext>
              </a:extLst>
            </p:cNvPr>
            <p:cNvSpPr>
              <a:spLocks noChangeArrowheads="1"/>
            </p:cNvSpPr>
            <p:nvPr/>
          </p:nvSpPr>
          <p:spPr bwMode="auto">
            <a:xfrm>
              <a:off x="6087133" y="2721819"/>
              <a:ext cx="7008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B050"/>
                  </a:solidFill>
                </a:rPr>
                <a:t>极弱</a:t>
              </a:r>
            </a:p>
          </p:txBody>
        </p:sp>
        <p:sp>
          <p:nvSpPr>
            <p:cNvPr id="110642" name="矩形 9">
              <a:extLst>
                <a:ext uri="{FF2B5EF4-FFF2-40B4-BE49-F238E27FC236}">
                  <a16:creationId xmlns:a16="http://schemas.microsoft.com/office/drawing/2014/main" id="{03A36E76-F88F-494E-B54E-8944AF5C3151}"/>
                </a:ext>
              </a:extLst>
            </p:cNvPr>
            <p:cNvSpPr>
              <a:spLocks noChangeArrowheads="1"/>
            </p:cNvSpPr>
            <p:nvPr/>
          </p:nvSpPr>
          <p:spPr bwMode="auto">
            <a:xfrm>
              <a:off x="7551490" y="2721819"/>
              <a:ext cx="4427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solidFill>
                    <a:srgbClr val="00B050"/>
                  </a:solidFill>
                </a:rPr>
                <a:t>弱</a:t>
              </a:r>
            </a:p>
          </p:txBody>
        </p:sp>
      </p:grpSp>
      <p:sp>
        <p:nvSpPr>
          <p:cNvPr id="11" name="矩形 10">
            <a:extLst>
              <a:ext uri="{FF2B5EF4-FFF2-40B4-BE49-F238E27FC236}">
                <a16:creationId xmlns:a16="http://schemas.microsoft.com/office/drawing/2014/main" id="{C317C717-914E-48E3-A308-62228B1C5313}"/>
              </a:ext>
            </a:extLst>
          </p:cNvPr>
          <p:cNvSpPr>
            <a:spLocks noChangeArrowheads="1"/>
          </p:cNvSpPr>
          <p:nvPr/>
        </p:nvSpPr>
        <p:spPr bwMode="auto">
          <a:xfrm>
            <a:off x="9525" y="3873500"/>
            <a:ext cx="11445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solidFill>
                  <a:srgbClr val="FF0000"/>
                </a:solidFill>
                <a:cs typeface="Times New Roman" panose="02020603050405020304" pitchFamily="18" charset="0"/>
              </a:rPr>
              <a:t>P0</a:t>
            </a:r>
            <a:r>
              <a:rPr lang="zh-CN" altLang="en-US" sz="2400">
                <a:solidFill>
                  <a:srgbClr val="FF0000"/>
                </a:solidFill>
                <a:cs typeface="Times New Roman" panose="02020603050405020304" pitchFamily="18" charset="0"/>
              </a:rPr>
              <a:t>～</a:t>
            </a:r>
            <a:r>
              <a:rPr lang="en-US" altLang="zh-CN" sz="2400">
                <a:solidFill>
                  <a:srgbClr val="FF0000"/>
                </a:solidFill>
                <a:cs typeface="Times New Roman" panose="02020603050405020304" pitchFamily="18" charset="0"/>
              </a:rPr>
              <a:t>P7</a:t>
            </a:r>
            <a:endParaRPr lang="zh-CN" altLang="en-US" sz="2400">
              <a:cs typeface="Times New Roman" panose="02020603050405020304" pitchFamily="18" charset="0"/>
            </a:endParaRPr>
          </a:p>
        </p:txBody>
      </p:sp>
      <p:sp>
        <p:nvSpPr>
          <p:cNvPr id="13" name="矩形 12">
            <a:extLst>
              <a:ext uri="{FF2B5EF4-FFF2-40B4-BE49-F238E27FC236}">
                <a16:creationId xmlns:a16="http://schemas.microsoft.com/office/drawing/2014/main" id="{4663E644-1804-44DF-B662-BE6F2832E5E1}"/>
              </a:ext>
            </a:extLst>
          </p:cNvPr>
          <p:cNvSpPr>
            <a:spLocks noChangeArrowheads="1"/>
          </p:cNvSpPr>
          <p:nvPr/>
        </p:nvSpPr>
        <p:spPr bwMode="auto">
          <a:xfrm>
            <a:off x="238125" y="493395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14" name="矩形 13">
            <a:extLst>
              <a:ext uri="{FF2B5EF4-FFF2-40B4-BE49-F238E27FC236}">
                <a16:creationId xmlns:a16="http://schemas.microsoft.com/office/drawing/2014/main" id="{EE6AB35E-DE86-4381-87FA-2E053F3990AE}"/>
              </a:ext>
            </a:extLst>
          </p:cNvPr>
          <p:cNvSpPr>
            <a:spLocks noChangeArrowheads="1"/>
          </p:cNvSpPr>
          <p:nvPr/>
        </p:nvSpPr>
        <p:spPr bwMode="auto">
          <a:xfrm>
            <a:off x="3036888" y="4603750"/>
            <a:ext cx="338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0</a:t>
            </a:r>
            <a:endParaRPr lang="zh-CN" altLang="en-US" sz="2400" b="1"/>
          </a:p>
        </p:txBody>
      </p:sp>
      <p:sp>
        <p:nvSpPr>
          <p:cNvPr id="15" name="矩形 14">
            <a:extLst>
              <a:ext uri="{FF2B5EF4-FFF2-40B4-BE49-F238E27FC236}">
                <a16:creationId xmlns:a16="http://schemas.microsoft.com/office/drawing/2014/main" id="{BF8A6992-8FA7-419B-9E17-A60AC91DC993}"/>
              </a:ext>
            </a:extLst>
          </p:cNvPr>
          <p:cNvSpPr>
            <a:spLocks noChangeArrowheads="1"/>
          </p:cNvSpPr>
          <p:nvPr/>
        </p:nvSpPr>
        <p:spPr bwMode="auto">
          <a:xfrm>
            <a:off x="1854200" y="3176588"/>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16" name="矩形 15">
            <a:extLst>
              <a:ext uri="{FF2B5EF4-FFF2-40B4-BE49-F238E27FC236}">
                <a16:creationId xmlns:a16="http://schemas.microsoft.com/office/drawing/2014/main" id="{731A8F9F-AAEA-4782-8170-B87CAB017A9B}"/>
              </a:ext>
            </a:extLst>
          </p:cNvPr>
          <p:cNvSpPr>
            <a:spLocks noChangeArrowheads="1"/>
          </p:cNvSpPr>
          <p:nvPr/>
        </p:nvSpPr>
        <p:spPr bwMode="auto">
          <a:xfrm>
            <a:off x="3833813" y="342582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20" name="矩形 19">
            <a:extLst>
              <a:ext uri="{FF2B5EF4-FFF2-40B4-BE49-F238E27FC236}">
                <a16:creationId xmlns:a16="http://schemas.microsoft.com/office/drawing/2014/main" id="{16257C89-E1DE-43EC-9468-94006F1B15EA}"/>
              </a:ext>
            </a:extLst>
          </p:cNvPr>
          <p:cNvSpPr>
            <a:spLocks noChangeArrowheads="1"/>
          </p:cNvSpPr>
          <p:nvPr/>
        </p:nvSpPr>
        <p:spPr bwMode="auto">
          <a:xfrm>
            <a:off x="3233738" y="3175000"/>
            <a:ext cx="338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sp>
        <p:nvSpPr>
          <p:cNvPr id="26" name="任意多边形 25">
            <a:extLst>
              <a:ext uri="{FF2B5EF4-FFF2-40B4-BE49-F238E27FC236}">
                <a16:creationId xmlns:a16="http://schemas.microsoft.com/office/drawing/2014/main" id="{017C2A21-BFE0-42CC-A213-DF40318977D5}"/>
              </a:ext>
            </a:extLst>
          </p:cNvPr>
          <p:cNvSpPr>
            <a:spLocks/>
          </p:cNvSpPr>
          <p:nvPr/>
        </p:nvSpPr>
        <p:spPr bwMode="auto">
          <a:xfrm>
            <a:off x="5976938" y="3587750"/>
            <a:ext cx="1655762" cy="885825"/>
          </a:xfrm>
          <a:custGeom>
            <a:avLst/>
            <a:gdLst>
              <a:gd name="T0" fmla="*/ 16487 w 1759219"/>
              <a:gd name="T1" fmla="*/ 0 h 675238"/>
              <a:gd name="T2" fmla="*/ 235210 w 1759219"/>
              <a:gd name="T3" fmla="*/ 780613 h 675238"/>
              <a:gd name="T4" fmla="*/ 1656911 w 1759219"/>
              <a:gd name="T5" fmla="*/ 856771 h 675238"/>
              <a:gd name="T6" fmla="*/ 0 60000 65536"/>
              <a:gd name="T7" fmla="*/ 0 60000 65536"/>
              <a:gd name="T8" fmla="*/ 0 60000 65536"/>
            </a:gdLst>
            <a:ahLst/>
            <a:cxnLst>
              <a:cxn ang="T6">
                <a:pos x="T0" y="T1"/>
              </a:cxn>
              <a:cxn ang="T7">
                <a:pos x="T2" y="T3"/>
              </a:cxn>
              <a:cxn ang="T8">
                <a:pos x="T4" y="T5"/>
              </a:cxn>
            </a:cxnLst>
            <a:rect l="0" t="0" r="r" b="b"/>
            <a:pathLst>
              <a:path w="1759219" h="675238">
                <a:moveTo>
                  <a:pt x="17505" y="0"/>
                </a:moveTo>
                <a:cubicBezTo>
                  <a:pt x="-11524" y="243114"/>
                  <a:pt x="-40553" y="486229"/>
                  <a:pt x="249733" y="595086"/>
                </a:cubicBezTo>
                <a:cubicBezTo>
                  <a:pt x="540019" y="703943"/>
                  <a:pt x="1149619" y="678543"/>
                  <a:pt x="1759219" y="653143"/>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任意多边形 26">
            <a:extLst>
              <a:ext uri="{FF2B5EF4-FFF2-40B4-BE49-F238E27FC236}">
                <a16:creationId xmlns:a16="http://schemas.microsoft.com/office/drawing/2014/main" id="{55367F5A-B17E-4338-968A-80838773CE9F}"/>
              </a:ext>
            </a:extLst>
          </p:cNvPr>
          <p:cNvSpPr>
            <a:spLocks/>
          </p:cNvSpPr>
          <p:nvPr/>
        </p:nvSpPr>
        <p:spPr bwMode="auto">
          <a:xfrm>
            <a:off x="7685088" y="3476625"/>
            <a:ext cx="828675" cy="885825"/>
          </a:xfrm>
          <a:custGeom>
            <a:avLst/>
            <a:gdLst>
              <a:gd name="T0" fmla="*/ 8243 w 1759219"/>
              <a:gd name="T1" fmla="*/ 0 h 675238"/>
              <a:gd name="T2" fmla="*/ 117605 w 1759219"/>
              <a:gd name="T3" fmla="*/ 780613 h 675238"/>
              <a:gd name="T4" fmla="*/ 828455 w 1759219"/>
              <a:gd name="T5" fmla="*/ 856771 h 675238"/>
              <a:gd name="T6" fmla="*/ 0 60000 65536"/>
              <a:gd name="T7" fmla="*/ 0 60000 65536"/>
              <a:gd name="T8" fmla="*/ 0 60000 65536"/>
            </a:gdLst>
            <a:ahLst/>
            <a:cxnLst>
              <a:cxn ang="T6">
                <a:pos x="T0" y="T1"/>
              </a:cxn>
              <a:cxn ang="T7">
                <a:pos x="T2" y="T3"/>
              </a:cxn>
              <a:cxn ang="T8">
                <a:pos x="T4" y="T5"/>
              </a:cxn>
            </a:cxnLst>
            <a:rect l="0" t="0" r="r" b="b"/>
            <a:pathLst>
              <a:path w="1759219" h="675238">
                <a:moveTo>
                  <a:pt x="17505" y="0"/>
                </a:moveTo>
                <a:cubicBezTo>
                  <a:pt x="-11524" y="243114"/>
                  <a:pt x="-40553" y="486229"/>
                  <a:pt x="249733" y="595086"/>
                </a:cubicBezTo>
                <a:cubicBezTo>
                  <a:pt x="540019" y="703943"/>
                  <a:pt x="1149619" y="678543"/>
                  <a:pt x="1759219" y="653143"/>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矩形 28">
            <a:extLst>
              <a:ext uri="{FF2B5EF4-FFF2-40B4-BE49-F238E27FC236}">
                <a16:creationId xmlns:a16="http://schemas.microsoft.com/office/drawing/2014/main" id="{C62E4246-C4F2-4DDA-91E5-9A6559A2AA4E}"/>
              </a:ext>
            </a:extLst>
          </p:cNvPr>
          <p:cNvSpPr>
            <a:spLocks noChangeArrowheads="1"/>
          </p:cNvSpPr>
          <p:nvPr/>
        </p:nvSpPr>
        <p:spPr bwMode="auto">
          <a:xfrm>
            <a:off x="4543425" y="4038600"/>
            <a:ext cx="80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截止</a:t>
            </a:r>
          </a:p>
        </p:txBody>
      </p:sp>
      <p:sp>
        <p:nvSpPr>
          <p:cNvPr id="30" name="矩形 29">
            <a:extLst>
              <a:ext uri="{FF2B5EF4-FFF2-40B4-BE49-F238E27FC236}">
                <a16:creationId xmlns:a16="http://schemas.microsoft.com/office/drawing/2014/main" id="{6F208E62-5106-41BC-AE5C-5530CB9A3988}"/>
              </a:ext>
            </a:extLst>
          </p:cNvPr>
          <p:cNvSpPr>
            <a:spLocks noChangeArrowheads="1"/>
          </p:cNvSpPr>
          <p:nvPr/>
        </p:nvSpPr>
        <p:spPr bwMode="auto">
          <a:xfrm>
            <a:off x="5408613" y="4041775"/>
            <a:ext cx="493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通</a:t>
            </a:r>
          </a:p>
        </p:txBody>
      </p:sp>
      <p:sp>
        <p:nvSpPr>
          <p:cNvPr id="31" name="矩形 30">
            <a:extLst>
              <a:ext uri="{FF2B5EF4-FFF2-40B4-BE49-F238E27FC236}">
                <a16:creationId xmlns:a16="http://schemas.microsoft.com/office/drawing/2014/main" id="{D646D213-740F-41A2-B6CC-E553628DC0F9}"/>
              </a:ext>
            </a:extLst>
          </p:cNvPr>
          <p:cNvSpPr>
            <a:spLocks noChangeArrowheads="1"/>
          </p:cNvSpPr>
          <p:nvPr/>
        </p:nvSpPr>
        <p:spPr bwMode="auto">
          <a:xfrm>
            <a:off x="6891338" y="4049713"/>
            <a:ext cx="4953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通</a:t>
            </a:r>
          </a:p>
        </p:txBody>
      </p:sp>
      <p:sp>
        <p:nvSpPr>
          <p:cNvPr id="618496" name="任意多边形 618495">
            <a:extLst>
              <a:ext uri="{FF2B5EF4-FFF2-40B4-BE49-F238E27FC236}">
                <a16:creationId xmlns:a16="http://schemas.microsoft.com/office/drawing/2014/main" id="{9009636C-A4C5-46D7-BD23-3D3B442BF23E}"/>
              </a:ext>
            </a:extLst>
          </p:cNvPr>
          <p:cNvSpPr>
            <a:spLocks/>
          </p:cNvSpPr>
          <p:nvPr/>
        </p:nvSpPr>
        <p:spPr bwMode="auto">
          <a:xfrm>
            <a:off x="6542088" y="4092575"/>
            <a:ext cx="757237" cy="1430338"/>
          </a:xfrm>
          <a:custGeom>
            <a:avLst/>
            <a:gdLst>
              <a:gd name="T0" fmla="*/ 743021 w 757535"/>
              <a:gd name="T1" fmla="*/ 624115 h 1429925"/>
              <a:gd name="T2" fmla="*/ 757535 w 757535"/>
              <a:gd name="T3" fmla="*/ 783772 h 1429925"/>
              <a:gd name="T4" fmla="*/ 743021 w 757535"/>
              <a:gd name="T5" fmla="*/ 1103086 h 1429925"/>
              <a:gd name="T6" fmla="*/ 743021 w 757535"/>
              <a:gd name="T7" fmla="*/ 1378858 h 1429925"/>
              <a:gd name="T8" fmla="*/ 612393 w 757535"/>
              <a:gd name="T9" fmla="*/ 1422400 h 1429925"/>
              <a:gd name="T10" fmla="*/ 322107 w 757535"/>
              <a:gd name="T11" fmla="*/ 1422400 h 1429925"/>
              <a:gd name="T12" fmla="*/ 104393 w 757535"/>
              <a:gd name="T13" fmla="*/ 1422400 h 1429925"/>
              <a:gd name="T14" fmla="*/ 31821 w 757535"/>
              <a:gd name="T15" fmla="*/ 1320800 h 1429925"/>
              <a:gd name="T16" fmla="*/ 2793 w 757535"/>
              <a:gd name="T17" fmla="*/ 1117600 h 1429925"/>
              <a:gd name="T18" fmla="*/ 2793 w 757535"/>
              <a:gd name="T19" fmla="*/ 740229 h 1429925"/>
              <a:gd name="T20" fmla="*/ 17307 w 757535"/>
              <a:gd name="T21" fmla="*/ 319315 h 1429925"/>
              <a:gd name="T22" fmla="*/ 17307 w 757535"/>
              <a:gd name="T23" fmla="*/ 72572 h 1429925"/>
              <a:gd name="T24" fmla="*/ 162450 w 757535"/>
              <a:gd name="T25" fmla="*/ 14515 h 1429925"/>
              <a:gd name="T26" fmla="*/ 409193 w 757535"/>
              <a:gd name="T27" fmla="*/ 0 h 14299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57535" h="1429925">
                <a:moveTo>
                  <a:pt x="743021" y="624115"/>
                </a:moveTo>
                <a:cubicBezTo>
                  <a:pt x="750278" y="664029"/>
                  <a:pt x="757535" y="703944"/>
                  <a:pt x="757535" y="783772"/>
                </a:cubicBezTo>
                <a:cubicBezTo>
                  <a:pt x="757535" y="863600"/>
                  <a:pt x="745440" y="1003905"/>
                  <a:pt x="743021" y="1103086"/>
                </a:cubicBezTo>
                <a:cubicBezTo>
                  <a:pt x="740602" y="1202267"/>
                  <a:pt x="764792" y="1325639"/>
                  <a:pt x="743021" y="1378858"/>
                </a:cubicBezTo>
                <a:cubicBezTo>
                  <a:pt x="721250" y="1432077"/>
                  <a:pt x="682545" y="1415143"/>
                  <a:pt x="612393" y="1422400"/>
                </a:cubicBezTo>
                <a:cubicBezTo>
                  <a:pt x="542241" y="1429657"/>
                  <a:pt x="322107" y="1422400"/>
                  <a:pt x="322107" y="1422400"/>
                </a:cubicBezTo>
                <a:cubicBezTo>
                  <a:pt x="237440" y="1422400"/>
                  <a:pt x="152774" y="1439333"/>
                  <a:pt x="104393" y="1422400"/>
                </a:cubicBezTo>
                <a:cubicBezTo>
                  <a:pt x="56012" y="1405467"/>
                  <a:pt x="48754" y="1371600"/>
                  <a:pt x="31821" y="1320800"/>
                </a:cubicBezTo>
                <a:cubicBezTo>
                  <a:pt x="14888" y="1270000"/>
                  <a:pt x="7631" y="1214362"/>
                  <a:pt x="2793" y="1117600"/>
                </a:cubicBezTo>
                <a:cubicBezTo>
                  <a:pt x="-2045" y="1020838"/>
                  <a:pt x="374" y="873276"/>
                  <a:pt x="2793" y="740229"/>
                </a:cubicBezTo>
                <a:cubicBezTo>
                  <a:pt x="5212" y="607182"/>
                  <a:pt x="14888" y="430591"/>
                  <a:pt x="17307" y="319315"/>
                </a:cubicBezTo>
                <a:cubicBezTo>
                  <a:pt x="19726" y="208039"/>
                  <a:pt x="-6883" y="123372"/>
                  <a:pt x="17307" y="72572"/>
                </a:cubicBezTo>
                <a:cubicBezTo>
                  <a:pt x="41497" y="21772"/>
                  <a:pt x="97136" y="26610"/>
                  <a:pt x="162450" y="14515"/>
                </a:cubicBezTo>
                <a:cubicBezTo>
                  <a:pt x="227764" y="2420"/>
                  <a:pt x="318478" y="1210"/>
                  <a:pt x="409193" y="0"/>
                </a:cubicBezTo>
              </a:path>
            </a:pathLst>
          </a:custGeom>
          <a:noFill/>
          <a:ln w="9525"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矩形 33">
            <a:extLst>
              <a:ext uri="{FF2B5EF4-FFF2-40B4-BE49-F238E27FC236}">
                <a16:creationId xmlns:a16="http://schemas.microsoft.com/office/drawing/2014/main" id="{305C4678-1353-4CCF-BC85-EF72DB7123D4}"/>
              </a:ext>
            </a:extLst>
          </p:cNvPr>
          <p:cNvSpPr>
            <a:spLocks noChangeArrowheads="1"/>
          </p:cNvSpPr>
          <p:nvPr/>
        </p:nvSpPr>
        <p:spPr bwMode="auto">
          <a:xfrm>
            <a:off x="7391400" y="406400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p>
        </p:txBody>
      </p:sp>
      <p:grpSp>
        <p:nvGrpSpPr>
          <p:cNvPr id="39" name="组合 38">
            <a:extLst>
              <a:ext uri="{FF2B5EF4-FFF2-40B4-BE49-F238E27FC236}">
                <a16:creationId xmlns:a16="http://schemas.microsoft.com/office/drawing/2014/main" id="{003B5464-9EA7-41AB-810A-3F510B353AAB}"/>
              </a:ext>
            </a:extLst>
          </p:cNvPr>
          <p:cNvGrpSpPr>
            <a:grpSpLocks/>
          </p:cNvGrpSpPr>
          <p:nvPr/>
        </p:nvGrpSpPr>
        <p:grpSpPr bwMode="auto">
          <a:xfrm>
            <a:off x="4873625" y="3201988"/>
            <a:ext cx="3609975" cy="409575"/>
            <a:chOff x="4874106" y="3303641"/>
            <a:chExt cx="3611027" cy="409187"/>
          </a:xfrm>
        </p:grpSpPr>
        <p:sp>
          <p:nvSpPr>
            <p:cNvPr id="110637" name="矩形 39">
              <a:extLst>
                <a:ext uri="{FF2B5EF4-FFF2-40B4-BE49-F238E27FC236}">
                  <a16:creationId xmlns:a16="http://schemas.microsoft.com/office/drawing/2014/main" id="{61E787F7-B219-4482-8837-B2F7EEF7BB6B}"/>
                </a:ext>
              </a:extLst>
            </p:cNvPr>
            <p:cNvSpPr>
              <a:spLocks noChangeArrowheads="1"/>
            </p:cNvSpPr>
            <p:nvPr/>
          </p:nvSpPr>
          <p:spPr bwMode="auto">
            <a:xfrm>
              <a:off x="6095382" y="3312718"/>
              <a:ext cx="7729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30μA</a:t>
              </a:r>
              <a:endParaRPr lang="zh-CN" altLang="en-US" sz="2000" b="1">
                <a:solidFill>
                  <a:srgbClr val="00B050"/>
                </a:solidFill>
              </a:endParaRPr>
            </a:p>
          </p:txBody>
        </p:sp>
        <p:sp>
          <p:nvSpPr>
            <p:cNvPr id="110638" name="矩形 40">
              <a:extLst>
                <a:ext uri="{FF2B5EF4-FFF2-40B4-BE49-F238E27FC236}">
                  <a16:creationId xmlns:a16="http://schemas.microsoft.com/office/drawing/2014/main" id="{4EB33396-4CDC-4F5D-8731-D0D91219D1EE}"/>
                </a:ext>
              </a:extLst>
            </p:cNvPr>
            <p:cNvSpPr>
              <a:spLocks noChangeArrowheads="1"/>
            </p:cNvSpPr>
            <p:nvPr/>
          </p:nvSpPr>
          <p:spPr bwMode="auto">
            <a:xfrm>
              <a:off x="4874106" y="3312640"/>
              <a:ext cx="8402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20mA</a:t>
              </a:r>
              <a:endParaRPr lang="zh-CN" altLang="en-US" sz="2000" b="1">
                <a:solidFill>
                  <a:srgbClr val="00B050"/>
                </a:solidFill>
              </a:endParaRPr>
            </a:p>
          </p:txBody>
        </p:sp>
        <p:sp>
          <p:nvSpPr>
            <p:cNvPr id="110639" name="矩形 41">
              <a:extLst>
                <a:ext uri="{FF2B5EF4-FFF2-40B4-BE49-F238E27FC236}">
                  <a16:creationId xmlns:a16="http://schemas.microsoft.com/office/drawing/2014/main" id="{A2281E88-019F-4650-A7E7-5BC91CD87063}"/>
                </a:ext>
              </a:extLst>
            </p:cNvPr>
            <p:cNvSpPr>
              <a:spLocks noChangeArrowheads="1"/>
            </p:cNvSpPr>
            <p:nvPr/>
          </p:nvSpPr>
          <p:spPr bwMode="auto">
            <a:xfrm>
              <a:off x="7583924" y="3303641"/>
              <a:ext cx="9012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B050"/>
                  </a:solidFill>
                  <a:cs typeface="Times New Roman" panose="02020603050405020304" pitchFamily="18" charset="0"/>
                </a:rPr>
                <a:t>200μA</a:t>
              </a:r>
              <a:endParaRPr lang="zh-CN" altLang="en-US" sz="2000" b="1">
                <a:solidFill>
                  <a:srgbClr val="00B050"/>
                </a:solidFill>
              </a:endParaRPr>
            </a:p>
          </p:txBody>
        </p:sp>
      </p:grpSp>
      <p:sp>
        <p:nvSpPr>
          <p:cNvPr id="43" name="Rectangle 3">
            <a:extLst>
              <a:ext uri="{FF2B5EF4-FFF2-40B4-BE49-F238E27FC236}">
                <a16:creationId xmlns:a16="http://schemas.microsoft.com/office/drawing/2014/main" id="{7E6A7205-002A-4AC5-9ED8-567ECF46FFAE}"/>
              </a:ext>
            </a:extLst>
          </p:cNvPr>
          <p:cNvSpPr txBox="1">
            <a:spLocks noChangeArrowheads="1"/>
          </p:cNvSpPr>
          <p:nvPr/>
        </p:nvSpPr>
        <p:spPr bwMode="auto">
          <a:xfrm>
            <a:off x="127000" y="1661603"/>
            <a:ext cx="8828088"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3"/>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5113" lvl="1" indent="-265113" algn="l" eaLnBrk="1" hangingPunct="1">
              <a:lnSpc>
                <a:spcPct val="101000"/>
              </a:lnSpc>
              <a:spcBef>
                <a:spcPts val="0"/>
              </a:spcBef>
              <a:spcAft>
                <a:spcPts val="200"/>
              </a:spcAft>
              <a:buClr>
                <a:srgbClr val="7030A0"/>
              </a:buClr>
              <a:buSzPct val="70000"/>
              <a:buFont typeface="Wingdings" panose="05000000000000000000" pitchFamily="2" charset="2"/>
              <a:buChar char="u"/>
              <a:defRPr/>
            </a:pPr>
            <a:r>
              <a:rPr lang="zh-CN" altLang="en-US" kern="0" dirty="0">
                <a:latin typeface="Times New Roman" panose="02020603050405020304" pitchFamily="18" charset="0"/>
                <a:cs typeface="Times New Roman" panose="02020603050405020304" pitchFamily="18" charset="0"/>
              </a:rPr>
              <a:t>当口线输出锁存器为</a:t>
            </a:r>
            <a:r>
              <a:rPr lang="en-US" altLang="zh-CN" kern="0" dirty="0">
                <a:latin typeface="Times New Roman" panose="02020603050405020304" pitchFamily="18" charset="0"/>
                <a:cs typeface="Times New Roman" panose="02020603050405020304" pitchFamily="18" charset="0"/>
              </a:rPr>
              <a:t>“</a:t>
            </a:r>
            <a:r>
              <a:rPr lang="en-US" altLang="zh-CN" kern="0" dirty="0">
                <a:solidFill>
                  <a:srgbClr val="FF0000"/>
                </a:solidFill>
                <a:latin typeface="Times New Roman" panose="02020603050405020304" pitchFamily="18" charset="0"/>
                <a:cs typeface="Times New Roman" panose="02020603050405020304" pitchFamily="18" charset="0"/>
              </a:rPr>
              <a:t>1</a:t>
            </a:r>
            <a:r>
              <a:rPr lang="en-US" altLang="zh-CN" kern="0" dirty="0">
                <a:latin typeface="Times New Roman" panose="02020603050405020304" pitchFamily="18" charset="0"/>
                <a:cs typeface="Times New Roman" panose="02020603050405020304" pitchFamily="18" charset="0"/>
              </a:rPr>
              <a:t>”</a:t>
            </a:r>
            <a:r>
              <a:rPr lang="zh-CN" altLang="en-US" kern="0" dirty="0">
                <a:latin typeface="Times New Roman" panose="02020603050405020304" pitchFamily="18" charset="0"/>
                <a:cs typeface="Times New Roman" panose="02020603050405020304" pitchFamily="18" charset="0"/>
              </a:rPr>
              <a:t>时</a:t>
            </a:r>
            <a:r>
              <a:rPr lang="en-US" altLang="zh-CN" kern="0" dirty="0">
                <a:latin typeface="Times New Roman" panose="02020603050405020304" pitchFamily="18" charset="0"/>
                <a:cs typeface="Times New Roman" panose="02020603050405020304" pitchFamily="18" charset="0"/>
              </a:rPr>
              <a:t>I/O</a:t>
            </a:r>
            <a:r>
              <a:rPr lang="zh-CN" altLang="en-US" kern="0" dirty="0">
                <a:latin typeface="Times New Roman" panose="02020603050405020304" pitchFamily="18" charset="0"/>
                <a:cs typeface="Times New Roman" panose="02020603050405020304" pitchFamily="18" charset="0"/>
              </a:rPr>
              <a:t>口高电平驱动能力很弱</a:t>
            </a:r>
            <a:r>
              <a:rPr lang="en-US" altLang="zh-CN" kern="0" dirty="0">
                <a:latin typeface="Times New Roman" panose="02020603050405020304" pitchFamily="18" charset="0"/>
                <a:cs typeface="Times New Roman" panose="02020603050405020304" pitchFamily="18" charset="0"/>
              </a:rPr>
              <a:t>,</a:t>
            </a:r>
            <a:endParaRPr lang="zh-CN" altLang="en-US" kern="0" dirty="0">
              <a:latin typeface="Times New Roman" panose="02020603050405020304" pitchFamily="18" charset="0"/>
              <a:cs typeface="Times New Roman" panose="02020603050405020304" pitchFamily="18" charset="0"/>
            </a:endParaRPr>
          </a:p>
        </p:txBody>
      </p:sp>
      <p:sp>
        <p:nvSpPr>
          <p:cNvPr id="44" name="矩形 43">
            <a:extLst>
              <a:ext uri="{FF2B5EF4-FFF2-40B4-BE49-F238E27FC236}">
                <a16:creationId xmlns:a16="http://schemas.microsoft.com/office/drawing/2014/main" id="{355AA3B7-664F-4309-AE8C-60016D72200B}"/>
              </a:ext>
            </a:extLst>
          </p:cNvPr>
          <p:cNvSpPr/>
          <p:nvPr/>
        </p:nvSpPr>
        <p:spPr>
          <a:xfrm>
            <a:off x="8377238" y="4111625"/>
            <a:ext cx="817562" cy="646113"/>
          </a:xfrm>
          <a:prstGeom prst="rect">
            <a:avLst/>
          </a:prstGeom>
        </p:spPr>
        <p:txBody>
          <a:bodyPr wrap="none">
            <a:spAutoFit/>
          </a:bodyPr>
          <a:lstStyle/>
          <a:p>
            <a:pPr algn="ctr" eaLnBrk="1" hangingPunct="1">
              <a:defRPr/>
            </a:pPr>
            <a:r>
              <a:rPr lang="en-US" altLang="zh-CN" sz="3600" b="1" spc="-300" dirty="0">
                <a:solidFill>
                  <a:srgbClr val="00B050"/>
                </a:solidFill>
              </a:rPr>
              <a:t>0</a:t>
            </a:r>
            <a:r>
              <a:rPr lang="zh-CN" altLang="en-US" sz="2000" b="1" spc="-300" dirty="0">
                <a:solidFill>
                  <a:srgbClr val="00B050"/>
                </a:solidFill>
              </a:rPr>
              <a:t>输入</a:t>
            </a:r>
          </a:p>
        </p:txBody>
      </p:sp>
      <p:sp>
        <p:nvSpPr>
          <p:cNvPr id="45" name="任意多边形 44">
            <a:extLst>
              <a:ext uri="{FF2B5EF4-FFF2-40B4-BE49-F238E27FC236}">
                <a16:creationId xmlns:a16="http://schemas.microsoft.com/office/drawing/2014/main" id="{E825B948-C474-42D7-A939-D0FB3433B679}"/>
              </a:ext>
            </a:extLst>
          </p:cNvPr>
          <p:cNvSpPr>
            <a:spLocks/>
          </p:cNvSpPr>
          <p:nvPr/>
        </p:nvSpPr>
        <p:spPr bwMode="auto">
          <a:xfrm>
            <a:off x="6557963" y="4092575"/>
            <a:ext cx="758825" cy="1430338"/>
          </a:xfrm>
          <a:custGeom>
            <a:avLst/>
            <a:gdLst>
              <a:gd name="T0" fmla="*/ 743021 w 757535"/>
              <a:gd name="T1" fmla="*/ 624115 h 1429925"/>
              <a:gd name="T2" fmla="*/ 757535 w 757535"/>
              <a:gd name="T3" fmla="*/ 783772 h 1429925"/>
              <a:gd name="T4" fmla="*/ 743021 w 757535"/>
              <a:gd name="T5" fmla="*/ 1103086 h 1429925"/>
              <a:gd name="T6" fmla="*/ 743021 w 757535"/>
              <a:gd name="T7" fmla="*/ 1378858 h 1429925"/>
              <a:gd name="T8" fmla="*/ 612393 w 757535"/>
              <a:gd name="T9" fmla="*/ 1422400 h 1429925"/>
              <a:gd name="T10" fmla="*/ 322107 w 757535"/>
              <a:gd name="T11" fmla="*/ 1422400 h 1429925"/>
              <a:gd name="T12" fmla="*/ 104393 w 757535"/>
              <a:gd name="T13" fmla="*/ 1422400 h 1429925"/>
              <a:gd name="T14" fmla="*/ 31821 w 757535"/>
              <a:gd name="T15" fmla="*/ 1320800 h 1429925"/>
              <a:gd name="T16" fmla="*/ 2793 w 757535"/>
              <a:gd name="T17" fmla="*/ 1117600 h 1429925"/>
              <a:gd name="T18" fmla="*/ 2793 w 757535"/>
              <a:gd name="T19" fmla="*/ 740229 h 1429925"/>
              <a:gd name="T20" fmla="*/ 17307 w 757535"/>
              <a:gd name="T21" fmla="*/ 319315 h 1429925"/>
              <a:gd name="T22" fmla="*/ 17307 w 757535"/>
              <a:gd name="T23" fmla="*/ 72572 h 1429925"/>
              <a:gd name="T24" fmla="*/ 162450 w 757535"/>
              <a:gd name="T25" fmla="*/ 14515 h 1429925"/>
              <a:gd name="T26" fmla="*/ 409193 w 757535"/>
              <a:gd name="T27" fmla="*/ 0 h 14299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57535" h="1429925">
                <a:moveTo>
                  <a:pt x="743021" y="624115"/>
                </a:moveTo>
                <a:cubicBezTo>
                  <a:pt x="750278" y="664029"/>
                  <a:pt x="757535" y="703944"/>
                  <a:pt x="757535" y="783772"/>
                </a:cubicBezTo>
                <a:cubicBezTo>
                  <a:pt x="757535" y="863600"/>
                  <a:pt x="745440" y="1003905"/>
                  <a:pt x="743021" y="1103086"/>
                </a:cubicBezTo>
                <a:cubicBezTo>
                  <a:pt x="740602" y="1202267"/>
                  <a:pt x="764792" y="1325639"/>
                  <a:pt x="743021" y="1378858"/>
                </a:cubicBezTo>
                <a:cubicBezTo>
                  <a:pt x="721250" y="1432077"/>
                  <a:pt x="682545" y="1415143"/>
                  <a:pt x="612393" y="1422400"/>
                </a:cubicBezTo>
                <a:cubicBezTo>
                  <a:pt x="542241" y="1429657"/>
                  <a:pt x="322107" y="1422400"/>
                  <a:pt x="322107" y="1422400"/>
                </a:cubicBezTo>
                <a:cubicBezTo>
                  <a:pt x="237440" y="1422400"/>
                  <a:pt x="152774" y="1439333"/>
                  <a:pt x="104393" y="1422400"/>
                </a:cubicBezTo>
                <a:cubicBezTo>
                  <a:pt x="56012" y="1405467"/>
                  <a:pt x="48754" y="1371600"/>
                  <a:pt x="31821" y="1320800"/>
                </a:cubicBezTo>
                <a:cubicBezTo>
                  <a:pt x="14888" y="1270000"/>
                  <a:pt x="7631" y="1214362"/>
                  <a:pt x="2793" y="1117600"/>
                </a:cubicBezTo>
                <a:cubicBezTo>
                  <a:pt x="-2045" y="1020838"/>
                  <a:pt x="374" y="873276"/>
                  <a:pt x="2793" y="740229"/>
                </a:cubicBezTo>
                <a:cubicBezTo>
                  <a:pt x="5212" y="607182"/>
                  <a:pt x="14888" y="430591"/>
                  <a:pt x="17307" y="319315"/>
                </a:cubicBezTo>
                <a:cubicBezTo>
                  <a:pt x="19726" y="208039"/>
                  <a:pt x="-6883" y="123372"/>
                  <a:pt x="17307" y="72572"/>
                </a:cubicBezTo>
                <a:cubicBezTo>
                  <a:pt x="41497" y="21772"/>
                  <a:pt x="97136" y="26610"/>
                  <a:pt x="162450" y="14515"/>
                </a:cubicBezTo>
                <a:cubicBezTo>
                  <a:pt x="227764" y="2420"/>
                  <a:pt x="318478" y="1210"/>
                  <a:pt x="409193" y="0"/>
                </a:cubicBezTo>
              </a:path>
            </a:pathLst>
          </a:custGeom>
          <a:noFill/>
          <a:ln w="38100" cap="flat" cmpd="sng" algn="ctr">
            <a:solidFill>
              <a:srgbClr val="00B05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矩形 45">
            <a:extLst>
              <a:ext uri="{FF2B5EF4-FFF2-40B4-BE49-F238E27FC236}">
                <a16:creationId xmlns:a16="http://schemas.microsoft.com/office/drawing/2014/main" id="{4EFB57A6-F4E9-4A32-9FF9-255E9B2C4FDD}"/>
              </a:ext>
            </a:extLst>
          </p:cNvPr>
          <p:cNvSpPr>
            <a:spLocks noChangeArrowheads="1"/>
          </p:cNvSpPr>
          <p:nvPr/>
        </p:nvSpPr>
        <p:spPr bwMode="auto">
          <a:xfrm>
            <a:off x="7002463" y="4089400"/>
            <a:ext cx="309562"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00B050"/>
                </a:solidFill>
              </a:rPr>
              <a:t>止</a:t>
            </a:r>
          </a:p>
        </p:txBody>
      </p:sp>
      <p:grpSp>
        <p:nvGrpSpPr>
          <p:cNvPr id="47" name="组合 46">
            <a:extLst>
              <a:ext uri="{FF2B5EF4-FFF2-40B4-BE49-F238E27FC236}">
                <a16:creationId xmlns:a16="http://schemas.microsoft.com/office/drawing/2014/main" id="{14DD56FF-EA86-44F0-949F-47CEA64FDC6F}"/>
              </a:ext>
            </a:extLst>
          </p:cNvPr>
          <p:cNvGrpSpPr>
            <a:grpSpLocks/>
          </p:cNvGrpSpPr>
          <p:nvPr/>
        </p:nvGrpSpPr>
        <p:grpSpPr bwMode="auto">
          <a:xfrm>
            <a:off x="8334375" y="4619625"/>
            <a:ext cx="641350" cy="1884363"/>
            <a:chOff x="8390097" y="4627084"/>
            <a:chExt cx="641132" cy="1884822"/>
          </a:xfrm>
        </p:grpSpPr>
        <p:pic>
          <p:nvPicPr>
            <p:cNvPr id="110634" name="图片 47">
              <a:extLst>
                <a:ext uri="{FF2B5EF4-FFF2-40B4-BE49-F238E27FC236}">
                  <a16:creationId xmlns:a16="http://schemas.microsoft.com/office/drawing/2014/main" id="{BBC441C9-3416-44B4-8A98-16D0A5BE42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90097" y="5380031"/>
              <a:ext cx="641132" cy="11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0635" name="直接连接符 48">
              <a:extLst>
                <a:ext uri="{FF2B5EF4-FFF2-40B4-BE49-F238E27FC236}">
                  <a16:creationId xmlns:a16="http://schemas.microsoft.com/office/drawing/2014/main" id="{22D94149-8F17-4A1C-8BD3-13420377ED0F}"/>
                </a:ext>
              </a:extLst>
            </p:cNvPr>
            <p:cNvCxnSpPr>
              <a:cxnSpLocks/>
            </p:cNvCxnSpPr>
            <p:nvPr/>
          </p:nvCxnSpPr>
          <p:spPr bwMode="auto">
            <a:xfrm>
              <a:off x="8469491" y="4627084"/>
              <a:ext cx="197104" cy="0"/>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636" name="直接连接符 49">
              <a:extLst>
                <a:ext uri="{FF2B5EF4-FFF2-40B4-BE49-F238E27FC236}">
                  <a16:creationId xmlns:a16="http://schemas.microsoft.com/office/drawing/2014/main" id="{5224FA28-EDAD-4443-B6C8-075EF7CBED39}"/>
                </a:ext>
              </a:extLst>
            </p:cNvPr>
            <p:cNvCxnSpPr>
              <a:cxnSpLocks noChangeShapeType="1"/>
            </p:cNvCxnSpPr>
            <p:nvPr/>
          </p:nvCxnSpPr>
          <p:spPr bwMode="auto">
            <a:xfrm>
              <a:off x="8666595" y="4627084"/>
              <a:ext cx="0" cy="752947"/>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6" name="矩形 55">
            <a:extLst>
              <a:ext uri="{FF2B5EF4-FFF2-40B4-BE49-F238E27FC236}">
                <a16:creationId xmlns:a16="http://schemas.microsoft.com/office/drawing/2014/main" id="{9D3CAF2C-2AC8-4F4F-8217-68443F8E6DE2}"/>
              </a:ext>
            </a:extLst>
          </p:cNvPr>
          <p:cNvSpPr/>
          <p:nvPr/>
        </p:nvSpPr>
        <p:spPr>
          <a:xfrm>
            <a:off x="7375525" y="4000500"/>
            <a:ext cx="352425" cy="585788"/>
          </a:xfrm>
          <a:prstGeom prst="rect">
            <a:avLst/>
          </a:prstGeom>
        </p:spPr>
        <p:txBody>
          <a:bodyPr wrap="none">
            <a:spAutoFit/>
          </a:bodyPr>
          <a:lstStyle/>
          <a:p>
            <a:pPr algn="ctr" eaLnBrk="1" hangingPunct="1">
              <a:defRPr/>
            </a:pPr>
            <a:r>
              <a:rPr lang="en-US" altLang="zh-CN" sz="3200" b="1" spc="-300" dirty="0">
                <a:solidFill>
                  <a:srgbClr val="00B050"/>
                </a:solidFill>
              </a:rPr>
              <a:t>0</a:t>
            </a:r>
            <a:endParaRPr lang="zh-CN" altLang="en-US" b="1" spc="-300" dirty="0">
              <a:solidFill>
                <a:srgbClr val="00B050"/>
              </a:solidFill>
            </a:endParaRPr>
          </a:p>
        </p:txBody>
      </p:sp>
      <p:sp>
        <p:nvSpPr>
          <p:cNvPr id="51" name="矩形 50">
            <a:extLst>
              <a:ext uri="{FF2B5EF4-FFF2-40B4-BE49-F238E27FC236}">
                <a16:creationId xmlns:a16="http://schemas.microsoft.com/office/drawing/2014/main" id="{EA1D512F-8FB8-4B2A-862B-9CF50EE7CF2A}"/>
              </a:ext>
            </a:extLst>
          </p:cNvPr>
          <p:cNvSpPr/>
          <p:nvPr/>
        </p:nvSpPr>
        <p:spPr>
          <a:xfrm>
            <a:off x="7961313" y="3584575"/>
            <a:ext cx="1071562" cy="593725"/>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0000FF"/>
                </a:solidFill>
                <a:cs typeface="Times New Roman" panose="02020603050405020304" pitchFamily="18" charset="0"/>
              </a:rPr>
              <a:t>例</a:t>
            </a:r>
            <a:r>
              <a:rPr lang="en-US" altLang="zh-CN" sz="2400" b="1" kern="0" dirty="0">
                <a:solidFill>
                  <a:srgbClr val="0000FF"/>
                </a:solidFill>
                <a:cs typeface="Times New Roman" panose="02020603050405020304" pitchFamily="18" charset="0"/>
              </a:rPr>
              <a:t>:</a:t>
            </a:r>
            <a:r>
              <a:rPr lang="zh-CN" altLang="en-US" sz="2400" b="1" kern="0" dirty="0">
                <a:solidFill>
                  <a:srgbClr val="0000FF"/>
                </a:solidFill>
                <a:cs typeface="Times New Roman" panose="02020603050405020304" pitchFamily="18" charset="0"/>
              </a:rPr>
              <a:t>口线</a:t>
            </a:r>
            <a:r>
              <a:rPr lang="en-US" altLang="zh-CN" sz="2400" b="1" kern="0" dirty="0">
                <a:solidFill>
                  <a:srgbClr val="0000FF"/>
                </a:solidFill>
                <a:cs typeface="Times New Roman" panose="02020603050405020304" pitchFamily="18" charset="0"/>
              </a:rPr>
              <a:t>P1.2</a:t>
            </a:r>
            <a:endParaRPr lang="en-US" altLang="zh-CN" sz="2400" b="1" dirty="0">
              <a:solidFill>
                <a:srgbClr val="0000FF"/>
              </a:solidFill>
              <a:ea typeface="宋体" charset="-122"/>
              <a:cs typeface="Times New Roman" pitchFamily="18" charset="0"/>
            </a:endParaRPr>
          </a:p>
        </p:txBody>
      </p:sp>
      <p:sp>
        <p:nvSpPr>
          <p:cNvPr id="57" name="矩形 56">
            <a:extLst>
              <a:ext uri="{FF2B5EF4-FFF2-40B4-BE49-F238E27FC236}">
                <a16:creationId xmlns:a16="http://schemas.microsoft.com/office/drawing/2014/main" id="{183547B8-C132-4CA5-8E27-0482DF1DC32C}"/>
              </a:ext>
            </a:extLst>
          </p:cNvPr>
          <p:cNvSpPr/>
          <p:nvPr/>
        </p:nvSpPr>
        <p:spPr>
          <a:xfrm>
            <a:off x="88900" y="5445125"/>
            <a:ext cx="1350963" cy="866775"/>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0000FF"/>
                </a:solidFill>
                <a:cs typeface="Times New Roman" panose="02020603050405020304" pitchFamily="18" charset="0"/>
              </a:rPr>
              <a:t>例</a:t>
            </a:r>
            <a:r>
              <a:rPr lang="en-US" altLang="zh-CN" sz="2400" b="1" kern="0" dirty="0">
                <a:solidFill>
                  <a:srgbClr val="0000FF"/>
                </a:solidFill>
                <a:cs typeface="Times New Roman" panose="02020603050405020304" pitchFamily="18" charset="0"/>
              </a:rPr>
              <a:t>:</a:t>
            </a:r>
            <a:r>
              <a:rPr lang="zh-CN" altLang="en-US" sz="2400" b="1" kern="0" dirty="0">
                <a:solidFill>
                  <a:srgbClr val="0000FF"/>
                </a:solidFill>
                <a:cs typeface="Times New Roman" panose="02020603050405020304" pitchFamily="18" charset="0"/>
              </a:rPr>
              <a:t>口线</a:t>
            </a:r>
            <a:r>
              <a:rPr lang="en-US" altLang="zh-CN" sz="2400" b="1" kern="0" dirty="0">
                <a:solidFill>
                  <a:srgbClr val="0000FF"/>
                </a:solidFill>
                <a:cs typeface="Times New Roman" panose="02020603050405020304" pitchFamily="18" charset="0"/>
              </a:rPr>
              <a:t>P1.2</a:t>
            </a:r>
            <a:r>
              <a:rPr lang="zh-CN" altLang="en-US" sz="2400" b="1" kern="0" dirty="0">
                <a:solidFill>
                  <a:srgbClr val="0000FF"/>
                </a:solidFill>
                <a:cs typeface="Times New Roman" panose="02020603050405020304" pitchFamily="18" charset="0"/>
              </a:rPr>
              <a:t>的锁存器位</a:t>
            </a:r>
            <a:endParaRPr lang="en-US" altLang="zh-CN" sz="2400" b="1" dirty="0">
              <a:solidFill>
                <a:srgbClr val="0000FF"/>
              </a:solidFill>
              <a:ea typeface="宋体" charset="-122"/>
              <a:cs typeface="Times New Roman" pitchFamily="18" charset="0"/>
            </a:endParaRPr>
          </a:p>
        </p:txBody>
      </p:sp>
      <p:grpSp>
        <p:nvGrpSpPr>
          <p:cNvPr id="58" name="组合 57">
            <a:extLst>
              <a:ext uri="{FF2B5EF4-FFF2-40B4-BE49-F238E27FC236}">
                <a16:creationId xmlns:a16="http://schemas.microsoft.com/office/drawing/2014/main" id="{0DE56E41-0ED8-44DE-ACDD-B09045242B18}"/>
              </a:ext>
            </a:extLst>
          </p:cNvPr>
          <p:cNvGrpSpPr>
            <a:grpSpLocks/>
          </p:cNvGrpSpPr>
          <p:nvPr/>
        </p:nvGrpSpPr>
        <p:grpSpPr bwMode="auto">
          <a:xfrm>
            <a:off x="9091613" y="3208338"/>
            <a:ext cx="620712" cy="1412875"/>
            <a:chOff x="8466965" y="3220133"/>
            <a:chExt cx="620077" cy="1412460"/>
          </a:xfrm>
        </p:grpSpPr>
        <p:pic>
          <p:nvPicPr>
            <p:cNvPr id="110630" name="图片 58">
              <a:extLst>
                <a:ext uri="{FF2B5EF4-FFF2-40B4-BE49-F238E27FC236}">
                  <a16:creationId xmlns:a16="http://schemas.microsoft.com/office/drawing/2014/main" id="{8A78E3C4-B9F1-4547-B15D-B4DD6E45D6A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88415" y="3220133"/>
              <a:ext cx="598627" cy="119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0631" name="直接连接符 59">
              <a:extLst>
                <a:ext uri="{FF2B5EF4-FFF2-40B4-BE49-F238E27FC236}">
                  <a16:creationId xmlns:a16="http://schemas.microsoft.com/office/drawing/2014/main" id="{3FBCC022-2A60-42A0-BEAB-7AAC9DF32417}"/>
                </a:ext>
              </a:extLst>
            </p:cNvPr>
            <p:cNvCxnSpPr>
              <a:cxnSpLocks noChangeShapeType="1"/>
            </p:cNvCxnSpPr>
            <p:nvPr/>
          </p:nvCxnSpPr>
          <p:spPr bwMode="auto">
            <a:xfrm flipV="1">
              <a:off x="8466965" y="4626889"/>
              <a:ext cx="286056" cy="912"/>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632" name="直接连接符 60">
              <a:extLst>
                <a:ext uri="{FF2B5EF4-FFF2-40B4-BE49-F238E27FC236}">
                  <a16:creationId xmlns:a16="http://schemas.microsoft.com/office/drawing/2014/main" id="{AD1E2B5C-71D9-40B3-818A-FB4B4FBF9CE2}"/>
                </a:ext>
              </a:extLst>
            </p:cNvPr>
            <p:cNvCxnSpPr>
              <a:cxnSpLocks noChangeShapeType="1"/>
            </p:cNvCxnSpPr>
            <p:nvPr/>
          </p:nvCxnSpPr>
          <p:spPr bwMode="auto">
            <a:xfrm flipV="1">
              <a:off x="8742004" y="4393765"/>
              <a:ext cx="4480" cy="238828"/>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633" name="直接连接符 62">
              <a:extLst>
                <a:ext uri="{FF2B5EF4-FFF2-40B4-BE49-F238E27FC236}">
                  <a16:creationId xmlns:a16="http://schemas.microsoft.com/office/drawing/2014/main" id="{C25C6F96-7626-4CD2-B06F-B74579D7393A}"/>
                </a:ext>
              </a:extLst>
            </p:cNvPr>
            <p:cNvCxnSpPr>
              <a:cxnSpLocks/>
            </p:cNvCxnSpPr>
            <p:nvPr/>
          </p:nvCxnSpPr>
          <p:spPr bwMode="auto">
            <a:xfrm rot="10800000">
              <a:off x="8702574" y="4055551"/>
              <a:ext cx="314299" cy="182805"/>
            </a:xfrm>
            <a:prstGeom prst="curvedConnector3">
              <a:avLst>
                <a:gd name="adj1" fmla="val 28125"/>
              </a:avLst>
            </a:prstGeom>
            <a:noFill/>
            <a:ln w="28575" algn="ctr">
              <a:solidFill>
                <a:srgbClr val="3333FF"/>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2" name="矩形 61">
            <a:extLst>
              <a:ext uri="{FF2B5EF4-FFF2-40B4-BE49-F238E27FC236}">
                <a16:creationId xmlns:a16="http://schemas.microsoft.com/office/drawing/2014/main" id="{A199FC7C-A4F2-4284-AF6A-2AA2CD8417FA}"/>
              </a:ext>
            </a:extLst>
          </p:cNvPr>
          <p:cNvSpPr/>
          <p:nvPr/>
        </p:nvSpPr>
        <p:spPr>
          <a:xfrm>
            <a:off x="1543050" y="5432425"/>
            <a:ext cx="4125913" cy="314325"/>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FF0000"/>
                </a:solidFill>
                <a:cs typeface="Times New Roman" panose="02020603050405020304" pitchFamily="18" charset="0"/>
              </a:rPr>
              <a:t>此时</a:t>
            </a:r>
            <a:r>
              <a:rPr lang="en-US" altLang="zh-CN" sz="2400" b="1" kern="0" dirty="0">
                <a:solidFill>
                  <a:srgbClr val="FF00FF"/>
                </a:solidFill>
                <a:cs typeface="Times New Roman" panose="02020603050405020304" pitchFamily="18" charset="0"/>
              </a:rPr>
              <a:t>CPU</a:t>
            </a:r>
            <a:r>
              <a:rPr lang="zh-CN" altLang="en-US" sz="2400" b="1" kern="0" dirty="0">
                <a:solidFill>
                  <a:srgbClr val="FF00FF"/>
                </a:solidFill>
                <a:cs typeface="Times New Roman" panose="02020603050405020304" pitchFamily="18" charset="0"/>
              </a:rPr>
              <a:t>可读引脚状态数据</a:t>
            </a:r>
            <a:endParaRPr lang="en-US" altLang="zh-CN" sz="2400" b="1" dirty="0">
              <a:solidFill>
                <a:srgbClr val="FF00FF"/>
              </a:solidFill>
              <a:ea typeface="宋体" charset="-122"/>
              <a:cs typeface="Times New Roman" pitchFamily="18" charset="0"/>
            </a:endParaRPr>
          </a:p>
        </p:txBody>
      </p:sp>
      <p:sp>
        <p:nvSpPr>
          <p:cNvPr id="72" name="矩形 71">
            <a:extLst>
              <a:ext uri="{FF2B5EF4-FFF2-40B4-BE49-F238E27FC236}">
                <a16:creationId xmlns:a16="http://schemas.microsoft.com/office/drawing/2014/main" id="{2395358E-A317-4E8E-A171-DFF057FCA646}"/>
              </a:ext>
            </a:extLst>
          </p:cNvPr>
          <p:cNvSpPr/>
          <p:nvPr/>
        </p:nvSpPr>
        <p:spPr>
          <a:xfrm>
            <a:off x="1809750" y="6137275"/>
            <a:ext cx="3524250" cy="312738"/>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FF0000"/>
                </a:solidFill>
                <a:cs typeface="Times New Roman" panose="02020603050405020304" pitchFamily="18" charset="0"/>
              </a:rPr>
              <a:t>引脚状态可为</a:t>
            </a:r>
            <a:r>
              <a:rPr lang="zh-CN" altLang="en-US" sz="2400" b="1" kern="0" dirty="0">
                <a:solidFill>
                  <a:srgbClr val="0000FF"/>
                </a:solidFill>
                <a:cs typeface="Times New Roman" panose="02020603050405020304" pitchFamily="18" charset="0"/>
              </a:rPr>
              <a:t>高</a:t>
            </a:r>
            <a:r>
              <a:rPr lang="en-US" altLang="zh-CN" sz="2400" b="1" kern="0" dirty="0">
                <a:solidFill>
                  <a:srgbClr val="FF0000"/>
                </a:solidFill>
                <a:cs typeface="Times New Roman" panose="02020603050405020304" pitchFamily="18" charset="0"/>
              </a:rPr>
              <a:t>/</a:t>
            </a:r>
            <a:r>
              <a:rPr lang="zh-CN" altLang="en-US" sz="2400" b="1" kern="0" dirty="0">
                <a:solidFill>
                  <a:srgbClr val="0000FF"/>
                </a:solidFill>
                <a:cs typeface="Times New Roman" panose="02020603050405020304" pitchFamily="18" charset="0"/>
              </a:rPr>
              <a:t>低</a:t>
            </a:r>
            <a:r>
              <a:rPr lang="zh-CN" altLang="en-US" sz="2400" b="1" kern="0" dirty="0">
                <a:solidFill>
                  <a:srgbClr val="FF0000"/>
                </a:solidFill>
                <a:cs typeface="Times New Roman" panose="02020603050405020304" pitchFamily="18" charset="0"/>
              </a:rPr>
              <a:t>电平</a:t>
            </a:r>
            <a:endParaRPr lang="en-US" altLang="zh-CN" sz="2400" b="1" dirty="0">
              <a:solidFill>
                <a:srgbClr val="FF0000"/>
              </a:solidFill>
              <a:ea typeface="宋体" charset="-122"/>
              <a:cs typeface="Times New Roman" pitchFamily="18" charset="0"/>
            </a:endParaRPr>
          </a:p>
        </p:txBody>
      </p:sp>
      <p:sp>
        <p:nvSpPr>
          <p:cNvPr id="73" name="Rectangle 3">
            <a:extLst>
              <a:ext uri="{FF2B5EF4-FFF2-40B4-BE49-F238E27FC236}">
                <a16:creationId xmlns:a16="http://schemas.microsoft.com/office/drawing/2014/main" id="{E10B51F4-0B9C-4BFF-90BE-EAC88282DB31}"/>
              </a:ext>
            </a:extLst>
          </p:cNvPr>
          <p:cNvSpPr txBox="1">
            <a:spLocks noChangeArrowheads="1"/>
          </p:cNvSpPr>
          <p:nvPr/>
        </p:nvSpPr>
        <p:spPr bwMode="auto">
          <a:xfrm>
            <a:off x="88900" y="2222500"/>
            <a:ext cx="8829675" cy="1316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3"/>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5113" lvl="1" indent="-265113" algn="l" eaLnBrk="1" hangingPunct="1">
              <a:lnSpc>
                <a:spcPct val="101000"/>
              </a:lnSpc>
              <a:spcBef>
                <a:spcPts val="0"/>
              </a:spcBef>
              <a:spcAft>
                <a:spcPts val="200"/>
              </a:spcAft>
              <a:buClr>
                <a:srgbClr val="7030A0"/>
              </a:buClr>
              <a:buSzPct val="70000"/>
              <a:buFont typeface="Wingdings" panose="05000000000000000000" pitchFamily="2" charset="2"/>
              <a:buChar char="u"/>
              <a:defRPr/>
            </a:pPr>
            <a:r>
              <a:rPr lang="zh-CN" altLang="en-US" kern="0" dirty="0">
                <a:latin typeface="Times New Roman" panose="02020603050405020304" pitchFamily="18" charset="0"/>
                <a:cs typeface="Times New Roman" panose="02020603050405020304" pitchFamily="18" charset="0"/>
              </a:rPr>
              <a:t>允许外部装置将其拉低</a:t>
            </a:r>
            <a:r>
              <a:rPr lang="en-US" altLang="zh-CN" kern="0" dirty="0">
                <a:latin typeface="Times New Roman" panose="02020603050405020304" pitchFamily="18" charset="0"/>
                <a:cs typeface="Times New Roman" panose="02020603050405020304" pitchFamily="18" charset="0"/>
              </a:rPr>
              <a:t>(</a:t>
            </a:r>
            <a:r>
              <a:rPr lang="zh-CN" altLang="en-US" kern="0" dirty="0">
                <a:solidFill>
                  <a:srgbClr val="FF0000"/>
                </a:solidFill>
                <a:latin typeface="Times New Roman" panose="02020603050405020304" pitchFamily="18" charset="0"/>
                <a:cs typeface="Times New Roman" panose="02020603050405020304" pitchFamily="18" charset="0"/>
              </a:rPr>
              <a:t>即允许输入低电平</a:t>
            </a:r>
            <a:r>
              <a:rPr lang="en-US" altLang="zh-CN" kern="0" dirty="0">
                <a:solidFill>
                  <a:srgbClr val="FF0000"/>
                </a:solidFill>
                <a:latin typeface="Times New Roman" panose="02020603050405020304" pitchFamily="18" charset="0"/>
                <a:cs typeface="Times New Roman" panose="02020603050405020304" pitchFamily="18" charset="0"/>
              </a:rPr>
              <a:t>, </a:t>
            </a:r>
            <a:r>
              <a:rPr lang="zh-CN" altLang="en-US" kern="0" dirty="0">
                <a:solidFill>
                  <a:srgbClr val="FF0000"/>
                </a:solidFill>
                <a:latin typeface="Times New Roman" panose="02020603050405020304" pitchFamily="18" charset="0"/>
                <a:cs typeface="Times New Roman" panose="02020603050405020304" pitchFamily="18" charset="0"/>
              </a:rPr>
              <a:t>此时</a:t>
            </a:r>
            <a:r>
              <a:rPr lang="en-US" altLang="zh-CN" kern="0" dirty="0">
                <a:solidFill>
                  <a:srgbClr val="FF0000"/>
                </a:solidFill>
                <a:latin typeface="Times New Roman" panose="02020603050405020304" pitchFamily="18" charset="0"/>
                <a:cs typeface="Times New Roman" panose="02020603050405020304" pitchFamily="18" charset="0"/>
              </a:rPr>
              <a:t>T3</a:t>
            </a:r>
            <a:r>
              <a:rPr lang="zh-CN" altLang="en-US" kern="0" dirty="0">
                <a:solidFill>
                  <a:srgbClr val="FF0000"/>
                </a:solidFill>
                <a:latin typeface="Times New Roman" panose="02020603050405020304" pitchFamily="18" charset="0"/>
                <a:cs typeface="Times New Roman" panose="02020603050405020304" pitchFamily="18" charset="0"/>
              </a:rPr>
              <a:t>与</a:t>
            </a:r>
            <a:r>
              <a:rPr lang="zh-CN" altLang="en-US" dirty="0">
                <a:hlinkClick r:id="" action="ppaction://noaction"/>
              </a:rPr>
              <a:t>施密特触发</a:t>
            </a:r>
            <a:r>
              <a:rPr lang="zh-CN" altLang="en-US" kern="0" dirty="0">
                <a:solidFill>
                  <a:srgbClr val="FF0000"/>
                </a:solidFill>
                <a:latin typeface="Times New Roman" panose="02020603050405020304" pitchFamily="18" charset="0"/>
                <a:cs typeface="Times New Roman" panose="02020603050405020304" pitchFamily="18" charset="0"/>
                <a:hlinkClick r:id="" action="ppaction://noaction"/>
              </a:rPr>
              <a:t>管</a:t>
            </a:r>
            <a:r>
              <a:rPr lang="zh-CN" altLang="en-US" kern="0" dirty="0">
                <a:solidFill>
                  <a:srgbClr val="FF0000"/>
                </a:solidFill>
                <a:latin typeface="Times New Roman" panose="02020603050405020304" pitchFamily="18" charset="0"/>
                <a:cs typeface="Times New Roman" panose="02020603050405020304" pitchFamily="18" charset="0"/>
              </a:rPr>
              <a:t>形成正反馈</a:t>
            </a:r>
            <a:r>
              <a:rPr lang="en-US" altLang="zh-CN" kern="0" dirty="0">
                <a:solidFill>
                  <a:srgbClr val="FF0000"/>
                </a:solidFill>
                <a:latin typeface="Times New Roman" panose="02020603050405020304" pitchFamily="18" charset="0"/>
                <a:cs typeface="Times New Roman" panose="02020603050405020304" pitchFamily="18" charset="0"/>
              </a:rPr>
              <a:t>, </a:t>
            </a:r>
            <a:r>
              <a:rPr lang="zh-CN" altLang="en-US" kern="0" dirty="0">
                <a:solidFill>
                  <a:srgbClr val="FF0000"/>
                </a:solidFill>
                <a:latin typeface="Times New Roman" panose="02020603050405020304" pitchFamily="18" charset="0"/>
                <a:cs typeface="Times New Roman" panose="02020603050405020304" pitchFamily="18" charset="0"/>
              </a:rPr>
              <a:t>引脚钳位在</a:t>
            </a:r>
            <a:r>
              <a:rPr lang="en-US" altLang="zh-CN" kern="0" dirty="0">
                <a:solidFill>
                  <a:srgbClr val="FF0000"/>
                </a:solidFill>
                <a:latin typeface="Times New Roman" panose="02020603050405020304" pitchFamily="18" charset="0"/>
                <a:cs typeface="Times New Roman" panose="02020603050405020304" pitchFamily="18" charset="0"/>
              </a:rPr>
              <a:t>0</a:t>
            </a:r>
            <a:r>
              <a:rPr lang="zh-CN" altLang="en-US" kern="0" dirty="0">
                <a:solidFill>
                  <a:srgbClr val="FF0000"/>
                </a:solidFill>
                <a:latin typeface="Times New Roman" panose="02020603050405020304" pitchFamily="18" charset="0"/>
                <a:cs typeface="Times New Roman" panose="02020603050405020304" pitchFamily="18" charset="0"/>
              </a:rPr>
              <a:t>电平</a:t>
            </a:r>
            <a:r>
              <a:rPr lang="en-US" altLang="zh-CN" kern="0" dirty="0">
                <a:solidFill>
                  <a:srgbClr val="FF0000"/>
                </a:solidFill>
                <a:latin typeface="Times New Roman" panose="02020603050405020304" pitchFamily="18" charset="0"/>
                <a:cs typeface="Times New Roman" panose="02020603050405020304" pitchFamily="18" charset="0"/>
              </a:rPr>
              <a:t>,</a:t>
            </a:r>
            <a:r>
              <a:rPr lang="zh-CN" altLang="en-US" kern="0" dirty="0">
                <a:solidFill>
                  <a:srgbClr val="FF0000"/>
                </a:solidFill>
                <a:latin typeface="Times New Roman" panose="02020603050405020304" pitchFamily="18" charset="0"/>
                <a:cs typeface="Times New Roman" panose="02020603050405020304" pitchFamily="18" charset="0"/>
              </a:rPr>
              <a:t>输入低</a:t>
            </a:r>
            <a:r>
              <a:rPr lang="en-US" altLang="zh-CN" kern="0" dirty="0">
                <a:latin typeface="Times New Roman" panose="02020603050405020304" pitchFamily="18" charset="0"/>
                <a:cs typeface="Times New Roman" panose="02020603050405020304" pitchFamily="18" charset="0"/>
              </a:rPr>
              <a:t>)</a:t>
            </a:r>
            <a:r>
              <a:rPr lang="zh-CN" altLang="en-US" kern="0" dirty="0">
                <a:latin typeface="Times New Roman" panose="02020603050405020304" pitchFamily="18" charset="0"/>
                <a:cs typeface="Times New Roman" panose="02020603050405020304" pitchFamily="18" charset="0"/>
              </a:rPr>
              <a:t>。</a:t>
            </a:r>
          </a:p>
        </p:txBody>
      </p:sp>
      <p:grpSp>
        <p:nvGrpSpPr>
          <p:cNvPr id="65" name="组合 64">
            <a:extLst>
              <a:ext uri="{FF2B5EF4-FFF2-40B4-BE49-F238E27FC236}">
                <a16:creationId xmlns:a16="http://schemas.microsoft.com/office/drawing/2014/main" id="{E835DAC1-7063-45F2-B030-B287EF47ED98}"/>
              </a:ext>
            </a:extLst>
          </p:cNvPr>
          <p:cNvGrpSpPr>
            <a:grpSpLocks/>
          </p:cNvGrpSpPr>
          <p:nvPr/>
        </p:nvGrpSpPr>
        <p:grpSpPr bwMode="auto">
          <a:xfrm>
            <a:off x="8267700" y="4611688"/>
            <a:ext cx="679450" cy="1852612"/>
            <a:chOff x="8330084" y="4626889"/>
            <a:chExt cx="679714" cy="1844515"/>
          </a:xfrm>
        </p:grpSpPr>
        <p:pic>
          <p:nvPicPr>
            <p:cNvPr id="110627" name="图片 65">
              <a:extLst>
                <a:ext uri="{FF2B5EF4-FFF2-40B4-BE49-F238E27FC236}">
                  <a16:creationId xmlns:a16="http://schemas.microsoft.com/office/drawing/2014/main" id="{5249AE3D-6454-48E2-AFF6-EAC8AB243B0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30084" y="5211550"/>
              <a:ext cx="679714" cy="1259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0628" name="直接连接符 66">
              <a:extLst>
                <a:ext uri="{FF2B5EF4-FFF2-40B4-BE49-F238E27FC236}">
                  <a16:creationId xmlns:a16="http://schemas.microsoft.com/office/drawing/2014/main" id="{ADCF6536-FD48-4E28-9E74-7BF351DF5828}"/>
                </a:ext>
              </a:extLst>
            </p:cNvPr>
            <p:cNvCxnSpPr>
              <a:cxnSpLocks/>
            </p:cNvCxnSpPr>
            <p:nvPr/>
          </p:nvCxnSpPr>
          <p:spPr bwMode="auto">
            <a:xfrm>
              <a:off x="8469491" y="4627084"/>
              <a:ext cx="200450" cy="7556"/>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629" name="直接连接符 67">
              <a:extLst>
                <a:ext uri="{FF2B5EF4-FFF2-40B4-BE49-F238E27FC236}">
                  <a16:creationId xmlns:a16="http://schemas.microsoft.com/office/drawing/2014/main" id="{A3F3297F-C375-4D19-BB8F-6D452C64CA81}"/>
                </a:ext>
              </a:extLst>
            </p:cNvPr>
            <p:cNvCxnSpPr>
              <a:cxnSpLocks/>
              <a:endCxn id="110627" idx="0"/>
            </p:cNvCxnSpPr>
            <p:nvPr/>
          </p:nvCxnSpPr>
          <p:spPr bwMode="auto">
            <a:xfrm>
              <a:off x="8669941" y="4626889"/>
              <a:ext cx="0" cy="584661"/>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 name="灯片编号占位符 2">
            <a:extLst>
              <a:ext uri="{FF2B5EF4-FFF2-40B4-BE49-F238E27FC236}">
                <a16:creationId xmlns:a16="http://schemas.microsoft.com/office/drawing/2014/main" id="{33A9799A-C4E5-4033-B295-D1237F022CFA}"/>
              </a:ext>
            </a:extLst>
          </p:cNvPr>
          <p:cNvSpPr>
            <a:spLocks noGrp="1"/>
          </p:cNvSpPr>
          <p:nvPr>
            <p:ph type="sldNum" sz="quarter" idx="12"/>
          </p:nvPr>
        </p:nvSpPr>
        <p:spPr/>
        <p:txBody>
          <a:bodyPr/>
          <a:lstStyle/>
          <a:p>
            <a:fld id="{22E77DEE-32E4-4009-988B-F2758F7B8AC2}" type="slidenum">
              <a:rPr lang="zh-CN" altLang="en-US" smtClean="0"/>
              <a:t>62</a:t>
            </a:fld>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89" descr="D:\DOCUME~1\ADMINI~1\LOCALS~1\Temp\HS5ClipImage_56b00a7d.gif">
            <a:extLst>
              <a:ext uri="{FF2B5EF4-FFF2-40B4-BE49-F238E27FC236}">
                <a16:creationId xmlns:a16="http://schemas.microsoft.com/office/drawing/2014/main" id="{6FA05606-A101-4331-BD75-E0D48BA3E3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5" y="3194686"/>
            <a:ext cx="8258175"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a:extLst>
              <a:ext uri="{FF2B5EF4-FFF2-40B4-BE49-F238E27FC236}">
                <a16:creationId xmlns:a16="http://schemas.microsoft.com/office/drawing/2014/main" id="{94A709FD-4295-4AAE-9AA2-EC0421154AF4}"/>
              </a:ext>
            </a:extLst>
          </p:cNvPr>
          <p:cNvGrpSpPr>
            <a:grpSpLocks/>
          </p:cNvGrpSpPr>
          <p:nvPr/>
        </p:nvGrpSpPr>
        <p:grpSpPr bwMode="auto">
          <a:xfrm>
            <a:off x="4891087" y="3520123"/>
            <a:ext cx="2949575" cy="369888"/>
            <a:chOff x="5031913" y="2721819"/>
            <a:chExt cx="2948701" cy="369332"/>
          </a:xfrm>
        </p:grpSpPr>
        <p:sp>
          <p:nvSpPr>
            <p:cNvPr id="111660" name="矩形 7">
              <a:extLst>
                <a:ext uri="{FF2B5EF4-FFF2-40B4-BE49-F238E27FC236}">
                  <a16:creationId xmlns:a16="http://schemas.microsoft.com/office/drawing/2014/main" id="{91F01BE5-976E-4D09-83B9-6AD061489965}"/>
                </a:ext>
              </a:extLst>
            </p:cNvPr>
            <p:cNvSpPr>
              <a:spLocks noChangeArrowheads="1"/>
            </p:cNvSpPr>
            <p:nvPr/>
          </p:nvSpPr>
          <p:spPr bwMode="auto">
            <a:xfrm>
              <a:off x="5031913" y="2721819"/>
              <a:ext cx="4154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强</a:t>
              </a:r>
              <a:endParaRPr lang="zh-CN" altLang="en-US"/>
            </a:p>
          </p:txBody>
        </p:sp>
        <p:sp>
          <p:nvSpPr>
            <p:cNvPr id="111661" name="矩形 8">
              <a:extLst>
                <a:ext uri="{FF2B5EF4-FFF2-40B4-BE49-F238E27FC236}">
                  <a16:creationId xmlns:a16="http://schemas.microsoft.com/office/drawing/2014/main" id="{5DA926C1-EB45-4142-A82B-AF8F3E45C76F}"/>
                </a:ext>
              </a:extLst>
            </p:cNvPr>
            <p:cNvSpPr>
              <a:spLocks noChangeArrowheads="1"/>
            </p:cNvSpPr>
            <p:nvPr/>
          </p:nvSpPr>
          <p:spPr bwMode="auto">
            <a:xfrm>
              <a:off x="6114384" y="2721819"/>
              <a:ext cx="6463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极弱</a:t>
              </a:r>
              <a:endParaRPr lang="zh-CN" altLang="en-US"/>
            </a:p>
          </p:txBody>
        </p:sp>
        <p:sp>
          <p:nvSpPr>
            <p:cNvPr id="111662" name="矩形 9">
              <a:extLst>
                <a:ext uri="{FF2B5EF4-FFF2-40B4-BE49-F238E27FC236}">
                  <a16:creationId xmlns:a16="http://schemas.microsoft.com/office/drawing/2014/main" id="{6A4FE69D-AD4D-4C66-860A-BA04F233022A}"/>
                </a:ext>
              </a:extLst>
            </p:cNvPr>
            <p:cNvSpPr>
              <a:spLocks noChangeArrowheads="1"/>
            </p:cNvSpPr>
            <p:nvPr/>
          </p:nvSpPr>
          <p:spPr bwMode="auto">
            <a:xfrm>
              <a:off x="7565116" y="2721819"/>
              <a:ext cx="41549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弱</a:t>
              </a:r>
              <a:endParaRPr lang="zh-CN" altLang="en-US"/>
            </a:p>
          </p:txBody>
        </p:sp>
      </p:grpSp>
      <p:sp>
        <p:nvSpPr>
          <p:cNvPr id="11" name="矩形 10">
            <a:extLst>
              <a:ext uri="{FF2B5EF4-FFF2-40B4-BE49-F238E27FC236}">
                <a16:creationId xmlns:a16="http://schemas.microsoft.com/office/drawing/2014/main" id="{68CEE62C-4858-46D5-A421-01CAC0C4249B}"/>
              </a:ext>
            </a:extLst>
          </p:cNvPr>
          <p:cNvSpPr>
            <a:spLocks noChangeArrowheads="1"/>
          </p:cNvSpPr>
          <p:nvPr/>
        </p:nvSpPr>
        <p:spPr bwMode="auto">
          <a:xfrm>
            <a:off x="63500" y="3890011"/>
            <a:ext cx="1143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solidFill>
                  <a:srgbClr val="FF0000"/>
                </a:solidFill>
                <a:cs typeface="Times New Roman" panose="02020603050405020304" pitchFamily="18" charset="0"/>
              </a:rPr>
              <a:t>P0</a:t>
            </a:r>
            <a:r>
              <a:rPr lang="zh-CN" altLang="en-US" sz="2400">
                <a:solidFill>
                  <a:srgbClr val="FF0000"/>
                </a:solidFill>
                <a:cs typeface="Times New Roman" panose="02020603050405020304" pitchFamily="18" charset="0"/>
              </a:rPr>
              <a:t>～</a:t>
            </a:r>
            <a:r>
              <a:rPr lang="en-US" altLang="zh-CN" sz="2400">
                <a:solidFill>
                  <a:srgbClr val="FF0000"/>
                </a:solidFill>
                <a:cs typeface="Times New Roman" panose="02020603050405020304" pitchFamily="18" charset="0"/>
              </a:rPr>
              <a:t>P7</a:t>
            </a:r>
            <a:endParaRPr lang="zh-CN" altLang="en-US" sz="2400">
              <a:cs typeface="Times New Roman" panose="02020603050405020304" pitchFamily="18" charset="0"/>
            </a:endParaRPr>
          </a:p>
        </p:txBody>
      </p:sp>
      <p:sp>
        <p:nvSpPr>
          <p:cNvPr id="111621" name="标题 3">
            <a:extLst>
              <a:ext uri="{FF2B5EF4-FFF2-40B4-BE49-F238E27FC236}">
                <a16:creationId xmlns:a16="http://schemas.microsoft.com/office/drawing/2014/main" id="{B08E017B-B075-4DF2-832D-5449EC6F9887}"/>
              </a:ext>
            </a:extLst>
          </p:cNvPr>
          <p:cNvSpPr>
            <a:spLocks noGrp="1" noChangeArrowheads="1"/>
          </p:cNvSpPr>
          <p:nvPr>
            <p:ph type="title"/>
          </p:nvPr>
        </p:nvSpPr>
        <p:spPr>
          <a:xfrm>
            <a:off x="468313" y="357188"/>
            <a:ext cx="8229600" cy="504825"/>
          </a:xfrm>
        </p:spPr>
        <p:txBody>
          <a:bodyPr>
            <a:normAutofit fontScale="90000"/>
          </a:bodyPr>
          <a:lstStyle/>
          <a:p>
            <a:pPr eaLnBrk="1" hangingPunct="1"/>
            <a:r>
              <a:rPr lang="zh-CN" altLang="en-US" dirty="0">
                <a:solidFill>
                  <a:srgbClr val="FF0000"/>
                </a:solidFill>
              </a:rPr>
              <a:t>准双向口</a:t>
            </a:r>
            <a:r>
              <a:rPr lang="en-US" altLang="zh-CN" dirty="0">
                <a:solidFill>
                  <a:srgbClr val="FF0000"/>
                </a:solidFill>
              </a:rPr>
              <a:t>(</a:t>
            </a:r>
            <a:r>
              <a:rPr lang="zh-CN" altLang="en-US" dirty="0"/>
              <a:t>弱上拉</a:t>
            </a:r>
            <a:r>
              <a:rPr lang="en-US" altLang="zh-CN" dirty="0">
                <a:solidFill>
                  <a:srgbClr val="FF0000"/>
                </a:solidFill>
              </a:rPr>
              <a:t>)</a:t>
            </a:r>
            <a:r>
              <a:rPr lang="zh-CN" altLang="en-US" dirty="0">
                <a:solidFill>
                  <a:srgbClr val="FF0000"/>
                </a:solidFill>
              </a:rPr>
              <a:t>工作模式的结构</a:t>
            </a:r>
            <a:endParaRPr lang="zh-CN" altLang="en-US" sz="2800" dirty="0">
              <a:solidFill>
                <a:srgbClr val="FF0000"/>
              </a:solidFill>
            </a:endParaRPr>
          </a:p>
        </p:txBody>
      </p:sp>
      <p:sp>
        <p:nvSpPr>
          <p:cNvPr id="518147" name="Rectangle 3">
            <a:extLst>
              <a:ext uri="{FF2B5EF4-FFF2-40B4-BE49-F238E27FC236}">
                <a16:creationId xmlns:a16="http://schemas.microsoft.com/office/drawing/2014/main" id="{CC3457D0-44FB-4E64-82D8-39033820BB92}"/>
              </a:ext>
            </a:extLst>
          </p:cNvPr>
          <p:cNvSpPr>
            <a:spLocks noGrp="1" noChangeArrowheads="1"/>
          </p:cNvSpPr>
          <p:nvPr>
            <p:ph idx="1"/>
          </p:nvPr>
        </p:nvSpPr>
        <p:spPr>
          <a:xfrm>
            <a:off x="730725" y="1313815"/>
            <a:ext cx="7815899" cy="849312"/>
          </a:xfrm>
        </p:spPr>
        <p:txBody>
          <a:bodyPr>
            <a:normAutofit lnSpcReduction="10000"/>
          </a:bodyPr>
          <a:lstStyle/>
          <a:p>
            <a:pPr marL="261938" lvl="1" indent="-261938" algn="l" eaLnBrk="1" hangingPunct="1">
              <a:spcBef>
                <a:spcPts val="0"/>
              </a:spcBef>
              <a:spcAft>
                <a:spcPts val="200"/>
              </a:spcAft>
              <a:defRPr/>
            </a:pPr>
            <a:r>
              <a:rPr lang="zh-CN" altLang="en-US" dirty="0"/>
              <a:t>当从端口引脚上</a:t>
            </a:r>
            <a:r>
              <a:rPr lang="zh-CN" altLang="en-US" dirty="0">
                <a:solidFill>
                  <a:srgbClr val="FF0000"/>
                </a:solidFill>
              </a:rPr>
              <a:t>输入数据时</a:t>
            </a:r>
            <a:r>
              <a:rPr lang="en-US" altLang="zh-CN" dirty="0"/>
              <a:t>,</a:t>
            </a:r>
            <a:r>
              <a:rPr lang="en-US" altLang="zh-CN" dirty="0">
                <a:solidFill>
                  <a:srgbClr val="FF0000"/>
                </a:solidFill>
              </a:rPr>
              <a:t>T4</a:t>
            </a:r>
            <a:r>
              <a:rPr lang="zh-CN" altLang="en-US" dirty="0">
                <a:solidFill>
                  <a:srgbClr val="3333FF"/>
                </a:solidFill>
              </a:rPr>
              <a:t>应该</a:t>
            </a:r>
            <a:r>
              <a:rPr lang="zh-CN" altLang="en-US" dirty="0">
                <a:solidFill>
                  <a:srgbClr val="FF0000"/>
                </a:solidFill>
              </a:rPr>
              <a:t>一直处于截止状态</a:t>
            </a:r>
            <a:r>
              <a:rPr lang="zh-CN" altLang="en-US" dirty="0"/>
              <a:t>。</a:t>
            </a:r>
            <a:endParaRPr lang="en-US" altLang="zh-CN" dirty="0"/>
          </a:p>
          <a:p>
            <a:pPr marL="261938" lvl="1" indent="-261938" algn="l" eaLnBrk="1" hangingPunct="1">
              <a:spcBef>
                <a:spcPts val="0"/>
              </a:spcBef>
              <a:spcAft>
                <a:spcPts val="200"/>
              </a:spcAft>
              <a:defRPr/>
            </a:pPr>
            <a:r>
              <a:rPr lang="zh-CN" altLang="en-US" dirty="0"/>
              <a:t>假定在输入之前曾输出</a:t>
            </a:r>
            <a:r>
              <a:rPr lang="zh-CN" altLang="en-US" dirty="0">
                <a:solidFill>
                  <a:srgbClr val="3366FF"/>
                </a:solidFill>
              </a:rPr>
              <a:t>锁存过数据</a:t>
            </a:r>
            <a:r>
              <a:rPr lang="en-US" altLang="zh-CN" dirty="0">
                <a:solidFill>
                  <a:srgbClr val="3366FF"/>
                </a:solidFill>
              </a:rPr>
              <a:t>0</a:t>
            </a:r>
            <a:r>
              <a:rPr lang="en-US" altLang="zh-CN" dirty="0"/>
              <a:t>,</a:t>
            </a:r>
            <a:r>
              <a:rPr lang="zh-CN" altLang="en-US" dirty="0"/>
              <a:t>则</a:t>
            </a:r>
            <a:r>
              <a:rPr lang="en-US" altLang="zh-CN" dirty="0">
                <a:solidFill>
                  <a:srgbClr val="3366FF"/>
                </a:solidFill>
              </a:rPr>
              <a:t>T4</a:t>
            </a:r>
            <a:r>
              <a:rPr lang="zh-CN" altLang="en-US" dirty="0">
                <a:solidFill>
                  <a:srgbClr val="3366FF"/>
                </a:solidFill>
              </a:rPr>
              <a:t>导通</a:t>
            </a:r>
            <a:r>
              <a:rPr lang="en-US" altLang="zh-CN" dirty="0"/>
              <a:t>,</a:t>
            </a:r>
            <a:r>
              <a:rPr lang="zh-CN" altLang="en-US" dirty="0"/>
              <a:t>这样引脚上电位就</a:t>
            </a:r>
            <a:r>
              <a:rPr lang="zh-CN" altLang="en-US" dirty="0">
                <a:solidFill>
                  <a:srgbClr val="3366FF"/>
                </a:solidFill>
              </a:rPr>
              <a:t>被箝位在</a:t>
            </a:r>
            <a:r>
              <a:rPr lang="en-US" altLang="zh-CN" dirty="0">
                <a:solidFill>
                  <a:srgbClr val="3366FF"/>
                </a:solidFill>
              </a:rPr>
              <a:t>0</a:t>
            </a:r>
            <a:r>
              <a:rPr lang="zh-CN" altLang="en-US" dirty="0">
                <a:solidFill>
                  <a:srgbClr val="3366FF"/>
                </a:solidFill>
              </a:rPr>
              <a:t>电平</a:t>
            </a:r>
            <a:r>
              <a:rPr lang="en-US" altLang="zh-CN" dirty="0"/>
              <a:t>, </a:t>
            </a:r>
            <a:r>
              <a:rPr lang="zh-CN" altLang="en-US" dirty="0"/>
              <a:t>使输入高电平无法读入。</a:t>
            </a:r>
          </a:p>
        </p:txBody>
      </p:sp>
      <p:sp>
        <p:nvSpPr>
          <p:cNvPr id="12" name="Rectangle 3">
            <a:extLst>
              <a:ext uri="{FF2B5EF4-FFF2-40B4-BE49-F238E27FC236}">
                <a16:creationId xmlns:a16="http://schemas.microsoft.com/office/drawing/2014/main" id="{240D4F73-165D-49A9-B27F-5F043CC89115}"/>
              </a:ext>
            </a:extLst>
          </p:cNvPr>
          <p:cNvSpPr txBox="1">
            <a:spLocks noChangeArrowheads="1"/>
          </p:cNvSpPr>
          <p:nvPr/>
        </p:nvSpPr>
        <p:spPr bwMode="auto">
          <a:xfrm>
            <a:off x="311150" y="2084432"/>
            <a:ext cx="8769350" cy="112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3"/>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4"/>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l" eaLnBrk="1" hangingPunct="1">
              <a:buFontTx/>
              <a:buNone/>
              <a:defRPr/>
            </a:pPr>
            <a:r>
              <a:rPr lang="zh-CN" altLang="en-US" kern="0" dirty="0"/>
              <a:t>因此</a:t>
            </a:r>
            <a:r>
              <a:rPr lang="en-US" altLang="zh-CN" kern="0" dirty="0"/>
              <a:t>,</a:t>
            </a:r>
            <a:r>
              <a:rPr lang="zh-CN" altLang="en-US" kern="0" dirty="0">
                <a:solidFill>
                  <a:srgbClr val="FF0000"/>
                </a:solidFill>
              </a:rPr>
              <a:t>作为准双向口应用</a:t>
            </a:r>
            <a:r>
              <a:rPr lang="en-US" altLang="zh-CN" kern="0" dirty="0">
                <a:solidFill>
                  <a:srgbClr val="FF0000"/>
                </a:solidFill>
              </a:rPr>
              <a:t>,</a:t>
            </a:r>
            <a:r>
              <a:rPr lang="zh-CN" altLang="en-US" kern="0" dirty="0">
                <a:solidFill>
                  <a:srgbClr val="3333FF"/>
                </a:solidFill>
              </a:rPr>
              <a:t>输入数据时</a:t>
            </a:r>
            <a:r>
              <a:rPr lang="en-US" altLang="zh-CN" kern="0" dirty="0">
                <a:solidFill>
                  <a:srgbClr val="FF0000"/>
                </a:solidFill>
              </a:rPr>
              <a:t>, </a:t>
            </a:r>
            <a:r>
              <a:rPr lang="zh-CN" altLang="en-US" kern="0" dirty="0">
                <a:solidFill>
                  <a:srgbClr val="FF0000"/>
                </a:solidFill>
              </a:rPr>
              <a:t>应先向口写</a:t>
            </a:r>
            <a:r>
              <a:rPr lang="en-US" altLang="zh-CN" kern="0" dirty="0">
                <a:solidFill>
                  <a:srgbClr val="FF0000"/>
                </a:solidFill>
              </a:rPr>
              <a:t>1, </a:t>
            </a:r>
            <a:r>
              <a:rPr lang="zh-CN" altLang="en-US" kern="0" dirty="0">
                <a:solidFill>
                  <a:srgbClr val="FF0000"/>
                </a:solidFill>
              </a:rPr>
              <a:t>使</a:t>
            </a:r>
            <a:r>
              <a:rPr lang="en-US" altLang="zh-CN" kern="0" dirty="0">
                <a:solidFill>
                  <a:srgbClr val="FF0000"/>
                </a:solidFill>
              </a:rPr>
              <a:t>T4</a:t>
            </a:r>
            <a:r>
              <a:rPr lang="zh-CN" altLang="en-US" kern="0" dirty="0">
                <a:solidFill>
                  <a:srgbClr val="FF0000"/>
                </a:solidFill>
              </a:rPr>
              <a:t>截止</a:t>
            </a:r>
            <a:r>
              <a:rPr lang="en-US" altLang="zh-CN" kern="0" dirty="0">
                <a:solidFill>
                  <a:srgbClr val="FF0000"/>
                </a:solidFill>
              </a:rPr>
              <a:t>, </a:t>
            </a:r>
            <a:r>
              <a:rPr lang="zh-CN" altLang="en-US" kern="0" dirty="0">
                <a:solidFill>
                  <a:srgbClr val="FF0000"/>
                </a:solidFill>
              </a:rPr>
              <a:t>然后方可作高阻抗输入</a:t>
            </a:r>
            <a:r>
              <a:rPr lang="zh-CN" altLang="en-US" kern="0" dirty="0"/>
              <a:t>。这是准双向口的主要特点。</a:t>
            </a:r>
          </a:p>
        </p:txBody>
      </p:sp>
      <p:sp>
        <p:nvSpPr>
          <p:cNvPr id="13" name="矩形 12">
            <a:extLst>
              <a:ext uri="{FF2B5EF4-FFF2-40B4-BE49-F238E27FC236}">
                <a16:creationId xmlns:a16="http://schemas.microsoft.com/office/drawing/2014/main" id="{70E99A09-EF10-4BA9-BF07-17B29E4C1AAF}"/>
              </a:ext>
            </a:extLst>
          </p:cNvPr>
          <p:cNvSpPr>
            <a:spLocks noChangeArrowheads="1"/>
          </p:cNvSpPr>
          <p:nvPr/>
        </p:nvSpPr>
        <p:spPr bwMode="auto">
          <a:xfrm>
            <a:off x="482600" y="4686936"/>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14" name="矩形 13">
            <a:extLst>
              <a:ext uri="{FF2B5EF4-FFF2-40B4-BE49-F238E27FC236}">
                <a16:creationId xmlns:a16="http://schemas.microsoft.com/office/drawing/2014/main" id="{5E454B6F-0550-4950-9B1C-37047DEFB298}"/>
              </a:ext>
            </a:extLst>
          </p:cNvPr>
          <p:cNvSpPr>
            <a:spLocks noChangeArrowheads="1"/>
          </p:cNvSpPr>
          <p:nvPr/>
        </p:nvSpPr>
        <p:spPr bwMode="auto">
          <a:xfrm>
            <a:off x="3140075" y="4504373"/>
            <a:ext cx="338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1</a:t>
            </a:r>
            <a:endParaRPr lang="zh-CN" altLang="en-US" sz="2400" b="1">
              <a:solidFill>
                <a:srgbClr val="3366FF"/>
              </a:solidFill>
            </a:endParaRPr>
          </a:p>
        </p:txBody>
      </p:sp>
      <p:sp>
        <p:nvSpPr>
          <p:cNvPr id="15" name="矩形 14">
            <a:extLst>
              <a:ext uri="{FF2B5EF4-FFF2-40B4-BE49-F238E27FC236}">
                <a16:creationId xmlns:a16="http://schemas.microsoft.com/office/drawing/2014/main" id="{6EAEF1FF-0D91-499F-9C33-B7868397E81F}"/>
              </a:ext>
            </a:extLst>
          </p:cNvPr>
          <p:cNvSpPr>
            <a:spLocks noChangeArrowheads="1"/>
          </p:cNvSpPr>
          <p:nvPr/>
        </p:nvSpPr>
        <p:spPr bwMode="auto">
          <a:xfrm>
            <a:off x="5443537" y="4915536"/>
            <a:ext cx="495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66FF"/>
                </a:solidFill>
              </a:rPr>
              <a:t>通</a:t>
            </a:r>
          </a:p>
        </p:txBody>
      </p:sp>
      <p:sp>
        <p:nvSpPr>
          <p:cNvPr id="16" name="矩形 15">
            <a:extLst>
              <a:ext uri="{FF2B5EF4-FFF2-40B4-BE49-F238E27FC236}">
                <a16:creationId xmlns:a16="http://schemas.microsoft.com/office/drawing/2014/main" id="{12242E6C-E87C-4F24-8D32-E93E8B3A4691}"/>
              </a:ext>
            </a:extLst>
          </p:cNvPr>
          <p:cNvSpPr>
            <a:spLocks noChangeArrowheads="1"/>
          </p:cNvSpPr>
          <p:nvPr/>
        </p:nvSpPr>
        <p:spPr bwMode="auto">
          <a:xfrm>
            <a:off x="7462837" y="4451986"/>
            <a:ext cx="338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17" name="矩形 16">
            <a:extLst>
              <a:ext uri="{FF2B5EF4-FFF2-40B4-BE49-F238E27FC236}">
                <a16:creationId xmlns:a16="http://schemas.microsoft.com/office/drawing/2014/main" id="{4E16E02A-7E95-4860-8D03-1F5A8DA029FD}"/>
              </a:ext>
            </a:extLst>
          </p:cNvPr>
          <p:cNvSpPr>
            <a:spLocks noChangeArrowheads="1"/>
          </p:cNvSpPr>
          <p:nvPr/>
        </p:nvSpPr>
        <p:spPr bwMode="auto">
          <a:xfrm>
            <a:off x="609600" y="4802823"/>
            <a:ext cx="338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solidFill>
                <a:srgbClr val="FF0000"/>
              </a:solidFill>
            </a:endParaRPr>
          </a:p>
        </p:txBody>
      </p:sp>
      <p:sp>
        <p:nvSpPr>
          <p:cNvPr id="18" name="矩形 17">
            <a:extLst>
              <a:ext uri="{FF2B5EF4-FFF2-40B4-BE49-F238E27FC236}">
                <a16:creationId xmlns:a16="http://schemas.microsoft.com/office/drawing/2014/main" id="{A2B69099-00A8-49BA-8E53-BC3130AA56BE}"/>
              </a:ext>
            </a:extLst>
          </p:cNvPr>
          <p:cNvSpPr>
            <a:spLocks noChangeArrowheads="1"/>
          </p:cNvSpPr>
          <p:nvPr/>
        </p:nvSpPr>
        <p:spPr bwMode="auto">
          <a:xfrm>
            <a:off x="3140075" y="4753611"/>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0</a:t>
            </a:r>
            <a:endParaRPr lang="zh-CN" altLang="en-US" sz="2400" b="1">
              <a:solidFill>
                <a:srgbClr val="FF0000"/>
              </a:solidFill>
            </a:endParaRPr>
          </a:p>
        </p:txBody>
      </p:sp>
      <p:sp>
        <p:nvSpPr>
          <p:cNvPr id="20" name="矩形 19">
            <a:extLst>
              <a:ext uri="{FF2B5EF4-FFF2-40B4-BE49-F238E27FC236}">
                <a16:creationId xmlns:a16="http://schemas.microsoft.com/office/drawing/2014/main" id="{190CC7BE-6431-416D-B51B-38781D299E04}"/>
              </a:ext>
            </a:extLst>
          </p:cNvPr>
          <p:cNvSpPr>
            <a:spLocks noChangeArrowheads="1"/>
          </p:cNvSpPr>
          <p:nvPr/>
        </p:nvSpPr>
        <p:spPr bwMode="auto">
          <a:xfrm>
            <a:off x="7431087" y="4507548"/>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solidFill>
                <a:srgbClr val="FF0000"/>
              </a:solidFill>
            </a:endParaRPr>
          </a:p>
        </p:txBody>
      </p:sp>
      <p:sp>
        <p:nvSpPr>
          <p:cNvPr id="21" name="任意多边形 20">
            <a:extLst>
              <a:ext uri="{FF2B5EF4-FFF2-40B4-BE49-F238E27FC236}">
                <a16:creationId xmlns:a16="http://schemas.microsoft.com/office/drawing/2014/main" id="{305FC5A7-FB56-460C-BAD5-8B19F8791C5F}"/>
              </a:ext>
            </a:extLst>
          </p:cNvPr>
          <p:cNvSpPr>
            <a:spLocks/>
          </p:cNvSpPr>
          <p:nvPr/>
        </p:nvSpPr>
        <p:spPr bwMode="auto">
          <a:xfrm>
            <a:off x="6567487" y="3932873"/>
            <a:ext cx="758825" cy="1368425"/>
          </a:xfrm>
          <a:custGeom>
            <a:avLst/>
            <a:gdLst>
              <a:gd name="T0" fmla="*/ 743021 w 757535"/>
              <a:gd name="T1" fmla="*/ 597359 h 1429925"/>
              <a:gd name="T2" fmla="*/ 757535 w 757535"/>
              <a:gd name="T3" fmla="*/ 750171 h 1429925"/>
              <a:gd name="T4" fmla="*/ 743021 w 757535"/>
              <a:gd name="T5" fmla="*/ 1055796 h 1429925"/>
              <a:gd name="T6" fmla="*/ 743021 w 757535"/>
              <a:gd name="T7" fmla="*/ 1319745 h 1429925"/>
              <a:gd name="T8" fmla="*/ 612393 w 757535"/>
              <a:gd name="T9" fmla="*/ 1361421 h 1429925"/>
              <a:gd name="T10" fmla="*/ 322107 w 757535"/>
              <a:gd name="T11" fmla="*/ 1361421 h 1429925"/>
              <a:gd name="T12" fmla="*/ 104393 w 757535"/>
              <a:gd name="T13" fmla="*/ 1361421 h 1429925"/>
              <a:gd name="T14" fmla="*/ 31821 w 757535"/>
              <a:gd name="T15" fmla="*/ 1264176 h 1429925"/>
              <a:gd name="T16" fmla="*/ 2793 w 757535"/>
              <a:gd name="T17" fmla="*/ 1069688 h 1429925"/>
              <a:gd name="T18" fmla="*/ 2793 w 757535"/>
              <a:gd name="T19" fmla="*/ 708495 h 1429925"/>
              <a:gd name="T20" fmla="*/ 17307 w 757535"/>
              <a:gd name="T21" fmla="*/ 305626 h 1429925"/>
              <a:gd name="T22" fmla="*/ 17307 w 757535"/>
              <a:gd name="T23" fmla="*/ 69461 h 1429925"/>
              <a:gd name="T24" fmla="*/ 162450 w 757535"/>
              <a:gd name="T25" fmla="*/ 13893 h 1429925"/>
              <a:gd name="T26" fmla="*/ 409193 w 757535"/>
              <a:gd name="T27" fmla="*/ 0 h 142992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757535" h="1429925">
                <a:moveTo>
                  <a:pt x="743021" y="624115"/>
                </a:moveTo>
                <a:cubicBezTo>
                  <a:pt x="750278" y="664029"/>
                  <a:pt x="757535" y="703944"/>
                  <a:pt x="757535" y="783772"/>
                </a:cubicBezTo>
                <a:cubicBezTo>
                  <a:pt x="757535" y="863600"/>
                  <a:pt x="745440" y="1003905"/>
                  <a:pt x="743021" y="1103086"/>
                </a:cubicBezTo>
                <a:cubicBezTo>
                  <a:pt x="740602" y="1202267"/>
                  <a:pt x="764792" y="1325639"/>
                  <a:pt x="743021" y="1378858"/>
                </a:cubicBezTo>
                <a:cubicBezTo>
                  <a:pt x="721250" y="1432077"/>
                  <a:pt x="682545" y="1415143"/>
                  <a:pt x="612393" y="1422400"/>
                </a:cubicBezTo>
                <a:cubicBezTo>
                  <a:pt x="542241" y="1429657"/>
                  <a:pt x="322107" y="1422400"/>
                  <a:pt x="322107" y="1422400"/>
                </a:cubicBezTo>
                <a:cubicBezTo>
                  <a:pt x="237440" y="1422400"/>
                  <a:pt x="152774" y="1439333"/>
                  <a:pt x="104393" y="1422400"/>
                </a:cubicBezTo>
                <a:cubicBezTo>
                  <a:pt x="56012" y="1405467"/>
                  <a:pt x="48754" y="1371600"/>
                  <a:pt x="31821" y="1320800"/>
                </a:cubicBezTo>
                <a:cubicBezTo>
                  <a:pt x="14888" y="1270000"/>
                  <a:pt x="7631" y="1214362"/>
                  <a:pt x="2793" y="1117600"/>
                </a:cubicBezTo>
                <a:cubicBezTo>
                  <a:pt x="-2045" y="1020838"/>
                  <a:pt x="374" y="873276"/>
                  <a:pt x="2793" y="740229"/>
                </a:cubicBezTo>
                <a:cubicBezTo>
                  <a:pt x="5212" y="607182"/>
                  <a:pt x="14888" y="430591"/>
                  <a:pt x="17307" y="319315"/>
                </a:cubicBezTo>
                <a:cubicBezTo>
                  <a:pt x="19726" y="208039"/>
                  <a:pt x="-6883" y="123372"/>
                  <a:pt x="17307" y="72572"/>
                </a:cubicBezTo>
                <a:cubicBezTo>
                  <a:pt x="41497" y="21772"/>
                  <a:pt x="97136" y="26610"/>
                  <a:pt x="162450" y="14515"/>
                </a:cubicBezTo>
                <a:cubicBezTo>
                  <a:pt x="227764" y="2420"/>
                  <a:pt x="318478" y="1210"/>
                  <a:pt x="409193" y="0"/>
                </a:cubicBezTo>
              </a:path>
            </a:pathLst>
          </a:custGeom>
          <a:noFill/>
          <a:ln w="28575" cap="flat" cmpd="sng" algn="ctr">
            <a:solidFill>
              <a:srgbClr val="3366FF"/>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矩形 22">
            <a:extLst>
              <a:ext uri="{FF2B5EF4-FFF2-40B4-BE49-F238E27FC236}">
                <a16:creationId xmlns:a16="http://schemas.microsoft.com/office/drawing/2014/main" id="{DBBB6641-3CA6-4DEA-885F-9F1FFCE7744A}"/>
              </a:ext>
            </a:extLst>
          </p:cNvPr>
          <p:cNvSpPr>
            <a:spLocks noChangeArrowheads="1"/>
          </p:cNvSpPr>
          <p:nvPr/>
        </p:nvSpPr>
        <p:spPr bwMode="auto">
          <a:xfrm>
            <a:off x="6686550" y="3904298"/>
            <a:ext cx="80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66FF"/>
                </a:solidFill>
              </a:rPr>
              <a:t>截止</a:t>
            </a:r>
          </a:p>
        </p:txBody>
      </p:sp>
      <p:sp>
        <p:nvSpPr>
          <p:cNvPr id="19" name="矩形 18">
            <a:extLst>
              <a:ext uri="{FF2B5EF4-FFF2-40B4-BE49-F238E27FC236}">
                <a16:creationId xmlns:a16="http://schemas.microsoft.com/office/drawing/2014/main" id="{632C4284-D4D8-4BD5-8136-9F563B3A1C94}"/>
              </a:ext>
            </a:extLst>
          </p:cNvPr>
          <p:cNvSpPr>
            <a:spLocks noChangeArrowheads="1"/>
          </p:cNvSpPr>
          <p:nvPr/>
        </p:nvSpPr>
        <p:spPr bwMode="auto">
          <a:xfrm>
            <a:off x="5057775" y="4923473"/>
            <a:ext cx="80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截止</a:t>
            </a:r>
          </a:p>
        </p:txBody>
      </p:sp>
      <p:sp>
        <p:nvSpPr>
          <p:cNvPr id="24" name="矩形 23">
            <a:extLst>
              <a:ext uri="{FF2B5EF4-FFF2-40B4-BE49-F238E27FC236}">
                <a16:creationId xmlns:a16="http://schemas.microsoft.com/office/drawing/2014/main" id="{AF6C022F-963E-496A-8E21-32BE0AE4D718}"/>
              </a:ext>
            </a:extLst>
          </p:cNvPr>
          <p:cNvSpPr>
            <a:spLocks noChangeArrowheads="1"/>
          </p:cNvSpPr>
          <p:nvPr/>
        </p:nvSpPr>
        <p:spPr bwMode="auto">
          <a:xfrm>
            <a:off x="5957887" y="4034473"/>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solidFill>
                <a:srgbClr val="FF0000"/>
              </a:solidFill>
            </a:endParaRPr>
          </a:p>
        </p:txBody>
      </p:sp>
      <p:grpSp>
        <p:nvGrpSpPr>
          <p:cNvPr id="25" name="组合 24">
            <a:extLst>
              <a:ext uri="{FF2B5EF4-FFF2-40B4-BE49-F238E27FC236}">
                <a16:creationId xmlns:a16="http://schemas.microsoft.com/office/drawing/2014/main" id="{56CEEDF7-E5E1-46C2-B77A-99D29B50E470}"/>
              </a:ext>
            </a:extLst>
          </p:cNvPr>
          <p:cNvGrpSpPr>
            <a:grpSpLocks/>
          </p:cNvGrpSpPr>
          <p:nvPr/>
        </p:nvGrpSpPr>
        <p:grpSpPr bwMode="auto">
          <a:xfrm>
            <a:off x="4899025" y="3251836"/>
            <a:ext cx="3708400" cy="603250"/>
            <a:chOff x="4874106" y="3312640"/>
            <a:chExt cx="3709001" cy="603548"/>
          </a:xfrm>
        </p:grpSpPr>
        <p:sp>
          <p:nvSpPr>
            <p:cNvPr id="111657" name="矩形 25">
              <a:extLst>
                <a:ext uri="{FF2B5EF4-FFF2-40B4-BE49-F238E27FC236}">
                  <a16:creationId xmlns:a16="http://schemas.microsoft.com/office/drawing/2014/main" id="{254F260E-7DCB-43D3-83D8-EA860F4FC8DD}"/>
                </a:ext>
              </a:extLst>
            </p:cNvPr>
            <p:cNvSpPr>
              <a:spLocks noChangeArrowheads="1"/>
            </p:cNvSpPr>
            <p:nvPr/>
          </p:nvSpPr>
          <p:spPr bwMode="auto">
            <a:xfrm>
              <a:off x="6226008" y="3312718"/>
              <a:ext cx="7729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cs typeface="Times New Roman" panose="02020603050405020304" pitchFamily="18" charset="0"/>
                </a:rPr>
                <a:t>30μA</a:t>
              </a:r>
              <a:endParaRPr lang="zh-CN" altLang="en-US" sz="2000" b="1">
                <a:solidFill>
                  <a:srgbClr val="FF0000"/>
                </a:solidFill>
              </a:endParaRPr>
            </a:p>
          </p:txBody>
        </p:sp>
        <p:sp>
          <p:nvSpPr>
            <p:cNvPr id="111658" name="矩形 26">
              <a:extLst>
                <a:ext uri="{FF2B5EF4-FFF2-40B4-BE49-F238E27FC236}">
                  <a16:creationId xmlns:a16="http://schemas.microsoft.com/office/drawing/2014/main" id="{1B1E262A-6E17-416B-A51F-0F34389B8A18}"/>
                </a:ext>
              </a:extLst>
            </p:cNvPr>
            <p:cNvSpPr>
              <a:spLocks noChangeArrowheads="1"/>
            </p:cNvSpPr>
            <p:nvPr/>
          </p:nvSpPr>
          <p:spPr bwMode="auto">
            <a:xfrm>
              <a:off x="4874106" y="3312640"/>
              <a:ext cx="84029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cs typeface="Times New Roman" panose="02020603050405020304" pitchFamily="18" charset="0"/>
                </a:rPr>
                <a:t>20mA</a:t>
              </a:r>
              <a:endParaRPr lang="zh-CN" altLang="en-US" sz="2000" b="1">
                <a:solidFill>
                  <a:srgbClr val="FF0000"/>
                </a:solidFill>
              </a:endParaRPr>
            </a:p>
          </p:txBody>
        </p:sp>
        <p:sp>
          <p:nvSpPr>
            <p:cNvPr id="111659" name="矩形 27">
              <a:extLst>
                <a:ext uri="{FF2B5EF4-FFF2-40B4-BE49-F238E27FC236}">
                  <a16:creationId xmlns:a16="http://schemas.microsoft.com/office/drawing/2014/main" id="{F3A7EA81-ED94-42E5-AAEC-50E2262E1100}"/>
                </a:ext>
              </a:extLst>
            </p:cNvPr>
            <p:cNvSpPr>
              <a:spLocks noChangeArrowheads="1"/>
            </p:cNvSpPr>
            <p:nvPr/>
          </p:nvSpPr>
          <p:spPr bwMode="auto">
            <a:xfrm>
              <a:off x="7681898" y="3516078"/>
              <a:ext cx="9012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0000"/>
                  </a:solidFill>
                  <a:cs typeface="Times New Roman" panose="02020603050405020304" pitchFamily="18" charset="0"/>
                </a:rPr>
                <a:t>200μA</a:t>
              </a:r>
              <a:endParaRPr lang="zh-CN" altLang="en-US" sz="2000" b="1">
                <a:solidFill>
                  <a:srgbClr val="FF0000"/>
                </a:solidFill>
              </a:endParaRPr>
            </a:p>
          </p:txBody>
        </p:sp>
      </p:grpSp>
      <p:sp>
        <p:nvSpPr>
          <p:cNvPr id="29" name="矩形 28">
            <a:extLst>
              <a:ext uri="{FF2B5EF4-FFF2-40B4-BE49-F238E27FC236}">
                <a16:creationId xmlns:a16="http://schemas.microsoft.com/office/drawing/2014/main" id="{AEC1ED96-A7F5-46C6-B86B-F8D6AB371F26}"/>
              </a:ext>
            </a:extLst>
          </p:cNvPr>
          <p:cNvSpPr>
            <a:spLocks noChangeArrowheads="1"/>
          </p:cNvSpPr>
          <p:nvPr/>
        </p:nvSpPr>
        <p:spPr bwMode="auto">
          <a:xfrm>
            <a:off x="4640262" y="3947161"/>
            <a:ext cx="803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截止</a:t>
            </a:r>
          </a:p>
        </p:txBody>
      </p:sp>
      <p:sp>
        <p:nvSpPr>
          <p:cNvPr id="30" name="矩形 29">
            <a:extLst>
              <a:ext uri="{FF2B5EF4-FFF2-40B4-BE49-F238E27FC236}">
                <a16:creationId xmlns:a16="http://schemas.microsoft.com/office/drawing/2014/main" id="{7DD81659-D6BE-4116-91D3-9412AACB311E}"/>
              </a:ext>
            </a:extLst>
          </p:cNvPr>
          <p:cNvSpPr>
            <a:spLocks noChangeArrowheads="1"/>
          </p:cNvSpPr>
          <p:nvPr/>
        </p:nvSpPr>
        <p:spPr bwMode="auto">
          <a:xfrm>
            <a:off x="5411787" y="3923348"/>
            <a:ext cx="309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通</a:t>
            </a:r>
          </a:p>
        </p:txBody>
      </p:sp>
      <p:sp>
        <p:nvSpPr>
          <p:cNvPr id="31" name="矩形 30">
            <a:extLst>
              <a:ext uri="{FF2B5EF4-FFF2-40B4-BE49-F238E27FC236}">
                <a16:creationId xmlns:a16="http://schemas.microsoft.com/office/drawing/2014/main" id="{ACDA4DB1-1516-4122-954C-B3474F9F07F1}"/>
              </a:ext>
            </a:extLst>
          </p:cNvPr>
          <p:cNvSpPr>
            <a:spLocks noChangeArrowheads="1"/>
          </p:cNvSpPr>
          <p:nvPr/>
        </p:nvSpPr>
        <p:spPr bwMode="auto">
          <a:xfrm>
            <a:off x="7469187" y="4439286"/>
            <a:ext cx="3381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grpSp>
        <p:nvGrpSpPr>
          <p:cNvPr id="32" name="组合 31">
            <a:extLst>
              <a:ext uri="{FF2B5EF4-FFF2-40B4-BE49-F238E27FC236}">
                <a16:creationId xmlns:a16="http://schemas.microsoft.com/office/drawing/2014/main" id="{FFAF3BF2-381C-404A-A36A-350C6870FB74}"/>
              </a:ext>
            </a:extLst>
          </p:cNvPr>
          <p:cNvGrpSpPr>
            <a:grpSpLocks/>
          </p:cNvGrpSpPr>
          <p:nvPr/>
        </p:nvGrpSpPr>
        <p:grpSpPr bwMode="auto">
          <a:xfrm>
            <a:off x="8461375" y="3050223"/>
            <a:ext cx="620712" cy="1411288"/>
            <a:chOff x="8466965" y="3220133"/>
            <a:chExt cx="620077" cy="1412460"/>
          </a:xfrm>
        </p:grpSpPr>
        <p:pic>
          <p:nvPicPr>
            <p:cNvPr id="111653" name="图片 32">
              <a:extLst>
                <a:ext uri="{FF2B5EF4-FFF2-40B4-BE49-F238E27FC236}">
                  <a16:creationId xmlns:a16="http://schemas.microsoft.com/office/drawing/2014/main" id="{01F303CA-B9A7-4E7C-8DE8-070B6C638A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88415" y="3220133"/>
              <a:ext cx="598627" cy="119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1654" name="直接连接符 33">
              <a:extLst>
                <a:ext uri="{FF2B5EF4-FFF2-40B4-BE49-F238E27FC236}">
                  <a16:creationId xmlns:a16="http://schemas.microsoft.com/office/drawing/2014/main" id="{A91D5589-D031-4E06-8FEC-13A5CF6987D1}"/>
                </a:ext>
              </a:extLst>
            </p:cNvPr>
            <p:cNvCxnSpPr>
              <a:cxnSpLocks noChangeShapeType="1"/>
            </p:cNvCxnSpPr>
            <p:nvPr/>
          </p:nvCxnSpPr>
          <p:spPr bwMode="auto">
            <a:xfrm flipV="1">
              <a:off x="8466965" y="4626889"/>
              <a:ext cx="286056" cy="912"/>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55" name="直接连接符 34">
              <a:extLst>
                <a:ext uri="{FF2B5EF4-FFF2-40B4-BE49-F238E27FC236}">
                  <a16:creationId xmlns:a16="http://schemas.microsoft.com/office/drawing/2014/main" id="{E3D1075F-AE46-4A67-ABFF-2C81A4924933}"/>
                </a:ext>
              </a:extLst>
            </p:cNvPr>
            <p:cNvCxnSpPr>
              <a:cxnSpLocks noChangeShapeType="1"/>
            </p:cNvCxnSpPr>
            <p:nvPr/>
          </p:nvCxnSpPr>
          <p:spPr bwMode="auto">
            <a:xfrm flipV="1">
              <a:off x="8742004" y="4393765"/>
              <a:ext cx="4480" cy="238828"/>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56" name="直接连接符 44">
              <a:extLst>
                <a:ext uri="{FF2B5EF4-FFF2-40B4-BE49-F238E27FC236}">
                  <a16:creationId xmlns:a16="http://schemas.microsoft.com/office/drawing/2014/main" id="{961CB9F9-23D3-4A30-9447-74414490BF33}"/>
                </a:ext>
              </a:extLst>
            </p:cNvPr>
            <p:cNvCxnSpPr>
              <a:cxnSpLocks/>
            </p:cNvCxnSpPr>
            <p:nvPr/>
          </p:nvCxnSpPr>
          <p:spPr bwMode="auto">
            <a:xfrm rot="10800000">
              <a:off x="8727145" y="4063802"/>
              <a:ext cx="237988" cy="184664"/>
            </a:xfrm>
            <a:prstGeom prst="curvedConnector3">
              <a:avLst>
                <a:gd name="adj1" fmla="val -2000"/>
              </a:avLst>
            </a:prstGeom>
            <a:noFill/>
            <a:ln w="28575" algn="ctr">
              <a:solidFill>
                <a:srgbClr val="3333FF"/>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6" name="组合 35">
            <a:extLst>
              <a:ext uri="{FF2B5EF4-FFF2-40B4-BE49-F238E27FC236}">
                <a16:creationId xmlns:a16="http://schemas.microsoft.com/office/drawing/2014/main" id="{F1D39219-C22C-43FB-AC45-2BD56E3E2CAB}"/>
              </a:ext>
            </a:extLst>
          </p:cNvPr>
          <p:cNvGrpSpPr>
            <a:grpSpLocks/>
          </p:cNvGrpSpPr>
          <p:nvPr/>
        </p:nvGrpSpPr>
        <p:grpSpPr bwMode="auto">
          <a:xfrm>
            <a:off x="8410575" y="4458336"/>
            <a:ext cx="596900" cy="1482725"/>
            <a:chOff x="8364824" y="5071239"/>
            <a:chExt cx="596483" cy="1482665"/>
          </a:xfrm>
        </p:grpSpPr>
        <p:pic>
          <p:nvPicPr>
            <p:cNvPr id="111649" name="图片 36">
              <a:extLst>
                <a:ext uri="{FF2B5EF4-FFF2-40B4-BE49-F238E27FC236}">
                  <a16:creationId xmlns:a16="http://schemas.microsoft.com/office/drawing/2014/main" id="{EB001D98-4F2E-4F3B-9CB5-CE0E98A43F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64824" y="5408656"/>
              <a:ext cx="596483" cy="1145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1650" name="直接连接符 37">
              <a:extLst>
                <a:ext uri="{FF2B5EF4-FFF2-40B4-BE49-F238E27FC236}">
                  <a16:creationId xmlns:a16="http://schemas.microsoft.com/office/drawing/2014/main" id="{337758B1-108E-41BC-B3A0-D78BCC17F6A5}"/>
                </a:ext>
              </a:extLst>
            </p:cNvPr>
            <p:cNvCxnSpPr>
              <a:cxnSpLocks noChangeShapeType="1"/>
            </p:cNvCxnSpPr>
            <p:nvPr/>
          </p:nvCxnSpPr>
          <p:spPr bwMode="auto">
            <a:xfrm flipV="1">
              <a:off x="8405208" y="5071239"/>
              <a:ext cx="242699" cy="11856"/>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51" name="直接连接符 38">
              <a:extLst>
                <a:ext uri="{FF2B5EF4-FFF2-40B4-BE49-F238E27FC236}">
                  <a16:creationId xmlns:a16="http://schemas.microsoft.com/office/drawing/2014/main" id="{EA4F7D9E-6B69-4282-8234-97FEF121AD31}"/>
                </a:ext>
              </a:extLst>
            </p:cNvPr>
            <p:cNvCxnSpPr>
              <a:cxnSpLocks/>
            </p:cNvCxnSpPr>
            <p:nvPr/>
          </p:nvCxnSpPr>
          <p:spPr bwMode="auto">
            <a:xfrm>
              <a:off x="8647907" y="5089213"/>
              <a:ext cx="0" cy="320069"/>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1652" name="直接连接符 59">
              <a:extLst>
                <a:ext uri="{FF2B5EF4-FFF2-40B4-BE49-F238E27FC236}">
                  <a16:creationId xmlns:a16="http://schemas.microsoft.com/office/drawing/2014/main" id="{EC662ED9-7705-4EEA-ABBE-D97FA1A92685}"/>
                </a:ext>
              </a:extLst>
            </p:cNvPr>
            <p:cNvCxnSpPr>
              <a:cxnSpLocks/>
            </p:cNvCxnSpPr>
            <p:nvPr/>
          </p:nvCxnSpPr>
          <p:spPr bwMode="auto">
            <a:xfrm rot="10800000" flipV="1">
              <a:off x="8695744" y="5537738"/>
              <a:ext cx="217046" cy="158640"/>
            </a:xfrm>
            <a:prstGeom prst="curvedConnector3">
              <a:avLst>
                <a:gd name="adj1" fmla="val 2486"/>
              </a:avLst>
            </a:prstGeom>
            <a:noFill/>
            <a:ln w="28575" algn="ctr">
              <a:solidFill>
                <a:srgbClr val="0000FF"/>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2" name="矩形 21">
            <a:extLst>
              <a:ext uri="{FF2B5EF4-FFF2-40B4-BE49-F238E27FC236}">
                <a16:creationId xmlns:a16="http://schemas.microsoft.com/office/drawing/2014/main" id="{E70D7E49-1CEB-4C2F-B7D0-778321B50B2F}"/>
              </a:ext>
            </a:extLst>
          </p:cNvPr>
          <p:cNvSpPr>
            <a:spLocks noChangeArrowheads="1"/>
          </p:cNvSpPr>
          <p:nvPr/>
        </p:nvSpPr>
        <p:spPr bwMode="auto">
          <a:xfrm>
            <a:off x="7658100" y="4775836"/>
            <a:ext cx="111125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pPr>
            <a:r>
              <a:rPr lang="zh-CN" altLang="en-US" sz="2400" b="1">
                <a:solidFill>
                  <a:srgbClr val="3366FF"/>
                </a:solidFill>
              </a:rPr>
              <a:t>外部</a:t>
            </a:r>
            <a:endParaRPr lang="en-US" altLang="zh-CN" sz="2400" b="1">
              <a:solidFill>
                <a:srgbClr val="3366FF"/>
              </a:solidFill>
            </a:endParaRPr>
          </a:p>
          <a:p>
            <a:pPr eaLnBrk="1" hangingPunct="1">
              <a:lnSpc>
                <a:spcPct val="85000"/>
              </a:lnSpc>
            </a:pPr>
            <a:r>
              <a:rPr lang="zh-CN" altLang="en-US" sz="2400" b="1">
                <a:solidFill>
                  <a:srgbClr val="3366FF"/>
                </a:solidFill>
              </a:rPr>
              <a:t>输入</a:t>
            </a:r>
            <a:r>
              <a:rPr lang="en-US" altLang="zh-CN" sz="2400" b="1">
                <a:solidFill>
                  <a:srgbClr val="3366FF"/>
                </a:solidFill>
              </a:rPr>
              <a:t>0</a:t>
            </a:r>
            <a:endParaRPr lang="zh-CN" altLang="en-US" sz="2400" b="1">
              <a:solidFill>
                <a:srgbClr val="3366FF"/>
              </a:solidFill>
            </a:endParaRPr>
          </a:p>
        </p:txBody>
      </p:sp>
      <p:sp>
        <p:nvSpPr>
          <p:cNvPr id="40" name="矩形 39">
            <a:extLst>
              <a:ext uri="{FF2B5EF4-FFF2-40B4-BE49-F238E27FC236}">
                <a16:creationId xmlns:a16="http://schemas.microsoft.com/office/drawing/2014/main" id="{C311E19A-3753-4826-A57F-E4C94E26957F}"/>
              </a:ext>
            </a:extLst>
          </p:cNvPr>
          <p:cNvSpPr>
            <a:spLocks noChangeArrowheads="1"/>
          </p:cNvSpPr>
          <p:nvPr/>
        </p:nvSpPr>
        <p:spPr bwMode="auto">
          <a:xfrm>
            <a:off x="214312" y="5950586"/>
            <a:ext cx="62674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0000FF"/>
                </a:solidFill>
                <a:cs typeface="Times New Roman" panose="02020603050405020304" pitchFamily="18" charset="0"/>
                <a:hlinkClick r:id="rId7" action="ppaction://hlinksldjump"/>
              </a:rPr>
              <a:t>键盘接口电路</a:t>
            </a:r>
            <a:r>
              <a:rPr lang="en-US" altLang="zh-CN" sz="2400" b="1" dirty="0">
                <a:solidFill>
                  <a:srgbClr val="0000FF"/>
                </a:solidFill>
                <a:cs typeface="Times New Roman" panose="02020603050405020304" pitchFamily="18" charset="0"/>
              </a:rPr>
              <a:t>(</a:t>
            </a:r>
            <a:r>
              <a:rPr lang="zh-CN" altLang="en-US" sz="2400" b="1" dirty="0">
                <a:solidFill>
                  <a:srgbClr val="0000FF"/>
                </a:solidFill>
                <a:cs typeface="Times New Roman" panose="02020603050405020304" pitchFamily="18" charset="0"/>
              </a:rPr>
              <a:t>加限流电阻</a:t>
            </a:r>
            <a:r>
              <a:rPr lang="en-US" altLang="zh-CN" sz="2400" b="1" dirty="0">
                <a:solidFill>
                  <a:srgbClr val="0000FF"/>
                </a:solidFill>
                <a:cs typeface="Times New Roman" panose="02020603050405020304" pitchFamily="18" charset="0"/>
              </a:rPr>
              <a:t>)</a:t>
            </a:r>
            <a:r>
              <a:rPr lang="zh-CN" altLang="en-US" sz="2400" b="1" dirty="0">
                <a:solidFill>
                  <a:srgbClr val="0000FF"/>
                </a:solidFill>
                <a:cs typeface="Times New Roman" panose="02020603050405020304" pitchFamily="18" charset="0"/>
              </a:rPr>
              <a:t>常用准双向口模式</a:t>
            </a:r>
          </a:p>
        </p:txBody>
      </p:sp>
      <p:sp>
        <p:nvSpPr>
          <p:cNvPr id="41" name="矩形 40">
            <a:extLst>
              <a:ext uri="{FF2B5EF4-FFF2-40B4-BE49-F238E27FC236}">
                <a16:creationId xmlns:a16="http://schemas.microsoft.com/office/drawing/2014/main" id="{662A6749-1FF7-403C-96C4-EB3096768436}"/>
              </a:ext>
            </a:extLst>
          </p:cNvPr>
          <p:cNvSpPr/>
          <p:nvPr/>
        </p:nvSpPr>
        <p:spPr>
          <a:xfrm>
            <a:off x="254000" y="5266373"/>
            <a:ext cx="1625600" cy="590550"/>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FF00FF"/>
                </a:solidFill>
                <a:cs typeface="Times New Roman" panose="02020603050405020304" pitchFamily="18" charset="0"/>
              </a:rPr>
              <a:t>例</a:t>
            </a:r>
            <a:r>
              <a:rPr lang="en-US" altLang="zh-CN" sz="2400" b="1" kern="0" dirty="0">
                <a:solidFill>
                  <a:srgbClr val="FF00FF"/>
                </a:solidFill>
                <a:cs typeface="Times New Roman" panose="02020603050405020304" pitchFamily="18" charset="0"/>
              </a:rPr>
              <a:t>:</a:t>
            </a:r>
            <a:r>
              <a:rPr lang="zh-CN" altLang="en-US" sz="2400" b="1" kern="0" dirty="0">
                <a:solidFill>
                  <a:srgbClr val="FF00FF"/>
                </a:solidFill>
                <a:cs typeface="Times New Roman" panose="02020603050405020304" pitchFamily="18" charset="0"/>
              </a:rPr>
              <a:t>口线</a:t>
            </a:r>
            <a:r>
              <a:rPr lang="en-US" altLang="zh-CN" sz="2400" b="1" kern="0" dirty="0">
                <a:solidFill>
                  <a:srgbClr val="FF00FF"/>
                </a:solidFill>
                <a:cs typeface="Times New Roman" panose="02020603050405020304" pitchFamily="18" charset="0"/>
              </a:rPr>
              <a:t>P3.2</a:t>
            </a:r>
            <a:r>
              <a:rPr lang="zh-CN" altLang="en-US" sz="2400" b="1" kern="0" dirty="0">
                <a:solidFill>
                  <a:srgbClr val="FF00FF"/>
                </a:solidFill>
                <a:cs typeface="Times New Roman" panose="02020603050405020304" pitchFamily="18" charset="0"/>
              </a:rPr>
              <a:t>的锁存器位</a:t>
            </a:r>
            <a:endParaRPr lang="en-US" altLang="zh-CN" sz="2400" b="1" dirty="0">
              <a:solidFill>
                <a:srgbClr val="FF00FF"/>
              </a:solidFill>
              <a:ea typeface="宋体" charset="-122"/>
              <a:cs typeface="Times New Roman" pitchFamily="18" charset="0"/>
            </a:endParaRPr>
          </a:p>
        </p:txBody>
      </p:sp>
      <p:sp>
        <p:nvSpPr>
          <p:cNvPr id="42" name="矩形 41">
            <a:extLst>
              <a:ext uri="{FF2B5EF4-FFF2-40B4-BE49-F238E27FC236}">
                <a16:creationId xmlns:a16="http://schemas.microsoft.com/office/drawing/2014/main" id="{3F1F4883-17D5-4ECD-B7E1-0348F8717D17}"/>
              </a:ext>
            </a:extLst>
          </p:cNvPr>
          <p:cNvSpPr/>
          <p:nvPr/>
        </p:nvSpPr>
        <p:spPr>
          <a:xfrm>
            <a:off x="2303462" y="5307648"/>
            <a:ext cx="3157538" cy="312738"/>
          </a:xfrm>
          <a:prstGeom prst="rect">
            <a:avLst/>
          </a:prstGeom>
          <a:noFill/>
        </p:spPr>
        <p:txBody>
          <a:bodyPr lIns="0" tIns="36000" rIns="0" bIns="0" anchor="b">
            <a:spAutoFit/>
          </a:bodyPr>
          <a:lstStyle/>
          <a:p>
            <a:pPr algn="ctr" eaLnBrk="1" hangingPunct="1">
              <a:lnSpc>
                <a:spcPct val="75000"/>
              </a:lnSpc>
              <a:defRPr/>
            </a:pPr>
            <a:r>
              <a:rPr lang="en-US" altLang="zh-CN" sz="2400" b="1" kern="0" dirty="0">
                <a:solidFill>
                  <a:srgbClr val="00B050"/>
                </a:solidFill>
                <a:cs typeface="Times New Roman" panose="02020603050405020304" pitchFamily="18" charset="0"/>
              </a:rPr>
              <a:t>CPU</a:t>
            </a:r>
            <a:r>
              <a:rPr lang="zh-CN" altLang="en-US" sz="2400" b="1" kern="0" dirty="0">
                <a:solidFill>
                  <a:srgbClr val="00B050"/>
                </a:solidFill>
                <a:cs typeface="Times New Roman" panose="02020603050405020304" pitchFamily="18" charset="0"/>
              </a:rPr>
              <a:t>读引脚状态数据</a:t>
            </a:r>
            <a:endParaRPr lang="en-US" altLang="zh-CN" sz="2400" b="1" dirty="0">
              <a:solidFill>
                <a:srgbClr val="00B050"/>
              </a:solidFill>
              <a:ea typeface="宋体" charset="-122"/>
              <a:cs typeface="Times New Roman" pitchFamily="18" charset="0"/>
            </a:endParaRPr>
          </a:p>
        </p:txBody>
      </p:sp>
      <p:sp>
        <p:nvSpPr>
          <p:cNvPr id="43" name="矩形 42">
            <a:extLst>
              <a:ext uri="{FF2B5EF4-FFF2-40B4-BE49-F238E27FC236}">
                <a16:creationId xmlns:a16="http://schemas.microsoft.com/office/drawing/2014/main" id="{A5737253-79BF-4F0D-9BE8-DF5AEA9B1238}"/>
              </a:ext>
            </a:extLst>
          </p:cNvPr>
          <p:cNvSpPr>
            <a:spLocks noChangeArrowheads="1"/>
          </p:cNvSpPr>
          <p:nvPr/>
        </p:nvSpPr>
        <p:spPr bwMode="auto">
          <a:xfrm>
            <a:off x="5041900" y="4898073"/>
            <a:ext cx="80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截止</a:t>
            </a:r>
          </a:p>
        </p:txBody>
      </p:sp>
      <p:sp>
        <p:nvSpPr>
          <p:cNvPr id="59" name="矩形 58">
            <a:extLst>
              <a:ext uri="{FF2B5EF4-FFF2-40B4-BE49-F238E27FC236}">
                <a16:creationId xmlns:a16="http://schemas.microsoft.com/office/drawing/2014/main" id="{964CA7D6-68A5-4F62-A8D5-AF1C5F0DEBB5}"/>
              </a:ext>
            </a:extLst>
          </p:cNvPr>
          <p:cNvSpPr>
            <a:spLocks noChangeArrowheads="1"/>
          </p:cNvSpPr>
          <p:nvPr/>
        </p:nvSpPr>
        <p:spPr bwMode="auto">
          <a:xfrm>
            <a:off x="5984875" y="4034473"/>
            <a:ext cx="338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3" name="灯片编号占位符 2">
            <a:extLst>
              <a:ext uri="{FF2B5EF4-FFF2-40B4-BE49-F238E27FC236}">
                <a16:creationId xmlns:a16="http://schemas.microsoft.com/office/drawing/2014/main" id="{5E7B493A-8E69-4E73-B8A8-5DB9FAC1CCED}"/>
              </a:ext>
            </a:extLst>
          </p:cNvPr>
          <p:cNvSpPr>
            <a:spLocks noGrp="1"/>
          </p:cNvSpPr>
          <p:nvPr>
            <p:ph type="sldNum" sz="quarter" idx="12"/>
          </p:nvPr>
        </p:nvSpPr>
        <p:spPr/>
        <p:txBody>
          <a:bodyPr/>
          <a:lstStyle/>
          <a:p>
            <a:fld id="{22E77DEE-32E4-4009-988B-F2758F7B8AC2}" type="slidenum">
              <a:rPr lang="zh-CN" altLang="en-US" smtClean="0"/>
              <a:t>63</a:t>
            </a:fld>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
            <a:extLst>
              <a:ext uri="{FF2B5EF4-FFF2-40B4-BE49-F238E27FC236}">
                <a16:creationId xmlns:a16="http://schemas.microsoft.com/office/drawing/2014/main" id="{503D9937-F18E-431C-827E-9EBE1B8E87CD}"/>
              </a:ext>
            </a:extLst>
          </p:cNvPr>
          <p:cNvSpPr>
            <a:spLocks noGrp="1" noChangeArrowheads="1"/>
          </p:cNvSpPr>
          <p:nvPr>
            <p:ph type="body" idx="1"/>
          </p:nvPr>
        </p:nvSpPr>
        <p:spPr>
          <a:xfrm>
            <a:off x="4051935" y="1253490"/>
            <a:ext cx="5019040" cy="790575"/>
          </a:xfrm>
          <a:solidFill>
            <a:schemeClr val="bg1"/>
          </a:solidFill>
        </p:spPr>
        <p:txBody>
          <a:bodyPr>
            <a:normAutofit/>
          </a:bodyPr>
          <a:lstStyle/>
          <a:p>
            <a:pPr eaLnBrk="1" hangingPunct="1">
              <a:lnSpc>
                <a:spcPct val="80000"/>
              </a:lnSpc>
              <a:buFontTx/>
              <a:buNone/>
            </a:pPr>
            <a:r>
              <a:rPr lang="zh-CN" altLang="en-US" sz="2600" dirty="0"/>
              <a:t>编程实现学习平台上矩阵键盘的按键扫描并在数码</a:t>
            </a:r>
            <a:r>
              <a:rPr lang="en-US" altLang="zh-CN" sz="2600" dirty="0"/>
              <a:t>LED</a:t>
            </a:r>
            <a:r>
              <a:rPr lang="zh-CN" altLang="en-US" sz="2600" dirty="0"/>
              <a:t>上显示。</a:t>
            </a:r>
          </a:p>
        </p:txBody>
      </p:sp>
      <p:sp>
        <p:nvSpPr>
          <p:cNvPr id="112643" name="Rectangle 2">
            <a:extLst>
              <a:ext uri="{FF2B5EF4-FFF2-40B4-BE49-F238E27FC236}">
                <a16:creationId xmlns:a16="http://schemas.microsoft.com/office/drawing/2014/main" id="{43E9B13F-1249-45F4-8533-F6E8BC0F2CD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12644" name="Object 1">
            <a:extLst>
              <a:ext uri="{FF2B5EF4-FFF2-40B4-BE49-F238E27FC236}">
                <a16:creationId xmlns:a16="http://schemas.microsoft.com/office/drawing/2014/main" id="{A88F9E47-B62F-4238-A438-328088D89496}"/>
              </a:ext>
            </a:extLst>
          </p:cNvPr>
          <p:cNvGraphicFramePr>
            <a:graphicFrameLocks noChangeAspect="1"/>
          </p:cNvGraphicFramePr>
          <p:nvPr>
            <p:extLst>
              <p:ext uri="{D42A27DB-BD31-4B8C-83A1-F6EECF244321}">
                <p14:modId xmlns:p14="http://schemas.microsoft.com/office/powerpoint/2010/main" val="3747181407"/>
              </p:ext>
            </p:extLst>
          </p:nvPr>
        </p:nvGraphicFramePr>
        <p:xfrm>
          <a:off x="725488" y="1501775"/>
          <a:ext cx="8345487" cy="5207000"/>
        </p:xfrm>
        <a:graphic>
          <a:graphicData uri="http://schemas.openxmlformats.org/presentationml/2006/ole">
            <mc:AlternateContent xmlns:mc="http://schemas.openxmlformats.org/markup-compatibility/2006">
              <mc:Choice xmlns:v="urn:schemas-microsoft-com:vml" Requires="v">
                <p:oleObj name="Visio" r:id="rId2" imgW="3936279" imgH="2430771" progId="Visio.Drawing.11">
                  <p:embed/>
                </p:oleObj>
              </mc:Choice>
              <mc:Fallback>
                <p:oleObj name="Visio" r:id="rId2" imgW="3936279" imgH="2430771" progId="Visio.Drawing.11">
                  <p:embed/>
                  <p:pic>
                    <p:nvPicPr>
                      <p:cNvPr id="112644" name="Object 1">
                        <a:extLst>
                          <a:ext uri="{FF2B5EF4-FFF2-40B4-BE49-F238E27FC236}">
                            <a16:creationId xmlns:a16="http://schemas.microsoft.com/office/drawing/2014/main" id="{A88F9E47-B62F-4238-A438-328088D894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488" y="1501775"/>
                        <a:ext cx="8345487" cy="520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47" name="Rectangle 6">
            <a:extLst>
              <a:ext uri="{FF2B5EF4-FFF2-40B4-BE49-F238E27FC236}">
                <a16:creationId xmlns:a16="http://schemas.microsoft.com/office/drawing/2014/main" id="{C86AE391-7D5C-4596-823B-F96922F854F1}"/>
              </a:ext>
            </a:extLst>
          </p:cNvPr>
          <p:cNvSpPr>
            <a:spLocks noGrp="1" noChangeArrowheads="1"/>
          </p:cNvSpPr>
          <p:nvPr>
            <p:ph type="title"/>
          </p:nvPr>
        </p:nvSpPr>
        <p:spPr>
          <a:xfrm>
            <a:off x="346075" y="456565"/>
            <a:ext cx="8724900" cy="504825"/>
          </a:xfrm>
        </p:spPr>
        <p:txBody>
          <a:bodyPr>
            <a:normAutofit fontScale="90000"/>
          </a:bodyPr>
          <a:lstStyle/>
          <a:p>
            <a:pPr eaLnBrk="1" hangingPunct="1"/>
            <a:r>
              <a:rPr lang="zh-CN" altLang="en-US" sz="3600" dirty="0">
                <a:latin typeface="隶书" panose="02010509060101010101" pitchFamily="49" charset="-122"/>
                <a:ea typeface="隶书" panose="02010509060101010101" pitchFamily="49" charset="-122"/>
              </a:rPr>
              <a:t>简易键盘接口的实现</a:t>
            </a:r>
          </a:p>
        </p:txBody>
      </p:sp>
      <p:sp>
        <p:nvSpPr>
          <p:cNvPr id="112649" name="TextBox 3">
            <a:extLst>
              <a:ext uri="{FF2B5EF4-FFF2-40B4-BE49-F238E27FC236}">
                <a16:creationId xmlns:a16="http://schemas.microsoft.com/office/drawing/2014/main" id="{4A67B556-1E46-4F02-BE90-0756D392797F}"/>
              </a:ext>
            </a:extLst>
          </p:cNvPr>
          <p:cNvSpPr txBox="1">
            <a:spLocks noChangeArrowheads="1"/>
          </p:cNvSpPr>
          <p:nvPr/>
        </p:nvSpPr>
        <p:spPr bwMode="auto">
          <a:xfrm rot="10800000">
            <a:off x="168275" y="1581150"/>
            <a:ext cx="615950" cy="505618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FF0000"/>
                </a:solidFill>
                <a:latin typeface="Cambria Math" panose="02040503050406030204" pitchFamily="18" charset="0"/>
              </a:rPr>
              <a:t>IAP15W4K58S4</a:t>
            </a:r>
            <a:endParaRPr lang="zh-CN" altLang="en-US" sz="2800" b="1" dirty="0">
              <a:solidFill>
                <a:srgbClr val="FF0000"/>
              </a:solidFill>
              <a:latin typeface="Cambria Math" panose="02040503050406030204" pitchFamily="18" charset="0"/>
              <a:ea typeface="黑体" panose="02010609060101010101" pitchFamily="49" charset="-122"/>
            </a:endParaRPr>
          </a:p>
        </p:txBody>
      </p:sp>
      <p:sp>
        <p:nvSpPr>
          <p:cNvPr id="5" name="矩形 4">
            <a:extLst>
              <a:ext uri="{FF2B5EF4-FFF2-40B4-BE49-F238E27FC236}">
                <a16:creationId xmlns:a16="http://schemas.microsoft.com/office/drawing/2014/main" id="{37C08D27-5484-47B3-975B-967A092D3CC1}"/>
              </a:ext>
            </a:extLst>
          </p:cNvPr>
          <p:cNvSpPr>
            <a:spLocks noChangeArrowheads="1"/>
          </p:cNvSpPr>
          <p:nvPr/>
        </p:nvSpPr>
        <p:spPr bwMode="auto">
          <a:xfrm>
            <a:off x="1393825" y="1466850"/>
            <a:ext cx="1103313" cy="5170488"/>
          </a:xfrm>
          <a:prstGeom prst="rect">
            <a:avLst/>
          </a:prstGeom>
          <a:noFill/>
          <a:ln w="28575" algn="ctr">
            <a:solidFill>
              <a:srgbClr val="FF00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 name="灯片编号占位符 1">
            <a:extLst>
              <a:ext uri="{FF2B5EF4-FFF2-40B4-BE49-F238E27FC236}">
                <a16:creationId xmlns:a16="http://schemas.microsoft.com/office/drawing/2014/main" id="{53AC2FEE-0907-4E6B-9A0A-3783CA946178}"/>
              </a:ext>
            </a:extLst>
          </p:cNvPr>
          <p:cNvSpPr>
            <a:spLocks noGrp="1"/>
          </p:cNvSpPr>
          <p:nvPr>
            <p:ph type="sldNum" sz="quarter" idx="12"/>
          </p:nvPr>
        </p:nvSpPr>
        <p:spPr/>
        <p:txBody>
          <a:bodyPr/>
          <a:lstStyle/>
          <a:p>
            <a:fld id="{22E77DEE-32E4-4009-988B-F2758F7B8AC2}" type="slidenum">
              <a:rPr lang="zh-CN" altLang="en-US" smtClean="0"/>
              <a:t>64</a:t>
            </a:fld>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4388" name="Object 4">
            <a:extLst>
              <a:ext uri="{FF2B5EF4-FFF2-40B4-BE49-F238E27FC236}">
                <a16:creationId xmlns:a16="http://schemas.microsoft.com/office/drawing/2014/main" id="{95747F6A-FBE2-4B14-817C-8FAD27E0F0B1}"/>
              </a:ext>
            </a:extLst>
          </p:cNvPr>
          <p:cNvGraphicFramePr>
            <a:graphicFrameLocks noChangeAspect="1"/>
          </p:cNvGraphicFramePr>
          <p:nvPr>
            <p:extLst>
              <p:ext uri="{D42A27DB-BD31-4B8C-83A1-F6EECF244321}">
                <p14:modId xmlns:p14="http://schemas.microsoft.com/office/powerpoint/2010/main" val="258507609"/>
              </p:ext>
            </p:extLst>
          </p:nvPr>
        </p:nvGraphicFramePr>
        <p:xfrm>
          <a:off x="2182366" y="736600"/>
          <a:ext cx="6902895" cy="5889625"/>
        </p:xfrm>
        <a:graphic>
          <a:graphicData uri="http://schemas.openxmlformats.org/presentationml/2006/ole">
            <mc:AlternateContent xmlns:mc="http://schemas.openxmlformats.org/markup-compatibility/2006">
              <mc:Choice xmlns:v="urn:schemas-microsoft-com:vml" Requires="v">
                <p:oleObj name="Visio" r:id="rId2" imgW="4372404" imgH="3733752" progId="Visio.Drawing.11">
                  <p:embed/>
                </p:oleObj>
              </mc:Choice>
              <mc:Fallback>
                <p:oleObj name="Visio" r:id="rId2" imgW="4372404" imgH="3733752" progId="Visio.Drawing.11">
                  <p:embed/>
                  <p:pic>
                    <p:nvPicPr>
                      <p:cNvPr id="784388" name="Object 4">
                        <a:extLst>
                          <a:ext uri="{FF2B5EF4-FFF2-40B4-BE49-F238E27FC236}">
                            <a16:creationId xmlns:a16="http://schemas.microsoft.com/office/drawing/2014/main" id="{95747F6A-FBE2-4B14-817C-8FAD27E0F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2366" y="736600"/>
                        <a:ext cx="6902895" cy="5889625"/>
                      </a:xfrm>
                      <a:prstGeom prst="rect">
                        <a:avLst/>
                      </a:prstGeom>
                      <a:solidFill>
                        <a:schemeClr val="bg1"/>
                      </a:solidFill>
                      <a:ln>
                        <a:noFill/>
                      </a:ln>
                    </p:spPr>
                  </p:pic>
                </p:oleObj>
              </mc:Fallback>
            </mc:AlternateContent>
          </a:graphicData>
        </a:graphic>
      </p:graphicFrame>
      <p:sp>
        <p:nvSpPr>
          <p:cNvPr id="784387" name="Rectangle 3">
            <a:extLst>
              <a:ext uri="{FF2B5EF4-FFF2-40B4-BE49-F238E27FC236}">
                <a16:creationId xmlns:a16="http://schemas.microsoft.com/office/drawing/2014/main" id="{E23D9A63-35D6-4942-9472-04B9DA391B13}"/>
              </a:ext>
            </a:extLst>
          </p:cNvPr>
          <p:cNvSpPr>
            <a:spLocks noGrp="1" noChangeArrowheads="1"/>
          </p:cNvSpPr>
          <p:nvPr>
            <p:ph type="body" idx="1"/>
          </p:nvPr>
        </p:nvSpPr>
        <p:spPr>
          <a:xfrm>
            <a:off x="58738" y="1692275"/>
            <a:ext cx="2133600" cy="3097213"/>
          </a:xfrm>
        </p:spPr>
        <p:txBody>
          <a:bodyPr lIns="36000" tIns="0" rIns="36000" bIns="0"/>
          <a:lstStyle/>
          <a:p>
            <a:pPr marL="0" indent="0" eaLnBrk="1" hangingPunct="1">
              <a:buFontTx/>
              <a:buNone/>
            </a:pPr>
            <a:r>
              <a:rPr lang="zh-CN" altLang="en-US" sz="2600"/>
              <a:t>例如</a:t>
            </a:r>
            <a:r>
              <a:rPr lang="en-US" altLang="zh-CN" sz="2600"/>
              <a:t>, </a:t>
            </a:r>
            <a:r>
              <a:rPr lang="zh-CN" altLang="en-US" sz="2600"/>
              <a:t>可将</a:t>
            </a:r>
            <a:r>
              <a:rPr lang="en-US" altLang="zh-CN" sz="2600"/>
              <a:t>P2</a:t>
            </a:r>
            <a:r>
              <a:rPr lang="zh-CN" altLang="en-US" sz="2600"/>
              <a:t>口</a:t>
            </a:r>
            <a:r>
              <a:rPr lang="en-US" altLang="zh-CN" sz="2600"/>
              <a:t>8</a:t>
            </a:r>
            <a:r>
              <a:rPr lang="zh-CN" altLang="en-US" sz="2600"/>
              <a:t>根</a:t>
            </a:r>
            <a:r>
              <a:rPr lang="en-US" altLang="zh-CN" sz="2600"/>
              <a:t>I/O</a:t>
            </a:r>
            <a:r>
              <a:rPr lang="zh-CN" altLang="en-US" sz="2600"/>
              <a:t>线排列成</a:t>
            </a:r>
            <a:r>
              <a:rPr lang="en-US" altLang="zh-CN" sz="2600"/>
              <a:t>4×4</a:t>
            </a:r>
            <a:r>
              <a:rPr lang="zh-CN" altLang="en-US" sz="2600"/>
              <a:t>矩阵形式</a:t>
            </a:r>
            <a:r>
              <a:rPr lang="en-US" altLang="zh-CN" sz="2600"/>
              <a:t>, </a:t>
            </a:r>
            <a:r>
              <a:rPr lang="zh-CN" altLang="en-US" sz="2600"/>
              <a:t>连接</a:t>
            </a:r>
            <a:r>
              <a:rPr lang="en-US" altLang="zh-CN" sz="2600"/>
              <a:t>16</a:t>
            </a:r>
            <a:r>
              <a:rPr lang="zh-CN" altLang="en-US" sz="2600"/>
              <a:t>只按键</a:t>
            </a:r>
            <a:r>
              <a:rPr lang="en-US" altLang="zh-CN" sz="2600"/>
              <a:t>, </a:t>
            </a:r>
            <a:r>
              <a:rPr lang="zh-CN" altLang="en-US" sz="2600"/>
              <a:t>如图所示。</a:t>
            </a:r>
          </a:p>
        </p:txBody>
      </p:sp>
      <p:sp>
        <p:nvSpPr>
          <p:cNvPr id="113668" name="Rectangle 5">
            <a:extLst>
              <a:ext uri="{FF2B5EF4-FFF2-40B4-BE49-F238E27FC236}">
                <a16:creationId xmlns:a16="http://schemas.microsoft.com/office/drawing/2014/main" id="{449EEAD9-385C-474C-9AA7-B7FCD9A3021D}"/>
              </a:ext>
            </a:extLst>
          </p:cNvPr>
          <p:cNvSpPr>
            <a:spLocks noChangeArrowheads="1"/>
          </p:cNvSpPr>
          <p:nvPr/>
        </p:nvSpPr>
        <p:spPr bwMode="auto">
          <a:xfrm>
            <a:off x="0" y="15621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84390" name="Rectangle 6">
            <a:extLst>
              <a:ext uri="{FF2B5EF4-FFF2-40B4-BE49-F238E27FC236}">
                <a16:creationId xmlns:a16="http://schemas.microsoft.com/office/drawing/2014/main" id="{3076B222-A038-4F9E-8B64-17D3F9D15768}"/>
              </a:ext>
            </a:extLst>
          </p:cNvPr>
          <p:cNvSpPr>
            <a:spLocks noChangeArrowheads="1"/>
          </p:cNvSpPr>
          <p:nvPr/>
        </p:nvSpPr>
        <p:spPr bwMode="auto">
          <a:xfrm>
            <a:off x="58738" y="4487912"/>
            <a:ext cx="26340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800000"/>
                </a:solidFill>
              </a:rPr>
              <a:t>4 × 4</a:t>
            </a:r>
            <a:r>
              <a:rPr lang="zh-CN" altLang="en-US" sz="2000" b="1" dirty="0">
                <a:solidFill>
                  <a:srgbClr val="800000"/>
                </a:solidFill>
              </a:rPr>
              <a:t>矩阵式键盘电路</a:t>
            </a:r>
          </a:p>
        </p:txBody>
      </p:sp>
      <p:sp>
        <p:nvSpPr>
          <p:cNvPr id="113671" name="Rectangle 6">
            <a:extLst>
              <a:ext uri="{FF2B5EF4-FFF2-40B4-BE49-F238E27FC236}">
                <a16:creationId xmlns:a16="http://schemas.microsoft.com/office/drawing/2014/main" id="{5C6372D1-C1CA-40AB-9FA9-DBBF83B68ED9}"/>
              </a:ext>
            </a:extLst>
          </p:cNvPr>
          <p:cNvSpPr>
            <a:spLocks noGrp="1" noChangeArrowheads="1"/>
          </p:cNvSpPr>
          <p:nvPr>
            <p:ph type="title"/>
          </p:nvPr>
        </p:nvSpPr>
        <p:spPr>
          <a:xfrm>
            <a:off x="165100" y="231775"/>
            <a:ext cx="8724900" cy="504825"/>
          </a:xfrm>
        </p:spPr>
        <p:txBody>
          <a:bodyPr>
            <a:normAutofit fontScale="90000"/>
          </a:bodyPr>
          <a:lstStyle/>
          <a:p>
            <a:pPr eaLnBrk="1" hangingPunct="1"/>
            <a:r>
              <a:rPr lang="zh-CN" altLang="en-US" sz="3600" dirty="0">
                <a:latin typeface="隶书" panose="02010509060101010101" pitchFamily="49" charset="-122"/>
                <a:ea typeface="隶书" panose="02010509060101010101" pitchFamily="49" charset="-122"/>
              </a:rPr>
              <a:t>简易键盘接口的实现</a:t>
            </a:r>
          </a:p>
        </p:txBody>
      </p:sp>
      <p:grpSp>
        <p:nvGrpSpPr>
          <p:cNvPr id="5" name="组合 4">
            <a:extLst>
              <a:ext uri="{FF2B5EF4-FFF2-40B4-BE49-F238E27FC236}">
                <a16:creationId xmlns:a16="http://schemas.microsoft.com/office/drawing/2014/main" id="{F995BCDF-6277-48C9-B5C9-5ADBFDE8B625}"/>
              </a:ext>
            </a:extLst>
          </p:cNvPr>
          <p:cNvGrpSpPr>
            <a:grpSpLocks/>
          </p:cNvGrpSpPr>
          <p:nvPr/>
        </p:nvGrpSpPr>
        <p:grpSpPr bwMode="auto">
          <a:xfrm>
            <a:off x="6691313" y="2438400"/>
            <a:ext cx="377825" cy="3468688"/>
            <a:chOff x="6691084" y="2438399"/>
            <a:chExt cx="377373" cy="3468913"/>
          </a:xfrm>
        </p:grpSpPr>
        <p:sp>
          <p:nvSpPr>
            <p:cNvPr id="113674" name="矩形 2">
              <a:extLst>
                <a:ext uri="{FF2B5EF4-FFF2-40B4-BE49-F238E27FC236}">
                  <a16:creationId xmlns:a16="http://schemas.microsoft.com/office/drawing/2014/main" id="{E7D107B5-559F-4E40-8EF8-45209FCEFAC0}"/>
                </a:ext>
              </a:extLst>
            </p:cNvPr>
            <p:cNvSpPr>
              <a:spLocks noChangeArrowheads="1"/>
            </p:cNvSpPr>
            <p:nvPr/>
          </p:nvSpPr>
          <p:spPr bwMode="auto">
            <a:xfrm>
              <a:off x="6691086" y="2438399"/>
              <a:ext cx="377371" cy="130629"/>
            </a:xfrm>
            <a:prstGeom prst="rect">
              <a:avLst/>
            </a:prstGeom>
            <a:solidFill>
              <a:srgbClr val="FFFFFF"/>
            </a:solidFill>
            <a:ln w="28575" algn="ctr">
              <a:solidFill>
                <a:srgbClr val="FF00FF"/>
              </a:solidFill>
              <a:round/>
              <a:headEnd/>
              <a:tailEnd/>
            </a:ln>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75" name="矩形 9">
              <a:extLst>
                <a:ext uri="{FF2B5EF4-FFF2-40B4-BE49-F238E27FC236}">
                  <a16:creationId xmlns:a16="http://schemas.microsoft.com/office/drawing/2014/main" id="{D1B448C9-8083-48D1-BEB8-97A9D736057B}"/>
                </a:ext>
              </a:extLst>
            </p:cNvPr>
            <p:cNvSpPr>
              <a:spLocks noChangeArrowheads="1"/>
            </p:cNvSpPr>
            <p:nvPr/>
          </p:nvSpPr>
          <p:spPr bwMode="auto">
            <a:xfrm>
              <a:off x="6691086" y="3004456"/>
              <a:ext cx="377371" cy="130629"/>
            </a:xfrm>
            <a:prstGeom prst="rect">
              <a:avLst/>
            </a:prstGeom>
            <a:solidFill>
              <a:srgbClr val="FFFFFF"/>
            </a:solidFill>
            <a:ln w="28575" algn="ctr">
              <a:solidFill>
                <a:srgbClr val="FF00FF"/>
              </a:solidFill>
              <a:round/>
              <a:headEnd/>
              <a:tailEnd/>
            </a:ln>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76" name="矩形 10">
              <a:extLst>
                <a:ext uri="{FF2B5EF4-FFF2-40B4-BE49-F238E27FC236}">
                  <a16:creationId xmlns:a16="http://schemas.microsoft.com/office/drawing/2014/main" id="{CBE6FC8A-B8AE-4EE5-9A2E-DCBEA9EABEC5}"/>
                </a:ext>
              </a:extLst>
            </p:cNvPr>
            <p:cNvSpPr>
              <a:spLocks noChangeArrowheads="1"/>
            </p:cNvSpPr>
            <p:nvPr/>
          </p:nvSpPr>
          <p:spPr bwMode="auto">
            <a:xfrm>
              <a:off x="6691086" y="3614056"/>
              <a:ext cx="377371" cy="130629"/>
            </a:xfrm>
            <a:prstGeom prst="rect">
              <a:avLst/>
            </a:prstGeom>
            <a:solidFill>
              <a:srgbClr val="FFFFFF"/>
            </a:solidFill>
            <a:ln w="28575" algn="ctr">
              <a:solidFill>
                <a:srgbClr val="FF00FF"/>
              </a:solidFill>
              <a:round/>
              <a:headEnd/>
              <a:tailEnd/>
            </a:ln>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77" name="矩形 11">
              <a:extLst>
                <a:ext uri="{FF2B5EF4-FFF2-40B4-BE49-F238E27FC236}">
                  <a16:creationId xmlns:a16="http://schemas.microsoft.com/office/drawing/2014/main" id="{0BD1D5D2-A639-4E6F-83D1-A04768D10919}"/>
                </a:ext>
              </a:extLst>
            </p:cNvPr>
            <p:cNvSpPr>
              <a:spLocks noChangeArrowheads="1"/>
            </p:cNvSpPr>
            <p:nvPr/>
          </p:nvSpPr>
          <p:spPr bwMode="auto">
            <a:xfrm>
              <a:off x="6691086" y="4122056"/>
              <a:ext cx="377371" cy="130629"/>
            </a:xfrm>
            <a:prstGeom prst="rect">
              <a:avLst/>
            </a:prstGeom>
            <a:solidFill>
              <a:srgbClr val="FFFFFF"/>
            </a:solidFill>
            <a:ln w="28575" algn="ctr">
              <a:solidFill>
                <a:srgbClr val="FF00FF"/>
              </a:solidFill>
              <a:round/>
              <a:headEnd/>
              <a:tailEnd/>
            </a:ln>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78" name="矩形 12">
              <a:extLst>
                <a:ext uri="{FF2B5EF4-FFF2-40B4-BE49-F238E27FC236}">
                  <a16:creationId xmlns:a16="http://schemas.microsoft.com/office/drawing/2014/main" id="{41AABA53-8AF7-4DE1-A93E-5E8385CEADAD}"/>
                </a:ext>
              </a:extLst>
            </p:cNvPr>
            <p:cNvSpPr>
              <a:spLocks noChangeArrowheads="1"/>
            </p:cNvSpPr>
            <p:nvPr/>
          </p:nvSpPr>
          <p:spPr bwMode="auto">
            <a:xfrm>
              <a:off x="6691086" y="4688112"/>
              <a:ext cx="377371" cy="130629"/>
            </a:xfrm>
            <a:prstGeom prst="rect">
              <a:avLst/>
            </a:prstGeom>
            <a:solidFill>
              <a:srgbClr val="FFFFFF"/>
            </a:solidFill>
            <a:ln w="28575" algn="ctr">
              <a:solidFill>
                <a:srgbClr val="FF00FF"/>
              </a:solidFill>
              <a:round/>
              <a:headEnd/>
              <a:tailEnd/>
            </a:ln>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79" name="矩形 13">
              <a:extLst>
                <a:ext uri="{FF2B5EF4-FFF2-40B4-BE49-F238E27FC236}">
                  <a16:creationId xmlns:a16="http://schemas.microsoft.com/office/drawing/2014/main" id="{673518B7-74A4-43A5-B5D2-1B3C08C797F8}"/>
                </a:ext>
              </a:extLst>
            </p:cNvPr>
            <p:cNvSpPr>
              <a:spLocks noChangeArrowheads="1"/>
            </p:cNvSpPr>
            <p:nvPr/>
          </p:nvSpPr>
          <p:spPr bwMode="auto">
            <a:xfrm>
              <a:off x="6691086" y="5050970"/>
              <a:ext cx="377371" cy="130629"/>
            </a:xfrm>
            <a:prstGeom prst="rect">
              <a:avLst/>
            </a:prstGeom>
            <a:solidFill>
              <a:srgbClr val="FFFFFF"/>
            </a:solidFill>
            <a:ln w="28575" algn="ctr">
              <a:solidFill>
                <a:srgbClr val="FF00FF"/>
              </a:solidFill>
              <a:round/>
              <a:headEnd/>
              <a:tailEnd/>
            </a:ln>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80" name="矩形 14">
              <a:extLst>
                <a:ext uri="{FF2B5EF4-FFF2-40B4-BE49-F238E27FC236}">
                  <a16:creationId xmlns:a16="http://schemas.microsoft.com/office/drawing/2014/main" id="{2D8A1CEF-FA98-42DA-80EC-F48F1D847566}"/>
                </a:ext>
              </a:extLst>
            </p:cNvPr>
            <p:cNvSpPr>
              <a:spLocks noChangeArrowheads="1"/>
            </p:cNvSpPr>
            <p:nvPr/>
          </p:nvSpPr>
          <p:spPr bwMode="auto">
            <a:xfrm>
              <a:off x="6691085" y="5399312"/>
              <a:ext cx="377371" cy="130629"/>
            </a:xfrm>
            <a:prstGeom prst="rect">
              <a:avLst/>
            </a:prstGeom>
            <a:solidFill>
              <a:srgbClr val="FFFFFF"/>
            </a:solidFill>
            <a:ln w="28575" algn="ctr">
              <a:solidFill>
                <a:srgbClr val="FF00FF"/>
              </a:solidFill>
              <a:round/>
              <a:headEnd/>
              <a:tailEnd/>
            </a:ln>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3681" name="矩形 15">
              <a:extLst>
                <a:ext uri="{FF2B5EF4-FFF2-40B4-BE49-F238E27FC236}">
                  <a16:creationId xmlns:a16="http://schemas.microsoft.com/office/drawing/2014/main" id="{A90A2997-F41F-4DCE-87A0-12F39DDE844D}"/>
                </a:ext>
              </a:extLst>
            </p:cNvPr>
            <p:cNvSpPr>
              <a:spLocks noChangeArrowheads="1"/>
            </p:cNvSpPr>
            <p:nvPr/>
          </p:nvSpPr>
          <p:spPr bwMode="auto">
            <a:xfrm>
              <a:off x="6691084" y="5776683"/>
              <a:ext cx="377371" cy="130629"/>
            </a:xfrm>
            <a:prstGeom prst="rect">
              <a:avLst/>
            </a:prstGeom>
            <a:solidFill>
              <a:srgbClr val="FFFFFF"/>
            </a:solidFill>
            <a:ln w="28575" algn="ctr">
              <a:solidFill>
                <a:srgbClr val="FF00FF"/>
              </a:solidFill>
              <a:round/>
              <a:headEnd/>
              <a:tailEnd/>
            </a:ln>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7" name="Rectangle 3">
            <a:extLst>
              <a:ext uri="{FF2B5EF4-FFF2-40B4-BE49-F238E27FC236}">
                <a16:creationId xmlns:a16="http://schemas.microsoft.com/office/drawing/2014/main" id="{263186E4-091C-4FFB-BE76-F5AFD35C8F8A}"/>
              </a:ext>
            </a:extLst>
          </p:cNvPr>
          <p:cNvSpPr txBox="1">
            <a:spLocks noChangeArrowheads="1"/>
          </p:cNvSpPr>
          <p:nvPr/>
        </p:nvSpPr>
        <p:spPr bwMode="auto">
          <a:xfrm>
            <a:off x="6051550" y="5943600"/>
            <a:ext cx="1174750"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0" rIns="36000" bIns="0"/>
          <a:lstStyle>
            <a:lvl1pPr marL="342900" indent="-342900" algn="l" rtl="0" fontAlgn="base">
              <a:lnSpc>
                <a:spcPct val="114000"/>
              </a:lnSpc>
              <a:spcBef>
                <a:spcPct val="20000"/>
              </a:spcBef>
              <a:spcAft>
                <a:spcPts val="600"/>
              </a:spcAft>
              <a:buBlip>
                <a:blip r:embed="rId4"/>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buFontTx/>
              <a:buNone/>
              <a:defRPr/>
            </a:pPr>
            <a:r>
              <a:rPr lang="en-US" altLang="zh-CN" sz="2000" kern="0" dirty="0">
                <a:solidFill>
                  <a:srgbClr val="FF00FF"/>
                </a:solidFill>
              </a:rPr>
              <a:t>300</a:t>
            </a:r>
            <a:r>
              <a:rPr lang="el-GR" altLang="zh-CN" sz="2000" kern="0" dirty="0">
                <a:solidFill>
                  <a:srgbClr val="FF00FF"/>
                </a:solidFill>
                <a:latin typeface="华文宋体" panose="02010600040101010101" pitchFamily="2" charset="-122"/>
                <a:ea typeface="华文宋体" panose="02010600040101010101" pitchFamily="2" charset="-122"/>
              </a:rPr>
              <a:t>Ω</a:t>
            </a:r>
            <a:r>
              <a:rPr lang="en-US" altLang="zh-CN" sz="2000" kern="0" dirty="0">
                <a:solidFill>
                  <a:srgbClr val="FF00FF"/>
                </a:solidFill>
              </a:rPr>
              <a:t>×8</a:t>
            </a:r>
            <a:endParaRPr lang="zh-CN" altLang="en-US" sz="2000" kern="0" dirty="0">
              <a:solidFill>
                <a:srgbClr val="FF00FF"/>
              </a:solidFill>
            </a:endParaRPr>
          </a:p>
        </p:txBody>
      </p:sp>
      <p:sp>
        <p:nvSpPr>
          <p:cNvPr id="2" name="灯片编号占位符 1">
            <a:extLst>
              <a:ext uri="{FF2B5EF4-FFF2-40B4-BE49-F238E27FC236}">
                <a16:creationId xmlns:a16="http://schemas.microsoft.com/office/drawing/2014/main" id="{47C9688D-D606-4F88-B5A2-20D57F884ABB}"/>
              </a:ext>
            </a:extLst>
          </p:cNvPr>
          <p:cNvSpPr>
            <a:spLocks noGrp="1"/>
          </p:cNvSpPr>
          <p:nvPr>
            <p:ph type="sldNum" sz="quarter" idx="12"/>
          </p:nvPr>
        </p:nvSpPr>
        <p:spPr/>
        <p:txBody>
          <a:bodyPr/>
          <a:lstStyle/>
          <a:p>
            <a:fld id="{22E77DEE-32E4-4009-988B-F2758F7B8AC2}" type="slidenum">
              <a:rPr lang="zh-CN" altLang="en-US" smtClean="0"/>
              <a:t>65</a:t>
            </a:fld>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标题 2">
            <a:extLst>
              <a:ext uri="{FF2B5EF4-FFF2-40B4-BE49-F238E27FC236}">
                <a16:creationId xmlns:a16="http://schemas.microsoft.com/office/drawing/2014/main" id="{838BD82C-2E98-43E1-8E64-138A5661473B}"/>
              </a:ext>
            </a:extLst>
          </p:cNvPr>
          <p:cNvSpPr>
            <a:spLocks noGrp="1" noChangeArrowheads="1"/>
          </p:cNvSpPr>
          <p:nvPr>
            <p:ph type="title"/>
          </p:nvPr>
        </p:nvSpPr>
        <p:spPr>
          <a:xfrm>
            <a:off x="468313" y="357188"/>
            <a:ext cx="8229600" cy="504825"/>
          </a:xfrm>
        </p:spPr>
        <p:txBody>
          <a:bodyPr>
            <a:normAutofit fontScale="90000"/>
          </a:bodyPr>
          <a:lstStyle/>
          <a:p>
            <a:pPr eaLnBrk="1" hangingPunct="1"/>
            <a:r>
              <a:rPr kumimoji="1" lang="en-US" altLang="zh-CN">
                <a:solidFill>
                  <a:srgbClr val="FF0000"/>
                </a:solidFill>
              </a:rPr>
              <a:t>(3)  </a:t>
            </a:r>
            <a:r>
              <a:rPr lang="zh-CN" altLang="en-US"/>
              <a:t>拉电流方式和灌电流方式</a:t>
            </a:r>
          </a:p>
        </p:txBody>
      </p:sp>
      <p:sp>
        <p:nvSpPr>
          <p:cNvPr id="533507" name="Rectangle 3">
            <a:extLst>
              <a:ext uri="{FF2B5EF4-FFF2-40B4-BE49-F238E27FC236}">
                <a16:creationId xmlns:a16="http://schemas.microsoft.com/office/drawing/2014/main" id="{C591DF12-C96A-45A4-BF78-855744FA7F80}"/>
              </a:ext>
            </a:extLst>
          </p:cNvPr>
          <p:cNvSpPr>
            <a:spLocks noGrp="1" noChangeArrowheads="1"/>
          </p:cNvSpPr>
          <p:nvPr>
            <p:ph idx="1"/>
          </p:nvPr>
        </p:nvSpPr>
        <p:spPr>
          <a:xfrm>
            <a:off x="150813" y="1338262"/>
            <a:ext cx="8848725" cy="1260475"/>
          </a:xfrm>
        </p:spPr>
        <p:txBody>
          <a:bodyPr/>
          <a:lstStyle/>
          <a:p>
            <a:pPr marL="266700" indent="-266700" eaLnBrk="1" hangingPunct="1">
              <a:lnSpc>
                <a:spcPct val="101000"/>
              </a:lnSpc>
              <a:spcBef>
                <a:spcPct val="0"/>
              </a:spcBef>
            </a:pPr>
            <a:r>
              <a:rPr lang="zh-CN" altLang="en-US" dirty="0"/>
              <a:t>若</a:t>
            </a:r>
            <a:r>
              <a:rPr lang="zh-CN" altLang="zh-CN" dirty="0"/>
              <a:t>矩阵按键扫描电路</a:t>
            </a:r>
            <a:r>
              <a:rPr lang="zh-CN" altLang="en-US" dirty="0">
                <a:solidFill>
                  <a:srgbClr val="0000FF"/>
                </a:solidFill>
              </a:rPr>
              <a:t>不加限流电阻</a:t>
            </a:r>
            <a:r>
              <a:rPr lang="en-US" altLang="zh-CN" dirty="0">
                <a:solidFill>
                  <a:srgbClr val="0000FF"/>
                </a:solidFill>
              </a:rPr>
              <a:t>, </a:t>
            </a:r>
            <a:r>
              <a:rPr lang="zh-CN" altLang="en-US" dirty="0">
                <a:solidFill>
                  <a:srgbClr val="0000FF"/>
                </a:solidFill>
              </a:rPr>
              <a:t>会顺坏</a:t>
            </a:r>
            <a:r>
              <a:rPr lang="en-US" altLang="zh-CN" dirty="0">
                <a:solidFill>
                  <a:srgbClr val="0000FF"/>
                </a:solidFill>
              </a:rPr>
              <a:t>I/O</a:t>
            </a:r>
            <a:r>
              <a:rPr lang="zh-CN" altLang="zh-CN" dirty="0">
                <a:solidFill>
                  <a:srgbClr val="0000FF"/>
                </a:solidFill>
              </a:rPr>
              <a:t>口</a:t>
            </a:r>
            <a:r>
              <a:rPr lang="en-US" altLang="zh-CN" dirty="0"/>
              <a:t>, </a:t>
            </a:r>
            <a:r>
              <a:rPr lang="zh-CN" altLang="en-US" dirty="0"/>
              <a:t>这可用弱上拉口</a:t>
            </a:r>
            <a:r>
              <a:rPr lang="en-US" altLang="zh-CN" dirty="0">
                <a:solidFill>
                  <a:srgbClr val="FF0000"/>
                </a:solidFill>
              </a:rPr>
              <a:t>P2.0</a:t>
            </a:r>
            <a:r>
              <a:rPr lang="zh-CN" altLang="en-US" dirty="0">
                <a:solidFill>
                  <a:srgbClr val="FF0000"/>
                </a:solidFill>
              </a:rPr>
              <a:t>引脚和</a:t>
            </a:r>
            <a:r>
              <a:rPr lang="en-US" altLang="zh-CN" dirty="0">
                <a:solidFill>
                  <a:srgbClr val="FF0000"/>
                </a:solidFill>
              </a:rPr>
              <a:t>P2.4</a:t>
            </a:r>
            <a:r>
              <a:rPr lang="zh-CN" altLang="en-US" dirty="0">
                <a:solidFill>
                  <a:srgbClr val="FF0000"/>
                </a:solidFill>
              </a:rPr>
              <a:t>引脚</a:t>
            </a:r>
            <a:r>
              <a:rPr lang="zh-CN" altLang="en-US" dirty="0"/>
              <a:t>经按键连接的电路说明</a:t>
            </a:r>
            <a:r>
              <a:rPr lang="en-US" altLang="zh-CN" dirty="0"/>
              <a:t>:  </a:t>
            </a:r>
            <a:r>
              <a:rPr lang="en-US" altLang="zh-CN" dirty="0">
                <a:solidFill>
                  <a:srgbClr val="FF0000"/>
                </a:solidFill>
              </a:rPr>
              <a:t>P2.0</a:t>
            </a:r>
            <a:r>
              <a:rPr lang="zh-CN" altLang="en-US" dirty="0">
                <a:solidFill>
                  <a:srgbClr val="FF0000"/>
                </a:solidFill>
              </a:rPr>
              <a:t>口线的</a:t>
            </a:r>
            <a:r>
              <a:rPr lang="en-US" altLang="zh-CN" dirty="0">
                <a:solidFill>
                  <a:srgbClr val="FF0000"/>
                </a:solidFill>
              </a:rPr>
              <a:t>T1</a:t>
            </a:r>
            <a:r>
              <a:rPr lang="zh-CN" altLang="en-US" dirty="0">
                <a:solidFill>
                  <a:srgbClr val="FF0000"/>
                </a:solidFill>
              </a:rPr>
              <a:t>管</a:t>
            </a:r>
            <a:r>
              <a:rPr lang="zh-CN" altLang="en-US" dirty="0"/>
              <a:t>源极及</a:t>
            </a:r>
            <a:r>
              <a:rPr lang="en-US" altLang="zh-CN" dirty="0">
                <a:solidFill>
                  <a:srgbClr val="FF0000"/>
                </a:solidFill>
              </a:rPr>
              <a:t>P2.4</a:t>
            </a:r>
            <a:r>
              <a:rPr lang="zh-CN" altLang="en-US" dirty="0">
                <a:solidFill>
                  <a:srgbClr val="FF0000"/>
                </a:solidFill>
              </a:rPr>
              <a:t>的</a:t>
            </a:r>
            <a:r>
              <a:rPr lang="en-US" altLang="zh-CN" dirty="0">
                <a:solidFill>
                  <a:srgbClr val="FF0000"/>
                </a:solidFill>
              </a:rPr>
              <a:t>T4</a:t>
            </a:r>
            <a:r>
              <a:rPr lang="zh-CN" altLang="en-US" dirty="0">
                <a:solidFill>
                  <a:srgbClr val="FF0000"/>
                </a:solidFill>
              </a:rPr>
              <a:t>管</a:t>
            </a:r>
            <a:r>
              <a:rPr lang="zh-CN" altLang="en-US" dirty="0"/>
              <a:t>漏极分别经按键、限流电阻接通</a:t>
            </a:r>
            <a:r>
              <a:rPr lang="en-US" altLang="zh-CN" dirty="0"/>
              <a:t>, </a:t>
            </a:r>
            <a:r>
              <a:rPr lang="zh-CN" altLang="en-US" dirty="0"/>
              <a:t>设</a:t>
            </a:r>
            <a:r>
              <a:rPr lang="en-US" altLang="zh-CN" dirty="0">
                <a:solidFill>
                  <a:srgbClr val="FF0000"/>
                </a:solidFill>
              </a:rPr>
              <a:t>P2.0</a:t>
            </a:r>
            <a:r>
              <a:rPr lang="zh-CN" altLang="en-US" dirty="0">
                <a:solidFill>
                  <a:srgbClr val="FF0000"/>
                </a:solidFill>
              </a:rPr>
              <a:t>和</a:t>
            </a:r>
            <a:r>
              <a:rPr lang="en-US" altLang="zh-CN" dirty="0">
                <a:solidFill>
                  <a:srgbClr val="FF0000"/>
                </a:solidFill>
              </a:rPr>
              <a:t>P2.4</a:t>
            </a:r>
            <a:r>
              <a:rPr lang="zh-CN" altLang="zh-CN" dirty="0"/>
              <a:t>口</a:t>
            </a:r>
            <a:r>
              <a:rPr lang="zh-CN" altLang="en-US" dirty="0"/>
              <a:t>线</a:t>
            </a:r>
            <a:r>
              <a:rPr lang="zh-CN" altLang="zh-CN" dirty="0"/>
              <a:t>输出</a:t>
            </a:r>
            <a:r>
              <a:rPr lang="zh-CN" altLang="en-US" dirty="0"/>
              <a:t>过</a:t>
            </a:r>
            <a:r>
              <a:rPr lang="zh-CN" altLang="zh-CN" dirty="0"/>
              <a:t>低</a:t>
            </a:r>
            <a:r>
              <a:rPr lang="zh-CN" altLang="en-US" dirty="0"/>
              <a:t>电平；</a:t>
            </a:r>
            <a:endParaRPr lang="en-US" altLang="zh-CN" dirty="0"/>
          </a:p>
        </p:txBody>
      </p:sp>
      <p:sp>
        <p:nvSpPr>
          <p:cNvPr id="2" name="日期占位符 1">
            <a:extLst>
              <a:ext uri="{FF2B5EF4-FFF2-40B4-BE49-F238E27FC236}">
                <a16:creationId xmlns:a16="http://schemas.microsoft.com/office/drawing/2014/main" id="{2640A6ED-15FB-434C-9AD4-230954DFF847}"/>
              </a:ext>
            </a:extLst>
          </p:cNvPr>
          <p:cNvSpPr>
            <a:spLocks noGrp="1"/>
          </p:cNvSpPr>
          <p:nvPr>
            <p:ph type="dt" sz="quarter" idx="11"/>
          </p:nvPr>
        </p:nvSpPr>
        <p:spPr>
          <a:xfrm>
            <a:off x="8194675" y="6683375"/>
            <a:ext cx="827088" cy="174625"/>
          </a:xfrm>
        </p:spPr>
        <p:txBody>
          <a:bodyPr/>
          <a:lstStyle/>
          <a:p>
            <a:pPr>
              <a:defRPr/>
            </a:pPr>
            <a:fld id="{687AB1B7-4730-438F-A261-9BEA29ADB33F}" type="datetime10">
              <a:rPr lang="zh-CN" altLang="en-US"/>
              <a:pPr>
                <a:defRPr/>
              </a:pPr>
              <a:t>00:30</a:t>
            </a:fld>
            <a:endParaRPr lang="zh-CN" altLang="en-US"/>
          </a:p>
        </p:txBody>
      </p:sp>
      <p:sp>
        <p:nvSpPr>
          <p:cNvPr id="9" name="Rectangle 3">
            <a:extLst>
              <a:ext uri="{FF2B5EF4-FFF2-40B4-BE49-F238E27FC236}">
                <a16:creationId xmlns:a16="http://schemas.microsoft.com/office/drawing/2014/main" id="{785F7DA7-2DCE-4C92-94A3-D17EBE07F280}"/>
              </a:ext>
            </a:extLst>
          </p:cNvPr>
          <p:cNvSpPr txBox="1">
            <a:spLocks noChangeArrowheads="1"/>
          </p:cNvSpPr>
          <p:nvPr/>
        </p:nvSpPr>
        <p:spPr bwMode="auto">
          <a:xfrm>
            <a:off x="319088" y="3883025"/>
            <a:ext cx="6089650" cy="232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lnSpc>
                <a:spcPct val="110000"/>
              </a:lnSpc>
              <a:spcBef>
                <a:spcPts val="0"/>
              </a:spcBef>
              <a:buFontTx/>
              <a:buNone/>
              <a:defRPr/>
            </a:pPr>
            <a:r>
              <a:rPr lang="zh-CN" altLang="en-US" kern="0" dirty="0"/>
              <a:t>若无限流电阻</a:t>
            </a:r>
            <a:r>
              <a:rPr lang="en-US" altLang="zh-CN" kern="0" dirty="0"/>
              <a:t>, </a:t>
            </a:r>
            <a:r>
              <a:rPr lang="zh-CN" altLang="en-US" kern="0" dirty="0"/>
              <a:t>相当于</a:t>
            </a:r>
            <a:r>
              <a:rPr lang="en-US" altLang="zh-CN" dirty="0">
                <a:solidFill>
                  <a:srgbClr val="FF0000"/>
                </a:solidFill>
              </a:rPr>
              <a:t>P2.0</a:t>
            </a:r>
            <a:r>
              <a:rPr lang="zh-CN" altLang="en-US" dirty="0">
                <a:solidFill>
                  <a:srgbClr val="FF0000"/>
                </a:solidFill>
              </a:rPr>
              <a:t>的</a:t>
            </a:r>
            <a:r>
              <a:rPr lang="en-US" altLang="zh-CN" kern="0" dirty="0">
                <a:solidFill>
                  <a:srgbClr val="FF0000"/>
                </a:solidFill>
              </a:rPr>
              <a:t>T1</a:t>
            </a:r>
            <a:r>
              <a:rPr lang="zh-CN" altLang="en-US" kern="0" dirty="0">
                <a:solidFill>
                  <a:srgbClr val="FF0000"/>
                </a:solidFill>
              </a:rPr>
              <a:t>管和</a:t>
            </a:r>
            <a:r>
              <a:rPr lang="en-US" altLang="zh-CN" dirty="0">
                <a:solidFill>
                  <a:srgbClr val="FF0000"/>
                </a:solidFill>
              </a:rPr>
              <a:t>P2.4</a:t>
            </a:r>
            <a:r>
              <a:rPr lang="zh-CN" altLang="en-US" dirty="0">
                <a:solidFill>
                  <a:srgbClr val="FF0000"/>
                </a:solidFill>
              </a:rPr>
              <a:t>的</a:t>
            </a:r>
            <a:r>
              <a:rPr lang="en-US" altLang="zh-CN" kern="0" dirty="0">
                <a:solidFill>
                  <a:srgbClr val="FF0000"/>
                </a:solidFill>
              </a:rPr>
              <a:t>T4</a:t>
            </a:r>
            <a:r>
              <a:rPr lang="zh-CN" altLang="en-US" kern="0" dirty="0">
                <a:solidFill>
                  <a:srgbClr val="FF0000"/>
                </a:solidFill>
              </a:rPr>
              <a:t>管同时短接在电源的正负端</a:t>
            </a:r>
            <a:r>
              <a:rPr lang="en-US" altLang="zh-CN" kern="0" dirty="0">
                <a:solidFill>
                  <a:srgbClr val="FF0000"/>
                </a:solidFill>
              </a:rPr>
              <a:t>:</a:t>
            </a:r>
            <a:r>
              <a:rPr lang="zh-CN" altLang="en-US" kern="0" dirty="0">
                <a:solidFill>
                  <a:srgbClr val="FF0000"/>
                </a:solidFill>
              </a:rPr>
              <a:t>电流很大，</a:t>
            </a:r>
            <a:r>
              <a:rPr lang="zh-CN" altLang="zh-CN" kern="0" dirty="0"/>
              <a:t>就有可能造成</a:t>
            </a:r>
            <a:r>
              <a:rPr lang="en-US" altLang="zh-CN" kern="0" dirty="0"/>
              <a:t>I/O</a:t>
            </a:r>
            <a:r>
              <a:rPr lang="zh-CN" altLang="zh-CN" kern="0" dirty="0"/>
              <a:t>口损坏</a:t>
            </a:r>
            <a:r>
              <a:rPr lang="zh-CN" altLang="en-US" kern="0" dirty="0"/>
              <a:t>。</a:t>
            </a:r>
            <a:r>
              <a:rPr lang="zh-CN" altLang="en-US" dirty="0"/>
              <a:t>因此单片机的</a:t>
            </a:r>
            <a:r>
              <a:rPr lang="en-US" altLang="zh-CN" dirty="0"/>
              <a:t>2</a:t>
            </a:r>
            <a:r>
              <a:rPr lang="zh-CN" altLang="zh-CN" dirty="0"/>
              <a:t>个</a:t>
            </a:r>
            <a:r>
              <a:rPr lang="zh-CN" altLang="en-US" dirty="0"/>
              <a:t>引脚是</a:t>
            </a:r>
            <a:r>
              <a:rPr lang="zh-CN" altLang="zh-CN" dirty="0"/>
              <a:t>不应该直接短接在一起</a:t>
            </a:r>
            <a:r>
              <a:rPr lang="zh-CN" altLang="en-US" dirty="0"/>
              <a:t>的。</a:t>
            </a:r>
            <a:endParaRPr lang="en-US" altLang="zh-CN" kern="0" dirty="0"/>
          </a:p>
        </p:txBody>
      </p:sp>
      <p:pic>
        <p:nvPicPr>
          <p:cNvPr id="12" name="图片 11">
            <a:extLst>
              <a:ext uri="{FF2B5EF4-FFF2-40B4-BE49-F238E27FC236}">
                <a16:creationId xmlns:a16="http://schemas.microsoft.com/office/drawing/2014/main" id="{FD4F89C7-941C-48A5-B291-809509002E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6225" y="3694113"/>
            <a:ext cx="2144713"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3">
            <a:extLst>
              <a:ext uri="{FF2B5EF4-FFF2-40B4-BE49-F238E27FC236}">
                <a16:creationId xmlns:a16="http://schemas.microsoft.com/office/drawing/2014/main" id="{AAD56FD1-9B6F-4590-9FA9-26C5498D0EDB}"/>
              </a:ext>
            </a:extLst>
          </p:cNvPr>
          <p:cNvSpPr txBox="1">
            <a:spLocks noChangeArrowheads="1"/>
          </p:cNvSpPr>
          <p:nvPr/>
        </p:nvSpPr>
        <p:spPr bwMode="auto">
          <a:xfrm>
            <a:off x="7451725" y="3946525"/>
            <a:ext cx="13954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algn="ctr" eaLnBrk="1" hangingPunct="1">
              <a:lnSpc>
                <a:spcPct val="85000"/>
              </a:lnSpc>
              <a:spcBef>
                <a:spcPts val="0"/>
              </a:spcBef>
              <a:buFontTx/>
              <a:buNone/>
              <a:defRPr/>
            </a:pPr>
            <a:r>
              <a:rPr lang="en-US" altLang="zh-CN" sz="2400" kern="0" dirty="0">
                <a:solidFill>
                  <a:srgbClr val="FF0000"/>
                </a:solidFill>
              </a:rPr>
              <a:t>P2.0</a:t>
            </a:r>
            <a:r>
              <a:rPr lang="zh-CN" altLang="en-US" sz="2400" kern="0" dirty="0">
                <a:solidFill>
                  <a:srgbClr val="FF0000"/>
                </a:solidFill>
              </a:rPr>
              <a:t>口线的</a:t>
            </a:r>
            <a:r>
              <a:rPr lang="en-US" altLang="zh-CN" sz="2400" kern="0" dirty="0">
                <a:solidFill>
                  <a:srgbClr val="FF0000"/>
                </a:solidFill>
              </a:rPr>
              <a:t>T1</a:t>
            </a:r>
            <a:endParaRPr lang="en-US" altLang="zh-CN" sz="2400" kern="0" dirty="0"/>
          </a:p>
        </p:txBody>
      </p:sp>
      <p:sp>
        <p:nvSpPr>
          <p:cNvPr id="16" name="Rectangle 3">
            <a:extLst>
              <a:ext uri="{FF2B5EF4-FFF2-40B4-BE49-F238E27FC236}">
                <a16:creationId xmlns:a16="http://schemas.microsoft.com/office/drawing/2014/main" id="{B387BD3F-3A77-4847-89E5-0D28F88CBE3C}"/>
              </a:ext>
            </a:extLst>
          </p:cNvPr>
          <p:cNvSpPr txBox="1">
            <a:spLocks noChangeArrowheads="1"/>
          </p:cNvSpPr>
          <p:nvPr/>
        </p:nvSpPr>
        <p:spPr bwMode="auto">
          <a:xfrm>
            <a:off x="6689725" y="5838825"/>
            <a:ext cx="1535113"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algn="ctr" eaLnBrk="1" hangingPunct="1">
              <a:lnSpc>
                <a:spcPct val="85000"/>
              </a:lnSpc>
              <a:spcBef>
                <a:spcPts val="0"/>
              </a:spcBef>
              <a:buFontTx/>
              <a:buNone/>
              <a:defRPr/>
            </a:pPr>
            <a:r>
              <a:rPr lang="en-US" altLang="zh-CN" sz="2400" kern="0" dirty="0">
                <a:solidFill>
                  <a:srgbClr val="FF0000"/>
                </a:solidFill>
              </a:rPr>
              <a:t>P2.4</a:t>
            </a:r>
            <a:r>
              <a:rPr lang="zh-CN" altLang="en-US" sz="2400" kern="0" dirty="0">
                <a:solidFill>
                  <a:srgbClr val="FF0000"/>
                </a:solidFill>
              </a:rPr>
              <a:t>口线的</a:t>
            </a:r>
            <a:r>
              <a:rPr lang="en-US" altLang="zh-CN" sz="2400" kern="0" dirty="0">
                <a:solidFill>
                  <a:srgbClr val="FF0000"/>
                </a:solidFill>
              </a:rPr>
              <a:t>T4</a:t>
            </a:r>
            <a:endParaRPr lang="en-US" altLang="zh-CN" sz="2400" kern="0" dirty="0"/>
          </a:p>
        </p:txBody>
      </p:sp>
      <p:sp>
        <p:nvSpPr>
          <p:cNvPr id="17" name="Rectangle 3">
            <a:extLst>
              <a:ext uri="{FF2B5EF4-FFF2-40B4-BE49-F238E27FC236}">
                <a16:creationId xmlns:a16="http://schemas.microsoft.com/office/drawing/2014/main" id="{5444FED2-7774-4BA0-8A5F-4AF83B1B99FB}"/>
              </a:ext>
            </a:extLst>
          </p:cNvPr>
          <p:cNvSpPr txBox="1">
            <a:spLocks noChangeArrowheads="1"/>
          </p:cNvSpPr>
          <p:nvPr/>
        </p:nvSpPr>
        <p:spPr bwMode="auto">
          <a:xfrm>
            <a:off x="7499350" y="4745038"/>
            <a:ext cx="738188"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lnSpc>
                <a:spcPct val="85000"/>
              </a:lnSpc>
              <a:spcBef>
                <a:spcPts val="0"/>
              </a:spcBef>
              <a:buFontTx/>
              <a:buNone/>
              <a:defRPr/>
            </a:pPr>
            <a:r>
              <a:rPr lang="zh-CN" altLang="en-US" sz="2000" kern="0" dirty="0">
                <a:solidFill>
                  <a:srgbClr val="FF00FF"/>
                </a:solidFill>
              </a:rPr>
              <a:t>按键</a:t>
            </a:r>
            <a:endParaRPr lang="en-US" altLang="zh-CN" sz="2000" kern="0" dirty="0">
              <a:solidFill>
                <a:srgbClr val="FF00FF"/>
              </a:solidFill>
            </a:endParaRPr>
          </a:p>
        </p:txBody>
      </p:sp>
      <p:sp>
        <p:nvSpPr>
          <p:cNvPr id="18" name="Rectangle 3">
            <a:extLst>
              <a:ext uri="{FF2B5EF4-FFF2-40B4-BE49-F238E27FC236}">
                <a16:creationId xmlns:a16="http://schemas.microsoft.com/office/drawing/2014/main" id="{00F0E745-AD43-4A05-9EA5-2B69A911BBB8}"/>
              </a:ext>
            </a:extLst>
          </p:cNvPr>
          <p:cNvSpPr txBox="1">
            <a:spLocks noChangeArrowheads="1"/>
          </p:cNvSpPr>
          <p:nvPr/>
        </p:nvSpPr>
        <p:spPr bwMode="auto">
          <a:xfrm>
            <a:off x="6470650" y="4078288"/>
            <a:ext cx="388938" cy="315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lnSpc>
                <a:spcPct val="85000"/>
              </a:lnSpc>
              <a:spcBef>
                <a:spcPts val="0"/>
              </a:spcBef>
              <a:buFontTx/>
              <a:buNone/>
              <a:defRPr/>
            </a:pPr>
            <a:r>
              <a:rPr lang="en-US" altLang="zh-CN" sz="2400" kern="0" dirty="0">
                <a:solidFill>
                  <a:srgbClr val="FF0000"/>
                </a:solidFill>
              </a:rPr>
              <a:t>0</a:t>
            </a:r>
            <a:endParaRPr lang="en-US" altLang="zh-CN" sz="2400" kern="0" dirty="0"/>
          </a:p>
        </p:txBody>
      </p:sp>
      <p:sp>
        <p:nvSpPr>
          <p:cNvPr id="19" name="Rectangle 3">
            <a:extLst>
              <a:ext uri="{FF2B5EF4-FFF2-40B4-BE49-F238E27FC236}">
                <a16:creationId xmlns:a16="http://schemas.microsoft.com/office/drawing/2014/main" id="{254BDF4A-0FA6-4264-B163-BAFFD11C476E}"/>
              </a:ext>
            </a:extLst>
          </p:cNvPr>
          <p:cNvSpPr txBox="1">
            <a:spLocks noChangeArrowheads="1"/>
          </p:cNvSpPr>
          <p:nvPr/>
        </p:nvSpPr>
        <p:spPr bwMode="auto">
          <a:xfrm>
            <a:off x="6484938" y="5443538"/>
            <a:ext cx="388937"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lnSpc>
                <a:spcPct val="85000"/>
              </a:lnSpc>
              <a:spcBef>
                <a:spcPts val="0"/>
              </a:spcBef>
              <a:buFontTx/>
              <a:buNone/>
              <a:defRPr/>
            </a:pPr>
            <a:r>
              <a:rPr lang="en-US" altLang="zh-CN" sz="2400" kern="0" dirty="0">
                <a:solidFill>
                  <a:srgbClr val="FF0000"/>
                </a:solidFill>
              </a:rPr>
              <a:t>1</a:t>
            </a:r>
            <a:endParaRPr lang="en-US" altLang="zh-CN" sz="2400" kern="0" dirty="0"/>
          </a:p>
        </p:txBody>
      </p:sp>
      <p:cxnSp>
        <p:nvCxnSpPr>
          <p:cNvPr id="20" name="直接箭头连接符 19">
            <a:extLst>
              <a:ext uri="{FF2B5EF4-FFF2-40B4-BE49-F238E27FC236}">
                <a16:creationId xmlns:a16="http://schemas.microsoft.com/office/drawing/2014/main" id="{7F1954DB-2189-42B5-ABFF-6B123977957C}"/>
              </a:ext>
            </a:extLst>
          </p:cNvPr>
          <p:cNvCxnSpPr>
            <a:cxnSpLocks/>
          </p:cNvCxnSpPr>
          <p:nvPr/>
        </p:nvCxnSpPr>
        <p:spPr bwMode="auto">
          <a:xfrm flipH="1">
            <a:off x="6689725" y="3498850"/>
            <a:ext cx="609600" cy="674688"/>
          </a:xfrm>
          <a:prstGeom prst="straightConnector1">
            <a:avLst/>
          </a:prstGeom>
          <a:noFill/>
          <a:ln w="9525" algn="ctr">
            <a:solidFill>
              <a:srgbClr val="FF0000"/>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Rectangle 3">
            <a:extLst>
              <a:ext uri="{FF2B5EF4-FFF2-40B4-BE49-F238E27FC236}">
                <a16:creationId xmlns:a16="http://schemas.microsoft.com/office/drawing/2014/main" id="{E6B694E1-E19E-43CF-B6AE-C56D174C14D1}"/>
              </a:ext>
            </a:extLst>
          </p:cNvPr>
          <p:cNvSpPr txBox="1">
            <a:spLocks noChangeArrowheads="1"/>
          </p:cNvSpPr>
          <p:nvPr/>
        </p:nvSpPr>
        <p:spPr bwMode="auto">
          <a:xfrm>
            <a:off x="220663" y="2708275"/>
            <a:ext cx="8809037" cy="94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6700" indent="-266700" eaLnBrk="1" hangingPunct="1">
              <a:lnSpc>
                <a:spcPct val="101000"/>
              </a:lnSpc>
              <a:spcBef>
                <a:spcPts val="0"/>
              </a:spcBef>
              <a:defRPr/>
            </a:pPr>
            <a:r>
              <a:rPr lang="zh-CN" altLang="en-US" kern="0" dirty="0">
                <a:solidFill>
                  <a:srgbClr val="FF00FF"/>
                </a:solidFill>
              </a:rPr>
              <a:t>当用</a:t>
            </a:r>
            <a:r>
              <a:rPr lang="en-US" altLang="zh-CN" kern="0" dirty="0">
                <a:solidFill>
                  <a:srgbClr val="FF00FF"/>
                </a:solidFill>
              </a:rPr>
              <a:t>P2.0</a:t>
            </a:r>
            <a:r>
              <a:rPr lang="zh-CN" altLang="en-US" kern="0" dirty="0">
                <a:solidFill>
                  <a:srgbClr val="FF00FF"/>
                </a:solidFill>
              </a:rPr>
              <a:t>口线</a:t>
            </a:r>
            <a:r>
              <a:rPr lang="zh-CN" altLang="zh-CN" kern="0" dirty="0">
                <a:solidFill>
                  <a:srgbClr val="FF00FF"/>
                </a:solidFill>
              </a:rPr>
              <a:t>读</a:t>
            </a:r>
            <a:r>
              <a:rPr lang="en-US" altLang="zh-CN" kern="0" dirty="0">
                <a:solidFill>
                  <a:srgbClr val="FF00FF"/>
                </a:solidFill>
              </a:rPr>
              <a:t>P2.4</a:t>
            </a:r>
            <a:r>
              <a:rPr lang="zh-CN" altLang="zh-CN" kern="0" dirty="0">
                <a:solidFill>
                  <a:srgbClr val="FF00FF"/>
                </a:solidFill>
              </a:rPr>
              <a:t>的状态</a:t>
            </a:r>
            <a:r>
              <a:rPr lang="en-US" altLang="zh-CN" kern="0" dirty="0">
                <a:solidFill>
                  <a:srgbClr val="9900CC"/>
                </a:solidFill>
              </a:rPr>
              <a:t>,  </a:t>
            </a:r>
            <a:r>
              <a:rPr lang="en-US" altLang="zh-CN" kern="0" dirty="0">
                <a:solidFill>
                  <a:srgbClr val="FF00FF"/>
                </a:solidFill>
                <a:hlinkClick r:id="rId5" action="ppaction://hlinksldjump"/>
              </a:rPr>
              <a:t>P2.0</a:t>
            </a:r>
            <a:r>
              <a:rPr lang="zh-CN" altLang="en-US" kern="0" dirty="0">
                <a:solidFill>
                  <a:srgbClr val="FF00FF"/>
                </a:solidFill>
                <a:hlinkClick r:id="rId5" action="ppaction://hlinksldjump"/>
              </a:rPr>
              <a:t>口线</a:t>
            </a:r>
            <a:r>
              <a:rPr lang="zh-CN" altLang="zh-CN" kern="0" dirty="0">
                <a:solidFill>
                  <a:srgbClr val="FF00FF"/>
                </a:solidFill>
                <a:hlinkClick r:id="rId5" action="ppaction://hlinksldjump"/>
              </a:rPr>
              <a:t>须先</a:t>
            </a:r>
            <a:r>
              <a:rPr lang="zh-CN" altLang="en-US" kern="0" dirty="0">
                <a:solidFill>
                  <a:srgbClr val="FF00FF"/>
                </a:solidFill>
                <a:hlinkClick r:id="rId5" action="ppaction://hlinksldjump"/>
              </a:rPr>
              <a:t>输出</a:t>
            </a:r>
            <a:r>
              <a:rPr lang="en-US" altLang="zh-CN" kern="0" dirty="0">
                <a:solidFill>
                  <a:srgbClr val="FF00FF"/>
                </a:solidFill>
                <a:hlinkClick r:id="rId5" action="ppaction://hlinksldjump"/>
              </a:rPr>
              <a:t>1</a:t>
            </a:r>
            <a:r>
              <a:rPr lang="zh-CN" altLang="zh-CN" kern="0" dirty="0">
                <a:solidFill>
                  <a:srgbClr val="FF00FF"/>
                </a:solidFill>
                <a:hlinkClick r:id="rId5" action="ppaction://hlinksldjump"/>
              </a:rPr>
              <a:t>才能读</a:t>
            </a:r>
            <a:r>
              <a:rPr lang="en-US" altLang="zh-CN" kern="0" dirty="0">
                <a:solidFill>
                  <a:srgbClr val="9900CC"/>
                </a:solidFill>
              </a:rPr>
              <a:t>, </a:t>
            </a:r>
            <a:r>
              <a:rPr lang="zh-CN" altLang="zh-CN" kern="0" dirty="0"/>
              <a:t>而</a:t>
            </a:r>
            <a:r>
              <a:rPr lang="en-US" altLang="zh-CN" kern="0" dirty="0">
                <a:solidFill>
                  <a:srgbClr val="FF0000"/>
                </a:solidFill>
              </a:rPr>
              <a:t>P2.0</a:t>
            </a:r>
            <a:r>
              <a:rPr lang="zh-CN" altLang="en-US" kern="0" dirty="0">
                <a:solidFill>
                  <a:srgbClr val="FF0000"/>
                </a:solidFill>
              </a:rPr>
              <a:t>口线</a:t>
            </a:r>
            <a:r>
              <a:rPr lang="zh-CN" altLang="zh-CN" kern="0" dirty="0">
                <a:solidFill>
                  <a:srgbClr val="FF0000"/>
                </a:solidFill>
              </a:rPr>
              <a:t>由</a:t>
            </a:r>
            <a:r>
              <a:rPr lang="en-US" altLang="zh-CN" kern="0" dirty="0">
                <a:solidFill>
                  <a:srgbClr val="0000FF"/>
                </a:solidFill>
              </a:rPr>
              <a:t>0(</a:t>
            </a:r>
            <a:r>
              <a:rPr lang="zh-CN" altLang="en-US" kern="0" dirty="0">
                <a:solidFill>
                  <a:srgbClr val="0000FF"/>
                </a:solidFill>
              </a:rPr>
              <a:t>原值</a:t>
            </a:r>
            <a:r>
              <a:rPr lang="en-US" altLang="zh-CN" kern="0" dirty="0">
                <a:solidFill>
                  <a:srgbClr val="0000FF"/>
                </a:solidFill>
              </a:rPr>
              <a:t>)</a:t>
            </a:r>
            <a:r>
              <a:rPr lang="zh-CN" altLang="zh-CN" kern="0" dirty="0">
                <a:solidFill>
                  <a:srgbClr val="FF0000"/>
                </a:solidFill>
              </a:rPr>
              <a:t>变为</a:t>
            </a:r>
            <a:r>
              <a:rPr lang="en-US" altLang="zh-CN" kern="0" dirty="0">
                <a:solidFill>
                  <a:srgbClr val="FF0000"/>
                </a:solidFill>
              </a:rPr>
              <a:t>1</a:t>
            </a:r>
            <a:r>
              <a:rPr lang="zh-CN" altLang="zh-CN" kern="0" dirty="0">
                <a:solidFill>
                  <a:srgbClr val="FF0000"/>
                </a:solidFill>
              </a:rPr>
              <a:t>时</a:t>
            </a:r>
            <a:r>
              <a:rPr lang="en-US" altLang="zh-CN" kern="0" dirty="0">
                <a:solidFill>
                  <a:srgbClr val="FF0000"/>
                </a:solidFill>
              </a:rPr>
              <a:t>, </a:t>
            </a:r>
            <a:r>
              <a:rPr lang="en-US" altLang="zh-CN" kern="0" dirty="0">
                <a:solidFill>
                  <a:srgbClr val="FF0000"/>
                </a:solidFill>
                <a:hlinkClick r:id="rId6" action="ppaction://hlinksldjump"/>
              </a:rPr>
              <a:t>T1</a:t>
            </a:r>
            <a:r>
              <a:rPr lang="zh-CN" altLang="en-US" kern="0" dirty="0">
                <a:solidFill>
                  <a:srgbClr val="FF0000"/>
                </a:solidFill>
                <a:hlinkClick r:id="rId6" action="ppaction://hlinksldjump"/>
              </a:rPr>
              <a:t>会导通</a:t>
            </a:r>
            <a:r>
              <a:rPr lang="en-US" altLang="zh-CN" kern="0" dirty="0">
                <a:solidFill>
                  <a:srgbClr val="FF0000"/>
                </a:solidFill>
                <a:hlinkClick r:id="rId6" action="ppaction://hlinksldjump"/>
              </a:rPr>
              <a:t>2</a:t>
            </a:r>
            <a:r>
              <a:rPr lang="zh-CN" altLang="en-US" kern="0" dirty="0">
                <a:solidFill>
                  <a:srgbClr val="FF0000"/>
                </a:solidFill>
                <a:hlinkClick r:id="rId6" action="ppaction://hlinksldjump"/>
              </a:rPr>
              <a:t>个</a:t>
            </a:r>
            <a:r>
              <a:rPr lang="zh-CN" altLang="zh-CN" kern="0" dirty="0">
                <a:solidFill>
                  <a:srgbClr val="FF0000"/>
                </a:solidFill>
                <a:hlinkClick r:id="rId6" action="ppaction://hlinksldjump"/>
              </a:rPr>
              <a:t>时钟</a:t>
            </a:r>
            <a:r>
              <a:rPr lang="zh-CN" altLang="en-US" kern="0" dirty="0">
                <a:solidFill>
                  <a:srgbClr val="FF0000"/>
                </a:solidFill>
              </a:rPr>
              <a:t>。</a:t>
            </a:r>
            <a:endParaRPr lang="en-US" altLang="zh-CN" kern="0" dirty="0"/>
          </a:p>
        </p:txBody>
      </p:sp>
      <p:sp>
        <p:nvSpPr>
          <p:cNvPr id="22" name="Rectangle 3">
            <a:extLst>
              <a:ext uri="{FF2B5EF4-FFF2-40B4-BE49-F238E27FC236}">
                <a16:creationId xmlns:a16="http://schemas.microsoft.com/office/drawing/2014/main" id="{A33BD7F3-E6FF-44DA-BCE6-D0EA623EF23D}"/>
              </a:ext>
            </a:extLst>
          </p:cNvPr>
          <p:cNvSpPr txBox="1">
            <a:spLocks noChangeArrowheads="1"/>
          </p:cNvSpPr>
          <p:nvPr/>
        </p:nvSpPr>
        <p:spPr bwMode="auto">
          <a:xfrm>
            <a:off x="7299325" y="5354638"/>
            <a:ext cx="121285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eaLnBrk="1" hangingPunct="1">
              <a:lnSpc>
                <a:spcPct val="85000"/>
              </a:lnSpc>
              <a:spcBef>
                <a:spcPts val="0"/>
              </a:spcBef>
              <a:buFontTx/>
              <a:buNone/>
              <a:defRPr/>
            </a:pPr>
            <a:r>
              <a:rPr lang="zh-CN" altLang="en-US" sz="1800" kern="0" dirty="0">
                <a:solidFill>
                  <a:srgbClr val="FF00FF"/>
                </a:solidFill>
              </a:rPr>
              <a:t>限流电阻</a:t>
            </a:r>
            <a:endParaRPr lang="en-US" altLang="zh-CN" sz="1800" kern="0" dirty="0">
              <a:solidFill>
                <a:srgbClr val="FF00FF"/>
              </a:solidFill>
            </a:endParaRPr>
          </a:p>
        </p:txBody>
      </p:sp>
      <p:cxnSp>
        <p:nvCxnSpPr>
          <p:cNvPr id="23" name="直接箭头连接符 22">
            <a:extLst>
              <a:ext uri="{FF2B5EF4-FFF2-40B4-BE49-F238E27FC236}">
                <a16:creationId xmlns:a16="http://schemas.microsoft.com/office/drawing/2014/main" id="{5FEDA6C1-5C35-40C5-B052-BFD6AE1D36D9}"/>
              </a:ext>
            </a:extLst>
          </p:cNvPr>
          <p:cNvCxnSpPr>
            <a:cxnSpLocks noChangeShapeType="1"/>
          </p:cNvCxnSpPr>
          <p:nvPr/>
        </p:nvCxnSpPr>
        <p:spPr bwMode="auto">
          <a:xfrm flipV="1">
            <a:off x="8031163" y="5241925"/>
            <a:ext cx="76200" cy="198438"/>
          </a:xfrm>
          <a:prstGeom prst="straightConnector1">
            <a:avLst/>
          </a:prstGeom>
          <a:noFill/>
          <a:ln w="9525" algn="ctr">
            <a:solidFill>
              <a:srgbClr val="FF00FF"/>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箭头连接符 23">
            <a:extLst>
              <a:ext uri="{FF2B5EF4-FFF2-40B4-BE49-F238E27FC236}">
                <a16:creationId xmlns:a16="http://schemas.microsoft.com/office/drawing/2014/main" id="{46D37759-5CF3-4F66-82C2-6562C9F51C36}"/>
              </a:ext>
            </a:extLst>
          </p:cNvPr>
          <p:cNvCxnSpPr>
            <a:cxnSpLocks noChangeShapeType="1"/>
          </p:cNvCxnSpPr>
          <p:nvPr/>
        </p:nvCxnSpPr>
        <p:spPr bwMode="auto">
          <a:xfrm flipH="1" flipV="1">
            <a:off x="7635875" y="5287963"/>
            <a:ext cx="82550" cy="114300"/>
          </a:xfrm>
          <a:prstGeom prst="straightConnector1">
            <a:avLst/>
          </a:prstGeom>
          <a:noFill/>
          <a:ln w="9525" algn="ctr">
            <a:solidFill>
              <a:srgbClr val="FF00FF"/>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标题 3">
            <a:extLst>
              <a:ext uri="{FF2B5EF4-FFF2-40B4-BE49-F238E27FC236}">
                <a16:creationId xmlns:a16="http://schemas.microsoft.com/office/drawing/2014/main" id="{CCFBC6CE-08C2-4FE5-B873-A15624F2D175}"/>
              </a:ext>
            </a:extLst>
          </p:cNvPr>
          <p:cNvSpPr>
            <a:spLocks noGrp="1" noChangeArrowheads="1"/>
          </p:cNvSpPr>
          <p:nvPr>
            <p:ph type="title"/>
          </p:nvPr>
        </p:nvSpPr>
        <p:spPr>
          <a:xfrm>
            <a:off x="111125" y="357188"/>
            <a:ext cx="8229600" cy="504825"/>
          </a:xfrm>
        </p:spPr>
        <p:txBody>
          <a:bodyPr>
            <a:noAutofit/>
          </a:bodyPr>
          <a:lstStyle/>
          <a:p>
            <a:pPr eaLnBrk="1" hangingPunct="1"/>
            <a:r>
              <a:rPr lang="zh-CN" altLang="en-US" sz="3200" dirty="0">
                <a:solidFill>
                  <a:srgbClr val="FF0000"/>
                </a:solidFill>
              </a:rPr>
              <a:t>（</a:t>
            </a:r>
            <a:r>
              <a:rPr lang="en-US" altLang="zh-CN" sz="3200" dirty="0">
                <a:solidFill>
                  <a:srgbClr val="FF0000"/>
                </a:solidFill>
              </a:rPr>
              <a:t>2</a:t>
            </a:r>
            <a:r>
              <a:rPr lang="zh-CN" altLang="en-US" sz="3200" dirty="0">
                <a:solidFill>
                  <a:srgbClr val="FF0000"/>
                </a:solidFill>
              </a:rPr>
              <a:t>）</a:t>
            </a:r>
            <a:r>
              <a:rPr lang="zh-CN" altLang="zh-CN" sz="3200" dirty="0"/>
              <a:t>推挽输出</a:t>
            </a:r>
            <a:r>
              <a:rPr lang="en-US" altLang="zh-CN" sz="3200" dirty="0"/>
              <a:t>(</a:t>
            </a:r>
            <a:r>
              <a:rPr lang="zh-CN" altLang="en-US" sz="3200" dirty="0"/>
              <a:t>强上拉输出</a:t>
            </a:r>
            <a:r>
              <a:rPr lang="en-US" altLang="zh-CN" sz="3200" dirty="0"/>
              <a:t>)</a:t>
            </a:r>
            <a:r>
              <a:rPr lang="zh-CN" altLang="zh-CN" sz="3200" dirty="0"/>
              <a:t>工作模式的结构</a:t>
            </a:r>
            <a:endParaRPr lang="zh-CN" altLang="en-US" sz="3200" dirty="0"/>
          </a:p>
        </p:txBody>
      </p:sp>
      <p:sp>
        <p:nvSpPr>
          <p:cNvPr id="501763" name="Rectangle 3">
            <a:extLst>
              <a:ext uri="{FF2B5EF4-FFF2-40B4-BE49-F238E27FC236}">
                <a16:creationId xmlns:a16="http://schemas.microsoft.com/office/drawing/2014/main" id="{3BA94A93-33B3-4B45-B66D-92E4DD0889E7}"/>
              </a:ext>
            </a:extLst>
          </p:cNvPr>
          <p:cNvSpPr>
            <a:spLocks noGrp="1" noChangeArrowheads="1"/>
          </p:cNvSpPr>
          <p:nvPr>
            <p:ph idx="1"/>
          </p:nvPr>
        </p:nvSpPr>
        <p:spPr>
          <a:xfrm>
            <a:off x="188913" y="1363436"/>
            <a:ext cx="8723312" cy="1273153"/>
          </a:xfrm>
        </p:spPr>
        <p:txBody>
          <a:bodyPr/>
          <a:lstStyle/>
          <a:p>
            <a:pPr marL="261938" lvl="1" indent="-261938" eaLnBrk="1" hangingPunct="1">
              <a:lnSpc>
                <a:spcPct val="114000"/>
              </a:lnSpc>
              <a:defRPr/>
            </a:pPr>
            <a:r>
              <a:rPr lang="zh-CN" altLang="en-US" dirty="0"/>
              <a:t>在</a:t>
            </a:r>
            <a:r>
              <a:rPr lang="zh-CN" altLang="en-US" dirty="0">
                <a:solidFill>
                  <a:srgbClr val="0000CC"/>
                </a:solidFill>
              </a:rPr>
              <a:t>推挽输出时能输出</a:t>
            </a:r>
            <a:r>
              <a:rPr lang="en-US" altLang="zh-CN" dirty="0">
                <a:solidFill>
                  <a:srgbClr val="0000CC"/>
                </a:solidFill>
              </a:rPr>
              <a:t>20mA</a:t>
            </a:r>
            <a:r>
              <a:rPr lang="zh-CN" altLang="en-US" dirty="0">
                <a:solidFill>
                  <a:srgbClr val="0000CC"/>
                </a:solidFill>
              </a:rPr>
              <a:t>拉电流</a:t>
            </a:r>
            <a:r>
              <a:rPr lang="en-US" altLang="zh-CN" dirty="0"/>
              <a:t>(</a:t>
            </a:r>
            <a:r>
              <a:rPr lang="zh-CN" altLang="en-US" dirty="0"/>
              <a:t>也要加限流电阻</a:t>
            </a:r>
            <a:r>
              <a:rPr lang="en-US" altLang="zh-CN" dirty="0"/>
              <a:t>)</a:t>
            </a:r>
            <a:r>
              <a:rPr lang="zh-CN" altLang="en-US" dirty="0"/>
              <a:t>。</a:t>
            </a:r>
          </a:p>
          <a:p>
            <a:pPr marL="261938" lvl="1" indent="-261938" eaLnBrk="1" hangingPunct="1">
              <a:lnSpc>
                <a:spcPct val="114000"/>
              </a:lnSpc>
              <a:defRPr/>
            </a:pPr>
            <a:r>
              <a:rPr lang="zh-CN" altLang="en-US" dirty="0"/>
              <a:t>整个芯片的</a:t>
            </a:r>
            <a:r>
              <a:rPr lang="zh-CN" altLang="en-US" dirty="0">
                <a:solidFill>
                  <a:srgbClr val="FF0000"/>
                </a:solidFill>
              </a:rPr>
              <a:t>工作电流推荐不要超过</a:t>
            </a:r>
            <a:r>
              <a:rPr lang="en-US" altLang="zh-CN" dirty="0">
                <a:solidFill>
                  <a:srgbClr val="FF0000"/>
                </a:solidFill>
              </a:rPr>
              <a:t>90mA</a:t>
            </a:r>
            <a:r>
              <a:rPr lang="zh-CN" altLang="en-US" dirty="0"/>
              <a:t>。即从</a:t>
            </a:r>
            <a:r>
              <a:rPr lang="en-US" altLang="zh-CN" dirty="0"/>
              <a:t>MCU-</a:t>
            </a:r>
            <a:r>
              <a:rPr lang="en-US" altLang="zh-CN" dirty="0" err="1"/>
              <a:t>Vcc</a:t>
            </a:r>
            <a:r>
              <a:rPr lang="zh-CN" altLang="en-US" dirty="0"/>
              <a:t>流入的电流不超过</a:t>
            </a:r>
            <a:r>
              <a:rPr lang="en-US" altLang="zh-CN" dirty="0"/>
              <a:t>90mA</a:t>
            </a:r>
            <a:r>
              <a:rPr lang="zh-CN" altLang="en-US" dirty="0"/>
              <a:t>，从</a:t>
            </a:r>
            <a:r>
              <a:rPr lang="en-US" altLang="zh-CN" dirty="0"/>
              <a:t>MCU-GND</a:t>
            </a:r>
            <a:r>
              <a:rPr lang="zh-CN" altLang="en-US" dirty="0"/>
              <a:t>流出的电流不超过</a:t>
            </a:r>
            <a:r>
              <a:rPr lang="en-US" altLang="zh-CN" dirty="0"/>
              <a:t>90mA</a:t>
            </a:r>
            <a:r>
              <a:rPr lang="zh-CN" altLang="en-US" dirty="0"/>
              <a:t>，整体流入</a:t>
            </a:r>
            <a:r>
              <a:rPr lang="en-US" altLang="zh-CN" dirty="0"/>
              <a:t>/</a:t>
            </a:r>
            <a:r>
              <a:rPr lang="zh-CN" altLang="en-US" dirty="0"/>
              <a:t>流出电流都不能超过</a:t>
            </a:r>
            <a:r>
              <a:rPr lang="en-US" altLang="zh-CN" dirty="0"/>
              <a:t>90mA</a:t>
            </a:r>
            <a:r>
              <a:rPr lang="zh-CN" altLang="en-US" dirty="0"/>
              <a:t>。</a:t>
            </a:r>
          </a:p>
        </p:txBody>
      </p:sp>
      <p:pic>
        <p:nvPicPr>
          <p:cNvPr id="8" name="Picture 2">
            <a:extLst>
              <a:ext uri="{FF2B5EF4-FFF2-40B4-BE49-F238E27FC236}">
                <a16:creationId xmlns:a16="http://schemas.microsoft.com/office/drawing/2014/main" id="{0E17421B-9CCC-42FF-9D33-E21035ADED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0225" y="3135313"/>
            <a:ext cx="7016750" cy="3236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矩形 8">
            <a:extLst>
              <a:ext uri="{FF2B5EF4-FFF2-40B4-BE49-F238E27FC236}">
                <a16:creationId xmlns:a16="http://schemas.microsoft.com/office/drawing/2014/main" id="{188EB5D0-B056-4FDF-B997-AC2ABC310446}"/>
              </a:ext>
            </a:extLst>
          </p:cNvPr>
          <p:cNvSpPr>
            <a:spLocks noChangeArrowheads="1"/>
          </p:cNvSpPr>
          <p:nvPr/>
        </p:nvSpPr>
        <p:spPr bwMode="auto">
          <a:xfrm>
            <a:off x="141288" y="5145088"/>
            <a:ext cx="36623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3D41D1"/>
                </a:solidFill>
              </a:rPr>
              <a:t>推挽输出</a:t>
            </a:r>
            <a:r>
              <a:rPr lang="en-US" altLang="zh-CN" sz="2800" b="1">
                <a:solidFill>
                  <a:srgbClr val="3D41D1"/>
                </a:solidFill>
              </a:rPr>
              <a:t>(</a:t>
            </a:r>
            <a:r>
              <a:rPr lang="zh-CN" altLang="en-US" sz="2800" b="1">
                <a:solidFill>
                  <a:srgbClr val="3D41D1"/>
                </a:solidFill>
              </a:rPr>
              <a:t>强上拉输出</a:t>
            </a:r>
            <a:r>
              <a:rPr lang="en-US" altLang="zh-CN" sz="2800" b="1">
                <a:solidFill>
                  <a:srgbClr val="3D41D1"/>
                </a:solidFill>
              </a:rPr>
              <a:t>)</a:t>
            </a:r>
            <a:endParaRPr lang="zh-CN" altLang="en-US" sz="2800" b="1">
              <a:solidFill>
                <a:srgbClr val="3D41D1"/>
              </a:solidFill>
            </a:endParaRPr>
          </a:p>
        </p:txBody>
      </p:sp>
      <p:sp>
        <p:nvSpPr>
          <p:cNvPr id="10" name="矩形 9">
            <a:extLst>
              <a:ext uri="{FF2B5EF4-FFF2-40B4-BE49-F238E27FC236}">
                <a16:creationId xmlns:a16="http://schemas.microsoft.com/office/drawing/2014/main" id="{61352FE6-8C89-411B-835B-5F5D83D5B6E1}"/>
              </a:ext>
            </a:extLst>
          </p:cNvPr>
          <p:cNvSpPr>
            <a:spLocks noChangeArrowheads="1"/>
          </p:cNvSpPr>
          <p:nvPr/>
        </p:nvSpPr>
        <p:spPr bwMode="auto">
          <a:xfrm>
            <a:off x="6448425" y="5037138"/>
            <a:ext cx="2368550" cy="7381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输出低时</a:t>
            </a:r>
            <a:r>
              <a:rPr lang="en-US" altLang="zh-CN" sz="2400" b="1">
                <a:solidFill>
                  <a:srgbClr val="FF0000"/>
                </a:solidFill>
              </a:rPr>
              <a:t>,</a:t>
            </a:r>
            <a:r>
              <a:rPr lang="zh-CN" altLang="en-US" sz="2400" b="1">
                <a:solidFill>
                  <a:srgbClr val="FF0000"/>
                </a:solidFill>
              </a:rPr>
              <a:t>灌电流最大可达</a:t>
            </a:r>
            <a:r>
              <a:rPr lang="en-US" altLang="zh-CN" sz="2400" b="1">
                <a:solidFill>
                  <a:srgbClr val="FF0000"/>
                </a:solidFill>
              </a:rPr>
              <a:t>20mA</a:t>
            </a:r>
            <a:endParaRPr lang="zh-CN" altLang="en-US" sz="2400" b="1">
              <a:solidFill>
                <a:srgbClr val="FF0000"/>
              </a:solidFill>
            </a:endParaRPr>
          </a:p>
        </p:txBody>
      </p:sp>
      <p:sp>
        <p:nvSpPr>
          <p:cNvPr id="11" name="矩形 10">
            <a:extLst>
              <a:ext uri="{FF2B5EF4-FFF2-40B4-BE49-F238E27FC236}">
                <a16:creationId xmlns:a16="http://schemas.microsoft.com/office/drawing/2014/main" id="{AE5EE1E3-976A-4858-9CA4-B80297502ED5}"/>
              </a:ext>
            </a:extLst>
          </p:cNvPr>
          <p:cNvSpPr>
            <a:spLocks noChangeArrowheads="1"/>
          </p:cNvSpPr>
          <p:nvPr/>
        </p:nvSpPr>
        <p:spPr bwMode="auto">
          <a:xfrm>
            <a:off x="4702175" y="3429000"/>
            <a:ext cx="4459288"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输出高时</a:t>
            </a:r>
            <a:r>
              <a:rPr lang="en-US" altLang="zh-CN" sz="2400" b="1">
                <a:solidFill>
                  <a:srgbClr val="FF0000"/>
                </a:solidFill>
              </a:rPr>
              <a:t>,</a:t>
            </a:r>
            <a:r>
              <a:rPr lang="zh-CN" altLang="en-US" sz="2400" b="1">
                <a:solidFill>
                  <a:srgbClr val="FF0000"/>
                </a:solidFill>
              </a:rPr>
              <a:t>拉电流最大可达</a:t>
            </a:r>
            <a:r>
              <a:rPr lang="en-US" altLang="zh-CN" sz="2400" b="1">
                <a:solidFill>
                  <a:srgbClr val="FF0000"/>
                </a:solidFill>
              </a:rPr>
              <a:t>20mA</a:t>
            </a:r>
            <a:endParaRPr lang="zh-CN" altLang="en-US" sz="2400" b="1">
              <a:solidFill>
                <a:srgbClr val="FF0000"/>
              </a:solidFill>
            </a:endParaRPr>
          </a:p>
        </p:txBody>
      </p:sp>
      <p:sp>
        <p:nvSpPr>
          <p:cNvPr id="12" name="任意多边形 11">
            <a:extLst>
              <a:ext uri="{FF2B5EF4-FFF2-40B4-BE49-F238E27FC236}">
                <a16:creationId xmlns:a16="http://schemas.microsoft.com/office/drawing/2014/main" id="{FEBCB21B-AC40-4331-B00B-4F34FE0F98A0}"/>
              </a:ext>
            </a:extLst>
          </p:cNvPr>
          <p:cNvSpPr>
            <a:spLocks/>
          </p:cNvSpPr>
          <p:nvPr/>
        </p:nvSpPr>
        <p:spPr bwMode="auto">
          <a:xfrm>
            <a:off x="4702175" y="3613150"/>
            <a:ext cx="2097088" cy="885825"/>
          </a:xfrm>
          <a:custGeom>
            <a:avLst/>
            <a:gdLst>
              <a:gd name="T0" fmla="*/ 20869 w 1759219"/>
              <a:gd name="T1" fmla="*/ 0 h 675238"/>
              <a:gd name="T2" fmla="*/ 297730 w 1759219"/>
              <a:gd name="T3" fmla="*/ 780613 h 675238"/>
              <a:gd name="T4" fmla="*/ 2097326 w 1759219"/>
              <a:gd name="T5" fmla="*/ 856771 h 675238"/>
              <a:gd name="T6" fmla="*/ 0 60000 65536"/>
              <a:gd name="T7" fmla="*/ 0 60000 65536"/>
              <a:gd name="T8" fmla="*/ 0 60000 65536"/>
            </a:gdLst>
            <a:ahLst/>
            <a:cxnLst>
              <a:cxn ang="T6">
                <a:pos x="T0" y="T1"/>
              </a:cxn>
              <a:cxn ang="T7">
                <a:pos x="T2" y="T3"/>
              </a:cxn>
              <a:cxn ang="T8">
                <a:pos x="T4" y="T5"/>
              </a:cxn>
            </a:cxnLst>
            <a:rect l="0" t="0" r="r" b="b"/>
            <a:pathLst>
              <a:path w="1759219" h="675238">
                <a:moveTo>
                  <a:pt x="17505" y="0"/>
                </a:moveTo>
                <a:cubicBezTo>
                  <a:pt x="-11524" y="243114"/>
                  <a:pt x="-40553" y="486229"/>
                  <a:pt x="249733" y="595086"/>
                </a:cubicBezTo>
                <a:cubicBezTo>
                  <a:pt x="540019" y="703943"/>
                  <a:pt x="1149619" y="678543"/>
                  <a:pt x="1759219" y="653143"/>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任意多边形 12">
            <a:extLst>
              <a:ext uri="{FF2B5EF4-FFF2-40B4-BE49-F238E27FC236}">
                <a16:creationId xmlns:a16="http://schemas.microsoft.com/office/drawing/2014/main" id="{7EA1684B-51A7-4E11-8EC8-A59151AF697D}"/>
              </a:ext>
            </a:extLst>
          </p:cNvPr>
          <p:cNvSpPr>
            <a:spLocks/>
          </p:cNvSpPr>
          <p:nvPr/>
        </p:nvSpPr>
        <p:spPr bwMode="auto">
          <a:xfrm rot="-195418">
            <a:off x="4776788" y="4700588"/>
            <a:ext cx="1836737" cy="568325"/>
          </a:xfrm>
          <a:custGeom>
            <a:avLst/>
            <a:gdLst>
              <a:gd name="T0" fmla="*/ 1837088 w 1941838"/>
              <a:gd name="T1" fmla="*/ 27428 h 732096"/>
              <a:gd name="T2" fmla="*/ 230523 w 1941838"/>
              <a:gd name="T3" fmla="*/ 61154 h 732096"/>
              <a:gd name="T4" fmla="*/ 10821 w 1941838"/>
              <a:gd name="T5" fmla="*/ 567058 h 732096"/>
              <a:gd name="T6" fmla="*/ 10821 w 1941838"/>
              <a:gd name="T7" fmla="*/ 567058 h 7320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1838" h="732096">
                <a:moveTo>
                  <a:pt x="1941838" y="35411"/>
                </a:moveTo>
                <a:cubicBezTo>
                  <a:pt x="1253619" y="-875"/>
                  <a:pt x="565400" y="-37161"/>
                  <a:pt x="243667" y="78953"/>
                </a:cubicBezTo>
                <a:cubicBezTo>
                  <a:pt x="-78066" y="195067"/>
                  <a:pt x="11438" y="732096"/>
                  <a:pt x="11438" y="732096"/>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矩形 13">
            <a:extLst>
              <a:ext uri="{FF2B5EF4-FFF2-40B4-BE49-F238E27FC236}">
                <a16:creationId xmlns:a16="http://schemas.microsoft.com/office/drawing/2014/main" id="{CB6BBDBA-0B02-4A2A-9139-8B55F79F8820}"/>
              </a:ext>
            </a:extLst>
          </p:cNvPr>
          <p:cNvSpPr/>
          <p:nvPr/>
        </p:nvSpPr>
        <p:spPr>
          <a:xfrm>
            <a:off x="7888288" y="4165600"/>
            <a:ext cx="1016000" cy="612775"/>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FF00FF"/>
                </a:solidFill>
                <a:cs typeface="Times New Roman" panose="02020603050405020304" pitchFamily="18" charset="0"/>
              </a:rPr>
              <a:t>例</a:t>
            </a:r>
            <a:r>
              <a:rPr lang="en-US" altLang="zh-CN" sz="2400" b="1" kern="0" dirty="0">
                <a:solidFill>
                  <a:srgbClr val="FF00FF"/>
                </a:solidFill>
                <a:cs typeface="Times New Roman" panose="02020603050405020304" pitchFamily="18" charset="0"/>
              </a:rPr>
              <a:t>:</a:t>
            </a:r>
            <a:r>
              <a:rPr lang="zh-CN" altLang="en-US" sz="2400" b="1" kern="0" dirty="0">
                <a:solidFill>
                  <a:srgbClr val="FF00FF"/>
                </a:solidFill>
                <a:cs typeface="Times New Roman" panose="02020603050405020304" pitchFamily="18" charset="0"/>
              </a:rPr>
              <a:t>口线</a:t>
            </a:r>
            <a:r>
              <a:rPr lang="en-US" altLang="zh-CN" sz="2400" b="1" kern="0" dirty="0">
                <a:solidFill>
                  <a:srgbClr val="FF00FF"/>
                </a:solidFill>
                <a:cs typeface="Times New Roman" panose="02020603050405020304" pitchFamily="18" charset="0"/>
              </a:rPr>
              <a:t>P3.2</a:t>
            </a:r>
            <a:endParaRPr lang="en-US" altLang="zh-CN" sz="2400" b="1" dirty="0">
              <a:solidFill>
                <a:srgbClr val="FF00FF"/>
              </a:solidFill>
              <a:ea typeface="宋体" charset="-122"/>
              <a:cs typeface="Times New Roman" pitchFamily="18" charset="0"/>
            </a:endParaRPr>
          </a:p>
        </p:txBody>
      </p:sp>
      <p:sp>
        <p:nvSpPr>
          <p:cNvPr id="15" name="矩形 14">
            <a:extLst>
              <a:ext uri="{FF2B5EF4-FFF2-40B4-BE49-F238E27FC236}">
                <a16:creationId xmlns:a16="http://schemas.microsoft.com/office/drawing/2014/main" id="{B527AAA0-2611-40F6-B467-B15BCACA399A}"/>
              </a:ext>
            </a:extLst>
          </p:cNvPr>
          <p:cNvSpPr/>
          <p:nvPr/>
        </p:nvSpPr>
        <p:spPr>
          <a:xfrm>
            <a:off x="369888" y="3624263"/>
            <a:ext cx="1311275" cy="868362"/>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0000FF"/>
                </a:solidFill>
                <a:cs typeface="Times New Roman" panose="02020603050405020304" pitchFamily="18" charset="0"/>
              </a:rPr>
              <a:t>例</a:t>
            </a:r>
            <a:r>
              <a:rPr lang="en-US" altLang="zh-CN" sz="2400" b="1" kern="0" dirty="0">
                <a:solidFill>
                  <a:srgbClr val="0000FF"/>
                </a:solidFill>
                <a:cs typeface="Times New Roman" panose="02020603050405020304" pitchFamily="18" charset="0"/>
              </a:rPr>
              <a:t>:</a:t>
            </a:r>
            <a:r>
              <a:rPr lang="zh-CN" altLang="en-US" sz="2400" b="1" kern="0" dirty="0">
                <a:solidFill>
                  <a:srgbClr val="0000FF"/>
                </a:solidFill>
                <a:cs typeface="Times New Roman" panose="02020603050405020304" pitchFamily="18" charset="0"/>
              </a:rPr>
              <a:t>口线</a:t>
            </a:r>
            <a:r>
              <a:rPr lang="en-US" altLang="zh-CN" sz="2400" b="1" kern="0" dirty="0">
                <a:solidFill>
                  <a:srgbClr val="0000FF"/>
                </a:solidFill>
                <a:cs typeface="Times New Roman" panose="02020603050405020304" pitchFamily="18" charset="0"/>
              </a:rPr>
              <a:t>P3.2</a:t>
            </a:r>
            <a:r>
              <a:rPr lang="zh-CN" altLang="en-US" sz="2400" b="1" kern="0" dirty="0">
                <a:solidFill>
                  <a:srgbClr val="0000FF"/>
                </a:solidFill>
                <a:cs typeface="Times New Roman" panose="02020603050405020304" pitchFamily="18" charset="0"/>
              </a:rPr>
              <a:t>的锁存器位</a:t>
            </a:r>
            <a:endParaRPr lang="en-US" altLang="zh-CN" sz="2400" b="1" dirty="0">
              <a:solidFill>
                <a:srgbClr val="0000FF"/>
              </a:solidFill>
              <a:ea typeface="宋体" charset="-122"/>
              <a:cs typeface="Times New Roman"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7B5B2FDD-5CF9-4BF6-B1F3-5A5DFEC0F5CB}"/>
              </a:ext>
            </a:extLst>
          </p:cNvPr>
          <p:cNvSpPr>
            <a:spLocks noGrp="1"/>
          </p:cNvSpPr>
          <p:nvPr>
            <p:ph type="title"/>
          </p:nvPr>
        </p:nvSpPr>
        <p:spPr>
          <a:xfrm>
            <a:off x="279400" y="357188"/>
            <a:ext cx="8229600" cy="504825"/>
          </a:xfrm>
        </p:spPr>
        <p:txBody>
          <a:bodyPr vert="horz" lIns="91440" tIns="45720" rIns="91440" bIns="45720" rtlCol="0" anchor="b">
            <a:noAutofit/>
          </a:bodyPr>
          <a:lstStyle/>
          <a:p>
            <a:r>
              <a:rPr lang="zh-CN" altLang="en-US" sz="3200" dirty="0">
                <a:solidFill>
                  <a:srgbClr val="FF0000"/>
                </a:solidFill>
              </a:rPr>
              <a:t>（</a:t>
            </a:r>
            <a:r>
              <a:rPr lang="en-US" altLang="zh-CN" sz="3200" dirty="0">
                <a:solidFill>
                  <a:srgbClr val="FF0000"/>
                </a:solidFill>
              </a:rPr>
              <a:t>2</a:t>
            </a:r>
            <a:r>
              <a:rPr lang="zh-CN" altLang="en-US" sz="3200" dirty="0">
                <a:solidFill>
                  <a:srgbClr val="FF0000"/>
                </a:solidFill>
              </a:rPr>
              <a:t>）</a:t>
            </a:r>
            <a:r>
              <a:rPr lang="zh-CN" altLang="zh-CN" sz="3200" dirty="0">
                <a:solidFill>
                  <a:srgbClr val="FF0000"/>
                </a:solidFill>
              </a:rPr>
              <a:t>推挽输出</a:t>
            </a:r>
            <a:r>
              <a:rPr lang="en-US" altLang="zh-CN" sz="3200" dirty="0">
                <a:solidFill>
                  <a:srgbClr val="FF0000"/>
                </a:solidFill>
              </a:rPr>
              <a:t>(</a:t>
            </a:r>
            <a:r>
              <a:rPr lang="zh-CN" altLang="en-US" sz="3200" dirty="0">
                <a:solidFill>
                  <a:srgbClr val="FF0000"/>
                </a:solidFill>
              </a:rPr>
              <a:t>强上拉输出</a:t>
            </a:r>
            <a:r>
              <a:rPr lang="en-US" altLang="zh-CN" sz="3200" dirty="0">
                <a:solidFill>
                  <a:srgbClr val="FF0000"/>
                </a:solidFill>
              </a:rPr>
              <a:t>)</a:t>
            </a:r>
            <a:r>
              <a:rPr lang="zh-CN" altLang="zh-CN" sz="3200" dirty="0">
                <a:solidFill>
                  <a:srgbClr val="FF0000"/>
                </a:solidFill>
              </a:rPr>
              <a:t>工作模式的结构</a:t>
            </a:r>
            <a:endParaRPr lang="zh-CN" altLang="en-US" sz="3200" dirty="0">
              <a:solidFill>
                <a:srgbClr val="FF0000"/>
              </a:solidFill>
            </a:endParaRPr>
          </a:p>
        </p:txBody>
      </p:sp>
      <p:sp>
        <p:nvSpPr>
          <p:cNvPr id="117763" name="Rectangle 3">
            <a:extLst>
              <a:ext uri="{FF2B5EF4-FFF2-40B4-BE49-F238E27FC236}">
                <a16:creationId xmlns:a16="http://schemas.microsoft.com/office/drawing/2014/main" id="{8FFB736B-D82D-4D8C-8872-A6FCF970CFCC}"/>
              </a:ext>
            </a:extLst>
          </p:cNvPr>
          <p:cNvSpPr>
            <a:spLocks noGrp="1" noChangeArrowheads="1"/>
          </p:cNvSpPr>
          <p:nvPr>
            <p:ph idx="1"/>
          </p:nvPr>
        </p:nvSpPr>
        <p:spPr/>
        <p:txBody>
          <a:bodyPr/>
          <a:lstStyle/>
          <a:p>
            <a:pPr eaLnBrk="1" hangingPunct="1"/>
            <a:r>
              <a:rPr lang="zh-CN" altLang="en-US">
                <a:solidFill>
                  <a:srgbClr val="CC3300"/>
                </a:solidFill>
              </a:rPr>
              <a:t>推挽输出工作模式的结构</a:t>
            </a:r>
          </a:p>
        </p:txBody>
      </p:sp>
      <p:sp>
        <p:nvSpPr>
          <p:cNvPr id="117765" name="Rectangle 9">
            <a:extLst>
              <a:ext uri="{FF2B5EF4-FFF2-40B4-BE49-F238E27FC236}">
                <a16:creationId xmlns:a16="http://schemas.microsoft.com/office/drawing/2014/main" id="{260C3EC9-4EBF-4946-83E4-CEA3CBCDB1CC}"/>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7766" name="Rectangle 10">
            <a:extLst>
              <a:ext uri="{FF2B5EF4-FFF2-40B4-BE49-F238E27FC236}">
                <a16:creationId xmlns:a16="http://schemas.microsoft.com/office/drawing/2014/main" id="{6016D985-B326-43D7-8312-692B4B3FD535}"/>
              </a:ext>
            </a:extLst>
          </p:cNvPr>
          <p:cNvSpPr>
            <a:spLocks noChangeArrowheads="1"/>
          </p:cNvSpPr>
          <p:nvPr/>
        </p:nvSpPr>
        <p:spPr bwMode="auto">
          <a:xfrm>
            <a:off x="2267742" y="5639127"/>
            <a:ext cx="5056191" cy="52322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990033"/>
                </a:solidFill>
                <a:latin typeface="宋体" panose="02010600030101010101" pitchFamily="2" charset="-122"/>
              </a:rPr>
              <a:t>推挽输出工作模式的</a:t>
            </a:r>
            <a:r>
              <a:rPr lang="en-US" altLang="zh-CN" sz="2800" b="1" dirty="0">
                <a:solidFill>
                  <a:srgbClr val="990033"/>
                </a:solidFill>
                <a:latin typeface="宋体" panose="02010600030101010101" pitchFamily="2" charset="-122"/>
              </a:rPr>
              <a:t>I/O</a:t>
            </a:r>
            <a:r>
              <a:rPr lang="zh-CN" altLang="en-US" sz="2800" b="1" dirty="0">
                <a:solidFill>
                  <a:srgbClr val="990033"/>
                </a:solidFill>
                <a:latin typeface="宋体" panose="02010600030101010101" pitchFamily="2" charset="-122"/>
              </a:rPr>
              <a:t>位结构</a:t>
            </a:r>
          </a:p>
        </p:txBody>
      </p:sp>
      <p:pic>
        <p:nvPicPr>
          <p:cNvPr id="117768" name="Picture 390" descr="D:\DOCUME~1\ADMINI~1\LOCALS~1\Temp\HS5ClipImage_56b013b5.gif">
            <a:extLst>
              <a:ext uri="{FF2B5EF4-FFF2-40B4-BE49-F238E27FC236}">
                <a16:creationId xmlns:a16="http://schemas.microsoft.com/office/drawing/2014/main" id="{E109BF32-5003-4D8F-ADE6-9CD503A669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4325" y="1538288"/>
            <a:ext cx="6180138" cy="374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A2FBD632-B22B-4F38-B656-4D839B312A1A}"/>
              </a:ext>
            </a:extLst>
          </p:cNvPr>
          <p:cNvSpPr>
            <a:spLocks noChangeArrowheads="1"/>
          </p:cNvSpPr>
          <p:nvPr/>
        </p:nvSpPr>
        <p:spPr bwMode="auto">
          <a:xfrm>
            <a:off x="2224088" y="2185988"/>
            <a:ext cx="339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solidFill>
                <a:srgbClr val="FF0000"/>
              </a:solidFill>
            </a:endParaRPr>
          </a:p>
        </p:txBody>
      </p:sp>
      <p:sp>
        <p:nvSpPr>
          <p:cNvPr id="10" name="矩形 9">
            <a:extLst>
              <a:ext uri="{FF2B5EF4-FFF2-40B4-BE49-F238E27FC236}">
                <a16:creationId xmlns:a16="http://schemas.microsoft.com/office/drawing/2014/main" id="{11C665B8-0E6F-439B-ABC5-AEC691C854B3}"/>
              </a:ext>
            </a:extLst>
          </p:cNvPr>
          <p:cNvSpPr>
            <a:spLocks noChangeArrowheads="1"/>
          </p:cNvSpPr>
          <p:nvPr/>
        </p:nvSpPr>
        <p:spPr bwMode="auto">
          <a:xfrm>
            <a:off x="5140325" y="2457450"/>
            <a:ext cx="80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66FF"/>
                </a:solidFill>
              </a:rPr>
              <a:t>截止</a:t>
            </a:r>
          </a:p>
        </p:txBody>
      </p:sp>
      <p:sp>
        <p:nvSpPr>
          <p:cNvPr id="11" name="矩形 10">
            <a:extLst>
              <a:ext uri="{FF2B5EF4-FFF2-40B4-BE49-F238E27FC236}">
                <a16:creationId xmlns:a16="http://schemas.microsoft.com/office/drawing/2014/main" id="{38B441A5-32AF-4CC5-A742-2802C05395CB}"/>
              </a:ext>
            </a:extLst>
          </p:cNvPr>
          <p:cNvSpPr>
            <a:spLocks noChangeArrowheads="1"/>
          </p:cNvSpPr>
          <p:nvPr/>
        </p:nvSpPr>
        <p:spPr bwMode="auto">
          <a:xfrm>
            <a:off x="4394200" y="3068638"/>
            <a:ext cx="803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截止</a:t>
            </a:r>
          </a:p>
        </p:txBody>
      </p:sp>
      <p:sp>
        <p:nvSpPr>
          <p:cNvPr id="12" name="矩形 11">
            <a:extLst>
              <a:ext uri="{FF2B5EF4-FFF2-40B4-BE49-F238E27FC236}">
                <a16:creationId xmlns:a16="http://schemas.microsoft.com/office/drawing/2014/main" id="{3D24A127-8B25-4DF2-AE4E-C84FA603FB06}"/>
              </a:ext>
            </a:extLst>
          </p:cNvPr>
          <p:cNvSpPr>
            <a:spLocks noChangeArrowheads="1"/>
          </p:cNvSpPr>
          <p:nvPr/>
        </p:nvSpPr>
        <p:spPr bwMode="auto">
          <a:xfrm>
            <a:off x="4335463" y="2427288"/>
            <a:ext cx="8048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导通</a:t>
            </a:r>
          </a:p>
        </p:txBody>
      </p:sp>
      <p:sp>
        <p:nvSpPr>
          <p:cNvPr id="13" name="矩形 12">
            <a:extLst>
              <a:ext uri="{FF2B5EF4-FFF2-40B4-BE49-F238E27FC236}">
                <a16:creationId xmlns:a16="http://schemas.microsoft.com/office/drawing/2014/main" id="{0B827322-A183-4EF9-8402-C056DC5DDC1C}"/>
              </a:ext>
            </a:extLst>
          </p:cNvPr>
          <p:cNvSpPr>
            <a:spLocks noChangeArrowheads="1"/>
          </p:cNvSpPr>
          <p:nvPr/>
        </p:nvSpPr>
        <p:spPr bwMode="auto">
          <a:xfrm>
            <a:off x="6318250" y="24352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solidFill>
                <a:srgbClr val="FF0000"/>
              </a:solidFill>
            </a:endParaRPr>
          </a:p>
        </p:txBody>
      </p:sp>
      <p:sp>
        <p:nvSpPr>
          <p:cNvPr id="14" name="矩形 13">
            <a:extLst>
              <a:ext uri="{FF2B5EF4-FFF2-40B4-BE49-F238E27FC236}">
                <a16:creationId xmlns:a16="http://schemas.microsoft.com/office/drawing/2014/main" id="{9F97FED1-3941-4B04-BA19-DA74FE2132A1}"/>
              </a:ext>
            </a:extLst>
          </p:cNvPr>
          <p:cNvSpPr>
            <a:spLocks noChangeArrowheads="1"/>
          </p:cNvSpPr>
          <p:nvPr/>
        </p:nvSpPr>
        <p:spPr bwMode="auto">
          <a:xfrm>
            <a:off x="2327275" y="307340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15" name="矩形 14">
            <a:extLst>
              <a:ext uri="{FF2B5EF4-FFF2-40B4-BE49-F238E27FC236}">
                <a16:creationId xmlns:a16="http://schemas.microsoft.com/office/drawing/2014/main" id="{B1EE4410-EA17-438A-B2DD-3641E4C476BC}"/>
              </a:ext>
            </a:extLst>
          </p:cNvPr>
          <p:cNvSpPr>
            <a:spLocks noChangeArrowheads="1"/>
          </p:cNvSpPr>
          <p:nvPr/>
        </p:nvSpPr>
        <p:spPr bwMode="auto">
          <a:xfrm>
            <a:off x="4170363" y="3705225"/>
            <a:ext cx="80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66FF"/>
                </a:solidFill>
              </a:rPr>
              <a:t>导通</a:t>
            </a:r>
          </a:p>
        </p:txBody>
      </p:sp>
      <p:sp>
        <p:nvSpPr>
          <p:cNvPr id="16" name="矩形 15">
            <a:extLst>
              <a:ext uri="{FF2B5EF4-FFF2-40B4-BE49-F238E27FC236}">
                <a16:creationId xmlns:a16="http://schemas.microsoft.com/office/drawing/2014/main" id="{00B9ECAE-E00D-40FD-914F-CCFA02CD0C97}"/>
              </a:ext>
            </a:extLst>
          </p:cNvPr>
          <p:cNvSpPr>
            <a:spLocks noChangeArrowheads="1"/>
          </p:cNvSpPr>
          <p:nvPr/>
        </p:nvSpPr>
        <p:spPr bwMode="auto">
          <a:xfrm>
            <a:off x="6229350" y="2984500"/>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17" name="矩形 16">
            <a:extLst>
              <a:ext uri="{FF2B5EF4-FFF2-40B4-BE49-F238E27FC236}">
                <a16:creationId xmlns:a16="http://schemas.microsoft.com/office/drawing/2014/main" id="{9AC02C9A-4863-4992-8240-D958CCDA451A}"/>
              </a:ext>
            </a:extLst>
          </p:cNvPr>
          <p:cNvSpPr>
            <a:spLocks noChangeArrowheads="1"/>
          </p:cNvSpPr>
          <p:nvPr/>
        </p:nvSpPr>
        <p:spPr bwMode="auto">
          <a:xfrm>
            <a:off x="3832225" y="24574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0</a:t>
            </a:r>
            <a:endParaRPr lang="zh-CN" altLang="en-US" sz="2400" b="1">
              <a:solidFill>
                <a:srgbClr val="FF0000"/>
              </a:solidFill>
            </a:endParaRPr>
          </a:p>
        </p:txBody>
      </p:sp>
      <p:sp>
        <p:nvSpPr>
          <p:cNvPr id="18" name="矩形 17">
            <a:extLst>
              <a:ext uri="{FF2B5EF4-FFF2-40B4-BE49-F238E27FC236}">
                <a16:creationId xmlns:a16="http://schemas.microsoft.com/office/drawing/2014/main" id="{B47A7D5B-0156-46A4-8355-2A2B4D7938B4}"/>
              </a:ext>
            </a:extLst>
          </p:cNvPr>
          <p:cNvSpPr>
            <a:spLocks noChangeArrowheads="1"/>
          </p:cNvSpPr>
          <p:nvPr/>
        </p:nvSpPr>
        <p:spPr bwMode="auto">
          <a:xfrm>
            <a:off x="3875088" y="3243263"/>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33FF"/>
                </a:solidFill>
              </a:rPr>
              <a:t>1</a:t>
            </a:r>
            <a:endParaRPr lang="zh-CN" altLang="en-US" sz="2400" b="1">
              <a:solidFill>
                <a:srgbClr val="3333FF"/>
              </a:solidFill>
            </a:endParaRPr>
          </a:p>
        </p:txBody>
      </p:sp>
      <p:sp>
        <p:nvSpPr>
          <p:cNvPr id="23" name="矩形 22">
            <a:extLst>
              <a:ext uri="{FF2B5EF4-FFF2-40B4-BE49-F238E27FC236}">
                <a16:creationId xmlns:a16="http://schemas.microsoft.com/office/drawing/2014/main" id="{412F2866-F056-46AD-A8B9-0D0EEE22527D}"/>
              </a:ext>
            </a:extLst>
          </p:cNvPr>
          <p:cNvSpPr/>
          <p:nvPr/>
        </p:nvSpPr>
        <p:spPr>
          <a:xfrm>
            <a:off x="7675563" y="2678113"/>
            <a:ext cx="1016000" cy="612775"/>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FF00FF"/>
                </a:solidFill>
                <a:cs typeface="Times New Roman" panose="02020603050405020304" pitchFamily="18" charset="0"/>
              </a:rPr>
              <a:t>例</a:t>
            </a:r>
            <a:r>
              <a:rPr lang="en-US" altLang="zh-CN" sz="2400" b="1" kern="0" dirty="0">
                <a:solidFill>
                  <a:srgbClr val="FF00FF"/>
                </a:solidFill>
                <a:cs typeface="Times New Roman" panose="02020603050405020304" pitchFamily="18" charset="0"/>
              </a:rPr>
              <a:t>:</a:t>
            </a:r>
            <a:r>
              <a:rPr lang="zh-CN" altLang="en-US" sz="2400" b="1" kern="0" dirty="0">
                <a:solidFill>
                  <a:srgbClr val="FF00FF"/>
                </a:solidFill>
                <a:cs typeface="Times New Roman" panose="02020603050405020304" pitchFamily="18" charset="0"/>
              </a:rPr>
              <a:t>口线</a:t>
            </a:r>
            <a:r>
              <a:rPr lang="en-US" altLang="zh-CN" sz="2400" b="1" kern="0" dirty="0">
                <a:solidFill>
                  <a:srgbClr val="FF00FF"/>
                </a:solidFill>
                <a:cs typeface="Times New Roman" panose="02020603050405020304" pitchFamily="18" charset="0"/>
              </a:rPr>
              <a:t>P3.2</a:t>
            </a:r>
            <a:endParaRPr lang="en-US" altLang="zh-CN" sz="2400" b="1" dirty="0">
              <a:solidFill>
                <a:srgbClr val="FF00FF"/>
              </a:solidFill>
              <a:ea typeface="宋体" charset="-122"/>
              <a:cs typeface="Times New Roman" pitchFamily="18" charset="0"/>
            </a:endParaRPr>
          </a:p>
        </p:txBody>
      </p:sp>
      <p:sp>
        <p:nvSpPr>
          <p:cNvPr id="24" name="矩形 23">
            <a:extLst>
              <a:ext uri="{FF2B5EF4-FFF2-40B4-BE49-F238E27FC236}">
                <a16:creationId xmlns:a16="http://schemas.microsoft.com/office/drawing/2014/main" id="{46B58796-0568-4B03-967E-B77D535433B5}"/>
              </a:ext>
            </a:extLst>
          </p:cNvPr>
          <p:cNvSpPr/>
          <p:nvPr/>
        </p:nvSpPr>
        <p:spPr>
          <a:xfrm>
            <a:off x="582613" y="3181350"/>
            <a:ext cx="1311275" cy="868363"/>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0000FF"/>
                </a:solidFill>
                <a:cs typeface="Times New Roman" panose="02020603050405020304" pitchFamily="18" charset="0"/>
              </a:rPr>
              <a:t>例</a:t>
            </a:r>
            <a:r>
              <a:rPr lang="en-US" altLang="zh-CN" sz="2400" b="1" kern="0" dirty="0">
                <a:solidFill>
                  <a:srgbClr val="0000FF"/>
                </a:solidFill>
                <a:cs typeface="Times New Roman" panose="02020603050405020304" pitchFamily="18" charset="0"/>
              </a:rPr>
              <a:t>:</a:t>
            </a:r>
            <a:r>
              <a:rPr lang="zh-CN" altLang="en-US" sz="2400" b="1" kern="0" dirty="0">
                <a:solidFill>
                  <a:srgbClr val="0000FF"/>
                </a:solidFill>
                <a:cs typeface="Times New Roman" panose="02020603050405020304" pitchFamily="18" charset="0"/>
              </a:rPr>
              <a:t>口线</a:t>
            </a:r>
            <a:r>
              <a:rPr lang="en-US" altLang="zh-CN" sz="2400" b="1" kern="0" dirty="0">
                <a:solidFill>
                  <a:srgbClr val="0000FF"/>
                </a:solidFill>
                <a:cs typeface="Times New Roman" panose="02020603050405020304" pitchFamily="18" charset="0"/>
              </a:rPr>
              <a:t>P3.2</a:t>
            </a:r>
            <a:r>
              <a:rPr lang="zh-CN" altLang="en-US" sz="2400" b="1" kern="0" dirty="0">
                <a:solidFill>
                  <a:srgbClr val="0000FF"/>
                </a:solidFill>
                <a:cs typeface="Times New Roman" panose="02020603050405020304" pitchFamily="18" charset="0"/>
              </a:rPr>
              <a:t>的锁存器位</a:t>
            </a:r>
            <a:endParaRPr lang="en-US" altLang="zh-CN" sz="2400" b="1" dirty="0">
              <a:solidFill>
                <a:srgbClr val="0000FF"/>
              </a:solidFill>
              <a:ea typeface="宋体" charset="-122"/>
              <a:cs typeface="Times New Roman"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6" name="Picture 2" descr="D:\DOCUME~1\ADMINI~1\LOCALS~1\Temp\HS5ClipImage_56b013cf.gif">
            <a:extLst>
              <a:ext uri="{FF2B5EF4-FFF2-40B4-BE49-F238E27FC236}">
                <a16:creationId xmlns:a16="http://schemas.microsoft.com/office/drawing/2014/main" id="{BA30A367-46FC-4CCC-8707-E372547F11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6513" y="3582988"/>
            <a:ext cx="4978400" cy="301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87" name="标题 3">
            <a:extLst>
              <a:ext uri="{FF2B5EF4-FFF2-40B4-BE49-F238E27FC236}">
                <a16:creationId xmlns:a16="http://schemas.microsoft.com/office/drawing/2014/main" id="{893B90BD-364B-4DBB-B39E-80CD5694352C}"/>
              </a:ext>
            </a:extLst>
          </p:cNvPr>
          <p:cNvSpPr>
            <a:spLocks noGrp="1" noChangeArrowheads="1"/>
          </p:cNvSpPr>
          <p:nvPr>
            <p:ph type="title"/>
          </p:nvPr>
        </p:nvSpPr>
        <p:spPr>
          <a:xfrm>
            <a:off x="180975" y="346075"/>
            <a:ext cx="8229600" cy="504825"/>
          </a:xfrm>
        </p:spPr>
        <p:txBody>
          <a:bodyPr vert="horz" lIns="91440" tIns="45720" rIns="91440" bIns="45720" rtlCol="0" anchor="b">
            <a:noAutofit/>
          </a:bodyPr>
          <a:lstStyle/>
          <a:p>
            <a:r>
              <a:rPr lang="zh-CN" altLang="en-US" sz="3200" dirty="0">
                <a:solidFill>
                  <a:srgbClr val="FF0000"/>
                </a:solidFill>
              </a:rPr>
              <a:t>（</a:t>
            </a:r>
            <a:r>
              <a:rPr lang="en-US" altLang="zh-CN" sz="3200" dirty="0">
                <a:solidFill>
                  <a:srgbClr val="FF0000"/>
                </a:solidFill>
              </a:rPr>
              <a:t>2</a:t>
            </a:r>
            <a:r>
              <a:rPr lang="zh-CN" altLang="en-US" sz="3200" dirty="0">
                <a:solidFill>
                  <a:srgbClr val="FF0000"/>
                </a:solidFill>
              </a:rPr>
              <a:t>）</a:t>
            </a:r>
            <a:r>
              <a:rPr lang="zh-CN" altLang="zh-CN" sz="3200" dirty="0">
                <a:solidFill>
                  <a:srgbClr val="FF0000"/>
                </a:solidFill>
              </a:rPr>
              <a:t>推挽输出</a:t>
            </a:r>
            <a:r>
              <a:rPr lang="en-US" altLang="zh-CN" sz="3200" dirty="0">
                <a:solidFill>
                  <a:srgbClr val="FF0000"/>
                </a:solidFill>
              </a:rPr>
              <a:t>(</a:t>
            </a:r>
            <a:r>
              <a:rPr lang="zh-CN" altLang="en-US" sz="3200" dirty="0">
                <a:solidFill>
                  <a:srgbClr val="FF0000"/>
                </a:solidFill>
              </a:rPr>
              <a:t>强上拉输出</a:t>
            </a:r>
            <a:r>
              <a:rPr lang="en-US" altLang="zh-CN" sz="3200" dirty="0">
                <a:solidFill>
                  <a:srgbClr val="FF0000"/>
                </a:solidFill>
              </a:rPr>
              <a:t>)</a:t>
            </a:r>
            <a:r>
              <a:rPr lang="zh-CN" altLang="zh-CN" sz="3200" dirty="0">
                <a:solidFill>
                  <a:srgbClr val="FF0000"/>
                </a:solidFill>
              </a:rPr>
              <a:t>工作模式的结构</a:t>
            </a:r>
            <a:endParaRPr lang="zh-CN" altLang="en-US" sz="3200" dirty="0">
              <a:solidFill>
                <a:srgbClr val="FF0000"/>
              </a:solidFill>
            </a:endParaRPr>
          </a:p>
        </p:txBody>
      </p:sp>
      <p:sp>
        <p:nvSpPr>
          <p:cNvPr id="523267" name="Rectangle 3">
            <a:extLst>
              <a:ext uri="{FF2B5EF4-FFF2-40B4-BE49-F238E27FC236}">
                <a16:creationId xmlns:a16="http://schemas.microsoft.com/office/drawing/2014/main" id="{5E168B81-1DAB-4269-9F1D-D334041EBACD}"/>
              </a:ext>
            </a:extLst>
          </p:cNvPr>
          <p:cNvSpPr>
            <a:spLocks noGrp="1" noChangeArrowheads="1"/>
          </p:cNvSpPr>
          <p:nvPr>
            <p:ph idx="1"/>
          </p:nvPr>
        </p:nvSpPr>
        <p:spPr>
          <a:xfrm>
            <a:off x="101600" y="900113"/>
            <a:ext cx="8853488" cy="2387600"/>
          </a:xfrm>
        </p:spPr>
        <p:txBody>
          <a:bodyPr/>
          <a:lstStyle/>
          <a:p>
            <a:pPr marL="261938" lvl="1" indent="-261938" algn="l" eaLnBrk="1" hangingPunct="1">
              <a:spcBef>
                <a:spcPts val="0"/>
              </a:spcBef>
              <a:spcAft>
                <a:spcPts val="300"/>
              </a:spcAft>
              <a:defRPr/>
            </a:pPr>
            <a:r>
              <a:rPr lang="zh-CN" altLang="en-US" dirty="0">
                <a:solidFill>
                  <a:srgbClr val="FF00FF"/>
                </a:solidFill>
              </a:rPr>
              <a:t>推挽输出</a:t>
            </a:r>
            <a:r>
              <a:rPr lang="zh-CN" altLang="en-US" dirty="0"/>
              <a:t>工作模式的下拉结构与准双向口的下拉结构相同</a:t>
            </a:r>
            <a:r>
              <a:rPr lang="en-US" altLang="zh-CN" dirty="0"/>
              <a:t>, </a:t>
            </a:r>
            <a:r>
              <a:rPr lang="zh-CN" altLang="en-US" dirty="0"/>
              <a:t>但当</a:t>
            </a:r>
            <a:r>
              <a:rPr lang="zh-CN" altLang="en-US" dirty="0">
                <a:solidFill>
                  <a:srgbClr val="FF0000"/>
                </a:solidFill>
              </a:rPr>
              <a:t>锁存器为</a:t>
            </a:r>
            <a:r>
              <a:rPr lang="en-US" altLang="zh-CN" dirty="0">
                <a:solidFill>
                  <a:srgbClr val="FF0000"/>
                </a:solidFill>
                <a:latin typeface="Times New Roman" panose="02020603050405020304" pitchFamily="18" charset="0"/>
                <a:cs typeface="Times New Roman" panose="02020603050405020304" pitchFamily="18" charset="0"/>
              </a:rPr>
              <a:t>“1”</a:t>
            </a:r>
            <a:r>
              <a:rPr lang="zh-CN" altLang="en-US" dirty="0">
                <a:solidFill>
                  <a:srgbClr val="FF0000"/>
                </a:solidFill>
              </a:rPr>
              <a:t>时可提供持续的强上拉</a:t>
            </a:r>
            <a:r>
              <a:rPr lang="zh-CN" altLang="en-US" dirty="0"/>
              <a:t>。推挽工作模式一般用于需更大驱动</a:t>
            </a:r>
            <a:r>
              <a:rPr lang="zh-CN" altLang="en-US" dirty="0">
                <a:solidFill>
                  <a:srgbClr val="FF0000"/>
                </a:solidFill>
              </a:rPr>
              <a:t>拉电流</a:t>
            </a:r>
            <a:r>
              <a:rPr lang="zh-CN" altLang="en-US" dirty="0"/>
              <a:t>的情况。</a:t>
            </a:r>
          </a:p>
          <a:p>
            <a:pPr marL="261938" lvl="1" indent="-261938" algn="l" eaLnBrk="1" hangingPunct="1">
              <a:spcBef>
                <a:spcPts val="0"/>
              </a:spcBef>
              <a:spcAft>
                <a:spcPts val="300"/>
              </a:spcAft>
              <a:defRPr/>
            </a:pPr>
            <a:r>
              <a:rPr lang="zh-CN" altLang="en-US" dirty="0">
                <a:solidFill>
                  <a:srgbClr val="FF0000"/>
                </a:solidFill>
              </a:rPr>
              <a:t>若输出高电平</a:t>
            </a:r>
            <a:r>
              <a:rPr lang="en-US" altLang="zh-CN" dirty="0">
                <a:solidFill>
                  <a:srgbClr val="FF0000"/>
                </a:solidFill>
              </a:rPr>
              <a:t>,</a:t>
            </a:r>
            <a:r>
              <a:rPr lang="zh-CN" altLang="en-US" dirty="0">
                <a:solidFill>
                  <a:srgbClr val="FF0000"/>
                </a:solidFill>
              </a:rPr>
              <a:t>拉电流最大可达</a:t>
            </a:r>
            <a:r>
              <a:rPr lang="en-US" altLang="zh-CN" dirty="0">
                <a:solidFill>
                  <a:srgbClr val="FF0000"/>
                </a:solidFill>
              </a:rPr>
              <a:t>20mA</a:t>
            </a:r>
            <a:r>
              <a:rPr lang="en-US" altLang="zh-CN" dirty="0"/>
              <a:t>;</a:t>
            </a:r>
          </a:p>
          <a:p>
            <a:pPr marL="261938" lvl="1" indent="-261938" algn="l" eaLnBrk="1" hangingPunct="1">
              <a:spcBef>
                <a:spcPts val="0"/>
              </a:spcBef>
              <a:spcAft>
                <a:spcPts val="300"/>
              </a:spcAft>
              <a:defRPr/>
            </a:pPr>
            <a:r>
              <a:rPr lang="zh-CN" altLang="en-US" dirty="0">
                <a:solidFill>
                  <a:srgbClr val="3333FF"/>
                </a:solidFill>
              </a:rPr>
              <a:t>若输出低电平</a:t>
            </a:r>
            <a:r>
              <a:rPr lang="en-US" altLang="zh-CN" dirty="0">
                <a:solidFill>
                  <a:srgbClr val="3333FF"/>
                </a:solidFill>
              </a:rPr>
              <a:t>,</a:t>
            </a:r>
            <a:r>
              <a:rPr lang="zh-CN" altLang="en-US" dirty="0">
                <a:solidFill>
                  <a:srgbClr val="3333FF"/>
                </a:solidFill>
              </a:rPr>
              <a:t>灌电流也可达</a:t>
            </a:r>
            <a:r>
              <a:rPr lang="en-US" altLang="zh-CN" dirty="0">
                <a:solidFill>
                  <a:srgbClr val="3333FF"/>
                </a:solidFill>
              </a:rPr>
              <a:t>20mA</a:t>
            </a:r>
            <a:r>
              <a:rPr lang="zh-CN" altLang="en-US" dirty="0"/>
              <a:t>。</a:t>
            </a:r>
            <a:endParaRPr lang="en-US" altLang="zh-CN" dirty="0"/>
          </a:p>
        </p:txBody>
      </p:sp>
      <p:sp>
        <p:nvSpPr>
          <p:cNvPr id="2" name="日期占位符 1">
            <a:extLst>
              <a:ext uri="{FF2B5EF4-FFF2-40B4-BE49-F238E27FC236}">
                <a16:creationId xmlns:a16="http://schemas.microsoft.com/office/drawing/2014/main" id="{28541571-527A-4C71-AADD-DE07EB6D66C1}"/>
              </a:ext>
            </a:extLst>
          </p:cNvPr>
          <p:cNvSpPr>
            <a:spLocks noGrp="1"/>
          </p:cNvSpPr>
          <p:nvPr>
            <p:ph type="dt" sz="quarter" idx="11"/>
          </p:nvPr>
        </p:nvSpPr>
        <p:spPr/>
        <p:txBody>
          <a:bodyPr/>
          <a:lstStyle/>
          <a:p>
            <a:pPr>
              <a:defRPr/>
            </a:pPr>
            <a:fld id="{34E9C9A0-F117-4EC9-9FB8-F3A6C71D8CDB}" type="datetime10">
              <a:rPr lang="zh-CN" altLang="en-US"/>
              <a:pPr>
                <a:defRPr/>
              </a:pPr>
              <a:t>00:30</a:t>
            </a:fld>
            <a:endParaRPr lang="zh-CN" altLang="en-US"/>
          </a:p>
        </p:txBody>
      </p:sp>
      <p:sp>
        <p:nvSpPr>
          <p:cNvPr id="5" name="灯片编号占位符 4">
            <a:extLst>
              <a:ext uri="{FF2B5EF4-FFF2-40B4-BE49-F238E27FC236}">
                <a16:creationId xmlns:a16="http://schemas.microsoft.com/office/drawing/2014/main" id="{A4D9AC4D-FB6C-4281-8458-E214CFF38E4E}"/>
              </a:ext>
            </a:extLst>
          </p:cNvPr>
          <p:cNvSpPr>
            <a:spLocks noGrp="1"/>
          </p:cNvSpPr>
          <p:nvPr>
            <p:ph type="sldNum" sz="quarter" idx="10"/>
          </p:nvPr>
        </p:nvSpPr>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a:fld id="{425A5635-5994-42A1-9032-86399F256092}" type="slidenum">
              <a:rPr lang="en-US" altLang="zh-CN">
                <a:latin typeface="Arial" panose="020B0604020202020204" pitchFamily="34" charset="0"/>
              </a:rPr>
              <a:pPr algn="l"/>
              <a:t>69</a:t>
            </a:fld>
            <a:endParaRPr lang="en-US" altLang="zh-CN">
              <a:latin typeface="Arial" panose="020B0604020202020204" pitchFamily="34" charset="0"/>
            </a:endParaRPr>
          </a:p>
        </p:txBody>
      </p:sp>
      <p:sp>
        <p:nvSpPr>
          <p:cNvPr id="7" name="矩形 6">
            <a:extLst>
              <a:ext uri="{FF2B5EF4-FFF2-40B4-BE49-F238E27FC236}">
                <a16:creationId xmlns:a16="http://schemas.microsoft.com/office/drawing/2014/main" id="{5D1BE9B8-7723-4437-8426-8F724811D4D8}"/>
              </a:ext>
            </a:extLst>
          </p:cNvPr>
          <p:cNvSpPr>
            <a:spLocks noChangeArrowheads="1"/>
          </p:cNvSpPr>
          <p:nvPr/>
        </p:nvSpPr>
        <p:spPr bwMode="auto">
          <a:xfrm>
            <a:off x="5737225" y="5081588"/>
            <a:ext cx="1901825" cy="1108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33FF"/>
                </a:solidFill>
              </a:rPr>
              <a:t>输出低时</a:t>
            </a:r>
            <a:r>
              <a:rPr lang="en-US" altLang="zh-CN" sz="2400" b="1">
                <a:solidFill>
                  <a:srgbClr val="3333FF"/>
                </a:solidFill>
              </a:rPr>
              <a:t>,</a:t>
            </a:r>
            <a:r>
              <a:rPr lang="zh-CN" altLang="en-US" sz="2400" b="1">
                <a:solidFill>
                  <a:srgbClr val="3333FF"/>
                </a:solidFill>
              </a:rPr>
              <a:t>灌电流最大可达</a:t>
            </a:r>
            <a:r>
              <a:rPr lang="en-US" altLang="zh-CN" sz="2400" b="1">
                <a:solidFill>
                  <a:srgbClr val="3333FF"/>
                </a:solidFill>
              </a:rPr>
              <a:t>20mA</a:t>
            </a:r>
            <a:endParaRPr lang="zh-CN" altLang="en-US" sz="2400" b="1">
              <a:solidFill>
                <a:srgbClr val="3333FF"/>
              </a:solidFill>
            </a:endParaRPr>
          </a:p>
        </p:txBody>
      </p:sp>
      <p:sp>
        <p:nvSpPr>
          <p:cNvPr id="8" name="矩形 7">
            <a:extLst>
              <a:ext uri="{FF2B5EF4-FFF2-40B4-BE49-F238E27FC236}">
                <a16:creationId xmlns:a16="http://schemas.microsoft.com/office/drawing/2014/main" id="{AD720A12-DCC6-4434-BD14-6FE225436B7F}"/>
              </a:ext>
            </a:extLst>
          </p:cNvPr>
          <p:cNvSpPr>
            <a:spLocks noChangeArrowheads="1"/>
          </p:cNvSpPr>
          <p:nvPr/>
        </p:nvSpPr>
        <p:spPr bwMode="auto">
          <a:xfrm>
            <a:off x="4211638" y="3636963"/>
            <a:ext cx="2513012" cy="739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输出高时</a:t>
            </a:r>
            <a:r>
              <a:rPr lang="en-US" altLang="zh-CN" sz="2400" b="1">
                <a:solidFill>
                  <a:srgbClr val="FF0000"/>
                </a:solidFill>
              </a:rPr>
              <a:t>,</a:t>
            </a:r>
            <a:r>
              <a:rPr lang="zh-CN" altLang="en-US" sz="2400" b="1">
                <a:solidFill>
                  <a:srgbClr val="FF0000"/>
                </a:solidFill>
              </a:rPr>
              <a:t>拉电流最大可达</a:t>
            </a:r>
            <a:r>
              <a:rPr lang="en-US" altLang="zh-CN" sz="2400" b="1">
                <a:solidFill>
                  <a:srgbClr val="FF0000"/>
                </a:solidFill>
              </a:rPr>
              <a:t>20mA</a:t>
            </a:r>
            <a:endParaRPr lang="zh-CN" altLang="en-US" sz="2400" b="1">
              <a:solidFill>
                <a:srgbClr val="FF0000"/>
              </a:solidFill>
            </a:endParaRPr>
          </a:p>
        </p:txBody>
      </p:sp>
      <p:sp>
        <p:nvSpPr>
          <p:cNvPr id="9" name="任意多边形 8">
            <a:extLst>
              <a:ext uri="{FF2B5EF4-FFF2-40B4-BE49-F238E27FC236}">
                <a16:creationId xmlns:a16="http://schemas.microsoft.com/office/drawing/2014/main" id="{A8C0E8C8-AE92-4335-AE22-4C6EE3E51F87}"/>
              </a:ext>
            </a:extLst>
          </p:cNvPr>
          <p:cNvSpPr>
            <a:spLocks/>
          </p:cNvSpPr>
          <p:nvPr/>
        </p:nvSpPr>
        <p:spPr bwMode="auto">
          <a:xfrm>
            <a:off x="4295775" y="3802063"/>
            <a:ext cx="2097088" cy="885825"/>
          </a:xfrm>
          <a:custGeom>
            <a:avLst/>
            <a:gdLst>
              <a:gd name="T0" fmla="*/ 20869 w 1759219"/>
              <a:gd name="T1" fmla="*/ 0 h 675238"/>
              <a:gd name="T2" fmla="*/ 297730 w 1759219"/>
              <a:gd name="T3" fmla="*/ 780613 h 675238"/>
              <a:gd name="T4" fmla="*/ 2097326 w 1759219"/>
              <a:gd name="T5" fmla="*/ 856771 h 675238"/>
              <a:gd name="T6" fmla="*/ 0 60000 65536"/>
              <a:gd name="T7" fmla="*/ 0 60000 65536"/>
              <a:gd name="T8" fmla="*/ 0 60000 65536"/>
            </a:gdLst>
            <a:ahLst/>
            <a:cxnLst>
              <a:cxn ang="T6">
                <a:pos x="T0" y="T1"/>
              </a:cxn>
              <a:cxn ang="T7">
                <a:pos x="T2" y="T3"/>
              </a:cxn>
              <a:cxn ang="T8">
                <a:pos x="T4" y="T5"/>
              </a:cxn>
            </a:cxnLst>
            <a:rect l="0" t="0" r="r" b="b"/>
            <a:pathLst>
              <a:path w="1759219" h="675238">
                <a:moveTo>
                  <a:pt x="17505" y="0"/>
                </a:moveTo>
                <a:cubicBezTo>
                  <a:pt x="-11524" y="243114"/>
                  <a:pt x="-40553" y="486229"/>
                  <a:pt x="249733" y="595086"/>
                </a:cubicBezTo>
                <a:cubicBezTo>
                  <a:pt x="540019" y="703943"/>
                  <a:pt x="1149619" y="678543"/>
                  <a:pt x="1759219" y="653143"/>
                </a:cubicBezTo>
              </a:path>
            </a:pathLst>
          </a:custGeom>
          <a:noFill/>
          <a:ln w="19050" cap="flat" cmpd="sng" algn="ctr">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任意多边形 9">
            <a:extLst>
              <a:ext uri="{FF2B5EF4-FFF2-40B4-BE49-F238E27FC236}">
                <a16:creationId xmlns:a16="http://schemas.microsoft.com/office/drawing/2014/main" id="{AC836445-DE34-4E68-B1F4-FAF721CF5956}"/>
              </a:ext>
            </a:extLst>
          </p:cNvPr>
          <p:cNvSpPr>
            <a:spLocks/>
          </p:cNvSpPr>
          <p:nvPr/>
        </p:nvSpPr>
        <p:spPr bwMode="auto">
          <a:xfrm rot="-195418">
            <a:off x="4152900" y="4832350"/>
            <a:ext cx="1836738" cy="566738"/>
          </a:xfrm>
          <a:custGeom>
            <a:avLst/>
            <a:gdLst>
              <a:gd name="T0" fmla="*/ 1837088 w 1941838"/>
              <a:gd name="T1" fmla="*/ 27428 h 732096"/>
              <a:gd name="T2" fmla="*/ 230523 w 1941838"/>
              <a:gd name="T3" fmla="*/ 61154 h 732096"/>
              <a:gd name="T4" fmla="*/ 10821 w 1941838"/>
              <a:gd name="T5" fmla="*/ 567058 h 732096"/>
              <a:gd name="T6" fmla="*/ 10821 w 1941838"/>
              <a:gd name="T7" fmla="*/ 567058 h 7320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1838" h="732096">
                <a:moveTo>
                  <a:pt x="1941838" y="35411"/>
                </a:moveTo>
                <a:cubicBezTo>
                  <a:pt x="1253619" y="-875"/>
                  <a:pt x="565400" y="-37161"/>
                  <a:pt x="243667" y="78953"/>
                </a:cubicBezTo>
                <a:cubicBezTo>
                  <a:pt x="-78066" y="195067"/>
                  <a:pt x="11438" y="732096"/>
                  <a:pt x="11438" y="732096"/>
                </a:cubicBezTo>
              </a:path>
            </a:pathLst>
          </a:custGeom>
          <a:noFill/>
          <a:ln w="28575" cap="flat" cmpd="sng" algn="ctr">
            <a:solidFill>
              <a:srgbClr val="3333FF"/>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矩形 10">
            <a:extLst>
              <a:ext uri="{FF2B5EF4-FFF2-40B4-BE49-F238E27FC236}">
                <a16:creationId xmlns:a16="http://schemas.microsoft.com/office/drawing/2014/main" id="{23A06308-CEC3-4850-82A8-D5152B6ECC76}"/>
              </a:ext>
            </a:extLst>
          </p:cNvPr>
          <p:cNvSpPr>
            <a:spLocks noChangeArrowheads="1"/>
          </p:cNvSpPr>
          <p:nvPr/>
        </p:nvSpPr>
        <p:spPr bwMode="auto">
          <a:xfrm>
            <a:off x="2279650" y="4097338"/>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solidFill>
                <a:srgbClr val="FF0000"/>
              </a:solidFill>
            </a:endParaRPr>
          </a:p>
        </p:txBody>
      </p:sp>
      <p:sp>
        <p:nvSpPr>
          <p:cNvPr id="12" name="矩形 11">
            <a:extLst>
              <a:ext uri="{FF2B5EF4-FFF2-40B4-BE49-F238E27FC236}">
                <a16:creationId xmlns:a16="http://schemas.microsoft.com/office/drawing/2014/main" id="{A6559AF3-A7A7-4425-A739-4A2FF3EBBEAF}"/>
              </a:ext>
            </a:extLst>
          </p:cNvPr>
          <p:cNvSpPr>
            <a:spLocks noChangeArrowheads="1"/>
          </p:cNvSpPr>
          <p:nvPr/>
        </p:nvSpPr>
        <p:spPr bwMode="auto">
          <a:xfrm>
            <a:off x="5311775" y="427355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solidFill>
                <a:srgbClr val="FF0000"/>
              </a:solidFill>
            </a:endParaRPr>
          </a:p>
        </p:txBody>
      </p:sp>
      <p:sp>
        <p:nvSpPr>
          <p:cNvPr id="13" name="矩形 12">
            <a:extLst>
              <a:ext uri="{FF2B5EF4-FFF2-40B4-BE49-F238E27FC236}">
                <a16:creationId xmlns:a16="http://schemas.microsoft.com/office/drawing/2014/main" id="{72BF6150-D43E-4678-A610-47867B5E4DF8}"/>
              </a:ext>
            </a:extLst>
          </p:cNvPr>
          <p:cNvSpPr>
            <a:spLocks noChangeArrowheads="1"/>
          </p:cNvSpPr>
          <p:nvPr/>
        </p:nvSpPr>
        <p:spPr bwMode="auto">
          <a:xfrm>
            <a:off x="3203575" y="436880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0</a:t>
            </a:r>
            <a:endParaRPr lang="zh-CN" altLang="en-US" sz="2400" b="1">
              <a:solidFill>
                <a:srgbClr val="FF0000"/>
              </a:solidFill>
            </a:endParaRPr>
          </a:p>
        </p:txBody>
      </p:sp>
      <p:grpSp>
        <p:nvGrpSpPr>
          <p:cNvPr id="14" name="组合 13">
            <a:extLst>
              <a:ext uri="{FF2B5EF4-FFF2-40B4-BE49-F238E27FC236}">
                <a16:creationId xmlns:a16="http://schemas.microsoft.com/office/drawing/2014/main" id="{16619F09-8AA1-4790-9FDD-94188AA15E93}"/>
              </a:ext>
            </a:extLst>
          </p:cNvPr>
          <p:cNvGrpSpPr>
            <a:grpSpLocks/>
          </p:cNvGrpSpPr>
          <p:nvPr/>
        </p:nvGrpSpPr>
        <p:grpSpPr bwMode="auto">
          <a:xfrm>
            <a:off x="6216650" y="4727575"/>
            <a:ext cx="2559050" cy="1843088"/>
            <a:chOff x="6552141" y="4627084"/>
            <a:chExt cx="2559027" cy="1844320"/>
          </a:xfrm>
        </p:grpSpPr>
        <p:pic>
          <p:nvPicPr>
            <p:cNvPr id="118809" name="图片 14">
              <a:extLst>
                <a:ext uri="{FF2B5EF4-FFF2-40B4-BE49-F238E27FC236}">
                  <a16:creationId xmlns:a16="http://schemas.microsoft.com/office/drawing/2014/main" id="{F49276CC-5E38-4A73-80B4-FF3B02D65C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8715" y="5211550"/>
              <a:ext cx="882453" cy="1259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8810" name="直接连接符 15">
              <a:extLst>
                <a:ext uri="{FF2B5EF4-FFF2-40B4-BE49-F238E27FC236}">
                  <a16:creationId xmlns:a16="http://schemas.microsoft.com/office/drawing/2014/main" id="{20530DE5-6C30-4ACA-BD51-A51C33BB6D80}"/>
                </a:ext>
              </a:extLst>
            </p:cNvPr>
            <p:cNvCxnSpPr>
              <a:cxnSpLocks noChangeShapeType="1"/>
            </p:cNvCxnSpPr>
            <p:nvPr/>
          </p:nvCxnSpPr>
          <p:spPr bwMode="auto">
            <a:xfrm>
              <a:off x="6552141" y="4627084"/>
              <a:ext cx="2095766" cy="0"/>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811" name="直接连接符 16">
              <a:extLst>
                <a:ext uri="{FF2B5EF4-FFF2-40B4-BE49-F238E27FC236}">
                  <a16:creationId xmlns:a16="http://schemas.microsoft.com/office/drawing/2014/main" id="{24CE375C-7772-4D09-8486-7EFE64563E94}"/>
                </a:ext>
              </a:extLst>
            </p:cNvPr>
            <p:cNvCxnSpPr>
              <a:cxnSpLocks noChangeShapeType="1"/>
            </p:cNvCxnSpPr>
            <p:nvPr/>
          </p:nvCxnSpPr>
          <p:spPr bwMode="auto">
            <a:xfrm>
              <a:off x="8647907" y="4627084"/>
              <a:ext cx="0" cy="782198"/>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9" name="矩形 18">
            <a:extLst>
              <a:ext uri="{FF2B5EF4-FFF2-40B4-BE49-F238E27FC236}">
                <a16:creationId xmlns:a16="http://schemas.microsoft.com/office/drawing/2014/main" id="{3F51C63F-CD42-4AE1-B943-C5737CFD0A0C}"/>
              </a:ext>
            </a:extLst>
          </p:cNvPr>
          <p:cNvSpPr/>
          <p:nvPr/>
        </p:nvSpPr>
        <p:spPr>
          <a:xfrm>
            <a:off x="6456363" y="4165600"/>
            <a:ext cx="1016000" cy="612775"/>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FF00FF"/>
                </a:solidFill>
                <a:cs typeface="Times New Roman" panose="02020603050405020304" pitchFamily="18" charset="0"/>
              </a:rPr>
              <a:t>例</a:t>
            </a:r>
            <a:r>
              <a:rPr lang="en-US" altLang="zh-CN" sz="2400" b="1" kern="0" dirty="0">
                <a:solidFill>
                  <a:srgbClr val="FF00FF"/>
                </a:solidFill>
                <a:cs typeface="Times New Roman" panose="02020603050405020304" pitchFamily="18" charset="0"/>
              </a:rPr>
              <a:t>:</a:t>
            </a:r>
            <a:r>
              <a:rPr lang="zh-CN" altLang="en-US" sz="2400" b="1" kern="0" dirty="0">
                <a:solidFill>
                  <a:srgbClr val="FF00FF"/>
                </a:solidFill>
                <a:cs typeface="Times New Roman" panose="02020603050405020304" pitchFamily="18" charset="0"/>
              </a:rPr>
              <a:t>口线</a:t>
            </a:r>
            <a:r>
              <a:rPr lang="en-US" altLang="zh-CN" sz="2400" b="1" kern="0" dirty="0">
                <a:solidFill>
                  <a:srgbClr val="FF00FF"/>
                </a:solidFill>
                <a:cs typeface="Times New Roman" panose="02020603050405020304" pitchFamily="18" charset="0"/>
              </a:rPr>
              <a:t>P3.2</a:t>
            </a:r>
            <a:endParaRPr lang="en-US" altLang="zh-CN" sz="2400" b="1" dirty="0">
              <a:solidFill>
                <a:srgbClr val="FF00FF"/>
              </a:solidFill>
              <a:ea typeface="宋体" charset="-122"/>
              <a:cs typeface="Times New Roman" pitchFamily="18" charset="0"/>
            </a:endParaRPr>
          </a:p>
        </p:txBody>
      </p:sp>
      <p:sp>
        <p:nvSpPr>
          <p:cNvPr id="20" name="矩形 19">
            <a:extLst>
              <a:ext uri="{FF2B5EF4-FFF2-40B4-BE49-F238E27FC236}">
                <a16:creationId xmlns:a16="http://schemas.microsoft.com/office/drawing/2014/main" id="{0EBD4600-1269-4475-BAB0-8DEB5CC9E659}"/>
              </a:ext>
            </a:extLst>
          </p:cNvPr>
          <p:cNvSpPr/>
          <p:nvPr/>
        </p:nvSpPr>
        <p:spPr>
          <a:xfrm>
            <a:off x="184150" y="4826000"/>
            <a:ext cx="1312863" cy="866775"/>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0000FF"/>
                </a:solidFill>
                <a:cs typeface="Times New Roman" panose="02020603050405020304" pitchFamily="18" charset="0"/>
              </a:rPr>
              <a:t>例</a:t>
            </a:r>
            <a:r>
              <a:rPr lang="en-US" altLang="zh-CN" sz="2400" b="1" kern="0" dirty="0">
                <a:solidFill>
                  <a:srgbClr val="0000FF"/>
                </a:solidFill>
                <a:cs typeface="Times New Roman" panose="02020603050405020304" pitchFamily="18" charset="0"/>
              </a:rPr>
              <a:t>:</a:t>
            </a:r>
            <a:r>
              <a:rPr lang="zh-CN" altLang="en-US" sz="2400" b="1" kern="0" dirty="0">
                <a:solidFill>
                  <a:srgbClr val="0000FF"/>
                </a:solidFill>
                <a:cs typeface="Times New Roman" panose="02020603050405020304" pitchFamily="18" charset="0"/>
              </a:rPr>
              <a:t>口线</a:t>
            </a:r>
            <a:r>
              <a:rPr lang="en-US" altLang="zh-CN" sz="2400" b="1" kern="0" dirty="0">
                <a:solidFill>
                  <a:srgbClr val="0000FF"/>
                </a:solidFill>
                <a:cs typeface="Times New Roman" panose="02020603050405020304" pitchFamily="18" charset="0"/>
              </a:rPr>
              <a:t>P3.2</a:t>
            </a:r>
            <a:r>
              <a:rPr lang="zh-CN" altLang="en-US" sz="2400" b="1" kern="0" dirty="0">
                <a:solidFill>
                  <a:srgbClr val="0000FF"/>
                </a:solidFill>
                <a:cs typeface="Times New Roman" panose="02020603050405020304" pitchFamily="18" charset="0"/>
              </a:rPr>
              <a:t>的锁存器位</a:t>
            </a:r>
            <a:endParaRPr lang="en-US" altLang="zh-CN" sz="2400" b="1" dirty="0">
              <a:solidFill>
                <a:srgbClr val="0000FF"/>
              </a:solidFill>
              <a:ea typeface="宋体" charset="-122"/>
              <a:cs typeface="Times New Roman" pitchFamily="18" charset="0"/>
            </a:endParaRPr>
          </a:p>
        </p:txBody>
      </p:sp>
      <p:grpSp>
        <p:nvGrpSpPr>
          <p:cNvPr id="21" name="组合 20">
            <a:extLst>
              <a:ext uri="{FF2B5EF4-FFF2-40B4-BE49-F238E27FC236}">
                <a16:creationId xmlns:a16="http://schemas.microsoft.com/office/drawing/2014/main" id="{4A0E6D51-5C95-478D-98D0-8EDD8F799413}"/>
              </a:ext>
            </a:extLst>
          </p:cNvPr>
          <p:cNvGrpSpPr>
            <a:grpSpLocks/>
          </p:cNvGrpSpPr>
          <p:nvPr/>
        </p:nvGrpSpPr>
        <p:grpSpPr bwMode="auto">
          <a:xfrm>
            <a:off x="6289675" y="3254375"/>
            <a:ext cx="2706688" cy="1473200"/>
            <a:chOff x="6489705" y="3159241"/>
            <a:chExt cx="2706255" cy="1473352"/>
          </a:xfrm>
        </p:grpSpPr>
        <p:pic>
          <p:nvPicPr>
            <p:cNvPr id="118806" name="图片 21">
              <a:extLst>
                <a:ext uri="{FF2B5EF4-FFF2-40B4-BE49-F238E27FC236}">
                  <a16:creationId xmlns:a16="http://schemas.microsoft.com/office/drawing/2014/main" id="{90B2B1E0-1DAB-4E13-9792-27D793D88B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77982" y="3159241"/>
              <a:ext cx="717978" cy="1295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8807" name="直接连接符 22">
              <a:extLst>
                <a:ext uri="{FF2B5EF4-FFF2-40B4-BE49-F238E27FC236}">
                  <a16:creationId xmlns:a16="http://schemas.microsoft.com/office/drawing/2014/main" id="{38BE5259-AEAE-40C6-9653-F34AAAB47B00}"/>
                </a:ext>
              </a:extLst>
            </p:cNvPr>
            <p:cNvCxnSpPr>
              <a:cxnSpLocks noChangeShapeType="1"/>
            </p:cNvCxnSpPr>
            <p:nvPr/>
          </p:nvCxnSpPr>
          <p:spPr bwMode="auto">
            <a:xfrm>
              <a:off x="6489705" y="4626889"/>
              <a:ext cx="2263316" cy="0"/>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8808" name="直接连接符 23">
              <a:extLst>
                <a:ext uri="{FF2B5EF4-FFF2-40B4-BE49-F238E27FC236}">
                  <a16:creationId xmlns:a16="http://schemas.microsoft.com/office/drawing/2014/main" id="{E2573537-EA15-45FF-816B-34EA373B0DE9}"/>
                </a:ext>
              </a:extLst>
            </p:cNvPr>
            <p:cNvCxnSpPr>
              <a:cxnSpLocks noChangeShapeType="1"/>
            </p:cNvCxnSpPr>
            <p:nvPr/>
          </p:nvCxnSpPr>
          <p:spPr bwMode="auto">
            <a:xfrm flipV="1">
              <a:off x="8753021" y="4393765"/>
              <a:ext cx="4480" cy="238828"/>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5" name="Rectangle 3">
            <a:extLst>
              <a:ext uri="{FF2B5EF4-FFF2-40B4-BE49-F238E27FC236}">
                <a16:creationId xmlns:a16="http://schemas.microsoft.com/office/drawing/2014/main" id="{8537A89A-83C9-4F16-B879-1CF56FFB4882}"/>
              </a:ext>
            </a:extLst>
          </p:cNvPr>
          <p:cNvSpPr txBox="1">
            <a:spLocks noChangeArrowheads="1"/>
          </p:cNvSpPr>
          <p:nvPr/>
        </p:nvSpPr>
        <p:spPr bwMode="auto">
          <a:xfrm>
            <a:off x="111125" y="3098800"/>
            <a:ext cx="822960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5"/>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6"/>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1938" lvl="1" indent="-261938" algn="l" eaLnBrk="1" hangingPunct="1">
              <a:spcBef>
                <a:spcPts val="0"/>
              </a:spcBef>
              <a:spcAft>
                <a:spcPts val="300"/>
              </a:spcAft>
              <a:defRPr/>
            </a:pPr>
            <a:r>
              <a:rPr lang="zh-CN" altLang="en-US" kern="0" dirty="0"/>
              <a:t>推挽输出模式</a:t>
            </a:r>
            <a:r>
              <a:rPr lang="en-US" altLang="zh-CN" kern="0" dirty="0"/>
              <a:t>,</a:t>
            </a:r>
            <a:r>
              <a:rPr lang="zh-CN" altLang="en-US" kern="0" dirty="0"/>
              <a:t>也带有施密特触发输入及干扰抑制电路。</a:t>
            </a:r>
            <a:endParaRPr lang="en-US" altLang="zh-CN" kern="0" dirty="0"/>
          </a:p>
        </p:txBody>
      </p:sp>
      <p:sp>
        <p:nvSpPr>
          <p:cNvPr id="28" name="矩形 27">
            <a:extLst>
              <a:ext uri="{FF2B5EF4-FFF2-40B4-BE49-F238E27FC236}">
                <a16:creationId xmlns:a16="http://schemas.microsoft.com/office/drawing/2014/main" id="{DE0D2718-4F4E-498A-9731-71155E76F0F6}"/>
              </a:ext>
            </a:extLst>
          </p:cNvPr>
          <p:cNvSpPr>
            <a:spLocks noChangeArrowheads="1"/>
          </p:cNvSpPr>
          <p:nvPr/>
        </p:nvSpPr>
        <p:spPr bwMode="auto">
          <a:xfrm>
            <a:off x="2271713" y="4764088"/>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29" name="矩形 28">
            <a:extLst>
              <a:ext uri="{FF2B5EF4-FFF2-40B4-BE49-F238E27FC236}">
                <a16:creationId xmlns:a16="http://schemas.microsoft.com/office/drawing/2014/main" id="{E7E0CEC4-BFD5-41D2-8051-E670A76FEF60}"/>
              </a:ext>
            </a:extLst>
          </p:cNvPr>
          <p:cNvSpPr>
            <a:spLocks noChangeArrowheads="1"/>
          </p:cNvSpPr>
          <p:nvPr/>
        </p:nvSpPr>
        <p:spPr bwMode="auto">
          <a:xfrm>
            <a:off x="5324475" y="4803775"/>
            <a:ext cx="3397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30" name="矩形 29">
            <a:extLst>
              <a:ext uri="{FF2B5EF4-FFF2-40B4-BE49-F238E27FC236}">
                <a16:creationId xmlns:a16="http://schemas.microsoft.com/office/drawing/2014/main" id="{3EBAC01A-0363-4976-BD9F-59224E13081C}"/>
              </a:ext>
            </a:extLst>
          </p:cNvPr>
          <p:cNvSpPr>
            <a:spLocks noChangeArrowheads="1"/>
          </p:cNvSpPr>
          <p:nvPr/>
        </p:nvSpPr>
        <p:spPr bwMode="auto">
          <a:xfrm>
            <a:off x="3219450" y="4767263"/>
            <a:ext cx="338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33FF"/>
                </a:solidFill>
              </a:rPr>
              <a:t>1</a:t>
            </a:r>
            <a:endParaRPr lang="zh-CN" altLang="en-US" sz="2400" b="1">
              <a:solidFill>
                <a:srgbClr val="3333FF"/>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标题 2">
            <a:extLst>
              <a:ext uri="{FF2B5EF4-FFF2-40B4-BE49-F238E27FC236}">
                <a16:creationId xmlns:a16="http://schemas.microsoft.com/office/drawing/2014/main" id="{DCF6A06D-4F99-4CAB-AACC-50603B2D90F7}"/>
              </a:ext>
            </a:extLst>
          </p:cNvPr>
          <p:cNvSpPr>
            <a:spLocks noGrp="1" noChangeArrowheads="1"/>
          </p:cNvSpPr>
          <p:nvPr>
            <p:ph type="title"/>
          </p:nvPr>
        </p:nvSpPr>
        <p:spPr>
          <a:xfrm>
            <a:off x="468313" y="357188"/>
            <a:ext cx="8229600" cy="504825"/>
          </a:xfrm>
        </p:spPr>
        <p:txBody>
          <a:bodyPr vert="horz" lIns="91440" tIns="45720" rIns="91440" bIns="45720" rtlCol="0" anchor="b">
            <a:noAutofit/>
          </a:bodyPr>
          <a:lstStyle/>
          <a:p>
            <a:r>
              <a:rPr lang="en-US" altLang="zh-CN" sz="3200" dirty="0">
                <a:solidFill>
                  <a:srgbClr val="FF0000"/>
                </a:solidFill>
              </a:rPr>
              <a:t>2. IAP15W4K58S4</a:t>
            </a:r>
            <a:r>
              <a:rPr lang="zh-CN" altLang="en-US" sz="3200" dirty="0">
                <a:solidFill>
                  <a:srgbClr val="FF0000"/>
                </a:solidFill>
              </a:rPr>
              <a:t>单片机</a:t>
            </a:r>
            <a:r>
              <a:rPr lang="en-US" altLang="zh-CN" sz="3200" dirty="0">
                <a:solidFill>
                  <a:srgbClr val="FF0000"/>
                </a:solidFill>
              </a:rPr>
              <a:t>I/O</a:t>
            </a:r>
            <a:r>
              <a:rPr lang="zh-CN" altLang="en-US" sz="3200" dirty="0">
                <a:solidFill>
                  <a:srgbClr val="FF0000"/>
                </a:solidFill>
              </a:rPr>
              <a:t>口的结构</a:t>
            </a:r>
          </a:p>
        </p:txBody>
      </p:sp>
      <p:sp>
        <p:nvSpPr>
          <p:cNvPr id="524291" name="Rectangle 3">
            <a:extLst>
              <a:ext uri="{FF2B5EF4-FFF2-40B4-BE49-F238E27FC236}">
                <a16:creationId xmlns:a16="http://schemas.microsoft.com/office/drawing/2014/main" id="{72682821-AF53-4D04-8EA2-F87F97A8747F}"/>
              </a:ext>
            </a:extLst>
          </p:cNvPr>
          <p:cNvSpPr>
            <a:spLocks noGrp="1" noChangeArrowheads="1"/>
          </p:cNvSpPr>
          <p:nvPr>
            <p:ph idx="1"/>
          </p:nvPr>
        </p:nvSpPr>
        <p:spPr>
          <a:xfrm>
            <a:off x="203200" y="1302206"/>
            <a:ext cx="8494713" cy="5055732"/>
          </a:xfrm>
        </p:spPr>
        <p:txBody>
          <a:bodyPr/>
          <a:lstStyle/>
          <a:p>
            <a:pPr marL="0" indent="0" eaLnBrk="1" hangingPunct="1">
              <a:buFontTx/>
              <a:buNone/>
              <a:defRPr/>
            </a:pPr>
            <a:r>
              <a:rPr lang="zh-CN" altLang="en-US" dirty="0">
                <a:solidFill>
                  <a:srgbClr val="FF00FF"/>
                </a:solidFill>
                <a:latin typeface="+mj-lt"/>
              </a:rPr>
              <a:t>（</a:t>
            </a:r>
            <a:r>
              <a:rPr lang="en-US" altLang="zh-CN" dirty="0">
                <a:solidFill>
                  <a:srgbClr val="FF00FF"/>
                </a:solidFill>
                <a:latin typeface="+mj-lt"/>
              </a:rPr>
              <a:t>3</a:t>
            </a:r>
            <a:r>
              <a:rPr lang="zh-CN" altLang="en-US" dirty="0">
                <a:solidFill>
                  <a:srgbClr val="FF00FF"/>
                </a:solidFill>
                <a:latin typeface="+mj-lt"/>
              </a:rPr>
              <a:t>）仅为输入</a:t>
            </a:r>
            <a:r>
              <a:rPr lang="en-US" altLang="zh-CN" dirty="0">
                <a:solidFill>
                  <a:srgbClr val="FF00FF"/>
                </a:solidFill>
                <a:latin typeface="+mj-lt"/>
              </a:rPr>
              <a:t>(</a:t>
            </a:r>
            <a:r>
              <a:rPr lang="zh-CN" altLang="en-US" dirty="0">
                <a:solidFill>
                  <a:srgbClr val="FF00FF"/>
                </a:solidFill>
                <a:latin typeface="+mj-lt"/>
              </a:rPr>
              <a:t>高阻</a:t>
            </a:r>
            <a:r>
              <a:rPr lang="en-US" altLang="zh-CN" dirty="0">
                <a:solidFill>
                  <a:srgbClr val="FF00FF"/>
                </a:solidFill>
                <a:latin typeface="+mj-lt"/>
              </a:rPr>
              <a:t>)</a:t>
            </a:r>
            <a:r>
              <a:rPr lang="zh-CN" altLang="en-US" dirty="0">
                <a:solidFill>
                  <a:srgbClr val="FF00FF"/>
                </a:solidFill>
                <a:latin typeface="+mj-lt"/>
              </a:rPr>
              <a:t>工作模式的结构</a:t>
            </a:r>
          </a:p>
          <a:p>
            <a:pPr eaLnBrk="1" hangingPunct="1">
              <a:defRPr/>
            </a:pPr>
            <a:endParaRPr lang="zh-CN" altLang="en-US" dirty="0">
              <a:solidFill>
                <a:srgbClr val="CC3300"/>
              </a:solidFill>
            </a:endParaRPr>
          </a:p>
          <a:p>
            <a:pPr eaLnBrk="1" hangingPunct="1">
              <a:defRPr/>
            </a:pPr>
            <a:endParaRPr lang="zh-CN" altLang="en-US" dirty="0">
              <a:solidFill>
                <a:srgbClr val="CC3300"/>
              </a:solidFill>
            </a:endParaRPr>
          </a:p>
          <a:p>
            <a:pPr eaLnBrk="1" hangingPunct="1">
              <a:defRPr/>
            </a:pPr>
            <a:endParaRPr lang="zh-CN" altLang="en-US" dirty="0">
              <a:solidFill>
                <a:srgbClr val="CC3300"/>
              </a:solidFill>
            </a:endParaRPr>
          </a:p>
          <a:p>
            <a:pPr eaLnBrk="1" hangingPunct="1">
              <a:defRPr/>
            </a:pPr>
            <a:endParaRPr lang="zh-CN" altLang="en-US" dirty="0">
              <a:solidFill>
                <a:srgbClr val="CC3300"/>
              </a:solidFill>
            </a:endParaRPr>
          </a:p>
          <a:p>
            <a:pPr lvl="1" eaLnBrk="1" hangingPunct="1">
              <a:defRPr/>
            </a:pPr>
            <a:r>
              <a:rPr lang="zh-CN" altLang="en-US" dirty="0"/>
              <a:t>输入口带有一个</a:t>
            </a:r>
            <a:r>
              <a:rPr lang="zh-CN" altLang="en-US" dirty="0">
                <a:hlinkClick r:id="rId2" action="ppaction://hlinksldjump"/>
              </a:rPr>
              <a:t>施密特触发</a:t>
            </a:r>
            <a:r>
              <a:rPr lang="zh-CN" altLang="en-US" dirty="0"/>
              <a:t>输入以及一个干扰抑制电路。</a:t>
            </a:r>
          </a:p>
          <a:p>
            <a:pPr lvl="1" eaLnBrk="1" hangingPunct="1">
              <a:defRPr/>
            </a:pPr>
            <a:r>
              <a:rPr lang="zh-CN" altLang="en-US" dirty="0"/>
              <a:t>注意</a:t>
            </a:r>
            <a:r>
              <a:rPr lang="en-US" altLang="zh-CN" dirty="0"/>
              <a:t>,</a:t>
            </a:r>
            <a:r>
              <a:rPr lang="zh-CN" altLang="en-US" dirty="0"/>
              <a:t>仅为输入</a:t>
            </a:r>
            <a:r>
              <a:rPr lang="en-US" altLang="zh-CN" dirty="0"/>
              <a:t>(</a:t>
            </a:r>
            <a:r>
              <a:rPr lang="zh-CN" altLang="en-US" dirty="0"/>
              <a:t>高阻</a:t>
            </a:r>
            <a:r>
              <a:rPr lang="en-US" altLang="zh-CN" dirty="0"/>
              <a:t>)</a:t>
            </a:r>
            <a:r>
              <a:rPr lang="zh-CN" altLang="en-US" dirty="0"/>
              <a:t>工作模式下</a:t>
            </a:r>
            <a:r>
              <a:rPr lang="en-US" altLang="zh-CN" dirty="0">
                <a:solidFill>
                  <a:srgbClr val="FF0000"/>
                </a:solidFill>
              </a:rPr>
              <a:t>, I/O</a:t>
            </a:r>
            <a:r>
              <a:rPr lang="zh-CN" altLang="en-US" dirty="0">
                <a:solidFill>
                  <a:srgbClr val="FF0000"/>
                </a:solidFill>
              </a:rPr>
              <a:t>口不提供</a:t>
            </a:r>
            <a:r>
              <a:rPr lang="en-US" altLang="zh-CN" dirty="0">
                <a:solidFill>
                  <a:srgbClr val="FF0000"/>
                </a:solidFill>
              </a:rPr>
              <a:t>20mA</a:t>
            </a:r>
            <a:r>
              <a:rPr lang="zh-CN" altLang="en-US" dirty="0">
                <a:solidFill>
                  <a:srgbClr val="FF0000"/>
                </a:solidFill>
              </a:rPr>
              <a:t>灌</a:t>
            </a:r>
            <a:r>
              <a:rPr lang="en-US" altLang="zh-CN" dirty="0">
                <a:solidFill>
                  <a:srgbClr val="FF0000"/>
                </a:solidFill>
              </a:rPr>
              <a:t>(</a:t>
            </a:r>
            <a:r>
              <a:rPr lang="zh-CN" altLang="en-US" dirty="0">
                <a:solidFill>
                  <a:srgbClr val="FF0000"/>
                </a:solidFill>
              </a:rPr>
              <a:t>拉</a:t>
            </a:r>
            <a:r>
              <a:rPr lang="en-US" altLang="zh-CN" dirty="0">
                <a:solidFill>
                  <a:srgbClr val="FF0000"/>
                </a:solidFill>
              </a:rPr>
              <a:t>)</a:t>
            </a:r>
            <a:r>
              <a:rPr lang="zh-CN" altLang="en-US" dirty="0">
                <a:solidFill>
                  <a:srgbClr val="FF0000"/>
                </a:solidFill>
              </a:rPr>
              <a:t>电流的能力。</a:t>
            </a:r>
          </a:p>
        </p:txBody>
      </p:sp>
      <p:sp>
        <p:nvSpPr>
          <p:cNvPr id="2" name="日期占位符 1">
            <a:extLst>
              <a:ext uri="{FF2B5EF4-FFF2-40B4-BE49-F238E27FC236}">
                <a16:creationId xmlns:a16="http://schemas.microsoft.com/office/drawing/2014/main" id="{770BBCAE-76DB-497C-A9AB-B2D231157345}"/>
              </a:ext>
            </a:extLst>
          </p:cNvPr>
          <p:cNvSpPr>
            <a:spLocks noGrp="1"/>
          </p:cNvSpPr>
          <p:nvPr>
            <p:ph type="dt" sz="quarter" idx="11"/>
          </p:nvPr>
        </p:nvSpPr>
        <p:spPr/>
        <p:txBody>
          <a:bodyPr/>
          <a:lstStyle/>
          <a:p>
            <a:pPr>
              <a:defRPr/>
            </a:pPr>
            <a:fld id="{87BCB0B0-631A-4127-9BBC-5A9FFE3745B2}" type="datetime10">
              <a:rPr lang="zh-CN" altLang="en-US"/>
              <a:pPr>
                <a:defRPr/>
              </a:pPr>
              <a:t>00:30</a:t>
            </a:fld>
            <a:endParaRPr lang="zh-CN" altLang="en-US"/>
          </a:p>
        </p:txBody>
      </p:sp>
      <p:sp>
        <p:nvSpPr>
          <p:cNvPr id="119813" name="Rectangle 5">
            <a:extLst>
              <a:ext uri="{FF2B5EF4-FFF2-40B4-BE49-F238E27FC236}">
                <a16:creationId xmlns:a16="http://schemas.microsoft.com/office/drawing/2014/main" id="{62FA0E68-9DA0-453A-8F9C-DEFB355B3248}"/>
              </a:ext>
            </a:extLst>
          </p:cNvPr>
          <p:cNvSpPr>
            <a:spLocks noChangeArrowheads="1"/>
          </p:cNvSpPr>
          <p:nvPr/>
        </p:nvSpPr>
        <p:spPr bwMode="auto">
          <a:xfrm>
            <a:off x="-258763" y="3214688"/>
            <a:ext cx="9144001"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19814" name="Rectangle 8">
            <a:extLst>
              <a:ext uri="{FF2B5EF4-FFF2-40B4-BE49-F238E27FC236}">
                <a16:creationId xmlns:a16="http://schemas.microsoft.com/office/drawing/2014/main" id="{A43F4B43-CFE2-43EA-B671-716793732829}"/>
              </a:ext>
            </a:extLst>
          </p:cNvPr>
          <p:cNvSpPr>
            <a:spLocks noChangeArrowheads="1"/>
          </p:cNvSpPr>
          <p:nvPr/>
        </p:nvSpPr>
        <p:spPr bwMode="auto">
          <a:xfrm>
            <a:off x="-258763" y="3186113"/>
            <a:ext cx="9144001"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524295" name="Object 7">
            <a:extLst>
              <a:ext uri="{FF2B5EF4-FFF2-40B4-BE49-F238E27FC236}">
                <a16:creationId xmlns:a16="http://schemas.microsoft.com/office/drawing/2014/main" id="{EC1F6172-B2AD-42C4-BEBB-CA402976AE6B}"/>
              </a:ext>
            </a:extLst>
          </p:cNvPr>
          <p:cNvGraphicFramePr>
            <a:graphicFrameLocks noChangeAspect="1"/>
          </p:cNvGraphicFramePr>
          <p:nvPr/>
        </p:nvGraphicFramePr>
        <p:xfrm>
          <a:off x="227013" y="1781175"/>
          <a:ext cx="8031162" cy="1473200"/>
        </p:xfrm>
        <a:graphic>
          <a:graphicData uri="http://schemas.openxmlformats.org/presentationml/2006/ole">
            <mc:AlternateContent xmlns:mc="http://schemas.openxmlformats.org/markup-compatibility/2006">
              <mc:Choice xmlns:v="urn:schemas-microsoft-com:vml" Requires="v">
                <p:oleObj name="Visio" r:id="rId3" imgW="2643174" imgH="487226" progId="Visio.Drawing.11">
                  <p:embed/>
                </p:oleObj>
              </mc:Choice>
              <mc:Fallback>
                <p:oleObj name="Visio" r:id="rId3" imgW="2643174" imgH="487226" progId="Visio.Drawing.11">
                  <p:embed/>
                  <p:pic>
                    <p:nvPicPr>
                      <p:cNvPr id="524295" name="Object 7">
                        <a:extLst>
                          <a:ext uri="{FF2B5EF4-FFF2-40B4-BE49-F238E27FC236}">
                            <a16:creationId xmlns:a16="http://schemas.microsoft.com/office/drawing/2014/main" id="{EC1F6172-B2AD-42C4-BEBB-CA402976AE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013" y="1781175"/>
                        <a:ext cx="8031162" cy="147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4297" name="Rectangle 9">
            <a:extLst>
              <a:ext uri="{FF2B5EF4-FFF2-40B4-BE49-F238E27FC236}">
                <a16:creationId xmlns:a16="http://schemas.microsoft.com/office/drawing/2014/main" id="{FEF008E0-8977-4AA6-A39C-C97FBC7B5847}"/>
              </a:ext>
            </a:extLst>
          </p:cNvPr>
          <p:cNvSpPr>
            <a:spLocks noChangeArrowheads="1"/>
          </p:cNvSpPr>
          <p:nvPr/>
        </p:nvSpPr>
        <p:spPr bwMode="auto">
          <a:xfrm>
            <a:off x="1260249" y="4248601"/>
            <a:ext cx="5655715" cy="46166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400" b="1" dirty="0">
                <a:solidFill>
                  <a:srgbClr val="990033"/>
                </a:solidFill>
              </a:rPr>
              <a:t>仅为输入（高阻）工作模式的</a:t>
            </a:r>
            <a:r>
              <a:rPr lang="en-US" altLang="zh-CN" sz="2400" b="1" dirty="0">
                <a:solidFill>
                  <a:srgbClr val="990033"/>
                </a:solidFill>
              </a:rPr>
              <a:t>I/O</a:t>
            </a:r>
            <a:r>
              <a:rPr lang="zh-CN" altLang="en-US" sz="2400" b="1" dirty="0">
                <a:solidFill>
                  <a:srgbClr val="990033"/>
                </a:solidFill>
              </a:rPr>
              <a:t>位结构 </a:t>
            </a:r>
          </a:p>
        </p:txBody>
      </p:sp>
      <p:sp>
        <p:nvSpPr>
          <p:cNvPr id="4" name="灯片编号占位符 3">
            <a:extLst>
              <a:ext uri="{FF2B5EF4-FFF2-40B4-BE49-F238E27FC236}">
                <a16:creationId xmlns:a16="http://schemas.microsoft.com/office/drawing/2014/main" id="{BE9343D1-3232-4DE5-BCD2-79C2D6EEB47F}"/>
              </a:ext>
            </a:extLst>
          </p:cNvPr>
          <p:cNvSpPr>
            <a:spLocks noGrp="1"/>
          </p:cNvSpPr>
          <p:nvPr>
            <p:ph type="sldNum" sz="quarter" idx="10"/>
          </p:nvPr>
        </p:nvSpPr>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a:fld id="{2C8CF22B-6843-4574-A1E7-981AF02324A1}" type="slidenum">
              <a:rPr lang="en-US" altLang="zh-CN">
                <a:latin typeface="Arial" panose="020B0604020202020204" pitchFamily="34" charset="0"/>
              </a:rPr>
              <a:pPr algn="l"/>
              <a:t>70</a:t>
            </a:fld>
            <a:endParaRPr lang="en-US" altLang="zh-CN">
              <a:latin typeface="Arial" panose="020B0604020202020204" pitchFamily="34" charset="0"/>
            </a:endParaRPr>
          </a:p>
        </p:txBody>
      </p:sp>
      <p:sp>
        <p:nvSpPr>
          <p:cNvPr id="10" name="矩形 9">
            <a:extLst>
              <a:ext uri="{FF2B5EF4-FFF2-40B4-BE49-F238E27FC236}">
                <a16:creationId xmlns:a16="http://schemas.microsoft.com/office/drawing/2014/main" id="{5D6DC6F8-F6BD-491C-A029-7F509EDB7C75}"/>
              </a:ext>
            </a:extLst>
          </p:cNvPr>
          <p:cNvSpPr/>
          <p:nvPr/>
        </p:nvSpPr>
        <p:spPr>
          <a:xfrm>
            <a:off x="352425" y="2686050"/>
            <a:ext cx="3157538" cy="312738"/>
          </a:xfrm>
          <a:prstGeom prst="rect">
            <a:avLst/>
          </a:prstGeom>
          <a:noFill/>
        </p:spPr>
        <p:txBody>
          <a:bodyPr lIns="0" tIns="36000" rIns="0" bIns="0" anchor="b">
            <a:spAutoFit/>
          </a:bodyPr>
          <a:lstStyle/>
          <a:p>
            <a:pPr algn="ctr" eaLnBrk="1" hangingPunct="1">
              <a:lnSpc>
                <a:spcPct val="75000"/>
              </a:lnSpc>
              <a:defRPr/>
            </a:pPr>
            <a:r>
              <a:rPr lang="en-US" altLang="zh-CN" sz="2400" b="1" kern="0" dirty="0">
                <a:solidFill>
                  <a:srgbClr val="FF0000"/>
                </a:solidFill>
                <a:cs typeface="Times New Roman" panose="02020603050405020304" pitchFamily="18" charset="0"/>
              </a:rPr>
              <a:t>CPU</a:t>
            </a:r>
            <a:r>
              <a:rPr lang="zh-CN" altLang="en-US" sz="2400" b="1" kern="0" dirty="0">
                <a:solidFill>
                  <a:srgbClr val="FF0000"/>
                </a:solidFill>
                <a:cs typeface="Times New Roman" panose="02020603050405020304" pitchFamily="18" charset="0"/>
              </a:rPr>
              <a:t>读引脚状态数据</a:t>
            </a:r>
            <a:endParaRPr lang="en-US" altLang="zh-CN" sz="2400" b="1" dirty="0">
              <a:solidFill>
                <a:srgbClr val="FF0000"/>
              </a:solidFill>
              <a:ea typeface="宋体" charset="-122"/>
              <a:cs typeface="Times New Roman" pitchFamily="18" charset="0"/>
            </a:endParaRPr>
          </a:p>
        </p:txBody>
      </p:sp>
      <p:grpSp>
        <p:nvGrpSpPr>
          <p:cNvPr id="15" name="组合 14">
            <a:extLst>
              <a:ext uri="{FF2B5EF4-FFF2-40B4-BE49-F238E27FC236}">
                <a16:creationId xmlns:a16="http://schemas.microsoft.com/office/drawing/2014/main" id="{977A48CD-EF87-47E2-9713-2E7AAF52ACC7}"/>
              </a:ext>
            </a:extLst>
          </p:cNvPr>
          <p:cNvGrpSpPr>
            <a:grpSpLocks/>
          </p:cNvGrpSpPr>
          <p:nvPr/>
        </p:nvGrpSpPr>
        <p:grpSpPr bwMode="auto">
          <a:xfrm>
            <a:off x="8088313" y="2389188"/>
            <a:ext cx="660400" cy="1844675"/>
            <a:chOff x="8339424" y="4627084"/>
            <a:chExt cx="661034" cy="1844320"/>
          </a:xfrm>
        </p:grpSpPr>
        <p:pic>
          <p:nvPicPr>
            <p:cNvPr id="119826" name="图片 15">
              <a:extLst>
                <a:ext uri="{FF2B5EF4-FFF2-40B4-BE49-F238E27FC236}">
                  <a16:creationId xmlns:a16="http://schemas.microsoft.com/office/drawing/2014/main" id="{6A413D8B-29C6-4B6F-817D-3AE6BC9672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39424" y="5326156"/>
              <a:ext cx="661034" cy="1145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9827" name="直接连接符 16">
              <a:extLst>
                <a:ext uri="{FF2B5EF4-FFF2-40B4-BE49-F238E27FC236}">
                  <a16:creationId xmlns:a16="http://schemas.microsoft.com/office/drawing/2014/main" id="{DC82D2C4-F43B-4F03-A6EE-E30C1EB18CED}"/>
                </a:ext>
              </a:extLst>
            </p:cNvPr>
            <p:cNvCxnSpPr>
              <a:cxnSpLocks noChangeShapeType="1"/>
            </p:cNvCxnSpPr>
            <p:nvPr/>
          </p:nvCxnSpPr>
          <p:spPr bwMode="auto">
            <a:xfrm flipV="1">
              <a:off x="8405208" y="4638101"/>
              <a:ext cx="242699" cy="11856"/>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9828" name="直接连接符 17">
              <a:extLst>
                <a:ext uri="{FF2B5EF4-FFF2-40B4-BE49-F238E27FC236}">
                  <a16:creationId xmlns:a16="http://schemas.microsoft.com/office/drawing/2014/main" id="{77F48128-7D50-461E-A7E9-3E6549404797}"/>
                </a:ext>
              </a:extLst>
            </p:cNvPr>
            <p:cNvCxnSpPr>
              <a:cxnSpLocks noChangeShapeType="1"/>
            </p:cNvCxnSpPr>
            <p:nvPr/>
          </p:nvCxnSpPr>
          <p:spPr bwMode="auto">
            <a:xfrm>
              <a:off x="8647907" y="4627084"/>
              <a:ext cx="0" cy="782198"/>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9" name="矩形 18">
            <a:extLst>
              <a:ext uri="{FF2B5EF4-FFF2-40B4-BE49-F238E27FC236}">
                <a16:creationId xmlns:a16="http://schemas.microsoft.com/office/drawing/2014/main" id="{44CD31E6-CCA4-4D7A-922A-F772CC15C016}"/>
              </a:ext>
            </a:extLst>
          </p:cNvPr>
          <p:cNvSpPr/>
          <p:nvPr/>
        </p:nvSpPr>
        <p:spPr>
          <a:xfrm>
            <a:off x="7029450" y="1246188"/>
            <a:ext cx="1016000" cy="614362"/>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FF0000"/>
                </a:solidFill>
                <a:cs typeface="Times New Roman" panose="02020603050405020304" pitchFamily="18" charset="0"/>
              </a:rPr>
              <a:t>例</a:t>
            </a:r>
            <a:r>
              <a:rPr lang="en-US" altLang="zh-CN" sz="2400" b="1" kern="0" dirty="0">
                <a:solidFill>
                  <a:srgbClr val="FF0000"/>
                </a:solidFill>
                <a:cs typeface="Times New Roman" panose="02020603050405020304" pitchFamily="18" charset="0"/>
              </a:rPr>
              <a:t>:</a:t>
            </a:r>
            <a:r>
              <a:rPr lang="zh-CN" altLang="en-US" sz="2400" b="1" kern="0" dirty="0">
                <a:solidFill>
                  <a:srgbClr val="FF0000"/>
                </a:solidFill>
                <a:cs typeface="Times New Roman" panose="02020603050405020304" pitchFamily="18" charset="0"/>
              </a:rPr>
              <a:t>口线</a:t>
            </a:r>
            <a:r>
              <a:rPr lang="en-US" altLang="zh-CN" sz="2400" b="1" kern="0" dirty="0">
                <a:solidFill>
                  <a:srgbClr val="FF0000"/>
                </a:solidFill>
                <a:cs typeface="Times New Roman" panose="02020603050405020304" pitchFamily="18" charset="0"/>
              </a:rPr>
              <a:t>P3.2</a:t>
            </a:r>
            <a:endParaRPr lang="en-US" altLang="zh-CN" sz="2400" b="1" dirty="0">
              <a:solidFill>
                <a:srgbClr val="FF0000"/>
              </a:solidFill>
              <a:ea typeface="宋体" charset="-122"/>
              <a:cs typeface="Times New Roman" pitchFamily="18" charset="0"/>
            </a:endParaRPr>
          </a:p>
        </p:txBody>
      </p:sp>
      <p:grpSp>
        <p:nvGrpSpPr>
          <p:cNvPr id="20" name="组合 19">
            <a:extLst>
              <a:ext uri="{FF2B5EF4-FFF2-40B4-BE49-F238E27FC236}">
                <a16:creationId xmlns:a16="http://schemas.microsoft.com/office/drawing/2014/main" id="{CC0239C9-D8E6-4235-A60E-150AF56E5DFF}"/>
              </a:ext>
            </a:extLst>
          </p:cNvPr>
          <p:cNvGrpSpPr>
            <a:grpSpLocks/>
          </p:cNvGrpSpPr>
          <p:nvPr/>
        </p:nvGrpSpPr>
        <p:grpSpPr bwMode="auto">
          <a:xfrm>
            <a:off x="8180388" y="1000125"/>
            <a:ext cx="619125" cy="1412875"/>
            <a:chOff x="8466965" y="3220133"/>
            <a:chExt cx="620077" cy="1412460"/>
          </a:xfrm>
        </p:grpSpPr>
        <p:pic>
          <p:nvPicPr>
            <p:cNvPr id="119822" name="图片 20">
              <a:extLst>
                <a:ext uri="{FF2B5EF4-FFF2-40B4-BE49-F238E27FC236}">
                  <a16:creationId xmlns:a16="http://schemas.microsoft.com/office/drawing/2014/main" id="{4DCCDFB5-423E-4615-9EB5-67C44BFB3C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88415" y="3220133"/>
              <a:ext cx="598627" cy="119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9823" name="直接连接符 21">
              <a:extLst>
                <a:ext uri="{FF2B5EF4-FFF2-40B4-BE49-F238E27FC236}">
                  <a16:creationId xmlns:a16="http://schemas.microsoft.com/office/drawing/2014/main" id="{78A5902C-21F7-4328-B505-DD5F9E87A5E4}"/>
                </a:ext>
              </a:extLst>
            </p:cNvPr>
            <p:cNvCxnSpPr>
              <a:cxnSpLocks noChangeShapeType="1"/>
            </p:cNvCxnSpPr>
            <p:nvPr/>
          </p:nvCxnSpPr>
          <p:spPr bwMode="auto">
            <a:xfrm flipV="1">
              <a:off x="8466965" y="4626889"/>
              <a:ext cx="286056" cy="912"/>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9824" name="直接连接符 22">
              <a:extLst>
                <a:ext uri="{FF2B5EF4-FFF2-40B4-BE49-F238E27FC236}">
                  <a16:creationId xmlns:a16="http://schemas.microsoft.com/office/drawing/2014/main" id="{CDF98CB9-640F-4FBF-BE6F-FCFA5EC3DADD}"/>
                </a:ext>
              </a:extLst>
            </p:cNvPr>
            <p:cNvCxnSpPr>
              <a:cxnSpLocks noChangeShapeType="1"/>
            </p:cNvCxnSpPr>
            <p:nvPr/>
          </p:nvCxnSpPr>
          <p:spPr bwMode="auto">
            <a:xfrm flipV="1">
              <a:off x="8742004" y="4393765"/>
              <a:ext cx="4480" cy="238828"/>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9825" name="直接连接符 62">
              <a:extLst>
                <a:ext uri="{FF2B5EF4-FFF2-40B4-BE49-F238E27FC236}">
                  <a16:creationId xmlns:a16="http://schemas.microsoft.com/office/drawing/2014/main" id="{6CE6B0C1-48FF-4906-8182-1B59EDC33FDC}"/>
                </a:ext>
              </a:extLst>
            </p:cNvPr>
            <p:cNvCxnSpPr>
              <a:cxnSpLocks/>
            </p:cNvCxnSpPr>
            <p:nvPr/>
          </p:nvCxnSpPr>
          <p:spPr bwMode="auto">
            <a:xfrm rot="10800000">
              <a:off x="8702574" y="4055551"/>
              <a:ext cx="314299" cy="182805"/>
            </a:xfrm>
            <a:prstGeom prst="curvedConnector3">
              <a:avLst>
                <a:gd name="adj1" fmla="val 28125"/>
              </a:avLst>
            </a:prstGeom>
            <a:noFill/>
            <a:ln w="28575" algn="ctr">
              <a:solidFill>
                <a:srgbClr val="3333FF"/>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0834" name="图片 4">
            <a:extLst>
              <a:ext uri="{FF2B5EF4-FFF2-40B4-BE49-F238E27FC236}">
                <a16:creationId xmlns:a16="http://schemas.microsoft.com/office/drawing/2014/main" id="{CF8F78FB-9C5E-4AC6-AF30-1D6976ECBE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0850" y="1000125"/>
            <a:ext cx="61531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5" name="Rectangle 2">
            <a:extLst>
              <a:ext uri="{FF2B5EF4-FFF2-40B4-BE49-F238E27FC236}">
                <a16:creationId xmlns:a16="http://schemas.microsoft.com/office/drawing/2014/main" id="{2595BB70-9E07-4F9B-BCB8-BE8BFF9D3799}"/>
              </a:ext>
            </a:extLst>
          </p:cNvPr>
          <p:cNvSpPr>
            <a:spLocks noGrp="1" noChangeArrowheads="1"/>
          </p:cNvSpPr>
          <p:nvPr>
            <p:ph type="title" idx="4294967295"/>
          </p:nvPr>
        </p:nvSpPr>
        <p:spPr>
          <a:xfrm>
            <a:off x="761197" y="73397"/>
            <a:ext cx="7543800" cy="831478"/>
          </a:xfrm>
        </p:spPr>
        <p:txBody>
          <a:bodyPr vert="horz" lIns="91440" tIns="45720" rIns="91440" bIns="45720" rtlCol="0" anchor="b">
            <a:noAutofit/>
          </a:bodyPr>
          <a:lstStyle/>
          <a:p>
            <a:r>
              <a:rPr lang="zh-CN" altLang="en-US" sz="3200" dirty="0">
                <a:solidFill>
                  <a:srgbClr val="FF0000"/>
                </a:solidFill>
              </a:rPr>
              <a:t>外部总线接口的电平转换技术（补充）</a:t>
            </a:r>
          </a:p>
        </p:txBody>
      </p:sp>
      <p:sp>
        <p:nvSpPr>
          <p:cNvPr id="120836" name="Rectangle 3">
            <a:extLst>
              <a:ext uri="{FF2B5EF4-FFF2-40B4-BE49-F238E27FC236}">
                <a16:creationId xmlns:a16="http://schemas.microsoft.com/office/drawing/2014/main" id="{8EA62D9D-CA9F-46F8-A446-D6AD695E1251}"/>
              </a:ext>
            </a:extLst>
          </p:cNvPr>
          <p:cNvSpPr>
            <a:spLocks noGrp="1" noChangeArrowheads="1"/>
          </p:cNvSpPr>
          <p:nvPr>
            <p:ph type="body" idx="4294967295"/>
          </p:nvPr>
        </p:nvSpPr>
        <p:spPr>
          <a:xfrm>
            <a:off x="125186" y="1062037"/>
            <a:ext cx="6645275" cy="366713"/>
          </a:xfrm>
        </p:spPr>
        <p:txBody>
          <a:bodyPr>
            <a:normAutofit fontScale="92500" lnSpcReduction="20000"/>
          </a:bodyPr>
          <a:lstStyle/>
          <a:p>
            <a:pPr eaLnBrk="1" hangingPunct="1">
              <a:lnSpc>
                <a:spcPct val="80000"/>
              </a:lnSpc>
              <a:buFontTx/>
              <a:buNone/>
            </a:pPr>
            <a:r>
              <a:rPr lang="zh-CN" altLang="en-US" sz="2800"/>
              <a:t>由</a:t>
            </a:r>
            <a:r>
              <a:rPr lang="en-US" altLang="zh-CN" sz="2800"/>
              <a:t>CMOS</a:t>
            </a:r>
            <a:r>
              <a:rPr lang="zh-CN" altLang="en-US" sz="2800">
                <a:solidFill>
                  <a:srgbClr val="FF0000"/>
                </a:solidFill>
              </a:rPr>
              <a:t>反相器</a:t>
            </a:r>
            <a:r>
              <a:rPr lang="zh-CN" altLang="en-US" sz="2800"/>
              <a:t>构成的</a:t>
            </a:r>
            <a:r>
              <a:rPr lang="zh-CN" altLang="en-US" sz="2800">
                <a:solidFill>
                  <a:srgbClr val="FF0000"/>
                </a:solidFill>
              </a:rPr>
              <a:t>施密特触发器</a:t>
            </a:r>
          </a:p>
        </p:txBody>
      </p:sp>
      <p:sp>
        <p:nvSpPr>
          <p:cNvPr id="2" name="灯片编号占位符 1">
            <a:extLst>
              <a:ext uri="{FF2B5EF4-FFF2-40B4-BE49-F238E27FC236}">
                <a16:creationId xmlns:a16="http://schemas.microsoft.com/office/drawing/2014/main" id="{3AE3845F-67D4-4BAB-9696-662B98CAD579}"/>
              </a:ext>
            </a:extLst>
          </p:cNvPr>
          <p:cNvSpPr>
            <a:spLocks noGrp="1"/>
          </p:cNvSpPr>
          <p:nvPr>
            <p:ph type="sldNum" sz="quarter" idx="10"/>
          </p:nvPr>
        </p:nvSpPr>
        <p:spPr>
          <a:xfrm>
            <a:off x="8628063" y="6551613"/>
            <a:ext cx="515937" cy="306387"/>
          </a:xfrm>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a:fld id="{4E727D0C-9004-4785-BD0B-8AAC93FB8B0C}" type="slidenum">
              <a:rPr lang="en-US" altLang="zh-CN">
                <a:solidFill>
                  <a:srgbClr val="000000"/>
                </a:solidFill>
                <a:latin typeface="Arial" panose="020B0604020202020204" pitchFamily="34" charset="0"/>
              </a:rPr>
              <a:pPr algn="l"/>
              <a:t>71</a:t>
            </a:fld>
            <a:endParaRPr lang="en-US" altLang="zh-CN">
              <a:solidFill>
                <a:srgbClr val="000000"/>
              </a:solidFill>
              <a:latin typeface="Arial" panose="020B0604020202020204" pitchFamily="34" charset="0"/>
            </a:endParaRPr>
          </a:p>
        </p:txBody>
      </p:sp>
      <p:pic>
        <p:nvPicPr>
          <p:cNvPr id="120838" name="图片 8">
            <a:extLst>
              <a:ext uri="{FF2B5EF4-FFF2-40B4-BE49-F238E27FC236}">
                <a16:creationId xmlns:a16="http://schemas.microsoft.com/office/drawing/2014/main" id="{B263B262-E7C0-44E9-B93C-EB42208A34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163" y="1947863"/>
            <a:ext cx="2079625" cy="131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39" name="图片 9">
            <a:extLst>
              <a:ext uri="{FF2B5EF4-FFF2-40B4-BE49-F238E27FC236}">
                <a16:creationId xmlns:a16="http://schemas.microsoft.com/office/drawing/2014/main" id="{F79CD2D5-CC7F-45CE-990D-D980495BEF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2900" y="4830763"/>
            <a:ext cx="2209800" cy="1306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40" name="图片 10">
            <a:extLst>
              <a:ext uri="{FF2B5EF4-FFF2-40B4-BE49-F238E27FC236}">
                <a16:creationId xmlns:a16="http://schemas.microsoft.com/office/drawing/2014/main" id="{14B491EA-AEE7-40E3-BDCE-09CA3BF01D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963" y="3783013"/>
            <a:ext cx="3078162" cy="296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41" name="图片 11">
            <a:extLst>
              <a:ext uri="{FF2B5EF4-FFF2-40B4-BE49-F238E27FC236}">
                <a16:creationId xmlns:a16="http://schemas.microsoft.com/office/drawing/2014/main" id="{469EDEEF-9348-4806-A212-E7403D50363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94100" y="3783013"/>
            <a:ext cx="3098800" cy="296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0842" name="组合 33">
            <a:extLst>
              <a:ext uri="{FF2B5EF4-FFF2-40B4-BE49-F238E27FC236}">
                <a16:creationId xmlns:a16="http://schemas.microsoft.com/office/drawing/2014/main" id="{9BF72FB7-53A8-41E7-8B9D-9AA6CCB7ACDE}"/>
              </a:ext>
            </a:extLst>
          </p:cNvPr>
          <p:cNvGrpSpPr>
            <a:grpSpLocks/>
          </p:cNvGrpSpPr>
          <p:nvPr/>
        </p:nvGrpSpPr>
        <p:grpSpPr bwMode="auto">
          <a:xfrm>
            <a:off x="427038" y="4476750"/>
            <a:ext cx="1412875" cy="1731963"/>
            <a:chOff x="427420" y="4477406"/>
            <a:chExt cx="1411890" cy="1730704"/>
          </a:xfrm>
        </p:grpSpPr>
        <p:cxnSp>
          <p:nvCxnSpPr>
            <p:cNvPr id="120869" name="直接箭头连接符 3">
              <a:extLst>
                <a:ext uri="{FF2B5EF4-FFF2-40B4-BE49-F238E27FC236}">
                  <a16:creationId xmlns:a16="http://schemas.microsoft.com/office/drawing/2014/main" id="{B51B5B33-1F5F-4B95-BD34-FD7D3550195A}"/>
                </a:ext>
              </a:extLst>
            </p:cNvPr>
            <p:cNvCxnSpPr>
              <a:cxnSpLocks noChangeShapeType="1"/>
            </p:cNvCxnSpPr>
            <p:nvPr/>
          </p:nvCxnSpPr>
          <p:spPr bwMode="auto">
            <a:xfrm>
              <a:off x="427420" y="6197600"/>
              <a:ext cx="959945" cy="0"/>
            </a:xfrm>
            <a:prstGeom prst="straightConnector1">
              <a:avLst/>
            </a:prstGeom>
            <a:noFill/>
            <a:ln w="28575" algn="ctr">
              <a:solidFill>
                <a:srgbClr val="FF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70" name="直接箭头连接符 14">
              <a:extLst>
                <a:ext uri="{FF2B5EF4-FFF2-40B4-BE49-F238E27FC236}">
                  <a16:creationId xmlns:a16="http://schemas.microsoft.com/office/drawing/2014/main" id="{207C21C3-B3FA-4666-9A04-57A2B3C88C34}"/>
                </a:ext>
              </a:extLst>
            </p:cNvPr>
            <p:cNvCxnSpPr>
              <a:cxnSpLocks noChangeShapeType="1"/>
            </p:cNvCxnSpPr>
            <p:nvPr/>
          </p:nvCxnSpPr>
          <p:spPr bwMode="auto">
            <a:xfrm flipV="1">
              <a:off x="1814785" y="5433848"/>
              <a:ext cx="0" cy="774262"/>
            </a:xfrm>
            <a:prstGeom prst="straightConnector1">
              <a:avLst/>
            </a:prstGeom>
            <a:noFill/>
            <a:ln w="28575" algn="ctr">
              <a:solidFill>
                <a:srgbClr val="FF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71" name="直接箭头连接符 18">
              <a:extLst>
                <a:ext uri="{FF2B5EF4-FFF2-40B4-BE49-F238E27FC236}">
                  <a16:creationId xmlns:a16="http://schemas.microsoft.com/office/drawing/2014/main" id="{B2B3D29D-60A1-405F-A39A-DD7EB0FC16D8}"/>
                </a:ext>
              </a:extLst>
            </p:cNvPr>
            <p:cNvCxnSpPr>
              <a:cxnSpLocks noChangeShapeType="1"/>
            </p:cNvCxnSpPr>
            <p:nvPr/>
          </p:nvCxnSpPr>
          <p:spPr bwMode="auto">
            <a:xfrm flipV="1">
              <a:off x="1825296" y="4477406"/>
              <a:ext cx="0" cy="1030015"/>
            </a:xfrm>
            <a:prstGeom prst="straightConnector1">
              <a:avLst/>
            </a:prstGeom>
            <a:noFill/>
            <a:ln w="28575" algn="ctr">
              <a:solidFill>
                <a:srgbClr val="FF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72" name="直接箭头连接符 20">
              <a:extLst>
                <a:ext uri="{FF2B5EF4-FFF2-40B4-BE49-F238E27FC236}">
                  <a16:creationId xmlns:a16="http://schemas.microsoft.com/office/drawing/2014/main" id="{BAE40A1F-A5FF-4160-9A29-DE655CC2BF20}"/>
                </a:ext>
              </a:extLst>
            </p:cNvPr>
            <p:cNvCxnSpPr>
              <a:cxnSpLocks noChangeShapeType="1"/>
            </p:cNvCxnSpPr>
            <p:nvPr/>
          </p:nvCxnSpPr>
          <p:spPr bwMode="auto">
            <a:xfrm>
              <a:off x="1404882" y="6208110"/>
              <a:ext cx="434428" cy="0"/>
            </a:xfrm>
            <a:prstGeom prst="straightConnector1">
              <a:avLst/>
            </a:prstGeom>
            <a:noFill/>
            <a:ln w="28575" algn="ctr">
              <a:solidFill>
                <a:srgbClr val="FF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20843" name="组合 30">
            <a:extLst>
              <a:ext uri="{FF2B5EF4-FFF2-40B4-BE49-F238E27FC236}">
                <a16:creationId xmlns:a16="http://schemas.microsoft.com/office/drawing/2014/main" id="{6CC6385B-1A33-454C-9EDD-AE96C6B7A4C6}"/>
              </a:ext>
            </a:extLst>
          </p:cNvPr>
          <p:cNvGrpSpPr>
            <a:grpSpLocks/>
          </p:cNvGrpSpPr>
          <p:nvPr/>
        </p:nvGrpSpPr>
        <p:grpSpPr bwMode="auto">
          <a:xfrm>
            <a:off x="903288" y="4467225"/>
            <a:ext cx="1482725" cy="1733550"/>
            <a:chOff x="903890" y="4466897"/>
            <a:chExt cx="1481958" cy="1734206"/>
          </a:xfrm>
        </p:grpSpPr>
        <p:cxnSp>
          <p:nvCxnSpPr>
            <p:cNvPr id="120864" name="直接箭头连接符 22">
              <a:extLst>
                <a:ext uri="{FF2B5EF4-FFF2-40B4-BE49-F238E27FC236}">
                  <a16:creationId xmlns:a16="http://schemas.microsoft.com/office/drawing/2014/main" id="{8941E3E1-16B2-47A8-825A-2E57A41F4BFA}"/>
                </a:ext>
              </a:extLst>
            </p:cNvPr>
            <p:cNvCxnSpPr>
              <a:cxnSpLocks noChangeShapeType="1"/>
            </p:cNvCxnSpPr>
            <p:nvPr/>
          </p:nvCxnSpPr>
          <p:spPr bwMode="auto">
            <a:xfrm>
              <a:off x="1804275" y="4473903"/>
              <a:ext cx="581573" cy="0"/>
            </a:xfrm>
            <a:prstGeom prst="straightConnector1">
              <a:avLst/>
            </a:prstGeom>
            <a:noFill/>
            <a:ln w="28575" algn="ctr">
              <a:solidFill>
                <a:srgbClr val="0000FF"/>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65" name="直接箭头连接符 24">
              <a:extLst>
                <a:ext uri="{FF2B5EF4-FFF2-40B4-BE49-F238E27FC236}">
                  <a16:creationId xmlns:a16="http://schemas.microsoft.com/office/drawing/2014/main" id="{92DF3AC9-B864-4559-B9BE-B0F5A936E4EF}"/>
                </a:ext>
              </a:extLst>
            </p:cNvPr>
            <p:cNvCxnSpPr>
              <a:cxnSpLocks noChangeShapeType="1"/>
            </p:cNvCxnSpPr>
            <p:nvPr/>
          </p:nvCxnSpPr>
          <p:spPr bwMode="auto">
            <a:xfrm>
              <a:off x="931916" y="4466897"/>
              <a:ext cx="0" cy="935420"/>
            </a:xfrm>
            <a:prstGeom prst="straightConnector1">
              <a:avLst/>
            </a:prstGeom>
            <a:noFill/>
            <a:ln w="28575" algn="ctr">
              <a:solidFill>
                <a:srgbClr val="0000FF"/>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66" name="直接箭头连接符 26">
              <a:extLst>
                <a:ext uri="{FF2B5EF4-FFF2-40B4-BE49-F238E27FC236}">
                  <a16:creationId xmlns:a16="http://schemas.microsoft.com/office/drawing/2014/main" id="{F1B1853C-E88F-423A-9FFB-AE68DDDC47C0}"/>
                </a:ext>
              </a:extLst>
            </p:cNvPr>
            <p:cNvCxnSpPr>
              <a:cxnSpLocks noChangeShapeType="1"/>
            </p:cNvCxnSpPr>
            <p:nvPr/>
          </p:nvCxnSpPr>
          <p:spPr bwMode="auto">
            <a:xfrm>
              <a:off x="942426" y="5293710"/>
              <a:ext cx="0" cy="907393"/>
            </a:xfrm>
            <a:prstGeom prst="straightConnector1">
              <a:avLst/>
            </a:prstGeom>
            <a:noFill/>
            <a:ln w="28575" algn="ctr">
              <a:solidFill>
                <a:srgbClr val="0000FF"/>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67" name="直接箭头连接符 27">
              <a:extLst>
                <a:ext uri="{FF2B5EF4-FFF2-40B4-BE49-F238E27FC236}">
                  <a16:creationId xmlns:a16="http://schemas.microsoft.com/office/drawing/2014/main" id="{C0FE47A4-B6EE-4988-B168-3F62CC30173C}"/>
                </a:ext>
              </a:extLst>
            </p:cNvPr>
            <p:cNvCxnSpPr>
              <a:cxnSpLocks noChangeShapeType="1"/>
            </p:cNvCxnSpPr>
            <p:nvPr/>
          </p:nvCxnSpPr>
          <p:spPr bwMode="auto">
            <a:xfrm flipH="1">
              <a:off x="1334814" y="4473902"/>
              <a:ext cx="479971" cy="0"/>
            </a:xfrm>
            <a:prstGeom prst="straightConnector1">
              <a:avLst/>
            </a:prstGeom>
            <a:noFill/>
            <a:ln w="28575" algn="ctr">
              <a:solidFill>
                <a:srgbClr val="0000FF"/>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68" name="直接箭头连接符 29">
              <a:extLst>
                <a:ext uri="{FF2B5EF4-FFF2-40B4-BE49-F238E27FC236}">
                  <a16:creationId xmlns:a16="http://schemas.microsoft.com/office/drawing/2014/main" id="{F55493C5-5C86-423F-AFB1-9970C27DA2E0}"/>
                </a:ext>
              </a:extLst>
            </p:cNvPr>
            <p:cNvCxnSpPr>
              <a:cxnSpLocks noChangeShapeType="1"/>
            </p:cNvCxnSpPr>
            <p:nvPr/>
          </p:nvCxnSpPr>
          <p:spPr bwMode="auto">
            <a:xfrm flipH="1">
              <a:off x="903890" y="4484413"/>
              <a:ext cx="479971" cy="0"/>
            </a:xfrm>
            <a:prstGeom prst="straightConnector1">
              <a:avLst/>
            </a:prstGeom>
            <a:noFill/>
            <a:ln w="28575" algn="ctr">
              <a:solidFill>
                <a:srgbClr val="0000FF"/>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2" name="Rectangle 3">
            <a:extLst>
              <a:ext uri="{FF2B5EF4-FFF2-40B4-BE49-F238E27FC236}">
                <a16:creationId xmlns:a16="http://schemas.microsoft.com/office/drawing/2014/main" id="{917A6570-B675-4041-8E4A-763B33C98EE4}"/>
              </a:ext>
            </a:extLst>
          </p:cNvPr>
          <p:cNvSpPr txBox="1">
            <a:spLocks noChangeArrowheads="1"/>
          </p:cNvSpPr>
          <p:nvPr/>
        </p:nvSpPr>
        <p:spPr bwMode="auto">
          <a:xfrm>
            <a:off x="1571625" y="6354763"/>
            <a:ext cx="8143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spcBef>
                <a:spcPct val="20000"/>
              </a:spcBef>
              <a:spcAft>
                <a:spcPct val="0"/>
              </a:spcAft>
              <a:buBlip>
                <a:blip r:embed="rId7"/>
              </a:buBlip>
              <a:defRPr sz="32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8"/>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80000"/>
              </a:lnSpc>
              <a:buFontTx/>
              <a:buNone/>
              <a:defRPr/>
            </a:pPr>
            <a:r>
              <a:rPr lang="en-US" altLang="zh-CN" sz="2400" kern="0" dirty="0">
                <a:solidFill>
                  <a:srgbClr val="FF0000"/>
                </a:solidFill>
                <a:latin typeface="Arial Black" panose="020B0A04020102020204" pitchFamily="34" charset="0"/>
              </a:rPr>
              <a:t>V</a:t>
            </a:r>
            <a:r>
              <a:rPr lang="en-US" altLang="zh-CN" sz="2400" kern="0" baseline="-25000" dirty="0">
                <a:solidFill>
                  <a:srgbClr val="FF0000"/>
                </a:solidFill>
                <a:latin typeface="Arial Black" panose="020B0A04020102020204" pitchFamily="34" charset="0"/>
              </a:rPr>
              <a:t>T+</a:t>
            </a:r>
            <a:endParaRPr lang="zh-CN" altLang="en-US" sz="2400" kern="0" baseline="-25000" dirty="0">
              <a:solidFill>
                <a:srgbClr val="FF0000"/>
              </a:solidFill>
              <a:latin typeface="Arial Black" panose="020B0A04020102020204" pitchFamily="34" charset="0"/>
            </a:endParaRPr>
          </a:p>
        </p:txBody>
      </p:sp>
      <p:sp>
        <p:nvSpPr>
          <p:cNvPr id="33" name="Rectangle 3">
            <a:extLst>
              <a:ext uri="{FF2B5EF4-FFF2-40B4-BE49-F238E27FC236}">
                <a16:creationId xmlns:a16="http://schemas.microsoft.com/office/drawing/2014/main" id="{21FE6D86-148C-488D-85D2-41679FAB2B2E}"/>
              </a:ext>
            </a:extLst>
          </p:cNvPr>
          <p:cNvSpPr txBox="1">
            <a:spLocks noChangeArrowheads="1"/>
          </p:cNvSpPr>
          <p:nvPr/>
        </p:nvSpPr>
        <p:spPr bwMode="auto">
          <a:xfrm>
            <a:off x="530225" y="6343650"/>
            <a:ext cx="8143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spcBef>
                <a:spcPct val="20000"/>
              </a:spcBef>
              <a:spcAft>
                <a:spcPct val="0"/>
              </a:spcAft>
              <a:buBlip>
                <a:blip r:embed="rId7"/>
              </a:buBlip>
              <a:defRPr sz="32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8"/>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80000"/>
              </a:lnSpc>
              <a:buFontTx/>
              <a:buNone/>
              <a:defRPr/>
            </a:pPr>
            <a:r>
              <a:rPr lang="en-US" altLang="zh-CN" sz="2400" kern="0" dirty="0">
                <a:solidFill>
                  <a:srgbClr val="FF0000"/>
                </a:solidFill>
                <a:latin typeface="Arial Black" panose="020B0A04020102020204" pitchFamily="34" charset="0"/>
              </a:rPr>
              <a:t>V</a:t>
            </a:r>
            <a:r>
              <a:rPr lang="en-US" altLang="zh-CN" sz="2400" kern="0" baseline="-25000" dirty="0">
                <a:solidFill>
                  <a:srgbClr val="FF0000"/>
                </a:solidFill>
                <a:latin typeface="Arial Black" panose="020B0A04020102020204" pitchFamily="34" charset="0"/>
              </a:rPr>
              <a:t>T-</a:t>
            </a:r>
            <a:endParaRPr lang="zh-CN" altLang="en-US" sz="2400" kern="0" baseline="-25000" dirty="0">
              <a:solidFill>
                <a:srgbClr val="FF0000"/>
              </a:solidFill>
              <a:latin typeface="Arial Black" panose="020B0A04020102020204" pitchFamily="34" charset="0"/>
            </a:endParaRPr>
          </a:p>
        </p:txBody>
      </p:sp>
      <p:grpSp>
        <p:nvGrpSpPr>
          <p:cNvPr id="120846" name="组合 36">
            <a:extLst>
              <a:ext uri="{FF2B5EF4-FFF2-40B4-BE49-F238E27FC236}">
                <a16:creationId xmlns:a16="http://schemas.microsoft.com/office/drawing/2014/main" id="{C79098BF-DA09-434E-82C6-799200F3217E}"/>
              </a:ext>
            </a:extLst>
          </p:cNvPr>
          <p:cNvGrpSpPr>
            <a:grpSpLocks/>
          </p:cNvGrpSpPr>
          <p:nvPr/>
        </p:nvGrpSpPr>
        <p:grpSpPr bwMode="auto">
          <a:xfrm flipH="1">
            <a:off x="4508500" y="4498975"/>
            <a:ext cx="1416050" cy="1730375"/>
            <a:chOff x="427420" y="4477406"/>
            <a:chExt cx="1411890" cy="1730704"/>
          </a:xfrm>
        </p:grpSpPr>
        <p:cxnSp>
          <p:nvCxnSpPr>
            <p:cNvPr id="120860" name="直接箭头连接符 37">
              <a:extLst>
                <a:ext uri="{FF2B5EF4-FFF2-40B4-BE49-F238E27FC236}">
                  <a16:creationId xmlns:a16="http://schemas.microsoft.com/office/drawing/2014/main" id="{62AE52CE-CF44-480D-B570-3F2B76137F5F}"/>
                </a:ext>
              </a:extLst>
            </p:cNvPr>
            <p:cNvCxnSpPr>
              <a:cxnSpLocks noChangeShapeType="1"/>
            </p:cNvCxnSpPr>
            <p:nvPr/>
          </p:nvCxnSpPr>
          <p:spPr bwMode="auto">
            <a:xfrm>
              <a:off x="427420" y="6197600"/>
              <a:ext cx="959945" cy="0"/>
            </a:xfrm>
            <a:prstGeom prst="straightConnector1">
              <a:avLst/>
            </a:prstGeom>
            <a:noFill/>
            <a:ln w="28575" algn="ctr">
              <a:solidFill>
                <a:srgbClr val="FF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61" name="直接箭头连接符 38">
              <a:extLst>
                <a:ext uri="{FF2B5EF4-FFF2-40B4-BE49-F238E27FC236}">
                  <a16:creationId xmlns:a16="http://schemas.microsoft.com/office/drawing/2014/main" id="{147D8872-AD98-4F4D-A737-9AC126AE1F27}"/>
                </a:ext>
              </a:extLst>
            </p:cNvPr>
            <p:cNvCxnSpPr>
              <a:cxnSpLocks noChangeShapeType="1"/>
            </p:cNvCxnSpPr>
            <p:nvPr/>
          </p:nvCxnSpPr>
          <p:spPr bwMode="auto">
            <a:xfrm flipV="1">
              <a:off x="1814785" y="5433848"/>
              <a:ext cx="0" cy="774262"/>
            </a:xfrm>
            <a:prstGeom prst="straightConnector1">
              <a:avLst/>
            </a:prstGeom>
            <a:noFill/>
            <a:ln w="28575" algn="ctr">
              <a:solidFill>
                <a:srgbClr val="FF0000"/>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62" name="直接箭头连接符 39">
              <a:extLst>
                <a:ext uri="{FF2B5EF4-FFF2-40B4-BE49-F238E27FC236}">
                  <a16:creationId xmlns:a16="http://schemas.microsoft.com/office/drawing/2014/main" id="{A69DD209-250A-4B94-B9F4-80EC6789F647}"/>
                </a:ext>
              </a:extLst>
            </p:cNvPr>
            <p:cNvCxnSpPr>
              <a:cxnSpLocks noChangeShapeType="1"/>
            </p:cNvCxnSpPr>
            <p:nvPr/>
          </p:nvCxnSpPr>
          <p:spPr bwMode="auto">
            <a:xfrm flipV="1">
              <a:off x="1825296" y="4477406"/>
              <a:ext cx="0" cy="1030015"/>
            </a:xfrm>
            <a:prstGeom prst="straightConnector1">
              <a:avLst/>
            </a:prstGeom>
            <a:noFill/>
            <a:ln w="28575" algn="ctr">
              <a:solidFill>
                <a:srgbClr val="FF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63" name="直接箭头连接符 40">
              <a:extLst>
                <a:ext uri="{FF2B5EF4-FFF2-40B4-BE49-F238E27FC236}">
                  <a16:creationId xmlns:a16="http://schemas.microsoft.com/office/drawing/2014/main" id="{0EBE43D6-9D5A-4016-A264-D4C2E0CC7589}"/>
                </a:ext>
              </a:extLst>
            </p:cNvPr>
            <p:cNvCxnSpPr>
              <a:cxnSpLocks noChangeShapeType="1"/>
            </p:cNvCxnSpPr>
            <p:nvPr/>
          </p:nvCxnSpPr>
          <p:spPr bwMode="auto">
            <a:xfrm>
              <a:off x="1404882" y="6208110"/>
              <a:ext cx="434428" cy="0"/>
            </a:xfrm>
            <a:prstGeom prst="straightConnector1">
              <a:avLst/>
            </a:prstGeom>
            <a:noFill/>
            <a:ln w="28575" algn="ctr">
              <a:solidFill>
                <a:srgbClr val="FF0000"/>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20847" name="组合 41">
            <a:extLst>
              <a:ext uri="{FF2B5EF4-FFF2-40B4-BE49-F238E27FC236}">
                <a16:creationId xmlns:a16="http://schemas.microsoft.com/office/drawing/2014/main" id="{CEDDF391-8327-46DA-94CA-858B9A3EC2B1}"/>
              </a:ext>
            </a:extLst>
          </p:cNvPr>
          <p:cNvGrpSpPr>
            <a:grpSpLocks/>
          </p:cNvGrpSpPr>
          <p:nvPr/>
        </p:nvGrpSpPr>
        <p:grpSpPr bwMode="auto">
          <a:xfrm flipH="1">
            <a:off x="4014788" y="4535488"/>
            <a:ext cx="1408112" cy="1676400"/>
            <a:chOff x="903890" y="4466897"/>
            <a:chExt cx="1481958" cy="1676395"/>
          </a:xfrm>
        </p:grpSpPr>
        <p:cxnSp>
          <p:nvCxnSpPr>
            <p:cNvPr id="120855" name="直接箭头连接符 42">
              <a:extLst>
                <a:ext uri="{FF2B5EF4-FFF2-40B4-BE49-F238E27FC236}">
                  <a16:creationId xmlns:a16="http://schemas.microsoft.com/office/drawing/2014/main" id="{D3CC02E6-6C3E-404C-8F4C-09CFC1196B9C}"/>
                </a:ext>
              </a:extLst>
            </p:cNvPr>
            <p:cNvCxnSpPr>
              <a:cxnSpLocks noChangeShapeType="1"/>
            </p:cNvCxnSpPr>
            <p:nvPr/>
          </p:nvCxnSpPr>
          <p:spPr bwMode="auto">
            <a:xfrm>
              <a:off x="1804275" y="4473903"/>
              <a:ext cx="581573" cy="0"/>
            </a:xfrm>
            <a:prstGeom prst="straightConnector1">
              <a:avLst/>
            </a:prstGeom>
            <a:noFill/>
            <a:ln w="28575" algn="ctr">
              <a:solidFill>
                <a:srgbClr val="0000FF"/>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56" name="直接箭头连接符 43">
              <a:extLst>
                <a:ext uri="{FF2B5EF4-FFF2-40B4-BE49-F238E27FC236}">
                  <a16:creationId xmlns:a16="http://schemas.microsoft.com/office/drawing/2014/main" id="{DDA3A448-61EF-4868-95CC-235A473532F6}"/>
                </a:ext>
              </a:extLst>
            </p:cNvPr>
            <p:cNvCxnSpPr>
              <a:cxnSpLocks noChangeShapeType="1"/>
            </p:cNvCxnSpPr>
            <p:nvPr/>
          </p:nvCxnSpPr>
          <p:spPr bwMode="auto">
            <a:xfrm>
              <a:off x="931916" y="4466897"/>
              <a:ext cx="0" cy="935420"/>
            </a:xfrm>
            <a:prstGeom prst="straightConnector1">
              <a:avLst/>
            </a:prstGeom>
            <a:noFill/>
            <a:ln w="28575" algn="ctr">
              <a:solidFill>
                <a:srgbClr val="0000FF"/>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57" name="直接箭头连接符 44">
              <a:extLst>
                <a:ext uri="{FF2B5EF4-FFF2-40B4-BE49-F238E27FC236}">
                  <a16:creationId xmlns:a16="http://schemas.microsoft.com/office/drawing/2014/main" id="{EBEA2B4C-5869-42FA-BF11-671BD1376A8D}"/>
                </a:ext>
              </a:extLst>
            </p:cNvPr>
            <p:cNvCxnSpPr>
              <a:cxnSpLocks noChangeShapeType="1"/>
            </p:cNvCxnSpPr>
            <p:nvPr/>
          </p:nvCxnSpPr>
          <p:spPr bwMode="auto">
            <a:xfrm flipH="1">
              <a:off x="942426" y="5293710"/>
              <a:ext cx="0" cy="849582"/>
            </a:xfrm>
            <a:prstGeom prst="straightConnector1">
              <a:avLst/>
            </a:prstGeom>
            <a:noFill/>
            <a:ln w="28575" algn="ctr">
              <a:solidFill>
                <a:srgbClr val="0000FF"/>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58" name="直接箭头连接符 45">
              <a:extLst>
                <a:ext uri="{FF2B5EF4-FFF2-40B4-BE49-F238E27FC236}">
                  <a16:creationId xmlns:a16="http://schemas.microsoft.com/office/drawing/2014/main" id="{867177F0-7AFA-4158-BA65-0498A4B58F15}"/>
                </a:ext>
              </a:extLst>
            </p:cNvPr>
            <p:cNvCxnSpPr>
              <a:cxnSpLocks noChangeShapeType="1"/>
            </p:cNvCxnSpPr>
            <p:nvPr/>
          </p:nvCxnSpPr>
          <p:spPr bwMode="auto">
            <a:xfrm flipH="1">
              <a:off x="1334814" y="4473902"/>
              <a:ext cx="479971" cy="0"/>
            </a:xfrm>
            <a:prstGeom prst="straightConnector1">
              <a:avLst/>
            </a:prstGeom>
            <a:noFill/>
            <a:ln w="28575" algn="ctr">
              <a:solidFill>
                <a:srgbClr val="0000FF"/>
              </a:solidFill>
              <a:round/>
              <a:headE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0859" name="直接箭头连接符 46">
              <a:extLst>
                <a:ext uri="{FF2B5EF4-FFF2-40B4-BE49-F238E27FC236}">
                  <a16:creationId xmlns:a16="http://schemas.microsoft.com/office/drawing/2014/main" id="{FCFA6E57-45C4-49E2-A867-754F9E5EF1EE}"/>
                </a:ext>
              </a:extLst>
            </p:cNvPr>
            <p:cNvCxnSpPr>
              <a:cxnSpLocks noChangeShapeType="1"/>
            </p:cNvCxnSpPr>
            <p:nvPr/>
          </p:nvCxnSpPr>
          <p:spPr bwMode="auto">
            <a:xfrm flipH="1">
              <a:off x="903890" y="4484413"/>
              <a:ext cx="479971" cy="0"/>
            </a:xfrm>
            <a:prstGeom prst="straightConnector1">
              <a:avLst/>
            </a:prstGeom>
            <a:noFill/>
            <a:ln w="28575" algn="ctr">
              <a:solidFill>
                <a:srgbClr val="0000FF"/>
              </a:solidFill>
              <a:round/>
              <a:headEnd/>
              <a:tailEnd type="non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9" name="Rectangle 3">
            <a:extLst>
              <a:ext uri="{FF2B5EF4-FFF2-40B4-BE49-F238E27FC236}">
                <a16:creationId xmlns:a16="http://schemas.microsoft.com/office/drawing/2014/main" id="{0A46A3F8-0D17-4811-BDD5-9AA93DEFE8E5}"/>
              </a:ext>
            </a:extLst>
          </p:cNvPr>
          <p:cNvSpPr txBox="1">
            <a:spLocks noChangeArrowheads="1"/>
          </p:cNvSpPr>
          <p:nvPr/>
        </p:nvSpPr>
        <p:spPr bwMode="auto">
          <a:xfrm>
            <a:off x="5186363" y="6396038"/>
            <a:ext cx="8143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spcBef>
                <a:spcPct val="20000"/>
              </a:spcBef>
              <a:spcAft>
                <a:spcPct val="0"/>
              </a:spcAft>
              <a:buBlip>
                <a:blip r:embed="rId7"/>
              </a:buBlip>
              <a:defRPr sz="32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8"/>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80000"/>
              </a:lnSpc>
              <a:buFontTx/>
              <a:buNone/>
              <a:defRPr/>
            </a:pPr>
            <a:r>
              <a:rPr lang="en-US" altLang="zh-CN" sz="2400" kern="0" dirty="0">
                <a:solidFill>
                  <a:srgbClr val="FF0000"/>
                </a:solidFill>
                <a:latin typeface="Arial Black" panose="020B0A04020102020204" pitchFamily="34" charset="0"/>
              </a:rPr>
              <a:t>V</a:t>
            </a:r>
            <a:r>
              <a:rPr lang="en-US" altLang="zh-CN" sz="2400" kern="0" baseline="-25000" dirty="0">
                <a:solidFill>
                  <a:srgbClr val="FF0000"/>
                </a:solidFill>
                <a:latin typeface="Arial Black" panose="020B0A04020102020204" pitchFamily="34" charset="0"/>
              </a:rPr>
              <a:t>T+</a:t>
            </a:r>
            <a:endParaRPr lang="zh-CN" altLang="en-US" sz="2400" kern="0" baseline="-25000" dirty="0">
              <a:solidFill>
                <a:srgbClr val="FF0000"/>
              </a:solidFill>
              <a:latin typeface="Arial Black" panose="020B0A04020102020204" pitchFamily="34" charset="0"/>
            </a:endParaRPr>
          </a:p>
        </p:txBody>
      </p:sp>
      <p:sp>
        <p:nvSpPr>
          <p:cNvPr id="50" name="Rectangle 3">
            <a:extLst>
              <a:ext uri="{FF2B5EF4-FFF2-40B4-BE49-F238E27FC236}">
                <a16:creationId xmlns:a16="http://schemas.microsoft.com/office/drawing/2014/main" id="{BEC31B29-903A-4E7F-8FE9-FAEC822B51A3}"/>
              </a:ext>
            </a:extLst>
          </p:cNvPr>
          <p:cNvSpPr txBox="1">
            <a:spLocks noChangeArrowheads="1"/>
          </p:cNvSpPr>
          <p:nvPr/>
        </p:nvSpPr>
        <p:spPr bwMode="auto">
          <a:xfrm>
            <a:off x="4219575" y="6386513"/>
            <a:ext cx="8143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spcBef>
                <a:spcPct val="20000"/>
              </a:spcBef>
              <a:spcAft>
                <a:spcPct val="0"/>
              </a:spcAft>
              <a:buBlip>
                <a:blip r:embed="rId7"/>
              </a:buBlip>
              <a:defRPr sz="32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8"/>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80000"/>
              </a:lnSpc>
              <a:buFontTx/>
              <a:buNone/>
              <a:defRPr/>
            </a:pPr>
            <a:r>
              <a:rPr lang="en-US" altLang="zh-CN" sz="2400" kern="0" dirty="0">
                <a:solidFill>
                  <a:srgbClr val="FF0000"/>
                </a:solidFill>
                <a:latin typeface="Arial Black" panose="020B0A04020102020204" pitchFamily="34" charset="0"/>
              </a:rPr>
              <a:t>V</a:t>
            </a:r>
            <a:r>
              <a:rPr lang="en-US" altLang="zh-CN" sz="2400" kern="0" baseline="-25000" dirty="0">
                <a:solidFill>
                  <a:srgbClr val="FF0000"/>
                </a:solidFill>
                <a:latin typeface="Arial Black" panose="020B0A04020102020204" pitchFamily="34" charset="0"/>
              </a:rPr>
              <a:t>T-</a:t>
            </a:r>
            <a:endParaRPr lang="zh-CN" altLang="en-US" sz="2400" kern="0" baseline="-25000" dirty="0">
              <a:solidFill>
                <a:srgbClr val="FF0000"/>
              </a:solidFill>
              <a:latin typeface="Arial Black" panose="020B0A04020102020204" pitchFamily="34" charset="0"/>
            </a:endParaRPr>
          </a:p>
        </p:txBody>
      </p:sp>
      <p:sp>
        <p:nvSpPr>
          <p:cNvPr id="120850" name="矩形 35">
            <a:extLst>
              <a:ext uri="{FF2B5EF4-FFF2-40B4-BE49-F238E27FC236}">
                <a16:creationId xmlns:a16="http://schemas.microsoft.com/office/drawing/2014/main" id="{2E9A1B3C-C168-408A-B13E-10D808FF4909}"/>
              </a:ext>
            </a:extLst>
          </p:cNvPr>
          <p:cNvSpPr>
            <a:spLocks noChangeArrowheads="1"/>
          </p:cNvSpPr>
          <p:nvPr/>
        </p:nvSpPr>
        <p:spPr bwMode="auto">
          <a:xfrm>
            <a:off x="3594100" y="3721100"/>
            <a:ext cx="5454650" cy="3136900"/>
          </a:xfrm>
          <a:prstGeom prst="rect">
            <a:avLst/>
          </a:prstGeom>
          <a:noFill/>
          <a:ln w="19050" algn="ctr">
            <a:solidFill>
              <a:srgbClr val="FF00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0851" name="矩形 51">
            <a:extLst>
              <a:ext uri="{FF2B5EF4-FFF2-40B4-BE49-F238E27FC236}">
                <a16:creationId xmlns:a16="http://schemas.microsoft.com/office/drawing/2014/main" id="{806DBF12-ADE2-4B28-A5B5-F12BF456DE18}"/>
              </a:ext>
            </a:extLst>
          </p:cNvPr>
          <p:cNvSpPr>
            <a:spLocks noChangeArrowheads="1"/>
          </p:cNvSpPr>
          <p:nvPr/>
        </p:nvSpPr>
        <p:spPr bwMode="auto">
          <a:xfrm>
            <a:off x="95250" y="1544638"/>
            <a:ext cx="3141663" cy="5224462"/>
          </a:xfrm>
          <a:prstGeom prst="rect">
            <a:avLst/>
          </a:prstGeom>
          <a:noFill/>
          <a:ln w="19050" algn="ctr">
            <a:solidFill>
              <a:srgbClr val="FF00FF"/>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0852" name="矩形 47">
            <a:extLst>
              <a:ext uri="{FF2B5EF4-FFF2-40B4-BE49-F238E27FC236}">
                <a16:creationId xmlns:a16="http://schemas.microsoft.com/office/drawing/2014/main" id="{69FA244C-38B9-4D3B-A73B-35DC0B0CCF32}"/>
              </a:ext>
            </a:extLst>
          </p:cNvPr>
          <p:cNvSpPr>
            <a:spLocks noChangeArrowheads="1"/>
          </p:cNvSpPr>
          <p:nvPr/>
        </p:nvSpPr>
        <p:spPr bwMode="auto">
          <a:xfrm>
            <a:off x="5673725" y="3811588"/>
            <a:ext cx="32623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FF0000"/>
                </a:solidFill>
                <a:latin typeface="Arial" panose="020B0604020202020204" pitchFamily="34" charset="0"/>
                <a:hlinkClick r:id="rId9" action="ppaction://hlinksldjump"/>
              </a:rPr>
              <a:t>反相输出施密特触发器</a:t>
            </a:r>
            <a:endParaRPr lang="zh-CN" altLang="en-US" sz="2400">
              <a:solidFill>
                <a:srgbClr val="FF0000"/>
              </a:solidFill>
            </a:endParaRPr>
          </a:p>
        </p:txBody>
      </p:sp>
      <p:sp>
        <p:nvSpPr>
          <p:cNvPr id="120853" name="矩形 53">
            <a:extLst>
              <a:ext uri="{FF2B5EF4-FFF2-40B4-BE49-F238E27FC236}">
                <a16:creationId xmlns:a16="http://schemas.microsoft.com/office/drawing/2014/main" id="{8337C2CE-AA96-4E1F-8EAD-D7C371AE0E1C}"/>
              </a:ext>
            </a:extLst>
          </p:cNvPr>
          <p:cNvSpPr>
            <a:spLocks noChangeArrowheads="1"/>
          </p:cNvSpPr>
          <p:nvPr/>
        </p:nvSpPr>
        <p:spPr bwMode="auto">
          <a:xfrm>
            <a:off x="60325" y="3244850"/>
            <a:ext cx="32623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a:solidFill>
                  <a:srgbClr val="FF00FF"/>
                </a:solidFill>
                <a:latin typeface="Arial" panose="020B0604020202020204" pitchFamily="34" charset="0"/>
              </a:rPr>
              <a:t>同相输出施密特触发器</a:t>
            </a:r>
            <a:endParaRPr lang="zh-CN" altLang="en-US" sz="2400">
              <a:solidFill>
                <a:srgbClr val="FF00FF"/>
              </a:solidFill>
            </a:endParaRPr>
          </a:p>
        </p:txBody>
      </p:sp>
      <p:sp>
        <p:nvSpPr>
          <p:cNvPr id="120854" name="矩形 50">
            <a:extLst>
              <a:ext uri="{FF2B5EF4-FFF2-40B4-BE49-F238E27FC236}">
                <a16:creationId xmlns:a16="http://schemas.microsoft.com/office/drawing/2014/main" id="{ECB0CEBB-4EB0-42A2-A837-876C0F77220E}"/>
              </a:ext>
            </a:extLst>
          </p:cNvPr>
          <p:cNvSpPr>
            <a:spLocks noChangeArrowheads="1"/>
          </p:cNvSpPr>
          <p:nvPr/>
        </p:nvSpPr>
        <p:spPr bwMode="auto">
          <a:xfrm>
            <a:off x="3228975" y="6488113"/>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b="1">
                <a:solidFill>
                  <a:srgbClr val="FF0000"/>
                </a:solidFill>
                <a:latin typeface="微软雅黑" panose="020B0503020204020204" pitchFamily="34" charset="-122"/>
                <a:ea typeface="微软雅黑" panose="020B0503020204020204" pitchFamily="34" charset="-122"/>
              </a:rPr>
              <a:t>转换电平</a:t>
            </a:r>
          </a:p>
        </p:txBody>
      </p:sp>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EAB3D7AE-0859-4E3D-AA4C-3605839934C8}"/>
              </a:ext>
            </a:extLst>
          </p:cNvPr>
          <p:cNvSpPr>
            <a:spLocks noGrp="1" noChangeArrowheads="1"/>
          </p:cNvSpPr>
          <p:nvPr>
            <p:ph type="title" idx="4294967295"/>
          </p:nvPr>
        </p:nvSpPr>
        <p:spPr/>
        <p:txBody>
          <a:bodyPr vert="horz" lIns="91440" tIns="45720" rIns="91440" bIns="45720" rtlCol="0" anchor="b">
            <a:noAutofit/>
          </a:bodyPr>
          <a:lstStyle/>
          <a:p>
            <a:r>
              <a:rPr lang="zh-CN" altLang="en-US" sz="3200" dirty="0">
                <a:solidFill>
                  <a:srgbClr val="FF0000"/>
                </a:solidFill>
              </a:rPr>
              <a:t>外部总线接口的电平转换技术</a:t>
            </a:r>
          </a:p>
        </p:txBody>
      </p:sp>
      <p:sp>
        <p:nvSpPr>
          <p:cNvPr id="121859" name="Rectangle 3">
            <a:extLst>
              <a:ext uri="{FF2B5EF4-FFF2-40B4-BE49-F238E27FC236}">
                <a16:creationId xmlns:a16="http://schemas.microsoft.com/office/drawing/2014/main" id="{5479FB57-7A41-4E75-9459-26582A4BE6A6}"/>
              </a:ext>
            </a:extLst>
          </p:cNvPr>
          <p:cNvSpPr>
            <a:spLocks noGrp="1" noChangeArrowheads="1"/>
          </p:cNvSpPr>
          <p:nvPr>
            <p:ph type="body" idx="4294967295"/>
          </p:nvPr>
        </p:nvSpPr>
        <p:spPr>
          <a:xfrm>
            <a:off x="179388" y="1263650"/>
            <a:ext cx="8340725" cy="509588"/>
          </a:xfrm>
        </p:spPr>
        <p:txBody>
          <a:bodyPr/>
          <a:lstStyle/>
          <a:p>
            <a:pPr eaLnBrk="1" hangingPunct="1">
              <a:lnSpc>
                <a:spcPct val="80000"/>
              </a:lnSpc>
              <a:buFontTx/>
              <a:buNone/>
            </a:pPr>
            <a:r>
              <a:rPr lang="zh-CN" altLang="en-US" sz="2800"/>
              <a:t>常用信号电平转换标准</a:t>
            </a:r>
          </a:p>
        </p:txBody>
      </p:sp>
      <p:sp>
        <p:nvSpPr>
          <p:cNvPr id="121860" name="Rectangle 5">
            <a:extLst>
              <a:ext uri="{FF2B5EF4-FFF2-40B4-BE49-F238E27FC236}">
                <a16:creationId xmlns:a16="http://schemas.microsoft.com/office/drawing/2014/main" id="{5F903513-EAC0-442B-A34E-664A200B4A3B}"/>
              </a:ext>
            </a:extLst>
          </p:cNvPr>
          <p:cNvSpPr>
            <a:spLocks noChangeArrowheads="1"/>
          </p:cNvSpPr>
          <p:nvPr/>
        </p:nvSpPr>
        <p:spPr bwMode="auto">
          <a:xfrm>
            <a:off x="123825" y="6211888"/>
            <a:ext cx="4303713" cy="4492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20000"/>
              </a:spcBef>
            </a:pPr>
            <a:r>
              <a:rPr lang="zh-CN" altLang="en-US" sz="2400" b="1">
                <a:solidFill>
                  <a:srgbClr val="000000"/>
                </a:solidFill>
                <a:latin typeface="Arial" panose="020B0604020202020204" pitchFamily="34" charset="0"/>
              </a:rPr>
              <a:t>图</a:t>
            </a:r>
            <a:r>
              <a:rPr lang="en-US" altLang="zh-CN" sz="2400" b="1">
                <a:solidFill>
                  <a:srgbClr val="000000"/>
                </a:solidFill>
                <a:latin typeface="Arial" panose="020B0604020202020204" pitchFamily="34" charset="0"/>
              </a:rPr>
              <a:t> </a:t>
            </a:r>
            <a:r>
              <a:rPr lang="zh-CN" altLang="en-US" sz="2400" b="1">
                <a:solidFill>
                  <a:srgbClr val="FF0000"/>
                </a:solidFill>
                <a:latin typeface="Arial" panose="020B0604020202020204" pitchFamily="34" charset="0"/>
              </a:rPr>
              <a:t>常用信号电平转换标准</a:t>
            </a:r>
          </a:p>
        </p:txBody>
      </p:sp>
      <p:sp>
        <p:nvSpPr>
          <p:cNvPr id="6" name="Text Box 86">
            <a:extLst>
              <a:ext uri="{FF2B5EF4-FFF2-40B4-BE49-F238E27FC236}">
                <a16:creationId xmlns:a16="http://schemas.microsoft.com/office/drawing/2014/main" id="{72FCE0B8-77A8-4FFD-90FC-A0E8483D93C1}"/>
              </a:ext>
            </a:extLst>
          </p:cNvPr>
          <p:cNvSpPr txBox="1">
            <a:spLocks noChangeArrowheads="1"/>
          </p:cNvSpPr>
          <p:nvPr/>
        </p:nvSpPr>
        <p:spPr bwMode="auto">
          <a:xfrm>
            <a:off x="4953000" y="1695450"/>
            <a:ext cx="3886200" cy="2528888"/>
          </a:xfrm>
          <a:prstGeom prst="rect">
            <a:avLst/>
          </a:prstGeom>
          <a:noFill/>
          <a:ln w="9525">
            <a:noFill/>
            <a:miter lim="800000"/>
            <a:headEnd/>
            <a:tailEnd/>
          </a:ln>
          <a:effectLst>
            <a:outerShdw dist="35921" dir="2700000" algn="ctr" rotWithShape="0">
              <a:srgbClr val="FFFFFF"/>
            </a:outerShdw>
          </a:effectLst>
        </p:spPr>
        <p:txBody>
          <a:bodyPr lIns="18000" rIns="18000">
            <a:spAutoFit/>
          </a:bodyPr>
          <a:lstStyle/>
          <a:p>
            <a:pPr algn="ctr" eaLnBrk="1" hangingPunct="1">
              <a:lnSpc>
                <a:spcPct val="110000"/>
              </a:lnSpc>
              <a:defRPr/>
            </a:pPr>
            <a:r>
              <a:rPr lang="en-US" altLang="zh-CN" sz="2400" b="1" dirty="0">
                <a:solidFill>
                  <a:srgbClr val="FF0000"/>
                </a:solidFill>
                <a:effectLst>
                  <a:outerShdw blurRad="38100" dist="38100" dir="2700000" algn="tl">
                    <a:srgbClr val="000000"/>
                  </a:outerShdw>
                </a:effectLst>
                <a:latin typeface="宋体" pitchFamily="2" charset="-122"/>
              </a:rPr>
              <a:t>V</a:t>
            </a:r>
            <a:r>
              <a:rPr lang="en-US" altLang="zh-CN" sz="2400" b="1" baseline="-30000" dirty="0">
                <a:solidFill>
                  <a:srgbClr val="FF0000"/>
                </a:solidFill>
                <a:effectLst>
                  <a:outerShdw blurRad="38100" dist="38100" dir="2700000" algn="tl">
                    <a:srgbClr val="000000"/>
                  </a:outerShdw>
                </a:effectLst>
                <a:latin typeface="宋体" pitchFamily="2" charset="-122"/>
              </a:rPr>
              <a:t>OH</a:t>
            </a:r>
            <a:r>
              <a:rPr lang="en-US" altLang="zh-CN" sz="2400" b="1" dirty="0">
                <a:solidFill>
                  <a:srgbClr val="FF0000"/>
                </a:solidFill>
                <a:effectLst>
                  <a:outerShdw blurRad="38100" dist="38100" dir="2700000" algn="tl">
                    <a:srgbClr val="000000"/>
                  </a:outerShdw>
                </a:effectLst>
                <a:latin typeface="宋体" pitchFamily="2" charset="-122"/>
              </a:rPr>
              <a:t>:</a:t>
            </a:r>
            <a:r>
              <a:rPr lang="en-US" altLang="zh-CN" sz="2400" b="1" dirty="0">
                <a:solidFill>
                  <a:srgbClr val="FF0000"/>
                </a:solidFill>
                <a:effectLst>
                  <a:outerShdw blurRad="38100" dist="38100" dir="2700000" algn="tl">
                    <a:srgbClr val="000000"/>
                  </a:outerShdw>
                </a:effectLst>
                <a:latin typeface="Arial" pitchFamily="34" charset="0"/>
              </a:rPr>
              <a:t> </a:t>
            </a:r>
            <a:r>
              <a:rPr lang="zh-CN" altLang="en-US" sz="2400" b="1" dirty="0">
                <a:solidFill>
                  <a:srgbClr val="FF00FF"/>
                </a:solidFill>
                <a:effectLst>
                  <a:outerShdw blurRad="38100" dist="38100" dir="2700000" algn="tl">
                    <a:srgbClr val="000000"/>
                  </a:outerShdw>
                </a:effectLst>
                <a:latin typeface="宋体" pitchFamily="2" charset="-122"/>
              </a:rPr>
              <a:t>输出高电平的下限值；</a:t>
            </a:r>
          </a:p>
          <a:p>
            <a:pPr algn="ctr" eaLnBrk="1" hangingPunct="1">
              <a:lnSpc>
                <a:spcPct val="110000"/>
              </a:lnSpc>
              <a:defRPr/>
            </a:pPr>
            <a:r>
              <a:rPr lang="en-US" altLang="zh-CN" sz="2400" b="1" dirty="0">
                <a:solidFill>
                  <a:srgbClr val="FF0000"/>
                </a:solidFill>
                <a:effectLst>
                  <a:outerShdw blurRad="38100" dist="38100" dir="2700000" algn="tl">
                    <a:srgbClr val="000000"/>
                  </a:outerShdw>
                </a:effectLst>
                <a:latin typeface="宋体" pitchFamily="2" charset="-122"/>
              </a:rPr>
              <a:t>V</a:t>
            </a:r>
            <a:r>
              <a:rPr lang="en-US" altLang="zh-CN" sz="2400" b="1" baseline="-30000" dirty="0">
                <a:solidFill>
                  <a:srgbClr val="FF0000"/>
                </a:solidFill>
                <a:effectLst>
                  <a:outerShdw blurRad="38100" dist="38100" dir="2700000" algn="tl">
                    <a:srgbClr val="000000"/>
                  </a:outerShdw>
                </a:effectLst>
                <a:latin typeface="宋体" pitchFamily="2" charset="-122"/>
              </a:rPr>
              <a:t>OL</a:t>
            </a:r>
            <a:r>
              <a:rPr lang="zh-CN" altLang="en-US" sz="2400" b="1" dirty="0">
                <a:solidFill>
                  <a:srgbClr val="FF0000"/>
                </a:solidFill>
                <a:effectLst>
                  <a:outerShdw blurRad="38100" dist="38100" dir="2700000" algn="tl">
                    <a:srgbClr val="000000"/>
                  </a:outerShdw>
                </a:effectLst>
                <a:latin typeface="宋体" pitchFamily="2" charset="-122"/>
              </a:rPr>
              <a:t>:</a:t>
            </a:r>
            <a:r>
              <a:rPr lang="zh-CN" altLang="en-US" sz="2400" b="1" dirty="0">
                <a:solidFill>
                  <a:srgbClr val="FF0000"/>
                </a:solidFill>
                <a:effectLst>
                  <a:outerShdw blurRad="38100" dist="38100" dir="2700000" algn="tl">
                    <a:srgbClr val="000000"/>
                  </a:outerShdw>
                </a:effectLst>
                <a:latin typeface="Arial" pitchFamily="34" charset="0"/>
              </a:rPr>
              <a:t> </a:t>
            </a:r>
            <a:r>
              <a:rPr lang="zh-CN" altLang="en-US" sz="2400" b="1" dirty="0">
                <a:solidFill>
                  <a:srgbClr val="FF00FF"/>
                </a:solidFill>
                <a:effectLst>
                  <a:outerShdw blurRad="38100" dist="38100" dir="2700000" algn="tl">
                    <a:srgbClr val="000000"/>
                  </a:outerShdw>
                </a:effectLst>
                <a:latin typeface="宋体" pitchFamily="2" charset="-122"/>
              </a:rPr>
              <a:t>输出低电平的上限值；</a:t>
            </a:r>
          </a:p>
          <a:p>
            <a:pPr algn="ctr" eaLnBrk="1" hangingPunct="1">
              <a:lnSpc>
                <a:spcPct val="110000"/>
              </a:lnSpc>
              <a:defRPr/>
            </a:pPr>
            <a:r>
              <a:rPr lang="en-US" altLang="zh-CN" sz="2400" b="1" dirty="0">
                <a:solidFill>
                  <a:srgbClr val="FF0000"/>
                </a:solidFill>
                <a:effectLst>
                  <a:outerShdw blurRad="38100" dist="38100" dir="2700000" algn="tl">
                    <a:srgbClr val="000000"/>
                  </a:outerShdw>
                </a:effectLst>
                <a:latin typeface="宋体" pitchFamily="2" charset="-122"/>
              </a:rPr>
              <a:t>V</a:t>
            </a:r>
            <a:r>
              <a:rPr lang="en-US" altLang="zh-CN" sz="2400" b="1" baseline="-30000" dirty="0">
                <a:solidFill>
                  <a:srgbClr val="FF0000"/>
                </a:solidFill>
                <a:effectLst>
                  <a:outerShdw blurRad="38100" dist="38100" dir="2700000" algn="tl">
                    <a:srgbClr val="000000"/>
                  </a:outerShdw>
                </a:effectLst>
                <a:latin typeface="宋体" pitchFamily="2" charset="-122"/>
              </a:rPr>
              <a:t>IH</a:t>
            </a:r>
            <a:r>
              <a:rPr lang="en-US" altLang="zh-CN" sz="2400" b="1" dirty="0">
                <a:solidFill>
                  <a:srgbClr val="FF0000"/>
                </a:solidFill>
                <a:effectLst>
                  <a:outerShdw blurRad="38100" dist="38100" dir="2700000" algn="tl">
                    <a:srgbClr val="000000"/>
                  </a:outerShdw>
                </a:effectLst>
                <a:latin typeface="宋体" pitchFamily="2" charset="-122"/>
              </a:rPr>
              <a:t>:</a:t>
            </a:r>
            <a:r>
              <a:rPr lang="en-US" altLang="zh-CN" sz="2400" b="1" dirty="0">
                <a:solidFill>
                  <a:srgbClr val="FF0000"/>
                </a:solidFill>
                <a:effectLst>
                  <a:outerShdw blurRad="38100" dist="38100" dir="2700000" algn="tl">
                    <a:srgbClr val="000000"/>
                  </a:outerShdw>
                </a:effectLst>
                <a:latin typeface="Arial" pitchFamily="34" charset="0"/>
              </a:rPr>
              <a:t> </a:t>
            </a:r>
            <a:r>
              <a:rPr lang="zh-CN" altLang="en-US" sz="2400" b="1" dirty="0">
                <a:solidFill>
                  <a:srgbClr val="FF00FF"/>
                </a:solidFill>
                <a:effectLst>
                  <a:outerShdw blurRad="38100" dist="38100" dir="2700000" algn="tl">
                    <a:srgbClr val="000000"/>
                  </a:outerShdw>
                </a:effectLst>
                <a:latin typeface="宋体" pitchFamily="2" charset="-122"/>
              </a:rPr>
              <a:t>输入高电平的下限值；</a:t>
            </a:r>
          </a:p>
          <a:p>
            <a:pPr algn="ctr" eaLnBrk="1" hangingPunct="1">
              <a:lnSpc>
                <a:spcPct val="110000"/>
              </a:lnSpc>
              <a:defRPr/>
            </a:pPr>
            <a:r>
              <a:rPr lang="en-US" altLang="zh-CN" sz="2400" b="1" dirty="0">
                <a:solidFill>
                  <a:srgbClr val="FF0000"/>
                </a:solidFill>
                <a:effectLst>
                  <a:outerShdw blurRad="38100" dist="38100" dir="2700000" algn="tl">
                    <a:srgbClr val="000000"/>
                  </a:outerShdw>
                </a:effectLst>
                <a:latin typeface="宋体" pitchFamily="2" charset="-122"/>
              </a:rPr>
              <a:t>V</a:t>
            </a:r>
            <a:r>
              <a:rPr lang="en-US" altLang="zh-CN" sz="2400" b="1" baseline="-30000" dirty="0">
                <a:solidFill>
                  <a:srgbClr val="FF0000"/>
                </a:solidFill>
                <a:effectLst>
                  <a:outerShdw blurRad="38100" dist="38100" dir="2700000" algn="tl">
                    <a:srgbClr val="000000"/>
                  </a:outerShdw>
                </a:effectLst>
                <a:latin typeface="宋体" pitchFamily="2" charset="-122"/>
              </a:rPr>
              <a:t>IL</a:t>
            </a:r>
            <a:r>
              <a:rPr lang="en-US" altLang="zh-CN" sz="2400" b="1" dirty="0">
                <a:solidFill>
                  <a:srgbClr val="FF0000"/>
                </a:solidFill>
                <a:effectLst>
                  <a:outerShdw blurRad="38100" dist="38100" dir="2700000" algn="tl">
                    <a:srgbClr val="000000"/>
                  </a:outerShdw>
                </a:effectLst>
                <a:latin typeface="宋体" pitchFamily="2" charset="-122"/>
              </a:rPr>
              <a:t>:</a:t>
            </a:r>
            <a:r>
              <a:rPr lang="en-US" altLang="zh-CN" sz="2400" b="1" dirty="0">
                <a:solidFill>
                  <a:srgbClr val="FF0000"/>
                </a:solidFill>
                <a:effectLst>
                  <a:outerShdw blurRad="38100" dist="38100" dir="2700000" algn="tl">
                    <a:srgbClr val="000000"/>
                  </a:outerShdw>
                </a:effectLst>
                <a:latin typeface="Arial" pitchFamily="34" charset="0"/>
              </a:rPr>
              <a:t> </a:t>
            </a:r>
            <a:r>
              <a:rPr lang="zh-CN" altLang="en-US" sz="2400" b="1" dirty="0">
                <a:solidFill>
                  <a:srgbClr val="FF00FF"/>
                </a:solidFill>
                <a:effectLst>
                  <a:outerShdw blurRad="38100" dist="38100" dir="2700000" algn="tl">
                    <a:srgbClr val="000000"/>
                  </a:outerShdw>
                </a:effectLst>
                <a:latin typeface="宋体" pitchFamily="2" charset="-122"/>
              </a:rPr>
              <a:t>输入低电平的上</a:t>
            </a:r>
            <a:r>
              <a:rPr lang="zh-CN" altLang="en-US" sz="2400" b="1">
                <a:solidFill>
                  <a:srgbClr val="FF00FF"/>
                </a:solidFill>
                <a:effectLst>
                  <a:outerShdw blurRad="38100" dist="38100" dir="2700000" algn="tl">
                    <a:srgbClr val="000000"/>
                  </a:outerShdw>
                </a:effectLst>
                <a:latin typeface="宋体" pitchFamily="2" charset="-122"/>
              </a:rPr>
              <a:t>限值；</a:t>
            </a:r>
            <a:endParaRPr lang="en-US" altLang="zh-CN" sz="2400" b="1">
              <a:solidFill>
                <a:srgbClr val="FF00FF"/>
              </a:solidFill>
              <a:effectLst>
                <a:outerShdw blurRad="38100" dist="38100" dir="2700000" algn="tl">
                  <a:srgbClr val="000000"/>
                </a:outerShdw>
              </a:effectLst>
              <a:latin typeface="宋体" pitchFamily="2" charset="-122"/>
            </a:endParaRPr>
          </a:p>
          <a:p>
            <a:pPr marL="625475" indent="-625475" algn="ctr" eaLnBrk="1" hangingPunct="1">
              <a:lnSpc>
                <a:spcPct val="110000"/>
              </a:lnSpc>
              <a:defRPr/>
            </a:pPr>
            <a:r>
              <a:rPr lang="en-US" altLang="zh-CN" sz="2400" b="1">
                <a:solidFill>
                  <a:srgbClr val="FF0000"/>
                </a:solidFill>
                <a:effectLst>
                  <a:outerShdw blurRad="38100" dist="38100" dir="2700000" algn="tl">
                    <a:srgbClr val="000000"/>
                  </a:outerShdw>
                </a:effectLst>
                <a:latin typeface="宋体" pitchFamily="2" charset="-122"/>
              </a:rPr>
              <a:t>V</a:t>
            </a:r>
            <a:r>
              <a:rPr lang="en-US" altLang="zh-CN" sz="2400" b="1" baseline="-30000">
                <a:solidFill>
                  <a:srgbClr val="FF0000"/>
                </a:solidFill>
                <a:effectLst>
                  <a:outerShdw blurRad="38100" dist="38100" dir="2700000" algn="tl">
                    <a:srgbClr val="000000"/>
                  </a:outerShdw>
                </a:effectLst>
                <a:latin typeface="宋体" pitchFamily="2" charset="-122"/>
              </a:rPr>
              <a:t>T</a:t>
            </a:r>
            <a:r>
              <a:rPr lang="en-US" altLang="zh-CN" sz="2400" b="1">
                <a:solidFill>
                  <a:srgbClr val="FF0000"/>
                </a:solidFill>
                <a:effectLst>
                  <a:outerShdw blurRad="38100" dist="38100" dir="2700000" algn="tl">
                    <a:srgbClr val="000000"/>
                  </a:outerShdw>
                </a:effectLst>
                <a:latin typeface="宋体" pitchFamily="2" charset="-122"/>
              </a:rPr>
              <a:t>:</a:t>
            </a:r>
            <a:r>
              <a:rPr lang="en-US" altLang="zh-CN" sz="2400" b="1">
                <a:solidFill>
                  <a:srgbClr val="FF0000"/>
                </a:solidFill>
                <a:effectLst>
                  <a:outerShdw blurRad="38100" dist="38100" dir="2700000" algn="tl">
                    <a:srgbClr val="000000"/>
                  </a:outerShdw>
                </a:effectLst>
                <a:latin typeface="Arial" pitchFamily="34" charset="0"/>
              </a:rPr>
              <a:t>  </a:t>
            </a:r>
            <a:r>
              <a:rPr lang="zh-CN" altLang="en-US" sz="2400" b="1">
                <a:solidFill>
                  <a:srgbClr val="FF00FF"/>
                </a:solidFill>
                <a:effectLst>
                  <a:outerShdw blurRad="38100" dist="38100" dir="2700000" algn="tl">
                    <a:srgbClr val="000000"/>
                  </a:outerShdw>
                </a:effectLst>
                <a:latin typeface="宋体" pitchFamily="2" charset="-122"/>
              </a:rPr>
              <a:t>阈值电压，高低电平间临界电压。</a:t>
            </a:r>
            <a:endParaRPr lang="en-US" altLang="zh-CN" sz="2400" b="1" dirty="0">
              <a:solidFill>
                <a:srgbClr val="FF00FF"/>
              </a:solidFill>
              <a:effectLst>
                <a:outerShdw blurRad="38100" dist="38100" dir="2700000" algn="tl">
                  <a:srgbClr val="000000"/>
                </a:outerShdw>
              </a:effectLst>
              <a:latin typeface="宋体" pitchFamily="2" charset="-122"/>
            </a:endParaRPr>
          </a:p>
        </p:txBody>
      </p:sp>
      <p:sp>
        <p:nvSpPr>
          <p:cNvPr id="7" name="Text Box 87">
            <a:extLst>
              <a:ext uri="{FF2B5EF4-FFF2-40B4-BE49-F238E27FC236}">
                <a16:creationId xmlns:a16="http://schemas.microsoft.com/office/drawing/2014/main" id="{EBF9EE79-A7D1-4844-A4DB-57DDA23237DA}"/>
              </a:ext>
            </a:extLst>
          </p:cNvPr>
          <p:cNvSpPr txBox="1">
            <a:spLocks noChangeArrowheads="1"/>
          </p:cNvSpPr>
          <p:nvPr/>
        </p:nvSpPr>
        <p:spPr bwMode="auto">
          <a:xfrm>
            <a:off x="4614863" y="4167188"/>
            <a:ext cx="4427537" cy="498475"/>
          </a:xfrm>
          <a:prstGeom prst="rect">
            <a:avLst/>
          </a:prstGeom>
          <a:noFill/>
          <a:ln w="9525">
            <a:noFill/>
            <a:miter lim="800000"/>
            <a:headEnd/>
            <a:tailEnd/>
          </a:ln>
          <a:effectLst>
            <a:outerShdw dist="35921" dir="2700000" algn="ctr" rotWithShape="0">
              <a:srgbClr val="FFFFFF"/>
            </a:outerShdw>
          </a:effectLst>
        </p:spPr>
        <p:txBody>
          <a:bodyPr lIns="18000" rIns="18000">
            <a:spAutoFit/>
          </a:bodyPr>
          <a:lstStyle/>
          <a:p>
            <a:pPr algn="ctr" eaLnBrk="1" hangingPunct="1">
              <a:lnSpc>
                <a:spcPct val="110000"/>
              </a:lnSpc>
              <a:defRPr/>
            </a:pPr>
            <a:r>
              <a:rPr lang="zh-CN" altLang="en-US" sz="2400" b="1">
                <a:solidFill>
                  <a:srgbClr val="0000FF"/>
                </a:solidFill>
                <a:effectLst>
                  <a:outerShdw blurRad="38100" dist="38100" dir="2700000" algn="tl">
                    <a:srgbClr val="000000"/>
                  </a:outerShdw>
                </a:effectLst>
                <a:latin typeface="宋体" pitchFamily="2" charset="-122"/>
              </a:rPr>
              <a:t>5</a:t>
            </a:r>
            <a:r>
              <a:rPr lang="en-US" altLang="zh-CN" sz="2400" b="1">
                <a:solidFill>
                  <a:srgbClr val="0000FF"/>
                </a:solidFill>
                <a:effectLst>
                  <a:outerShdw blurRad="38100" dist="38100" dir="2700000" algn="tl">
                    <a:srgbClr val="000000"/>
                  </a:outerShdw>
                </a:effectLst>
                <a:latin typeface="宋体" pitchFamily="2" charset="-122"/>
              </a:rPr>
              <a:t>V</a:t>
            </a:r>
            <a:r>
              <a:rPr lang="en-US" altLang="zh-CN" sz="2400" b="1">
                <a:solidFill>
                  <a:srgbClr val="0000FF"/>
                </a:solidFill>
                <a:effectLst>
                  <a:outerShdw blurRad="38100" dist="38100" dir="2700000" algn="tl">
                    <a:srgbClr val="000000"/>
                  </a:outerShdw>
                </a:effectLst>
                <a:latin typeface="Arial" pitchFamily="34" charset="0"/>
              </a:rPr>
              <a:t> </a:t>
            </a:r>
            <a:r>
              <a:rPr lang="en-US" altLang="zh-CN" sz="2400" b="1">
                <a:solidFill>
                  <a:srgbClr val="0000FF"/>
                </a:solidFill>
                <a:effectLst>
                  <a:outerShdw blurRad="38100" dist="38100" dir="2700000" algn="tl">
                    <a:srgbClr val="000000"/>
                  </a:outerShdw>
                </a:effectLst>
                <a:latin typeface="宋体" pitchFamily="2" charset="-122"/>
              </a:rPr>
              <a:t>TTL</a:t>
            </a:r>
            <a:r>
              <a:rPr lang="zh-CN" altLang="en-US" sz="2400" b="1">
                <a:solidFill>
                  <a:srgbClr val="0000FF"/>
                </a:solidFill>
                <a:effectLst>
                  <a:outerShdw blurRad="38100" dist="38100" dir="2700000" algn="tl">
                    <a:srgbClr val="000000"/>
                  </a:outerShdw>
                </a:effectLst>
                <a:latin typeface="宋体" pitchFamily="2" charset="-122"/>
              </a:rPr>
              <a:t>和3</a:t>
            </a:r>
            <a:r>
              <a:rPr lang="zh-CN" altLang="en-US" sz="2400" b="1">
                <a:solidFill>
                  <a:srgbClr val="0000FF"/>
                </a:solidFill>
                <a:effectLst>
                  <a:outerShdw blurRad="38100" dist="38100" dir="2700000" algn="tl">
                    <a:srgbClr val="000000"/>
                  </a:outerShdw>
                </a:effectLst>
                <a:latin typeface="Arial" pitchFamily="34" charset="0"/>
              </a:rPr>
              <a:t>.</a:t>
            </a:r>
            <a:r>
              <a:rPr lang="zh-CN" altLang="en-US" sz="2400" b="1">
                <a:solidFill>
                  <a:srgbClr val="0000FF"/>
                </a:solidFill>
                <a:effectLst>
                  <a:outerShdw blurRad="38100" dist="38100" dir="2700000" algn="tl">
                    <a:srgbClr val="000000"/>
                  </a:outerShdw>
                </a:effectLst>
                <a:latin typeface="宋体" pitchFamily="2" charset="-122"/>
              </a:rPr>
              <a:t>3</a:t>
            </a:r>
            <a:r>
              <a:rPr lang="en-US" altLang="zh-CN" sz="2400" b="1">
                <a:solidFill>
                  <a:srgbClr val="0000FF"/>
                </a:solidFill>
                <a:effectLst>
                  <a:outerShdw blurRad="38100" dist="38100" dir="2700000" algn="tl">
                    <a:srgbClr val="000000"/>
                  </a:outerShdw>
                </a:effectLst>
                <a:latin typeface="宋体" pitchFamily="2" charset="-122"/>
              </a:rPr>
              <a:t>V</a:t>
            </a:r>
            <a:r>
              <a:rPr lang="en-US" altLang="zh-CN" sz="2400" b="1">
                <a:solidFill>
                  <a:srgbClr val="0000FF"/>
                </a:solidFill>
                <a:effectLst>
                  <a:outerShdw blurRad="38100" dist="38100" dir="2700000" algn="tl">
                    <a:srgbClr val="000000"/>
                  </a:outerShdw>
                </a:effectLst>
                <a:latin typeface="Arial" pitchFamily="34" charset="0"/>
              </a:rPr>
              <a:t> </a:t>
            </a:r>
            <a:r>
              <a:rPr lang="en-US" altLang="zh-CN" sz="2400" b="1">
                <a:solidFill>
                  <a:srgbClr val="0000FF"/>
                </a:solidFill>
                <a:effectLst>
                  <a:outerShdw blurRad="38100" dist="38100" dir="2700000" algn="tl">
                    <a:srgbClr val="000000"/>
                  </a:outerShdw>
                </a:effectLst>
                <a:latin typeface="宋体" pitchFamily="2" charset="-122"/>
              </a:rPr>
              <a:t>TTL:</a:t>
            </a:r>
            <a:r>
              <a:rPr lang="zh-CN" altLang="en-US" sz="2400" b="1">
                <a:solidFill>
                  <a:srgbClr val="FF0000"/>
                </a:solidFill>
                <a:effectLst>
                  <a:outerShdw blurRad="38100" dist="38100" dir="2700000" algn="tl">
                    <a:srgbClr val="000000"/>
                  </a:outerShdw>
                </a:effectLst>
                <a:latin typeface="宋体" pitchFamily="2" charset="-122"/>
              </a:rPr>
              <a:t>转换标准相同</a:t>
            </a:r>
            <a:r>
              <a:rPr lang="zh-CN" altLang="en-US" sz="2400" b="1">
                <a:solidFill>
                  <a:srgbClr val="0000FF"/>
                </a:solidFill>
                <a:effectLst>
                  <a:outerShdw blurRad="38100" dist="38100" dir="2700000" algn="tl">
                    <a:srgbClr val="000000"/>
                  </a:outerShdw>
                </a:effectLst>
                <a:latin typeface="宋体" pitchFamily="2" charset="-122"/>
              </a:rPr>
              <a:t>    </a:t>
            </a:r>
            <a:endParaRPr lang="en-US" altLang="zh-CN" sz="2400" b="1">
              <a:solidFill>
                <a:srgbClr val="FF0000"/>
              </a:solidFill>
              <a:effectLst>
                <a:outerShdw blurRad="38100" dist="38100" dir="2700000" algn="tl">
                  <a:srgbClr val="000000"/>
                </a:outerShdw>
              </a:effectLst>
              <a:latin typeface="宋体" pitchFamily="2" charset="-122"/>
            </a:endParaRPr>
          </a:p>
        </p:txBody>
      </p:sp>
      <p:sp>
        <p:nvSpPr>
          <p:cNvPr id="8" name="Text Box 87">
            <a:extLst>
              <a:ext uri="{FF2B5EF4-FFF2-40B4-BE49-F238E27FC236}">
                <a16:creationId xmlns:a16="http://schemas.microsoft.com/office/drawing/2014/main" id="{63D07B94-3067-4BA6-A1C6-03D5932EBE2C}"/>
              </a:ext>
            </a:extLst>
          </p:cNvPr>
          <p:cNvSpPr txBox="1">
            <a:spLocks noChangeArrowheads="1"/>
          </p:cNvSpPr>
          <p:nvPr/>
        </p:nvSpPr>
        <p:spPr bwMode="auto">
          <a:xfrm>
            <a:off x="4630738" y="4578350"/>
            <a:ext cx="4425950" cy="904875"/>
          </a:xfrm>
          <a:prstGeom prst="rect">
            <a:avLst/>
          </a:prstGeom>
          <a:noFill/>
          <a:ln w="9525">
            <a:noFill/>
            <a:miter lim="800000"/>
            <a:headEnd/>
            <a:tailEnd/>
          </a:ln>
          <a:effectLst>
            <a:outerShdw dist="35921" dir="2700000" algn="ctr" rotWithShape="0">
              <a:srgbClr val="FFFFFF"/>
            </a:outerShdw>
          </a:effectLst>
        </p:spPr>
        <p:txBody>
          <a:bodyPr lIns="18000" rIns="18000">
            <a:spAutoFit/>
          </a:bodyPr>
          <a:lstStyle/>
          <a:p>
            <a:pPr algn="ctr" eaLnBrk="1" hangingPunct="1">
              <a:lnSpc>
                <a:spcPct val="110000"/>
              </a:lnSpc>
              <a:defRPr/>
            </a:pPr>
            <a:r>
              <a:rPr lang="zh-CN" altLang="en-US" sz="2400" b="1">
                <a:solidFill>
                  <a:srgbClr val="0000FF"/>
                </a:solidFill>
                <a:effectLst>
                  <a:outerShdw blurRad="38100" dist="38100" dir="2700000" algn="tl">
                    <a:srgbClr val="000000"/>
                  </a:outerShdw>
                </a:effectLst>
                <a:latin typeface="宋体" pitchFamily="2" charset="-122"/>
              </a:rPr>
              <a:t>接口问题：3</a:t>
            </a:r>
            <a:r>
              <a:rPr lang="zh-CN" altLang="en-US" sz="2400" b="1">
                <a:solidFill>
                  <a:srgbClr val="0000FF"/>
                </a:solidFill>
                <a:effectLst>
                  <a:outerShdw blurRad="38100" dist="38100" dir="2700000" algn="tl">
                    <a:srgbClr val="000000"/>
                  </a:outerShdw>
                </a:effectLst>
                <a:latin typeface="Arial" pitchFamily="34" charset="0"/>
              </a:rPr>
              <a:t>.</a:t>
            </a:r>
            <a:r>
              <a:rPr lang="zh-CN" altLang="en-US" sz="2400" b="1">
                <a:solidFill>
                  <a:srgbClr val="0000FF"/>
                </a:solidFill>
                <a:effectLst>
                  <a:outerShdw blurRad="38100" dist="38100" dir="2700000" algn="tl">
                    <a:srgbClr val="000000"/>
                  </a:outerShdw>
                </a:effectLst>
                <a:latin typeface="宋体" pitchFamily="2" charset="-122"/>
              </a:rPr>
              <a:t>3</a:t>
            </a:r>
            <a:r>
              <a:rPr lang="en-US" altLang="zh-CN" sz="2400" b="1">
                <a:solidFill>
                  <a:srgbClr val="0000FF"/>
                </a:solidFill>
                <a:effectLst>
                  <a:outerShdw blurRad="38100" dist="38100" dir="2700000" algn="tl">
                    <a:srgbClr val="000000"/>
                  </a:outerShdw>
                </a:effectLst>
                <a:latin typeface="宋体" pitchFamily="2" charset="-122"/>
              </a:rPr>
              <a:t>V</a:t>
            </a:r>
            <a:r>
              <a:rPr lang="en-US" altLang="zh-CN" sz="2400" b="1">
                <a:solidFill>
                  <a:srgbClr val="0000FF"/>
                </a:solidFill>
                <a:effectLst>
                  <a:outerShdw blurRad="38100" dist="38100" dir="2700000" algn="tl">
                    <a:srgbClr val="000000"/>
                  </a:outerShdw>
                </a:effectLst>
                <a:latin typeface="Arial" pitchFamily="34" charset="0"/>
              </a:rPr>
              <a:t> </a:t>
            </a:r>
            <a:r>
              <a:rPr lang="en-US" altLang="zh-CN" sz="2400" b="1">
                <a:solidFill>
                  <a:srgbClr val="0000FF"/>
                </a:solidFill>
                <a:effectLst>
                  <a:outerShdw blurRad="38100" dist="38100" dir="2700000" algn="tl">
                    <a:srgbClr val="000000"/>
                  </a:outerShdw>
                </a:effectLst>
                <a:latin typeface="宋体" pitchFamily="2" charset="-122"/>
              </a:rPr>
              <a:t>TTL</a:t>
            </a:r>
            <a:r>
              <a:rPr lang="zh-CN" altLang="en-US" sz="2400" b="1">
                <a:solidFill>
                  <a:srgbClr val="0000FF"/>
                </a:solidFill>
                <a:effectLst>
                  <a:outerShdw blurRad="38100" dist="38100" dir="2700000" algn="tl">
                    <a:srgbClr val="000000"/>
                  </a:outerShdw>
                </a:effectLst>
                <a:latin typeface="宋体" pitchFamily="2" charset="-122"/>
              </a:rPr>
              <a:t>能否承受高于电源电压输入的能力？</a:t>
            </a:r>
            <a:endParaRPr lang="en-US" altLang="zh-CN" sz="2400" b="1">
              <a:solidFill>
                <a:srgbClr val="FF0000"/>
              </a:solidFill>
              <a:effectLst>
                <a:outerShdw blurRad="38100" dist="38100" dir="2700000" algn="tl">
                  <a:srgbClr val="000000"/>
                </a:outerShdw>
              </a:effectLst>
              <a:latin typeface="宋体" pitchFamily="2" charset="-122"/>
            </a:endParaRPr>
          </a:p>
        </p:txBody>
      </p:sp>
      <p:sp>
        <p:nvSpPr>
          <p:cNvPr id="2" name="灯片编号占位符 1">
            <a:extLst>
              <a:ext uri="{FF2B5EF4-FFF2-40B4-BE49-F238E27FC236}">
                <a16:creationId xmlns:a16="http://schemas.microsoft.com/office/drawing/2014/main" id="{8A83FF5F-7CEA-4052-B9C7-D25B6E8FF6BC}"/>
              </a:ext>
            </a:extLst>
          </p:cNvPr>
          <p:cNvSpPr>
            <a:spLocks noGrp="1"/>
          </p:cNvSpPr>
          <p:nvPr>
            <p:ph type="sldNum" sz="quarter" idx="10"/>
          </p:nvPr>
        </p:nvSpPr>
        <p:spPr>
          <a:xfrm>
            <a:off x="8628063" y="6551613"/>
            <a:ext cx="515937" cy="306387"/>
          </a:xfrm>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a:fld id="{A713E01C-D90E-40F0-8624-4C7E02A5B7BE}" type="slidenum">
              <a:rPr lang="en-US" altLang="zh-CN">
                <a:solidFill>
                  <a:srgbClr val="000000"/>
                </a:solidFill>
                <a:latin typeface="Arial" panose="020B0604020202020204" pitchFamily="34" charset="0"/>
              </a:rPr>
              <a:pPr algn="l"/>
              <a:t>72</a:t>
            </a:fld>
            <a:endParaRPr lang="en-US" altLang="zh-CN">
              <a:solidFill>
                <a:srgbClr val="000000"/>
              </a:solidFill>
              <a:latin typeface="Arial" panose="020B0604020202020204" pitchFamily="34" charset="0"/>
            </a:endParaRPr>
          </a:p>
        </p:txBody>
      </p:sp>
      <p:pic>
        <p:nvPicPr>
          <p:cNvPr id="190466" name="Picture 2">
            <a:extLst>
              <a:ext uri="{FF2B5EF4-FFF2-40B4-BE49-F238E27FC236}">
                <a16:creationId xmlns:a16="http://schemas.microsoft.com/office/drawing/2014/main" id="{D65B0C26-5653-402B-B406-DDCC0E9727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875" y="2046288"/>
            <a:ext cx="1117600" cy="40687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0467" name="Picture 3">
            <a:extLst>
              <a:ext uri="{FF2B5EF4-FFF2-40B4-BE49-F238E27FC236}">
                <a16:creationId xmlns:a16="http://schemas.microsoft.com/office/drawing/2014/main" id="{7E153F32-0CC6-4D57-9B9F-2704D7D82F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8300" y="2046288"/>
            <a:ext cx="1047750" cy="4019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0468" name="Picture 4">
            <a:extLst>
              <a:ext uri="{FF2B5EF4-FFF2-40B4-BE49-F238E27FC236}">
                <a16:creationId xmlns:a16="http://schemas.microsoft.com/office/drawing/2014/main" id="{302C1D18-6DB8-4D2A-BC0C-24AC856166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7213" y="2032000"/>
            <a:ext cx="1266825" cy="400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Text Box 87">
            <a:extLst>
              <a:ext uri="{FF2B5EF4-FFF2-40B4-BE49-F238E27FC236}">
                <a16:creationId xmlns:a16="http://schemas.microsoft.com/office/drawing/2014/main" id="{A33D3478-BEDA-456C-B85C-8937042063D9}"/>
              </a:ext>
            </a:extLst>
          </p:cNvPr>
          <p:cNvSpPr txBox="1">
            <a:spLocks noChangeArrowheads="1"/>
          </p:cNvSpPr>
          <p:nvPr/>
        </p:nvSpPr>
        <p:spPr bwMode="auto">
          <a:xfrm>
            <a:off x="4543425" y="5483225"/>
            <a:ext cx="4538663" cy="855663"/>
          </a:xfrm>
          <a:prstGeom prst="rect">
            <a:avLst/>
          </a:prstGeom>
          <a:noFill/>
          <a:ln w="9525">
            <a:noFill/>
            <a:miter lim="800000"/>
            <a:headEnd/>
            <a:tailEnd/>
          </a:ln>
          <a:effectLst>
            <a:outerShdw dist="35921" dir="2700000" algn="ctr" rotWithShape="0">
              <a:srgbClr val="FFFFFF"/>
            </a:outerShdw>
          </a:effectLst>
        </p:spPr>
        <p:txBody>
          <a:bodyPr lIns="18000" rIns="18000">
            <a:spAutoFit/>
          </a:bodyPr>
          <a:lstStyle/>
          <a:p>
            <a:pPr marL="2598738" indent="-2598738" algn="ctr" eaLnBrk="1" hangingPunct="1">
              <a:lnSpc>
                <a:spcPct val="110000"/>
              </a:lnSpc>
              <a:defRPr/>
            </a:pPr>
            <a:r>
              <a:rPr lang="zh-CN" altLang="en-US" sz="2400" b="1">
                <a:solidFill>
                  <a:srgbClr val="0000FF"/>
                </a:solidFill>
                <a:effectLst>
                  <a:outerShdw blurRad="38100" dist="38100" dir="2700000" algn="tl">
                    <a:srgbClr val="000000"/>
                  </a:outerShdw>
                </a:effectLst>
                <a:latin typeface="宋体" pitchFamily="2" charset="-122"/>
              </a:rPr>
              <a:t>3</a:t>
            </a:r>
            <a:r>
              <a:rPr lang="zh-CN" altLang="en-US" sz="2400" b="1">
                <a:solidFill>
                  <a:srgbClr val="0000FF"/>
                </a:solidFill>
                <a:effectLst>
                  <a:outerShdw blurRad="38100" dist="38100" dir="2700000" algn="tl">
                    <a:srgbClr val="000000"/>
                  </a:outerShdw>
                </a:effectLst>
                <a:latin typeface="Arial" pitchFamily="34" charset="0"/>
                <a:cs typeface="Times New Roman" pitchFamily="18" charset="0"/>
              </a:rPr>
              <a:t>.</a:t>
            </a:r>
            <a:r>
              <a:rPr lang="zh-CN" altLang="en-US" sz="2400" b="1">
                <a:solidFill>
                  <a:srgbClr val="0000FF"/>
                </a:solidFill>
                <a:effectLst>
                  <a:outerShdw blurRad="38100" dist="38100" dir="2700000" algn="tl">
                    <a:srgbClr val="000000"/>
                  </a:outerShdw>
                </a:effectLst>
                <a:latin typeface="宋体" pitchFamily="2" charset="-122"/>
              </a:rPr>
              <a:t>3</a:t>
            </a:r>
            <a:r>
              <a:rPr lang="en-US" altLang="zh-CN" sz="2400" b="1">
                <a:solidFill>
                  <a:srgbClr val="0000FF"/>
                </a:solidFill>
                <a:effectLst>
                  <a:outerShdw blurRad="38100" dist="38100" dir="2700000" algn="tl">
                    <a:srgbClr val="000000"/>
                  </a:outerShdw>
                </a:effectLst>
                <a:latin typeface="宋体" pitchFamily="2" charset="-122"/>
              </a:rPr>
              <a:t>V</a:t>
            </a:r>
            <a:r>
              <a:rPr lang="en-US" altLang="zh-CN" sz="2400" b="1">
                <a:solidFill>
                  <a:srgbClr val="0000FF"/>
                </a:solidFill>
                <a:effectLst>
                  <a:outerShdw blurRad="38100" dist="38100" dir="2700000" algn="tl">
                    <a:srgbClr val="000000"/>
                  </a:outerShdw>
                </a:effectLst>
                <a:latin typeface="Arial" pitchFamily="34" charset="0"/>
              </a:rPr>
              <a:t> </a:t>
            </a:r>
            <a:r>
              <a:rPr lang="en-US" altLang="zh-CN" sz="2400" b="1">
                <a:solidFill>
                  <a:srgbClr val="0000FF"/>
                </a:solidFill>
                <a:effectLst>
                  <a:outerShdw blurRad="38100" dist="38100" dir="2700000" algn="tl">
                    <a:srgbClr val="000000"/>
                  </a:outerShdw>
                </a:effectLst>
                <a:latin typeface="宋体" pitchFamily="2" charset="-122"/>
              </a:rPr>
              <a:t>TTL</a:t>
            </a:r>
            <a:r>
              <a:rPr lang="zh-CN" altLang="en-US" sz="2400" b="1">
                <a:solidFill>
                  <a:srgbClr val="0000FF"/>
                </a:solidFill>
                <a:effectLst>
                  <a:outerShdw blurRad="38100" dist="38100" dir="2700000" algn="tl">
                    <a:srgbClr val="000000"/>
                  </a:outerShdw>
                </a:effectLst>
                <a:latin typeface="宋体" pitchFamily="2" charset="-122"/>
              </a:rPr>
              <a:t>和</a:t>
            </a:r>
            <a:r>
              <a:rPr lang="en-US" altLang="zh-CN" sz="2400" b="1">
                <a:solidFill>
                  <a:srgbClr val="0000FF"/>
                </a:solidFill>
                <a:effectLst>
                  <a:outerShdw blurRad="38100" dist="38100" dir="2700000" algn="tl">
                    <a:srgbClr val="000000"/>
                  </a:outerShdw>
                </a:effectLst>
                <a:latin typeface="宋体" pitchFamily="2" charset="-122"/>
              </a:rPr>
              <a:t>5V</a:t>
            </a:r>
            <a:r>
              <a:rPr lang="en-US" altLang="zh-CN" sz="2400" b="1">
                <a:solidFill>
                  <a:srgbClr val="0000FF"/>
                </a:solidFill>
                <a:effectLst>
                  <a:outerShdw blurRad="38100" dist="38100" dir="2700000" algn="tl">
                    <a:srgbClr val="000000"/>
                  </a:outerShdw>
                </a:effectLst>
                <a:latin typeface="Arial" pitchFamily="34" charset="0"/>
              </a:rPr>
              <a:t> </a:t>
            </a:r>
            <a:r>
              <a:rPr lang="en-US" altLang="zh-CN" sz="2400" b="1">
                <a:solidFill>
                  <a:srgbClr val="0000FF"/>
                </a:solidFill>
                <a:effectLst>
                  <a:outerShdw blurRad="38100" dist="38100" dir="2700000" algn="tl">
                    <a:srgbClr val="000000"/>
                  </a:outerShdw>
                </a:effectLst>
                <a:latin typeface="宋体" pitchFamily="2" charset="-122"/>
              </a:rPr>
              <a:t>CMOS:</a:t>
            </a:r>
            <a:r>
              <a:rPr lang="zh-CN" altLang="en-US" sz="2400" b="1">
                <a:solidFill>
                  <a:srgbClr val="FF0000"/>
                </a:solidFill>
                <a:effectLst>
                  <a:outerShdw blurRad="38100" dist="38100" dir="2700000" algn="tl">
                    <a:srgbClr val="000000"/>
                  </a:outerShdw>
                </a:effectLst>
                <a:latin typeface="宋体" pitchFamily="2" charset="-122"/>
              </a:rPr>
              <a:t>存在电平匹配的问题  </a:t>
            </a:r>
            <a:endParaRPr lang="en-US" altLang="zh-CN" sz="2400" b="1">
              <a:solidFill>
                <a:srgbClr val="FF0000"/>
              </a:solidFill>
              <a:effectLst>
                <a:outerShdw blurRad="38100" dist="38100" dir="2700000" algn="tl">
                  <a:srgbClr val="000000"/>
                </a:outerShdw>
              </a:effectLst>
              <a:latin typeface="宋体"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190468"/>
                                        </p:tgtEl>
                                        <p:attrNameLst>
                                          <p:attrName>style.visibility</p:attrName>
                                        </p:attrNameLst>
                                      </p:cBhvr>
                                      <p:to>
                                        <p:strVal val="visible"/>
                                      </p:to>
                                    </p:set>
                                    <p:animEffect transition="in" filter="wipe(up)">
                                      <p:cBhvr>
                                        <p:cTn id="7" dur="500"/>
                                        <p:tgtEl>
                                          <p:spTgt spid="19046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wipe(left)">
                                      <p:cBhvr>
                                        <p:cTn id="10" dur="500"/>
                                        <p:tgtEl>
                                          <p:spTgt spid="6">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wipe(left)">
                                      <p:cBhvr>
                                        <p:cTn id="13" dur="500"/>
                                        <p:tgtEl>
                                          <p:spTgt spid="6">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6">
                                            <p:txEl>
                                              <p:pRg st="2" end="2"/>
                                            </p:txEl>
                                          </p:spTgt>
                                        </p:tgtEl>
                                        <p:attrNameLst>
                                          <p:attrName>style.visibility</p:attrName>
                                        </p:attrNameLst>
                                      </p:cBhvr>
                                      <p:to>
                                        <p:strVal val="visible"/>
                                      </p:to>
                                    </p:set>
                                    <p:animEffect transition="in" filter="wipe(left)">
                                      <p:cBhvr>
                                        <p:cTn id="16" dur="500"/>
                                        <p:tgtEl>
                                          <p:spTgt spid="6">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wipe(left)">
                                      <p:cBhvr>
                                        <p:cTn id="22" dur="500"/>
                                        <p:tgtEl>
                                          <p:spTgt spid="6">
                                            <p:txEl>
                                              <p:pRg st="4" end="4"/>
                                            </p:txEl>
                                          </p:spTgt>
                                        </p:tgtEl>
                                      </p:cBhvr>
                                    </p:animEffect>
                                  </p:childTnLst>
                                </p:cTn>
                              </p:par>
                              <p:par>
                                <p:cTn id="23" presetID="22" presetClass="entr" presetSubtype="1" fill="hold" nodeType="withEffect">
                                  <p:stCondLst>
                                    <p:cond delay="0"/>
                                  </p:stCondLst>
                                  <p:childTnLst>
                                    <p:set>
                                      <p:cBhvr>
                                        <p:cTn id="24" dur="1" fill="hold">
                                          <p:stCondLst>
                                            <p:cond delay="0"/>
                                          </p:stCondLst>
                                        </p:cTn>
                                        <p:tgtEl>
                                          <p:spTgt spid="190467"/>
                                        </p:tgtEl>
                                        <p:attrNameLst>
                                          <p:attrName>style.visibility</p:attrName>
                                        </p:attrNameLst>
                                      </p:cBhvr>
                                      <p:to>
                                        <p:strVal val="visible"/>
                                      </p:to>
                                    </p:set>
                                    <p:animEffect transition="in" filter="wipe(up)">
                                      <p:cBhvr>
                                        <p:cTn id="25" dur="500"/>
                                        <p:tgtEl>
                                          <p:spTgt spid="190467"/>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wipe(left)">
                                      <p:cBhvr>
                                        <p:cTn id="28" dur="500"/>
                                        <p:tgtEl>
                                          <p:spTgt spid="7">
                                            <p:txEl>
                                              <p:pRg st="0" end="0"/>
                                            </p:txEl>
                                          </p:spTgt>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animEffect transition="in" filter="wipe(left)">
                                      <p:cBhvr>
                                        <p:cTn id="31" dur="500"/>
                                        <p:tgtEl>
                                          <p:spTgt spid="8">
                                            <p:txEl>
                                              <p:pRg st="0" end="0"/>
                                            </p:txEl>
                                          </p:spTgt>
                                        </p:tgtEl>
                                      </p:cBhvr>
                                    </p:animEffect>
                                  </p:childTnLst>
                                </p:cTn>
                              </p:par>
                              <p:par>
                                <p:cTn id="32" presetID="22" presetClass="entr" presetSubtype="1" fill="hold" nodeType="withEffect">
                                  <p:stCondLst>
                                    <p:cond delay="0"/>
                                  </p:stCondLst>
                                  <p:childTnLst>
                                    <p:set>
                                      <p:cBhvr>
                                        <p:cTn id="33" dur="1" fill="hold">
                                          <p:stCondLst>
                                            <p:cond delay="0"/>
                                          </p:stCondLst>
                                        </p:cTn>
                                        <p:tgtEl>
                                          <p:spTgt spid="190466"/>
                                        </p:tgtEl>
                                        <p:attrNameLst>
                                          <p:attrName>style.visibility</p:attrName>
                                        </p:attrNameLst>
                                      </p:cBhvr>
                                      <p:to>
                                        <p:strVal val="visible"/>
                                      </p:to>
                                    </p:set>
                                    <p:animEffect transition="in" filter="wipe(up)">
                                      <p:cBhvr>
                                        <p:cTn id="34" dur="500"/>
                                        <p:tgtEl>
                                          <p:spTgt spid="190466"/>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4">
                                            <p:txEl>
                                              <p:pRg st="0" end="0"/>
                                            </p:txEl>
                                          </p:spTgt>
                                        </p:tgtEl>
                                        <p:attrNameLst>
                                          <p:attrName>style.visibility</p:attrName>
                                        </p:attrNameLst>
                                      </p:cBhvr>
                                      <p:to>
                                        <p:strVal val="visible"/>
                                      </p:to>
                                    </p:set>
                                    <p:animEffect transition="in" filter="wipe(left)">
                                      <p:cBhvr>
                                        <p:cTn id="37"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build="p" autoUpdateAnimBg="0"/>
      <p:bldP spid="8" grpId="0" build="p" autoUpdateAnimBg="0"/>
      <p:bldP spid="14" grpId="0" build="p"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02768116-DA56-4BEC-8C6C-954B7702C592}"/>
              </a:ext>
            </a:extLst>
          </p:cNvPr>
          <p:cNvSpPr>
            <a:spLocks noGrp="1"/>
          </p:cNvSpPr>
          <p:nvPr>
            <p:ph type="title"/>
          </p:nvPr>
        </p:nvSpPr>
        <p:spPr>
          <a:xfrm>
            <a:off x="468313" y="357188"/>
            <a:ext cx="8229600" cy="504825"/>
          </a:xfrm>
        </p:spPr>
        <p:txBody>
          <a:bodyPr vert="horz" lIns="91440" tIns="45720" rIns="91440" bIns="45720" rtlCol="0" anchor="b">
            <a:noAutofit/>
          </a:bodyPr>
          <a:lstStyle/>
          <a:p>
            <a:r>
              <a:rPr lang="en-US" altLang="zh-CN" sz="3200" dirty="0">
                <a:solidFill>
                  <a:srgbClr val="FF0000"/>
                </a:solidFill>
              </a:rPr>
              <a:t>2. IAP15W4K58S4</a:t>
            </a:r>
            <a:r>
              <a:rPr lang="zh-CN" altLang="en-US" sz="3200" dirty="0">
                <a:solidFill>
                  <a:srgbClr val="FF0000"/>
                </a:solidFill>
              </a:rPr>
              <a:t>单片机</a:t>
            </a:r>
            <a:r>
              <a:rPr lang="en-US" altLang="zh-CN" sz="3200" dirty="0">
                <a:solidFill>
                  <a:srgbClr val="FF0000"/>
                </a:solidFill>
              </a:rPr>
              <a:t>I/O</a:t>
            </a:r>
            <a:r>
              <a:rPr lang="zh-CN" altLang="en-US" sz="3200" dirty="0">
                <a:solidFill>
                  <a:srgbClr val="FF0000"/>
                </a:solidFill>
              </a:rPr>
              <a:t>口的结构</a:t>
            </a:r>
          </a:p>
        </p:txBody>
      </p:sp>
      <p:sp>
        <p:nvSpPr>
          <p:cNvPr id="526339" name="Rectangle 3">
            <a:extLst>
              <a:ext uri="{FF2B5EF4-FFF2-40B4-BE49-F238E27FC236}">
                <a16:creationId xmlns:a16="http://schemas.microsoft.com/office/drawing/2014/main" id="{561411F7-2541-457D-801B-B958E7DAB6A8}"/>
              </a:ext>
            </a:extLst>
          </p:cNvPr>
          <p:cNvSpPr>
            <a:spLocks noGrp="1" noChangeArrowheads="1"/>
          </p:cNvSpPr>
          <p:nvPr>
            <p:ph idx="1"/>
          </p:nvPr>
        </p:nvSpPr>
        <p:spPr>
          <a:xfrm>
            <a:off x="250031" y="1274763"/>
            <a:ext cx="8229600" cy="701675"/>
          </a:xfrm>
        </p:spPr>
        <p:txBody>
          <a:bodyPr/>
          <a:lstStyle/>
          <a:p>
            <a:pPr marL="0" indent="0" eaLnBrk="1" hangingPunct="1">
              <a:buFontTx/>
              <a:buNone/>
              <a:defRPr/>
            </a:pPr>
            <a:r>
              <a:rPr lang="zh-CN" altLang="en-US" dirty="0">
                <a:solidFill>
                  <a:srgbClr val="FF00FF"/>
                </a:solidFill>
                <a:latin typeface="+mj-lt"/>
              </a:rPr>
              <a:t>（</a:t>
            </a:r>
            <a:r>
              <a:rPr lang="en-US" altLang="zh-CN" dirty="0">
                <a:solidFill>
                  <a:srgbClr val="FF00FF"/>
                </a:solidFill>
                <a:latin typeface="+mj-lt"/>
              </a:rPr>
              <a:t>4</a:t>
            </a:r>
            <a:r>
              <a:rPr lang="zh-CN" altLang="en-US" dirty="0">
                <a:solidFill>
                  <a:srgbClr val="FF00FF"/>
                </a:solidFill>
                <a:latin typeface="+mj-lt"/>
              </a:rPr>
              <a:t>）开漏输出工作模式的结构</a:t>
            </a:r>
          </a:p>
          <a:p>
            <a:pPr eaLnBrk="1" hangingPunct="1">
              <a:buFontTx/>
              <a:buNone/>
              <a:defRPr/>
            </a:pPr>
            <a:endParaRPr lang="en-US" altLang="zh-CN" dirty="0"/>
          </a:p>
        </p:txBody>
      </p:sp>
      <p:sp>
        <p:nvSpPr>
          <p:cNvPr id="2" name="日期占位符 1">
            <a:extLst>
              <a:ext uri="{FF2B5EF4-FFF2-40B4-BE49-F238E27FC236}">
                <a16:creationId xmlns:a16="http://schemas.microsoft.com/office/drawing/2014/main" id="{CDAB89DF-1306-4A56-8C7B-EA4A5A29D3B3}"/>
              </a:ext>
            </a:extLst>
          </p:cNvPr>
          <p:cNvSpPr>
            <a:spLocks noGrp="1"/>
          </p:cNvSpPr>
          <p:nvPr>
            <p:ph type="dt" sz="quarter" idx="11"/>
          </p:nvPr>
        </p:nvSpPr>
        <p:spPr/>
        <p:txBody>
          <a:bodyPr/>
          <a:lstStyle/>
          <a:p>
            <a:pPr>
              <a:defRPr/>
            </a:pPr>
            <a:fld id="{EBCC8A5F-AD91-49E6-A47E-0E1A6C122F23}" type="datetime10">
              <a:rPr lang="zh-CN" altLang="en-US"/>
              <a:pPr>
                <a:defRPr/>
              </a:pPr>
              <a:t>00:30</a:t>
            </a:fld>
            <a:endParaRPr lang="zh-CN" altLang="en-US"/>
          </a:p>
        </p:txBody>
      </p:sp>
      <p:sp>
        <p:nvSpPr>
          <p:cNvPr id="123909" name="Rectangle 5">
            <a:extLst>
              <a:ext uri="{FF2B5EF4-FFF2-40B4-BE49-F238E27FC236}">
                <a16:creationId xmlns:a16="http://schemas.microsoft.com/office/drawing/2014/main" id="{2308626F-7485-4043-9E5C-38BCA6B7F459}"/>
              </a:ext>
            </a:extLst>
          </p:cNvPr>
          <p:cNvSpPr>
            <a:spLocks noChangeArrowheads="1"/>
          </p:cNvSpPr>
          <p:nvPr/>
        </p:nvSpPr>
        <p:spPr bwMode="auto">
          <a:xfrm>
            <a:off x="0" y="287655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3910" name="Rectangle 8">
            <a:extLst>
              <a:ext uri="{FF2B5EF4-FFF2-40B4-BE49-F238E27FC236}">
                <a16:creationId xmlns:a16="http://schemas.microsoft.com/office/drawing/2014/main" id="{ADB7F3C9-1D0A-4F00-818C-16662FD8D770}"/>
              </a:ext>
            </a:extLst>
          </p:cNvPr>
          <p:cNvSpPr>
            <a:spLocks noChangeArrowheads="1"/>
          </p:cNvSpPr>
          <p:nvPr/>
        </p:nvSpPr>
        <p:spPr bwMode="auto">
          <a:xfrm>
            <a:off x="0" y="2876550"/>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23911" name="Rectangle 9">
            <a:extLst>
              <a:ext uri="{FF2B5EF4-FFF2-40B4-BE49-F238E27FC236}">
                <a16:creationId xmlns:a16="http://schemas.microsoft.com/office/drawing/2014/main" id="{666D0E98-4E3A-428E-815D-3B85FB1E4C2D}"/>
              </a:ext>
            </a:extLst>
          </p:cNvPr>
          <p:cNvSpPr>
            <a:spLocks noChangeArrowheads="1"/>
          </p:cNvSpPr>
          <p:nvPr/>
        </p:nvSpPr>
        <p:spPr bwMode="auto">
          <a:xfrm>
            <a:off x="1631950" y="5799138"/>
            <a:ext cx="6323013" cy="52387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990033"/>
                </a:solidFill>
                <a:latin typeface="宋体" panose="02010600030101010101" pitchFamily="2" charset="-122"/>
              </a:rPr>
              <a:t>图</a:t>
            </a:r>
            <a:r>
              <a:rPr lang="en-US" altLang="zh-CN" sz="2800" b="1">
                <a:solidFill>
                  <a:srgbClr val="990033"/>
                </a:solidFill>
                <a:latin typeface="宋体" panose="02010600030101010101" pitchFamily="2" charset="-122"/>
              </a:rPr>
              <a:t>3-18 </a:t>
            </a:r>
            <a:r>
              <a:rPr lang="zh-CN" altLang="en-US" sz="2800" b="1">
                <a:solidFill>
                  <a:srgbClr val="990033"/>
                </a:solidFill>
                <a:latin typeface="宋体" panose="02010600030101010101" pitchFamily="2" charset="-122"/>
              </a:rPr>
              <a:t>开漏输出工作模式的</a:t>
            </a:r>
            <a:r>
              <a:rPr lang="en-US" altLang="zh-CN" sz="2800" b="1">
                <a:solidFill>
                  <a:srgbClr val="990033"/>
                </a:solidFill>
                <a:latin typeface="宋体" panose="02010600030101010101" pitchFamily="2" charset="-122"/>
              </a:rPr>
              <a:t>I/O</a:t>
            </a:r>
            <a:r>
              <a:rPr lang="zh-CN" altLang="en-US" sz="2800" b="1">
                <a:solidFill>
                  <a:srgbClr val="990033"/>
                </a:solidFill>
                <a:latin typeface="宋体" panose="02010600030101010101" pitchFamily="2" charset="-122"/>
              </a:rPr>
              <a:t>位结构</a:t>
            </a:r>
          </a:p>
        </p:txBody>
      </p:sp>
      <p:sp>
        <p:nvSpPr>
          <p:cNvPr id="4" name="灯片编号占位符 3">
            <a:extLst>
              <a:ext uri="{FF2B5EF4-FFF2-40B4-BE49-F238E27FC236}">
                <a16:creationId xmlns:a16="http://schemas.microsoft.com/office/drawing/2014/main" id="{9EDE4345-801A-414A-8269-56DDEF2BD1AE}"/>
              </a:ext>
            </a:extLst>
          </p:cNvPr>
          <p:cNvSpPr>
            <a:spLocks noGrp="1"/>
          </p:cNvSpPr>
          <p:nvPr>
            <p:ph type="sldNum" sz="quarter" idx="10"/>
          </p:nvPr>
        </p:nvSpPr>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a:fld id="{0A089F8A-01F0-473E-8C66-9FB24F7B7F69}" type="slidenum">
              <a:rPr lang="en-US" altLang="zh-CN">
                <a:latin typeface="Arial" panose="020B0604020202020204" pitchFamily="34" charset="0"/>
              </a:rPr>
              <a:pPr algn="l"/>
              <a:t>73</a:t>
            </a:fld>
            <a:endParaRPr lang="en-US" altLang="zh-CN">
              <a:latin typeface="Arial" panose="020B0604020202020204" pitchFamily="34" charset="0"/>
            </a:endParaRPr>
          </a:p>
        </p:txBody>
      </p:sp>
      <p:pic>
        <p:nvPicPr>
          <p:cNvPr id="123913" name="Picture 394" descr="D:\DOCUME~1\ADMINI~1\LOCALS~1\Temp\HS5ClipImage_56b0178b.gif">
            <a:extLst>
              <a:ext uri="{FF2B5EF4-FFF2-40B4-BE49-F238E27FC236}">
                <a16:creationId xmlns:a16="http://schemas.microsoft.com/office/drawing/2014/main" id="{469A4BCA-361D-4D6E-B1DA-E353EC4A68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088" y="2736850"/>
            <a:ext cx="6981825" cy="291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组合 9">
            <a:extLst>
              <a:ext uri="{FF2B5EF4-FFF2-40B4-BE49-F238E27FC236}">
                <a16:creationId xmlns:a16="http://schemas.microsoft.com/office/drawing/2014/main" id="{6F76892F-26C5-4BB1-8AD2-06D431BFC4DF}"/>
              </a:ext>
            </a:extLst>
          </p:cNvPr>
          <p:cNvGrpSpPr>
            <a:grpSpLocks/>
          </p:cNvGrpSpPr>
          <p:nvPr/>
        </p:nvGrpSpPr>
        <p:grpSpPr bwMode="auto">
          <a:xfrm>
            <a:off x="4024313" y="1473200"/>
            <a:ext cx="681037" cy="1701800"/>
            <a:chOff x="8491946" y="2412238"/>
            <a:chExt cx="679994" cy="1944048"/>
          </a:xfrm>
        </p:grpSpPr>
        <p:sp>
          <p:nvSpPr>
            <p:cNvPr id="12" name="矩形 11">
              <a:extLst>
                <a:ext uri="{FF2B5EF4-FFF2-40B4-BE49-F238E27FC236}">
                  <a16:creationId xmlns:a16="http://schemas.microsoft.com/office/drawing/2014/main" id="{E296C1D2-30B9-4B8A-A2A7-7ED408B96347}"/>
                </a:ext>
              </a:extLst>
            </p:cNvPr>
            <p:cNvSpPr/>
            <p:nvPr/>
          </p:nvSpPr>
          <p:spPr bwMode="auto">
            <a:xfrm>
              <a:off x="8701175" y="3384262"/>
              <a:ext cx="160091" cy="507774"/>
            </a:xfrm>
            <a:prstGeom prst="rect">
              <a:avLst/>
            </a:prstGeom>
            <a:noFill/>
            <a:ln w="28575" cap="flat" cmpd="sng" algn="ctr">
              <a:solidFill>
                <a:schemeClr val="bg1">
                  <a:lumMod val="50000"/>
                </a:schemeClr>
              </a:solidFill>
              <a:prstDash val="sysDot"/>
              <a:round/>
              <a:headEnd type="none" w="med" len="med"/>
              <a:tailEnd type="none" w="med" len="med"/>
            </a:ln>
            <a:effectLst/>
          </p:spPr>
          <p:txBody>
            <a:bodyPr wrap="none" anchor="ctr"/>
            <a:lstStyle/>
            <a:p>
              <a:pPr algn="ctr" eaLnBrk="1" hangingPunct="1">
                <a:defRPr/>
              </a:pPr>
              <a:endParaRPr lang="zh-CN" altLang="en-US"/>
            </a:p>
          </p:txBody>
        </p:sp>
        <p:cxnSp>
          <p:nvCxnSpPr>
            <p:cNvPr id="13" name="直接连接符 12">
              <a:extLst>
                <a:ext uri="{FF2B5EF4-FFF2-40B4-BE49-F238E27FC236}">
                  <a16:creationId xmlns:a16="http://schemas.microsoft.com/office/drawing/2014/main" id="{6F322063-FB99-4D64-90FA-DC492ADC3D25}"/>
                </a:ext>
              </a:extLst>
            </p:cNvPr>
            <p:cNvCxnSpPr>
              <a:endCxn id="12" idx="0"/>
            </p:cNvCxnSpPr>
            <p:nvPr/>
          </p:nvCxnSpPr>
          <p:spPr bwMode="auto">
            <a:xfrm>
              <a:off x="8780429" y="2920012"/>
              <a:ext cx="0" cy="464250"/>
            </a:xfrm>
            <a:prstGeom prst="line">
              <a:avLst/>
            </a:prstGeom>
            <a:solidFill>
              <a:schemeClr val="accent1">
                <a:alpha val="50000"/>
              </a:schemeClr>
            </a:solidFill>
            <a:ln w="28575" cap="flat" cmpd="sng" algn="ctr">
              <a:solidFill>
                <a:schemeClr val="bg1">
                  <a:lumMod val="50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a:extLst>
                <a:ext uri="{FF2B5EF4-FFF2-40B4-BE49-F238E27FC236}">
                  <a16:creationId xmlns:a16="http://schemas.microsoft.com/office/drawing/2014/main" id="{ED14B227-2336-4B4E-860F-22AE0F7A6EC4}"/>
                </a:ext>
              </a:extLst>
            </p:cNvPr>
            <p:cNvCxnSpPr/>
            <p:nvPr/>
          </p:nvCxnSpPr>
          <p:spPr bwMode="auto">
            <a:xfrm>
              <a:off x="8780429" y="3892036"/>
              <a:ext cx="0" cy="464250"/>
            </a:xfrm>
            <a:prstGeom prst="line">
              <a:avLst/>
            </a:prstGeom>
            <a:solidFill>
              <a:schemeClr val="accent1">
                <a:alpha val="50000"/>
              </a:schemeClr>
            </a:solidFill>
            <a:ln w="28575" cap="flat" cmpd="sng" algn="ctr">
              <a:solidFill>
                <a:schemeClr val="bg1">
                  <a:lumMod val="50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a:extLst>
                <a:ext uri="{FF2B5EF4-FFF2-40B4-BE49-F238E27FC236}">
                  <a16:creationId xmlns:a16="http://schemas.microsoft.com/office/drawing/2014/main" id="{26544E98-57B3-4957-81FF-80EC70310E87}"/>
                </a:ext>
              </a:extLst>
            </p:cNvPr>
            <p:cNvCxnSpPr/>
            <p:nvPr/>
          </p:nvCxnSpPr>
          <p:spPr bwMode="auto">
            <a:xfrm>
              <a:off x="8636187" y="2910945"/>
              <a:ext cx="282142" cy="0"/>
            </a:xfrm>
            <a:prstGeom prst="line">
              <a:avLst/>
            </a:prstGeom>
            <a:solidFill>
              <a:schemeClr val="accent1">
                <a:alpha val="50000"/>
              </a:schemeClr>
            </a:solidFill>
            <a:ln w="28575" cap="flat" cmpd="sng" algn="ctr">
              <a:solidFill>
                <a:schemeClr val="bg1">
                  <a:lumMod val="50000"/>
                </a:schemeClr>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929" name="矩形 15">
              <a:extLst>
                <a:ext uri="{FF2B5EF4-FFF2-40B4-BE49-F238E27FC236}">
                  <a16:creationId xmlns:a16="http://schemas.microsoft.com/office/drawing/2014/main" id="{F432E3BE-BCCC-4200-ADD3-CC0AFF7B801A}"/>
                </a:ext>
              </a:extLst>
            </p:cNvPr>
            <p:cNvSpPr>
              <a:spLocks noChangeArrowheads="1"/>
            </p:cNvSpPr>
            <p:nvPr/>
          </p:nvSpPr>
          <p:spPr bwMode="auto">
            <a:xfrm>
              <a:off x="8491946" y="2412238"/>
              <a:ext cx="6799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t>Vcc</a:t>
              </a:r>
              <a:endParaRPr lang="zh-CN" altLang="en-US" sz="2400"/>
            </a:p>
          </p:txBody>
        </p:sp>
      </p:grpSp>
      <p:sp>
        <p:nvSpPr>
          <p:cNvPr id="5" name="矩形 4">
            <a:extLst>
              <a:ext uri="{FF2B5EF4-FFF2-40B4-BE49-F238E27FC236}">
                <a16:creationId xmlns:a16="http://schemas.microsoft.com/office/drawing/2014/main" id="{7A379645-88BD-49C8-9E40-3AAF938AE434}"/>
              </a:ext>
            </a:extLst>
          </p:cNvPr>
          <p:cNvSpPr>
            <a:spLocks noChangeArrowheads="1"/>
          </p:cNvSpPr>
          <p:nvPr/>
        </p:nvSpPr>
        <p:spPr bwMode="auto">
          <a:xfrm>
            <a:off x="1393825" y="2073275"/>
            <a:ext cx="26511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33FF"/>
                </a:solidFill>
              </a:rPr>
              <a:t>片内无此类接电源正极的上拉配置</a:t>
            </a:r>
          </a:p>
        </p:txBody>
      </p:sp>
      <p:sp>
        <p:nvSpPr>
          <p:cNvPr id="17" name="矩形 16">
            <a:extLst>
              <a:ext uri="{FF2B5EF4-FFF2-40B4-BE49-F238E27FC236}">
                <a16:creationId xmlns:a16="http://schemas.microsoft.com/office/drawing/2014/main" id="{0AA621F3-5652-4DAE-BBD2-CDF3C60B0414}"/>
              </a:ext>
            </a:extLst>
          </p:cNvPr>
          <p:cNvSpPr>
            <a:spLocks noChangeArrowheads="1"/>
          </p:cNvSpPr>
          <p:nvPr/>
        </p:nvSpPr>
        <p:spPr bwMode="auto">
          <a:xfrm>
            <a:off x="7307263" y="1150938"/>
            <a:ext cx="1785937"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33FF"/>
                </a:solidFill>
              </a:rPr>
              <a:t>从口线输出时</a:t>
            </a:r>
            <a:r>
              <a:rPr lang="en-US" altLang="zh-CN" sz="2400" b="1">
                <a:solidFill>
                  <a:srgbClr val="3333FF"/>
                </a:solidFill>
              </a:rPr>
              <a:t>, </a:t>
            </a:r>
            <a:r>
              <a:rPr lang="zh-CN" altLang="en-US" sz="2400" b="1">
                <a:solidFill>
                  <a:srgbClr val="3333FF"/>
                </a:solidFill>
              </a:rPr>
              <a:t>片外</a:t>
            </a:r>
            <a:r>
              <a:rPr lang="zh-CN" altLang="en-US" sz="2400" b="1">
                <a:solidFill>
                  <a:srgbClr val="FF0000"/>
                </a:solidFill>
              </a:rPr>
              <a:t>须经上拉电阻接电源正极</a:t>
            </a:r>
          </a:p>
        </p:txBody>
      </p:sp>
      <p:sp>
        <p:nvSpPr>
          <p:cNvPr id="18" name="矩形 17">
            <a:extLst>
              <a:ext uri="{FF2B5EF4-FFF2-40B4-BE49-F238E27FC236}">
                <a16:creationId xmlns:a16="http://schemas.microsoft.com/office/drawing/2014/main" id="{311A2ED8-5312-4086-B36F-B2501EF8350B}"/>
              </a:ext>
            </a:extLst>
          </p:cNvPr>
          <p:cNvSpPr/>
          <p:nvPr/>
        </p:nvSpPr>
        <p:spPr>
          <a:xfrm>
            <a:off x="6732588" y="3732213"/>
            <a:ext cx="1016000" cy="612775"/>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FF0000"/>
                </a:solidFill>
                <a:cs typeface="Times New Roman" panose="02020603050405020304" pitchFamily="18" charset="0"/>
              </a:rPr>
              <a:t>例</a:t>
            </a:r>
            <a:r>
              <a:rPr lang="en-US" altLang="zh-CN" sz="2400" b="1" kern="0" dirty="0">
                <a:solidFill>
                  <a:srgbClr val="FF0000"/>
                </a:solidFill>
                <a:cs typeface="Times New Roman" panose="02020603050405020304" pitchFamily="18" charset="0"/>
              </a:rPr>
              <a:t>:</a:t>
            </a:r>
            <a:r>
              <a:rPr lang="zh-CN" altLang="en-US" sz="2400" b="1" kern="0" dirty="0">
                <a:solidFill>
                  <a:srgbClr val="FF0000"/>
                </a:solidFill>
                <a:cs typeface="Times New Roman" panose="02020603050405020304" pitchFamily="18" charset="0"/>
              </a:rPr>
              <a:t>口线</a:t>
            </a:r>
            <a:r>
              <a:rPr lang="en-US" altLang="zh-CN" sz="2400" b="1" kern="0" dirty="0">
                <a:solidFill>
                  <a:srgbClr val="FF0000"/>
                </a:solidFill>
                <a:cs typeface="Times New Roman" panose="02020603050405020304" pitchFamily="18" charset="0"/>
              </a:rPr>
              <a:t>P3.2</a:t>
            </a:r>
            <a:endParaRPr lang="en-US" altLang="zh-CN" sz="2400" b="1" dirty="0">
              <a:solidFill>
                <a:srgbClr val="FF0000"/>
              </a:solidFill>
              <a:ea typeface="宋体" charset="-122"/>
              <a:cs typeface="Times New Roman" pitchFamily="18" charset="0"/>
            </a:endParaRPr>
          </a:p>
        </p:txBody>
      </p:sp>
      <p:sp>
        <p:nvSpPr>
          <p:cNvPr id="19" name="矩形 18">
            <a:extLst>
              <a:ext uri="{FF2B5EF4-FFF2-40B4-BE49-F238E27FC236}">
                <a16:creationId xmlns:a16="http://schemas.microsoft.com/office/drawing/2014/main" id="{D280BA01-4F31-41AF-93FC-1BED092ECEC0}"/>
              </a:ext>
            </a:extLst>
          </p:cNvPr>
          <p:cNvSpPr/>
          <p:nvPr/>
        </p:nvSpPr>
        <p:spPr>
          <a:xfrm>
            <a:off x="396875" y="3929063"/>
            <a:ext cx="1311275" cy="868362"/>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0000FF"/>
                </a:solidFill>
                <a:cs typeface="Times New Roman" panose="02020603050405020304" pitchFamily="18" charset="0"/>
              </a:rPr>
              <a:t>例</a:t>
            </a:r>
            <a:r>
              <a:rPr lang="en-US" altLang="zh-CN" sz="2400" b="1" kern="0" dirty="0">
                <a:solidFill>
                  <a:srgbClr val="0000FF"/>
                </a:solidFill>
                <a:cs typeface="Times New Roman" panose="02020603050405020304" pitchFamily="18" charset="0"/>
              </a:rPr>
              <a:t>:</a:t>
            </a:r>
            <a:r>
              <a:rPr lang="zh-CN" altLang="en-US" sz="2400" b="1" kern="0" dirty="0">
                <a:solidFill>
                  <a:srgbClr val="0000FF"/>
                </a:solidFill>
                <a:cs typeface="Times New Roman" panose="02020603050405020304" pitchFamily="18" charset="0"/>
              </a:rPr>
              <a:t>口线</a:t>
            </a:r>
            <a:r>
              <a:rPr lang="en-US" altLang="zh-CN" sz="2400" b="1" kern="0" dirty="0">
                <a:solidFill>
                  <a:srgbClr val="0000FF"/>
                </a:solidFill>
                <a:cs typeface="Times New Roman" panose="02020603050405020304" pitchFamily="18" charset="0"/>
              </a:rPr>
              <a:t>P3.2</a:t>
            </a:r>
            <a:r>
              <a:rPr lang="zh-CN" altLang="en-US" sz="2400" b="1" kern="0" dirty="0">
                <a:solidFill>
                  <a:srgbClr val="0000FF"/>
                </a:solidFill>
                <a:cs typeface="Times New Roman" panose="02020603050405020304" pitchFamily="18" charset="0"/>
              </a:rPr>
              <a:t>的锁存器位</a:t>
            </a:r>
            <a:endParaRPr lang="en-US" altLang="zh-CN" sz="2400" b="1" dirty="0">
              <a:solidFill>
                <a:srgbClr val="0000FF"/>
              </a:solidFill>
              <a:ea typeface="宋体" charset="-122"/>
              <a:cs typeface="Times New Roman" pitchFamily="18" charset="0"/>
            </a:endParaRPr>
          </a:p>
        </p:txBody>
      </p:sp>
      <p:grpSp>
        <p:nvGrpSpPr>
          <p:cNvPr id="20" name="组合 19">
            <a:extLst>
              <a:ext uri="{FF2B5EF4-FFF2-40B4-BE49-F238E27FC236}">
                <a16:creationId xmlns:a16="http://schemas.microsoft.com/office/drawing/2014/main" id="{DFA2216D-4C72-4DF4-A7C2-540BAD0823A4}"/>
              </a:ext>
            </a:extLst>
          </p:cNvPr>
          <p:cNvGrpSpPr>
            <a:grpSpLocks/>
          </p:cNvGrpSpPr>
          <p:nvPr/>
        </p:nvGrpSpPr>
        <p:grpSpPr bwMode="auto">
          <a:xfrm>
            <a:off x="6748463" y="1131888"/>
            <a:ext cx="679450" cy="1652587"/>
            <a:chOff x="8491946" y="2467219"/>
            <a:chExt cx="679994" cy="1889067"/>
          </a:xfrm>
        </p:grpSpPr>
        <p:sp>
          <p:nvSpPr>
            <p:cNvPr id="123920" name="矩形 20">
              <a:extLst>
                <a:ext uri="{FF2B5EF4-FFF2-40B4-BE49-F238E27FC236}">
                  <a16:creationId xmlns:a16="http://schemas.microsoft.com/office/drawing/2014/main" id="{5B02E945-6EDE-46CC-B03A-B88CDFEDAECC}"/>
                </a:ext>
              </a:extLst>
            </p:cNvPr>
            <p:cNvSpPr>
              <a:spLocks noChangeArrowheads="1"/>
            </p:cNvSpPr>
            <p:nvPr/>
          </p:nvSpPr>
          <p:spPr bwMode="auto">
            <a:xfrm>
              <a:off x="8701314" y="3383829"/>
              <a:ext cx="159657" cy="508000"/>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cxnSp>
          <p:nvCxnSpPr>
            <p:cNvPr id="123921" name="直接连接符 21">
              <a:extLst>
                <a:ext uri="{FF2B5EF4-FFF2-40B4-BE49-F238E27FC236}">
                  <a16:creationId xmlns:a16="http://schemas.microsoft.com/office/drawing/2014/main" id="{0A3988C6-3183-4228-A6C0-B07495C6B0EA}"/>
                </a:ext>
              </a:extLst>
            </p:cNvPr>
            <p:cNvCxnSpPr>
              <a:cxnSpLocks noChangeShapeType="1"/>
              <a:endCxn id="123920" idx="0"/>
            </p:cNvCxnSpPr>
            <p:nvPr/>
          </p:nvCxnSpPr>
          <p:spPr bwMode="auto">
            <a:xfrm>
              <a:off x="8781142" y="2919372"/>
              <a:ext cx="1" cy="464457"/>
            </a:xfrm>
            <a:prstGeom prst="line">
              <a:avLst/>
            </a:prstGeom>
            <a:noFill/>
            <a:ln w="2857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22" name="直接连接符 22">
              <a:extLst>
                <a:ext uri="{FF2B5EF4-FFF2-40B4-BE49-F238E27FC236}">
                  <a16:creationId xmlns:a16="http://schemas.microsoft.com/office/drawing/2014/main" id="{440CF150-9D9E-4020-AAD6-D09C4939EE80}"/>
                </a:ext>
              </a:extLst>
            </p:cNvPr>
            <p:cNvCxnSpPr>
              <a:cxnSpLocks noChangeShapeType="1"/>
            </p:cNvCxnSpPr>
            <p:nvPr/>
          </p:nvCxnSpPr>
          <p:spPr bwMode="auto">
            <a:xfrm>
              <a:off x="8781143" y="3891829"/>
              <a:ext cx="1" cy="464457"/>
            </a:xfrm>
            <a:prstGeom prst="line">
              <a:avLst/>
            </a:prstGeom>
            <a:noFill/>
            <a:ln w="2857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923" name="直接连接符 23">
              <a:extLst>
                <a:ext uri="{FF2B5EF4-FFF2-40B4-BE49-F238E27FC236}">
                  <a16:creationId xmlns:a16="http://schemas.microsoft.com/office/drawing/2014/main" id="{C2013395-7DDF-418F-9190-000C7FE29010}"/>
                </a:ext>
              </a:extLst>
            </p:cNvPr>
            <p:cNvCxnSpPr>
              <a:cxnSpLocks noChangeShapeType="1"/>
            </p:cNvCxnSpPr>
            <p:nvPr/>
          </p:nvCxnSpPr>
          <p:spPr bwMode="auto">
            <a:xfrm>
              <a:off x="8628744" y="2919372"/>
              <a:ext cx="283029" cy="0"/>
            </a:xfrm>
            <a:prstGeom prst="line">
              <a:avLst/>
            </a:prstGeom>
            <a:noFill/>
            <a:ln w="2857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924" name="矩形 24">
              <a:extLst>
                <a:ext uri="{FF2B5EF4-FFF2-40B4-BE49-F238E27FC236}">
                  <a16:creationId xmlns:a16="http://schemas.microsoft.com/office/drawing/2014/main" id="{29F09E55-4ABC-453F-8736-D4A49A53BE34}"/>
                </a:ext>
              </a:extLst>
            </p:cNvPr>
            <p:cNvSpPr>
              <a:spLocks noChangeArrowheads="1"/>
            </p:cNvSpPr>
            <p:nvPr/>
          </p:nvSpPr>
          <p:spPr bwMode="auto">
            <a:xfrm>
              <a:off x="8491946" y="2467219"/>
              <a:ext cx="6799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t>Vcc</a:t>
              </a:r>
              <a:endParaRPr lang="zh-CN" altLang="en-US" sz="2400"/>
            </a:p>
          </p:txBody>
        </p:sp>
      </p:gr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30" name="Picture 2" descr="D:\DOCUME~1\ADMINI~1\LOCALS~1\Temp\HS5ClipImage_56b0178b.gif">
            <a:extLst>
              <a:ext uri="{FF2B5EF4-FFF2-40B4-BE49-F238E27FC236}">
                <a16:creationId xmlns:a16="http://schemas.microsoft.com/office/drawing/2014/main" id="{CD429081-5A7F-4B90-AE6C-5D8B2D1D3E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0" y="3840163"/>
            <a:ext cx="6059488" cy="2532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1" name="标题 3">
            <a:extLst>
              <a:ext uri="{FF2B5EF4-FFF2-40B4-BE49-F238E27FC236}">
                <a16:creationId xmlns:a16="http://schemas.microsoft.com/office/drawing/2014/main" id="{3F5D1425-C5B9-473C-8297-FD5B3E1BE68D}"/>
              </a:ext>
            </a:extLst>
          </p:cNvPr>
          <p:cNvSpPr>
            <a:spLocks noGrp="1" noChangeArrowheads="1"/>
          </p:cNvSpPr>
          <p:nvPr>
            <p:ph type="title"/>
          </p:nvPr>
        </p:nvSpPr>
        <p:spPr>
          <a:xfrm>
            <a:off x="468313" y="357188"/>
            <a:ext cx="8229600" cy="504825"/>
          </a:xfrm>
        </p:spPr>
        <p:txBody>
          <a:bodyPr>
            <a:normAutofit fontScale="90000"/>
          </a:bodyPr>
          <a:lstStyle/>
          <a:p>
            <a:pPr eaLnBrk="1" hangingPunct="1"/>
            <a:r>
              <a:rPr lang="zh-CN" altLang="en-US">
                <a:solidFill>
                  <a:srgbClr val="FF00FF"/>
                </a:solidFill>
              </a:rPr>
              <a:t>（</a:t>
            </a:r>
            <a:r>
              <a:rPr lang="en-US" altLang="zh-CN">
                <a:solidFill>
                  <a:srgbClr val="FF00FF"/>
                </a:solidFill>
              </a:rPr>
              <a:t>4</a:t>
            </a:r>
            <a:r>
              <a:rPr lang="zh-CN" altLang="en-US">
                <a:solidFill>
                  <a:srgbClr val="FF00FF"/>
                </a:solidFill>
              </a:rPr>
              <a:t>）开漏输出工作模式的结构</a:t>
            </a:r>
          </a:p>
        </p:txBody>
      </p:sp>
      <p:sp>
        <p:nvSpPr>
          <p:cNvPr id="527363" name="Rectangle 3">
            <a:extLst>
              <a:ext uri="{FF2B5EF4-FFF2-40B4-BE49-F238E27FC236}">
                <a16:creationId xmlns:a16="http://schemas.microsoft.com/office/drawing/2014/main" id="{57BF1B29-DCDD-4818-BC7D-6FD1AFC9A2C6}"/>
              </a:ext>
            </a:extLst>
          </p:cNvPr>
          <p:cNvSpPr>
            <a:spLocks noGrp="1" noChangeArrowheads="1"/>
          </p:cNvSpPr>
          <p:nvPr>
            <p:ph idx="1"/>
          </p:nvPr>
        </p:nvSpPr>
        <p:spPr>
          <a:xfrm>
            <a:off x="285371" y="1423987"/>
            <a:ext cx="8748712" cy="2974975"/>
          </a:xfrm>
        </p:spPr>
        <p:txBody>
          <a:bodyPr/>
          <a:lstStyle/>
          <a:p>
            <a:pPr marL="261938" lvl="1" indent="-261938" eaLnBrk="1" hangingPunct="1">
              <a:defRPr/>
            </a:pPr>
            <a:r>
              <a:rPr lang="zh-CN" altLang="en-US" dirty="0"/>
              <a:t>这种配置方式必须有</a:t>
            </a:r>
            <a:r>
              <a:rPr lang="zh-CN" altLang="en-US" dirty="0">
                <a:hlinkClick r:id="rId3" action="ppaction://hlinksldjump"/>
              </a:rPr>
              <a:t>外部上拉电阻</a:t>
            </a:r>
            <a:r>
              <a:rPr lang="zh-CN" altLang="en-US" dirty="0"/>
              <a:t>，即通过电阻外接到</a:t>
            </a:r>
            <a:r>
              <a:rPr lang="en-US" altLang="zh-CN" dirty="0" err="1"/>
              <a:t>Vcc</a:t>
            </a:r>
            <a:r>
              <a:rPr lang="zh-CN" altLang="en-US" dirty="0"/>
              <a:t>。当口线锁存器为</a:t>
            </a:r>
            <a:r>
              <a:rPr lang="en-US" altLang="zh-CN" dirty="0"/>
              <a:t>0</a:t>
            </a:r>
            <a:r>
              <a:rPr lang="zh-CN" altLang="en-US" dirty="0"/>
              <a:t>时</a:t>
            </a:r>
            <a:r>
              <a:rPr lang="en-US" altLang="zh-CN" dirty="0"/>
              <a:t>,</a:t>
            </a:r>
            <a:r>
              <a:rPr lang="en-US" altLang="zh-CN" dirty="0">
                <a:solidFill>
                  <a:srgbClr val="FF0000"/>
                </a:solidFill>
              </a:rPr>
              <a:t>T2</a:t>
            </a:r>
            <a:r>
              <a:rPr lang="zh-CN" altLang="en-US" dirty="0">
                <a:solidFill>
                  <a:srgbClr val="FF0000"/>
                </a:solidFill>
              </a:rPr>
              <a:t>开启</a:t>
            </a:r>
            <a:r>
              <a:rPr lang="zh-CN" altLang="en-US" dirty="0"/>
              <a:t>。</a:t>
            </a:r>
            <a:endParaRPr lang="en-US" altLang="zh-CN" dirty="0"/>
          </a:p>
          <a:p>
            <a:pPr marL="261938" lvl="1" indent="-261938" eaLnBrk="1" hangingPunct="1">
              <a:defRPr/>
            </a:pPr>
            <a:r>
              <a:rPr lang="zh-CN" altLang="en-US" dirty="0"/>
              <a:t>这种方式的下拉结构与</a:t>
            </a:r>
            <a:r>
              <a:rPr lang="zh-CN" altLang="en-US" dirty="0">
                <a:hlinkClick r:id="rId4" action="ppaction://hlinksldjump"/>
              </a:rPr>
              <a:t>准双向口模式下拉结构</a:t>
            </a:r>
            <a:r>
              <a:rPr lang="zh-CN" altLang="en-US" dirty="0"/>
              <a:t>相同。</a:t>
            </a:r>
          </a:p>
          <a:p>
            <a:pPr marL="261938" lvl="1" indent="-261938" eaLnBrk="1" hangingPunct="1">
              <a:defRPr/>
            </a:pPr>
            <a:r>
              <a:rPr lang="zh-CN" altLang="en-US" dirty="0"/>
              <a:t>输出低电平时</a:t>
            </a:r>
            <a:r>
              <a:rPr lang="en-US" altLang="zh-CN" dirty="0"/>
              <a:t>,</a:t>
            </a:r>
            <a:r>
              <a:rPr lang="zh-CN" altLang="en-US" dirty="0"/>
              <a:t>灌电流可达</a:t>
            </a:r>
            <a:r>
              <a:rPr lang="en-US" altLang="zh-CN" dirty="0"/>
              <a:t>20mA</a:t>
            </a:r>
            <a:r>
              <a:rPr lang="zh-CN" altLang="en-US" dirty="0"/>
              <a:t>。</a:t>
            </a:r>
            <a:endParaRPr lang="en-US" altLang="zh-CN" dirty="0"/>
          </a:p>
          <a:p>
            <a:pPr marL="261938" lvl="1" indent="-261938" eaLnBrk="1" hangingPunct="1">
              <a:defRPr/>
            </a:pPr>
            <a:r>
              <a:rPr lang="zh-CN" altLang="en-US" dirty="0"/>
              <a:t>输出高电平时</a:t>
            </a:r>
            <a:r>
              <a:rPr lang="en-US" altLang="zh-CN" dirty="0"/>
              <a:t>,</a:t>
            </a:r>
            <a:r>
              <a:rPr lang="zh-CN" altLang="en-US" dirty="0">
                <a:solidFill>
                  <a:srgbClr val="FF0000"/>
                </a:solidFill>
              </a:rPr>
              <a:t>驱动电流不流经单片机</a:t>
            </a:r>
            <a:r>
              <a:rPr lang="en-US" altLang="zh-CN" dirty="0">
                <a:solidFill>
                  <a:srgbClr val="FF0000"/>
                </a:solidFill>
              </a:rPr>
              <a:t>,</a:t>
            </a:r>
            <a:r>
              <a:rPr lang="zh-CN" altLang="en-US" dirty="0">
                <a:solidFill>
                  <a:srgbClr val="FF0000"/>
                </a:solidFill>
              </a:rPr>
              <a:t>无负载限制</a:t>
            </a:r>
            <a:r>
              <a:rPr lang="zh-CN" altLang="en-US" dirty="0"/>
              <a:t>。</a:t>
            </a:r>
            <a:endParaRPr lang="en-US" altLang="zh-CN" dirty="0"/>
          </a:p>
          <a:p>
            <a:pPr marL="261938" lvl="1" indent="-261938" eaLnBrk="1" hangingPunct="1">
              <a:defRPr/>
            </a:pPr>
            <a:r>
              <a:rPr lang="zh-CN" altLang="en-US" dirty="0"/>
              <a:t>开漏端口带有一个施密特触发输入及干扰抑制电路。</a:t>
            </a:r>
          </a:p>
        </p:txBody>
      </p:sp>
      <p:sp>
        <p:nvSpPr>
          <p:cNvPr id="2" name="日期占位符 1">
            <a:extLst>
              <a:ext uri="{FF2B5EF4-FFF2-40B4-BE49-F238E27FC236}">
                <a16:creationId xmlns:a16="http://schemas.microsoft.com/office/drawing/2014/main" id="{7EA4E0AD-38CD-4E93-9675-A879563B03C8}"/>
              </a:ext>
            </a:extLst>
          </p:cNvPr>
          <p:cNvSpPr>
            <a:spLocks noGrp="1"/>
          </p:cNvSpPr>
          <p:nvPr>
            <p:ph type="dt" sz="quarter" idx="11"/>
          </p:nvPr>
        </p:nvSpPr>
        <p:spPr/>
        <p:txBody>
          <a:bodyPr/>
          <a:lstStyle/>
          <a:p>
            <a:pPr>
              <a:defRPr/>
            </a:pPr>
            <a:fld id="{29743DEA-B0E2-4A62-887F-41D369390124}" type="datetime10">
              <a:rPr lang="zh-CN" altLang="en-US"/>
              <a:pPr>
                <a:defRPr/>
              </a:pPr>
              <a:t>00:30</a:t>
            </a:fld>
            <a:endParaRPr lang="zh-CN" altLang="en-US"/>
          </a:p>
        </p:txBody>
      </p:sp>
      <p:sp>
        <p:nvSpPr>
          <p:cNvPr id="5" name="灯片编号占位符 4">
            <a:extLst>
              <a:ext uri="{FF2B5EF4-FFF2-40B4-BE49-F238E27FC236}">
                <a16:creationId xmlns:a16="http://schemas.microsoft.com/office/drawing/2014/main" id="{B61F4CBD-B873-474C-AEA2-35C052E7D523}"/>
              </a:ext>
            </a:extLst>
          </p:cNvPr>
          <p:cNvSpPr>
            <a:spLocks noGrp="1"/>
          </p:cNvSpPr>
          <p:nvPr>
            <p:ph type="sldNum" sz="quarter" idx="10"/>
          </p:nvPr>
        </p:nvSpPr>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a:fld id="{B488417C-E5CC-49FB-9DD8-977C8B38B041}" type="slidenum">
              <a:rPr lang="en-US" altLang="zh-CN">
                <a:latin typeface="Arial" panose="020B0604020202020204" pitchFamily="34" charset="0"/>
              </a:rPr>
              <a:pPr algn="l"/>
              <a:t>74</a:t>
            </a:fld>
            <a:endParaRPr lang="en-US" altLang="zh-CN">
              <a:latin typeface="Arial" panose="020B0604020202020204" pitchFamily="34" charset="0"/>
            </a:endParaRPr>
          </a:p>
        </p:txBody>
      </p:sp>
      <p:sp>
        <p:nvSpPr>
          <p:cNvPr id="7" name="矩形 6">
            <a:extLst>
              <a:ext uri="{FF2B5EF4-FFF2-40B4-BE49-F238E27FC236}">
                <a16:creationId xmlns:a16="http://schemas.microsoft.com/office/drawing/2014/main" id="{AC83132F-A115-423E-ADB8-80BDABDF17DF}"/>
              </a:ext>
            </a:extLst>
          </p:cNvPr>
          <p:cNvSpPr>
            <a:spLocks noChangeArrowheads="1"/>
          </p:cNvSpPr>
          <p:nvPr/>
        </p:nvSpPr>
        <p:spPr bwMode="auto">
          <a:xfrm>
            <a:off x="4097338" y="4884738"/>
            <a:ext cx="3381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33FF"/>
                </a:solidFill>
              </a:rPr>
              <a:t>1</a:t>
            </a:r>
            <a:endParaRPr lang="zh-CN" altLang="en-US" sz="2400" b="1">
              <a:solidFill>
                <a:srgbClr val="3333FF"/>
              </a:solidFill>
            </a:endParaRPr>
          </a:p>
        </p:txBody>
      </p:sp>
      <p:sp>
        <p:nvSpPr>
          <p:cNvPr id="8" name="矩形 7">
            <a:extLst>
              <a:ext uri="{FF2B5EF4-FFF2-40B4-BE49-F238E27FC236}">
                <a16:creationId xmlns:a16="http://schemas.microsoft.com/office/drawing/2014/main" id="{20EE32B7-9BE8-4F67-AED7-DF6CCF1BAD74}"/>
              </a:ext>
            </a:extLst>
          </p:cNvPr>
          <p:cNvSpPr>
            <a:spLocks noChangeArrowheads="1"/>
          </p:cNvSpPr>
          <p:nvPr/>
        </p:nvSpPr>
        <p:spPr bwMode="auto">
          <a:xfrm>
            <a:off x="2863850" y="4916488"/>
            <a:ext cx="338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grpSp>
        <p:nvGrpSpPr>
          <p:cNvPr id="23" name="组合 22">
            <a:extLst>
              <a:ext uri="{FF2B5EF4-FFF2-40B4-BE49-F238E27FC236}">
                <a16:creationId xmlns:a16="http://schemas.microsoft.com/office/drawing/2014/main" id="{38084561-32FC-4752-88C6-453DFEDCBE84}"/>
              </a:ext>
            </a:extLst>
          </p:cNvPr>
          <p:cNvGrpSpPr>
            <a:grpSpLocks/>
          </p:cNvGrpSpPr>
          <p:nvPr/>
        </p:nvGrpSpPr>
        <p:grpSpPr bwMode="auto">
          <a:xfrm>
            <a:off x="7640638" y="2462213"/>
            <a:ext cx="1501775" cy="1860550"/>
            <a:chOff x="7670346" y="2506498"/>
            <a:chExt cx="1501594" cy="1859273"/>
          </a:xfrm>
        </p:grpSpPr>
        <p:cxnSp>
          <p:nvCxnSpPr>
            <p:cNvPr id="124956" name="直接连接符 5">
              <a:extLst>
                <a:ext uri="{FF2B5EF4-FFF2-40B4-BE49-F238E27FC236}">
                  <a16:creationId xmlns:a16="http://schemas.microsoft.com/office/drawing/2014/main" id="{198589C3-6693-4291-9CDF-AA058FD6F95B}"/>
                </a:ext>
              </a:extLst>
            </p:cNvPr>
            <p:cNvCxnSpPr>
              <a:cxnSpLocks noChangeShapeType="1"/>
            </p:cNvCxnSpPr>
            <p:nvPr/>
          </p:nvCxnSpPr>
          <p:spPr bwMode="auto">
            <a:xfrm>
              <a:off x="7670346" y="4365771"/>
              <a:ext cx="1110798" cy="0"/>
            </a:xfrm>
            <a:prstGeom prst="line">
              <a:avLst/>
            </a:prstGeom>
            <a:noFill/>
            <a:ln w="2857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957" name="矩形 8">
              <a:extLst>
                <a:ext uri="{FF2B5EF4-FFF2-40B4-BE49-F238E27FC236}">
                  <a16:creationId xmlns:a16="http://schemas.microsoft.com/office/drawing/2014/main" id="{01443122-7A8F-46D4-A461-67D660CBA41D}"/>
                </a:ext>
              </a:extLst>
            </p:cNvPr>
            <p:cNvSpPr>
              <a:spLocks noChangeArrowheads="1"/>
            </p:cNvSpPr>
            <p:nvPr/>
          </p:nvSpPr>
          <p:spPr bwMode="auto">
            <a:xfrm>
              <a:off x="8701314" y="3383829"/>
              <a:ext cx="159657" cy="508000"/>
            </a:xfrm>
            <a:prstGeom prst="rect">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cxnSp>
          <p:nvCxnSpPr>
            <p:cNvPr id="124958" name="直接连接符 10">
              <a:extLst>
                <a:ext uri="{FF2B5EF4-FFF2-40B4-BE49-F238E27FC236}">
                  <a16:creationId xmlns:a16="http://schemas.microsoft.com/office/drawing/2014/main" id="{0A6006F0-D398-4829-AAB6-4E29B9E64949}"/>
                </a:ext>
              </a:extLst>
            </p:cNvPr>
            <p:cNvCxnSpPr>
              <a:cxnSpLocks noChangeShapeType="1"/>
              <a:endCxn id="124957" idx="0"/>
            </p:cNvCxnSpPr>
            <p:nvPr/>
          </p:nvCxnSpPr>
          <p:spPr bwMode="auto">
            <a:xfrm>
              <a:off x="8781142" y="2919372"/>
              <a:ext cx="1" cy="464457"/>
            </a:xfrm>
            <a:prstGeom prst="line">
              <a:avLst/>
            </a:prstGeom>
            <a:noFill/>
            <a:ln w="2857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959" name="直接连接符 13">
              <a:extLst>
                <a:ext uri="{FF2B5EF4-FFF2-40B4-BE49-F238E27FC236}">
                  <a16:creationId xmlns:a16="http://schemas.microsoft.com/office/drawing/2014/main" id="{B37AA50D-C1BE-40D0-98F6-B10B37C21BC7}"/>
                </a:ext>
              </a:extLst>
            </p:cNvPr>
            <p:cNvCxnSpPr>
              <a:cxnSpLocks noChangeShapeType="1"/>
            </p:cNvCxnSpPr>
            <p:nvPr/>
          </p:nvCxnSpPr>
          <p:spPr bwMode="auto">
            <a:xfrm>
              <a:off x="8781143" y="3891829"/>
              <a:ext cx="1" cy="464457"/>
            </a:xfrm>
            <a:prstGeom prst="line">
              <a:avLst/>
            </a:prstGeom>
            <a:noFill/>
            <a:ln w="2857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960" name="直接连接符 18">
              <a:extLst>
                <a:ext uri="{FF2B5EF4-FFF2-40B4-BE49-F238E27FC236}">
                  <a16:creationId xmlns:a16="http://schemas.microsoft.com/office/drawing/2014/main" id="{BCBE4C21-08DE-4FB8-BAE9-8363ECDA2F65}"/>
                </a:ext>
              </a:extLst>
            </p:cNvPr>
            <p:cNvCxnSpPr>
              <a:cxnSpLocks noChangeShapeType="1"/>
            </p:cNvCxnSpPr>
            <p:nvPr/>
          </p:nvCxnSpPr>
          <p:spPr bwMode="auto">
            <a:xfrm>
              <a:off x="8628744" y="2919372"/>
              <a:ext cx="283029" cy="0"/>
            </a:xfrm>
            <a:prstGeom prst="line">
              <a:avLst/>
            </a:prstGeom>
            <a:noFill/>
            <a:ln w="2857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4961" name="矩形 21">
              <a:extLst>
                <a:ext uri="{FF2B5EF4-FFF2-40B4-BE49-F238E27FC236}">
                  <a16:creationId xmlns:a16="http://schemas.microsoft.com/office/drawing/2014/main" id="{5C5DD9BC-7262-4002-8033-92A52F798D4E}"/>
                </a:ext>
              </a:extLst>
            </p:cNvPr>
            <p:cNvSpPr>
              <a:spLocks noChangeArrowheads="1"/>
            </p:cNvSpPr>
            <p:nvPr/>
          </p:nvSpPr>
          <p:spPr bwMode="auto">
            <a:xfrm>
              <a:off x="8491946" y="2506498"/>
              <a:ext cx="6799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t>Vcc</a:t>
              </a:r>
              <a:endParaRPr lang="zh-CN" altLang="en-US" sz="2400"/>
            </a:p>
          </p:txBody>
        </p:sp>
      </p:grpSp>
      <p:sp>
        <p:nvSpPr>
          <p:cNvPr id="26" name="矩形 25">
            <a:extLst>
              <a:ext uri="{FF2B5EF4-FFF2-40B4-BE49-F238E27FC236}">
                <a16:creationId xmlns:a16="http://schemas.microsoft.com/office/drawing/2014/main" id="{9228F470-BEF5-4D27-92AB-4E19C5BC794A}"/>
              </a:ext>
            </a:extLst>
          </p:cNvPr>
          <p:cNvSpPr>
            <a:spLocks noChangeArrowheads="1"/>
          </p:cNvSpPr>
          <p:nvPr/>
        </p:nvSpPr>
        <p:spPr bwMode="auto">
          <a:xfrm>
            <a:off x="4900613" y="5087938"/>
            <a:ext cx="8032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33FF"/>
                </a:solidFill>
              </a:rPr>
              <a:t>开启</a:t>
            </a:r>
          </a:p>
        </p:txBody>
      </p:sp>
      <p:sp>
        <p:nvSpPr>
          <p:cNvPr id="27" name="矩形 26">
            <a:extLst>
              <a:ext uri="{FF2B5EF4-FFF2-40B4-BE49-F238E27FC236}">
                <a16:creationId xmlns:a16="http://schemas.microsoft.com/office/drawing/2014/main" id="{CBDE581D-79A6-461E-AC32-A4FED2D9BA40}"/>
              </a:ext>
            </a:extLst>
          </p:cNvPr>
          <p:cNvSpPr>
            <a:spLocks noChangeArrowheads="1"/>
          </p:cNvSpPr>
          <p:nvPr/>
        </p:nvSpPr>
        <p:spPr bwMode="auto">
          <a:xfrm>
            <a:off x="6521450" y="4840288"/>
            <a:ext cx="1589088" cy="1108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3333FF"/>
                </a:solidFill>
              </a:rPr>
              <a:t>输出低时</a:t>
            </a:r>
            <a:r>
              <a:rPr lang="en-US" altLang="zh-CN" sz="2400" b="1">
                <a:solidFill>
                  <a:srgbClr val="3333FF"/>
                </a:solidFill>
              </a:rPr>
              <a:t>,</a:t>
            </a:r>
            <a:r>
              <a:rPr lang="zh-CN" altLang="en-US" sz="2400" b="1">
                <a:solidFill>
                  <a:srgbClr val="3333FF"/>
                </a:solidFill>
              </a:rPr>
              <a:t>灌电流最大可达</a:t>
            </a:r>
            <a:r>
              <a:rPr lang="en-US" altLang="zh-CN" sz="2400" b="1">
                <a:solidFill>
                  <a:srgbClr val="3333FF"/>
                </a:solidFill>
              </a:rPr>
              <a:t>20mA</a:t>
            </a:r>
            <a:endParaRPr lang="zh-CN" altLang="en-US" sz="2400" b="1">
              <a:solidFill>
                <a:srgbClr val="3333FF"/>
              </a:solidFill>
            </a:endParaRPr>
          </a:p>
        </p:txBody>
      </p:sp>
      <p:sp>
        <p:nvSpPr>
          <p:cNvPr id="28" name="任意多边形 27">
            <a:extLst>
              <a:ext uri="{FF2B5EF4-FFF2-40B4-BE49-F238E27FC236}">
                <a16:creationId xmlns:a16="http://schemas.microsoft.com/office/drawing/2014/main" id="{95B2989C-03BC-47C4-826E-BB83F066739F}"/>
              </a:ext>
            </a:extLst>
          </p:cNvPr>
          <p:cNvSpPr>
            <a:spLocks/>
          </p:cNvSpPr>
          <p:nvPr/>
        </p:nvSpPr>
        <p:spPr bwMode="auto">
          <a:xfrm rot="-195418">
            <a:off x="4914900" y="4462463"/>
            <a:ext cx="1836738" cy="566737"/>
          </a:xfrm>
          <a:custGeom>
            <a:avLst/>
            <a:gdLst>
              <a:gd name="T0" fmla="*/ 1837088 w 1941838"/>
              <a:gd name="T1" fmla="*/ 27428 h 732096"/>
              <a:gd name="T2" fmla="*/ 230523 w 1941838"/>
              <a:gd name="T3" fmla="*/ 61154 h 732096"/>
              <a:gd name="T4" fmla="*/ 10821 w 1941838"/>
              <a:gd name="T5" fmla="*/ 567058 h 732096"/>
              <a:gd name="T6" fmla="*/ 10821 w 1941838"/>
              <a:gd name="T7" fmla="*/ 567058 h 7320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41838" h="732096">
                <a:moveTo>
                  <a:pt x="1941838" y="35411"/>
                </a:moveTo>
                <a:cubicBezTo>
                  <a:pt x="1253619" y="-875"/>
                  <a:pt x="565400" y="-37161"/>
                  <a:pt x="243667" y="78953"/>
                </a:cubicBezTo>
                <a:cubicBezTo>
                  <a:pt x="-78066" y="195067"/>
                  <a:pt x="11438" y="732096"/>
                  <a:pt x="11438" y="732096"/>
                </a:cubicBezTo>
              </a:path>
            </a:pathLst>
          </a:custGeom>
          <a:noFill/>
          <a:ln w="19050" cap="flat" cmpd="sng" algn="ctr">
            <a:solidFill>
              <a:srgbClr val="3333FF"/>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矩形 19">
            <a:extLst>
              <a:ext uri="{FF2B5EF4-FFF2-40B4-BE49-F238E27FC236}">
                <a16:creationId xmlns:a16="http://schemas.microsoft.com/office/drawing/2014/main" id="{D4B1AE86-ED05-459F-B5B2-E639A628C0CC}"/>
              </a:ext>
            </a:extLst>
          </p:cNvPr>
          <p:cNvSpPr>
            <a:spLocks noChangeArrowheads="1"/>
          </p:cNvSpPr>
          <p:nvPr/>
        </p:nvSpPr>
        <p:spPr bwMode="auto">
          <a:xfrm>
            <a:off x="2901950" y="407987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solidFill>
                <a:srgbClr val="FF0000"/>
              </a:solidFill>
            </a:endParaRPr>
          </a:p>
        </p:txBody>
      </p:sp>
      <p:sp>
        <p:nvSpPr>
          <p:cNvPr id="21" name="矩形 20">
            <a:extLst>
              <a:ext uri="{FF2B5EF4-FFF2-40B4-BE49-F238E27FC236}">
                <a16:creationId xmlns:a16="http://schemas.microsoft.com/office/drawing/2014/main" id="{00B4C076-C919-42EF-B313-634F0FE13B43}"/>
              </a:ext>
            </a:extLst>
          </p:cNvPr>
          <p:cNvSpPr>
            <a:spLocks noChangeArrowheads="1"/>
          </p:cNvSpPr>
          <p:nvPr/>
        </p:nvSpPr>
        <p:spPr bwMode="auto">
          <a:xfrm>
            <a:off x="3937000" y="4179888"/>
            <a:ext cx="3381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0</a:t>
            </a:r>
            <a:endParaRPr lang="zh-CN" altLang="en-US" sz="2400" b="1">
              <a:solidFill>
                <a:srgbClr val="FF0000"/>
              </a:solidFill>
            </a:endParaRPr>
          </a:p>
        </p:txBody>
      </p:sp>
      <p:sp>
        <p:nvSpPr>
          <p:cNvPr id="24" name="矩形 23">
            <a:extLst>
              <a:ext uri="{FF2B5EF4-FFF2-40B4-BE49-F238E27FC236}">
                <a16:creationId xmlns:a16="http://schemas.microsoft.com/office/drawing/2014/main" id="{FAB5586D-B0A7-4EC1-AEC2-DA59357E3B8A}"/>
              </a:ext>
            </a:extLst>
          </p:cNvPr>
          <p:cNvSpPr>
            <a:spLocks noChangeArrowheads="1"/>
          </p:cNvSpPr>
          <p:nvPr/>
        </p:nvSpPr>
        <p:spPr bwMode="auto">
          <a:xfrm>
            <a:off x="4392613" y="4210050"/>
            <a:ext cx="8032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FF0000"/>
                </a:solidFill>
              </a:rPr>
              <a:t>截止</a:t>
            </a:r>
          </a:p>
        </p:txBody>
      </p:sp>
      <p:sp>
        <p:nvSpPr>
          <p:cNvPr id="25" name="矩形 24">
            <a:extLst>
              <a:ext uri="{FF2B5EF4-FFF2-40B4-BE49-F238E27FC236}">
                <a16:creationId xmlns:a16="http://schemas.microsoft.com/office/drawing/2014/main" id="{68520DD9-4181-4AE6-8225-9DFFDFFFB65F}"/>
              </a:ext>
            </a:extLst>
          </p:cNvPr>
          <p:cNvSpPr>
            <a:spLocks noChangeArrowheads="1"/>
          </p:cNvSpPr>
          <p:nvPr/>
        </p:nvSpPr>
        <p:spPr bwMode="auto">
          <a:xfrm>
            <a:off x="6503988" y="4344988"/>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rPr>
              <a:t>0</a:t>
            </a:r>
            <a:endParaRPr lang="zh-CN" altLang="en-US" sz="2400" b="1">
              <a:solidFill>
                <a:srgbClr val="3366FF"/>
              </a:solidFill>
            </a:endParaRPr>
          </a:p>
        </p:txBody>
      </p:sp>
      <p:sp>
        <p:nvSpPr>
          <p:cNvPr id="29" name="矩形 28">
            <a:extLst>
              <a:ext uri="{FF2B5EF4-FFF2-40B4-BE49-F238E27FC236}">
                <a16:creationId xmlns:a16="http://schemas.microsoft.com/office/drawing/2014/main" id="{30BA4B59-A83E-4902-BA44-82807F5B8400}"/>
              </a:ext>
            </a:extLst>
          </p:cNvPr>
          <p:cNvSpPr>
            <a:spLocks noChangeArrowheads="1"/>
          </p:cNvSpPr>
          <p:nvPr/>
        </p:nvSpPr>
        <p:spPr bwMode="auto">
          <a:xfrm>
            <a:off x="6503988" y="3849688"/>
            <a:ext cx="33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FF0000"/>
                </a:solidFill>
              </a:rPr>
              <a:t>1</a:t>
            </a:r>
            <a:endParaRPr lang="zh-CN" altLang="en-US" sz="2400" b="1">
              <a:solidFill>
                <a:srgbClr val="FF0000"/>
              </a:solidFill>
            </a:endParaRPr>
          </a:p>
        </p:txBody>
      </p:sp>
      <p:grpSp>
        <p:nvGrpSpPr>
          <p:cNvPr id="34" name="组合 33">
            <a:extLst>
              <a:ext uri="{FF2B5EF4-FFF2-40B4-BE49-F238E27FC236}">
                <a16:creationId xmlns:a16="http://schemas.microsoft.com/office/drawing/2014/main" id="{581109CB-4714-4FA9-B7D8-1686D3476DA6}"/>
              </a:ext>
            </a:extLst>
          </p:cNvPr>
          <p:cNvGrpSpPr>
            <a:grpSpLocks/>
          </p:cNvGrpSpPr>
          <p:nvPr/>
        </p:nvGrpSpPr>
        <p:grpSpPr bwMode="auto">
          <a:xfrm>
            <a:off x="7573963" y="2452688"/>
            <a:ext cx="1617662" cy="1866900"/>
            <a:chOff x="7577865" y="2764587"/>
            <a:chExt cx="1618095" cy="1868006"/>
          </a:xfrm>
        </p:grpSpPr>
        <p:pic>
          <p:nvPicPr>
            <p:cNvPr id="124953" name="图片 34">
              <a:extLst>
                <a:ext uri="{FF2B5EF4-FFF2-40B4-BE49-F238E27FC236}">
                  <a16:creationId xmlns:a16="http://schemas.microsoft.com/office/drawing/2014/main" id="{A21ED3F0-1E73-4ABE-8147-5F38D908ED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77982" y="2764587"/>
              <a:ext cx="717978" cy="1690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4954" name="直接连接符 35">
              <a:extLst>
                <a:ext uri="{FF2B5EF4-FFF2-40B4-BE49-F238E27FC236}">
                  <a16:creationId xmlns:a16="http://schemas.microsoft.com/office/drawing/2014/main" id="{CC4C2870-779E-42A2-A4AC-7DED50A6BEC0}"/>
                </a:ext>
              </a:extLst>
            </p:cNvPr>
            <p:cNvCxnSpPr>
              <a:cxnSpLocks noChangeShapeType="1"/>
            </p:cNvCxnSpPr>
            <p:nvPr/>
          </p:nvCxnSpPr>
          <p:spPr bwMode="auto">
            <a:xfrm>
              <a:off x="7577865" y="4626889"/>
              <a:ext cx="1175156" cy="0"/>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955" name="直接连接符 36">
              <a:extLst>
                <a:ext uri="{FF2B5EF4-FFF2-40B4-BE49-F238E27FC236}">
                  <a16:creationId xmlns:a16="http://schemas.microsoft.com/office/drawing/2014/main" id="{EB1ADF34-7A93-418D-8A6D-CBEFDB9B9851}"/>
                </a:ext>
              </a:extLst>
            </p:cNvPr>
            <p:cNvCxnSpPr>
              <a:cxnSpLocks noChangeShapeType="1"/>
            </p:cNvCxnSpPr>
            <p:nvPr/>
          </p:nvCxnSpPr>
          <p:spPr bwMode="auto">
            <a:xfrm flipV="1">
              <a:off x="8753021" y="4393765"/>
              <a:ext cx="4480" cy="238828"/>
            </a:xfrm>
            <a:prstGeom prst="line">
              <a:avLst/>
            </a:prstGeom>
            <a:noFill/>
            <a:ln w="28575" algn="ctr">
              <a:solidFill>
                <a:srgbClr val="3333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0" name="组合 29">
            <a:extLst>
              <a:ext uri="{FF2B5EF4-FFF2-40B4-BE49-F238E27FC236}">
                <a16:creationId xmlns:a16="http://schemas.microsoft.com/office/drawing/2014/main" id="{6F752C86-9BC1-4A89-B0E4-8804D38FA442}"/>
              </a:ext>
            </a:extLst>
          </p:cNvPr>
          <p:cNvGrpSpPr>
            <a:grpSpLocks/>
          </p:cNvGrpSpPr>
          <p:nvPr/>
        </p:nvGrpSpPr>
        <p:grpSpPr bwMode="auto">
          <a:xfrm>
            <a:off x="7646988" y="4311650"/>
            <a:ext cx="1571625" cy="1844675"/>
            <a:chOff x="7540432" y="4627084"/>
            <a:chExt cx="1570736" cy="1844320"/>
          </a:xfrm>
        </p:grpSpPr>
        <p:pic>
          <p:nvPicPr>
            <p:cNvPr id="124950" name="图片 30">
              <a:extLst>
                <a:ext uri="{FF2B5EF4-FFF2-40B4-BE49-F238E27FC236}">
                  <a16:creationId xmlns:a16="http://schemas.microsoft.com/office/drawing/2014/main" id="{F33AE45F-5942-4BF0-802F-E914F74069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8715" y="5211550"/>
              <a:ext cx="882453" cy="1259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4951" name="直接连接符 31">
              <a:extLst>
                <a:ext uri="{FF2B5EF4-FFF2-40B4-BE49-F238E27FC236}">
                  <a16:creationId xmlns:a16="http://schemas.microsoft.com/office/drawing/2014/main" id="{6C97320B-3751-4D91-8836-A8B3E4E1B011}"/>
                </a:ext>
              </a:extLst>
            </p:cNvPr>
            <p:cNvCxnSpPr>
              <a:cxnSpLocks noChangeShapeType="1"/>
            </p:cNvCxnSpPr>
            <p:nvPr/>
          </p:nvCxnSpPr>
          <p:spPr bwMode="auto">
            <a:xfrm>
              <a:off x="7540432" y="4627084"/>
              <a:ext cx="1107475" cy="0"/>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4952" name="直接连接符 32">
              <a:extLst>
                <a:ext uri="{FF2B5EF4-FFF2-40B4-BE49-F238E27FC236}">
                  <a16:creationId xmlns:a16="http://schemas.microsoft.com/office/drawing/2014/main" id="{A2ED54A3-2F29-452C-A488-D8B3A5A98758}"/>
                </a:ext>
              </a:extLst>
            </p:cNvPr>
            <p:cNvCxnSpPr>
              <a:cxnSpLocks noChangeShapeType="1"/>
            </p:cNvCxnSpPr>
            <p:nvPr/>
          </p:nvCxnSpPr>
          <p:spPr bwMode="auto">
            <a:xfrm>
              <a:off x="8647907" y="4627084"/>
              <a:ext cx="0" cy="782198"/>
            </a:xfrm>
            <a:prstGeom prst="line">
              <a:avLst/>
            </a:prstGeom>
            <a:noFill/>
            <a:ln w="28575" algn="ctr">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8" name="矩形 37">
            <a:extLst>
              <a:ext uri="{FF2B5EF4-FFF2-40B4-BE49-F238E27FC236}">
                <a16:creationId xmlns:a16="http://schemas.microsoft.com/office/drawing/2014/main" id="{0844C1E2-67B1-410A-8EB2-F103BAEBF38D}"/>
              </a:ext>
            </a:extLst>
          </p:cNvPr>
          <p:cNvSpPr/>
          <p:nvPr/>
        </p:nvSpPr>
        <p:spPr>
          <a:xfrm>
            <a:off x="7573963" y="3919538"/>
            <a:ext cx="1106487" cy="738187"/>
          </a:xfrm>
          <a:prstGeom prst="rect">
            <a:avLst/>
          </a:prstGeom>
          <a:noFill/>
        </p:spPr>
        <p:txBody>
          <a:bodyPr lIns="0" tIns="36000" rIns="0" bIns="0" anchor="b">
            <a:spAutoFit/>
          </a:bodyPr>
          <a:lstStyle/>
          <a:p>
            <a:pPr algn="ctr" eaLnBrk="1" hangingPunct="1">
              <a:lnSpc>
                <a:spcPct val="95000"/>
              </a:lnSpc>
              <a:defRPr/>
            </a:pPr>
            <a:r>
              <a:rPr lang="zh-CN" altLang="en-US" sz="2400" b="1" kern="0" dirty="0">
                <a:solidFill>
                  <a:srgbClr val="FF0000"/>
                </a:solidFill>
                <a:cs typeface="Times New Roman" panose="02020603050405020304" pitchFamily="18" charset="0"/>
              </a:rPr>
              <a:t>例</a:t>
            </a:r>
            <a:r>
              <a:rPr lang="en-US" altLang="zh-CN" sz="2400" b="1" kern="0" dirty="0">
                <a:solidFill>
                  <a:srgbClr val="FF0000"/>
                </a:solidFill>
                <a:cs typeface="Times New Roman" panose="02020603050405020304" pitchFamily="18" charset="0"/>
              </a:rPr>
              <a:t>:</a:t>
            </a:r>
            <a:r>
              <a:rPr lang="zh-CN" altLang="en-US" sz="2400" b="1" kern="0" dirty="0">
                <a:solidFill>
                  <a:srgbClr val="FF0000"/>
                </a:solidFill>
                <a:cs typeface="Times New Roman" panose="02020603050405020304" pitchFamily="18" charset="0"/>
              </a:rPr>
              <a:t>口线</a:t>
            </a:r>
            <a:r>
              <a:rPr lang="en-US" altLang="zh-CN" sz="2400" b="1" kern="0" dirty="0">
                <a:solidFill>
                  <a:srgbClr val="FF0000"/>
                </a:solidFill>
                <a:cs typeface="Times New Roman" panose="02020603050405020304" pitchFamily="18" charset="0"/>
              </a:rPr>
              <a:t>P3.2</a:t>
            </a:r>
            <a:endParaRPr lang="en-US" altLang="zh-CN" sz="2400" b="1" dirty="0">
              <a:solidFill>
                <a:srgbClr val="FF0000"/>
              </a:solidFill>
              <a:ea typeface="宋体" charset="-122"/>
              <a:cs typeface="Times New Roman" pitchFamily="18" charset="0"/>
            </a:endParaRPr>
          </a:p>
        </p:txBody>
      </p:sp>
      <p:sp>
        <p:nvSpPr>
          <p:cNvPr id="39" name="矩形 38">
            <a:extLst>
              <a:ext uri="{FF2B5EF4-FFF2-40B4-BE49-F238E27FC236}">
                <a16:creationId xmlns:a16="http://schemas.microsoft.com/office/drawing/2014/main" id="{8365215B-1312-4759-839C-F3412251AE02}"/>
              </a:ext>
            </a:extLst>
          </p:cNvPr>
          <p:cNvSpPr/>
          <p:nvPr/>
        </p:nvSpPr>
        <p:spPr>
          <a:xfrm>
            <a:off x="471488" y="4243388"/>
            <a:ext cx="1311275" cy="868362"/>
          </a:xfrm>
          <a:prstGeom prst="rect">
            <a:avLst/>
          </a:prstGeom>
          <a:noFill/>
        </p:spPr>
        <p:txBody>
          <a:bodyPr lIns="0" tIns="36000" rIns="0" bIns="0" anchor="b">
            <a:spAutoFit/>
          </a:bodyPr>
          <a:lstStyle/>
          <a:p>
            <a:pPr algn="ctr" eaLnBrk="1" hangingPunct="1">
              <a:lnSpc>
                <a:spcPct val="75000"/>
              </a:lnSpc>
              <a:defRPr/>
            </a:pPr>
            <a:r>
              <a:rPr lang="zh-CN" altLang="en-US" sz="2400" b="1" kern="0" dirty="0">
                <a:solidFill>
                  <a:srgbClr val="0000FF"/>
                </a:solidFill>
                <a:cs typeface="Times New Roman" panose="02020603050405020304" pitchFamily="18" charset="0"/>
              </a:rPr>
              <a:t>例</a:t>
            </a:r>
            <a:r>
              <a:rPr lang="en-US" altLang="zh-CN" sz="2400" b="1" kern="0" dirty="0">
                <a:solidFill>
                  <a:srgbClr val="0000FF"/>
                </a:solidFill>
                <a:cs typeface="Times New Roman" panose="02020603050405020304" pitchFamily="18" charset="0"/>
              </a:rPr>
              <a:t>:</a:t>
            </a:r>
            <a:r>
              <a:rPr lang="zh-CN" altLang="en-US" sz="2400" b="1" kern="0" dirty="0">
                <a:solidFill>
                  <a:srgbClr val="0000FF"/>
                </a:solidFill>
                <a:cs typeface="Times New Roman" panose="02020603050405020304" pitchFamily="18" charset="0"/>
              </a:rPr>
              <a:t>口线</a:t>
            </a:r>
            <a:r>
              <a:rPr lang="en-US" altLang="zh-CN" sz="2400" b="1" kern="0" dirty="0">
                <a:solidFill>
                  <a:srgbClr val="0000FF"/>
                </a:solidFill>
                <a:cs typeface="Times New Roman" panose="02020603050405020304" pitchFamily="18" charset="0"/>
              </a:rPr>
              <a:t>P3.2</a:t>
            </a:r>
            <a:r>
              <a:rPr lang="zh-CN" altLang="en-US" sz="2400" b="1" kern="0" dirty="0">
                <a:solidFill>
                  <a:srgbClr val="0000FF"/>
                </a:solidFill>
                <a:cs typeface="Times New Roman" panose="02020603050405020304" pitchFamily="18" charset="0"/>
              </a:rPr>
              <a:t>的锁存器位</a:t>
            </a:r>
            <a:endParaRPr lang="en-US" altLang="zh-CN" sz="2400" b="1" dirty="0">
              <a:solidFill>
                <a:srgbClr val="0000FF"/>
              </a:solidFill>
              <a:ea typeface="宋体" charset="-122"/>
              <a:cs typeface="Times New Roman"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5">
            <a:extLst>
              <a:ext uri="{FF2B5EF4-FFF2-40B4-BE49-F238E27FC236}">
                <a16:creationId xmlns:a16="http://schemas.microsoft.com/office/drawing/2014/main" id="{9A9CAC52-006B-424E-B33C-BD2DDB2E3571}"/>
              </a:ext>
            </a:extLst>
          </p:cNvPr>
          <p:cNvSpPr>
            <a:spLocks noGrp="1" noChangeArrowheads="1"/>
          </p:cNvSpPr>
          <p:nvPr>
            <p:ph type="title"/>
          </p:nvPr>
        </p:nvSpPr>
        <p:spPr>
          <a:xfrm>
            <a:off x="346075" y="357188"/>
            <a:ext cx="8351838" cy="504825"/>
          </a:xfrm>
        </p:spPr>
        <p:txBody>
          <a:bodyPr>
            <a:noAutofit/>
          </a:bodyPr>
          <a:lstStyle/>
          <a:p>
            <a:pPr eaLnBrk="1" hangingPunct="1"/>
            <a:r>
              <a:rPr kumimoji="1" lang="en-US" altLang="zh-CN" sz="3600" dirty="0"/>
              <a:t>4. </a:t>
            </a:r>
            <a:r>
              <a:rPr lang="en-US" altLang="zh-CN" sz="3600" dirty="0">
                <a:solidFill>
                  <a:srgbClr val="FF0000"/>
                </a:solidFill>
              </a:rPr>
              <a:t>IAP15W4K58S4</a:t>
            </a:r>
            <a:r>
              <a:rPr kumimoji="1" lang="zh-CN" altLang="en-US" sz="3600" dirty="0"/>
              <a:t>单片机的</a:t>
            </a:r>
            <a:r>
              <a:rPr kumimoji="1" lang="en-US" altLang="zh-CN" sz="3600" dirty="0"/>
              <a:t>I/O</a:t>
            </a:r>
            <a:r>
              <a:rPr kumimoji="1" lang="zh-CN" altLang="en-US" sz="3600" dirty="0"/>
              <a:t>口的使用</a:t>
            </a:r>
          </a:p>
        </p:txBody>
      </p:sp>
      <p:sp>
        <p:nvSpPr>
          <p:cNvPr id="185348" name="Rectangle 4">
            <a:extLst>
              <a:ext uri="{FF2B5EF4-FFF2-40B4-BE49-F238E27FC236}">
                <a16:creationId xmlns:a16="http://schemas.microsoft.com/office/drawing/2014/main" id="{2A0E0BBC-BB86-453C-B24A-5725207740F3}"/>
              </a:ext>
            </a:extLst>
          </p:cNvPr>
          <p:cNvSpPr>
            <a:spLocks noGrp="1" noChangeArrowheads="1"/>
          </p:cNvSpPr>
          <p:nvPr>
            <p:ph idx="1"/>
          </p:nvPr>
        </p:nvSpPr>
        <p:spPr>
          <a:xfrm>
            <a:off x="261937" y="1253672"/>
            <a:ext cx="8620125" cy="1122816"/>
          </a:xfrm>
        </p:spPr>
        <p:txBody>
          <a:bodyPr/>
          <a:lstStyle/>
          <a:p>
            <a:pPr eaLnBrk="1" hangingPunct="1">
              <a:lnSpc>
                <a:spcPct val="100000"/>
              </a:lnSpc>
              <a:spcBef>
                <a:spcPct val="0"/>
              </a:spcBef>
              <a:buFontTx/>
              <a:buNone/>
            </a:pPr>
            <a:r>
              <a:rPr kumimoji="1" lang="en-US" altLang="zh-CN" dirty="0">
                <a:solidFill>
                  <a:srgbClr val="FF0000"/>
                </a:solidFill>
              </a:rPr>
              <a:t> (1)   P4</a:t>
            </a:r>
            <a:r>
              <a:rPr kumimoji="1" lang="zh-CN" altLang="en-US" dirty="0">
                <a:solidFill>
                  <a:srgbClr val="FF0000"/>
                </a:solidFill>
              </a:rPr>
              <a:t>口和</a:t>
            </a:r>
            <a:r>
              <a:rPr kumimoji="1" lang="en-US" altLang="zh-CN" dirty="0">
                <a:solidFill>
                  <a:srgbClr val="FF0000"/>
                </a:solidFill>
              </a:rPr>
              <a:t>P5</a:t>
            </a:r>
            <a:r>
              <a:rPr kumimoji="1" lang="zh-CN" altLang="en-US" dirty="0">
                <a:solidFill>
                  <a:srgbClr val="FF0000"/>
                </a:solidFill>
              </a:rPr>
              <a:t>口的使用</a:t>
            </a:r>
          </a:p>
          <a:p>
            <a:pPr eaLnBrk="1" hangingPunct="1">
              <a:lnSpc>
                <a:spcPct val="100000"/>
              </a:lnSpc>
              <a:spcBef>
                <a:spcPct val="0"/>
              </a:spcBef>
            </a:pPr>
            <a:r>
              <a:rPr kumimoji="1" lang="zh-CN" altLang="en-US" dirty="0"/>
              <a:t>对</a:t>
            </a:r>
            <a:r>
              <a:rPr kumimoji="1" lang="en-US" altLang="zh-CN" dirty="0">
                <a:hlinkClick r:id="rId2" action="ppaction://hlinksldjump"/>
              </a:rPr>
              <a:t>IAP15W4K58S4</a:t>
            </a:r>
            <a:r>
              <a:rPr kumimoji="1" lang="zh-CN" altLang="en-US" dirty="0"/>
              <a:t>单片机</a:t>
            </a:r>
            <a:r>
              <a:rPr kumimoji="1" lang="en-US" altLang="zh-CN" dirty="0">
                <a:hlinkClick r:id="" action="ppaction://noaction"/>
              </a:rPr>
              <a:t>P4</a:t>
            </a:r>
            <a:r>
              <a:rPr kumimoji="1" lang="zh-CN" altLang="en-US" dirty="0">
                <a:hlinkClick r:id="" action="ppaction://noaction"/>
              </a:rPr>
              <a:t>口</a:t>
            </a:r>
            <a:r>
              <a:rPr kumimoji="1" lang="zh-CN" altLang="en-US" dirty="0"/>
              <a:t>和</a:t>
            </a:r>
            <a:r>
              <a:rPr kumimoji="1" lang="en-US" altLang="zh-CN" dirty="0">
                <a:hlinkClick r:id="" action="ppaction://noaction"/>
              </a:rPr>
              <a:t>P5</a:t>
            </a:r>
            <a:r>
              <a:rPr kumimoji="1" lang="zh-CN" altLang="en-US" dirty="0">
                <a:hlinkClick r:id="" action="ppaction://noaction"/>
              </a:rPr>
              <a:t>口</a:t>
            </a:r>
            <a:r>
              <a:rPr kumimoji="1" lang="zh-CN" altLang="en-US" dirty="0"/>
              <a:t>的访问，如同访问常规的</a:t>
            </a:r>
            <a:r>
              <a:rPr kumimoji="1" lang="en-US" altLang="zh-CN" dirty="0"/>
              <a:t>P0/P1/P2/P3</a:t>
            </a:r>
            <a:r>
              <a:rPr kumimoji="1" lang="zh-CN" altLang="en-US" dirty="0"/>
              <a:t>口一样，并且均</a:t>
            </a:r>
            <a:r>
              <a:rPr kumimoji="1" lang="zh-CN" altLang="en-US" dirty="0">
                <a:solidFill>
                  <a:srgbClr val="FF00FF"/>
                </a:solidFill>
              </a:rPr>
              <a:t>可按位寻址</a:t>
            </a:r>
            <a:r>
              <a:rPr kumimoji="1" lang="zh-CN" altLang="en-US" dirty="0"/>
              <a:t>，</a:t>
            </a:r>
            <a:r>
              <a:rPr kumimoji="1" lang="en-US" altLang="zh-CN" dirty="0">
                <a:solidFill>
                  <a:srgbClr val="FF00FF"/>
                </a:solidFill>
              </a:rPr>
              <a:t>P4</a:t>
            </a:r>
            <a:r>
              <a:rPr kumimoji="1" lang="zh-CN" altLang="en-US" dirty="0">
                <a:solidFill>
                  <a:srgbClr val="FF00FF"/>
                </a:solidFill>
              </a:rPr>
              <a:t>口</a:t>
            </a:r>
            <a:r>
              <a:rPr kumimoji="1" lang="zh-CN" altLang="en-US" dirty="0"/>
              <a:t>的地址</a:t>
            </a:r>
            <a:r>
              <a:rPr kumimoji="1" lang="en-US" altLang="zh-CN" dirty="0">
                <a:solidFill>
                  <a:srgbClr val="FF00FF"/>
                </a:solidFill>
                <a:hlinkClick r:id="rId3" action="ppaction://hlinksldjump"/>
              </a:rPr>
              <a:t>C0H</a:t>
            </a:r>
            <a:r>
              <a:rPr kumimoji="1" lang="zh-CN" altLang="en-US" dirty="0"/>
              <a:t>，</a:t>
            </a:r>
            <a:r>
              <a:rPr kumimoji="1" lang="en-US" altLang="zh-CN" dirty="0">
                <a:solidFill>
                  <a:srgbClr val="FF00FF"/>
                </a:solidFill>
              </a:rPr>
              <a:t>P5</a:t>
            </a:r>
            <a:r>
              <a:rPr kumimoji="1" lang="zh-CN" altLang="en-US" dirty="0"/>
              <a:t>的地址在</a:t>
            </a:r>
            <a:r>
              <a:rPr kumimoji="1" lang="en-US" altLang="zh-CN" dirty="0">
                <a:solidFill>
                  <a:srgbClr val="FF00FF"/>
                </a:solidFill>
              </a:rPr>
              <a:t>C8H</a:t>
            </a:r>
            <a:r>
              <a:rPr kumimoji="1" lang="zh-CN" altLang="en-US" dirty="0"/>
              <a:t>。</a:t>
            </a:r>
          </a:p>
          <a:p>
            <a:pPr eaLnBrk="1" hangingPunct="1">
              <a:lnSpc>
                <a:spcPct val="100000"/>
              </a:lnSpc>
              <a:spcBef>
                <a:spcPct val="0"/>
              </a:spcBef>
            </a:pPr>
            <a:endParaRPr kumimoji="1" lang="en-US" altLang="zh-CN" dirty="0"/>
          </a:p>
        </p:txBody>
      </p:sp>
      <p:sp>
        <p:nvSpPr>
          <p:cNvPr id="6" name="Rectangle 3">
            <a:extLst>
              <a:ext uri="{FF2B5EF4-FFF2-40B4-BE49-F238E27FC236}">
                <a16:creationId xmlns:a16="http://schemas.microsoft.com/office/drawing/2014/main" id="{86A70157-B755-4C04-8900-C893BF469224}"/>
              </a:ext>
            </a:extLst>
          </p:cNvPr>
          <p:cNvSpPr txBox="1">
            <a:spLocks noChangeArrowheads="1"/>
          </p:cNvSpPr>
          <p:nvPr/>
        </p:nvSpPr>
        <p:spPr bwMode="auto">
          <a:xfrm>
            <a:off x="130175" y="2332945"/>
            <a:ext cx="6372225" cy="278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4"/>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100000"/>
              </a:lnSpc>
              <a:spcBef>
                <a:spcPts val="0"/>
              </a:spcBef>
              <a:buFontTx/>
              <a:buNone/>
              <a:defRPr/>
            </a:pPr>
            <a:r>
              <a:rPr kumimoji="1" lang="en-US" altLang="zh-CN" dirty="0">
                <a:solidFill>
                  <a:srgbClr val="FF0000"/>
                </a:solidFill>
              </a:rPr>
              <a:t>(2) </a:t>
            </a:r>
            <a:r>
              <a:rPr kumimoji="1" lang="zh-CN" altLang="en-US" kern="0" dirty="0">
                <a:solidFill>
                  <a:srgbClr val="FF0000"/>
                </a:solidFill>
              </a:rPr>
              <a:t>上拉电阻的连接</a:t>
            </a:r>
          </a:p>
          <a:p>
            <a:pPr eaLnBrk="1" hangingPunct="1">
              <a:lnSpc>
                <a:spcPct val="100000"/>
              </a:lnSpc>
              <a:spcBef>
                <a:spcPts val="0"/>
              </a:spcBef>
              <a:defRPr/>
            </a:pPr>
            <a:r>
              <a:rPr kumimoji="1" lang="zh-CN" altLang="en-US" kern="0" dirty="0"/>
              <a:t>虽然作为</a:t>
            </a:r>
            <a:r>
              <a:rPr kumimoji="1" lang="zh-CN" altLang="en-US" kern="0" dirty="0">
                <a:solidFill>
                  <a:srgbClr val="FF0000"/>
                </a:solidFill>
              </a:rPr>
              <a:t>准双向口使用时</a:t>
            </a:r>
            <a:r>
              <a:rPr kumimoji="1" lang="en-US" altLang="zh-CN" kern="0" dirty="0"/>
              <a:t>,</a:t>
            </a:r>
            <a:r>
              <a:rPr kumimoji="1" lang="zh-CN" altLang="en-US" kern="0" dirty="0"/>
              <a:t>单片机内部已集成了上拉场效应管</a:t>
            </a:r>
            <a:r>
              <a:rPr kumimoji="1" lang="en-US" altLang="zh-CN" kern="0" dirty="0"/>
              <a:t>,</a:t>
            </a:r>
            <a:r>
              <a:rPr kumimoji="1" lang="zh-CN" altLang="en-US" kern="0" dirty="0"/>
              <a:t>但在实际应用时</a:t>
            </a:r>
            <a:r>
              <a:rPr kumimoji="1" lang="en-US" altLang="zh-CN" kern="0" dirty="0"/>
              <a:t>,</a:t>
            </a:r>
            <a:r>
              <a:rPr kumimoji="1" lang="zh-CN" altLang="en-US" kern="0" dirty="0"/>
              <a:t>一般情况下</a:t>
            </a:r>
            <a:r>
              <a:rPr kumimoji="1" lang="en-US" altLang="zh-CN" kern="0" dirty="0"/>
              <a:t>,</a:t>
            </a:r>
            <a:r>
              <a:rPr kumimoji="1" lang="zh-CN" altLang="en-US" kern="0" dirty="0">
                <a:solidFill>
                  <a:srgbClr val="CC3300"/>
                </a:solidFill>
              </a:rPr>
              <a:t>最好还是外接上拉电阻。</a:t>
            </a:r>
            <a:r>
              <a:rPr kumimoji="1" lang="zh-CN" altLang="en-US" kern="0" dirty="0"/>
              <a:t>例如</a:t>
            </a:r>
            <a:r>
              <a:rPr kumimoji="1" lang="en-US" altLang="zh-CN" kern="0" dirty="0"/>
              <a:t>,</a:t>
            </a:r>
            <a:r>
              <a:rPr kumimoji="1" lang="zh-CN" altLang="en-US" kern="0" dirty="0"/>
              <a:t>当外接的是</a:t>
            </a:r>
            <a:r>
              <a:rPr kumimoji="1" lang="en-US" altLang="zh-CN" kern="0" dirty="0"/>
              <a:t>SPI/I</a:t>
            </a:r>
            <a:r>
              <a:rPr kumimoji="1" lang="en-US" altLang="zh-CN" kern="0" baseline="30000" dirty="0"/>
              <a:t>2</a:t>
            </a:r>
            <a:r>
              <a:rPr kumimoji="1" lang="en-US" altLang="zh-CN" kern="0" dirty="0"/>
              <a:t>C</a:t>
            </a:r>
            <a:r>
              <a:rPr kumimoji="1" lang="zh-CN" altLang="en-US" kern="0" dirty="0"/>
              <a:t>等漏极开漏的电路时。</a:t>
            </a:r>
          </a:p>
          <a:p>
            <a:pPr eaLnBrk="1" hangingPunct="1">
              <a:lnSpc>
                <a:spcPct val="100000"/>
              </a:lnSpc>
              <a:spcBef>
                <a:spcPts val="0"/>
              </a:spcBef>
              <a:buFontTx/>
              <a:buNone/>
              <a:defRPr/>
            </a:pPr>
            <a:endParaRPr kumimoji="1" lang="zh-CN" altLang="en-US" kern="0" dirty="0"/>
          </a:p>
          <a:p>
            <a:pPr eaLnBrk="1" hangingPunct="1">
              <a:lnSpc>
                <a:spcPct val="100000"/>
              </a:lnSpc>
              <a:spcBef>
                <a:spcPts val="0"/>
              </a:spcBef>
              <a:buFontTx/>
              <a:buNone/>
              <a:defRPr/>
            </a:pPr>
            <a:endParaRPr lang="en-US" altLang="zh-CN" kern="0" dirty="0"/>
          </a:p>
        </p:txBody>
      </p:sp>
      <p:sp>
        <p:nvSpPr>
          <p:cNvPr id="8" name="Rectangle 3">
            <a:extLst>
              <a:ext uri="{FF2B5EF4-FFF2-40B4-BE49-F238E27FC236}">
                <a16:creationId xmlns:a16="http://schemas.microsoft.com/office/drawing/2014/main" id="{135DD0D0-C7D0-4D9E-9CCC-89E0775E994B}"/>
              </a:ext>
            </a:extLst>
          </p:cNvPr>
          <p:cNvSpPr txBox="1">
            <a:spLocks noChangeArrowheads="1"/>
          </p:cNvSpPr>
          <p:nvPr/>
        </p:nvSpPr>
        <p:spPr bwMode="auto">
          <a:xfrm>
            <a:off x="130175" y="5111524"/>
            <a:ext cx="8737600" cy="1131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spcBef>
                <a:spcPct val="20000"/>
              </a:spcBef>
              <a:spcAft>
                <a:spcPct val="0"/>
              </a:spcAft>
              <a:buBlip>
                <a:blip r:embed="rId4"/>
              </a:buBlip>
              <a:defRPr sz="3200" b="1">
                <a:solidFill>
                  <a:schemeClr val="accent2"/>
                </a:solidFill>
                <a:latin typeface="+mn-lt"/>
                <a:ea typeface="+mn-ea"/>
                <a:cs typeface="+mn-cs"/>
              </a:defRPr>
            </a:lvl1pPr>
            <a:lvl2pPr marL="742950" indent="-285750" algn="just" rtl="0" fontAlgn="base">
              <a:spcBef>
                <a:spcPct val="20000"/>
              </a:spcBef>
              <a:spcAft>
                <a:spcPct val="0"/>
              </a:spcAft>
              <a:buBlip>
                <a:blip r:embed="rId5"/>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defRPr/>
            </a:pPr>
            <a:r>
              <a:rPr kumimoji="1" lang="zh-CN" altLang="en-US" sz="2800" kern="0" dirty="0">
                <a:latin typeface="+mj-ea"/>
                <a:ea typeface="+mj-ea"/>
              </a:rPr>
              <a:t>以</a:t>
            </a:r>
            <a:r>
              <a:rPr kumimoji="1" lang="en-US" altLang="zh-CN" sz="2800" kern="0" dirty="0">
                <a:solidFill>
                  <a:srgbClr val="FF0000"/>
                </a:solidFill>
                <a:latin typeface="+mj-ea"/>
                <a:ea typeface="+mj-ea"/>
              </a:rPr>
              <a:t>P0.0</a:t>
            </a:r>
            <a:r>
              <a:rPr kumimoji="1" lang="zh-CN" altLang="en-US" sz="2800" kern="0" dirty="0">
                <a:solidFill>
                  <a:srgbClr val="FF0000"/>
                </a:solidFill>
                <a:latin typeface="+mj-ea"/>
                <a:ea typeface="+mj-ea"/>
              </a:rPr>
              <a:t>为例</a:t>
            </a:r>
            <a:r>
              <a:rPr kumimoji="1" lang="en-US" altLang="zh-CN" sz="2800" kern="0" dirty="0">
                <a:latin typeface="+mj-ea"/>
                <a:ea typeface="+mj-ea"/>
              </a:rPr>
              <a:t>,</a:t>
            </a:r>
            <a:r>
              <a:rPr kumimoji="1" lang="zh-CN" altLang="en-US" sz="2800" kern="0" dirty="0">
                <a:latin typeface="+mj-ea"/>
                <a:ea typeface="+mj-ea"/>
              </a:rPr>
              <a:t>电路连接如图所示。典型上拉电阻阻值为</a:t>
            </a:r>
            <a:r>
              <a:rPr kumimoji="1" lang="en-US" altLang="zh-CN" sz="2800" kern="0" dirty="0">
                <a:latin typeface="+mj-ea"/>
                <a:ea typeface="+mj-ea"/>
              </a:rPr>
              <a:t>5.1K</a:t>
            </a:r>
            <a:r>
              <a:rPr kumimoji="1" lang="en-US" altLang="zh-CN" sz="2800" kern="0" dirty="0">
                <a:latin typeface="+mj-ea"/>
                <a:ea typeface="+mj-ea"/>
                <a:sym typeface="Symbol" pitchFamily="18" charset="2"/>
              </a:rPr>
              <a:t></a:t>
            </a:r>
            <a:r>
              <a:rPr kumimoji="1" lang="zh-CN" altLang="en-US" sz="2800" kern="0" dirty="0">
                <a:latin typeface="+mj-ea"/>
                <a:ea typeface="+mj-ea"/>
              </a:rPr>
              <a:t>或者</a:t>
            </a:r>
            <a:r>
              <a:rPr kumimoji="1" lang="en-US" altLang="zh-CN" sz="2800" kern="0" dirty="0">
                <a:latin typeface="+mj-ea"/>
                <a:ea typeface="+mj-ea"/>
              </a:rPr>
              <a:t>10K</a:t>
            </a:r>
            <a:r>
              <a:rPr kumimoji="1" lang="en-US" altLang="zh-CN" sz="2800" kern="0" dirty="0">
                <a:latin typeface="+mj-ea"/>
                <a:ea typeface="+mj-ea"/>
                <a:sym typeface="Symbol" pitchFamily="18" charset="2"/>
              </a:rPr>
              <a:t></a:t>
            </a:r>
            <a:r>
              <a:rPr kumimoji="1" lang="zh-CN" altLang="en-US" sz="2800" kern="0" dirty="0">
                <a:latin typeface="+mj-ea"/>
                <a:ea typeface="+mj-ea"/>
              </a:rPr>
              <a:t>。</a:t>
            </a:r>
          </a:p>
          <a:p>
            <a:pPr eaLnBrk="1" hangingPunct="1">
              <a:defRPr/>
            </a:pPr>
            <a:endParaRPr lang="en-US" altLang="zh-CN" sz="2800" kern="0" dirty="0">
              <a:latin typeface="+mj-ea"/>
              <a:ea typeface="+mj-ea"/>
            </a:endParaRPr>
          </a:p>
        </p:txBody>
      </p:sp>
      <p:sp>
        <p:nvSpPr>
          <p:cNvPr id="5" name="灯片编号占位符 4">
            <a:extLst>
              <a:ext uri="{FF2B5EF4-FFF2-40B4-BE49-F238E27FC236}">
                <a16:creationId xmlns:a16="http://schemas.microsoft.com/office/drawing/2014/main" id="{09929D33-4C3F-4753-AD45-E73766F4945B}"/>
              </a:ext>
            </a:extLst>
          </p:cNvPr>
          <p:cNvSpPr>
            <a:spLocks noGrp="1"/>
          </p:cNvSpPr>
          <p:nvPr>
            <p:ph type="sldNum" sz="quarter" idx="10"/>
          </p:nvPr>
        </p:nvSpPr>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a:fld id="{26C03635-F795-497A-AE23-29116E18029C}" type="slidenum">
              <a:rPr lang="en-US" altLang="zh-CN">
                <a:latin typeface="Arial" panose="020B0604020202020204" pitchFamily="34" charset="0"/>
              </a:rPr>
              <a:pPr algn="l"/>
              <a:t>75</a:t>
            </a:fld>
            <a:endParaRPr lang="en-US" altLang="zh-CN">
              <a:latin typeface="Arial" panose="020B0604020202020204" pitchFamily="34" charset="0"/>
            </a:endParaRPr>
          </a:p>
        </p:txBody>
      </p:sp>
      <p:pic>
        <p:nvPicPr>
          <p:cNvPr id="9" name="Picture 9">
            <a:extLst>
              <a:ext uri="{FF2B5EF4-FFF2-40B4-BE49-F238E27FC236}">
                <a16:creationId xmlns:a16="http://schemas.microsoft.com/office/drawing/2014/main" id="{17E0E4D9-CA13-4565-A658-06D8965B67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2400" y="2376488"/>
            <a:ext cx="2481263"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185348">
                                            <p:txEl>
                                              <p:pRg st="0" end="0"/>
                                            </p:txEl>
                                          </p:spTgt>
                                        </p:tgtEl>
                                        <p:attrNameLst>
                                          <p:attrName>style.visibility</p:attrName>
                                        </p:attrNameLst>
                                      </p:cBhvr>
                                      <p:to>
                                        <p:strVal val="visible"/>
                                      </p:to>
                                    </p:set>
                                    <p:animEffect transition="in" filter="fade">
                                      <p:cBhvr>
                                        <p:cTn id="7" dur="1000"/>
                                        <p:tgtEl>
                                          <p:spTgt spid="185348">
                                            <p:txEl>
                                              <p:pRg st="0" end="0"/>
                                            </p:txEl>
                                          </p:spTgt>
                                        </p:tgtEl>
                                      </p:cBhvr>
                                    </p:animEffect>
                                    <p:anim calcmode="lin" valueType="num">
                                      <p:cBhvr>
                                        <p:cTn id="8" dur="1000" fill="hold"/>
                                        <p:tgtEl>
                                          <p:spTgt spid="18534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534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85348">
                                            <p:txEl>
                                              <p:pRg st="1" end="1"/>
                                            </p:txEl>
                                          </p:spTgt>
                                        </p:tgtEl>
                                        <p:attrNameLst>
                                          <p:attrName>style.visibility</p:attrName>
                                        </p:attrNameLst>
                                      </p:cBhvr>
                                      <p:to>
                                        <p:strVal val="visible"/>
                                      </p:to>
                                    </p:set>
                                    <p:animEffect transition="in" filter="fade">
                                      <p:cBhvr>
                                        <p:cTn id="12" dur="1000"/>
                                        <p:tgtEl>
                                          <p:spTgt spid="185348">
                                            <p:txEl>
                                              <p:pRg st="1" end="1"/>
                                            </p:txEl>
                                          </p:spTgt>
                                        </p:tgtEl>
                                      </p:cBhvr>
                                    </p:animEffect>
                                    <p:anim calcmode="lin" valueType="num">
                                      <p:cBhvr>
                                        <p:cTn id="13" dur="1000" fill="hold"/>
                                        <p:tgtEl>
                                          <p:spTgt spid="18534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8534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wipe(left)">
                                      <p:cBhvr>
                                        <p:cTn id="19" dur="500"/>
                                        <p:tgtEl>
                                          <p:spTgt spid="6">
                                            <p:txEl>
                                              <p:pRg st="0" end="0"/>
                                            </p:txEl>
                                          </p:spTgt>
                                        </p:tgtEl>
                                      </p:cBhvr>
                                    </p:animEffect>
                                  </p:childTnLst>
                                </p:cTn>
                              </p:par>
                            </p:childTnLst>
                          </p:cTn>
                        </p:par>
                        <p:par>
                          <p:cTn id="20" fill="hold" nodeType="afterGroup">
                            <p:stCondLst>
                              <p:cond delay="500"/>
                            </p:stCondLst>
                            <p:childTnLst>
                              <p:par>
                                <p:cTn id="21" presetID="22" presetClass="entr" presetSubtype="4"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500"/>
                                        <p:tgtEl>
                                          <p:spTgt spid="9"/>
                                        </p:tgtEl>
                                      </p:cBhvr>
                                    </p:animEffect>
                                  </p:childTnLst>
                                </p:cTn>
                              </p:par>
                            </p:childTnLst>
                          </p:cTn>
                        </p:par>
                        <p:par>
                          <p:cTn id="24" fill="hold" nodeType="afterGroup">
                            <p:stCondLst>
                              <p:cond delay="1000"/>
                            </p:stCondLst>
                            <p:childTnLst>
                              <p:par>
                                <p:cTn id="25" presetID="42" presetClass="entr" presetSubtype="0" fill="hold" nodeType="after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animEffect transition="in" filter="fade">
                                      <p:cBhvr>
                                        <p:cTn id="27" dur="1000"/>
                                        <p:tgtEl>
                                          <p:spTgt spid="6">
                                            <p:txEl>
                                              <p:pRg st="1" end="1"/>
                                            </p:txEl>
                                          </p:spTgt>
                                        </p:tgtEl>
                                      </p:cBhvr>
                                    </p:animEffect>
                                    <p:anim calcmode="lin" valueType="num">
                                      <p:cBhvr>
                                        <p:cTn id="28"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9"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par>
                          <p:cTn id="30" fill="hold" nodeType="afterGroup">
                            <p:stCondLst>
                              <p:cond delay="2000"/>
                            </p:stCondLst>
                            <p:childTnLst>
                              <p:par>
                                <p:cTn id="31" presetID="12" presetClass="entr" presetSubtype="4" fill="hold" nodeType="after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Effect transition="in" filter="slide(fromBottom)">
                                      <p:cBhvr>
                                        <p:cTn id="33"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标题 2">
            <a:extLst>
              <a:ext uri="{FF2B5EF4-FFF2-40B4-BE49-F238E27FC236}">
                <a16:creationId xmlns:a16="http://schemas.microsoft.com/office/drawing/2014/main" id="{0681AF4A-B9F2-4B31-8938-35564431009F}"/>
              </a:ext>
            </a:extLst>
          </p:cNvPr>
          <p:cNvSpPr>
            <a:spLocks noGrp="1" noChangeArrowheads="1"/>
          </p:cNvSpPr>
          <p:nvPr>
            <p:ph type="title"/>
          </p:nvPr>
        </p:nvSpPr>
        <p:spPr>
          <a:xfrm>
            <a:off x="468313" y="357188"/>
            <a:ext cx="8229600" cy="504825"/>
          </a:xfrm>
        </p:spPr>
        <p:txBody>
          <a:bodyPr>
            <a:normAutofit fontScale="90000"/>
          </a:bodyPr>
          <a:lstStyle/>
          <a:p>
            <a:pPr eaLnBrk="1" hangingPunct="1"/>
            <a:r>
              <a:rPr kumimoji="1" lang="en-US" altLang="zh-CN" dirty="0">
                <a:solidFill>
                  <a:srgbClr val="FF0000"/>
                </a:solidFill>
              </a:rPr>
              <a:t>(3)  </a:t>
            </a:r>
            <a:r>
              <a:rPr lang="zh-CN" altLang="en-US" dirty="0"/>
              <a:t>拉电流方式和灌电流方式</a:t>
            </a:r>
          </a:p>
        </p:txBody>
      </p:sp>
      <p:sp>
        <p:nvSpPr>
          <p:cNvPr id="533507" name="Rectangle 3">
            <a:extLst>
              <a:ext uri="{FF2B5EF4-FFF2-40B4-BE49-F238E27FC236}">
                <a16:creationId xmlns:a16="http://schemas.microsoft.com/office/drawing/2014/main" id="{2223F920-2A95-4B41-BFD2-092297DA09C2}"/>
              </a:ext>
            </a:extLst>
          </p:cNvPr>
          <p:cNvSpPr>
            <a:spLocks noGrp="1" noChangeArrowheads="1"/>
          </p:cNvSpPr>
          <p:nvPr>
            <p:ph idx="1"/>
          </p:nvPr>
        </p:nvSpPr>
        <p:spPr>
          <a:xfrm>
            <a:off x="134938" y="1371601"/>
            <a:ext cx="8834437" cy="1357312"/>
          </a:xfrm>
        </p:spPr>
        <p:txBody>
          <a:bodyPr/>
          <a:lstStyle/>
          <a:p>
            <a:pPr eaLnBrk="1" hangingPunct="1"/>
            <a:r>
              <a:rPr lang="en-US" altLang="zh-CN" dirty="0"/>
              <a:t>IAP15W4K58S4</a:t>
            </a:r>
            <a:r>
              <a:rPr lang="zh-CN" altLang="en-US" dirty="0"/>
              <a:t>单片机</a:t>
            </a:r>
            <a:r>
              <a:rPr lang="en-US" altLang="zh-CN" dirty="0"/>
              <a:t>I/O</a:t>
            </a:r>
            <a:r>
              <a:rPr lang="zh-CN" altLang="en-US" dirty="0"/>
              <a:t>口线作为输出可提供</a:t>
            </a:r>
            <a:r>
              <a:rPr lang="en-US" altLang="zh-CN" dirty="0"/>
              <a:t>20mA</a:t>
            </a:r>
            <a:r>
              <a:rPr lang="zh-CN" altLang="en-US" dirty="0"/>
              <a:t>的驱动能力</a:t>
            </a:r>
            <a:r>
              <a:rPr lang="en-US" altLang="zh-CN" dirty="0"/>
              <a:t>, </a:t>
            </a:r>
            <a:r>
              <a:rPr lang="zh-CN" altLang="en-US" dirty="0"/>
              <a:t>使用时</a:t>
            </a:r>
            <a:r>
              <a:rPr lang="en-US" altLang="zh-CN" dirty="0"/>
              <a:t>, </a:t>
            </a:r>
            <a:r>
              <a:rPr lang="zh-CN" altLang="en-US" dirty="0"/>
              <a:t>可采用</a:t>
            </a:r>
            <a:r>
              <a:rPr lang="zh-CN" altLang="en-US" dirty="0">
                <a:solidFill>
                  <a:srgbClr val="CC3300"/>
                </a:solidFill>
              </a:rPr>
              <a:t>拉电流</a:t>
            </a:r>
            <a:r>
              <a:rPr lang="zh-CN" altLang="en-US" dirty="0"/>
              <a:t>或</a:t>
            </a:r>
            <a:r>
              <a:rPr lang="zh-CN" altLang="en-US" dirty="0">
                <a:solidFill>
                  <a:srgbClr val="CC3300"/>
                </a:solidFill>
              </a:rPr>
              <a:t>灌电流</a:t>
            </a:r>
            <a:r>
              <a:rPr lang="zh-CN" altLang="en-US" dirty="0"/>
              <a:t>方式。</a:t>
            </a:r>
          </a:p>
          <a:p>
            <a:pPr eaLnBrk="1" hangingPunct="1"/>
            <a:r>
              <a:rPr lang="zh-CN" altLang="en-US" dirty="0"/>
              <a:t>以</a:t>
            </a:r>
            <a:r>
              <a:rPr lang="en-US" altLang="zh-CN" dirty="0"/>
              <a:t>P0.0</a:t>
            </a:r>
            <a:r>
              <a:rPr lang="zh-CN" altLang="en-US" dirty="0"/>
              <a:t>控制发光二极管电路为例，电路连接如图所示。</a:t>
            </a:r>
          </a:p>
          <a:p>
            <a:pPr eaLnBrk="1" hangingPunct="1"/>
            <a:endParaRPr lang="en-US" altLang="zh-CN" dirty="0"/>
          </a:p>
        </p:txBody>
      </p:sp>
      <p:sp>
        <p:nvSpPr>
          <p:cNvPr id="142341" name="Rectangle 9">
            <a:extLst>
              <a:ext uri="{FF2B5EF4-FFF2-40B4-BE49-F238E27FC236}">
                <a16:creationId xmlns:a16="http://schemas.microsoft.com/office/drawing/2014/main" id="{9B036049-1455-4086-9E55-D26CE7A4D1C9}"/>
              </a:ext>
            </a:extLst>
          </p:cNvPr>
          <p:cNvSpPr>
            <a:spLocks noChangeArrowheads="1"/>
          </p:cNvSpPr>
          <p:nvPr/>
        </p:nvSpPr>
        <p:spPr bwMode="auto">
          <a:xfrm>
            <a:off x="0" y="2519363"/>
            <a:ext cx="9144000" cy="0"/>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33514" name="Rectangle 10">
            <a:extLst>
              <a:ext uri="{FF2B5EF4-FFF2-40B4-BE49-F238E27FC236}">
                <a16:creationId xmlns:a16="http://schemas.microsoft.com/office/drawing/2014/main" id="{0CB00914-25D3-47C3-A931-03E45F5FDEA7}"/>
              </a:ext>
            </a:extLst>
          </p:cNvPr>
          <p:cNvSpPr>
            <a:spLocks noChangeArrowheads="1"/>
          </p:cNvSpPr>
          <p:nvPr/>
        </p:nvSpPr>
        <p:spPr bwMode="auto">
          <a:xfrm>
            <a:off x="3387725" y="6200775"/>
            <a:ext cx="4829175"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a:solidFill>
                  <a:srgbClr val="990033"/>
                </a:solidFill>
                <a:latin typeface="宋体" panose="02010600030101010101" pitchFamily="2" charset="-122"/>
              </a:rPr>
              <a:t>图</a:t>
            </a:r>
            <a:r>
              <a:rPr lang="en-US" altLang="zh-CN" sz="2400" b="1">
                <a:solidFill>
                  <a:srgbClr val="990033"/>
                </a:solidFill>
                <a:latin typeface="宋体" panose="02010600030101010101" pitchFamily="2" charset="-122"/>
              </a:rPr>
              <a:t>3-20  </a:t>
            </a:r>
            <a:r>
              <a:rPr lang="zh-CN" altLang="en-US" sz="2400" b="1">
                <a:solidFill>
                  <a:srgbClr val="990033"/>
                </a:solidFill>
                <a:latin typeface="宋体" panose="02010600030101010101" pitchFamily="2" charset="-122"/>
              </a:rPr>
              <a:t>拉电流方式和灌电流方式</a:t>
            </a:r>
          </a:p>
        </p:txBody>
      </p:sp>
      <p:sp>
        <p:nvSpPr>
          <p:cNvPr id="9" name="Rectangle 3">
            <a:extLst>
              <a:ext uri="{FF2B5EF4-FFF2-40B4-BE49-F238E27FC236}">
                <a16:creationId xmlns:a16="http://schemas.microsoft.com/office/drawing/2014/main" id="{4D6072A7-1B51-401C-A1C1-F0936C740D19}"/>
              </a:ext>
            </a:extLst>
          </p:cNvPr>
          <p:cNvSpPr txBox="1">
            <a:spLocks noChangeArrowheads="1"/>
          </p:cNvSpPr>
          <p:nvPr/>
        </p:nvSpPr>
        <p:spPr bwMode="auto">
          <a:xfrm>
            <a:off x="160338" y="4276725"/>
            <a:ext cx="2524125" cy="186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algn="l" eaLnBrk="1" hangingPunct="1">
              <a:lnSpc>
                <a:spcPct val="100000"/>
              </a:lnSpc>
              <a:spcBef>
                <a:spcPts val="0"/>
              </a:spcBef>
              <a:spcAft>
                <a:spcPts val="0"/>
              </a:spcAft>
              <a:defRPr/>
            </a:pPr>
            <a:r>
              <a:rPr lang="zh-CN" altLang="en-US" kern="0" dirty="0">
                <a:solidFill>
                  <a:srgbClr val="3333FF"/>
                </a:solidFill>
              </a:rPr>
              <a:t>特别注意</a:t>
            </a:r>
          </a:p>
          <a:p>
            <a:pPr marL="0" lvl="1" indent="0" algn="l" eaLnBrk="1" hangingPunct="1">
              <a:spcBef>
                <a:spcPts val="0"/>
              </a:spcBef>
              <a:spcAft>
                <a:spcPts val="0"/>
              </a:spcAft>
              <a:buFontTx/>
              <a:buNone/>
              <a:defRPr/>
            </a:pPr>
            <a:r>
              <a:rPr lang="zh-CN" altLang="en-US" kern="0" dirty="0"/>
              <a:t>图中</a:t>
            </a:r>
            <a:r>
              <a:rPr lang="zh-CN" altLang="en-US" kern="0" dirty="0">
                <a:solidFill>
                  <a:srgbClr val="FF0000"/>
                </a:solidFill>
              </a:rPr>
              <a:t>限流电阻不能省略</a:t>
            </a:r>
            <a:r>
              <a:rPr lang="en-US" altLang="zh-CN" kern="0" dirty="0"/>
              <a:t>,</a:t>
            </a:r>
            <a:r>
              <a:rPr lang="zh-CN" altLang="en-US" kern="0" dirty="0"/>
              <a:t>否则</a:t>
            </a:r>
            <a:r>
              <a:rPr lang="en-US" altLang="zh-CN" kern="0" dirty="0"/>
              <a:t>,</a:t>
            </a:r>
            <a:r>
              <a:rPr lang="zh-CN" altLang="en-US" kern="0" dirty="0"/>
              <a:t>会毁坏</a:t>
            </a:r>
            <a:r>
              <a:rPr lang="en-US" altLang="zh-CN" kern="0" dirty="0"/>
              <a:t>I/O</a:t>
            </a:r>
            <a:r>
              <a:rPr lang="zh-CN" altLang="en-US" kern="0" dirty="0"/>
              <a:t>口。</a:t>
            </a:r>
          </a:p>
        </p:txBody>
      </p:sp>
      <p:sp>
        <p:nvSpPr>
          <p:cNvPr id="4" name="灯片编号占位符 3">
            <a:extLst>
              <a:ext uri="{FF2B5EF4-FFF2-40B4-BE49-F238E27FC236}">
                <a16:creationId xmlns:a16="http://schemas.microsoft.com/office/drawing/2014/main" id="{7F8CA401-D45A-458D-8001-3D9065FA3120}"/>
              </a:ext>
            </a:extLst>
          </p:cNvPr>
          <p:cNvSpPr>
            <a:spLocks noGrp="1"/>
          </p:cNvSpPr>
          <p:nvPr>
            <p:ph type="sldNum" sz="quarter" idx="10"/>
          </p:nvPr>
        </p:nvSpPr>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a:fld id="{F78CEC86-EE6F-42F8-91E4-BF7610FF02A8}" type="slidenum">
              <a:rPr lang="en-US" altLang="zh-CN">
                <a:latin typeface="Arial" panose="020B0604020202020204" pitchFamily="34" charset="0"/>
              </a:rPr>
              <a:pPr algn="l"/>
              <a:t>76</a:t>
            </a:fld>
            <a:endParaRPr lang="en-US" altLang="zh-CN">
              <a:latin typeface="Arial" panose="020B0604020202020204" pitchFamily="34" charset="0"/>
            </a:endParaRPr>
          </a:p>
        </p:txBody>
      </p:sp>
      <p:sp>
        <p:nvSpPr>
          <p:cNvPr id="11" name="Rectangle 3">
            <a:extLst>
              <a:ext uri="{FF2B5EF4-FFF2-40B4-BE49-F238E27FC236}">
                <a16:creationId xmlns:a16="http://schemas.microsoft.com/office/drawing/2014/main" id="{BEC30E84-5A23-4FF7-95D3-C3CC07DE6A69}"/>
              </a:ext>
            </a:extLst>
          </p:cNvPr>
          <p:cNvSpPr txBox="1">
            <a:spLocks noChangeArrowheads="1"/>
          </p:cNvSpPr>
          <p:nvPr/>
        </p:nvSpPr>
        <p:spPr bwMode="auto">
          <a:xfrm>
            <a:off x="144463" y="2871788"/>
            <a:ext cx="2917825" cy="1376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174625" indent="-174625" algn="l" eaLnBrk="1" hangingPunct="1">
              <a:lnSpc>
                <a:spcPct val="100000"/>
              </a:lnSpc>
              <a:spcBef>
                <a:spcPts val="0"/>
              </a:spcBef>
              <a:spcAft>
                <a:spcPts val="0"/>
              </a:spcAft>
              <a:defRPr/>
            </a:pPr>
            <a:r>
              <a:rPr lang="zh-CN" altLang="en-US" spc="-150" dirty="0">
                <a:latin typeface="Times New Roman" panose="02020603050405020304" pitchFamily="18" charset="0"/>
                <a:cs typeface="Times New Roman" panose="02020603050405020304" pitchFamily="18" charset="0"/>
              </a:rPr>
              <a:t>发光二极管驱动电</a:t>
            </a:r>
            <a:r>
              <a:rPr lang="zh-CN" altLang="en-US" kern="0" spc="-150" dirty="0">
                <a:latin typeface="Times New Roman" panose="02020603050405020304" pitchFamily="18" charset="0"/>
                <a:cs typeface="Times New Roman" panose="02020603050405020304" pitchFamily="18" charset="0"/>
              </a:rPr>
              <a:t>流大约数</a:t>
            </a:r>
            <a:r>
              <a:rPr lang="en-US" altLang="zh-CN" kern="0" spc="-150" dirty="0">
                <a:latin typeface="Times New Roman" panose="02020603050405020304" pitchFamily="18" charset="0"/>
                <a:cs typeface="Times New Roman" panose="02020603050405020304" pitchFamily="18" charset="0"/>
              </a:rPr>
              <a:t>mA ~20mA</a:t>
            </a:r>
            <a:r>
              <a:rPr lang="zh-CN" altLang="en-US" kern="0" spc="-150" dirty="0">
                <a:latin typeface="Times New Roman" panose="02020603050405020304" pitchFamily="18" charset="0"/>
                <a:cs typeface="Times New Roman" panose="02020603050405020304" pitchFamily="18" charset="0"/>
              </a:rPr>
              <a:t>。</a:t>
            </a:r>
          </a:p>
        </p:txBody>
      </p:sp>
      <p:pic>
        <p:nvPicPr>
          <p:cNvPr id="12" name="Picture 9">
            <a:extLst>
              <a:ext uri="{FF2B5EF4-FFF2-40B4-BE49-F238E27FC236}">
                <a16:creationId xmlns:a16="http://schemas.microsoft.com/office/drawing/2014/main" id="{8C8817CA-5BDC-4FD7-A314-0E78F00477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19425" y="2800350"/>
            <a:ext cx="6038850"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3">
            <a:extLst>
              <a:ext uri="{FF2B5EF4-FFF2-40B4-BE49-F238E27FC236}">
                <a16:creationId xmlns:a16="http://schemas.microsoft.com/office/drawing/2014/main" id="{E611076E-3D72-44EC-87E4-6A5ED229A0AA}"/>
              </a:ext>
            </a:extLst>
          </p:cNvPr>
          <p:cNvSpPr txBox="1">
            <a:spLocks noChangeArrowheads="1"/>
          </p:cNvSpPr>
          <p:nvPr/>
        </p:nvSpPr>
        <p:spPr bwMode="auto">
          <a:xfrm>
            <a:off x="3005138" y="3646488"/>
            <a:ext cx="1474787" cy="766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algn="ctr" eaLnBrk="1" hangingPunct="1">
              <a:lnSpc>
                <a:spcPct val="100000"/>
              </a:lnSpc>
              <a:spcBef>
                <a:spcPts val="0"/>
              </a:spcBef>
              <a:spcAft>
                <a:spcPts val="0"/>
              </a:spcAft>
              <a:buFontTx/>
              <a:buNone/>
              <a:defRPr/>
            </a:pPr>
            <a:r>
              <a:rPr lang="zh-CN" altLang="en-US" sz="2400" kern="0" spc="-150" dirty="0">
                <a:solidFill>
                  <a:srgbClr val="FF00FF"/>
                </a:solidFill>
                <a:latin typeface="Times New Roman" panose="02020603050405020304" pitchFamily="18" charset="0"/>
                <a:cs typeface="Times New Roman" panose="02020603050405020304" pitchFamily="18" charset="0"/>
              </a:rPr>
              <a:t>输出高电平灯亮</a:t>
            </a:r>
          </a:p>
        </p:txBody>
      </p:sp>
      <p:sp>
        <p:nvSpPr>
          <p:cNvPr id="14" name="Rectangle 3">
            <a:extLst>
              <a:ext uri="{FF2B5EF4-FFF2-40B4-BE49-F238E27FC236}">
                <a16:creationId xmlns:a16="http://schemas.microsoft.com/office/drawing/2014/main" id="{B1AFFFAA-255F-4B0B-9499-8E6BDCEE8438}"/>
              </a:ext>
            </a:extLst>
          </p:cNvPr>
          <p:cNvSpPr txBox="1">
            <a:spLocks noChangeArrowheads="1"/>
          </p:cNvSpPr>
          <p:nvPr/>
        </p:nvSpPr>
        <p:spPr bwMode="auto">
          <a:xfrm>
            <a:off x="6792913" y="4945063"/>
            <a:ext cx="2409825" cy="52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indent="0" algn="l" eaLnBrk="1" hangingPunct="1">
              <a:lnSpc>
                <a:spcPct val="100000"/>
              </a:lnSpc>
              <a:spcBef>
                <a:spcPts val="0"/>
              </a:spcBef>
              <a:spcAft>
                <a:spcPts val="0"/>
              </a:spcAft>
              <a:buFontTx/>
              <a:buNone/>
              <a:defRPr/>
            </a:pPr>
            <a:r>
              <a:rPr lang="zh-CN" altLang="en-US" sz="2400" kern="0" spc="-150" dirty="0">
                <a:solidFill>
                  <a:srgbClr val="FF00FF"/>
                </a:solidFill>
                <a:latin typeface="Times New Roman" panose="02020603050405020304" pitchFamily="18" charset="0"/>
                <a:cs typeface="Times New Roman" panose="02020603050405020304" pitchFamily="18" charset="0"/>
              </a:rPr>
              <a:t>输出低电平灯亮</a:t>
            </a:r>
          </a:p>
        </p:txBody>
      </p:sp>
      <p:sp>
        <p:nvSpPr>
          <p:cNvPr id="30" name="Rectangle 3">
            <a:extLst>
              <a:ext uri="{FF2B5EF4-FFF2-40B4-BE49-F238E27FC236}">
                <a16:creationId xmlns:a16="http://schemas.microsoft.com/office/drawing/2014/main" id="{1F45C255-1673-4AB7-8209-325FFDE1C1E2}"/>
              </a:ext>
            </a:extLst>
          </p:cNvPr>
          <p:cNvSpPr txBox="1">
            <a:spLocks noChangeArrowheads="1"/>
          </p:cNvSpPr>
          <p:nvPr/>
        </p:nvSpPr>
        <p:spPr bwMode="auto">
          <a:xfrm>
            <a:off x="6459538" y="3309938"/>
            <a:ext cx="1249362" cy="137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l" eaLnBrk="1" hangingPunct="1">
              <a:lnSpc>
                <a:spcPct val="105000"/>
              </a:lnSpc>
              <a:buFontTx/>
              <a:buNone/>
              <a:defRPr/>
            </a:pPr>
            <a:r>
              <a:rPr lang="zh-CN" altLang="en-US" sz="2000" kern="0" dirty="0">
                <a:solidFill>
                  <a:srgbClr val="3333FF"/>
                </a:solidFill>
              </a:rPr>
              <a:t>弱上拉</a:t>
            </a:r>
            <a:r>
              <a:rPr lang="en-US" altLang="zh-CN" sz="2000" kern="0" dirty="0">
                <a:solidFill>
                  <a:srgbClr val="3333FF"/>
                </a:solidFill>
              </a:rPr>
              <a:t>/</a:t>
            </a:r>
            <a:r>
              <a:rPr lang="zh-CN" altLang="en-US" sz="2000" kern="0" dirty="0">
                <a:solidFill>
                  <a:srgbClr val="3333FF"/>
                </a:solidFill>
              </a:rPr>
              <a:t>准双向口工作模式</a:t>
            </a:r>
            <a:endParaRPr lang="zh-CN" altLang="en-US" sz="2000" kern="0" dirty="0"/>
          </a:p>
        </p:txBody>
      </p:sp>
      <p:sp>
        <p:nvSpPr>
          <p:cNvPr id="31" name="Rectangle 3">
            <a:extLst>
              <a:ext uri="{FF2B5EF4-FFF2-40B4-BE49-F238E27FC236}">
                <a16:creationId xmlns:a16="http://schemas.microsoft.com/office/drawing/2014/main" id="{6EB56B47-B055-406F-AE71-B6D295DE38CC}"/>
              </a:ext>
            </a:extLst>
          </p:cNvPr>
          <p:cNvSpPr txBox="1">
            <a:spLocks noChangeArrowheads="1"/>
          </p:cNvSpPr>
          <p:nvPr/>
        </p:nvSpPr>
        <p:spPr bwMode="auto">
          <a:xfrm>
            <a:off x="3076575" y="4659313"/>
            <a:ext cx="1331913" cy="1027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2"/>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l" eaLnBrk="1" hangingPunct="1">
              <a:lnSpc>
                <a:spcPct val="105000"/>
              </a:lnSpc>
              <a:buFontTx/>
              <a:buNone/>
              <a:defRPr/>
            </a:pPr>
            <a:r>
              <a:rPr lang="zh-CN" altLang="en-US" sz="2000" kern="0" dirty="0">
                <a:solidFill>
                  <a:srgbClr val="0000FF"/>
                </a:solidFill>
              </a:rPr>
              <a:t>推挽输出</a:t>
            </a:r>
            <a:r>
              <a:rPr lang="en-US" altLang="zh-CN" sz="2000" kern="0" dirty="0">
                <a:solidFill>
                  <a:srgbClr val="0000FF"/>
                </a:solidFill>
              </a:rPr>
              <a:t>/</a:t>
            </a:r>
            <a:r>
              <a:rPr lang="zh-CN" altLang="en-US" sz="2000" kern="0" dirty="0">
                <a:solidFill>
                  <a:srgbClr val="0000FF"/>
                </a:solidFill>
              </a:rPr>
              <a:t>强上拉工作模式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nodeType="withEffect">
                                  <p:stCondLst>
                                    <p:cond delay="0"/>
                                  </p:stCondLst>
                                  <p:childTnLst>
                                    <p:set>
                                      <p:cBhvr>
                                        <p:cTn id="6" dur="1" fill="hold">
                                          <p:stCondLst>
                                            <p:cond delay="0"/>
                                          </p:stCondLst>
                                        </p:cTn>
                                        <p:tgtEl>
                                          <p:spTgt spid="533507">
                                            <p:txEl>
                                              <p:pRg st="0" end="0"/>
                                            </p:txEl>
                                          </p:spTgt>
                                        </p:tgtEl>
                                        <p:attrNameLst>
                                          <p:attrName>style.visibility</p:attrName>
                                        </p:attrNameLst>
                                      </p:cBhvr>
                                      <p:to>
                                        <p:strVal val="visible"/>
                                      </p:to>
                                    </p:set>
                                    <p:animEffect transition="in" filter="fade">
                                      <p:cBhvr>
                                        <p:cTn id="7" dur="1000"/>
                                        <p:tgtEl>
                                          <p:spTgt spid="533507">
                                            <p:txEl>
                                              <p:pRg st="0" end="0"/>
                                            </p:txEl>
                                          </p:spTgt>
                                        </p:tgtEl>
                                      </p:cBhvr>
                                    </p:animEffect>
                                    <p:anim calcmode="lin" valueType="num">
                                      <p:cBhvr>
                                        <p:cTn id="8" dur="1000" fill="hold"/>
                                        <p:tgtEl>
                                          <p:spTgt spid="53350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3350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33507">
                                            <p:txEl>
                                              <p:pRg st="1" end="1"/>
                                            </p:txEl>
                                          </p:spTgt>
                                        </p:tgtEl>
                                        <p:attrNameLst>
                                          <p:attrName>style.visibility</p:attrName>
                                        </p:attrNameLst>
                                      </p:cBhvr>
                                      <p:to>
                                        <p:strVal val="visible"/>
                                      </p:to>
                                    </p:set>
                                    <p:animEffect transition="in" filter="fade">
                                      <p:cBhvr>
                                        <p:cTn id="12" dur="1000"/>
                                        <p:tgtEl>
                                          <p:spTgt spid="533507">
                                            <p:txEl>
                                              <p:pRg st="1" end="1"/>
                                            </p:txEl>
                                          </p:spTgt>
                                        </p:tgtEl>
                                      </p:cBhvr>
                                    </p:animEffect>
                                    <p:anim calcmode="lin" valueType="num">
                                      <p:cBhvr>
                                        <p:cTn id="13" dur="1000" fill="hold"/>
                                        <p:tgtEl>
                                          <p:spTgt spid="53350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33507">
                                            <p:txEl>
                                              <p:pRg st="1" end="1"/>
                                            </p:txEl>
                                          </p:spTgt>
                                        </p:tgtEl>
                                        <p:attrNameLst>
                                          <p:attrName>ppt_y</p:attrName>
                                        </p:attrNameLst>
                                      </p:cBhvr>
                                      <p:tavLst>
                                        <p:tav tm="0">
                                          <p:val>
                                            <p:strVal val="#ppt_y+.1"/>
                                          </p:val>
                                        </p:tav>
                                        <p:tav tm="100000">
                                          <p:val>
                                            <p:strVal val="#ppt_y"/>
                                          </p:val>
                                        </p:tav>
                                      </p:tavLst>
                                    </p:anim>
                                  </p:childTnLst>
                                </p:cTn>
                              </p:par>
                              <p:par>
                                <p:cTn id="15" presetID="22" presetClass="entr" presetSubtype="4"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down)">
                                      <p:cBhvr>
                                        <p:cTn id="17" dur="500"/>
                                        <p:tgtEl>
                                          <p:spTgt spid="12"/>
                                        </p:tgtEl>
                                      </p:cBhvr>
                                    </p:animEffect>
                                  </p:childTnLst>
                                </p:cTn>
                              </p:par>
                            </p:childTnLst>
                          </p:cTn>
                        </p:par>
                        <p:par>
                          <p:cTn id="18" fill="hold" nodeType="afterGroup">
                            <p:stCondLst>
                              <p:cond delay="1000"/>
                            </p:stCondLst>
                            <p:childTnLst>
                              <p:par>
                                <p:cTn id="19" presetID="22" presetClass="entr" presetSubtype="8" fill="hold" nodeType="afterEffect">
                                  <p:stCondLst>
                                    <p:cond delay="0"/>
                                  </p:stCondLst>
                                  <p:childTnLst>
                                    <p:set>
                                      <p:cBhvr>
                                        <p:cTn id="20" dur="1" fill="hold">
                                          <p:stCondLst>
                                            <p:cond delay="0"/>
                                          </p:stCondLst>
                                        </p:cTn>
                                        <p:tgtEl>
                                          <p:spTgt spid="13">
                                            <p:txEl>
                                              <p:pRg st="0" end="0"/>
                                            </p:txEl>
                                          </p:spTgt>
                                        </p:tgtEl>
                                        <p:attrNameLst>
                                          <p:attrName>style.visibility</p:attrName>
                                        </p:attrNameLst>
                                      </p:cBhvr>
                                      <p:to>
                                        <p:strVal val="visible"/>
                                      </p:to>
                                    </p:set>
                                    <p:animEffect transition="in" filter="wipe(left)">
                                      <p:cBhvr>
                                        <p:cTn id="21" dur="500"/>
                                        <p:tgtEl>
                                          <p:spTgt spid="13">
                                            <p:txEl>
                                              <p:pRg st="0" end="0"/>
                                            </p:txEl>
                                          </p:spTgt>
                                        </p:tgtEl>
                                      </p:cBhvr>
                                    </p:animEffect>
                                  </p:childTnLst>
                                </p:cTn>
                              </p:par>
                            </p:childTnLst>
                          </p:cTn>
                        </p:par>
                        <p:par>
                          <p:cTn id="22" fill="hold" nodeType="afterGroup">
                            <p:stCondLst>
                              <p:cond delay="1500"/>
                            </p:stCondLst>
                            <p:childTnLst>
                              <p:par>
                                <p:cTn id="23" presetID="22" presetClass="entr" presetSubtype="8" fill="hold" nodeType="after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animEffect transition="in" filter="wipe(left)">
                                      <p:cBhvr>
                                        <p:cTn id="25" dur="500"/>
                                        <p:tgtEl>
                                          <p:spTgt spid="14">
                                            <p:txEl>
                                              <p:pRg st="0" end="0"/>
                                            </p:txEl>
                                          </p:spTgt>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533514"/>
                                        </p:tgtEl>
                                        <p:attrNameLst>
                                          <p:attrName>style.visibility</p:attrName>
                                        </p:attrNameLst>
                                      </p:cBhvr>
                                      <p:to>
                                        <p:strVal val="visible"/>
                                      </p:to>
                                    </p:set>
                                    <p:animEffect transition="in" filter="blinds(horizontal)">
                                      <p:cBhvr>
                                        <p:cTn id="28" dur="500"/>
                                        <p:tgtEl>
                                          <p:spTgt spid="533514"/>
                                        </p:tgtEl>
                                      </p:cBhvr>
                                    </p:animEffect>
                                  </p:childTnLst>
                                </p:cTn>
                              </p:par>
                              <p:par>
                                <p:cTn id="29" presetID="12" presetClass="entr" presetSubtype="4" fill="hold" nodeType="withEffect">
                                  <p:stCondLst>
                                    <p:cond delay="0"/>
                                  </p:stCondLst>
                                  <p:childTnLst>
                                    <p:set>
                                      <p:cBhvr>
                                        <p:cTn id="30" dur="1" fill="hold">
                                          <p:stCondLst>
                                            <p:cond delay="0"/>
                                          </p:stCondLst>
                                        </p:cTn>
                                        <p:tgtEl>
                                          <p:spTgt spid="30">
                                            <p:txEl>
                                              <p:pRg st="0" end="0"/>
                                            </p:txEl>
                                          </p:spTgt>
                                        </p:tgtEl>
                                        <p:attrNameLst>
                                          <p:attrName>style.visibility</p:attrName>
                                        </p:attrNameLst>
                                      </p:cBhvr>
                                      <p:to>
                                        <p:strVal val="visible"/>
                                      </p:to>
                                    </p:set>
                                    <p:animEffect transition="in" filter="slide(fromBottom)">
                                      <p:cBhvr>
                                        <p:cTn id="31" dur="500"/>
                                        <p:tgtEl>
                                          <p:spTgt spid="30">
                                            <p:txEl>
                                              <p:pRg st="0" end="0"/>
                                            </p:txEl>
                                          </p:spTgt>
                                        </p:tgtEl>
                                      </p:cBhvr>
                                    </p:animEffect>
                                  </p:childTnLst>
                                </p:cTn>
                              </p:par>
                              <p:par>
                                <p:cTn id="32" presetID="12" presetClass="entr" presetSubtype="4" fill="hold" nodeType="withEffect">
                                  <p:stCondLst>
                                    <p:cond delay="0"/>
                                  </p:stCondLst>
                                  <p:childTnLst>
                                    <p:set>
                                      <p:cBhvr>
                                        <p:cTn id="33" dur="1" fill="hold">
                                          <p:stCondLst>
                                            <p:cond delay="0"/>
                                          </p:stCondLst>
                                        </p:cTn>
                                        <p:tgtEl>
                                          <p:spTgt spid="31">
                                            <p:txEl>
                                              <p:pRg st="0" end="0"/>
                                            </p:txEl>
                                          </p:spTgt>
                                        </p:tgtEl>
                                        <p:attrNameLst>
                                          <p:attrName>style.visibility</p:attrName>
                                        </p:attrNameLst>
                                      </p:cBhvr>
                                      <p:to>
                                        <p:strVal val="visible"/>
                                      </p:to>
                                    </p:set>
                                    <p:animEffect transition="in" filter="slide(fromBottom)">
                                      <p:cBhvr>
                                        <p:cTn id="34" dur="500"/>
                                        <p:tgtEl>
                                          <p:spTgt spid="31">
                                            <p:txEl>
                                              <p:pRg st="0" end="0"/>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4" fill="hold" nodeType="clickEffect">
                                  <p:stCondLst>
                                    <p:cond delay="0"/>
                                  </p:stCondLst>
                                  <p:childTnLst>
                                    <p:set>
                                      <p:cBhvr>
                                        <p:cTn id="38" dur="1" fill="hold">
                                          <p:stCondLst>
                                            <p:cond delay="0"/>
                                          </p:stCondLst>
                                        </p:cTn>
                                        <p:tgtEl>
                                          <p:spTgt spid="11">
                                            <p:txEl>
                                              <p:pRg st="0" end="0"/>
                                            </p:txEl>
                                          </p:spTgt>
                                        </p:tgtEl>
                                        <p:attrNameLst>
                                          <p:attrName>style.visibility</p:attrName>
                                        </p:attrNameLst>
                                      </p:cBhvr>
                                      <p:to>
                                        <p:strVal val="visible"/>
                                      </p:to>
                                    </p:set>
                                    <p:animEffect transition="in" filter="slide(fromBottom)">
                                      <p:cBhvr>
                                        <p:cTn id="39" dur="500"/>
                                        <p:tgtEl>
                                          <p:spTgt spid="11">
                                            <p:txEl>
                                              <p:pRg st="0" end="0"/>
                                            </p:txEl>
                                          </p:spTgt>
                                        </p:tgtEl>
                                      </p:cBhvr>
                                    </p:animEffect>
                                  </p:childTnLst>
                                </p:cTn>
                              </p:par>
                            </p:childTnLst>
                          </p:cTn>
                        </p:par>
                        <p:par>
                          <p:cTn id="40" fill="hold" nodeType="afterGroup">
                            <p:stCondLst>
                              <p:cond delay="500"/>
                            </p:stCondLst>
                            <p:childTnLst>
                              <p:par>
                                <p:cTn id="41" presetID="2" presetClass="entr" presetSubtype="1" fill="hold" nodeType="afterEffect">
                                  <p:stCondLst>
                                    <p:cond delay="0"/>
                                  </p:stCondLst>
                                  <p:childTnLst>
                                    <p:set>
                                      <p:cBhvr>
                                        <p:cTn id="42" dur="1" fill="hold">
                                          <p:stCondLst>
                                            <p:cond delay="0"/>
                                          </p:stCondLst>
                                        </p:cTn>
                                        <p:tgtEl>
                                          <p:spTgt spid="9">
                                            <p:txEl>
                                              <p:pRg st="0" end="0"/>
                                            </p:txEl>
                                          </p:spTgt>
                                        </p:tgtEl>
                                        <p:attrNameLst>
                                          <p:attrName>style.visibility</p:attrName>
                                        </p:attrNameLst>
                                      </p:cBhvr>
                                      <p:to>
                                        <p:strVal val="visible"/>
                                      </p:to>
                                    </p:set>
                                    <p:anim calcmode="lin" valueType="num">
                                      <p:cBhvr additive="base">
                                        <p:cTn id="43"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9">
                                            <p:txEl>
                                              <p:pRg st="0" end="0"/>
                                            </p:txEl>
                                          </p:spTgt>
                                        </p:tgtEl>
                                        <p:attrNameLst>
                                          <p:attrName>ppt_y</p:attrName>
                                        </p:attrNameLst>
                                      </p:cBhvr>
                                      <p:tavLst>
                                        <p:tav tm="0">
                                          <p:val>
                                            <p:strVal val="0-#ppt_h/2"/>
                                          </p:val>
                                        </p:tav>
                                        <p:tav tm="100000">
                                          <p:val>
                                            <p:strVal val="#ppt_y"/>
                                          </p:val>
                                        </p:tav>
                                      </p:tavLst>
                                    </p:anim>
                                  </p:childTnLst>
                                </p:cTn>
                              </p:par>
                            </p:childTnLst>
                          </p:cTn>
                        </p:par>
                        <p:par>
                          <p:cTn id="45" fill="hold" nodeType="afterGroup">
                            <p:stCondLst>
                              <p:cond delay="1000"/>
                            </p:stCondLst>
                            <p:childTnLst>
                              <p:par>
                                <p:cTn id="46" presetID="12" presetClass="entr" presetSubtype="4" fill="hold" nodeType="afterEffect">
                                  <p:stCondLst>
                                    <p:cond delay="0"/>
                                  </p:stCondLst>
                                  <p:childTnLst>
                                    <p:set>
                                      <p:cBhvr>
                                        <p:cTn id="47" dur="1" fill="hold">
                                          <p:stCondLst>
                                            <p:cond delay="0"/>
                                          </p:stCondLst>
                                        </p:cTn>
                                        <p:tgtEl>
                                          <p:spTgt spid="9">
                                            <p:txEl>
                                              <p:pRg st="1" end="1"/>
                                            </p:txEl>
                                          </p:spTgt>
                                        </p:tgtEl>
                                        <p:attrNameLst>
                                          <p:attrName>style.visibility</p:attrName>
                                        </p:attrNameLst>
                                      </p:cBhvr>
                                      <p:to>
                                        <p:strVal val="visible"/>
                                      </p:to>
                                    </p:set>
                                    <p:animEffect transition="in" filter="slide(fromBottom)">
                                      <p:cBhvr>
                                        <p:cTn id="48"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14"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标题 3">
            <a:extLst>
              <a:ext uri="{FF2B5EF4-FFF2-40B4-BE49-F238E27FC236}">
                <a16:creationId xmlns:a16="http://schemas.microsoft.com/office/drawing/2014/main" id="{122A7607-77ED-429E-B634-D712A9E8C5E8}"/>
              </a:ext>
            </a:extLst>
          </p:cNvPr>
          <p:cNvSpPr>
            <a:spLocks noGrp="1" noChangeArrowheads="1"/>
          </p:cNvSpPr>
          <p:nvPr>
            <p:ph type="title"/>
          </p:nvPr>
        </p:nvSpPr>
        <p:spPr>
          <a:xfrm>
            <a:off x="468313" y="357188"/>
            <a:ext cx="8229600" cy="504825"/>
          </a:xfrm>
        </p:spPr>
        <p:txBody>
          <a:bodyPr>
            <a:normAutofit fontScale="90000"/>
          </a:bodyPr>
          <a:lstStyle/>
          <a:p>
            <a:pPr eaLnBrk="1" hangingPunct="1"/>
            <a:r>
              <a:rPr kumimoji="1" lang="en-US" altLang="zh-CN">
                <a:solidFill>
                  <a:srgbClr val="FF0000"/>
                </a:solidFill>
              </a:rPr>
              <a:t>(3)  </a:t>
            </a:r>
            <a:r>
              <a:rPr lang="zh-CN" altLang="en-US"/>
              <a:t>拉电流方式和灌电流方式</a:t>
            </a:r>
          </a:p>
        </p:txBody>
      </p:sp>
      <p:sp>
        <p:nvSpPr>
          <p:cNvPr id="624643" name="Rectangle 3">
            <a:extLst>
              <a:ext uri="{FF2B5EF4-FFF2-40B4-BE49-F238E27FC236}">
                <a16:creationId xmlns:a16="http://schemas.microsoft.com/office/drawing/2014/main" id="{42CB2272-96E0-45F4-BD9F-6F0AF75C9274}"/>
              </a:ext>
            </a:extLst>
          </p:cNvPr>
          <p:cNvSpPr>
            <a:spLocks noGrp="1" noChangeArrowheads="1"/>
          </p:cNvSpPr>
          <p:nvPr>
            <p:ph idx="1"/>
          </p:nvPr>
        </p:nvSpPr>
        <p:spPr>
          <a:xfrm>
            <a:off x="327026" y="1549401"/>
            <a:ext cx="8564562" cy="1612900"/>
          </a:xfrm>
        </p:spPr>
        <p:txBody>
          <a:bodyPr/>
          <a:lstStyle/>
          <a:p>
            <a:pPr marL="261938" lvl="1" indent="-261938" eaLnBrk="1" hangingPunct="1">
              <a:lnSpc>
                <a:spcPct val="105000"/>
              </a:lnSpc>
              <a:defRPr/>
            </a:pPr>
            <a:r>
              <a:rPr lang="zh-CN" altLang="en-US" dirty="0">
                <a:solidFill>
                  <a:srgbClr val="3333FF"/>
                </a:solidFill>
              </a:rPr>
              <a:t>采用灌电流方式时</a:t>
            </a:r>
            <a:r>
              <a:rPr lang="zh-CN" altLang="en-US" dirty="0"/>
              <a:t>，应将单片机的</a:t>
            </a:r>
            <a:r>
              <a:rPr lang="en-US" altLang="zh-CN" dirty="0"/>
              <a:t>I/O</a:t>
            </a:r>
            <a:r>
              <a:rPr lang="zh-CN" altLang="en-US" dirty="0"/>
              <a:t>口设置为</a:t>
            </a:r>
            <a:r>
              <a:rPr lang="zh-CN" altLang="en-US" dirty="0">
                <a:solidFill>
                  <a:srgbClr val="3333FF"/>
                </a:solidFill>
              </a:rPr>
              <a:t>弱上拉</a:t>
            </a:r>
            <a:r>
              <a:rPr lang="en-US" altLang="zh-CN" dirty="0">
                <a:solidFill>
                  <a:srgbClr val="3333FF"/>
                </a:solidFill>
              </a:rPr>
              <a:t>/</a:t>
            </a:r>
            <a:r>
              <a:rPr lang="zh-CN" altLang="en-US" dirty="0">
                <a:solidFill>
                  <a:srgbClr val="3333FF"/>
                </a:solidFill>
              </a:rPr>
              <a:t>准双向口工作模式</a:t>
            </a:r>
            <a:r>
              <a:rPr lang="zh-CN" altLang="en-US" dirty="0"/>
              <a:t>；</a:t>
            </a:r>
          </a:p>
          <a:p>
            <a:pPr marL="261938" lvl="1" indent="-261938" eaLnBrk="1" hangingPunct="1">
              <a:lnSpc>
                <a:spcPct val="105000"/>
              </a:lnSpc>
              <a:defRPr/>
            </a:pPr>
            <a:r>
              <a:rPr lang="zh-CN" altLang="en-US" dirty="0"/>
              <a:t>采用</a:t>
            </a:r>
            <a:r>
              <a:rPr lang="zh-CN" altLang="en-US" dirty="0">
                <a:solidFill>
                  <a:srgbClr val="3333FF"/>
                </a:solidFill>
              </a:rPr>
              <a:t>拉电流方式</a:t>
            </a:r>
            <a:r>
              <a:rPr lang="zh-CN" altLang="en-US" dirty="0"/>
              <a:t>时，应将单片机的</a:t>
            </a:r>
            <a:r>
              <a:rPr lang="en-US" altLang="zh-CN" dirty="0"/>
              <a:t>I/O</a:t>
            </a:r>
            <a:r>
              <a:rPr lang="zh-CN" altLang="en-US" dirty="0"/>
              <a:t>口设置为</a:t>
            </a:r>
            <a:r>
              <a:rPr lang="zh-CN" altLang="en-US" dirty="0">
                <a:solidFill>
                  <a:srgbClr val="3333FF"/>
                </a:solidFill>
              </a:rPr>
              <a:t>推挽输出</a:t>
            </a:r>
            <a:r>
              <a:rPr lang="en-US" altLang="zh-CN" dirty="0">
                <a:solidFill>
                  <a:srgbClr val="3333FF"/>
                </a:solidFill>
              </a:rPr>
              <a:t>/</a:t>
            </a:r>
            <a:r>
              <a:rPr lang="zh-CN" altLang="en-US" dirty="0">
                <a:solidFill>
                  <a:srgbClr val="3333FF"/>
                </a:solidFill>
              </a:rPr>
              <a:t>强上拉</a:t>
            </a:r>
            <a:r>
              <a:rPr lang="zh-CN" altLang="en-US" dirty="0"/>
              <a:t>工作模式。</a:t>
            </a:r>
            <a:endParaRPr lang="en-US" altLang="zh-CN" dirty="0"/>
          </a:p>
          <a:p>
            <a:pPr marL="261938" lvl="1" indent="-261938" eaLnBrk="1" hangingPunct="1">
              <a:lnSpc>
                <a:spcPct val="105000"/>
              </a:lnSpc>
              <a:defRPr/>
            </a:pPr>
            <a:r>
              <a:rPr lang="zh-CN" altLang="en-US" dirty="0"/>
              <a:t>在实际使用时，</a:t>
            </a:r>
            <a:r>
              <a:rPr lang="zh-CN" altLang="en-US" dirty="0">
                <a:solidFill>
                  <a:srgbClr val="CC3300"/>
                </a:solidFill>
              </a:rPr>
              <a:t>应尽量采用灌电流方式，</a:t>
            </a:r>
            <a:r>
              <a:rPr lang="zh-CN" altLang="en-US" dirty="0"/>
              <a:t>这样可以提高系统的负载能力和可靠性。</a:t>
            </a:r>
          </a:p>
        </p:txBody>
      </p:sp>
      <p:sp>
        <p:nvSpPr>
          <p:cNvPr id="6" name="Rectangle 3">
            <a:extLst>
              <a:ext uri="{FF2B5EF4-FFF2-40B4-BE49-F238E27FC236}">
                <a16:creationId xmlns:a16="http://schemas.microsoft.com/office/drawing/2014/main" id="{8E2CFB81-015F-45D1-BFAE-F6D7F4C4F238}"/>
              </a:ext>
            </a:extLst>
          </p:cNvPr>
          <p:cNvSpPr txBox="1">
            <a:spLocks noChangeArrowheads="1"/>
          </p:cNvSpPr>
          <p:nvPr/>
        </p:nvSpPr>
        <p:spPr bwMode="auto">
          <a:xfrm>
            <a:off x="0" y="3326947"/>
            <a:ext cx="9013825" cy="237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eaLnBrk="1" hangingPunct="1">
              <a:lnSpc>
                <a:spcPct val="105000"/>
              </a:lnSpc>
              <a:spcBef>
                <a:spcPts val="0"/>
              </a:spcBef>
              <a:defRPr/>
            </a:pPr>
            <a:r>
              <a:rPr lang="zh-CN" altLang="en-US" kern="0" dirty="0"/>
              <a:t>使用时应该特别注意</a:t>
            </a:r>
            <a:r>
              <a:rPr lang="en-US" altLang="zh-CN" kern="0" dirty="0"/>
              <a:t>: </a:t>
            </a:r>
            <a:r>
              <a:rPr lang="zh-CN" altLang="en-US" kern="0" dirty="0">
                <a:solidFill>
                  <a:srgbClr val="FF0000"/>
                </a:solidFill>
              </a:rPr>
              <a:t>加限流电阻</a:t>
            </a:r>
          </a:p>
          <a:p>
            <a:pPr marL="449263" lvl="1" indent="-274638" eaLnBrk="1" hangingPunct="1">
              <a:lnSpc>
                <a:spcPct val="105000"/>
              </a:lnSpc>
              <a:spcBef>
                <a:spcPts val="0"/>
              </a:spcBef>
              <a:spcAft>
                <a:spcPts val="600"/>
              </a:spcAft>
              <a:tabLst>
                <a:tab pos="363538" algn="l"/>
              </a:tabLst>
              <a:defRPr/>
            </a:pPr>
            <a:r>
              <a:rPr lang="zh-CN" altLang="en-US" dirty="0">
                <a:solidFill>
                  <a:srgbClr val="FF0000"/>
                </a:solidFill>
              </a:rPr>
              <a:t>设计</a:t>
            </a:r>
            <a:r>
              <a:rPr lang="zh-CN" altLang="zh-CN" dirty="0">
                <a:solidFill>
                  <a:srgbClr val="FF0000"/>
                </a:solidFill>
              </a:rPr>
              <a:t>行列矩阵</a:t>
            </a:r>
            <a:r>
              <a:rPr lang="zh-CN" altLang="en-US" kern="0" dirty="0"/>
              <a:t>按键扫描电路时，如</a:t>
            </a:r>
            <a:r>
              <a:rPr lang="zh-CN" altLang="en-US" kern="0" dirty="0">
                <a:hlinkClick r:id="rId4" action="ppaction://hlinksldjump"/>
              </a:rPr>
              <a:t>上面</a:t>
            </a:r>
            <a:r>
              <a:rPr lang="en-US" altLang="zh-CN" dirty="0">
                <a:hlinkClick r:id="rId4" action="ppaction://hlinksldjump"/>
              </a:rPr>
              <a:t>I/O</a:t>
            </a:r>
            <a:r>
              <a:rPr lang="zh-CN" altLang="en-US" dirty="0">
                <a:hlinkClick r:id="rId4" action="ppaction://hlinksldjump"/>
              </a:rPr>
              <a:t>口线</a:t>
            </a:r>
            <a:r>
              <a:rPr lang="zh-CN" altLang="en-US" dirty="0"/>
              <a:t>驱动指示灯需加限流电阻那样，</a:t>
            </a:r>
            <a:r>
              <a:rPr lang="zh-CN" altLang="en-US" kern="0" dirty="0"/>
              <a:t>也需要</a:t>
            </a:r>
            <a:r>
              <a:rPr lang="zh-CN" altLang="en-US" dirty="0"/>
              <a:t>在</a:t>
            </a:r>
            <a:r>
              <a:rPr lang="zh-CN" altLang="en-US" dirty="0">
                <a:solidFill>
                  <a:srgbClr val="FF0000"/>
                </a:solidFill>
              </a:rPr>
              <a:t>按键扫描电路中的两侧各加</a:t>
            </a:r>
            <a:r>
              <a:rPr lang="en-US" altLang="zh-CN" dirty="0">
                <a:solidFill>
                  <a:srgbClr val="FF0000"/>
                </a:solidFill>
              </a:rPr>
              <a:t>300</a:t>
            </a:r>
            <a:r>
              <a:rPr lang="en-US" altLang="zh-CN" dirty="0">
                <a:solidFill>
                  <a:srgbClr val="FF0000"/>
                </a:solidFill>
                <a:sym typeface="Symbol" pitchFamily="18" charset="2"/>
              </a:rPr>
              <a:t></a:t>
            </a:r>
            <a:r>
              <a:rPr lang="zh-CN" altLang="en-US" dirty="0">
                <a:solidFill>
                  <a:srgbClr val="FF0000"/>
                </a:solidFill>
              </a:rPr>
              <a:t>的限流电阻，</a:t>
            </a:r>
            <a:r>
              <a:rPr lang="zh-CN" altLang="en-US" kern="0" dirty="0"/>
              <a:t>否则</a:t>
            </a:r>
            <a:r>
              <a:rPr lang="en-US" altLang="zh-CN" kern="0" dirty="0"/>
              <a:t>,</a:t>
            </a:r>
            <a:r>
              <a:rPr lang="zh-CN" altLang="en-US" kern="0" dirty="0"/>
              <a:t>会毁坏</a:t>
            </a:r>
            <a:r>
              <a:rPr lang="en-US" altLang="zh-CN" kern="0" dirty="0"/>
              <a:t>I/O</a:t>
            </a:r>
            <a:r>
              <a:rPr lang="zh-CN" altLang="en-US" kern="0" dirty="0"/>
              <a:t>口。</a:t>
            </a:r>
          </a:p>
        </p:txBody>
      </p:sp>
      <p:sp>
        <p:nvSpPr>
          <p:cNvPr id="5" name="灯片编号占位符 4">
            <a:extLst>
              <a:ext uri="{FF2B5EF4-FFF2-40B4-BE49-F238E27FC236}">
                <a16:creationId xmlns:a16="http://schemas.microsoft.com/office/drawing/2014/main" id="{DCEE879E-01C0-4485-B543-E572765BD70A}"/>
              </a:ext>
            </a:extLst>
          </p:cNvPr>
          <p:cNvSpPr>
            <a:spLocks noGrp="1"/>
          </p:cNvSpPr>
          <p:nvPr>
            <p:ph type="sldNum" sz="quarter" idx="10"/>
          </p:nvPr>
        </p:nvSpPr>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a:fld id="{45772ADB-99BD-486D-8DAF-89BD24483ACD}" type="slidenum">
              <a:rPr lang="en-US" altLang="zh-CN">
                <a:latin typeface="Arial" panose="020B0604020202020204" pitchFamily="34" charset="0"/>
              </a:rPr>
              <a:pPr algn="l"/>
              <a:t>77</a:t>
            </a:fld>
            <a:endParaRPr lang="en-US" altLang="zh-CN">
              <a:latin typeface="Arial" panose="020B060402020202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6" name="Picture 406" descr="D:\DOCUME~1\ADMINI~1\LOCALS~1\Temp\HS5ClipImage_56b04237.gif">
            <a:hlinkClick r:id="rId2" action="ppaction://hlinksldjump"/>
            <a:extLst>
              <a:ext uri="{FF2B5EF4-FFF2-40B4-BE49-F238E27FC236}">
                <a16:creationId xmlns:a16="http://schemas.microsoft.com/office/drawing/2014/main" id="{C729850A-1CCA-4458-8F8D-867F11B64BC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787650" y="3511550"/>
            <a:ext cx="5838825" cy="2724150"/>
          </a:xfrm>
          <a:extLst>
            <a:ext uri="{909E8E84-426E-40DD-AFC4-6F175D3DCCD1}">
              <a14:hiddenFill xmlns:a14="http://schemas.microsoft.com/office/drawing/2010/main">
                <a:solidFill>
                  <a:srgbClr val="FFFFFF"/>
                </a:solidFill>
              </a14:hiddenFill>
            </a:ext>
          </a:extLst>
        </p:spPr>
      </p:pic>
      <p:sp>
        <p:nvSpPr>
          <p:cNvPr id="144387" name="标题 2">
            <a:extLst>
              <a:ext uri="{FF2B5EF4-FFF2-40B4-BE49-F238E27FC236}">
                <a16:creationId xmlns:a16="http://schemas.microsoft.com/office/drawing/2014/main" id="{4FD81F15-3CCB-4103-997B-2680A935186B}"/>
              </a:ext>
            </a:extLst>
          </p:cNvPr>
          <p:cNvSpPr>
            <a:spLocks noGrp="1" noChangeArrowheads="1"/>
          </p:cNvSpPr>
          <p:nvPr>
            <p:ph type="title"/>
          </p:nvPr>
        </p:nvSpPr>
        <p:spPr>
          <a:xfrm>
            <a:off x="468313" y="357188"/>
            <a:ext cx="8229600" cy="504825"/>
          </a:xfrm>
        </p:spPr>
        <p:txBody>
          <a:bodyPr>
            <a:normAutofit fontScale="90000"/>
          </a:bodyPr>
          <a:lstStyle/>
          <a:p>
            <a:pPr eaLnBrk="1" hangingPunct="1"/>
            <a:r>
              <a:rPr kumimoji="1" lang="en-US" altLang="zh-CN">
                <a:solidFill>
                  <a:srgbClr val="FF0000"/>
                </a:solidFill>
              </a:rPr>
              <a:t>(4)   </a:t>
            </a:r>
            <a:r>
              <a:rPr lang="zh-CN" altLang="en-US"/>
              <a:t>典型的三极管控制电路</a:t>
            </a:r>
          </a:p>
        </p:txBody>
      </p:sp>
      <p:sp>
        <p:nvSpPr>
          <p:cNvPr id="536579" name="Rectangle 3">
            <a:extLst>
              <a:ext uri="{FF2B5EF4-FFF2-40B4-BE49-F238E27FC236}">
                <a16:creationId xmlns:a16="http://schemas.microsoft.com/office/drawing/2014/main" id="{53725ED4-4BA3-4AD9-99FD-C72E5D3F8CF7}"/>
              </a:ext>
            </a:extLst>
          </p:cNvPr>
          <p:cNvSpPr>
            <a:spLocks noGrp="1" noChangeArrowheads="1"/>
          </p:cNvSpPr>
          <p:nvPr>
            <p:ph type="body" sz="half" idx="4294967295"/>
          </p:nvPr>
        </p:nvSpPr>
        <p:spPr>
          <a:xfrm>
            <a:off x="142875" y="981075"/>
            <a:ext cx="8826500" cy="1544638"/>
          </a:xfrm>
        </p:spPr>
        <p:txBody>
          <a:bodyPr/>
          <a:lstStyle/>
          <a:p>
            <a:pPr eaLnBrk="1" hangingPunct="1"/>
            <a:r>
              <a:rPr lang="zh-CN" altLang="en-US" sz="2800"/>
              <a:t>单片机</a:t>
            </a:r>
            <a:r>
              <a:rPr lang="en-US" altLang="zh-CN" sz="2800"/>
              <a:t>I/O</a:t>
            </a:r>
            <a:r>
              <a:rPr lang="zh-CN" altLang="en-US" sz="2800"/>
              <a:t>引脚本身</a:t>
            </a:r>
            <a:r>
              <a:rPr lang="zh-CN" altLang="en-US" sz="2800">
                <a:solidFill>
                  <a:srgbClr val="FF0000"/>
                </a:solidFill>
              </a:rPr>
              <a:t>驱动能力有限</a:t>
            </a:r>
            <a:r>
              <a:rPr lang="zh-CN" altLang="en-US" sz="2800"/>
              <a:t>，如果需要驱动功率较大的器件，如小型继电器或者固态继电器，</a:t>
            </a:r>
            <a:r>
              <a:rPr lang="zh-CN" altLang="en-US" sz="2800">
                <a:solidFill>
                  <a:srgbClr val="FF0000"/>
                </a:solidFill>
              </a:rPr>
              <a:t>可用单片机</a:t>
            </a:r>
            <a:r>
              <a:rPr lang="en-US" altLang="zh-CN" sz="2800">
                <a:solidFill>
                  <a:srgbClr val="FF0000"/>
                </a:solidFill>
              </a:rPr>
              <a:t>I/O</a:t>
            </a:r>
            <a:r>
              <a:rPr lang="zh-CN" altLang="en-US" sz="2800">
                <a:solidFill>
                  <a:srgbClr val="FF0000"/>
                </a:solidFill>
              </a:rPr>
              <a:t>引脚控制三极管进行输出</a:t>
            </a:r>
            <a:r>
              <a:rPr lang="zh-CN" altLang="en-US" sz="2800"/>
              <a:t>。以</a:t>
            </a:r>
            <a:r>
              <a:rPr lang="en-US" altLang="zh-CN" sz="2800"/>
              <a:t>P0.0</a:t>
            </a:r>
            <a:r>
              <a:rPr lang="zh-CN" altLang="en-US" sz="2800"/>
              <a:t>为例。</a:t>
            </a:r>
          </a:p>
        </p:txBody>
      </p:sp>
      <p:sp>
        <p:nvSpPr>
          <p:cNvPr id="144390" name="Rectangle 7">
            <a:extLst>
              <a:ext uri="{FF2B5EF4-FFF2-40B4-BE49-F238E27FC236}">
                <a16:creationId xmlns:a16="http://schemas.microsoft.com/office/drawing/2014/main" id="{D81B0C4F-8D0A-4C47-9981-5E973701280D}"/>
              </a:ext>
            </a:extLst>
          </p:cNvPr>
          <p:cNvSpPr>
            <a:spLocks noChangeArrowheads="1"/>
          </p:cNvSpPr>
          <p:nvPr/>
        </p:nvSpPr>
        <p:spPr bwMode="auto">
          <a:xfrm>
            <a:off x="2787650" y="6235700"/>
            <a:ext cx="4521200" cy="460375"/>
          </a:xfrm>
          <a:prstGeom prst="rect">
            <a:avLst/>
          </a:prstGeom>
          <a:noFill/>
          <a:ln>
            <a:noFill/>
          </a:ln>
          <a:effectLst/>
          <a:extLst>
            <a:ext uri="{909E8E84-426E-40DD-AFC4-6F175D3DCCD1}">
              <a14:hiddenFill xmlns:a14="http://schemas.microsoft.com/office/drawing/2010/main">
                <a:solidFill>
                  <a:schemeClr val="accent1">
                    <a:alpha val="50195"/>
                  </a:scheme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1" dirty="0">
                <a:solidFill>
                  <a:srgbClr val="990033"/>
                </a:solidFill>
                <a:latin typeface="宋体" panose="02010600030101010101" pitchFamily="2" charset="-122"/>
              </a:rPr>
              <a:t>图</a:t>
            </a:r>
            <a:r>
              <a:rPr lang="en-US" altLang="zh-CN" sz="2400" b="1" dirty="0">
                <a:solidFill>
                  <a:srgbClr val="990033"/>
                </a:solidFill>
                <a:latin typeface="宋体" panose="02010600030101010101" pitchFamily="2" charset="-122"/>
              </a:rPr>
              <a:t>3-21  </a:t>
            </a:r>
            <a:r>
              <a:rPr lang="zh-CN" altLang="en-US" sz="2400" b="1" dirty="0">
                <a:solidFill>
                  <a:srgbClr val="990033"/>
                </a:solidFill>
                <a:latin typeface="宋体" panose="02010600030101010101" pitchFamily="2" charset="-122"/>
              </a:rPr>
              <a:t>典型的三极管控制电路</a:t>
            </a:r>
          </a:p>
        </p:txBody>
      </p:sp>
      <p:sp>
        <p:nvSpPr>
          <p:cNvPr id="4" name="灯片编号占位符 3">
            <a:extLst>
              <a:ext uri="{FF2B5EF4-FFF2-40B4-BE49-F238E27FC236}">
                <a16:creationId xmlns:a16="http://schemas.microsoft.com/office/drawing/2014/main" id="{28499A1D-32B3-46ED-B022-C8A8A0D33A9C}"/>
              </a:ext>
            </a:extLst>
          </p:cNvPr>
          <p:cNvSpPr>
            <a:spLocks noGrp="1"/>
          </p:cNvSpPr>
          <p:nvPr>
            <p:ph type="sldNum" sz="quarter" idx="10"/>
          </p:nvPr>
        </p:nvSpPr>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a:fld id="{56B64D64-2CBA-4902-8EA6-4059120848AB}" type="slidenum">
              <a:rPr lang="en-US" altLang="zh-CN">
                <a:latin typeface="Arial" panose="020B0604020202020204" pitchFamily="34" charset="0"/>
              </a:rPr>
              <a:pPr algn="l"/>
              <a:t>78</a:t>
            </a:fld>
            <a:endParaRPr lang="en-US" altLang="zh-CN">
              <a:latin typeface="Arial" panose="020B0604020202020204" pitchFamily="34" charset="0"/>
            </a:endParaRPr>
          </a:p>
        </p:txBody>
      </p:sp>
      <p:sp>
        <p:nvSpPr>
          <p:cNvPr id="16" name="Rectangle 3">
            <a:extLst>
              <a:ext uri="{FF2B5EF4-FFF2-40B4-BE49-F238E27FC236}">
                <a16:creationId xmlns:a16="http://schemas.microsoft.com/office/drawing/2014/main" id="{5137D749-2C2B-43C6-AE5B-F3D025289E33}"/>
              </a:ext>
            </a:extLst>
          </p:cNvPr>
          <p:cNvSpPr txBox="1">
            <a:spLocks noChangeArrowheads="1"/>
          </p:cNvSpPr>
          <p:nvPr/>
        </p:nvSpPr>
        <p:spPr bwMode="auto">
          <a:xfrm>
            <a:off x="142875" y="2360613"/>
            <a:ext cx="8766175" cy="150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rtl="0" fontAlgn="base">
              <a:lnSpc>
                <a:spcPct val="114000"/>
              </a:lnSpc>
              <a:spcBef>
                <a:spcPct val="20000"/>
              </a:spcBef>
              <a:spcAft>
                <a:spcPts val="600"/>
              </a:spcAft>
              <a:buBlip>
                <a:blip r:embed="rId4"/>
              </a:buBlip>
              <a:defRPr sz="28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5"/>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1938" lvl="1" indent="-261938" algn="l" eaLnBrk="1" hangingPunct="1">
              <a:lnSpc>
                <a:spcPct val="114000"/>
              </a:lnSpc>
              <a:defRPr/>
            </a:pPr>
            <a:r>
              <a:rPr lang="zh-CN" altLang="en-US" kern="0" dirty="0">
                <a:latin typeface="Times New Roman" panose="02020603050405020304" pitchFamily="18" charset="0"/>
                <a:cs typeface="Times New Roman" panose="02020603050405020304" pitchFamily="18" charset="0"/>
              </a:rPr>
              <a:t>若用弱上拉控制</a:t>
            </a:r>
            <a:r>
              <a:rPr lang="en-US" altLang="zh-CN" kern="0" dirty="0">
                <a:latin typeface="Times New Roman" panose="02020603050405020304" pitchFamily="18" charset="0"/>
                <a:cs typeface="Times New Roman" panose="02020603050405020304" pitchFamily="18" charset="0"/>
              </a:rPr>
              <a:t>,</a:t>
            </a:r>
            <a:r>
              <a:rPr lang="zh-CN" altLang="en-US" kern="0" dirty="0">
                <a:latin typeface="Times New Roman" panose="02020603050405020304" pitchFamily="18" charset="0"/>
                <a:cs typeface="Times New Roman" panose="02020603050405020304" pitchFamily="18" charset="0"/>
              </a:rPr>
              <a:t>建议加上拉电阻</a:t>
            </a:r>
            <a:r>
              <a:rPr lang="en-US" altLang="zh-CN" kern="0" dirty="0">
                <a:solidFill>
                  <a:srgbClr val="FF0000"/>
                </a:solidFill>
                <a:latin typeface="Times New Roman" panose="02020603050405020304" pitchFamily="18" charset="0"/>
                <a:cs typeface="Times New Roman" panose="02020603050405020304" pitchFamily="18" charset="0"/>
              </a:rPr>
              <a:t>R1</a:t>
            </a:r>
            <a:r>
              <a:rPr lang="en-US" altLang="zh-CN" kern="0" dirty="0">
                <a:latin typeface="Times New Roman" panose="02020603050405020304" pitchFamily="18" charset="0"/>
                <a:cs typeface="Times New Roman" panose="02020603050405020304" pitchFamily="18" charset="0"/>
              </a:rPr>
              <a:t>(3.3K</a:t>
            </a:r>
            <a:r>
              <a:rPr lang="en-US" altLang="zh-CN" kern="0" dirty="0">
                <a:latin typeface="Times New Roman" panose="02020603050405020304" pitchFamily="18" charset="0"/>
                <a:cs typeface="Times New Roman" panose="02020603050405020304" pitchFamily="18" charset="0"/>
                <a:sym typeface="Symbol" pitchFamily="18" charset="2"/>
              </a:rPr>
              <a:t></a:t>
            </a:r>
            <a:r>
              <a:rPr lang="zh-CN" altLang="en-US" kern="0" dirty="0">
                <a:latin typeface="Times New Roman" panose="02020603050405020304" pitchFamily="18" charset="0"/>
                <a:cs typeface="Times New Roman" panose="02020603050405020304" pitchFamily="18" charset="0"/>
              </a:rPr>
              <a:t>～</a:t>
            </a:r>
            <a:r>
              <a:rPr lang="en-US" altLang="zh-CN" kern="0" dirty="0">
                <a:latin typeface="Times New Roman" panose="02020603050405020304" pitchFamily="18" charset="0"/>
                <a:cs typeface="Times New Roman" panose="02020603050405020304" pitchFamily="18" charset="0"/>
              </a:rPr>
              <a:t>10K</a:t>
            </a:r>
            <a:r>
              <a:rPr lang="en-US" altLang="zh-CN" kern="0" dirty="0">
                <a:latin typeface="Times New Roman" panose="02020603050405020304" pitchFamily="18" charset="0"/>
                <a:cs typeface="Times New Roman" panose="02020603050405020304" pitchFamily="18" charset="0"/>
                <a:sym typeface="Symbol" pitchFamily="18" charset="2"/>
              </a:rPr>
              <a:t>)</a:t>
            </a:r>
            <a:r>
              <a:rPr lang="en-US" altLang="zh-CN" kern="0" dirty="0">
                <a:latin typeface="Times New Roman" panose="02020603050405020304" pitchFamily="18" charset="0"/>
                <a:cs typeface="Times New Roman" panose="02020603050405020304" pitchFamily="18" charset="0"/>
              </a:rPr>
              <a:t>;</a:t>
            </a:r>
            <a:r>
              <a:rPr lang="zh-CN" altLang="en-US" kern="0" dirty="0">
                <a:latin typeface="Times New Roman" panose="02020603050405020304" pitchFamily="18" charset="0"/>
                <a:cs typeface="Times New Roman" panose="02020603050405020304" pitchFamily="18" charset="0"/>
              </a:rPr>
              <a:t>若不加上拉电阻</a:t>
            </a:r>
            <a:r>
              <a:rPr lang="en-US" altLang="zh-CN" kern="0" dirty="0">
                <a:latin typeface="Times New Roman" panose="02020603050405020304" pitchFamily="18" charset="0"/>
                <a:cs typeface="Times New Roman" panose="02020603050405020304" pitchFamily="18" charset="0"/>
              </a:rPr>
              <a:t>R1, </a:t>
            </a:r>
            <a:r>
              <a:rPr lang="zh-CN" altLang="en-US" kern="0" dirty="0">
                <a:latin typeface="Times New Roman" panose="02020603050405020304" pitchFamily="18" charset="0"/>
                <a:cs typeface="Times New Roman" panose="02020603050405020304" pitchFamily="18" charset="0"/>
              </a:rPr>
              <a:t>建议</a:t>
            </a:r>
            <a:r>
              <a:rPr lang="en-US" altLang="zh-CN" kern="0" dirty="0">
                <a:solidFill>
                  <a:srgbClr val="FF0000"/>
                </a:solidFill>
                <a:latin typeface="Times New Roman" panose="02020603050405020304" pitchFamily="18" charset="0"/>
                <a:cs typeface="Times New Roman" panose="02020603050405020304" pitchFamily="18" charset="0"/>
              </a:rPr>
              <a:t>R2</a:t>
            </a:r>
            <a:r>
              <a:rPr lang="zh-CN" altLang="en-US" kern="0" dirty="0">
                <a:solidFill>
                  <a:srgbClr val="FF0000"/>
                </a:solidFill>
                <a:latin typeface="Times New Roman" panose="02020603050405020304" pitchFamily="18" charset="0"/>
                <a:cs typeface="Times New Roman" panose="02020603050405020304" pitchFamily="18" charset="0"/>
              </a:rPr>
              <a:t>值</a:t>
            </a:r>
            <a:r>
              <a:rPr lang="zh-CN" altLang="en-US" kern="0" dirty="0">
                <a:latin typeface="Times New Roman" panose="02020603050405020304" pitchFamily="18" charset="0"/>
                <a:cs typeface="Times New Roman" panose="02020603050405020304" pitchFamily="18" charset="0"/>
              </a:rPr>
              <a:t>在</a:t>
            </a:r>
            <a:r>
              <a:rPr lang="en-US" altLang="zh-CN" kern="0" dirty="0">
                <a:latin typeface="Times New Roman" panose="02020603050405020304" pitchFamily="18" charset="0"/>
                <a:cs typeface="Times New Roman" panose="02020603050405020304" pitchFamily="18" charset="0"/>
              </a:rPr>
              <a:t>15K</a:t>
            </a:r>
            <a:r>
              <a:rPr lang="en-US" altLang="zh-CN" kern="0" dirty="0">
                <a:latin typeface="Times New Roman" panose="02020603050405020304" pitchFamily="18" charset="0"/>
                <a:cs typeface="Times New Roman" panose="02020603050405020304" pitchFamily="18" charset="0"/>
                <a:sym typeface="Symbol" pitchFamily="18" charset="2"/>
              </a:rPr>
              <a:t></a:t>
            </a:r>
            <a:r>
              <a:rPr lang="zh-CN" altLang="en-US" kern="0" dirty="0">
                <a:latin typeface="Times New Roman" panose="02020603050405020304" pitchFamily="18" charset="0"/>
                <a:cs typeface="Times New Roman" panose="02020603050405020304" pitchFamily="18" charset="0"/>
              </a:rPr>
              <a:t>以上</a:t>
            </a:r>
            <a:r>
              <a:rPr lang="en-US" altLang="zh-CN" kern="0" dirty="0">
                <a:latin typeface="Times New Roman" panose="02020603050405020304" pitchFamily="18" charset="0"/>
                <a:cs typeface="Times New Roman" panose="02020603050405020304" pitchFamily="18" charset="0"/>
              </a:rPr>
              <a:t>, </a:t>
            </a:r>
            <a:r>
              <a:rPr lang="zh-CN" altLang="en-US" kern="0" dirty="0">
                <a:latin typeface="Times New Roman" panose="02020603050405020304" pitchFamily="18" charset="0"/>
                <a:cs typeface="Times New Roman" panose="02020603050405020304" pitchFamily="18" charset="0"/>
              </a:rPr>
              <a:t>或用强推挽输出。</a:t>
            </a:r>
          </a:p>
        </p:txBody>
      </p:sp>
      <p:sp>
        <p:nvSpPr>
          <p:cNvPr id="5" name="矩形 4">
            <a:extLst>
              <a:ext uri="{FF2B5EF4-FFF2-40B4-BE49-F238E27FC236}">
                <a16:creationId xmlns:a16="http://schemas.microsoft.com/office/drawing/2014/main" id="{D62AE60F-EBD9-4E19-8B44-A8F20C8E3D33}"/>
              </a:ext>
            </a:extLst>
          </p:cNvPr>
          <p:cNvSpPr>
            <a:spLocks noChangeArrowheads="1"/>
          </p:cNvSpPr>
          <p:nvPr/>
        </p:nvSpPr>
        <p:spPr bwMode="auto">
          <a:xfrm>
            <a:off x="288925" y="4362450"/>
            <a:ext cx="225107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三极管基极电流</a:t>
            </a:r>
            <a:r>
              <a:rPr lang="en-US" altLang="zh-CN" sz="2800" b="1"/>
              <a:t>I</a:t>
            </a:r>
            <a:r>
              <a:rPr lang="en-US" altLang="zh-CN" sz="2800" b="1" baseline="-25000"/>
              <a:t>B</a:t>
            </a:r>
            <a:r>
              <a:rPr lang="zh-CN" altLang="en-US" sz="2800" b="1"/>
              <a:t>是数十</a:t>
            </a:r>
            <a:r>
              <a:rPr lang="el-GR" altLang="zh-CN" sz="2800" b="1"/>
              <a:t>μ</a:t>
            </a:r>
            <a:r>
              <a:rPr lang="en-US" altLang="zh-CN" sz="2800" b="1"/>
              <a:t>A</a:t>
            </a:r>
            <a:r>
              <a:rPr lang="zh-CN" altLang="en-US" sz="2800" b="1"/>
              <a:t>级别的</a:t>
            </a:r>
          </a:p>
        </p:txBody>
      </p:sp>
      <p:sp>
        <p:nvSpPr>
          <p:cNvPr id="144394" name="矩形 5">
            <a:extLst>
              <a:ext uri="{FF2B5EF4-FFF2-40B4-BE49-F238E27FC236}">
                <a16:creationId xmlns:a16="http://schemas.microsoft.com/office/drawing/2014/main" id="{2E34915B-F3EC-4B56-9725-2CA0E421FAAA}"/>
              </a:ext>
            </a:extLst>
          </p:cNvPr>
          <p:cNvSpPr>
            <a:spLocks noChangeArrowheads="1"/>
          </p:cNvSpPr>
          <p:nvPr/>
        </p:nvSpPr>
        <p:spPr bwMode="auto">
          <a:xfrm>
            <a:off x="2601913" y="3448050"/>
            <a:ext cx="2105025"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a:t>IAP15W4K58S4</a:t>
            </a:r>
            <a:endParaRPr lang="zh-CN" altLang="en-US" sz="24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标题 3">
            <a:extLst>
              <a:ext uri="{FF2B5EF4-FFF2-40B4-BE49-F238E27FC236}">
                <a16:creationId xmlns:a16="http://schemas.microsoft.com/office/drawing/2014/main" id="{F2F07D84-E619-4162-905B-C886BEF60132}"/>
              </a:ext>
            </a:extLst>
          </p:cNvPr>
          <p:cNvSpPr>
            <a:spLocks noGrp="1" noChangeArrowheads="1"/>
          </p:cNvSpPr>
          <p:nvPr>
            <p:ph type="title"/>
          </p:nvPr>
        </p:nvSpPr>
        <p:spPr>
          <a:xfrm>
            <a:off x="236538" y="371475"/>
            <a:ext cx="8229600" cy="504825"/>
          </a:xfrm>
        </p:spPr>
        <p:txBody>
          <a:bodyPr>
            <a:normAutofit fontScale="90000"/>
          </a:bodyPr>
          <a:lstStyle/>
          <a:p>
            <a:pPr eaLnBrk="1" hangingPunct="1"/>
            <a:r>
              <a:rPr kumimoji="1" lang="en-US" altLang="zh-CN">
                <a:solidFill>
                  <a:srgbClr val="FF0000"/>
                </a:solidFill>
              </a:rPr>
              <a:t>(4)  </a:t>
            </a:r>
            <a:r>
              <a:rPr lang="zh-CN" altLang="en-US"/>
              <a:t>典型的三极管控制电路</a:t>
            </a:r>
          </a:p>
        </p:txBody>
      </p:sp>
      <p:sp>
        <p:nvSpPr>
          <p:cNvPr id="5" name="灯片编号占位符 4">
            <a:extLst>
              <a:ext uri="{FF2B5EF4-FFF2-40B4-BE49-F238E27FC236}">
                <a16:creationId xmlns:a16="http://schemas.microsoft.com/office/drawing/2014/main" id="{77042090-A909-44AD-8859-C2BE1BC715C7}"/>
              </a:ext>
            </a:extLst>
          </p:cNvPr>
          <p:cNvSpPr>
            <a:spLocks noGrp="1"/>
          </p:cNvSpPr>
          <p:nvPr>
            <p:ph type="sldNum" sz="quarter" idx="10"/>
          </p:nvPr>
        </p:nvSpPr>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a:fld id="{5F448446-60E8-46A1-B61E-D5E50A2E0CA2}" type="slidenum">
              <a:rPr lang="en-US" altLang="zh-CN">
                <a:latin typeface="Arial" panose="020B0604020202020204" pitchFamily="34" charset="0"/>
              </a:rPr>
              <a:pPr algn="l"/>
              <a:t>79</a:t>
            </a:fld>
            <a:endParaRPr lang="en-US" altLang="zh-CN">
              <a:latin typeface="Arial" panose="020B0604020202020204" pitchFamily="34" charset="0"/>
            </a:endParaRPr>
          </a:p>
        </p:txBody>
      </p:sp>
      <p:pic>
        <p:nvPicPr>
          <p:cNvPr id="471042" name="Picture 2">
            <a:extLst>
              <a:ext uri="{FF2B5EF4-FFF2-40B4-BE49-F238E27FC236}">
                <a16:creationId xmlns:a16="http://schemas.microsoft.com/office/drawing/2014/main" id="{49B51CD6-1615-42DE-8D61-A3632F6B83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5011" y="4135210"/>
            <a:ext cx="3717925" cy="1712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38627" name="Rectangle 3">
            <a:extLst>
              <a:ext uri="{FF2B5EF4-FFF2-40B4-BE49-F238E27FC236}">
                <a16:creationId xmlns:a16="http://schemas.microsoft.com/office/drawing/2014/main" id="{C271FE62-D48C-4725-846F-A0FA2CA4340F}"/>
              </a:ext>
            </a:extLst>
          </p:cNvPr>
          <p:cNvSpPr>
            <a:spLocks noGrp="1" noChangeArrowheads="1"/>
          </p:cNvSpPr>
          <p:nvPr>
            <p:ph idx="1"/>
          </p:nvPr>
        </p:nvSpPr>
        <p:spPr>
          <a:xfrm>
            <a:off x="541293" y="1224643"/>
            <a:ext cx="7574008" cy="3483224"/>
          </a:xfrm>
        </p:spPr>
        <p:txBody>
          <a:bodyPr/>
          <a:lstStyle/>
          <a:p>
            <a:pPr marL="261938" lvl="1" indent="-261938" algn="l" eaLnBrk="1" hangingPunct="1">
              <a:lnSpc>
                <a:spcPct val="105000"/>
              </a:lnSpc>
              <a:spcBef>
                <a:spcPts val="0"/>
              </a:spcBef>
              <a:spcAft>
                <a:spcPts val="600"/>
              </a:spcAft>
              <a:defRPr/>
            </a:pPr>
            <a:r>
              <a:rPr lang="zh-CN" altLang="en-US" dirty="0"/>
              <a:t>当需要驱动的功率器件较多时</a:t>
            </a:r>
            <a:r>
              <a:rPr lang="en-US" altLang="zh-CN" dirty="0"/>
              <a:t>,</a:t>
            </a:r>
            <a:r>
              <a:rPr lang="zh-CN" altLang="en-US" dirty="0"/>
              <a:t>建议采用</a:t>
            </a:r>
            <a:r>
              <a:rPr lang="en-US" altLang="zh-CN" dirty="0">
                <a:solidFill>
                  <a:srgbClr val="FF0000"/>
                </a:solidFill>
              </a:rPr>
              <a:t>ULN2803(18</a:t>
            </a:r>
            <a:r>
              <a:rPr lang="zh-CN" altLang="en-US" dirty="0">
                <a:solidFill>
                  <a:srgbClr val="FF0000"/>
                </a:solidFill>
              </a:rPr>
              <a:t>引脚</a:t>
            </a:r>
            <a:r>
              <a:rPr lang="en-US" altLang="zh-CN" dirty="0">
                <a:solidFill>
                  <a:srgbClr val="FF0000"/>
                </a:solidFill>
              </a:rPr>
              <a:t>,</a:t>
            </a:r>
            <a:r>
              <a:rPr lang="zh-CN" altLang="en-US" dirty="0">
                <a:solidFill>
                  <a:srgbClr val="FF0000"/>
                </a:solidFill>
              </a:rPr>
              <a:t>或</a:t>
            </a:r>
            <a:r>
              <a:rPr lang="en-US" altLang="zh-CN" dirty="0">
                <a:solidFill>
                  <a:srgbClr val="FF0000"/>
                </a:solidFill>
              </a:rPr>
              <a:t>16</a:t>
            </a:r>
            <a:r>
              <a:rPr lang="zh-CN" altLang="en-US" dirty="0">
                <a:solidFill>
                  <a:srgbClr val="FF0000"/>
                </a:solidFill>
              </a:rPr>
              <a:t>脚</a:t>
            </a:r>
            <a:r>
              <a:rPr lang="en-US" altLang="zh-CN" dirty="0">
                <a:solidFill>
                  <a:srgbClr val="FF0000"/>
                </a:solidFill>
              </a:rPr>
              <a:t>ULN2003;TI, ST</a:t>
            </a:r>
            <a:r>
              <a:rPr lang="zh-CN" altLang="en-US" dirty="0">
                <a:solidFill>
                  <a:srgbClr val="FF0000"/>
                </a:solidFill>
              </a:rPr>
              <a:t>等公司产</a:t>
            </a:r>
            <a:r>
              <a:rPr lang="en-US" altLang="zh-CN" dirty="0">
                <a:solidFill>
                  <a:srgbClr val="FF0000"/>
                </a:solidFill>
              </a:rPr>
              <a:t>)</a:t>
            </a:r>
            <a:r>
              <a:rPr lang="en-US" altLang="zh-CN" dirty="0"/>
              <a:t>,</a:t>
            </a:r>
            <a:r>
              <a:rPr lang="zh-CN" altLang="en-US" dirty="0"/>
              <a:t>其内部采用</a:t>
            </a:r>
            <a:r>
              <a:rPr lang="zh-CN" altLang="en-US" dirty="0">
                <a:solidFill>
                  <a:srgbClr val="FF0000"/>
                </a:solidFill>
              </a:rPr>
              <a:t>达林顿结构</a:t>
            </a:r>
            <a:r>
              <a:rPr lang="en-US" altLang="zh-CN" dirty="0"/>
              <a:t>,</a:t>
            </a:r>
            <a:r>
              <a:rPr lang="zh-CN" altLang="en-US" dirty="0"/>
              <a:t>是</a:t>
            </a:r>
            <a:r>
              <a:rPr lang="zh-CN" altLang="en-US" dirty="0">
                <a:solidFill>
                  <a:srgbClr val="FF0000"/>
                </a:solidFill>
              </a:rPr>
              <a:t>专门用来驱动继电器</a:t>
            </a:r>
            <a:r>
              <a:rPr lang="zh-CN" altLang="en-US" dirty="0"/>
              <a:t>的芯片</a:t>
            </a:r>
            <a:r>
              <a:rPr lang="en-US" altLang="zh-CN" dirty="0"/>
              <a:t>,</a:t>
            </a:r>
            <a:r>
              <a:rPr lang="zh-CN" altLang="en-US" dirty="0"/>
              <a:t>甚至在芯片内部做了一个消去线圈反电动势的二极管。</a:t>
            </a:r>
            <a:endParaRPr lang="en-US" altLang="zh-CN" dirty="0"/>
          </a:p>
          <a:p>
            <a:pPr marL="261938" lvl="1" indent="-261938" algn="l" eaLnBrk="1" hangingPunct="1">
              <a:lnSpc>
                <a:spcPct val="105000"/>
              </a:lnSpc>
              <a:spcBef>
                <a:spcPts val="0"/>
              </a:spcBef>
              <a:spcAft>
                <a:spcPts val="600"/>
              </a:spcAft>
              <a:defRPr/>
            </a:pPr>
            <a:r>
              <a:rPr lang="en-US" altLang="zh-CN" dirty="0">
                <a:solidFill>
                  <a:srgbClr val="FF0000"/>
                </a:solidFill>
              </a:rPr>
              <a:t>ULN2803</a:t>
            </a:r>
            <a:r>
              <a:rPr lang="zh-CN" altLang="en-US" dirty="0"/>
              <a:t>输出端允许通过</a:t>
            </a:r>
            <a:r>
              <a:rPr lang="en-US" altLang="zh-CN" dirty="0"/>
              <a:t>IC</a:t>
            </a:r>
            <a:r>
              <a:rPr lang="zh-CN" altLang="en-US" dirty="0"/>
              <a:t>电流</a:t>
            </a:r>
            <a:r>
              <a:rPr lang="en-US" altLang="zh-CN" dirty="0">
                <a:solidFill>
                  <a:srgbClr val="FF00FF"/>
                </a:solidFill>
              </a:rPr>
              <a:t>600mA</a:t>
            </a:r>
            <a:r>
              <a:rPr lang="en-US" altLang="zh-CN" dirty="0"/>
              <a:t>,</a:t>
            </a:r>
            <a:r>
              <a:rPr lang="zh-CN" altLang="en-US" dirty="0"/>
              <a:t>耐压</a:t>
            </a:r>
            <a:r>
              <a:rPr lang="en-US" altLang="zh-CN" dirty="0"/>
              <a:t>BV</a:t>
            </a:r>
            <a:r>
              <a:rPr lang="en-US" altLang="zh-CN" baseline="-25000" dirty="0"/>
              <a:t>CEO</a:t>
            </a:r>
            <a:r>
              <a:rPr lang="zh-CN" altLang="en-US" dirty="0"/>
              <a:t>约</a:t>
            </a:r>
            <a:r>
              <a:rPr lang="en-US" altLang="zh-CN" dirty="0">
                <a:solidFill>
                  <a:srgbClr val="FF0000"/>
                </a:solidFill>
              </a:rPr>
              <a:t>50V</a:t>
            </a:r>
            <a:r>
              <a:rPr lang="zh-CN" altLang="en-US" dirty="0"/>
              <a:t>。</a:t>
            </a:r>
            <a:endParaRPr lang="en-US" altLang="zh-CN" dirty="0">
              <a:solidFill>
                <a:srgbClr val="FF0000"/>
              </a:solidFill>
            </a:endParaRPr>
          </a:p>
          <a:p>
            <a:pPr marL="261938" lvl="1" indent="-261938" algn="l" eaLnBrk="1" hangingPunct="1">
              <a:lnSpc>
                <a:spcPct val="105000"/>
              </a:lnSpc>
              <a:spcBef>
                <a:spcPts val="0"/>
              </a:spcBef>
              <a:spcAft>
                <a:spcPts val="600"/>
              </a:spcAft>
              <a:defRPr/>
            </a:pPr>
            <a:r>
              <a:rPr lang="en-US" altLang="zh-CN" dirty="0">
                <a:solidFill>
                  <a:srgbClr val="FF0000"/>
                </a:solidFill>
              </a:rPr>
              <a:t>ULN2003</a:t>
            </a:r>
            <a:r>
              <a:rPr lang="zh-CN" altLang="en-US" dirty="0"/>
              <a:t>输出端允许通过</a:t>
            </a:r>
            <a:r>
              <a:rPr lang="en-US" altLang="zh-CN" dirty="0"/>
              <a:t>IC</a:t>
            </a:r>
            <a:r>
              <a:rPr lang="zh-CN" altLang="en-US" dirty="0"/>
              <a:t>电流</a:t>
            </a:r>
            <a:r>
              <a:rPr lang="en-US" altLang="zh-CN" dirty="0">
                <a:solidFill>
                  <a:srgbClr val="FF00FF"/>
                </a:solidFill>
              </a:rPr>
              <a:t>200mA(</a:t>
            </a:r>
            <a:r>
              <a:rPr lang="zh-CN" altLang="en-US" dirty="0">
                <a:solidFill>
                  <a:srgbClr val="FF00FF"/>
                </a:solidFill>
              </a:rPr>
              <a:t>最大</a:t>
            </a:r>
            <a:r>
              <a:rPr lang="en-US" altLang="zh-CN" dirty="0">
                <a:solidFill>
                  <a:srgbClr val="FF00FF"/>
                </a:solidFill>
              </a:rPr>
              <a:t>500mA)</a:t>
            </a:r>
            <a:r>
              <a:rPr lang="en-US" altLang="zh-CN" dirty="0"/>
              <a:t>,</a:t>
            </a:r>
            <a:r>
              <a:rPr lang="zh-CN" altLang="en-US" dirty="0"/>
              <a:t>饱和压降</a:t>
            </a:r>
            <a:r>
              <a:rPr lang="en-US" altLang="zh-CN" dirty="0"/>
              <a:t>V</a:t>
            </a:r>
            <a:r>
              <a:rPr lang="en-US" altLang="zh-CN" baseline="-25000" dirty="0"/>
              <a:t>CE</a:t>
            </a:r>
            <a:r>
              <a:rPr lang="zh-CN" altLang="en-US" dirty="0"/>
              <a:t>约为</a:t>
            </a:r>
            <a:r>
              <a:rPr lang="en-US" altLang="zh-CN" dirty="0"/>
              <a:t>1V</a:t>
            </a:r>
            <a:r>
              <a:rPr lang="zh-CN" altLang="en-US" dirty="0"/>
              <a:t>左右</a:t>
            </a:r>
            <a:r>
              <a:rPr lang="en-US" altLang="zh-CN" dirty="0">
                <a:solidFill>
                  <a:srgbClr val="FF00FF"/>
                </a:solidFill>
              </a:rPr>
              <a:t>(200mA</a:t>
            </a:r>
            <a:r>
              <a:rPr lang="zh-CN" altLang="en-US" dirty="0">
                <a:solidFill>
                  <a:srgbClr val="FF00FF"/>
                </a:solidFill>
              </a:rPr>
              <a:t>时</a:t>
            </a:r>
            <a:r>
              <a:rPr lang="en-US" altLang="zh-CN" dirty="0">
                <a:solidFill>
                  <a:srgbClr val="FF00FF"/>
                </a:solidFill>
              </a:rPr>
              <a:t>)</a:t>
            </a:r>
            <a:r>
              <a:rPr lang="en-US" altLang="zh-CN" dirty="0"/>
              <a:t>,</a:t>
            </a:r>
            <a:r>
              <a:rPr lang="zh-CN" altLang="en-US" dirty="0"/>
              <a:t>耐压</a:t>
            </a:r>
            <a:r>
              <a:rPr lang="en-US" altLang="zh-CN" dirty="0"/>
              <a:t>BV</a:t>
            </a:r>
            <a:r>
              <a:rPr lang="en-US" altLang="zh-CN" baseline="-25000" dirty="0"/>
              <a:t>CEO</a:t>
            </a:r>
            <a:r>
              <a:rPr lang="zh-CN" altLang="en-US" dirty="0"/>
              <a:t>约为</a:t>
            </a:r>
            <a:r>
              <a:rPr lang="en-US" altLang="zh-CN" dirty="0">
                <a:solidFill>
                  <a:srgbClr val="FF0000"/>
                </a:solidFill>
              </a:rPr>
              <a:t>50V</a:t>
            </a:r>
            <a:r>
              <a:rPr lang="zh-CN" altLang="en-US" dirty="0"/>
              <a:t>。</a:t>
            </a:r>
            <a:endParaRPr lang="en-US" altLang="zh-CN" dirty="0"/>
          </a:p>
          <a:p>
            <a:pPr marL="261938" lvl="1" indent="-261938" algn="l" eaLnBrk="1" hangingPunct="1">
              <a:lnSpc>
                <a:spcPct val="105000"/>
              </a:lnSpc>
              <a:spcBef>
                <a:spcPts val="0"/>
              </a:spcBef>
              <a:spcAft>
                <a:spcPts val="600"/>
              </a:spcAft>
              <a:defRPr/>
            </a:pPr>
            <a:r>
              <a:rPr lang="zh-CN" altLang="en-US" dirty="0"/>
              <a:t>输出口的外接负载可根据以上参数估算。采用</a:t>
            </a:r>
            <a:r>
              <a:rPr lang="zh-CN" altLang="en-US" dirty="0">
                <a:hlinkClick r:id="rId3" action="ppaction://hlinksldjump"/>
              </a:rPr>
              <a:t>集电极开路输出</a:t>
            </a:r>
            <a:r>
              <a:rPr lang="zh-CN" altLang="en-US" dirty="0"/>
              <a:t>，输出电流大，可以直接驱动继电器或固体继电器</a:t>
            </a:r>
            <a:r>
              <a:rPr lang="en-US" altLang="zh-CN" dirty="0"/>
              <a:t>(SSR)</a:t>
            </a:r>
            <a:r>
              <a:rPr lang="zh-CN" altLang="en-US" dirty="0"/>
              <a:t>。</a:t>
            </a:r>
            <a:endParaRPr lang="en-US" altLang="zh-CN" dirty="0"/>
          </a:p>
          <a:p>
            <a:pPr marL="261938" lvl="1" indent="-261938" algn="l" eaLnBrk="1" hangingPunct="1">
              <a:lnSpc>
                <a:spcPct val="105000"/>
              </a:lnSpc>
              <a:spcBef>
                <a:spcPts val="0"/>
              </a:spcBef>
              <a:spcAft>
                <a:spcPts val="600"/>
              </a:spcAft>
              <a:defRPr/>
            </a:pPr>
            <a:r>
              <a:rPr lang="en-US" altLang="zh-CN" dirty="0">
                <a:solidFill>
                  <a:srgbClr val="FF0000"/>
                </a:solidFill>
              </a:rPr>
              <a:t>ULN2003(ULN2803)</a:t>
            </a:r>
            <a:r>
              <a:rPr lang="zh-CN" altLang="en-US" dirty="0">
                <a:solidFill>
                  <a:srgbClr val="FF0000"/>
                </a:solidFill>
              </a:rPr>
              <a:t>可以驱动</a:t>
            </a:r>
            <a:r>
              <a:rPr lang="en-US" altLang="zh-CN" dirty="0">
                <a:solidFill>
                  <a:srgbClr val="FF0000"/>
                </a:solidFill>
              </a:rPr>
              <a:t>7(8)</a:t>
            </a:r>
            <a:r>
              <a:rPr lang="zh-CN" altLang="en-US" dirty="0">
                <a:solidFill>
                  <a:srgbClr val="FF0000"/>
                </a:solidFill>
              </a:rPr>
              <a:t>个继电器</a:t>
            </a:r>
            <a:r>
              <a:rPr lang="zh-CN" altLang="en-US" dirty="0"/>
              <a:t>。</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3">
            <a:extLst>
              <a:ext uri="{FF2B5EF4-FFF2-40B4-BE49-F238E27FC236}">
                <a16:creationId xmlns:a16="http://schemas.microsoft.com/office/drawing/2014/main" id="{59B38FCE-10AC-4FD3-A0E7-417B5CA7F24F}"/>
              </a:ext>
            </a:extLst>
          </p:cNvPr>
          <p:cNvSpPr>
            <a:spLocks noGrp="1" noChangeArrowheads="1"/>
          </p:cNvSpPr>
          <p:nvPr>
            <p:ph type="title"/>
          </p:nvPr>
        </p:nvSpPr>
        <p:spPr>
          <a:xfrm>
            <a:off x="468313" y="357188"/>
            <a:ext cx="8229600" cy="504825"/>
          </a:xfrm>
        </p:spPr>
        <p:txBody>
          <a:bodyPr>
            <a:normAutofit fontScale="90000"/>
          </a:bodyPr>
          <a:lstStyle/>
          <a:p>
            <a:pPr eaLnBrk="1" hangingPunct="1"/>
            <a:r>
              <a:rPr kumimoji="1" lang="en-US" altLang="zh-CN" sz="3600"/>
              <a:t>§3.5  </a:t>
            </a:r>
            <a:r>
              <a:rPr kumimoji="1" lang="zh-CN" altLang="en-US" sz="3600"/>
              <a:t>单片机应用系统的典型构成</a:t>
            </a:r>
          </a:p>
        </p:txBody>
      </p:sp>
      <p:sp>
        <p:nvSpPr>
          <p:cNvPr id="427010" name="Rectangle 2">
            <a:extLst>
              <a:ext uri="{FF2B5EF4-FFF2-40B4-BE49-F238E27FC236}">
                <a16:creationId xmlns:a16="http://schemas.microsoft.com/office/drawing/2014/main" id="{F94F19D7-B361-400B-A21E-D8848069D8D4}"/>
              </a:ext>
            </a:extLst>
          </p:cNvPr>
          <p:cNvSpPr>
            <a:spLocks noGrp="1" noChangeArrowheads="1"/>
          </p:cNvSpPr>
          <p:nvPr>
            <p:ph idx="1"/>
          </p:nvPr>
        </p:nvSpPr>
        <p:spPr>
          <a:xfrm>
            <a:off x="101600" y="1382486"/>
            <a:ext cx="8882063" cy="2130652"/>
          </a:xfrm>
        </p:spPr>
        <p:txBody>
          <a:bodyPr/>
          <a:lstStyle/>
          <a:p>
            <a:pPr eaLnBrk="1" hangingPunct="1">
              <a:lnSpc>
                <a:spcPct val="104000"/>
              </a:lnSpc>
              <a:spcBef>
                <a:spcPts val="0"/>
              </a:spcBef>
              <a:buFontTx/>
              <a:buNone/>
              <a:defRPr/>
            </a:pPr>
            <a:r>
              <a:rPr lang="en-US" altLang="zh-CN" dirty="0">
                <a:solidFill>
                  <a:srgbClr val="FF0000"/>
                </a:solidFill>
              </a:rPr>
              <a:t>1</a:t>
            </a:r>
            <a:r>
              <a:rPr lang="zh-CN" altLang="en-US" dirty="0">
                <a:solidFill>
                  <a:srgbClr val="FF0000"/>
                </a:solidFill>
              </a:rPr>
              <a:t>、单片机最小系统构成</a:t>
            </a:r>
          </a:p>
          <a:p>
            <a:pPr marL="261938" indent="-261938" eaLnBrk="1" hangingPunct="1">
              <a:lnSpc>
                <a:spcPct val="104000"/>
              </a:lnSpc>
              <a:spcBef>
                <a:spcPts val="0"/>
              </a:spcBef>
              <a:defRPr/>
            </a:pPr>
            <a:r>
              <a:rPr lang="zh-CN" altLang="en-US" dirty="0"/>
              <a:t>在实际工程应用中，由于应用条件及控制要求的不同，单片机外围电路的组成各不相同。</a:t>
            </a:r>
          </a:p>
          <a:p>
            <a:pPr marL="261938" indent="-261938" eaLnBrk="1" hangingPunct="1">
              <a:lnSpc>
                <a:spcPct val="104000"/>
              </a:lnSpc>
              <a:spcBef>
                <a:spcPts val="0"/>
              </a:spcBef>
              <a:defRPr/>
            </a:pPr>
            <a:r>
              <a:rPr lang="zh-CN" altLang="en-US" dirty="0">
                <a:solidFill>
                  <a:srgbClr val="CC3300"/>
                </a:solidFill>
              </a:rPr>
              <a:t>单片机最小系统</a:t>
            </a:r>
            <a:r>
              <a:rPr lang="zh-CN" altLang="en-US" dirty="0"/>
              <a:t>是指在尽可能少的外部电路条件下</a:t>
            </a:r>
            <a:r>
              <a:rPr lang="en-US" altLang="zh-CN" dirty="0"/>
              <a:t>,</a:t>
            </a:r>
            <a:r>
              <a:rPr lang="zh-CN" altLang="en-US" dirty="0">
                <a:solidFill>
                  <a:srgbClr val="0000FF"/>
                </a:solidFill>
              </a:rPr>
              <a:t>能使单片机独立工作的系统</a:t>
            </a:r>
            <a:r>
              <a:rPr lang="zh-CN" altLang="en-US" dirty="0"/>
              <a:t>。</a:t>
            </a:r>
          </a:p>
          <a:p>
            <a:pPr eaLnBrk="1" hangingPunct="1">
              <a:lnSpc>
                <a:spcPct val="104000"/>
              </a:lnSpc>
              <a:spcBef>
                <a:spcPts val="0"/>
              </a:spcBef>
              <a:buFontTx/>
              <a:buNone/>
              <a:defRPr/>
            </a:pPr>
            <a:endParaRPr kumimoji="1" lang="en-US" altLang="zh-CN" dirty="0"/>
          </a:p>
        </p:txBody>
      </p:sp>
      <p:sp>
        <p:nvSpPr>
          <p:cNvPr id="2" name="日期占位符 1">
            <a:extLst>
              <a:ext uri="{FF2B5EF4-FFF2-40B4-BE49-F238E27FC236}">
                <a16:creationId xmlns:a16="http://schemas.microsoft.com/office/drawing/2014/main" id="{E06B5886-0BFA-4C7E-92AE-BF6F7BADD21B}"/>
              </a:ext>
            </a:extLst>
          </p:cNvPr>
          <p:cNvSpPr>
            <a:spLocks noGrp="1"/>
          </p:cNvSpPr>
          <p:nvPr>
            <p:ph type="dt" sz="quarter" idx="11"/>
          </p:nvPr>
        </p:nvSpPr>
        <p:spPr/>
        <p:txBody>
          <a:bodyPr/>
          <a:lstStyle/>
          <a:p>
            <a:pPr>
              <a:defRPr/>
            </a:pPr>
            <a:fld id="{08960AF0-3DCB-4949-BA23-7AA6795CFAE1}" type="datetime10">
              <a:rPr lang="zh-CN" altLang="en-US"/>
              <a:pPr>
                <a:defRPr/>
              </a:pPr>
              <a:t>00:30</a:t>
            </a:fld>
            <a:endParaRPr lang="zh-CN" altLang="en-US"/>
          </a:p>
        </p:txBody>
      </p:sp>
      <p:sp>
        <p:nvSpPr>
          <p:cNvPr id="7" name="Rectangle 3">
            <a:extLst>
              <a:ext uri="{FF2B5EF4-FFF2-40B4-BE49-F238E27FC236}">
                <a16:creationId xmlns:a16="http://schemas.microsoft.com/office/drawing/2014/main" id="{4FF45EB2-E6F2-4F14-9777-FCF33EFC5C01}"/>
              </a:ext>
            </a:extLst>
          </p:cNvPr>
          <p:cNvSpPr txBox="1">
            <a:spLocks noChangeArrowheads="1"/>
          </p:cNvSpPr>
          <p:nvPr/>
        </p:nvSpPr>
        <p:spPr bwMode="auto">
          <a:xfrm>
            <a:off x="0" y="3478213"/>
            <a:ext cx="5661025" cy="3024187"/>
          </a:xfrm>
          <a:prstGeom prst="rect">
            <a:avLst/>
          </a:prstGeom>
          <a:solidFill>
            <a:schemeClr val="bg1"/>
          </a:solidFill>
          <a:ln>
            <a:noFill/>
          </a:ln>
          <a:effectLst/>
        </p:spPr>
        <p:txBody>
          <a:bodyPr/>
          <a:lstStyle>
            <a:lvl1pPr marL="342900" indent="-342900" algn="just" rtl="0" fontAlgn="base">
              <a:lnSpc>
                <a:spcPct val="114000"/>
              </a:lnSpc>
              <a:spcBef>
                <a:spcPct val="20000"/>
              </a:spcBef>
              <a:spcAft>
                <a:spcPts val="600"/>
              </a:spcAft>
              <a:buBlip>
                <a:blip r:embed="rId2"/>
              </a:buBlip>
              <a:defRPr sz="2800" b="1">
                <a:solidFill>
                  <a:schemeClr val="accent2"/>
                </a:solidFill>
                <a:latin typeface="+mj-ea"/>
                <a:ea typeface="+mj-ea"/>
                <a:cs typeface="+mn-cs"/>
              </a:defRPr>
            </a:lvl1pPr>
            <a:lvl2pPr marL="742950" indent="-285750" algn="just" rtl="0" fontAlgn="base">
              <a:spcBef>
                <a:spcPct val="20000"/>
              </a:spcBef>
              <a:spcAft>
                <a:spcPct val="0"/>
              </a:spcAft>
              <a:buBlip>
                <a:blip r:embed="rId3"/>
              </a:buBlip>
              <a:defRPr sz="2800" b="1">
                <a:solidFill>
                  <a:schemeClr val="tx1"/>
                </a:solidFill>
                <a:latin typeface="+mj-ea"/>
                <a:ea typeface="+mj-ea"/>
              </a:defRPr>
            </a:lvl2pPr>
            <a:lvl3pPr marL="1143000" indent="-228600" algn="just" rtl="0" fontAlgn="base">
              <a:spcBef>
                <a:spcPct val="20000"/>
              </a:spcBef>
              <a:spcAft>
                <a:spcPct val="0"/>
              </a:spcAft>
              <a:buChar char="•"/>
              <a:defRPr sz="2400">
                <a:solidFill>
                  <a:schemeClr val="tx1"/>
                </a:solidFill>
                <a:latin typeface="+mj-ea"/>
                <a:ea typeface="+mj-ea"/>
              </a:defRPr>
            </a:lvl3pPr>
            <a:lvl4pPr marL="1600200" indent="-228600" algn="just" rtl="0" fontAlgn="base">
              <a:spcBef>
                <a:spcPct val="20000"/>
              </a:spcBef>
              <a:spcAft>
                <a:spcPct val="0"/>
              </a:spcAft>
              <a:buChar char="–"/>
              <a:defRPr sz="2000">
                <a:solidFill>
                  <a:schemeClr val="tx1"/>
                </a:solidFill>
                <a:latin typeface="+mj-ea"/>
                <a:ea typeface="+mj-ea"/>
              </a:defRPr>
            </a:lvl4pPr>
            <a:lvl5pPr marL="2057400" indent="-228600" algn="just" rtl="0" fontAlgn="base">
              <a:spcBef>
                <a:spcPct val="20000"/>
              </a:spcBef>
              <a:spcAft>
                <a:spcPct val="0"/>
              </a:spcAft>
              <a:buChar char="»"/>
              <a:defRPr sz="2000">
                <a:solidFill>
                  <a:schemeClr val="tx1"/>
                </a:solidFill>
                <a:latin typeface="+mj-ea"/>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261938" lvl="1" indent="-261938" algn="l" eaLnBrk="1" hangingPunct="1">
              <a:defRPr/>
            </a:pPr>
            <a:r>
              <a:rPr lang="en-US" altLang="zh-CN" kern="0" dirty="0">
                <a:solidFill>
                  <a:srgbClr val="0000FF"/>
                </a:solidFill>
              </a:rPr>
              <a:t>IAP15W4K58S4</a:t>
            </a:r>
            <a:r>
              <a:rPr lang="zh-CN" altLang="en-US" kern="0" dirty="0"/>
              <a:t>集成了</a:t>
            </a:r>
            <a:r>
              <a:rPr lang="en-US" altLang="zh-CN" kern="0" dirty="0"/>
              <a:t>58KB</a:t>
            </a:r>
            <a:r>
              <a:rPr lang="zh-CN" altLang="en-US" kern="0" dirty="0"/>
              <a:t>程序存储器、</a:t>
            </a:r>
            <a:r>
              <a:rPr lang="en-US" altLang="zh-CN" kern="0" dirty="0"/>
              <a:t>4096</a:t>
            </a:r>
            <a:r>
              <a:rPr lang="zh-CN" altLang="en-US" kern="0" dirty="0"/>
              <a:t>字节</a:t>
            </a:r>
            <a:r>
              <a:rPr lang="en-US" altLang="zh-CN" kern="0" dirty="0"/>
              <a:t>RAM</a:t>
            </a:r>
            <a:r>
              <a:rPr lang="zh-CN" altLang="en-US" kern="0" dirty="0"/>
              <a:t>、高可靠复位电路和高精度</a:t>
            </a:r>
            <a:r>
              <a:rPr lang="en-US" altLang="zh-CN" kern="0" dirty="0"/>
              <a:t>R/C</a:t>
            </a:r>
            <a:r>
              <a:rPr lang="zh-CN" altLang="en-US" kern="0" dirty="0"/>
              <a:t>振荡器</a:t>
            </a:r>
            <a:r>
              <a:rPr lang="en-US" altLang="zh-CN" kern="0" dirty="0"/>
              <a:t>,</a:t>
            </a:r>
            <a:r>
              <a:rPr lang="zh-CN" altLang="en-US" kern="0" dirty="0"/>
              <a:t>一般不需外部复位电路和外部晶振。</a:t>
            </a:r>
          </a:p>
          <a:p>
            <a:pPr marL="261938" lvl="1" indent="-261938" algn="l" eaLnBrk="1" hangingPunct="1">
              <a:defRPr/>
            </a:pPr>
            <a:r>
              <a:rPr lang="zh-CN" altLang="en-US" kern="0" dirty="0">
                <a:solidFill>
                  <a:srgbClr val="0000FF"/>
                </a:solidFill>
              </a:rPr>
              <a:t>只需要接上电源</a:t>
            </a:r>
            <a:r>
              <a:rPr lang="en-US" altLang="zh-CN" kern="0" dirty="0"/>
              <a:t>, </a:t>
            </a:r>
            <a:r>
              <a:rPr lang="zh-CN" altLang="en-US" kern="0" dirty="0"/>
              <a:t>并在</a:t>
            </a:r>
            <a:r>
              <a:rPr lang="en-US" altLang="zh-CN" kern="0" dirty="0" err="1"/>
              <a:t>Vcc</a:t>
            </a:r>
            <a:r>
              <a:rPr lang="zh-CN" altLang="en-US" kern="0" dirty="0"/>
              <a:t>和</a:t>
            </a:r>
            <a:r>
              <a:rPr lang="en-US" altLang="zh-CN" kern="0" dirty="0"/>
              <a:t>GND</a:t>
            </a:r>
            <a:r>
              <a:rPr lang="zh-CN" altLang="en-US" kern="0" dirty="0"/>
              <a:t>之间接上滤波电容</a:t>
            </a:r>
            <a:r>
              <a:rPr lang="en-US" altLang="zh-CN" kern="0" dirty="0"/>
              <a:t>C1</a:t>
            </a:r>
            <a:r>
              <a:rPr lang="zh-CN" altLang="en-US" kern="0" dirty="0"/>
              <a:t>和</a:t>
            </a:r>
            <a:r>
              <a:rPr lang="en-US" altLang="zh-CN" kern="0" dirty="0"/>
              <a:t>C2</a:t>
            </a:r>
            <a:r>
              <a:rPr lang="zh-CN" altLang="en-US" kern="0" dirty="0"/>
              <a:t>。</a:t>
            </a:r>
            <a:endParaRPr lang="en-US" altLang="zh-CN" sz="2400" kern="0" dirty="0"/>
          </a:p>
        </p:txBody>
      </p:sp>
      <p:sp>
        <p:nvSpPr>
          <p:cNvPr id="3" name="灯片编号占位符 2">
            <a:extLst>
              <a:ext uri="{FF2B5EF4-FFF2-40B4-BE49-F238E27FC236}">
                <a16:creationId xmlns:a16="http://schemas.microsoft.com/office/drawing/2014/main" id="{A91905EF-1968-4247-B926-CE012F84BCEC}"/>
              </a:ext>
            </a:extLst>
          </p:cNvPr>
          <p:cNvSpPr>
            <a:spLocks noGrp="1"/>
          </p:cNvSpPr>
          <p:nvPr>
            <p:ph type="sldNum" sz="quarter" idx="10"/>
          </p:nvPr>
        </p:nvSpPr>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a:fld id="{BA7997AF-C1E5-4AC1-BA64-0991EF5B3352}" type="slidenum">
              <a:rPr lang="en-US" altLang="zh-CN">
                <a:latin typeface="Arial" panose="020B0604020202020204" pitchFamily="34" charset="0"/>
              </a:rPr>
              <a:pPr algn="l"/>
              <a:t>80</a:t>
            </a:fld>
            <a:endParaRPr lang="en-US" altLang="zh-CN">
              <a:latin typeface="Arial" panose="020B0604020202020204" pitchFamily="34" charset="0"/>
            </a:endParaRPr>
          </a:p>
        </p:txBody>
      </p:sp>
      <p:pic>
        <p:nvPicPr>
          <p:cNvPr id="152583" name="Picture 8">
            <a:extLst>
              <a:ext uri="{FF2B5EF4-FFF2-40B4-BE49-F238E27FC236}">
                <a16:creationId xmlns:a16="http://schemas.microsoft.com/office/drawing/2014/main" id="{BD5CAE74-9DB3-4AA6-ACCC-D032EB1F57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3550" y="3149600"/>
            <a:ext cx="3571875" cy="3352800"/>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427010">
                                            <p:txEl>
                                              <p:pRg st="0" end="0"/>
                                            </p:txEl>
                                          </p:spTgt>
                                        </p:tgtEl>
                                        <p:attrNameLst>
                                          <p:attrName>style.visibility</p:attrName>
                                        </p:attrNameLst>
                                      </p:cBhvr>
                                      <p:to>
                                        <p:strVal val="visible"/>
                                      </p:to>
                                    </p:set>
                                    <p:anim calcmode="lin" valueType="num">
                                      <p:cBhvr additive="base">
                                        <p:cTn id="7" dur="500" fill="hold"/>
                                        <p:tgtEl>
                                          <p:spTgt spid="4270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7010">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42" presetClass="entr" presetSubtype="0" fill="hold" nodeType="afterEffect">
                                  <p:stCondLst>
                                    <p:cond delay="0"/>
                                  </p:stCondLst>
                                  <p:childTnLst>
                                    <p:set>
                                      <p:cBhvr>
                                        <p:cTn id="11" dur="1" fill="hold">
                                          <p:stCondLst>
                                            <p:cond delay="0"/>
                                          </p:stCondLst>
                                        </p:cTn>
                                        <p:tgtEl>
                                          <p:spTgt spid="427010">
                                            <p:txEl>
                                              <p:pRg st="1" end="1"/>
                                            </p:txEl>
                                          </p:spTgt>
                                        </p:tgtEl>
                                        <p:attrNameLst>
                                          <p:attrName>style.visibility</p:attrName>
                                        </p:attrNameLst>
                                      </p:cBhvr>
                                      <p:to>
                                        <p:strVal val="visible"/>
                                      </p:to>
                                    </p:set>
                                    <p:animEffect transition="in" filter="fade">
                                      <p:cBhvr>
                                        <p:cTn id="12" dur="1000"/>
                                        <p:tgtEl>
                                          <p:spTgt spid="427010">
                                            <p:txEl>
                                              <p:pRg st="1" end="1"/>
                                            </p:txEl>
                                          </p:spTgt>
                                        </p:tgtEl>
                                      </p:cBhvr>
                                    </p:animEffect>
                                    <p:anim calcmode="lin" valueType="num">
                                      <p:cBhvr>
                                        <p:cTn id="13" dur="1000" fill="hold"/>
                                        <p:tgtEl>
                                          <p:spTgt spid="427010">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27010">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27010">
                                            <p:txEl>
                                              <p:pRg st="2" end="2"/>
                                            </p:txEl>
                                          </p:spTgt>
                                        </p:tgtEl>
                                        <p:attrNameLst>
                                          <p:attrName>style.visibility</p:attrName>
                                        </p:attrNameLst>
                                      </p:cBhvr>
                                      <p:to>
                                        <p:strVal val="visible"/>
                                      </p:to>
                                    </p:set>
                                    <p:animEffect transition="in" filter="fade">
                                      <p:cBhvr>
                                        <p:cTn id="17" dur="1000"/>
                                        <p:tgtEl>
                                          <p:spTgt spid="427010">
                                            <p:txEl>
                                              <p:pRg st="2" end="2"/>
                                            </p:txEl>
                                          </p:spTgt>
                                        </p:tgtEl>
                                      </p:cBhvr>
                                    </p:animEffect>
                                    <p:anim calcmode="lin" valueType="num">
                                      <p:cBhvr>
                                        <p:cTn id="18" dur="1000" fill="hold"/>
                                        <p:tgtEl>
                                          <p:spTgt spid="427010">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270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7">
                                            <p:bg/>
                                          </p:spTgt>
                                        </p:tgtEl>
                                        <p:attrNameLst>
                                          <p:attrName>style.visibility</p:attrName>
                                        </p:attrNameLst>
                                      </p:cBhvr>
                                      <p:to>
                                        <p:strVal val="visible"/>
                                      </p:to>
                                    </p:set>
                                    <p:animEffect transition="in" filter="slide(fromBottom)">
                                      <p:cBhvr>
                                        <p:cTn id="24" dur="500"/>
                                        <p:tgtEl>
                                          <p:spTgt spid="7">
                                            <p:bg/>
                                          </p:spTgt>
                                        </p:tgtEl>
                                      </p:cBhvr>
                                    </p:animEffect>
                                  </p:childTnLst>
                                </p:cTn>
                              </p:par>
                            </p:childTnLst>
                          </p:cTn>
                        </p:par>
                        <p:par>
                          <p:cTn id="25" fill="hold" nodeType="afterGroup">
                            <p:stCondLst>
                              <p:cond delay="500"/>
                            </p:stCondLst>
                            <p:childTnLst>
                              <p:par>
                                <p:cTn id="26" presetID="12" presetClass="entr" presetSubtype="4" fill="hold" grpId="0" nodeType="afterEffect">
                                  <p:stCondLst>
                                    <p:cond delay="0"/>
                                  </p:stCondLst>
                                  <p:childTnLst>
                                    <p:set>
                                      <p:cBhvr>
                                        <p:cTn id="27" dur="1" fill="hold">
                                          <p:stCondLst>
                                            <p:cond delay="0"/>
                                          </p:stCondLst>
                                        </p:cTn>
                                        <p:tgtEl>
                                          <p:spTgt spid="7">
                                            <p:txEl>
                                              <p:pRg st="0" end="0"/>
                                            </p:txEl>
                                          </p:spTgt>
                                        </p:tgtEl>
                                        <p:attrNameLst>
                                          <p:attrName>style.visibility</p:attrName>
                                        </p:attrNameLst>
                                      </p:cBhvr>
                                      <p:to>
                                        <p:strVal val="visible"/>
                                      </p:to>
                                    </p:set>
                                    <p:animEffect transition="in" filter="slide(fromBottom)">
                                      <p:cBhvr>
                                        <p:cTn id="28" dur="500"/>
                                        <p:tgtEl>
                                          <p:spTgt spid="7">
                                            <p:txEl>
                                              <p:pRg st="0" end="0"/>
                                            </p:txEl>
                                          </p:spTgt>
                                        </p:tgtEl>
                                      </p:cBhvr>
                                    </p:animEffect>
                                  </p:childTnLst>
                                </p:cTn>
                              </p:par>
                            </p:childTnLst>
                          </p:cTn>
                        </p:par>
                        <p:par>
                          <p:cTn id="29" fill="hold" nodeType="afterGroup">
                            <p:stCondLst>
                              <p:cond delay="1000"/>
                            </p:stCondLst>
                            <p:childTnLst>
                              <p:par>
                                <p:cTn id="30" presetID="12" presetClass="entr" presetSubtype="4" fill="hold" grpId="0" nodeType="after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slide(fromBottom)">
                                      <p:cBhvr>
                                        <p:cTn id="3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4">
            <a:extLst>
              <a:ext uri="{FF2B5EF4-FFF2-40B4-BE49-F238E27FC236}">
                <a16:creationId xmlns:a16="http://schemas.microsoft.com/office/drawing/2014/main" id="{6E4C4BBE-50BC-4FB2-8A3F-038DB069B747}"/>
              </a:ext>
            </a:extLst>
          </p:cNvPr>
          <p:cNvGraphicFramePr>
            <a:graphicFrameLocks noChangeAspect="1"/>
          </p:cNvGraphicFramePr>
          <p:nvPr/>
        </p:nvGraphicFramePr>
        <p:xfrm>
          <a:off x="660400" y="2314575"/>
          <a:ext cx="7950200" cy="4413250"/>
        </p:xfrm>
        <a:graphic>
          <a:graphicData uri="http://schemas.openxmlformats.org/presentationml/2006/ole">
            <mc:AlternateContent xmlns:mc="http://schemas.openxmlformats.org/markup-compatibility/2006">
              <mc:Choice xmlns:v="urn:schemas-microsoft-com:vml" Requires="v">
                <p:oleObj name="Visio" r:id="rId2" imgW="3561445" imgH="1975961" progId="Visio.Drawing.11">
                  <p:embed/>
                </p:oleObj>
              </mc:Choice>
              <mc:Fallback>
                <p:oleObj name="Visio" r:id="rId2" imgW="3561445" imgH="1975961" progId="Visio.Drawing.11">
                  <p:embed/>
                  <p:pic>
                    <p:nvPicPr>
                      <p:cNvPr id="12" name="Object 4">
                        <a:extLst>
                          <a:ext uri="{FF2B5EF4-FFF2-40B4-BE49-F238E27FC236}">
                            <a16:creationId xmlns:a16="http://schemas.microsoft.com/office/drawing/2014/main" id="{6E4C4BBE-50BC-4FB2-8A3F-038DB069B7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400" y="2314575"/>
                        <a:ext cx="7950200" cy="441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03" name="标题 2">
            <a:extLst>
              <a:ext uri="{FF2B5EF4-FFF2-40B4-BE49-F238E27FC236}">
                <a16:creationId xmlns:a16="http://schemas.microsoft.com/office/drawing/2014/main" id="{E6749E88-A9D5-430A-8A24-D33D803F42A8}"/>
              </a:ext>
            </a:extLst>
          </p:cNvPr>
          <p:cNvSpPr>
            <a:spLocks noGrp="1" noChangeArrowheads="1"/>
          </p:cNvSpPr>
          <p:nvPr>
            <p:ph type="title"/>
          </p:nvPr>
        </p:nvSpPr>
        <p:spPr>
          <a:xfrm>
            <a:off x="468313" y="357188"/>
            <a:ext cx="8229600" cy="504825"/>
          </a:xfrm>
        </p:spPr>
        <p:txBody>
          <a:bodyPr>
            <a:normAutofit fontScale="90000"/>
          </a:bodyPr>
          <a:lstStyle/>
          <a:p>
            <a:pPr eaLnBrk="1" hangingPunct="1"/>
            <a:r>
              <a:rPr lang="en-US" altLang="zh-CN">
                <a:solidFill>
                  <a:srgbClr val="FF0000"/>
                </a:solidFill>
              </a:rPr>
              <a:t>1</a:t>
            </a:r>
            <a:r>
              <a:rPr lang="zh-CN" altLang="en-US">
                <a:solidFill>
                  <a:srgbClr val="FF0000"/>
                </a:solidFill>
              </a:rPr>
              <a:t>、单片机最小系统构成</a:t>
            </a:r>
            <a:endParaRPr lang="zh-CN" altLang="en-US"/>
          </a:p>
        </p:txBody>
      </p:sp>
      <p:sp>
        <p:nvSpPr>
          <p:cNvPr id="2" name="日期占位符 1">
            <a:extLst>
              <a:ext uri="{FF2B5EF4-FFF2-40B4-BE49-F238E27FC236}">
                <a16:creationId xmlns:a16="http://schemas.microsoft.com/office/drawing/2014/main" id="{949E9643-876D-45C4-99FF-D7164A819EAE}"/>
              </a:ext>
            </a:extLst>
          </p:cNvPr>
          <p:cNvSpPr>
            <a:spLocks noGrp="1"/>
          </p:cNvSpPr>
          <p:nvPr>
            <p:ph type="dt" sz="quarter" idx="11"/>
          </p:nvPr>
        </p:nvSpPr>
        <p:spPr/>
        <p:txBody>
          <a:bodyPr/>
          <a:lstStyle/>
          <a:p>
            <a:pPr>
              <a:defRPr/>
            </a:pPr>
            <a:fld id="{C090535D-7812-4DBD-A731-C5C1ED078589}" type="datetime10">
              <a:rPr lang="zh-CN" altLang="en-US"/>
              <a:pPr>
                <a:defRPr/>
              </a:pPr>
              <a:t>00:30</a:t>
            </a:fld>
            <a:endParaRPr lang="zh-CN" altLang="en-US"/>
          </a:p>
        </p:txBody>
      </p:sp>
      <p:sp>
        <p:nvSpPr>
          <p:cNvPr id="553987" name="Rectangle 3">
            <a:extLst>
              <a:ext uri="{FF2B5EF4-FFF2-40B4-BE49-F238E27FC236}">
                <a16:creationId xmlns:a16="http://schemas.microsoft.com/office/drawing/2014/main" id="{9E5125A2-5A19-4741-B621-1F120F8DDA34}"/>
              </a:ext>
            </a:extLst>
          </p:cNvPr>
          <p:cNvSpPr>
            <a:spLocks noGrp="1" noChangeArrowheads="1"/>
          </p:cNvSpPr>
          <p:nvPr>
            <p:ph type="body" sz="half" idx="4294967295"/>
          </p:nvPr>
        </p:nvSpPr>
        <p:spPr>
          <a:xfrm>
            <a:off x="0" y="922338"/>
            <a:ext cx="8982075" cy="1806575"/>
          </a:xfrm>
        </p:spPr>
        <p:txBody>
          <a:bodyPr/>
          <a:lstStyle/>
          <a:p>
            <a:pPr marL="261938" lvl="1" indent="-261938" eaLnBrk="1" hangingPunct="1">
              <a:lnSpc>
                <a:spcPct val="95000"/>
              </a:lnSpc>
              <a:defRPr/>
            </a:pPr>
            <a:r>
              <a:rPr lang="zh-CN" altLang="en-US" dirty="0">
                <a:latin typeface="+mj-ea"/>
              </a:rPr>
              <a:t>为了能够给单片机下载程序</a:t>
            </a:r>
            <a:r>
              <a:rPr lang="en-US" altLang="zh-CN" dirty="0">
                <a:latin typeface="+mj-ea"/>
              </a:rPr>
              <a:t>,</a:t>
            </a:r>
            <a:r>
              <a:rPr lang="zh-CN" altLang="en-US" dirty="0">
                <a:latin typeface="+mj-ea"/>
              </a:rPr>
              <a:t>可</a:t>
            </a:r>
            <a:r>
              <a:rPr lang="zh-CN" altLang="en-US" dirty="0">
                <a:solidFill>
                  <a:srgbClr val="FF0000"/>
                </a:solidFill>
                <a:latin typeface="+mj-ea"/>
              </a:rPr>
              <a:t>在</a:t>
            </a:r>
            <a:r>
              <a:rPr lang="en-US" altLang="zh-CN" dirty="0">
                <a:solidFill>
                  <a:srgbClr val="FF0000"/>
                </a:solidFill>
                <a:latin typeface="+mj-ea"/>
              </a:rPr>
              <a:t>RXD</a:t>
            </a:r>
            <a:r>
              <a:rPr lang="zh-CN" altLang="en-US" dirty="0">
                <a:solidFill>
                  <a:srgbClr val="FF0000"/>
                </a:solidFill>
                <a:latin typeface="+mj-ea"/>
              </a:rPr>
              <a:t>和</a:t>
            </a:r>
            <a:r>
              <a:rPr lang="en-US" altLang="zh-CN" dirty="0">
                <a:solidFill>
                  <a:srgbClr val="FF0000"/>
                </a:solidFill>
                <a:latin typeface="+mj-ea"/>
              </a:rPr>
              <a:t>TXD</a:t>
            </a:r>
            <a:r>
              <a:rPr lang="zh-CN" altLang="en-US" dirty="0">
                <a:solidFill>
                  <a:srgbClr val="FF0000"/>
                </a:solidFill>
                <a:latin typeface="+mj-ea"/>
              </a:rPr>
              <a:t>引脚上连接</a:t>
            </a:r>
            <a:r>
              <a:rPr lang="en-US" altLang="zh-CN" dirty="0">
                <a:solidFill>
                  <a:srgbClr val="FF0000"/>
                </a:solidFill>
                <a:latin typeface="+mj-ea"/>
              </a:rPr>
              <a:t>RS232</a:t>
            </a:r>
            <a:r>
              <a:rPr lang="zh-CN" altLang="en-US" dirty="0">
                <a:solidFill>
                  <a:srgbClr val="FF0000"/>
                </a:solidFill>
                <a:latin typeface="+mj-ea"/>
              </a:rPr>
              <a:t>和</a:t>
            </a:r>
            <a:r>
              <a:rPr lang="en-US" altLang="zh-CN" dirty="0">
                <a:solidFill>
                  <a:srgbClr val="FF0000"/>
                </a:solidFill>
                <a:latin typeface="+mj-ea"/>
              </a:rPr>
              <a:t>TTL</a:t>
            </a:r>
            <a:r>
              <a:rPr lang="zh-CN" altLang="en-US" dirty="0">
                <a:solidFill>
                  <a:srgbClr val="FF0000"/>
                </a:solidFill>
                <a:latin typeface="+mj-ea"/>
              </a:rPr>
              <a:t>的转换电路</a:t>
            </a:r>
            <a:r>
              <a:rPr lang="en-US" altLang="zh-CN" dirty="0">
                <a:solidFill>
                  <a:srgbClr val="FF0000"/>
                </a:solidFill>
                <a:latin typeface="+mj-ea"/>
              </a:rPr>
              <a:t>,</a:t>
            </a:r>
            <a:r>
              <a:rPr lang="zh-CN" altLang="en-US" dirty="0">
                <a:solidFill>
                  <a:srgbClr val="FF0000"/>
                </a:solidFill>
                <a:latin typeface="+mj-ea"/>
              </a:rPr>
              <a:t>以连接计算机</a:t>
            </a:r>
            <a:r>
              <a:rPr lang="en-US" altLang="zh-CN" dirty="0">
                <a:latin typeface="+mj-ea"/>
              </a:rPr>
              <a:t>,</a:t>
            </a:r>
            <a:r>
              <a:rPr lang="zh-CN" altLang="en-US" dirty="0">
                <a:latin typeface="+mj-ea"/>
              </a:rPr>
              <a:t>通过下载工具将用户程序下载到单片机中。</a:t>
            </a:r>
          </a:p>
        </p:txBody>
      </p:sp>
      <p:graphicFrame>
        <p:nvGraphicFramePr>
          <p:cNvPr id="553988" name="Object 4">
            <a:extLst>
              <a:ext uri="{FF2B5EF4-FFF2-40B4-BE49-F238E27FC236}">
                <a16:creationId xmlns:a16="http://schemas.microsoft.com/office/drawing/2014/main" id="{134A940B-5327-4F1B-AF14-148479F3BB44}"/>
              </a:ext>
            </a:extLst>
          </p:cNvPr>
          <p:cNvGraphicFramePr>
            <a:graphicFrameLocks noGrp="1" noChangeAspect="1"/>
          </p:cNvGraphicFramePr>
          <p:nvPr>
            <p:ph idx="1"/>
          </p:nvPr>
        </p:nvGraphicFramePr>
        <p:xfrm>
          <a:off x="661988" y="2312988"/>
          <a:ext cx="7950200" cy="4413250"/>
        </p:xfrm>
        <a:graphic>
          <a:graphicData uri="http://schemas.openxmlformats.org/presentationml/2006/ole">
            <mc:AlternateContent xmlns:mc="http://schemas.openxmlformats.org/markup-compatibility/2006">
              <mc:Choice xmlns:v="urn:schemas-microsoft-com:vml" Requires="v">
                <p:oleObj name="Visio" r:id="rId4" imgW="3561445" imgH="1975961" progId="Visio.Drawing.11">
                  <p:embed/>
                </p:oleObj>
              </mc:Choice>
              <mc:Fallback>
                <p:oleObj name="Visio" r:id="rId4" imgW="3561445" imgH="1975961" progId="Visio.Drawing.11">
                  <p:embed/>
                  <p:pic>
                    <p:nvPicPr>
                      <p:cNvPr id="553988" name="Object 4">
                        <a:extLst>
                          <a:ext uri="{FF2B5EF4-FFF2-40B4-BE49-F238E27FC236}">
                            <a16:creationId xmlns:a16="http://schemas.microsoft.com/office/drawing/2014/main" id="{134A940B-5327-4F1B-AF14-148479F3BB44}"/>
                          </a:ext>
                        </a:extLst>
                      </p:cNvPr>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1988" y="2312988"/>
                        <a:ext cx="7950200" cy="4413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 name="灯片编号占位符 3">
            <a:extLst>
              <a:ext uri="{FF2B5EF4-FFF2-40B4-BE49-F238E27FC236}">
                <a16:creationId xmlns:a16="http://schemas.microsoft.com/office/drawing/2014/main" id="{E6490685-C39F-4665-A832-A66E0686BE09}"/>
              </a:ext>
            </a:extLst>
          </p:cNvPr>
          <p:cNvSpPr>
            <a:spLocks noGrp="1"/>
          </p:cNvSpPr>
          <p:nvPr>
            <p:ph type="sldNum" sz="quarter" idx="10"/>
          </p:nvPr>
        </p:nvSpPr>
        <p:spPr/>
        <p:txBody>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algn="l"/>
            <a:fld id="{6CAFB3D6-2DF2-4494-9A1F-D6C3D8F37771}" type="slidenum">
              <a:rPr lang="en-US" altLang="zh-CN">
                <a:latin typeface="Arial" panose="020B0604020202020204" pitchFamily="34" charset="0"/>
              </a:rPr>
              <a:pPr algn="l"/>
              <a:t>81</a:t>
            </a:fld>
            <a:endParaRPr lang="en-US" altLang="zh-CN">
              <a:latin typeface="Arial" panose="020B0604020202020204" pitchFamily="34" charset="0"/>
            </a:endParaRPr>
          </a:p>
        </p:txBody>
      </p:sp>
      <p:sp>
        <p:nvSpPr>
          <p:cNvPr id="553991" name="Rectangle 7">
            <a:extLst>
              <a:ext uri="{FF2B5EF4-FFF2-40B4-BE49-F238E27FC236}">
                <a16:creationId xmlns:a16="http://schemas.microsoft.com/office/drawing/2014/main" id="{97891208-1C42-41C0-841E-01874FBE8090}"/>
              </a:ext>
            </a:extLst>
          </p:cNvPr>
          <p:cNvSpPr>
            <a:spLocks noChangeArrowheads="1"/>
          </p:cNvSpPr>
          <p:nvPr/>
        </p:nvSpPr>
        <p:spPr bwMode="auto">
          <a:xfrm>
            <a:off x="2459038" y="6308725"/>
            <a:ext cx="5119687" cy="431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tIns="0" bIns="0" anchor="ctr">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a:solidFill>
                  <a:srgbClr val="FF00FF"/>
                </a:solidFill>
              </a:rPr>
              <a:t>图</a:t>
            </a:r>
            <a:r>
              <a:rPr lang="en-US" altLang="zh-CN" sz="2800">
                <a:solidFill>
                  <a:srgbClr val="FF00FF"/>
                </a:solidFill>
              </a:rPr>
              <a:t>3-23 RS232</a:t>
            </a:r>
            <a:r>
              <a:rPr lang="zh-CN" altLang="en-US" sz="2800">
                <a:solidFill>
                  <a:srgbClr val="FF00FF"/>
                </a:solidFill>
              </a:rPr>
              <a:t>和</a:t>
            </a:r>
            <a:r>
              <a:rPr lang="en-US" altLang="zh-CN" sz="2800">
                <a:solidFill>
                  <a:srgbClr val="FF00FF"/>
                </a:solidFill>
              </a:rPr>
              <a:t>TTL</a:t>
            </a:r>
            <a:r>
              <a:rPr lang="zh-CN" altLang="en-US" sz="2800">
                <a:solidFill>
                  <a:srgbClr val="FF00FF"/>
                </a:solidFill>
              </a:rPr>
              <a:t>转换电路</a:t>
            </a:r>
          </a:p>
        </p:txBody>
      </p:sp>
      <p:sp>
        <p:nvSpPr>
          <p:cNvPr id="5" name="矩形 4">
            <a:extLst>
              <a:ext uri="{FF2B5EF4-FFF2-40B4-BE49-F238E27FC236}">
                <a16:creationId xmlns:a16="http://schemas.microsoft.com/office/drawing/2014/main" id="{44359068-A17E-47EA-920B-F5526BEF47F3}"/>
              </a:ext>
            </a:extLst>
          </p:cNvPr>
          <p:cNvSpPr>
            <a:spLocks noChangeArrowheads="1"/>
          </p:cNvSpPr>
          <p:nvPr/>
        </p:nvSpPr>
        <p:spPr bwMode="auto">
          <a:xfrm>
            <a:off x="3722688" y="5948363"/>
            <a:ext cx="2689225" cy="369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ctr">
              <a:defRPr>
                <a:solidFill>
                  <a:schemeClr val="tx1"/>
                </a:solidFill>
                <a:latin typeface="Times New Roman" panose="02020603050405020304" pitchFamily="18" charset="0"/>
                <a:ea typeface="宋体" panose="02010600030101010101" pitchFamily="2" charset="-122"/>
              </a:defRPr>
            </a:lvl1pPr>
            <a:lvl2pPr marL="742950" indent="-285750" algn="ctr">
              <a:defRPr>
                <a:solidFill>
                  <a:schemeClr val="tx1"/>
                </a:solidFill>
                <a:latin typeface="Times New Roman" panose="02020603050405020304" pitchFamily="18" charset="0"/>
                <a:ea typeface="宋体" panose="02010600030101010101" pitchFamily="2" charset="-122"/>
              </a:defRPr>
            </a:lvl2pPr>
            <a:lvl3pPr marL="1143000" indent="-228600" algn="ctr">
              <a:defRPr>
                <a:solidFill>
                  <a:schemeClr val="tx1"/>
                </a:solidFill>
                <a:latin typeface="Times New Roman" panose="02020603050405020304" pitchFamily="18" charset="0"/>
                <a:ea typeface="宋体" panose="02010600030101010101" pitchFamily="2" charset="-122"/>
              </a:defRPr>
            </a:lvl3pPr>
            <a:lvl4pPr marL="1600200" indent="-228600" algn="ctr">
              <a:defRPr>
                <a:solidFill>
                  <a:schemeClr val="tx1"/>
                </a:solidFill>
                <a:latin typeface="Times New Roman" panose="02020603050405020304" pitchFamily="18" charset="0"/>
                <a:ea typeface="宋体" panose="02010600030101010101" pitchFamily="2" charset="-122"/>
              </a:defRPr>
            </a:lvl4pPr>
            <a:lvl5pPr marL="2057400" indent="-228600" algn="ctr">
              <a:defRPr>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b="1">
                <a:solidFill>
                  <a:srgbClr val="3366FF"/>
                </a:solidFill>
                <a:cs typeface="Times New Roman" panose="02020603050405020304" pitchFamily="18" charset="0"/>
              </a:rPr>
              <a:t>MAX232, MAX3232</a:t>
            </a:r>
            <a:endParaRPr lang="zh-CN" altLang="en-US" sz="2400" b="1">
              <a:solidFill>
                <a:srgbClr val="3366FF"/>
              </a:solidFill>
              <a:cs typeface="Times New Roman" panose="02020603050405020304" pitchFamily="18" charset="0"/>
            </a:endParaRPr>
          </a:p>
        </p:txBody>
      </p:sp>
      <p:sp>
        <p:nvSpPr>
          <p:cNvPr id="6" name="矩形 5">
            <a:extLst>
              <a:ext uri="{FF2B5EF4-FFF2-40B4-BE49-F238E27FC236}">
                <a16:creationId xmlns:a16="http://schemas.microsoft.com/office/drawing/2014/main" id="{837977AF-962E-4D83-9784-ABA582A9B641}"/>
              </a:ext>
            </a:extLst>
          </p:cNvPr>
          <p:cNvSpPr/>
          <p:nvPr/>
        </p:nvSpPr>
        <p:spPr>
          <a:xfrm>
            <a:off x="4919663" y="1741488"/>
            <a:ext cx="3978275" cy="501650"/>
          </a:xfrm>
          <a:prstGeom prst="rect">
            <a:avLst/>
          </a:prstGeom>
        </p:spPr>
        <p:txBody>
          <a:bodyPr wrap="none">
            <a:spAutoFit/>
          </a:bodyPr>
          <a:lstStyle/>
          <a:p>
            <a:pPr marL="261938" lvl="1" indent="-261938" algn="ctr" eaLnBrk="1" hangingPunct="1">
              <a:lnSpc>
                <a:spcPct val="95000"/>
              </a:lnSpc>
              <a:defRPr/>
            </a:pPr>
            <a:r>
              <a:rPr lang="en-US" altLang="zh-CN" sz="2800" b="1">
                <a:solidFill>
                  <a:srgbClr val="3366FF"/>
                </a:solidFill>
                <a:latin typeface="+mj-ea"/>
              </a:rPr>
              <a:t>RS232</a:t>
            </a:r>
            <a:r>
              <a:rPr lang="zh-CN" altLang="en-US" sz="2800" b="1">
                <a:solidFill>
                  <a:srgbClr val="3366FF"/>
                </a:solidFill>
                <a:latin typeface="+mj-ea"/>
              </a:rPr>
              <a:t>和</a:t>
            </a:r>
            <a:r>
              <a:rPr lang="en-US" altLang="zh-CN" sz="2800" b="1">
                <a:solidFill>
                  <a:srgbClr val="3366FF"/>
                </a:solidFill>
                <a:latin typeface="+mj-ea"/>
              </a:rPr>
              <a:t>TTL</a:t>
            </a:r>
            <a:r>
              <a:rPr lang="zh-CN" altLang="en-US" sz="2800" b="1">
                <a:solidFill>
                  <a:srgbClr val="3366FF"/>
                </a:solidFill>
                <a:latin typeface="+mj-ea"/>
              </a:rPr>
              <a:t>的转换电路</a:t>
            </a:r>
            <a:r>
              <a:rPr lang="en-US" altLang="zh-CN" sz="2800" b="1">
                <a:solidFill>
                  <a:srgbClr val="3366FF"/>
                </a:solidFill>
                <a:latin typeface="+mj-ea"/>
              </a:rPr>
              <a:t>:</a:t>
            </a:r>
            <a:endParaRPr lang="zh-CN" altLang="en-US" sz="2800" b="1">
              <a:solidFill>
                <a:srgbClr val="3366FF"/>
              </a:solidFill>
              <a:latin typeface="+mj-ea"/>
            </a:endParaRPr>
          </a:p>
        </p:txBody>
      </p:sp>
      <p:sp>
        <p:nvSpPr>
          <p:cNvPr id="10" name="Rectangle 3">
            <a:extLst>
              <a:ext uri="{FF2B5EF4-FFF2-40B4-BE49-F238E27FC236}">
                <a16:creationId xmlns:a16="http://schemas.microsoft.com/office/drawing/2014/main" id="{9E906A1B-1539-4A9D-AD64-B7DA22E6696F}"/>
              </a:ext>
            </a:extLst>
          </p:cNvPr>
          <p:cNvSpPr txBox="1">
            <a:spLocks noChangeArrowheads="1"/>
          </p:cNvSpPr>
          <p:nvPr/>
        </p:nvSpPr>
        <p:spPr bwMode="auto">
          <a:xfrm>
            <a:off x="127000" y="2274888"/>
            <a:ext cx="4297363" cy="98901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342900" indent="-342900" algn="l" rtl="0" fontAlgn="base">
              <a:spcBef>
                <a:spcPct val="20000"/>
              </a:spcBef>
              <a:spcAft>
                <a:spcPct val="0"/>
              </a:spcAft>
              <a:buBlip>
                <a:blip r:embed="rId6"/>
              </a:buBlip>
              <a:defRPr sz="32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7"/>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algn="l" eaLnBrk="1" hangingPunct="1">
              <a:lnSpc>
                <a:spcPct val="90000"/>
              </a:lnSpc>
              <a:spcBef>
                <a:spcPts val="0"/>
              </a:spcBef>
              <a:buFontTx/>
              <a:buNone/>
              <a:defRPr/>
            </a:pPr>
            <a:r>
              <a:rPr lang="zh-CN" altLang="en-US" sz="2400" kern="0" dirty="0">
                <a:solidFill>
                  <a:srgbClr val="FF0000"/>
                </a:solidFill>
                <a:latin typeface="+mj-ea"/>
              </a:rPr>
              <a:t>串口</a:t>
            </a:r>
            <a:r>
              <a:rPr lang="en-US" altLang="zh-CN" sz="2400" kern="0" dirty="0">
                <a:solidFill>
                  <a:srgbClr val="FF0000"/>
                </a:solidFill>
                <a:latin typeface="+mj-ea"/>
              </a:rPr>
              <a:t>RS232</a:t>
            </a:r>
            <a:r>
              <a:rPr lang="zh-CN" altLang="en-US" sz="2400" kern="0" dirty="0">
                <a:solidFill>
                  <a:srgbClr val="FF0000"/>
                </a:solidFill>
                <a:latin typeface="+mj-ea"/>
              </a:rPr>
              <a:t>是负逻辑电平</a:t>
            </a:r>
            <a:r>
              <a:rPr lang="en-US" altLang="zh-CN" sz="2400" kern="0" dirty="0">
                <a:solidFill>
                  <a:srgbClr val="FF0000"/>
                </a:solidFill>
                <a:latin typeface="+mj-ea"/>
              </a:rPr>
              <a:t>: </a:t>
            </a:r>
            <a:r>
              <a:rPr lang="en-US" altLang="zh-CN" sz="2400" dirty="0">
                <a:solidFill>
                  <a:srgbClr val="333333"/>
                </a:solidFill>
              </a:rPr>
              <a:t>+5~ +12V</a:t>
            </a:r>
            <a:r>
              <a:rPr lang="zh-CN" altLang="en-US" sz="2400" dirty="0">
                <a:solidFill>
                  <a:srgbClr val="333333"/>
                </a:solidFill>
              </a:rPr>
              <a:t>为低电平</a:t>
            </a:r>
            <a:r>
              <a:rPr lang="en-US" altLang="zh-CN" sz="2400" dirty="0">
                <a:solidFill>
                  <a:srgbClr val="333333"/>
                </a:solidFill>
              </a:rPr>
              <a:t>0, </a:t>
            </a:r>
            <a:r>
              <a:rPr lang="zh-CN" altLang="en-US" sz="2400" dirty="0">
                <a:solidFill>
                  <a:srgbClr val="333333"/>
                </a:solidFill>
              </a:rPr>
              <a:t>而</a:t>
            </a:r>
            <a:r>
              <a:rPr lang="en-US" altLang="zh-CN" sz="2400" dirty="0">
                <a:solidFill>
                  <a:srgbClr val="333333"/>
                </a:solidFill>
              </a:rPr>
              <a:t>-12~-5V</a:t>
            </a:r>
            <a:r>
              <a:rPr lang="zh-CN" altLang="en-US" sz="2400" dirty="0">
                <a:solidFill>
                  <a:srgbClr val="333333"/>
                </a:solidFill>
              </a:rPr>
              <a:t>为高电平</a:t>
            </a:r>
            <a:r>
              <a:rPr lang="en-US" altLang="zh-CN" sz="2400" dirty="0">
                <a:solidFill>
                  <a:srgbClr val="333333"/>
                </a:solidFill>
              </a:rPr>
              <a:t>1</a:t>
            </a:r>
            <a:endParaRPr lang="zh-CN" altLang="en-US" sz="2400" kern="0" dirty="0">
              <a:latin typeface="+mj-ea"/>
            </a:endParaRPr>
          </a:p>
        </p:txBody>
      </p:sp>
      <p:sp>
        <p:nvSpPr>
          <p:cNvPr id="11" name="Rectangle 3">
            <a:extLst>
              <a:ext uri="{FF2B5EF4-FFF2-40B4-BE49-F238E27FC236}">
                <a16:creationId xmlns:a16="http://schemas.microsoft.com/office/drawing/2014/main" id="{34B596E0-1388-4F46-833E-C92D0EAD4ECE}"/>
              </a:ext>
            </a:extLst>
          </p:cNvPr>
          <p:cNvSpPr txBox="1">
            <a:spLocks noChangeArrowheads="1"/>
          </p:cNvSpPr>
          <p:nvPr/>
        </p:nvSpPr>
        <p:spPr bwMode="auto">
          <a:xfrm>
            <a:off x="7061200" y="4010025"/>
            <a:ext cx="2082800" cy="796925"/>
          </a:xfrm>
          <a:prstGeom prst="rect">
            <a:avLst/>
          </a:prstGeom>
          <a:noFill/>
          <a:ln w="9525">
            <a:solidFill>
              <a:srgbClr val="FF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marL="342900" indent="-342900" algn="l" rtl="0" fontAlgn="base">
              <a:spcBef>
                <a:spcPct val="20000"/>
              </a:spcBef>
              <a:spcAft>
                <a:spcPct val="0"/>
              </a:spcAft>
              <a:buBlip>
                <a:blip r:embed="rId6"/>
              </a:buBlip>
              <a:defRPr sz="3200" b="1">
                <a:solidFill>
                  <a:schemeClr val="accent2"/>
                </a:solidFill>
                <a:latin typeface="Times New Roman" panose="02020603050405020304" pitchFamily="18" charset="0"/>
                <a:ea typeface="+mj-ea"/>
                <a:cs typeface="Times New Roman" panose="02020603050405020304" pitchFamily="18" charset="0"/>
              </a:defRPr>
            </a:lvl1pPr>
            <a:lvl2pPr marL="742950" indent="-285750" algn="just" rtl="0" fontAlgn="base">
              <a:spcBef>
                <a:spcPct val="20000"/>
              </a:spcBef>
              <a:spcAft>
                <a:spcPct val="0"/>
              </a:spcAft>
              <a:buBlip>
                <a:blip r:embed="rId7"/>
              </a:buBlip>
              <a:defRPr sz="2800" b="1">
                <a:solidFill>
                  <a:schemeClr val="tx1"/>
                </a:solidFill>
                <a:latin typeface="+mn-lt"/>
                <a:ea typeface="+mj-ea"/>
              </a:defRPr>
            </a:lvl2pPr>
            <a:lvl3pPr marL="1143000" indent="-228600" algn="just" rtl="0" fontAlgn="base">
              <a:spcBef>
                <a:spcPct val="20000"/>
              </a:spcBef>
              <a:spcAft>
                <a:spcPct val="0"/>
              </a:spcAft>
              <a:buChar char="•"/>
              <a:defRPr sz="2400">
                <a:solidFill>
                  <a:schemeClr val="tx1"/>
                </a:solidFill>
                <a:latin typeface="+mn-lt"/>
                <a:ea typeface="+mj-ea"/>
              </a:defRPr>
            </a:lvl3pPr>
            <a:lvl4pPr marL="1600200" indent="-228600" algn="just" rtl="0" fontAlgn="base">
              <a:spcBef>
                <a:spcPct val="20000"/>
              </a:spcBef>
              <a:spcAft>
                <a:spcPct val="0"/>
              </a:spcAft>
              <a:buChar char="–"/>
              <a:defRPr sz="2000">
                <a:solidFill>
                  <a:schemeClr val="tx1"/>
                </a:solidFill>
                <a:latin typeface="+mn-lt"/>
                <a:ea typeface="+mj-ea"/>
              </a:defRPr>
            </a:lvl4pPr>
            <a:lvl5pPr marL="2057400" indent="-228600" algn="just" rtl="0" fontAlgn="base">
              <a:spcBef>
                <a:spcPct val="20000"/>
              </a:spcBef>
              <a:spcAft>
                <a:spcPct val="0"/>
              </a:spcAft>
              <a:buChar char="»"/>
              <a:defRPr sz="2000">
                <a:solidFill>
                  <a:schemeClr val="tx1"/>
                </a:solidFill>
                <a:latin typeface="+mn-lt"/>
                <a:ea typeface="+mj-ea"/>
              </a:defRPr>
            </a:lvl5pPr>
            <a:lvl6pPr marL="2514600" indent="-228600" algn="just" rtl="0" fontAlgn="base">
              <a:spcBef>
                <a:spcPct val="20000"/>
              </a:spcBef>
              <a:spcAft>
                <a:spcPct val="0"/>
              </a:spcAft>
              <a:buChar char="»"/>
              <a:defRPr sz="2000">
                <a:solidFill>
                  <a:schemeClr val="tx1"/>
                </a:solidFill>
                <a:latin typeface="+mn-lt"/>
                <a:ea typeface="+mj-ea"/>
              </a:defRPr>
            </a:lvl6pPr>
            <a:lvl7pPr marL="2971800" indent="-228600" algn="just" rtl="0" fontAlgn="base">
              <a:spcBef>
                <a:spcPct val="20000"/>
              </a:spcBef>
              <a:spcAft>
                <a:spcPct val="0"/>
              </a:spcAft>
              <a:buChar char="»"/>
              <a:defRPr sz="2000">
                <a:solidFill>
                  <a:schemeClr val="tx1"/>
                </a:solidFill>
                <a:latin typeface="+mn-lt"/>
                <a:ea typeface="+mj-ea"/>
              </a:defRPr>
            </a:lvl7pPr>
            <a:lvl8pPr marL="3429000" indent="-228600" algn="just" rtl="0" fontAlgn="base">
              <a:spcBef>
                <a:spcPct val="20000"/>
              </a:spcBef>
              <a:spcAft>
                <a:spcPct val="0"/>
              </a:spcAft>
              <a:buChar char="»"/>
              <a:defRPr sz="2000">
                <a:solidFill>
                  <a:schemeClr val="tx1"/>
                </a:solidFill>
                <a:latin typeface="+mn-lt"/>
                <a:ea typeface="+mj-ea"/>
              </a:defRPr>
            </a:lvl8pPr>
            <a:lvl9pPr marL="3886200" indent="-228600" algn="just" rtl="0" fontAlgn="base">
              <a:spcBef>
                <a:spcPct val="20000"/>
              </a:spcBef>
              <a:spcAft>
                <a:spcPct val="0"/>
              </a:spcAft>
              <a:buChar char="»"/>
              <a:defRPr sz="2000">
                <a:solidFill>
                  <a:schemeClr val="tx1"/>
                </a:solidFill>
                <a:latin typeface="+mn-lt"/>
                <a:ea typeface="+mj-ea"/>
              </a:defRPr>
            </a:lvl9pPr>
          </a:lstStyle>
          <a:p>
            <a:pPr marL="0" lvl="1" indent="0" eaLnBrk="1" hangingPunct="1">
              <a:lnSpc>
                <a:spcPct val="95000"/>
              </a:lnSpc>
              <a:buFontTx/>
              <a:buNone/>
              <a:defRPr/>
            </a:pPr>
            <a:r>
              <a:rPr lang="zh-CN" altLang="en-US" kern="0" dirty="0">
                <a:solidFill>
                  <a:srgbClr val="FF00FF"/>
                </a:solidFill>
                <a:latin typeface="+mj-ea"/>
              </a:rPr>
              <a:t>单片机串口是</a:t>
            </a:r>
            <a:r>
              <a:rPr lang="en-US" altLang="zh-CN" kern="0" dirty="0">
                <a:solidFill>
                  <a:srgbClr val="FF00FF"/>
                </a:solidFill>
                <a:latin typeface="+mj-ea"/>
              </a:rPr>
              <a:t>TTL</a:t>
            </a:r>
            <a:r>
              <a:rPr lang="zh-CN" altLang="en-US" kern="0" dirty="0">
                <a:solidFill>
                  <a:srgbClr val="FF00FF"/>
                </a:solidFill>
                <a:latin typeface="+mj-ea"/>
              </a:rPr>
              <a:t>电平</a:t>
            </a:r>
          </a:p>
        </p:txBody>
      </p:sp>
      <p:sp>
        <p:nvSpPr>
          <p:cNvPr id="8" name="TextBox 7">
            <a:extLst>
              <a:ext uri="{FF2B5EF4-FFF2-40B4-BE49-F238E27FC236}">
                <a16:creationId xmlns:a16="http://schemas.microsoft.com/office/drawing/2014/main" id="{6AFC867B-CD66-4321-A3B6-3B175BFD07A6}"/>
              </a:ext>
            </a:extLst>
          </p:cNvPr>
          <p:cNvSpPr txBox="1"/>
          <p:nvPr/>
        </p:nvSpPr>
        <p:spPr>
          <a:xfrm>
            <a:off x="8490857" y="2237116"/>
            <a:ext cx="6180995" cy="867106"/>
          </a:xfrm>
          <a:prstGeom prst="rect">
            <a:avLst/>
          </a:prstGeom>
          <a:solidFill>
            <a:srgbClr val="DDDDDD"/>
          </a:solidFill>
          <a:ln>
            <a:noFill/>
          </a:ln>
          <a:effectLst>
            <a:glow rad="63500">
              <a:schemeClr val="accent2">
                <a:satMod val="175000"/>
                <a:alpha val="40000"/>
              </a:schemeClr>
            </a:glow>
            <a:outerShdw blurRad="50800" dist="38100" dir="2700000" algn="tl" rotWithShape="0">
              <a:prstClr val="black">
                <a:alpha val="40000"/>
              </a:prstClr>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tIns="216000" bIns="216000">
            <a:spAutoFit/>
          </a:bodyPr>
          <a:lstStyle/>
          <a:p>
            <a:pPr marL="0" lvl="1" algn="ctr" eaLnBrk="1" hangingPunct="1">
              <a:defRPr/>
            </a:pPr>
            <a:r>
              <a:rPr lang="en-US" altLang="zh-CN" sz="2800" b="1" kern="0">
                <a:solidFill>
                  <a:srgbClr val="FF00FF"/>
                </a:solidFill>
                <a:latin typeface="+mj-ea"/>
              </a:rPr>
              <a:t>STC15W</a:t>
            </a:r>
            <a:r>
              <a:rPr lang="zh-CN" altLang="en-US" sz="2800" b="1" kern="0">
                <a:solidFill>
                  <a:srgbClr val="FF00FF"/>
                </a:solidFill>
                <a:latin typeface="+mj-ea"/>
              </a:rPr>
              <a:t>系列支持</a:t>
            </a:r>
            <a:r>
              <a:rPr lang="en-US" altLang="zh-CN" sz="2800" b="1" kern="0">
                <a:solidFill>
                  <a:srgbClr val="FF00FF"/>
                </a:solidFill>
                <a:latin typeface="+mj-ea"/>
              </a:rPr>
              <a:t>USB</a:t>
            </a:r>
            <a:r>
              <a:rPr lang="zh-CN" altLang="en-US" sz="2800" b="1" kern="0">
                <a:solidFill>
                  <a:srgbClr val="FF00FF"/>
                </a:solidFill>
                <a:latin typeface="+mj-ea"/>
              </a:rPr>
              <a:t>接口直接下载程序</a:t>
            </a:r>
            <a:endParaRPr lang="zh-CN" altLang="en-US" sz="2800" b="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0">
                                            <p:bg/>
                                          </p:spTgt>
                                        </p:tgtEl>
                                        <p:attrNameLst>
                                          <p:attrName>style.visibility</p:attrName>
                                        </p:attrNameLst>
                                      </p:cBhvr>
                                      <p:to>
                                        <p:strVal val="visible"/>
                                      </p:to>
                                    </p:set>
                                    <p:animEffect transition="in" filter="slide(fromBottom)">
                                      <p:cBhvr>
                                        <p:cTn id="7" dur="500"/>
                                        <p:tgtEl>
                                          <p:spTgt spid="10">
                                            <p:bg/>
                                          </p:spTgt>
                                        </p:tgtEl>
                                      </p:cBhvr>
                                    </p:animEffect>
                                  </p:childTnLst>
                                </p:cTn>
                              </p:par>
                              <p:par>
                                <p:cTn id="8" presetID="12" presetClass="entr" presetSubtype="4" fill="hold" grpId="0" nodeType="withEffect">
                                  <p:stCondLst>
                                    <p:cond delay="0"/>
                                  </p:stCondLst>
                                  <p:childTnLst>
                                    <p:set>
                                      <p:cBhvr>
                                        <p:cTn id="9" dur="1" fill="hold">
                                          <p:stCondLst>
                                            <p:cond delay="0"/>
                                          </p:stCondLst>
                                        </p:cTn>
                                        <p:tgtEl>
                                          <p:spTgt spid="10">
                                            <p:txEl>
                                              <p:pRg st="0" end="0"/>
                                            </p:txEl>
                                          </p:spTgt>
                                        </p:tgtEl>
                                        <p:attrNameLst>
                                          <p:attrName>style.visibility</p:attrName>
                                        </p:attrNameLst>
                                      </p:cBhvr>
                                      <p:to>
                                        <p:strVal val="visible"/>
                                      </p:to>
                                    </p:set>
                                    <p:animEffect transition="in" filter="slide(fromBottom)">
                                      <p:cBhvr>
                                        <p:cTn id="10" dur="500"/>
                                        <p:tgtEl>
                                          <p:spTgt spid="10">
                                            <p:txEl>
                                              <p:pRg st="0" end="0"/>
                                            </p:txEl>
                                          </p:spTgt>
                                        </p:tgtEl>
                                      </p:cBhvr>
                                    </p:animEffect>
                                  </p:childTnLst>
                                </p:cTn>
                              </p:par>
                            </p:childTnLst>
                          </p:cTn>
                        </p:par>
                        <p:par>
                          <p:cTn id="11" fill="hold" nodeType="afterGroup">
                            <p:stCondLst>
                              <p:cond delay="500"/>
                            </p:stCondLst>
                            <p:childTnLst>
                              <p:par>
                                <p:cTn id="12" presetID="17" presetClass="entr" presetSubtype="10" fill="hold" nodeType="afterEffect">
                                  <p:stCondLst>
                                    <p:cond delay="0"/>
                                  </p:stCondLst>
                                  <p:childTnLst>
                                    <p:set>
                                      <p:cBhvr>
                                        <p:cTn id="13" dur="1" fill="hold">
                                          <p:stCondLst>
                                            <p:cond delay="0"/>
                                          </p:stCondLst>
                                        </p:cTn>
                                        <p:tgtEl>
                                          <p:spTgt spid="553988"/>
                                        </p:tgtEl>
                                        <p:attrNameLst>
                                          <p:attrName>style.visibility</p:attrName>
                                        </p:attrNameLst>
                                      </p:cBhvr>
                                      <p:to>
                                        <p:strVal val="visible"/>
                                      </p:to>
                                    </p:set>
                                    <p:anim calcmode="lin" valueType="num">
                                      <p:cBhvr>
                                        <p:cTn id="14" dur="500" fill="hold"/>
                                        <p:tgtEl>
                                          <p:spTgt spid="553988"/>
                                        </p:tgtEl>
                                        <p:attrNameLst>
                                          <p:attrName>ppt_w</p:attrName>
                                        </p:attrNameLst>
                                      </p:cBhvr>
                                      <p:tavLst>
                                        <p:tav tm="0">
                                          <p:val>
                                            <p:fltVal val="0"/>
                                          </p:val>
                                        </p:tav>
                                        <p:tav tm="100000">
                                          <p:val>
                                            <p:strVal val="#ppt_w"/>
                                          </p:val>
                                        </p:tav>
                                      </p:tavLst>
                                    </p:anim>
                                    <p:anim calcmode="lin" valueType="num">
                                      <p:cBhvr>
                                        <p:cTn id="15" dur="500" fill="hold"/>
                                        <p:tgtEl>
                                          <p:spTgt spid="553988"/>
                                        </p:tgtEl>
                                        <p:attrNameLst>
                                          <p:attrName>ppt_h</p:attrName>
                                        </p:attrNameLst>
                                      </p:cBhvr>
                                      <p:tavLst>
                                        <p:tav tm="0">
                                          <p:val>
                                            <p:strVal val="#ppt_h"/>
                                          </p:val>
                                        </p:tav>
                                        <p:tav tm="100000">
                                          <p:val>
                                            <p:strVal val="#ppt_h"/>
                                          </p:val>
                                        </p:tav>
                                      </p:tavLst>
                                    </p:anim>
                                  </p:childTnLst>
                                </p:cTn>
                              </p:par>
                              <p:par>
                                <p:cTn id="16" presetID="12" presetClass="entr" presetSubtype="4" fill="hold" grpId="0" nodeType="withEffect">
                                  <p:stCondLst>
                                    <p:cond delay="0"/>
                                  </p:stCondLst>
                                  <p:childTnLst>
                                    <p:set>
                                      <p:cBhvr>
                                        <p:cTn id="17" dur="1" fill="hold">
                                          <p:stCondLst>
                                            <p:cond delay="0"/>
                                          </p:stCondLst>
                                        </p:cTn>
                                        <p:tgtEl>
                                          <p:spTgt spid="11">
                                            <p:bg/>
                                          </p:spTgt>
                                        </p:tgtEl>
                                        <p:attrNameLst>
                                          <p:attrName>style.visibility</p:attrName>
                                        </p:attrNameLst>
                                      </p:cBhvr>
                                      <p:to>
                                        <p:strVal val="visible"/>
                                      </p:to>
                                    </p:set>
                                    <p:animEffect transition="in" filter="slide(fromBottom)">
                                      <p:cBhvr>
                                        <p:cTn id="18" dur="500"/>
                                        <p:tgtEl>
                                          <p:spTgt spid="11">
                                            <p:bg/>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11">
                                            <p:txEl>
                                              <p:pRg st="0" end="0"/>
                                            </p:txEl>
                                          </p:spTgt>
                                        </p:tgtEl>
                                        <p:attrNameLst>
                                          <p:attrName>style.visibility</p:attrName>
                                        </p:attrNameLst>
                                      </p:cBhvr>
                                      <p:to>
                                        <p:strVal val="visible"/>
                                      </p:to>
                                    </p:set>
                                    <p:animEffect transition="in" filter="slide(fromBottom)">
                                      <p:cBhvr>
                                        <p:cTn id="21" dur="500"/>
                                        <p:tgtEl>
                                          <p:spTgt spid="11">
                                            <p:txEl>
                                              <p:pRg st="0" end="0"/>
                                            </p:txEl>
                                          </p:spTgt>
                                        </p:tgtEl>
                                      </p:cBhvr>
                                    </p:animEffect>
                                  </p:childTnLst>
                                </p:cTn>
                              </p:par>
                              <p:par>
                                <p:cTn id="22" presetID="12" presetClass="entr" presetSubtype="4" fill="hold" grpId="0" nodeType="withEffect">
                                  <p:stCondLst>
                                    <p:cond delay="0"/>
                                  </p:stCondLst>
                                  <p:childTnLst>
                                    <p:set>
                                      <p:cBhvr>
                                        <p:cTn id="23" dur="1" fill="hold">
                                          <p:stCondLst>
                                            <p:cond delay="0"/>
                                          </p:stCondLst>
                                        </p:cTn>
                                        <p:tgtEl>
                                          <p:spTgt spid="553987">
                                            <p:txEl>
                                              <p:pRg st="0" end="0"/>
                                            </p:txEl>
                                          </p:spTgt>
                                        </p:tgtEl>
                                        <p:attrNameLst>
                                          <p:attrName>style.visibility</p:attrName>
                                        </p:attrNameLst>
                                      </p:cBhvr>
                                      <p:to>
                                        <p:strVal val="visible"/>
                                      </p:to>
                                    </p:set>
                                    <p:animEffect transition="in" filter="slide(fromBottom)">
                                      <p:cBhvr>
                                        <p:cTn id="24" dur="500"/>
                                        <p:tgtEl>
                                          <p:spTgt spid="553987">
                                            <p:txEl>
                                              <p:pRg st="0" end="0"/>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left)">
                                      <p:cBhvr>
                                        <p:cTn id="29" dur="500"/>
                                        <p:tgtEl>
                                          <p:spTgt spid="6"/>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553991"/>
                                        </p:tgtEl>
                                        <p:attrNameLst>
                                          <p:attrName>style.visibility</p:attrName>
                                        </p:attrNameLst>
                                      </p:cBhvr>
                                      <p:to>
                                        <p:strVal val="visible"/>
                                      </p:to>
                                    </p:set>
                                    <p:animEffect transition="in" filter="wipe(left)">
                                      <p:cBhvr>
                                        <p:cTn id="35" dur="500"/>
                                        <p:tgtEl>
                                          <p:spTgt spid="553991"/>
                                        </p:tgtEl>
                                      </p:cBhvr>
                                    </p:animEffect>
                                  </p:childTnLst>
                                </p:cTn>
                              </p:par>
                            </p:childTnLst>
                          </p:cTn>
                        </p:par>
                        <p:par>
                          <p:cTn id="36" fill="hold" nodeType="afterGroup">
                            <p:stCondLst>
                              <p:cond delay="500"/>
                            </p:stCondLst>
                            <p:childTnLst>
                              <p:par>
                                <p:cTn id="37" presetID="22" presetClass="entr" presetSubtype="8" fill="hold"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2" fill="hold" nodeType="clickEffect">
                                  <p:stCondLst>
                                    <p:cond delay="0"/>
                                  </p:stCondLst>
                                  <p:childTnLst>
                                    <p:set>
                                      <p:cBhvr>
                                        <p:cTn id="43" dur="1" fill="hold">
                                          <p:stCondLst>
                                            <p:cond delay="0"/>
                                          </p:stCondLst>
                                        </p:cTn>
                                        <p:tgtEl>
                                          <p:spTgt spid="8"/>
                                        </p:tgtEl>
                                        <p:attrNameLst>
                                          <p:attrName>style.visibility</p:attrName>
                                        </p:attrNameLst>
                                      </p:cBhvr>
                                      <p:to>
                                        <p:strVal val="visible"/>
                                      </p:to>
                                    </p:set>
                                    <p:anim calcmode="lin" valueType="num">
                                      <p:cBhvr additive="base">
                                        <p:cTn id="44" dur="500" fill="hold"/>
                                        <p:tgtEl>
                                          <p:spTgt spid="8"/>
                                        </p:tgtEl>
                                        <p:attrNameLst>
                                          <p:attrName>ppt_x</p:attrName>
                                        </p:attrNameLst>
                                      </p:cBhvr>
                                      <p:tavLst>
                                        <p:tav tm="0">
                                          <p:val>
                                            <p:strVal val="1+#ppt_w/2"/>
                                          </p:val>
                                        </p:tav>
                                        <p:tav tm="100000">
                                          <p:val>
                                            <p:strVal val="#ppt_x"/>
                                          </p:val>
                                        </p:tav>
                                      </p:tavLst>
                                    </p:anim>
                                    <p:anim calcmode="lin" valueType="num">
                                      <p:cBhvr additive="base">
                                        <p:cTn id="45" dur="500" fill="hold"/>
                                        <p:tgtEl>
                                          <p:spTgt spid="8"/>
                                        </p:tgtEl>
                                        <p:attrNameLst>
                                          <p:attrName>ppt_y</p:attrName>
                                        </p:attrNameLst>
                                      </p:cBhvr>
                                      <p:tavLst>
                                        <p:tav tm="0">
                                          <p:val>
                                            <p:strVal val="#ppt_y"/>
                                          </p:val>
                                        </p:tav>
                                        <p:tav tm="100000">
                                          <p:val>
                                            <p:strVal val="#ppt_y"/>
                                          </p:val>
                                        </p:tav>
                                      </p:tavLst>
                                    </p:anim>
                                  </p:childTnLst>
                                </p:cTn>
                              </p:par>
                              <p:par>
                                <p:cTn id="46" presetID="35" presetClass="path" presetSubtype="0" accel="50000" decel="50000" fill="hold" nodeType="withEffect">
                                  <p:stCondLst>
                                    <p:cond delay="0"/>
                                  </p:stCondLst>
                                  <p:childTnLst>
                                    <p:animMotion origin="layout" path="M 4.72222E-6 -1.7341E-6 L -0.63577 0.00255 " pathEditMode="relative" rAng="0" ptsTypes="AA">
                                      <p:cBhvr>
                                        <p:cTn id="47" dur="2000" fill="hold"/>
                                        <p:tgtEl>
                                          <p:spTgt spid="8"/>
                                        </p:tgtEl>
                                        <p:attrNameLst>
                                          <p:attrName>ppt_x</p:attrName>
                                          <p:attrName>ppt_y</p:attrName>
                                        </p:attrNameLst>
                                      </p:cBhvr>
                                      <p:rCtr x="-31788" y="11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7" grpId="0" build="p"/>
      <p:bldP spid="553991" grpId="0" animBg="1"/>
      <p:bldP spid="5" grpId="0" animBg="1"/>
      <p:bldP spid="6" grpId="0"/>
      <p:bldP spid="10" grpId="0" build="p" animBg="1"/>
      <p:bldP spid="11" grpId="0" uiExpand="1" build="p" animBg="1"/>
    </p:bldLst>
  </p:timing>
</p:sld>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3044</TotalTime>
  <Words>8420</Words>
  <Application>Microsoft Office PowerPoint</Application>
  <PresentationFormat>全屏显示(4:3)</PresentationFormat>
  <Paragraphs>961</Paragraphs>
  <Slides>81</Slides>
  <Notes>3</Notes>
  <HiddenSlides>1</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vt:i4>
      </vt:variant>
      <vt:variant>
        <vt:lpstr>幻灯片标题</vt:lpstr>
      </vt:variant>
      <vt:variant>
        <vt:i4>81</vt:i4>
      </vt:variant>
    </vt:vector>
  </HeadingPairs>
  <TitlesOfParts>
    <vt:vector size="100" baseType="lpstr">
      <vt:lpstr>-apple-system</vt:lpstr>
      <vt:lpstr>Monaco</vt:lpstr>
      <vt:lpstr>等线</vt:lpstr>
      <vt:lpstr>华文宋体</vt:lpstr>
      <vt:lpstr>隶书</vt:lpstr>
      <vt:lpstr>宋体</vt:lpstr>
      <vt:lpstr>微软雅黑</vt:lpstr>
      <vt:lpstr>Arial</vt:lpstr>
      <vt:lpstr>Arial Black</vt:lpstr>
      <vt:lpstr>Calibri</vt:lpstr>
      <vt:lpstr>Calibri Light</vt:lpstr>
      <vt:lpstr>Cambria Math</vt:lpstr>
      <vt:lpstr>Symbol</vt:lpstr>
      <vt:lpstr>Times New Roman</vt:lpstr>
      <vt:lpstr>Wingdings</vt:lpstr>
      <vt:lpstr>回顾</vt:lpstr>
      <vt:lpstr>Visio</vt:lpstr>
      <vt:lpstr>公式</vt:lpstr>
      <vt:lpstr>Microsoft Drawing</vt:lpstr>
      <vt:lpstr> EE351 微机原理与微系统</vt:lpstr>
      <vt:lpstr>第四章 单片机的硬件结构</vt:lpstr>
      <vt:lpstr>4.1 模型机的结构及工作过程</vt:lpstr>
      <vt:lpstr>4.1.1模型机的结构简介</vt:lpstr>
      <vt:lpstr>4.1.1 模型机的结构简介</vt:lpstr>
      <vt:lpstr>1、中央处理器的组成</vt:lpstr>
      <vt:lpstr>1、中央处理器的组成</vt:lpstr>
      <vt:lpstr>4.1.1模型机的结构简介</vt:lpstr>
      <vt:lpstr>存储器访问过程</vt:lpstr>
      <vt:lpstr>4.1.2模型机的工作过程</vt:lpstr>
      <vt:lpstr>例如, 计算7+10=?, 结果在A中。</vt:lpstr>
      <vt:lpstr>工作过程:读取指令分析指令执行指令保存结果</vt:lpstr>
      <vt:lpstr>读第一条指令第二个字节(即执行该指令)的示意图</vt:lpstr>
      <vt:lpstr>执行第二条指令 “ADD A, #0AH”(机器码: 04H  0AH)</vt:lpstr>
      <vt:lpstr>执行第二条指令 “ADD A, #0AH”(机器码: 04H  0AH)</vt:lpstr>
      <vt:lpstr>4.1.3 GCC工作过程</vt:lpstr>
      <vt:lpstr>4.1.3 GCC工作过程</vt:lpstr>
      <vt:lpstr>4.2 单片机的内部结构</vt:lpstr>
      <vt:lpstr>4.2单片机的内部结构</vt:lpstr>
      <vt:lpstr>4.2  IAP15W4K58S4单片机的内部结构</vt:lpstr>
      <vt:lpstr>PowerPoint 演示文稿</vt:lpstr>
      <vt:lpstr>IAP15W4K58S4单片机集成了以下典型资源：</vt:lpstr>
      <vt:lpstr>IAP15W4K58S4单片机集成了以下典型资源：</vt:lpstr>
      <vt:lpstr>中央处理器（CPU）由运算器和控制器组成</vt:lpstr>
      <vt:lpstr>程序状态标志寄存器PSW (8位)</vt:lpstr>
      <vt:lpstr>程序状态标志寄存器PSW (8位)</vt:lpstr>
      <vt:lpstr>程序状态标志寄存器PSW (8位)</vt:lpstr>
      <vt:lpstr>控制器</vt:lpstr>
      <vt:lpstr>控制器——堆栈</vt:lpstr>
      <vt:lpstr>控制器——数据指针DPTR(也称地址指针)</vt:lpstr>
      <vt:lpstr>Broadcomm BCM2711</vt:lpstr>
      <vt:lpstr>4.3 IAP15W4K58S4单片机的存储器</vt:lpstr>
      <vt:lpstr>数据存储器</vt:lpstr>
      <vt:lpstr>数据存储器</vt:lpstr>
      <vt:lpstr>工作寄存器区</vt:lpstr>
      <vt:lpstr>用户RAM和堆栈区</vt:lpstr>
      <vt:lpstr>高128字节RAM和特殊功能寄存器</vt:lpstr>
      <vt:lpstr>特殊功能寄存器</vt:lpstr>
      <vt:lpstr> (2)  扩展数据存储区on-chip expanded RAM(XRAM)</vt:lpstr>
      <vt:lpstr> (2)  扩展数据存储区(XRAM)</vt:lpstr>
      <vt:lpstr> (2)  扩展数据存储区(XRAM)</vt:lpstr>
      <vt:lpstr>4.4 单片机的引脚</vt:lpstr>
      <vt:lpstr>单片机的引脚</vt:lpstr>
      <vt:lpstr>单片机的引脚及功能</vt:lpstr>
      <vt:lpstr>单片机的引脚及功能</vt:lpstr>
      <vt:lpstr>Broadcomm BCM2711</vt:lpstr>
      <vt:lpstr>单片机的引脚及功能</vt:lpstr>
      <vt:lpstr>单片机的引脚及功能</vt:lpstr>
      <vt:lpstr>单片机的引脚及功能</vt:lpstr>
      <vt:lpstr>2.   外接晶振引脚</vt:lpstr>
      <vt:lpstr> 3.  控制和复位引脚</vt:lpstr>
      <vt:lpstr> 3.  控制和复位引脚</vt:lpstr>
      <vt:lpstr> 3.  控制和复位引脚</vt:lpstr>
      <vt:lpstr>(2)  RST（与P5.4复用） 引脚</vt:lpstr>
      <vt:lpstr>单片机的输入/输出（I/O）引脚</vt:lpstr>
      <vt:lpstr>   （1）准双向口(弱上拉)工作模式的结构</vt:lpstr>
      <vt:lpstr>准双向口(弱上拉)工作模式的结构</vt:lpstr>
      <vt:lpstr> 准双向口(弱上拉)工作模式的结构</vt:lpstr>
      <vt:lpstr>准双向口(弱上拉)工作模式的结构</vt:lpstr>
      <vt:lpstr>准双向口(弱上拉)工作模式的结构</vt:lpstr>
      <vt:lpstr>准双向口(弱上拉)工作模式的结构</vt:lpstr>
      <vt:lpstr>准双向口(弱上拉)工作模式的结构</vt:lpstr>
      <vt:lpstr>准双向口(弱上拉)工作模式的结构</vt:lpstr>
      <vt:lpstr>简易键盘接口的实现</vt:lpstr>
      <vt:lpstr>简易键盘接口的实现</vt:lpstr>
      <vt:lpstr>(3)  拉电流方式和灌电流方式</vt:lpstr>
      <vt:lpstr>（2）推挽输出(强上拉输出)工作模式的结构</vt:lpstr>
      <vt:lpstr>（2）推挽输出(强上拉输出)工作模式的结构</vt:lpstr>
      <vt:lpstr>（2）推挽输出(强上拉输出)工作模式的结构</vt:lpstr>
      <vt:lpstr>2. IAP15W4K58S4单片机I/O口的结构</vt:lpstr>
      <vt:lpstr>外部总线接口的电平转换技术（补充）</vt:lpstr>
      <vt:lpstr>外部总线接口的电平转换技术</vt:lpstr>
      <vt:lpstr>2. IAP15W4K58S4单片机I/O口的结构</vt:lpstr>
      <vt:lpstr>（4）开漏输出工作模式的结构</vt:lpstr>
      <vt:lpstr>4. IAP15W4K58S4单片机的I/O口的使用</vt:lpstr>
      <vt:lpstr>(3)  拉电流方式和灌电流方式</vt:lpstr>
      <vt:lpstr>(3)  拉电流方式和灌电流方式</vt:lpstr>
      <vt:lpstr>(4)   典型的三极管控制电路</vt:lpstr>
      <vt:lpstr>(4)  典型的三极管控制电路</vt:lpstr>
      <vt:lpstr>§3.5  单片机应用系统的典型构成</vt:lpstr>
      <vt:lpstr>1、单片机最小系统构成</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EE351 微机原理与微系统</dc:title>
  <dc:creator>Junmin JIANG</dc:creator>
  <cp:lastModifiedBy>Junmin Jiang</cp:lastModifiedBy>
  <cp:revision>84</cp:revision>
  <dcterms:created xsi:type="dcterms:W3CDTF">2021-09-01T03:33:33Z</dcterms:created>
  <dcterms:modified xsi:type="dcterms:W3CDTF">2025-11-11T16:34:29Z</dcterms:modified>
</cp:coreProperties>
</file>