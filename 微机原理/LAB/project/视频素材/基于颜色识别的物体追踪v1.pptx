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2" r:id="rId7"/>
    <p:sldId id="265" r:id="rId8"/>
    <p:sldId id="268" r:id="rId9"/>
    <p:sldId id="270" r:id="rId10"/>
    <p:sldId id="271" r:id="rId11"/>
    <p:sldId id="272" r:id="rId12"/>
    <p:sldId id="273" r:id="rId13"/>
    <p:sldId id="274" r:id="rId14"/>
    <p:sldId id="266" r:id="rId15"/>
    <p:sldId id="264" r:id="rId16"/>
    <p:sldId id="275" r:id="rId17"/>
    <p:sldId id="267" r:id="rId18"/>
    <p:sldId id="25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5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D5C04-A8F7-F651-6D1F-FA7CC583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4302D8-4602-9EAA-D9A8-EFB97EF10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659E8-A5E2-AE80-2C60-CAE48699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6E56C-FC4A-CA7C-C326-9735630D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C7166-FDF5-523D-E495-17CFB6B4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92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7192E-22CB-62DD-55DC-00C197EB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07BE2-1582-E47A-CF45-B486563F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48D90-C764-DF0E-5619-223852BF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F9DD45-97AD-664C-7971-3850B5D8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3BF57-F035-097D-2C65-A20F7453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61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D7F67-3F91-5B9A-FDA4-AEF2F7DB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039075-6AD6-F8C2-BF01-E30B41DA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1FE621-C37C-2AE9-6825-2C8C3DBB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3BF56C-0A23-6790-2240-978CFE71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CAB59-AFA0-0E39-9AAA-475F10B3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28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63CF6-3F23-E6FA-7748-8C4E346E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7E502D-8BEA-3713-8DD6-A4DF6A90B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986C6-C21A-517F-2B31-966B27750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1107A5-1F75-2356-6CAA-C03D5F44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508F7-4C20-CBAF-6EC0-FD9ED6F8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A53ECF-0776-5C7E-0044-3BBF6DF2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50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AA4E3-6999-6129-1FC8-033479C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5E4479-935D-BEA5-60D4-609B8DE85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DA34DB-EDCB-DEB2-5EFF-F9807AC2A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553EBD-70B1-3F1B-7230-8F5D7AC88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D5A753-805A-05C3-2517-01E8DDD90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E7EFB6-5121-2552-B0A4-9C2408FB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DB3972-5AF9-2BC3-576C-CE552CF9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A4BADC-1072-CBD2-14B6-C97160FE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35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E8C3D-ABEE-73DB-017B-E591983A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096A1F-6183-C655-8383-FECC071C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245778-8AA7-CE6A-B9B9-0926E2A6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03F6F7-862B-FC75-56A1-0D75C471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43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6223C0-941E-2211-AF5C-748727CE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993CA2-16D9-0BAB-85CD-ED70D625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7A6A5-21CA-A51C-EEF6-B19B8998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0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5F265-6630-7339-28E5-AFAB95A2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0C572-DAAE-EC68-0D69-C709CBA3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F11219-40E5-582E-1DED-59C6F7E18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3982F2-A0FB-83B5-2840-204FB211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2C751C-23BD-F690-B070-74C76682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041A8-9504-AC15-CF95-82E3DE2F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16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B1D4F-4AC5-F205-DF86-91B5890C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4E8165-0EDF-8667-BA73-EF818611F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591E65-DDDE-1345-AE90-16EEFA1A2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D51D3D-4C9B-611A-C050-FB00859F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A7503B-434D-4103-C677-9FDAD78C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2478AC-80FF-5E55-0EB8-3DCA15A3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208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62116-841E-7243-4B48-27C740CE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83AAA7-F31C-AC5F-D741-3F3A107C1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3BB37-2FDA-7C63-D038-09BFD2E0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AA86F-454A-507B-CF25-7BAF38D0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C051F-A7A1-4CEE-8C3B-FD72297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76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8FD9B8-F00A-9814-60EF-62B51A13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64905B-3905-82B5-CA4B-536262CCC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DE3B4-D49A-F17E-6270-FBC39956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029D6-E656-198E-9D51-6F72741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D129E6-90EF-5C4E-6309-661CDE50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44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D7D714-D7C6-F06F-CCDE-F06DEC8D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724270-D4D8-5029-A3E9-E855D4702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7D9EA-7281-B795-7ED3-286A9F2A2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2E377-C44D-479C-A3B8-B37F42C0448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64CE0-940E-4A9E-91DF-9AA68CD97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BED7E-620C-0770-A786-7CF7A9B0F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98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41B8A-1B4C-BE87-742F-104B849B6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145" y="1459345"/>
            <a:ext cx="10187709" cy="1053090"/>
          </a:xfrm>
        </p:spPr>
        <p:txBody>
          <a:bodyPr/>
          <a:lstStyle/>
          <a:p>
            <a:r>
              <a:rPr lang="zh-CN" altLang="en-US" dirty="0"/>
              <a:t>基于颜色检测的智能追踪系统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DE6495-8ADB-8EC1-46EC-716408A61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向阳 </a:t>
            </a:r>
            <a:r>
              <a:rPr lang="en-US" altLang="zh-CN" dirty="0"/>
              <a:t>12311513</a:t>
            </a:r>
          </a:p>
          <a:p>
            <a:r>
              <a:rPr lang="zh-CN" altLang="en-US" dirty="0"/>
              <a:t>何衍宁</a:t>
            </a:r>
            <a:r>
              <a:rPr lang="en-US" altLang="zh-CN" dirty="0"/>
              <a:t> 12311512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159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082D-8280-4405-3029-72964F52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9FA785B-D3D5-61D9-FFFC-F3772B807E7D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实验背景</a:t>
            </a:r>
          </a:p>
        </p:txBody>
      </p:sp>
      <p:pic>
        <p:nvPicPr>
          <p:cNvPr id="1026" name="Picture 2" descr="基于工业视觉的自动分拣系统(分拣机器人) - 上海影火智能科技有限公司">
            <a:extLst>
              <a:ext uri="{FF2B5EF4-FFF2-40B4-BE49-F238E27FC236}">
                <a16:creationId xmlns:a16="http://schemas.microsoft.com/office/drawing/2014/main" id="{057881C7-B7DB-E042-9DE8-00CA99FB3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45" y="1588944"/>
            <a:ext cx="512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服务机器人的种类包括哪几种?哪里能买的到">
            <a:extLst>
              <a:ext uri="{FF2B5EF4-FFF2-40B4-BE49-F238E27FC236}">
                <a16:creationId xmlns:a16="http://schemas.microsoft.com/office/drawing/2014/main" id="{AD1F7793-2159-E857-7860-8FC7BFE85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992" y="1592695"/>
            <a:ext cx="4428704" cy="294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97EC254-7014-865D-818D-5E9EA93F4E11}"/>
              </a:ext>
            </a:extLst>
          </p:cNvPr>
          <p:cNvSpPr txBox="1"/>
          <p:nvPr/>
        </p:nvSpPr>
        <p:spPr>
          <a:xfrm>
            <a:off x="2148981" y="1148310"/>
            <a:ext cx="1810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自动分拣机器人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C99DA9-165D-50C7-6256-44355CFED2B8}"/>
              </a:ext>
            </a:extLst>
          </p:cNvPr>
          <p:cNvSpPr txBox="1"/>
          <p:nvPr/>
        </p:nvSpPr>
        <p:spPr>
          <a:xfrm>
            <a:off x="8412486" y="1195308"/>
            <a:ext cx="133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服务机器人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613D63-BCBA-D830-CE31-E4A3DD166CE5}"/>
              </a:ext>
            </a:extLst>
          </p:cNvPr>
          <p:cNvSpPr txBox="1"/>
          <p:nvPr/>
        </p:nvSpPr>
        <p:spPr>
          <a:xfrm>
            <a:off x="1833418" y="4539796"/>
            <a:ext cx="226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识别不同颜色的货物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EDA2C4-6775-8C1C-871B-B37F89DEEC7A}"/>
              </a:ext>
            </a:extLst>
          </p:cNvPr>
          <p:cNvSpPr txBox="1"/>
          <p:nvPr/>
        </p:nvSpPr>
        <p:spPr>
          <a:xfrm>
            <a:off x="7935408" y="4486687"/>
            <a:ext cx="2036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跟随特定标识移动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56DC8C-A9D8-DDC8-F026-E0274C76529E}"/>
              </a:ext>
            </a:extLst>
          </p:cNvPr>
          <p:cNvSpPr txBox="1"/>
          <p:nvPr/>
        </p:nvSpPr>
        <p:spPr>
          <a:xfrm>
            <a:off x="2359890" y="5195670"/>
            <a:ext cx="120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颜色检测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3E068D-EA46-F6B3-CED4-A30DCD508110}"/>
              </a:ext>
            </a:extLst>
          </p:cNvPr>
          <p:cNvSpPr txBox="1"/>
          <p:nvPr/>
        </p:nvSpPr>
        <p:spPr>
          <a:xfrm>
            <a:off x="8348734" y="5142561"/>
            <a:ext cx="120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移动跟踪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E91C27-9EE9-9BD0-EEC6-07C82EB576C0}"/>
              </a:ext>
            </a:extLst>
          </p:cNvPr>
          <p:cNvSpPr txBox="1"/>
          <p:nvPr/>
        </p:nvSpPr>
        <p:spPr>
          <a:xfrm>
            <a:off x="3112653" y="5885933"/>
            <a:ext cx="596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实时检测特定颜色物体，并控制舵机进行</a:t>
            </a:r>
            <a:r>
              <a:rPr lang="zh-CN" altLang="en-US" b="1" dirty="0">
                <a:solidFill>
                  <a:srgbClr val="FF0000"/>
                </a:solidFill>
              </a:rPr>
              <a:t>自主跟随</a:t>
            </a:r>
            <a:r>
              <a:rPr lang="zh-CN" altLang="en-US" dirty="0">
                <a:solidFill>
                  <a:srgbClr val="FF0000"/>
                </a:solidFill>
              </a:rPr>
              <a:t>的系统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100DD0-A46B-0D20-4093-20B278654497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CDAE60BC-5597-458D-4D5D-8B25D5A53995}"/>
              </a:ext>
            </a:extLst>
          </p:cNvPr>
          <p:cNvCxnSpPr>
            <a:stCxn id="6" idx="2"/>
            <a:endCxn id="9" idx="1"/>
          </p:cNvCxnSpPr>
          <p:nvPr/>
        </p:nvCxnSpPr>
        <p:spPr>
          <a:xfrm rot="16200000" flipH="1">
            <a:off x="2785964" y="5743909"/>
            <a:ext cx="505597" cy="1477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1D5E2E7A-E5F6-A897-8031-F0C82D3C110F}"/>
              </a:ext>
            </a:extLst>
          </p:cNvPr>
          <p:cNvCxnSpPr>
            <a:cxnSpLocks/>
            <a:stCxn id="7" idx="2"/>
            <a:endCxn id="9" idx="3"/>
          </p:cNvCxnSpPr>
          <p:nvPr/>
        </p:nvCxnSpPr>
        <p:spPr>
          <a:xfrm rot="16200000" flipH="1">
            <a:off x="8737177" y="5728432"/>
            <a:ext cx="558706" cy="125628"/>
          </a:xfrm>
          <a:prstGeom prst="curvedConnector4">
            <a:avLst>
              <a:gd name="adj1" fmla="val 33474"/>
              <a:gd name="adj2" fmla="val 6635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5FD6A0D-D4C4-7155-4AE2-EE4CFCC24AA3}"/>
              </a:ext>
            </a:extLst>
          </p:cNvPr>
          <p:cNvSpPr txBox="1"/>
          <p:nvPr/>
        </p:nvSpPr>
        <p:spPr>
          <a:xfrm>
            <a:off x="653472" y="5885933"/>
            <a:ext cx="133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项目目标</a:t>
            </a:r>
          </a:p>
        </p:txBody>
      </p:sp>
    </p:spTree>
    <p:extLst>
      <p:ext uri="{BB962C8B-B14F-4D97-AF65-F5344CB8AC3E}">
        <p14:creationId xmlns:p14="http://schemas.microsoft.com/office/powerpoint/2010/main" val="184090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3422-0994-3476-C82B-72D69C270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E181361-6B3A-A6E1-4606-9F8CD57E940B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硬件搭建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FEE4999-303A-682F-8E43-1C7C9F61462E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A8B8BB2C-5B60-1F18-7EF9-ECB4668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68" y="1356438"/>
            <a:ext cx="7532918" cy="5050940"/>
          </a:xfrm>
          <a:prstGeom prst="rect">
            <a:avLst/>
          </a:prstGeom>
        </p:spPr>
      </p:pic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970E2D4C-900A-6884-C3B8-EA97AB92D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377" y="1809346"/>
            <a:ext cx="3778251" cy="414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0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EBE8-8F84-A69D-920B-B0B5628A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777CC9C-29EE-7026-F5BF-638DB244DD09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硬件搭建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F28448-B2A5-32DD-7829-9F069EC85463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F586ED5-CA5C-9D35-8162-03F4DA0C0F1B}"/>
              </a:ext>
            </a:extLst>
          </p:cNvPr>
          <p:cNvSpPr txBox="1"/>
          <p:nvPr/>
        </p:nvSpPr>
        <p:spPr>
          <a:xfrm>
            <a:off x="2974403" y="3059668"/>
            <a:ext cx="107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实物图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533E38-CB0F-48D3-C645-96F13CAF3CBC}"/>
              </a:ext>
            </a:extLst>
          </p:cNvPr>
          <p:cNvSpPr txBox="1"/>
          <p:nvPr/>
        </p:nvSpPr>
        <p:spPr>
          <a:xfrm>
            <a:off x="6391072" y="972925"/>
            <a:ext cx="527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项目思路</a:t>
            </a:r>
          </a:p>
        </p:txBody>
      </p:sp>
      <p:pic>
        <p:nvPicPr>
          <p:cNvPr id="10" name="图片 9" descr="文本, 信件&#10;&#10;AI 生成的内容可能不正确。">
            <a:extLst>
              <a:ext uri="{FF2B5EF4-FFF2-40B4-BE49-F238E27FC236}">
                <a16:creationId xmlns:a16="http://schemas.microsoft.com/office/drawing/2014/main" id="{001FB7CA-E91B-25DA-5080-2F84C8ABB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072" y="1835644"/>
            <a:ext cx="5416270" cy="318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4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586C-E02C-27F9-9CE2-5F64C86C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3924139-3FD7-9ADF-E5CB-19A392E11C0A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颜色检测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8660EFF-C7AD-D7D1-6D4C-4FCB7E3A9FD9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图形用户界面, 文本&#10;&#10;AI 生成的内容可能不正确。">
            <a:extLst>
              <a:ext uri="{FF2B5EF4-FFF2-40B4-BE49-F238E27FC236}">
                <a16:creationId xmlns:a16="http://schemas.microsoft.com/office/drawing/2014/main" id="{2121E9C8-E70A-F9AD-E410-6C653C3F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3" y="1045774"/>
            <a:ext cx="7214466" cy="2524273"/>
          </a:xfrm>
          <a:prstGeom prst="rect">
            <a:avLst/>
          </a:prstGeom>
        </p:spPr>
      </p:pic>
      <p:pic>
        <p:nvPicPr>
          <p:cNvPr id="10" name="图片 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1C482B9-A549-1624-CC1A-9C674A6A8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61" y="3833783"/>
            <a:ext cx="7214467" cy="2625383"/>
          </a:xfrm>
          <a:prstGeom prst="rect">
            <a:avLst/>
          </a:prstGeom>
        </p:spPr>
      </p:pic>
      <p:pic>
        <p:nvPicPr>
          <p:cNvPr id="13" name="图片 1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EC58C64-67A5-A1DF-84BA-35CAE84D7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599" y="1366732"/>
            <a:ext cx="3434132" cy="440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1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2766-CC35-DFA0-9C0B-55371ECF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9E88975-08F0-2C00-72F9-D4FD6DE1795F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追踪策略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97753BF-64E3-C3E2-7E05-CADF3349BF06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截图里有图片&#10;&#10;AI 生成的内容可能不正确。">
            <a:extLst>
              <a:ext uri="{FF2B5EF4-FFF2-40B4-BE49-F238E27FC236}">
                <a16:creationId xmlns:a16="http://schemas.microsoft.com/office/drawing/2014/main" id="{88725677-FAD5-7CD2-1E60-27EDB037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6" y="1083466"/>
            <a:ext cx="11744528" cy="52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4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FF65-DE93-95CD-E8E0-6A04F5BE4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1284AB-8757-A63D-8C12-20CD855BA7B1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548BE64-998B-703A-1D4C-6850CE7A82D4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8B404DA-7431-7DE2-8A9C-28156F3A6F49}"/>
              </a:ext>
            </a:extLst>
          </p:cNvPr>
          <p:cNvSpPr txBox="1"/>
          <p:nvPr/>
        </p:nvSpPr>
        <p:spPr>
          <a:xfrm>
            <a:off x="6994187" y="1581383"/>
            <a:ext cx="28793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导入库</a:t>
            </a:r>
            <a:endParaRPr lang="en-US" altLang="zh-CN" dirty="0"/>
          </a:p>
          <a:p>
            <a:r>
              <a:rPr lang="en-US" altLang="zh-CN" dirty="0"/>
              <a:t>Cv2 </a:t>
            </a:r>
            <a:r>
              <a:rPr lang="zh-CN" altLang="en-US" dirty="0"/>
              <a:t>图像处理</a:t>
            </a:r>
            <a:endParaRPr lang="en-US" altLang="zh-CN" dirty="0"/>
          </a:p>
          <a:p>
            <a:r>
              <a:rPr lang="en-US" altLang="zh-CN" dirty="0" err="1"/>
              <a:t>Imutils</a:t>
            </a:r>
            <a:r>
              <a:rPr lang="en-US" altLang="zh-CN" dirty="0"/>
              <a:t> </a:t>
            </a:r>
            <a:r>
              <a:rPr lang="zh-CN" altLang="en-US" dirty="0"/>
              <a:t>缩放图片</a:t>
            </a:r>
            <a:endParaRPr lang="en-US" altLang="zh-CN" dirty="0"/>
          </a:p>
          <a:p>
            <a:r>
              <a:rPr lang="en-US" altLang="zh-CN" dirty="0"/>
              <a:t>Adafruit_PCA9685 </a:t>
            </a:r>
            <a:r>
              <a:rPr lang="zh-CN" altLang="en-US" dirty="0"/>
              <a:t>驱动舵机</a:t>
            </a:r>
            <a:endParaRPr lang="en-US" altLang="zh-CN" dirty="0"/>
          </a:p>
          <a:p>
            <a:r>
              <a:rPr lang="en-US" altLang="zh-CN" dirty="0" err="1"/>
              <a:t>RPi.GPIO</a:t>
            </a:r>
            <a:r>
              <a:rPr lang="en-US" altLang="zh-CN" dirty="0"/>
              <a:t> </a:t>
            </a:r>
            <a:r>
              <a:rPr lang="zh-CN" altLang="en-US" dirty="0"/>
              <a:t>控制</a:t>
            </a:r>
            <a:r>
              <a:rPr lang="en-US" altLang="zh-CN" dirty="0"/>
              <a:t>LED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DD142B-9272-A74B-AA4E-2007CAA3D484}"/>
              </a:ext>
            </a:extLst>
          </p:cNvPr>
          <p:cNvSpPr txBox="1"/>
          <p:nvPr/>
        </p:nvSpPr>
        <p:spPr>
          <a:xfrm>
            <a:off x="6994186" y="3842426"/>
            <a:ext cx="4484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代码引入了 </a:t>
            </a:r>
            <a:r>
              <a:rPr lang="en-US" altLang="zh-CN" dirty="0"/>
              <a:t>OpenCV </a:t>
            </a:r>
            <a:r>
              <a:rPr lang="zh-CN" altLang="en-US" dirty="0"/>
              <a:t>用于核心图像处理，以及 </a:t>
            </a:r>
            <a:r>
              <a:rPr lang="en-US" altLang="zh-CN" dirty="0"/>
              <a:t>Adafruit_PCA9685 </a:t>
            </a:r>
            <a:r>
              <a:rPr lang="zh-CN" altLang="en-US" dirty="0"/>
              <a:t>库来专门控制 </a:t>
            </a:r>
            <a:r>
              <a:rPr lang="en-US" altLang="zh-CN" dirty="0"/>
              <a:t>PWM </a:t>
            </a:r>
            <a:r>
              <a:rPr lang="zh-CN" altLang="en-US" dirty="0"/>
              <a:t>驱动板；同时，我们初始化了 </a:t>
            </a:r>
            <a:r>
              <a:rPr lang="en-US" altLang="zh-CN" dirty="0"/>
              <a:t>GPIO </a:t>
            </a:r>
            <a:r>
              <a:rPr lang="zh-CN" altLang="en-US" dirty="0"/>
              <a:t>端口用于 </a:t>
            </a:r>
            <a:r>
              <a:rPr lang="en-US" altLang="zh-CN" dirty="0"/>
              <a:t>LED </a:t>
            </a:r>
            <a:r>
              <a:rPr lang="zh-CN" altLang="en-US" dirty="0"/>
              <a:t>状态指示，并将 </a:t>
            </a:r>
            <a:r>
              <a:rPr lang="en-US" altLang="zh-CN" dirty="0"/>
              <a:t>PWM </a:t>
            </a:r>
            <a:r>
              <a:rPr lang="zh-CN" altLang="en-US" dirty="0"/>
              <a:t>频率设定为 </a:t>
            </a:r>
            <a:r>
              <a:rPr lang="en-US" altLang="zh-CN" dirty="0"/>
              <a:t>60Hz</a:t>
            </a:r>
            <a:r>
              <a:rPr lang="zh-CN" altLang="en-US" dirty="0"/>
              <a:t>，以匹配模拟舵机的工作标准。</a:t>
            </a: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0E528724-62B9-C942-DEE9-ACCB90E7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63" y="987358"/>
            <a:ext cx="4617694" cy="571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C4C7-10F3-A4AA-34A7-DDB8C9C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082787F-8DB2-3A4D-3A84-2D73167580DA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3A3470D-226C-EA55-3B75-B0C9069BF6E6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01413A9-3609-B69D-F425-7DFE7FA0A39F}"/>
              </a:ext>
            </a:extLst>
          </p:cNvPr>
          <p:cNvSpPr txBox="1"/>
          <p:nvPr/>
        </p:nvSpPr>
        <p:spPr>
          <a:xfrm>
            <a:off x="6799634" y="2110902"/>
            <a:ext cx="47168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我们定义了左右（</a:t>
            </a:r>
            <a:r>
              <a:rPr lang="en-US" altLang="zh-CN" dirty="0"/>
              <a:t>Pan</a:t>
            </a:r>
            <a:r>
              <a:rPr lang="zh-CN" altLang="en-US" dirty="0"/>
              <a:t>）和上下（</a:t>
            </a:r>
            <a:r>
              <a:rPr lang="en-US" altLang="zh-CN" dirty="0"/>
              <a:t>Tilt</a:t>
            </a:r>
            <a:r>
              <a:rPr lang="zh-CN" altLang="en-US" dirty="0"/>
              <a:t>）舵机的通道，并设定了 </a:t>
            </a:r>
            <a:r>
              <a:rPr lang="en-US" altLang="zh-CN" dirty="0"/>
              <a:t>150 </a:t>
            </a:r>
            <a:r>
              <a:rPr lang="zh-CN" altLang="en-US" dirty="0"/>
              <a:t>到 </a:t>
            </a:r>
            <a:r>
              <a:rPr lang="en-US" altLang="zh-CN" dirty="0"/>
              <a:t>600 </a:t>
            </a:r>
            <a:r>
              <a:rPr lang="zh-CN" altLang="en-US" dirty="0"/>
              <a:t>的脉冲范围以防止舵机过载卡死；</a:t>
            </a:r>
            <a:endParaRPr lang="en-US" altLang="zh-CN" dirty="0"/>
          </a:p>
          <a:p>
            <a:r>
              <a:rPr lang="zh-CN" altLang="en-US" dirty="0"/>
              <a:t>我们将每次移动的‘步长’（</a:t>
            </a:r>
            <a:r>
              <a:rPr lang="en-US" altLang="zh-CN" dirty="0"/>
              <a:t>STEP</a:t>
            </a:r>
            <a:r>
              <a:rPr lang="zh-CN" altLang="en-US" dirty="0"/>
              <a:t>）设定为 </a:t>
            </a:r>
            <a:r>
              <a:rPr lang="en-US" altLang="zh-CN" dirty="0"/>
              <a:t>6</a:t>
            </a:r>
            <a:r>
              <a:rPr lang="zh-CN" altLang="en-US" dirty="0"/>
              <a:t>，这不仅保证了舵机有足够的扭力带动摄像头，也避免了画面剧烈抖动</a:t>
            </a: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F54E9C35-A63D-A979-1513-EE06847D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87" y="1009783"/>
            <a:ext cx="4648849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2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961F-5CBB-19BB-D890-2B0F5D88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CAC38BD-2A75-BF94-ADEE-FBB2B9BF0654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635307E-DC21-ABEB-3DE6-F4C269CE392F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2DD825C-C26A-EE61-DDAB-96B5477A1604}"/>
              </a:ext>
            </a:extLst>
          </p:cNvPr>
          <p:cNvSpPr txBox="1"/>
          <p:nvPr/>
        </p:nvSpPr>
        <p:spPr>
          <a:xfrm>
            <a:off x="1823370" y="5147269"/>
            <a:ext cx="838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在颜色定义上，我们采用了抗光线干扰更强的 </a:t>
            </a:r>
            <a:r>
              <a:rPr lang="en-US" altLang="zh-CN" dirty="0"/>
              <a:t>HSV </a:t>
            </a:r>
            <a:r>
              <a:rPr lang="zh-CN" altLang="en-US" dirty="0"/>
              <a:t>空间；为了解决红色在色相环首尾分布的问题，我们将其拆分为两段进行合并识别，同时调高了黄色的饱和度阈值，确保系统只锁定鲜艳的目标，有效过滤背景杂色。</a:t>
            </a:r>
          </a:p>
        </p:txBody>
      </p:sp>
      <p:pic>
        <p:nvPicPr>
          <p:cNvPr id="7" name="图片 6" descr="屏幕上有字&#10;&#10;AI 生成的内容可能不正确。">
            <a:extLst>
              <a:ext uri="{FF2B5EF4-FFF2-40B4-BE49-F238E27FC236}">
                <a16:creationId xmlns:a16="http://schemas.microsoft.com/office/drawing/2014/main" id="{C14C82F6-8971-8D68-918D-F2413CCF5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171" y="1060044"/>
            <a:ext cx="941201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D463-4A28-1498-5CD1-EBF41F8E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EB8E82E-227F-C697-BAE2-17950F580BF1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E6C1CC-89AD-E3AC-9BFB-ED3AF6102FC7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6670069-F1DC-C0FA-7826-204FADE08D19}"/>
              </a:ext>
            </a:extLst>
          </p:cNvPr>
          <p:cNvSpPr txBox="1"/>
          <p:nvPr/>
        </p:nvSpPr>
        <p:spPr>
          <a:xfrm>
            <a:off x="6984460" y="4822584"/>
            <a:ext cx="4435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进入主循环前，我们使用 </a:t>
            </a:r>
            <a:r>
              <a:rPr lang="en-US" altLang="zh-CN" dirty="0"/>
              <a:t>V4L2 </a:t>
            </a:r>
            <a:r>
              <a:rPr lang="zh-CN" altLang="en-US" dirty="0"/>
              <a:t>后端兼容模式启动摄像头，并在每一帧图像获取后立刻进行高斯模糊处理；这一步预处理至关重要，它能有效去除画面噪点，为后续的颜色分割提供更平滑的图像数据</a:t>
            </a: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245C1C8D-9D5F-3337-3255-3E8C20A5C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24" y="1049261"/>
            <a:ext cx="5598376" cy="5250651"/>
          </a:xfrm>
          <a:prstGeom prst="rect">
            <a:avLst/>
          </a:prstGeom>
        </p:spPr>
      </p:pic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77C4BEEC-C133-1B36-B6E8-6AD0341E6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768" y="840510"/>
            <a:ext cx="5485195" cy="37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478C-76DF-8ED9-F47C-54F24A44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A8B1FE1-083D-D2EE-98EA-8CF7E4926917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7921E3-9A5C-353B-CE7F-0B423D153650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C31E80D-6D1A-CE2D-D62A-33B217A4AD7B}"/>
              </a:ext>
            </a:extLst>
          </p:cNvPr>
          <p:cNvSpPr txBox="1"/>
          <p:nvPr/>
        </p:nvSpPr>
        <p:spPr>
          <a:xfrm>
            <a:off x="7451387" y="2626468"/>
            <a:ext cx="4134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视觉逻辑部分，系统会对红、黄、蓝三色分别进行‘掩膜生成</a:t>
            </a:r>
            <a:r>
              <a:rPr lang="en-US" altLang="zh-CN" dirty="0"/>
              <a:t>—</a:t>
            </a:r>
            <a:r>
              <a:rPr lang="zh-CN" altLang="en-US" dirty="0"/>
              <a:t>形态学去噪</a:t>
            </a:r>
            <a:r>
              <a:rPr lang="en-US" altLang="zh-CN" dirty="0"/>
              <a:t>—</a:t>
            </a:r>
            <a:r>
              <a:rPr lang="zh-CN" altLang="en-US" dirty="0"/>
              <a:t>轮廓提取’的处理流程，并筛选出面积最大的轮廓以排除干扰；虽然系统能同时在画面上标记三种颜色，但逻辑上通过判断，仅将黄色目标的坐标提取出来用于后续的追踪控制。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E62F8745-6C4E-CE32-ECC7-8153866C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78" y="1380624"/>
            <a:ext cx="6517996" cy="494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6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7F940-F77B-6BE1-7B23-BB8A1482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57C5-80FB-7836-DAE6-F854154F7D2F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1C074F8-D267-C9B5-7C9F-7C7D6C48A1E6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83C3E4C-2CC0-619A-2478-846282D3B7EC}"/>
              </a:ext>
            </a:extLst>
          </p:cNvPr>
          <p:cNvSpPr txBox="1"/>
          <p:nvPr/>
        </p:nvSpPr>
        <p:spPr>
          <a:xfrm>
            <a:off x="6906638" y="2412460"/>
            <a:ext cx="43093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追踪算法采用了一种简化的位置反馈机制：我们设定了一个 </a:t>
            </a:r>
            <a:r>
              <a:rPr lang="en-US" altLang="zh-CN" dirty="0"/>
              <a:t>40 </a:t>
            </a:r>
            <a:r>
              <a:rPr lang="zh-CN" altLang="en-US" dirty="0"/>
              <a:t>像素的‘死区’以防止云台反复微颤；一旦黄色目标偏离中心超过这个范围，系统就会根据偏差方向，以步进的方式调整舵机角度，形成一个让目标始终回归中心的闭环控制。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B746F8EB-CC53-28D7-FCC3-B7C03A5B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48" y="1059368"/>
            <a:ext cx="3968515" cy="54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4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F7CF-F7DF-091C-06EC-458E0184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C91E2D8-F2D2-C5C3-EB64-A6C667AB73DB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7FE383-A5A5-A7E9-9255-99C347178C7B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B0882F9-A9A5-6461-FC7C-2E374B7A4C70}"/>
              </a:ext>
            </a:extLst>
          </p:cNvPr>
          <p:cNvSpPr txBox="1"/>
          <p:nvPr/>
        </p:nvSpPr>
        <p:spPr>
          <a:xfrm>
            <a:off x="6965004" y="2551837"/>
            <a:ext cx="38132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最后在执行阶段，我们对计算出的 </a:t>
            </a:r>
            <a:r>
              <a:rPr lang="en-US" altLang="zh-CN" dirty="0"/>
              <a:t>PWM </a:t>
            </a:r>
            <a:r>
              <a:rPr lang="zh-CN" altLang="en-US" dirty="0"/>
              <a:t>值进行了限位保护，确保数值永远处于舵机的安全行程内；同时，系统会根据是否检测到目标来控制 </a:t>
            </a:r>
            <a:r>
              <a:rPr lang="en-US" altLang="zh-CN" dirty="0"/>
              <a:t>LED </a:t>
            </a:r>
            <a:r>
              <a:rPr lang="zh-CN" altLang="en-US" dirty="0"/>
              <a:t>灯的亮灭，提供直观的物理状态反馈。</a:t>
            </a: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FA56229F-0630-2671-CDD9-2B48D7E92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90" y="1138212"/>
            <a:ext cx="6323582" cy="534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8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37C8-8E14-E435-863D-30533206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98429FB-B9E9-DABC-7044-45CA7F875E8B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结果展示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99BFFD-364E-439E-6A4D-7B4A66637067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51312F1-7158-2C7F-6396-BB04FDB69C86}"/>
              </a:ext>
            </a:extLst>
          </p:cNvPr>
          <p:cNvSpPr txBox="1"/>
          <p:nvPr/>
        </p:nvSpPr>
        <p:spPr>
          <a:xfrm>
            <a:off x="5731213" y="3244334"/>
            <a:ext cx="72957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视频</a:t>
            </a:r>
          </a:p>
        </p:txBody>
      </p:sp>
    </p:spTree>
    <p:extLst>
      <p:ext uri="{BB962C8B-B14F-4D97-AF65-F5344CB8AC3E}">
        <p14:creationId xmlns:p14="http://schemas.microsoft.com/office/powerpoint/2010/main" val="2662692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DA11-AC2D-07B9-0DBE-130A5A1FE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FC79211-23EA-78A8-4313-CF18448413D4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技术难点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7A0E822-5F3F-5527-B7AB-698E1926F4F5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1C1B5B07-33EE-0A42-1E76-90277159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85" y="1172693"/>
            <a:ext cx="6903430" cy="507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48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5BA8-9B50-DC53-8E26-9C0A66B8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78FACEB-47A3-CC34-8F18-979F1823A209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技术难点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83369DF-0D73-1A9A-DE4F-BEC2F470E9F3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245C8D40-0301-B264-B7F4-BE081655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35" y="1092666"/>
            <a:ext cx="7344729" cy="538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52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AACB-06E0-FD06-3127-8C220213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8C454C4-6999-C005-DEE1-E93DE8B4B2C2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总结展望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D99A046-FA88-BBCF-63FA-B3F3CD0AC299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167A3CF-D07C-EBF4-5DE7-4E530ECE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266379"/>
            <a:ext cx="10946860" cy="502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61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910D-AE04-3A80-6AEC-8772F837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997ADC-4AB9-18CD-2AFA-7EB73BE4C0EE}"/>
              </a:ext>
            </a:extLst>
          </p:cNvPr>
          <p:cNvSpPr txBox="1"/>
          <p:nvPr/>
        </p:nvSpPr>
        <p:spPr>
          <a:xfrm>
            <a:off x="4145603" y="3013501"/>
            <a:ext cx="3900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感谢您的观看</a:t>
            </a:r>
          </a:p>
        </p:txBody>
      </p:sp>
    </p:spTree>
    <p:extLst>
      <p:ext uri="{BB962C8B-B14F-4D97-AF65-F5344CB8AC3E}">
        <p14:creationId xmlns:p14="http://schemas.microsoft.com/office/powerpoint/2010/main" val="3476684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523</Words>
  <Application>Microsoft Office PowerPoint</Application>
  <PresentationFormat>宽屏</PresentationFormat>
  <Paragraphs>44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主题​​</vt:lpstr>
      <vt:lpstr>基于颜色检测的智能追踪系统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衍宁 何</dc:creator>
  <cp:lastModifiedBy>衍宁 何</cp:lastModifiedBy>
  <cp:revision>2</cp:revision>
  <dcterms:created xsi:type="dcterms:W3CDTF">2025-12-24T15:23:50Z</dcterms:created>
  <dcterms:modified xsi:type="dcterms:W3CDTF">2025-12-25T03:25:20Z</dcterms:modified>
</cp:coreProperties>
</file>