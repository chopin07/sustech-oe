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350" r:id="rId2"/>
    <p:sldId id="340" r:id="rId3"/>
    <p:sldId id="387" r:id="rId4"/>
    <p:sldId id="388" r:id="rId5"/>
    <p:sldId id="389" r:id="rId6"/>
    <p:sldId id="390" r:id="rId7"/>
    <p:sldId id="391" r:id="rId8"/>
    <p:sldId id="392" r:id="rId9"/>
    <p:sldId id="393" r:id="rId10"/>
    <p:sldId id="394" r:id="rId11"/>
    <p:sldId id="395" r:id="rId12"/>
    <p:sldId id="396" r:id="rId13"/>
    <p:sldId id="397" r:id="rId14"/>
    <p:sldId id="376" r:id="rId15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46" userDrawn="1">
          <p15:clr>
            <a:srgbClr val="A4A3A4"/>
          </p15:clr>
        </p15:guide>
        <p15:guide id="4" orient="horz" pos="2500" userDrawn="1">
          <p15:clr>
            <a:srgbClr val="A4A3A4"/>
          </p15:clr>
        </p15:guide>
        <p15:guide id="5" pos="325" userDrawn="1">
          <p15:clr>
            <a:srgbClr val="A4A3A4"/>
          </p15:clr>
        </p15:guide>
        <p15:guide id="6" pos="73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E07D"/>
    <a:srgbClr val="80A43E"/>
    <a:srgbClr val="2D37C6"/>
    <a:srgbClr val="003F43"/>
    <a:srgbClr val="ED6C00"/>
    <a:srgbClr val="54D1E6"/>
    <a:srgbClr val="B3EAF4"/>
    <a:srgbClr val="29909B"/>
    <a:srgbClr val="1038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33" autoAdjust="0"/>
    <p:restoredTop sz="96238" autoAdjust="0"/>
  </p:normalViewPr>
  <p:slideViewPr>
    <p:cSldViewPr snapToGrid="0" showGuides="1">
      <p:cViewPr varScale="1">
        <p:scale>
          <a:sx n="95" d="100"/>
          <a:sy n="95" d="100"/>
        </p:scale>
        <p:origin x="108" y="426"/>
      </p:cViewPr>
      <p:guideLst>
        <p:guide orient="horz" pos="1049"/>
        <p:guide pos="3840"/>
        <p:guide orient="horz" pos="346"/>
        <p:guide orient="horz" pos="2500"/>
        <p:guide pos="325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880292-D0AB-4893-8458-232C2A1610C1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E592D-1E90-4118-BBB3-226543EB4D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688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校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14596" y="-152400"/>
            <a:ext cx="7162808" cy="716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学校建筑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4307887"/>
            <a:ext cx="12191999" cy="25433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（进阶设计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73B5B6-FF8F-85A8-F4D3-F851C7FD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98B9D-C61E-4DBB-A3F1-F4E3594D7594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659B0E-1F79-5F88-3879-8D31E72F7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D3755A-C885-7C3C-AC8C-FA4D6972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93A1-78AD-4550-B14C-5DBF6475D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355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9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8.jpe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7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18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19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1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20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形 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390390"/>
            <a:ext cx="12191365" cy="2467610"/>
          </a:xfrm>
          <a:prstGeom prst="rect">
            <a:avLst/>
          </a:prstGeom>
        </p:spPr>
      </p:pic>
      <p:pic>
        <p:nvPicPr>
          <p:cNvPr id="5" name="图片 4" descr="EEE logo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335" y="151765"/>
            <a:ext cx="2076450" cy="540385"/>
          </a:xfrm>
          <a:prstGeom prst="rect">
            <a:avLst/>
          </a:prstGeom>
        </p:spPr>
      </p:pic>
      <p:pic>
        <p:nvPicPr>
          <p:cNvPr id="6" name="图片 5" descr="校徽+中英文校名-左右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0145" y="27305"/>
            <a:ext cx="2168525" cy="709930"/>
          </a:xfrm>
          <a:prstGeom prst="rect">
            <a:avLst/>
          </a:prstGeom>
        </p:spPr>
      </p:pic>
      <p:pic>
        <p:nvPicPr>
          <p:cNvPr id="7" name="图片 6" descr="OIL_logo_orange_L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450" y="177800"/>
            <a:ext cx="2080895" cy="40894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5CE2468-13BC-0036-FF90-4C8C5F1017F4}"/>
              </a:ext>
            </a:extLst>
          </p:cNvPr>
          <p:cNvSpPr txBox="1"/>
          <p:nvPr/>
        </p:nvSpPr>
        <p:spPr>
          <a:xfrm>
            <a:off x="4415769" y="5993368"/>
            <a:ext cx="3360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latin typeface="+mn-ea"/>
                <a:ea typeface="+mn-ea"/>
                <a:cs typeface="Arial" panose="020B0604020202020204" pitchFamily="34" charset="0"/>
              </a:rPr>
              <a:t>2026.06.01</a:t>
            </a:r>
            <a:endParaRPr lang="zh-CN" altLang="en-US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9A76F9-C25E-EF77-D06F-583A9B2652DB}"/>
              </a:ext>
            </a:extLst>
          </p:cNvPr>
          <p:cNvSpPr txBox="1"/>
          <p:nvPr/>
        </p:nvSpPr>
        <p:spPr>
          <a:xfrm>
            <a:off x="4153773" y="3980504"/>
            <a:ext cx="38838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汇报人：陈信均 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12311125</a:t>
            </a:r>
          </a:p>
          <a:p>
            <a:pPr algn="r"/>
            <a:r>
              <a:rPr lang="zh-CN" altLang="en-US" sz="240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徐圣毅 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12310833</a:t>
            </a:r>
          </a:p>
          <a:p>
            <a:pPr algn="r"/>
            <a:r>
              <a:rPr lang="zh-CN" altLang="en-US" sz="240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何衍宁 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12311512</a:t>
            </a:r>
          </a:p>
          <a:p>
            <a:pPr algn="r"/>
            <a:r>
              <a:rPr lang="zh-CN" altLang="en-US" sz="240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向阳 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12311513</a:t>
            </a:r>
            <a:endParaRPr lang="zh-CN" altLang="en-US" sz="2400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8F0BC2-6D17-F86B-ADEE-A2597B678111}"/>
              </a:ext>
            </a:extLst>
          </p:cNvPr>
          <p:cNvGrpSpPr/>
          <p:nvPr/>
        </p:nvGrpSpPr>
        <p:grpSpPr>
          <a:xfrm>
            <a:off x="-52796" y="1959361"/>
            <a:ext cx="12296775" cy="1811475"/>
            <a:chOff x="0" y="1953853"/>
            <a:chExt cx="12296775" cy="276015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881CB42-B81E-A842-884D-5D97AF1897CC}"/>
                </a:ext>
              </a:extLst>
            </p:cNvPr>
            <p:cNvSpPr/>
            <p:nvPr/>
          </p:nvSpPr>
          <p:spPr>
            <a:xfrm>
              <a:off x="0" y="1953853"/>
              <a:ext cx="12192000" cy="27419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EBEB2C6A-C93B-DF25-0FEF-42727716F682}"/>
                </a:ext>
              </a:extLst>
            </p:cNvPr>
            <p:cNvSpPr txBox="1"/>
            <p:nvPr/>
          </p:nvSpPr>
          <p:spPr>
            <a:xfrm>
              <a:off x="104775" y="2040931"/>
              <a:ext cx="12192000" cy="26730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0"/>
              <a:r>
                <a:rPr lang="en-US" altLang="zh-CN" sz="5400" b="1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16</a:t>
              </a:r>
              <a:r>
                <a:rPr lang="zh-CN" altLang="en-US" sz="5400" b="1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位</a:t>
              </a:r>
              <a:r>
                <a:rPr lang="en-US" altLang="zh-CN" sz="5400" b="1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CPU</a:t>
              </a:r>
            </a:p>
            <a:p>
              <a:pPr algn="ctr" eaLnBrk="0"/>
              <a:r>
                <a:rPr lang="zh-CN" altLang="en-US" sz="5400" b="1" dirty="0">
                  <a:solidFill>
                    <a:schemeClr val="bg1"/>
                  </a:solidFill>
                  <a:latin typeface="+mn-ea"/>
                  <a:cs typeface="Arial" panose="020B0604020202020204" pitchFamily="34" charset="0"/>
                </a:rPr>
                <a:t>实现累加累乘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8" name="图片 7" descr="色条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7" name="图片 6" descr="OIL_logo_orange_LR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4902" y="159057"/>
            <a:ext cx="2612390" cy="51371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C48BF34-A859-CF9F-F5D2-68B51A956623}"/>
              </a:ext>
            </a:extLst>
          </p:cNvPr>
          <p:cNvSpPr txBox="1"/>
          <p:nvPr/>
        </p:nvSpPr>
        <p:spPr>
          <a:xfrm>
            <a:off x="4266883" y="417"/>
            <a:ext cx="36582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Content</a:t>
            </a:r>
            <a:endParaRPr lang="zh-CN" altLang="en-US" sz="48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D7EADC3-E83A-41AD-20A9-E076CBEF0BBD}"/>
              </a:ext>
            </a:extLst>
          </p:cNvPr>
          <p:cNvSpPr txBox="1"/>
          <p:nvPr/>
        </p:nvSpPr>
        <p:spPr>
          <a:xfrm>
            <a:off x="6334003" y="2137605"/>
            <a:ext cx="5392329" cy="2955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题目简介</a:t>
            </a:r>
            <a:endParaRPr lang="en-US" altLang="zh-CN" sz="32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模块介绍</a:t>
            </a:r>
            <a:endParaRPr lang="en-US" altLang="zh-CN" sz="32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实现与分析</a:t>
            </a:r>
            <a:endParaRPr lang="en-US" altLang="zh-CN" sz="32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视频演示</a:t>
            </a:r>
            <a:endParaRPr lang="en-US" altLang="zh-CN" sz="32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B27AADF-28B7-7607-3275-2BD3B5CF8DA3}"/>
              </a:ext>
            </a:extLst>
          </p:cNvPr>
          <p:cNvSpPr/>
          <p:nvPr/>
        </p:nvSpPr>
        <p:spPr>
          <a:xfrm>
            <a:off x="5644166" y="2327697"/>
            <a:ext cx="511759" cy="532567"/>
          </a:xfrm>
          <a:prstGeom prst="rect">
            <a:avLst/>
          </a:prstGeom>
          <a:solidFill>
            <a:srgbClr val="1038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FAECF4-1532-42E8-F357-4BAC13BF5E25}"/>
              </a:ext>
            </a:extLst>
          </p:cNvPr>
          <p:cNvSpPr/>
          <p:nvPr/>
        </p:nvSpPr>
        <p:spPr>
          <a:xfrm>
            <a:off x="5644166" y="3060195"/>
            <a:ext cx="511759" cy="532567"/>
          </a:xfrm>
          <a:prstGeom prst="rect">
            <a:avLst/>
          </a:prstGeom>
          <a:solidFill>
            <a:srgbClr val="1038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CB29DC5-4BCE-ACA3-ACE7-888043CE84A8}"/>
              </a:ext>
            </a:extLst>
          </p:cNvPr>
          <p:cNvSpPr/>
          <p:nvPr/>
        </p:nvSpPr>
        <p:spPr>
          <a:xfrm>
            <a:off x="5637873" y="3792694"/>
            <a:ext cx="511758" cy="532567"/>
          </a:xfrm>
          <a:prstGeom prst="rect">
            <a:avLst/>
          </a:prstGeom>
          <a:solidFill>
            <a:srgbClr val="1038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F61526B-E889-0C8E-CAAA-2254065DDB20}"/>
              </a:ext>
            </a:extLst>
          </p:cNvPr>
          <p:cNvSpPr/>
          <p:nvPr/>
        </p:nvSpPr>
        <p:spPr>
          <a:xfrm>
            <a:off x="5637873" y="4493845"/>
            <a:ext cx="511758" cy="532567"/>
          </a:xfrm>
          <a:prstGeom prst="rect">
            <a:avLst/>
          </a:prstGeom>
          <a:solidFill>
            <a:srgbClr val="1038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灯片编号占位符 8">
            <a:extLst>
              <a:ext uri="{FF2B5EF4-FFF2-40B4-BE49-F238E27FC236}">
                <a16:creationId xmlns:a16="http://schemas.microsoft.com/office/drawing/2014/main" id="{2C60763D-21E5-B8CE-41E5-A374D39C77D3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2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08B0CDF9-5489-2A56-146C-0F894796CFCD}"/>
              </a:ext>
            </a:extLst>
          </p:cNvPr>
          <p:cNvGrpSpPr/>
          <p:nvPr/>
        </p:nvGrpSpPr>
        <p:grpSpPr>
          <a:xfrm>
            <a:off x="-1200322" y="835224"/>
            <a:ext cx="6602468" cy="6053955"/>
            <a:chOff x="-1891173" y="1273949"/>
            <a:chExt cx="6602468" cy="6084335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28E6CF88-4422-3C32-4669-A07895338AA9}"/>
                </a:ext>
              </a:extLst>
            </p:cNvPr>
            <p:cNvSpPr/>
            <p:nvPr/>
          </p:nvSpPr>
          <p:spPr bwMode="auto">
            <a:xfrm>
              <a:off x="-776856" y="1313402"/>
              <a:ext cx="3738239" cy="6010062"/>
            </a:xfrm>
            <a:prstGeom prst="rect">
              <a:avLst/>
            </a:prstGeom>
            <a:solidFill>
              <a:srgbClr val="1447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6B984C6A-0558-476D-5E6A-B02AE2D8E571}"/>
                </a:ext>
              </a:extLst>
            </p:cNvPr>
            <p:cNvSpPr/>
            <p:nvPr/>
          </p:nvSpPr>
          <p:spPr bwMode="auto">
            <a:xfrm rot="5400000" flipV="1">
              <a:off x="609794" y="-68302"/>
              <a:ext cx="964938" cy="3738234"/>
            </a:xfrm>
            <a:prstGeom prst="rect">
              <a:avLst/>
            </a:prstGeom>
            <a:solidFill>
              <a:srgbClr val="003F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DED4E7BF-A69D-4313-40D8-7F1DA6FF47C4}"/>
                </a:ext>
              </a:extLst>
            </p:cNvPr>
            <p:cNvSpPr/>
            <p:nvPr/>
          </p:nvSpPr>
          <p:spPr bwMode="auto">
            <a:xfrm rot="5400000">
              <a:off x="272770" y="4658660"/>
              <a:ext cx="1624987" cy="3738238"/>
            </a:xfrm>
            <a:prstGeom prst="rect">
              <a:avLst/>
            </a:prstGeom>
            <a:solidFill>
              <a:srgbClr val="003F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514AE721-B98A-0A14-B9EA-D51A822F911A}"/>
                </a:ext>
              </a:extLst>
            </p:cNvPr>
            <p:cNvGrpSpPr/>
            <p:nvPr/>
          </p:nvGrpSpPr>
          <p:grpSpPr>
            <a:xfrm>
              <a:off x="-1891173" y="1526125"/>
              <a:ext cx="2754050" cy="4646991"/>
              <a:chOff x="0" y="1111187"/>
              <a:chExt cx="2754050" cy="4646991"/>
            </a:xfrm>
          </p:grpSpPr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FC51389A-C98B-00EE-20DE-AB07F38175A6}"/>
                  </a:ext>
                </a:extLst>
              </p:cNvPr>
              <p:cNvSpPr/>
              <p:nvPr/>
            </p:nvSpPr>
            <p:spPr>
              <a:xfrm>
                <a:off x="2450246" y="4863799"/>
                <a:ext cx="200570" cy="200570"/>
              </a:xfrm>
              <a:prstGeom prst="ellipse">
                <a:avLst/>
              </a:prstGeom>
              <a:solidFill>
                <a:schemeClr val="bg1">
                  <a:alpha val="2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E7FF44F8-D65A-BA6E-1994-F2C697867D6A}"/>
                  </a:ext>
                </a:extLst>
              </p:cNvPr>
              <p:cNvSpPr/>
              <p:nvPr/>
            </p:nvSpPr>
            <p:spPr>
              <a:xfrm>
                <a:off x="0" y="1111187"/>
                <a:ext cx="312134" cy="312134"/>
              </a:xfrm>
              <a:prstGeom prst="ellipse">
                <a:avLst/>
              </a:prstGeom>
              <a:solidFill>
                <a:schemeClr val="bg1">
                  <a:alpha val="1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CD7F0E67-6245-76AC-2617-112059EBCCE0}"/>
                  </a:ext>
                </a:extLst>
              </p:cNvPr>
              <p:cNvSpPr/>
              <p:nvPr/>
            </p:nvSpPr>
            <p:spPr>
              <a:xfrm>
                <a:off x="1114320" y="1611397"/>
                <a:ext cx="904679" cy="904679"/>
              </a:xfrm>
              <a:prstGeom prst="ellipse">
                <a:avLst/>
              </a:prstGeom>
              <a:solidFill>
                <a:schemeClr val="bg1">
                  <a:alpha val="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54C13DFC-030B-20BB-E860-E7B10248885A}"/>
                  </a:ext>
                </a:extLst>
              </p:cNvPr>
              <p:cNvSpPr/>
              <p:nvPr/>
            </p:nvSpPr>
            <p:spPr>
              <a:xfrm>
                <a:off x="854236" y="5460064"/>
                <a:ext cx="298114" cy="298114"/>
              </a:xfrm>
              <a:prstGeom prst="ellipse">
                <a:avLst/>
              </a:prstGeom>
              <a:solidFill>
                <a:schemeClr val="bg1">
                  <a:alpha val="2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27975823-761D-B1C4-7888-371FD1683267}"/>
                  </a:ext>
                </a:extLst>
              </p:cNvPr>
              <p:cNvSpPr/>
              <p:nvPr/>
            </p:nvSpPr>
            <p:spPr>
              <a:xfrm>
                <a:off x="2313236" y="1194804"/>
                <a:ext cx="440814" cy="440814"/>
              </a:xfrm>
              <a:prstGeom prst="ellipse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C6D3DE16-37E3-6849-D1A5-94B23DFEA9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88" r="2150"/>
            <a:stretch/>
          </p:blipFill>
          <p:spPr>
            <a:xfrm>
              <a:off x="-776857" y="2688561"/>
              <a:ext cx="4205077" cy="2667001"/>
            </a:xfrm>
            <a:prstGeom prst="rect">
              <a:avLst/>
            </a:prstGeom>
          </p:spPr>
        </p:pic>
        <p:sp>
          <p:nvSpPr>
            <p:cNvPr id="23" name="任意多边形 38">
              <a:extLst>
                <a:ext uri="{FF2B5EF4-FFF2-40B4-BE49-F238E27FC236}">
                  <a16:creationId xmlns:a16="http://schemas.microsoft.com/office/drawing/2014/main" id="{47E34913-D79A-0981-3803-7E7AFEE15678}"/>
                </a:ext>
              </a:extLst>
            </p:cNvPr>
            <p:cNvSpPr/>
            <p:nvPr/>
          </p:nvSpPr>
          <p:spPr>
            <a:xfrm rot="16200000">
              <a:off x="150555" y="2807160"/>
              <a:ext cx="6010061" cy="3017914"/>
            </a:xfrm>
            <a:custGeom>
              <a:avLst/>
              <a:gdLst>
                <a:gd name="connsiteX0" fmla="*/ 9143999 w 9143999"/>
                <a:gd name="connsiteY0" fmla="*/ 0 h 2051818"/>
                <a:gd name="connsiteX1" fmla="*/ 9143999 w 9143999"/>
                <a:gd name="connsiteY1" fmla="*/ 2051818 h 2051818"/>
                <a:gd name="connsiteX2" fmla="*/ 0 w 9143999"/>
                <a:gd name="connsiteY2" fmla="*/ 2051818 h 2051818"/>
                <a:gd name="connsiteX3" fmla="*/ 0 w 9143999"/>
                <a:gd name="connsiteY3" fmla="*/ 1204077 h 2051818"/>
                <a:gd name="connsiteX4" fmla="*/ 6027 w 9143999"/>
                <a:gd name="connsiteY4" fmla="*/ 1207403 h 2051818"/>
                <a:gd name="connsiteX5" fmla="*/ 7674511 w 9143999"/>
                <a:gd name="connsiteY5" fmla="*/ 718908 h 2051818"/>
                <a:gd name="connsiteX6" fmla="*/ 9044856 w 9143999"/>
                <a:gd name="connsiteY6" fmla="*/ 57555 h 2051818"/>
                <a:gd name="connsiteX7" fmla="*/ 9143999 w 9143999"/>
                <a:gd name="connsiteY7" fmla="*/ 0 h 2051818"/>
                <a:gd name="connsiteX0-1" fmla="*/ 9143999 w 9143999"/>
                <a:gd name="connsiteY0-2" fmla="*/ 0 h 2051818"/>
                <a:gd name="connsiteX1-3" fmla="*/ 9143999 w 9143999"/>
                <a:gd name="connsiteY1-4" fmla="*/ 2051818 h 2051818"/>
                <a:gd name="connsiteX2-5" fmla="*/ 0 w 9143999"/>
                <a:gd name="connsiteY2-6" fmla="*/ 2051818 h 2051818"/>
                <a:gd name="connsiteX3-7" fmla="*/ 0 w 9143999"/>
                <a:gd name="connsiteY3-8" fmla="*/ 1204077 h 2051818"/>
                <a:gd name="connsiteX4-9" fmla="*/ 6027 w 9143999"/>
                <a:gd name="connsiteY4-10" fmla="*/ 1207403 h 2051818"/>
                <a:gd name="connsiteX5-11" fmla="*/ 9044856 w 9143999"/>
                <a:gd name="connsiteY5-12" fmla="*/ 57555 h 2051818"/>
                <a:gd name="connsiteX6-13" fmla="*/ 9143999 w 9143999"/>
                <a:gd name="connsiteY6-14" fmla="*/ 0 h 2051818"/>
                <a:gd name="connsiteX0-15" fmla="*/ 9143999 w 9143999"/>
                <a:gd name="connsiteY0-16" fmla="*/ 0 h 2051818"/>
                <a:gd name="connsiteX1-17" fmla="*/ 9143999 w 9143999"/>
                <a:gd name="connsiteY1-18" fmla="*/ 2051818 h 2051818"/>
                <a:gd name="connsiteX2-19" fmla="*/ 0 w 9143999"/>
                <a:gd name="connsiteY2-20" fmla="*/ 2051818 h 2051818"/>
                <a:gd name="connsiteX3-21" fmla="*/ 0 w 9143999"/>
                <a:gd name="connsiteY3-22" fmla="*/ 1204077 h 2051818"/>
                <a:gd name="connsiteX4-23" fmla="*/ 6027 w 9143999"/>
                <a:gd name="connsiteY4-24" fmla="*/ 1207403 h 2051818"/>
                <a:gd name="connsiteX5-25" fmla="*/ 9143999 w 9143999"/>
                <a:gd name="connsiteY5-26" fmla="*/ 0 h 2051818"/>
                <a:gd name="connsiteX0-27" fmla="*/ 9143999 w 9143999"/>
                <a:gd name="connsiteY0-28" fmla="*/ 0 h 2051818"/>
                <a:gd name="connsiteX1-29" fmla="*/ 9143999 w 9143999"/>
                <a:gd name="connsiteY1-30" fmla="*/ 2051818 h 2051818"/>
                <a:gd name="connsiteX2-31" fmla="*/ 0 w 9143999"/>
                <a:gd name="connsiteY2-32" fmla="*/ 2051818 h 2051818"/>
                <a:gd name="connsiteX3-33" fmla="*/ 0 w 9143999"/>
                <a:gd name="connsiteY3-34" fmla="*/ 1204077 h 2051818"/>
                <a:gd name="connsiteX4-35" fmla="*/ 6027 w 9143999"/>
                <a:gd name="connsiteY4-36" fmla="*/ 1207403 h 2051818"/>
                <a:gd name="connsiteX5-37" fmla="*/ 9143999 w 9143999"/>
                <a:gd name="connsiteY5-38" fmla="*/ 0 h 2051818"/>
                <a:gd name="connsiteX0-39" fmla="*/ 9143999 w 9143999"/>
                <a:gd name="connsiteY0-40" fmla="*/ 0 h 2051818"/>
                <a:gd name="connsiteX1-41" fmla="*/ 9143999 w 9143999"/>
                <a:gd name="connsiteY1-42" fmla="*/ 2051818 h 2051818"/>
                <a:gd name="connsiteX2-43" fmla="*/ 0 w 9143999"/>
                <a:gd name="connsiteY2-44" fmla="*/ 2051818 h 2051818"/>
                <a:gd name="connsiteX3-45" fmla="*/ 0 w 9143999"/>
                <a:gd name="connsiteY3-46" fmla="*/ 1204077 h 2051818"/>
                <a:gd name="connsiteX4-47" fmla="*/ 6027 w 9143999"/>
                <a:gd name="connsiteY4-48" fmla="*/ 1207403 h 2051818"/>
                <a:gd name="connsiteX5-49" fmla="*/ 9143999 w 9143999"/>
                <a:gd name="connsiteY5-50" fmla="*/ 0 h 2051818"/>
                <a:gd name="connsiteX0-51" fmla="*/ 9143999 w 9143999"/>
                <a:gd name="connsiteY0-52" fmla="*/ 0 h 2051818"/>
                <a:gd name="connsiteX1-53" fmla="*/ 9143999 w 9143999"/>
                <a:gd name="connsiteY1-54" fmla="*/ 2051818 h 2051818"/>
                <a:gd name="connsiteX2-55" fmla="*/ 0 w 9143999"/>
                <a:gd name="connsiteY2-56" fmla="*/ 2051818 h 2051818"/>
                <a:gd name="connsiteX3-57" fmla="*/ 0 w 9143999"/>
                <a:gd name="connsiteY3-58" fmla="*/ 1204077 h 2051818"/>
                <a:gd name="connsiteX4-59" fmla="*/ 6027 w 9143999"/>
                <a:gd name="connsiteY4-60" fmla="*/ 1207403 h 2051818"/>
                <a:gd name="connsiteX5-61" fmla="*/ 9143999 w 9143999"/>
                <a:gd name="connsiteY5-62" fmla="*/ 0 h 2051818"/>
                <a:gd name="connsiteX0-63" fmla="*/ 9143999 w 9143999"/>
                <a:gd name="connsiteY0-64" fmla="*/ 130228 h 2182046"/>
                <a:gd name="connsiteX1-65" fmla="*/ 9143999 w 9143999"/>
                <a:gd name="connsiteY1-66" fmla="*/ 2182046 h 2182046"/>
                <a:gd name="connsiteX2-67" fmla="*/ 0 w 9143999"/>
                <a:gd name="connsiteY2-68" fmla="*/ 2182046 h 2182046"/>
                <a:gd name="connsiteX3-69" fmla="*/ 0 w 9143999"/>
                <a:gd name="connsiteY3-70" fmla="*/ 1334305 h 2182046"/>
                <a:gd name="connsiteX4-71" fmla="*/ 6027 w 9143999"/>
                <a:gd name="connsiteY4-72" fmla="*/ 0 h 2182046"/>
                <a:gd name="connsiteX5-73" fmla="*/ 9143999 w 9143999"/>
                <a:gd name="connsiteY5-74" fmla="*/ 130228 h 2182046"/>
                <a:gd name="connsiteX0-75" fmla="*/ 9143999 w 9143999"/>
                <a:gd name="connsiteY0-76" fmla="*/ 0 h 2051818"/>
                <a:gd name="connsiteX1-77" fmla="*/ 9143999 w 9143999"/>
                <a:gd name="connsiteY1-78" fmla="*/ 2051818 h 2051818"/>
                <a:gd name="connsiteX2-79" fmla="*/ 0 w 9143999"/>
                <a:gd name="connsiteY2-80" fmla="*/ 2051818 h 2051818"/>
                <a:gd name="connsiteX3-81" fmla="*/ 0 w 9143999"/>
                <a:gd name="connsiteY3-82" fmla="*/ 1204077 h 2051818"/>
                <a:gd name="connsiteX4-83" fmla="*/ 25380 w 9143999"/>
                <a:gd name="connsiteY4-84" fmla="*/ 54648 h 2051818"/>
                <a:gd name="connsiteX5-85" fmla="*/ 9143999 w 9143999"/>
                <a:gd name="connsiteY5-86" fmla="*/ 0 h 2051818"/>
                <a:gd name="connsiteX0-87" fmla="*/ 9143999 w 9143999"/>
                <a:gd name="connsiteY0-88" fmla="*/ 0 h 2051818"/>
                <a:gd name="connsiteX1-89" fmla="*/ 9143999 w 9143999"/>
                <a:gd name="connsiteY1-90" fmla="*/ 2051818 h 2051818"/>
                <a:gd name="connsiteX2-91" fmla="*/ 0 w 9143999"/>
                <a:gd name="connsiteY2-92" fmla="*/ 2051818 h 2051818"/>
                <a:gd name="connsiteX3-93" fmla="*/ 0 w 9143999"/>
                <a:gd name="connsiteY3-94" fmla="*/ 1204077 h 2051818"/>
                <a:gd name="connsiteX4-95" fmla="*/ 25380 w 9143999"/>
                <a:gd name="connsiteY4-96" fmla="*/ 54648 h 2051818"/>
                <a:gd name="connsiteX5-97" fmla="*/ 9143999 w 9143999"/>
                <a:gd name="connsiteY5-98" fmla="*/ 0 h 2051818"/>
                <a:gd name="connsiteX0-99" fmla="*/ 9143999 w 9143999"/>
                <a:gd name="connsiteY0-100" fmla="*/ 0 h 2051818"/>
                <a:gd name="connsiteX1-101" fmla="*/ 9143999 w 9143999"/>
                <a:gd name="connsiteY1-102" fmla="*/ 2051818 h 2051818"/>
                <a:gd name="connsiteX2-103" fmla="*/ 0 w 9143999"/>
                <a:gd name="connsiteY2-104" fmla="*/ 2051818 h 2051818"/>
                <a:gd name="connsiteX3-105" fmla="*/ 0 w 9143999"/>
                <a:gd name="connsiteY3-106" fmla="*/ 1204077 h 2051818"/>
                <a:gd name="connsiteX4-107" fmla="*/ 25380 w 9143999"/>
                <a:gd name="connsiteY4-108" fmla="*/ 54648 h 2051818"/>
                <a:gd name="connsiteX5-109" fmla="*/ 9143999 w 9143999"/>
                <a:gd name="connsiteY5-110" fmla="*/ 0 h 2051818"/>
                <a:gd name="connsiteX0-111" fmla="*/ 9143999 w 9143999"/>
                <a:gd name="connsiteY0-112" fmla="*/ 0 h 2051818"/>
                <a:gd name="connsiteX1-113" fmla="*/ 9143999 w 9143999"/>
                <a:gd name="connsiteY1-114" fmla="*/ 2051818 h 2051818"/>
                <a:gd name="connsiteX2-115" fmla="*/ 0 w 9143999"/>
                <a:gd name="connsiteY2-116" fmla="*/ 2051818 h 2051818"/>
                <a:gd name="connsiteX3-117" fmla="*/ 0 w 9143999"/>
                <a:gd name="connsiteY3-118" fmla="*/ 1204077 h 2051818"/>
                <a:gd name="connsiteX4-119" fmla="*/ 25380 w 9143999"/>
                <a:gd name="connsiteY4-120" fmla="*/ 54648 h 2051818"/>
                <a:gd name="connsiteX5-121" fmla="*/ 9143999 w 9143999"/>
                <a:gd name="connsiteY5-122" fmla="*/ 0 h 2051818"/>
                <a:gd name="connsiteX0-123" fmla="*/ 9124647 w 9143999"/>
                <a:gd name="connsiteY0-124" fmla="*/ 0 h 2127943"/>
                <a:gd name="connsiteX1-125" fmla="*/ 9143999 w 9143999"/>
                <a:gd name="connsiteY1-126" fmla="*/ 2127943 h 2127943"/>
                <a:gd name="connsiteX2-127" fmla="*/ 0 w 9143999"/>
                <a:gd name="connsiteY2-128" fmla="*/ 2127943 h 2127943"/>
                <a:gd name="connsiteX3-129" fmla="*/ 0 w 9143999"/>
                <a:gd name="connsiteY3-130" fmla="*/ 1280202 h 2127943"/>
                <a:gd name="connsiteX4-131" fmla="*/ 25380 w 9143999"/>
                <a:gd name="connsiteY4-132" fmla="*/ 130773 h 2127943"/>
                <a:gd name="connsiteX5-133" fmla="*/ 9124647 w 9143999"/>
                <a:gd name="connsiteY5-134" fmla="*/ 0 h 2127943"/>
                <a:gd name="connsiteX0-135" fmla="*/ 9124647 w 9143999"/>
                <a:gd name="connsiteY0-136" fmla="*/ 0 h 2127943"/>
                <a:gd name="connsiteX1-137" fmla="*/ 9143999 w 9143999"/>
                <a:gd name="connsiteY1-138" fmla="*/ 2127943 h 2127943"/>
                <a:gd name="connsiteX2-139" fmla="*/ 0 w 9143999"/>
                <a:gd name="connsiteY2-140" fmla="*/ 2127943 h 2127943"/>
                <a:gd name="connsiteX3-141" fmla="*/ 0 w 9143999"/>
                <a:gd name="connsiteY3-142" fmla="*/ 1280202 h 2127943"/>
                <a:gd name="connsiteX4-143" fmla="*/ 25380 w 9143999"/>
                <a:gd name="connsiteY4-144" fmla="*/ 130773 h 2127943"/>
                <a:gd name="connsiteX5-145" fmla="*/ 9124647 w 9143999"/>
                <a:gd name="connsiteY5-146" fmla="*/ 0 h 2127943"/>
                <a:gd name="connsiteX0-147" fmla="*/ 9124647 w 9143999"/>
                <a:gd name="connsiteY0-148" fmla="*/ 0 h 2127943"/>
                <a:gd name="connsiteX1-149" fmla="*/ 9143999 w 9143999"/>
                <a:gd name="connsiteY1-150" fmla="*/ 2127943 h 2127943"/>
                <a:gd name="connsiteX2-151" fmla="*/ 0 w 9143999"/>
                <a:gd name="connsiteY2-152" fmla="*/ 2127943 h 2127943"/>
                <a:gd name="connsiteX3-153" fmla="*/ 0 w 9143999"/>
                <a:gd name="connsiteY3-154" fmla="*/ 1280202 h 2127943"/>
                <a:gd name="connsiteX4-155" fmla="*/ 6028 w 9143999"/>
                <a:gd name="connsiteY4-156" fmla="*/ 11147 h 2127943"/>
                <a:gd name="connsiteX5-157" fmla="*/ 9124647 w 9143999"/>
                <a:gd name="connsiteY5-158" fmla="*/ 0 h 2127943"/>
                <a:gd name="connsiteX0-159" fmla="*/ 9138134 w 9157486"/>
                <a:gd name="connsiteY0-160" fmla="*/ 0 h 2127943"/>
                <a:gd name="connsiteX1-161" fmla="*/ 9157486 w 9157486"/>
                <a:gd name="connsiteY1-162" fmla="*/ 2127943 h 2127943"/>
                <a:gd name="connsiteX2-163" fmla="*/ 13487 w 9157486"/>
                <a:gd name="connsiteY2-164" fmla="*/ 2127943 h 2127943"/>
                <a:gd name="connsiteX3-165" fmla="*/ 13487 w 9157486"/>
                <a:gd name="connsiteY3-166" fmla="*/ 1280202 h 2127943"/>
                <a:gd name="connsiteX4-167" fmla="*/ 163 w 9157486"/>
                <a:gd name="connsiteY4-168" fmla="*/ 141648 h 2127943"/>
                <a:gd name="connsiteX5-169" fmla="*/ 9138134 w 9157486"/>
                <a:gd name="connsiteY5-170" fmla="*/ 0 h 212794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9157486" h="2127943">
                  <a:moveTo>
                    <a:pt x="9138134" y="0"/>
                  </a:moveTo>
                  <a:lnTo>
                    <a:pt x="9157486" y="2127943"/>
                  </a:lnTo>
                  <a:lnTo>
                    <a:pt x="13487" y="2127943"/>
                  </a:lnTo>
                  <a:lnTo>
                    <a:pt x="13487" y="1280202"/>
                  </a:lnTo>
                  <a:cubicBezTo>
                    <a:pt x="15496" y="857184"/>
                    <a:pt x="-1846" y="564666"/>
                    <a:pt x="163" y="141648"/>
                  </a:cubicBezTo>
                  <a:cubicBezTo>
                    <a:pt x="3568670" y="1577063"/>
                    <a:pt x="7137176" y="1131097"/>
                    <a:pt x="9138134" y="0"/>
                  </a:cubicBezTo>
                  <a:close/>
                </a:path>
              </a:pathLst>
            </a:custGeom>
            <a:solidFill>
              <a:srgbClr val="00596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91843D01-9858-97AF-EE6C-D078CBF52D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064"/>
            <a:stretch/>
          </p:blipFill>
          <p:spPr>
            <a:xfrm>
              <a:off x="2445830" y="1273949"/>
              <a:ext cx="2265465" cy="60843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38759-0278-5C39-414E-EFD7FAB30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1FB72829-8150-2F45-83AE-3D2C10C425DF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0800C56F-B146-EE89-01F6-6FD3AD134D58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0FFE455-397D-1F1E-EA04-08A422E644AD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 descr="OIL_logo_orange_LR">
            <a:extLst>
              <a:ext uri="{FF2B5EF4-FFF2-40B4-BE49-F238E27FC236}">
                <a16:creationId xmlns:a16="http://schemas.microsoft.com/office/drawing/2014/main" id="{82F70F53-9D90-E4D6-3931-A01E71023CF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4902" y="159057"/>
            <a:ext cx="2612390" cy="51371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8A034D5-ABAC-7191-A042-29268AF487F0}"/>
              </a:ext>
            </a:extLst>
          </p:cNvPr>
          <p:cNvSpPr txBox="1"/>
          <p:nvPr/>
        </p:nvSpPr>
        <p:spPr>
          <a:xfrm>
            <a:off x="3671729" y="417"/>
            <a:ext cx="48485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题目简介</a:t>
            </a:r>
          </a:p>
        </p:txBody>
      </p: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F56BED24-23CD-B11E-BF05-000824E1F22F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3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A06A428-668E-59C3-BD88-051ABB8FE6D7}"/>
              </a:ext>
            </a:extLst>
          </p:cNvPr>
          <p:cNvSpPr txBox="1"/>
          <p:nvPr/>
        </p:nvSpPr>
        <p:spPr>
          <a:xfrm>
            <a:off x="828675" y="2693464"/>
            <a:ext cx="10534650" cy="94683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+mn-ea"/>
                <a:cs typeface="宋体" pitchFamily="2" charset="-122"/>
              </a:rPr>
              <a:t>使用</a:t>
            </a:r>
            <a:r>
              <a:rPr lang="en-US" altLang="zh-CN" sz="2800" b="1" dirty="0">
                <a:latin typeface="+mn-ea"/>
                <a:cs typeface="宋体" pitchFamily="2" charset="-122"/>
              </a:rPr>
              <a:t>Xilinx </a:t>
            </a:r>
            <a:r>
              <a:rPr lang="en-US" altLang="zh-CN" sz="2800" b="1" dirty="0" err="1">
                <a:latin typeface="+mn-ea"/>
                <a:cs typeface="宋体" pitchFamily="2" charset="-122"/>
              </a:rPr>
              <a:t>Vivado</a:t>
            </a:r>
            <a:r>
              <a:rPr lang="zh-CN" altLang="en-US" sz="2800" b="1" dirty="0">
                <a:latin typeface="+mn-ea"/>
                <a:cs typeface="宋体" pitchFamily="2" charset="-122"/>
              </a:rPr>
              <a:t>在</a:t>
            </a:r>
            <a:r>
              <a:rPr lang="en-US" altLang="zh-CN" sz="2800" b="1" dirty="0">
                <a:latin typeface="+mn-ea"/>
                <a:cs typeface="宋体" pitchFamily="2" charset="-122"/>
              </a:rPr>
              <a:t>VHDL</a:t>
            </a:r>
            <a:r>
              <a:rPr lang="zh-CN" altLang="en-US" sz="2800" b="1" dirty="0">
                <a:latin typeface="+mn-ea"/>
                <a:cs typeface="宋体" pitchFamily="2" charset="-122"/>
              </a:rPr>
              <a:t>中设计一个简单的</a:t>
            </a:r>
            <a:r>
              <a:rPr lang="en-US" altLang="zh-CN" sz="2800" b="1" dirty="0">
                <a:latin typeface="+mn-ea"/>
                <a:cs typeface="宋体" pitchFamily="2" charset="-122"/>
              </a:rPr>
              <a:t>16</a:t>
            </a:r>
            <a:r>
              <a:rPr lang="zh-CN" altLang="en-US" sz="2800" b="1" dirty="0">
                <a:latin typeface="+mn-ea"/>
                <a:cs typeface="宋体" pitchFamily="2" charset="-122"/>
              </a:rPr>
              <a:t>位</a:t>
            </a:r>
            <a:r>
              <a:rPr lang="en-US" altLang="zh-CN" sz="2800" b="1" dirty="0">
                <a:latin typeface="+mn-ea"/>
                <a:cs typeface="宋体" pitchFamily="2" charset="-122"/>
              </a:rPr>
              <a:t>CPU</a:t>
            </a:r>
            <a:r>
              <a:rPr lang="zh-CN" altLang="en-US" sz="2800" b="1" dirty="0">
                <a:latin typeface="+mn-ea"/>
                <a:cs typeface="宋体" pitchFamily="2" charset="-122"/>
              </a:rPr>
              <a:t>。</a:t>
            </a:r>
          </a:p>
          <a:p>
            <a:r>
              <a:rPr lang="zh-CN" altLang="en-US" sz="2800" b="1" dirty="0">
                <a:latin typeface="+mn-ea"/>
                <a:cs typeface="宋体" pitchFamily="2" charset="-122"/>
              </a:rPr>
              <a:t>模拟</a:t>
            </a:r>
            <a:r>
              <a:rPr lang="en-US" altLang="zh-CN" sz="2800" b="1" dirty="0">
                <a:latin typeface="+mn-ea"/>
                <a:cs typeface="宋体" pitchFamily="2" charset="-122"/>
              </a:rPr>
              <a:t>CPU</a:t>
            </a:r>
            <a:r>
              <a:rPr lang="zh-CN" altLang="en-US" sz="2800" b="1" dirty="0">
                <a:latin typeface="+mn-ea"/>
                <a:cs typeface="宋体" pitchFamily="2" charset="-122"/>
              </a:rPr>
              <a:t>执行汇编语言的过程，计算</a:t>
            </a:r>
            <a:r>
              <a:rPr lang="en-US" altLang="zh-CN" sz="2800" b="1" dirty="0">
                <a:latin typeface="+mn-ea"/>
                <a:cs typeface="宋体" pitchFamily="2" charset="-122"/>
              </a:rPr>
              <a:t>1</a:t>
            </a:r>
            <a:r>
              <a:rPr lang="zh-CN" altLang="en-US" sz="2800" b="1" dirty="0">
                <a:latin typeface="+mn-ea"/>
                <a:cs typeface="宋体" pitchFamily="2" charset="-122"/>
              </a:rPr>
              <a:t>到</a:t>
            </a:r>
            <a:r>
              <a:rPr lang="en-US" altLang="zh-CN" sz="2800" b="1" dirty="0">
                <a:latin typeface="+mn-ea"/>
                <a:cs typeface="宋体" pitchFamily="2" charset="-122"/>
              </a:rPr>
              <a:t>N</a:t>
            </a:r>
            <a:r>
              <a:rPr lang="zh-CN" altLang="en-US" sz="2800" b="1" dirty="0">
                <a:latin typeface="+mn-ea"/>
                <a:cs typeface="宋体" pitchFamily="2" charset="-122"/>
              </a:rPr>
              <a:t>的累加结果。</a:t>
            </a:r>
          </a:p>
        </p:txBody>
      </p:sp>
    </p:spTree>
    <p:extLst>
      <p:ext uri="{BB962C8B-B14F-4D97-AF65-F5344CB8AC3E}">
        <p14:creationId xmlns:p14="http://schemas.microsoft.com/office/powerpoint/2010/main" val="2107314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F59BD-FC99-26AD-0C0B-C85FF5E19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CC74F98-7EBF-BD5F-A38C-B0DB8972C87A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B6387CB3-36D2-A682-3FBB-2AAFC9335241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7FF9E43-C27F-AB96-91FF-DB81EF90E381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 descr="OIL_logo_orange_LR">
            <a:extLst>
              <a:ext uri="{FF2B5EF4-FFF2-40B4-BE49-F238E27FC236}">
                <a16:creationId xmlns:a16="http://schemas.microsoft.com/office/drawing/2014/main" id="{B87FB845-7DBC-AAAC-874D-F4343CA750D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4902" y="159057"/>
            <a:ext cx="2612390" cy="51371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8070A67-A19F-9394-4DC2-9D90BD6E31FB}"/>
              </a:ext>
            </a:extLst>
          </p:cNvPr>
          <p:cNvSpPr txBox="1"/>
          <p:nvPr/>
        </p:nvSpPr>
        <p:spPr>
          <a:xfrm>
            <a:off x="3671729" y="417"/>
            <a:ext cx="48485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模块介绍</a:t>
            </a:r>
          </a:p>
        </p:txBody>
      </p: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18A45202-2A3B-D423-BA7E-8DEA90D919BB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4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7A85743-3613-F21C-F0D4-E4C74FF9362A}"/>
              </a:ext>
            </a:extLst>
          </p:cNvPr>
          <p:cNvSpPr txBox="1"/>
          <p:nvPr/>
        </p:nvSpPr>
        <p:spPr>
          <a:xfrm>
            <a:off x="224902" y="3719819"/>
            <a:ext cx="66403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Top-Level Module: CPU </a:t>
            </a:r>
          </a:p>
          <a:p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Submodules: </a:t>
            </a:r>
          </a:p>
          <a:p>
            <a:r>
              <a:rPr lang="en-US" altLang="zh-CN" sz="18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PC Unit</a:t>
            </a: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: Provides instruction addresses and handles branching. </a:t>
            </a:r>
          </a:p>
          <a:p>
            <a:r>
              <a:rPr lang="en-US" altLang="zh-CN" sz="18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RAM</a:t>
            </a: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: Stores instructions and data. </a:t>
            </a:r>
          </a:p>
          <a:p>
            <a:r>
              <a:rPr lang="en-US" altLang="zh-CN" sz="18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Decoder</a:t>
            </a: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: Interprets instructions and generates control signals. </a:t>
            </a:r>
          </a:p>
          <a:p>
            <a:r>
              <a:rPr lang="en-US" altLang="zh-CN" sz="18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Control Unit</a:t>
            </a: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: Orchestrates each stage’s execution in sequence. </a:t>
            </a:r>
          </a:p>
          <a:p>
            <a:r>
              <a:rPr lang="en-US" altLang="zh-CN" sz="18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Register File</a:t>
            </a: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: Holds operands and stores results. </a:t>
            </a:r>
          </a:p>
          <a:p>
            <a:r>
              <a:rPr lang="en-US" altLang="zh-CN" sz="18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ALU</a:t>
            </a:r>
            <a:r>
              <a:rPr lang="en-US" altLang="zh-CN" sz="1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: Executes arithmetic and logic operations.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09FAB45-9FE4-C830-246E-9BCC6B25382E}"/>
              </a:ext>
            </a:extLst>
          </p:cNvPr>
          <p:cNvSpPr txBox="1"/>
          <p:nvPr/>
        </p:nvSpPr>
        <p:spPr>
          <a:xfrm>
            <a:off x="224902" y="1317907"/>
            <a:ext cx="1132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模块化</a:t>
            </a:r>
          </a:p>
        </p:txBody>
      </p:sp>
      <p:pic>
        <p:nvPicPr>
          <p:cNvPr id="13" name="图片 12" descr="upload_post_object_v2_3129333695">
            <a:extLst>
              <a:ext uri="{FF2B5EF4-FFF2-40B4-BE49-F238E27FC236}">
                <a16:creationId xmlns:a16="http://schemas.microsoft.com/office/drawing/2014/main" id="{66429FCD-C490-0D65-253E-3FE13BB3BF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914" y="1092965"/>
            <a:ext cx="7090184" cy="248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82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00CDE-6BFE-BEC0-79E4-ECA824F3F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93F4AD77-10F4-8EE1-4457-0B604982957F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3C1DFBC1-4668-5768-64E7-06E950805EC0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24EB11A-8AEB-3BC8-3DE2-A715656C009C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 descr="OIL_logo_orange_LR">
            <a:extLst>
              <a:ext uri="{FF2B5EF4-FFF2-40B4-BE49-F238E27FC236}">
                <a16:creationId xmlns:a16="http://schemas.microsoft.com/office/drawing/2014/main" id="{093239AF-CF48-0E5F-2034-0E852B4B62E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4902" y="159057"/>
            <a:ext cx="2612390" cy="51371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82BF09B-816C-80F4-88AE-F9CF34E930FA}"/>
              </a:ext>
            </a:extLst>
          </p:cNvPr>
          <p:cNvSpPr txBox="1"/>
          <p:nvPr/>
        </p:nvSpPr>
        <p:spPr>
          <a:xfrm>
            <a:off x="3671729" y="417"/>
            <a:ext cx="48485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模块介绍</a:t>
            </a:r>
          </a:p>
        </p:txBody>
      </p: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8EEB2ED3-BC48-CBC5-8728-7CB56AF99614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5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58657B7-C015-64EF-7BBD-00E310E0728D}"/>
              </a:ext>
            </a:extLst>
          </p:cNvPr>
          <p:cNvSpPr txBox="1"/>
          <p:nvPr/>
        </p:nvSpPr>
        <p:spPr>
          <a:xfrm>
            <a:off x="224901" y="1317907"/>
            <a:ext cx="2896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REGISTER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DF81D66-330B-F70A-5AF2-70AEAD98F1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478" y="2147472"/>
            <a:ext cx="6147279" cy="298417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ED6CC74-89F7-4FB4-21E3-BBBEFBD4EE15}"/>
              </a:ext>
            </a:extLst>
          </p:cNvPr>
          <p:cNvSpPr txBox="1"/>
          <p:nvPr/>
        </p:nvSpPr>
        <p:spPr>
          <a:xfrm>
            <a:off x="6658927" y="2059119"/>
            <a:ext cx="4898510" cy="33839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寄存器文件以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8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个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16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位值的寄存器的形式出现。寄存器文件存储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CPU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需要快速访问的少量数据。它保存指令的操作数并存储计算结果。</a:t>
            </a:r>
          </a:p>
          <a:p>
            <a:r>
              <a:rPr lang="en-US" altLang="zh-CN" sz="2400" dirty="0" err="1">
                <a:latin typeface="+mn-ea"/>
                <a:cs typeface="Times New Roman" panose="02020603050405020304" pitchFamily="18" charset="0"/>
              </a:rPr>
              <a:t>clk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enable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位是控制寄存器文件基本操作的输入。</a:t>
            </a:r>
          </a:p>
          <a:p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我们有</a:t>
            </a:r>
            <a:r>
              <a:rPr lang="en-US" altLang="zh-CN" sz="2400" dirty="0" err="1">
                <a:latin typeface="+mn-ea"/>
                <a:cs typeface="Times New Roman" panose="02020603050405020304" pitchFamily="18" charset="0"/>
              </a:rPr>
              <a:t>write_enable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来控制写入功能。</a:t>
            </a:r>
            <a:r>
              <a:rPr lang="en-US" altLang="zh-CN" sz="2400" dirty="0" err="1">
                <a:latin typeface="+mn-ea"/>
                <a:cs typeface="Times New Roman" panose="02020603050405020304" pitchFamily="18" charset="0"/>
              </a:rPr>
              <a:t>Data_in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是写入的数据。</a:t>
            </a:r>
            <a:endParaRPr lang="zh-CN" altLang="en-US" dirty="0">
              <a:latin typeface="+mn-ea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7018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1B3F6-8AD2-300C-DC72-EFADAC87F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F21061E-0D7D-460F-6BF1-9CBBAEE9376A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8747A7B5-6E41-21FB-C076-970F4F800431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3B01B48-F972-A05E-6E1A-DBA49681C1C0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 descr="OIL_logo_orange_LR">
            <a:extLst>
              <a:ext uri="{FF2B5EF4-FFF2-40B4-BE49-F238E27FC236}">
                <a16:creationId xmlns:a16="http://schemas.microsoft.com/office/drawing/2014/main" id="{14673FC1-E9C2-6468-3D9B-C5FA2E78D60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4902" y="159057"/>
            <a:ext cx="2612390" cy="51371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9F22324-08F5-DE26-EF13-CC85586761A2}"/>
              </a:ext>
            </a:extLst>
          </p:cNvPr>
          <p:cNvSpPr txBox="1"/>
          <p:nvPr/>
        </p:nvSpPr>
        <p:spPr>
          <a:xfrm>
            <a:off x="3671729" y="417"/>
            <a:ext cx="48485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模块介绍</a:t>
            </a:r>
          </a:p>
        </p:txBody>
      </p: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4B2682CB-8C6E-4557-C9D5-B56EA4CF781F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6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5075D5-40B8-ED77-5EEF-702A8A932BC5}"/>
              </a:ext>
            </a:extLst>
          </p:cNvPr>
          <p:cNvSpPr txBox="1"/>
          <p:nvPr/>
        </p:nvSpPr>
        <p:spPr>
          <a:xfrm>
            <a:off x="224901" y="1317907"/>
            <a:ext cx="2896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DECODER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4DF490-2EF7-EDDD-036A-801F84EAD418}"/>
              </a:ext>
            </a:extLst>
          </p:cNvPr>
          <p:cNvSpPr txBox="1"/>
          <p:nvPr/>
        </p:nvSpPr>
        <p:spPr>
          <a:xfrm>
            <a:off x="6550757" y="2737350"/>
            <a:ext cx="4898510" cy="172100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 dirty="0">
                <a:latin typeface="+mn-ea"/>
                <a:cs typeface="宋体" pitchFamily="2" charset="-122"/>
              </a:rPr>
              <a:t>解码器对从</a:t>
            </a:r>
            <a:r>
              <a:rPr lang="en-US" altLang="zh-CN" sz="2400" dirty="0">
                <a:latin typeface="+mn-ea"/>
                <a:cs typeface="宋体" pitchFamily="2" charset="-122"/>
              </a:rPr>
              <a:t>RAM</a:t>
            </a:r>
            <a:r>
              <a:rPr lang="zh-CN" altLang="en-US" sz="2400" dirty="0">
                <a:latin typeface="+mn-ea"/>
                <a:cs typeface="宋体" pitchFamily="2" charset="-122"/>
              </a:rPr>
              <a:t>中取得的指令进行“分段”的操作，按照设计的指令集格式提</a:t>
            </a:r>
            <a:r>
              <a:rPr lang="en-US" altLang="zh-CN" sz="2400" dirty="0" err="1">
                <a:latin typeface="+mn-ea"/>
                <a:cs typeface="宋体" pitchFamily="2" charset="-122"/>
              </a:rPr>
              <a:t>alu_operation,rA,rB,rD</a:t>
            </a:r>
            <a:r>
              <a:rPr lang="zh-CN" altLang="en-US" sz="2400" dirty="0">
                <a:latin typeface="+mn-ea"/>
                <a:cs typeface="宋体" pitchFamily="2" charset="-122"/>
              </a:rPr>
              <a:t>等信息，并将它们传输到</a:t>
            </a:r>
            <a:r>
              <a:rPr lang="en-US" altLang="zh-CN" sz="2400" dirty="0">
                <a:latin typeface="+mn-ea"/>
                <a:cs typeface="宋体" pitchFamily="2" charset="-122"/>
              </a:rPr>
              <a:t>ALU</a:t>
            </a:r>
            <a:r>
              <a:rPr lang="zh-CN" altLang="en-US" sz="2400" dirty="0">
                <a:latin typeface="+mn-ea"/>
                <a:cs typeface="宋体" pitchFamily="2" charset="-122"/>
              </a:rPr>
              <a:t>模块。</a:t>
            </a:r>
            <a:endParaRPr lang="zh-CN" altLang="en-US" sz="2400" dirty="0">
              <a:latin typeface="+mn-ea"/>
            </a:endParaRPr>
          </a:p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9E2D9DF-96E3-8E81-5510-85734E5F7B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984" y="2420876"/>
            <a:ext cx="5969621" cy="2105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178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FB337-58D6-F8FA-707D-7DB614AB6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DA02FABB-C51F-1E1D-D0E1-A9AF6237A83B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1C9007F2-2C71-3E37-D1E2-8E9E428CCE5A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FE43088-5DBF-5B94-385B-69A783B1FC5D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 descr="OIL_logo_orange_LR">
            <a:extLst>
              <a:ext uri="{FF2B5EF4-FFF2-40B4-BE49-F238E27FC236}">
                <a16:creationId xmlns:a16="http://schemas.microsoft.com/office/drawing/2014/main" id="{60DB7E38-6380-509A-DAEA-F90F411F1B2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4902" y="159057"/>
            <a:ext cx="2612390" cy="51371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8095FEE-47EE-899B-1F96-3F9BCB43B709}"/>
              </a:ext>
            </a:extLst>
          </p:cNvPr>
          <p:cNvSpPr txBox="1"/>
          <p:nvPr/>
        </p:nvSpPr>
        <p:spPr>
          <a:xfrm>
            <a:off x="3671729" y="417"/>
            <a:ext cx="48485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模块介绍</a:t>
            </a:r>
          </a:p>
        </p:txBody>
      </p: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1381C4E7-1EB0-749E-7EC5-CC0BCE1FBCB8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7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F22605-AA72-C068-C78C-D0FD3533F64C}"/>
              </a:ext>
            </a:extLst>
          </p:cNvPr>
          <p:cNvSpPr txBox="1"/>
          <p:nvPr/>
        </p:nvSpPr>
        <p:spPr>
          <a:xfrm>
            <a:off x="224901" y="1317907"/>
            <a:ext cx="2896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ALU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0E4DCA4-CA48-5100-5ABE-F3D1A1B3B424}"/>
              </a:ext>
            </a:extLst>
          </p:cNvPr>
          <p:cNvSpPr txBox="1"/>
          <p:nvPr/>
        </p:nvSpPr>
        <p:spPr>
          <a:xfrm>
            <a:off x="6550757" y="2737350"/>
            <a:ext cx="4898510" cy="172100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400" dirty="0">
                <a:latin typeface="+mn-ea"/>
                <a:cs typeface="宋体" pitchFamily="2" charset="-122"/>
              </a:rPr>
              <a:t>ALU</a:t>
            </a:r>
            <a:r>
              <a:rPr lang="zh-CN" altLang="en-US" sz="2400" dirty="0">
                <a:latin typeface="+mn-ea"/>
                <a:cs typeface="宋体" pitchFamily="2" charset="-122"/>
              </a:rPr>
              <a:t>（算术逻辑单元）接受解码器给出的操作码，以及从寄存器文件读取的输入数据，并输出可写入寄存器文件的结果。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CB6DD14-7F06-BD7F-FAE0-C20336F6DE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204" y="1912922"/>
            <a:ext cx="5376545" cy="336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01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1A9FF-D005-6F36-5353-4D64414E8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2C91095-BA3F-F752-C034-27EA5077A263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FC6C7203-6D0E-0597-588C-7F2657B7C6E6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25ED51C-1AA6-27C7-D5F6-EC2A85CD2841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 descr="OIL_logo_orange_LR">
            <a:extLst>
              <a:ext uri="{FF2B5EF4-FFF2-40B4-BE49-F238E27FC236}">
                <a16:creationId xmlns:a16="http://schemas.microsoft.com/office/drawing/2014/main" id="{7DEBE23C-C341-BCFD-DE75-2122E76D71B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4902" y="159057"/>
            <a:ext cx="2612390" cy="51371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814106A-D4D3-6941-D1DD-6DCCCDB13B8D}"/>
              </a:ext>
            </a:extLst>
          </p:cNvPr>
          <p:cNvSpPr txBox="1"/>
          <p:nvPr/>
        </p:nvSpPr>
        <p:spPr>
          <a:xfrm>
            <a:off x="3671729" y="417"/>
            <a:ext cx="48485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模块介绍</a:t>
            </a:r>
          </a:p>
        </p:txBody>
      </p: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F0AC7E39-D408-4EDE-8D97-42E11D72DECB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8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6A35CB5-0CDC-5F68-7644-F4B05FC9655A}"/>
              </a:ext>
            </a:extLst>
          </p:cNvPr>
          <p:cNvSpPr txBox="1"/>
          <p:nvPr/>
        </p:nvSpPr>
        <p:spPr>
          <a:xfrm>
            <a:off x="224901" y="1317907"/>
            <a:ext cx="2896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PC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F13E78-3697-2C44-1242-4D03B1248302}"/>
              </a:ext>
            </a:extLst>
          </p:cNvPr>
          <p:cNvSpPr txBox="1"/>
          <p:nvPr/>
        </p:nvSpPr>
        <p:spPr>
          <a:xfrm>
            <a:off x="6550757" y="2737350"/>
            <a:ext cx="4898510" cy="172100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400" dirty="0">
                <a:latin typeface="+mn-ea"/>
                <a:cs typeface="宋体" pitchFamily="2" charset="-122"/>
              </a:rPr>
              <a:t>PC</a:t>
            </a:r>
            <a:r>
              <a:rPr lang="zh-CN" altLang="en-US" sz="2400" dirty="0">
                <a:latin typeface="+mn-ea"/>
                <a:cs typeface="宋体" pitchFamily="2" charset="-122"/>
              </a:rPr>
              <a:t>（程序计数器）单元保存下一条要执行的指令的地址。在每条指令之后，</a:t>
            </a:r>
            <a:r>
              <a:rPr lang="en-US" altLang="zh-CN" sz="2400" dirty="0">
                <a:latin typeface="+mn-ea"/>
                <a:cs typeface="宋体" pitchFamily="2" charset="-122"/>
              </a:rPr>
              <a:t>PC</a:t>
            </a:r>
            <a:r>
              <a:rPr lang="zh-CN" altLang="en-US" sz="2400" dirty="0">
                <a:latin typeface="+mn-ea"/>
                <a:cs typeface="宋体" pitchFamily="2" charset="-122"/>
              </a:rPr>
              <a:t>递增指向下一条指令。如果有一个分支（例如，跳转指令），</a:t>
            </a:r>
            <a:r>
              <a:rPr lang="en-US" altLang="zh-CN" sz="2400" dirty="0">
                <a:latin typeface="+mn-ea"/>
                <a:cs typeface="宋体" pitchFamily="2" charset="-122"/>
              </a:rPr>
              <a:t>PC</a:t>
            </a:r>
            <a:r>
              <a:rPr lang="zh-CN" altLang="en-US" sz="2400" dirty="0">
                <a:latin typeface="+mn-ea"/>
                <a:cs typeface="宋体" pitchFamily="2" charset="-122"/>
              </a:rPr>
              <a:t>将被更新到分支指定的目标地址</a:t>
            </a:r>
            <a:r>
              <a:rPr lang="zh-CN" altLang="en-US" sz="2400" dirty="0">
                <a:latin typeface="宋体" pitchFamily="2" charset="-122"/>
                <a:ea typeface="宋体" pitchFamily="2" charset="-122"/>
                <a:cs typeface="宋体" pitchFamily="2" charset="-122"/>
              </a:rPr>
              <a:t>。</a:t>
            </a:r>
            <a:r>
              <a:rPr lang="en-US" altLang="zh-CN" sz="1600" dirty="0"/>
              <a:t> </a:t>
            </a:r>
          </a:p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D1BBF45-4E0C-C692-AFE8-535D7BDF11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082" y="2447949"/>
            <a:ext cx="5908675" cy="201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10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0EE97-2E27-9CA8-65E6-78A1CBA08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4E36E19-0F3E-B2FD-FC50-82A28BD30D35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12A4A680-4674-E7D5-A7C1-3B5BFF7DF86F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B011F05F-37AA-C655-EEFC-E3B548CA4B93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 descr="OIL_logo_orange_LR">
            <a:extLst>
              <a:ext uri="{FF2B5EF4-FFF2-40B4-BE49-F238E27FC236}">
                <a16:creationId xmlns:a16="http://schemas.microsoft.com/office/drawing/2014/main" id="{7E07C600-2D03-7210-C9F4-0CD06E9C951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4902" y="159057"/>
            <a:ext cx="2612390" cy="51371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A75EF02-7F07-360D-0E50-169AB6F7CE18}"/>
              </a:ext>
            </a:extLst>
          </p:cNvPr>
          <p:cNvSpPr txBox="1"/>
          <p:nvPr/>
        </p:nvSpPr>
        <p:spPr>
          <a:xfrm>
            <a:off x="3671729" y="417"/>
            <a:ext cx="48485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模块介绍</a:t>
            </a:r>
          </a:p>
        </p:txBody>
      </p: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CEEFDDE9-CD1F-DD0F-6435-DEA285781C86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9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F77CC00-F084-BB43-AABC-E5DD2B86E3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65" y="2503170"/>
            <a:ext cx="10801350" cy="16002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D627313-7C00-644A-344C-ACA90DD34E27}"/>
              </a:ext>
            </a:extLst>
          </p:cNvPr>
          <p:cNvSpPr txBox="1"/>
          <p:nvPr/>
        </p:nvSpPr>
        <p:spPr>
          <a:xfrm>
            <a:off x="224901" y="1317907"/>
            <a:ext cx="2896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工作流程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7561F91-99F0-0FD5-2C07-5848D84AF4F8}"/>
              </a:ext>
            </a:extLst>
          </p:cNvPr>
          <p:cNvSpPr txBox="1"/>
          <p:nvPr/>
        </p:nvSpPr>
        <p:spPr>
          <a:xfrm>
            <a:off x="839666" y="4826968"/>
            <a:ext cx="10512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提取</a:t>
            </a:r>
            <a:r>
              <a:rPr lang="zh-CN" altLang="en-US" sz="2400" dirty="0">
                <a:cs typeface="Arial" panose="020B0604020202020204" pitchFamily="34" charset="0"/>
              </a:rPr>
              <a:t>指令-</a:t>
            </a:r>
            <a:r>
              <a:rPr lang="en-US" altLang="zh-CN" sz="2400" dirty="0">
                <a:cs typeface="Arial" panose="020B0604020202020204" pitchFamily="34" charset="0"/>
              </a:rPr>
              <a:t>&gt;</a:t>
            </a:r>
            <a:r>
              <a:rPr lang="zh-CN" altLang="en-US" sz="2400" dirty="0">
                <a:cs typeface="Arial" panose="020B0604020202020204" pitchFamily="34" charset="0"/>
              </a:rPr>
              <a:t>解码-</a:t>
            </a:r>
            <a:r>
              <a:rPr lang="en-US" altLang="zh-CN" sz="2400" dirty="0">
                <a:cs typeface="Arial" panose="020B0604020202020204" pitchFamily="34" charset="0"/>
              </a:rPr>
              <a:t>&gt;</a:t>
            </a:r>
            <a:r>
              <a:rPr lang="zh-CN" altLang="en-US" sz="2400" dirty="0">
                <a:cs typeface="Arial" panose="020B0604020202020204" pitchFamily="34" charset="0"/>
              </a:rPr>
              <a:t>读取寄存器-</a:t>
            </a:r>
            <a:r>
              <a:rPr lang="en-US" altLang="zh-CN" sz="2400" dirty="0">
                <a:cs typeface="Arial" panose="020B0604020202020204" pitchFamily="34" charset="0"/>
              </a:rPr>
              <a:t>&gt;</a:t>
            </a:r>
            <a:r>
              <a:rPr lang="zh-CN" altLang="en-US" sz="2400" dirty="0">
                <a:cs typeface="Arial" panose="020B0604020202020204" pitchFamily="34" charset="0"/>
              </a:rPr>
              <a:t>进行算术逻辑计算-</a:t>
            </a:r>
            <a:r>
              <a:rPr lang="en-US" altLang="zh-CN" sz="2400" dirty="0">
                <a:cs typeface="Arial" panose="020B0604020202020204" pitchFamily="34" charset="0"/>
              </a:rPr>
              <a:t>&gt;</a:t>
            </a:r>
            <a:r>
              <a:rPr lang="zh-CN" altLang="en-US" sz="2400" dirty="0">
                <a:cs typeface="Arial" panose="020B0604020202020204" pitchFamily="34" charset="0"/>
              </a:rPr>
              <a:t>将结果写回</a:t>
            </a:r>
            <a:r>
              <a:rPr lang="en-US" altLang="zh-CN" sz="2400" dirty="0">
                <a:cs typeface="Arial" panose="020B0604020202020204" pitchFamily="34" charset="0"/>
              </a:rPr>
              <a:t>ram/</a:t>
            </a:r>
            <a:r>
              <a:rPr lang="zh-CN" altLang="en-US" sz="2400" dirty="0">
                <a:cs typeface="Arial" panose="020B0604020202020204" pitchFamily="34" charset="0"/>
              </a:rPr>
              <a:t>寄存器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41157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4D7E0-3AF5-3777-1A55-63291891C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8D403EE-B3DF-CC28-5466-855693021C66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90ECCC9D-D845-139D-E28A-E44034450185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F575A12-1455-1325-0887-B62814F4D556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 descr="OIL_logo_orange_LR">
            <a:extLst>
              <a:ext uri="{FF2B5EF4-FFF2-40B4-BE49-F238E27FC236}">
                <a16:creationId xmlns:a16="http://schemas.microsoft.com/office/drawing/2014/main" id="{419D6071-704E-890F-2E16-A5E35783464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4902" y="159057"/>
            <a:ext cx="2612390" cy="51371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4310D92-9682-F6B5-71BE-17367FC4DE55}"/>
              </a:ext>
            </a:extLst>
          </p:cNvPr>
          <p:cNvSpPr txBox="1"/>
          <p:nvPr/>
        </p:nvSpPr>
        <p:spPr>
          <a:xfrm>
            <a:off x="3671729" y="417"/>
            <a:ext cx="48485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模块介绍</a:t>
            </a:r>
          </a:p>
        </p:txBody>
      </p: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4391B82F-B688-4C4E-7DE6-AAA72D09C0BE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10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BD95D15-C630-1B81-2D8E-459F9E45554D}"/>
              </a:ext>
            </a:extLst>
          </p:cNvPr>
          <p:cNvSpPr txBox="1"/>
          <p:nvPr/>
        </p:nvSpPr>
        <p:spPr>
          <a:xfrm>
            <a:off x="224901" y="1317907"/>
            <a:ext cx="2896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ISA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9355090-B8EF-0FC5-CA42-536F9CFFBC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0879" y="1005816"/>
            <a:ext cx="8262931" cy="3436228"/>
          </a:xfrm>
          <a:prstGeom prst="rect">
            <a:avLst/>
          </a:prstGeom>
        </p:spPr>
      </p:pic>
      <p:pic>
        <p:nvPicPr>
          <p:cNvPr id="10" name="图片 9" descr="upload_post_object_v2_1978603084">
            <a:extLst>
              <a:ext uri="{FF2B5EF4-FFF2-40B4-BE49-F238E27FC236}">
                <a16:creationId xmlns:a16="http://schemas.microsoft.com/office/drawing/2014/main" id="{93674436-807A-CD87-1A18-3267A47F13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4983" y="4498214"/>
            <a:ext cx="6507596" cy="200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832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7B40F-A3FD-7961-4D66-223E47688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DD6B3C50-0925-2461-917B-8680A22FC841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0D4714A1-B69D-EC32-3FC7-4D99E8FCCD3B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0586D38-1763-5F2D-5262-C848F25E8CB4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 descr="OIL_logo_orange_LR">
            <a:extLst>
              <a:ext uri="{FF2B5EF4-FFF2-40B4-BE49-F238E27FC236}">
                <a16:creationId xmlns:a16="http://schemas.microsoft.com/office/drawing/2014/main" id="{982822A1-3B3E-C7D3-C826-95907979FA5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4902" y="159057"/>
            <a:ext cx="2612390" cy="51371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F010D24-1013-D77C-DF4D-968DFBF0AC97}"/>
              </a:ext>
            </a:extLst>
          </p:cNvPr>
          <p:cNvSpPr txBox="1"/>
          <p:nvPr/>
        </p:nvSpPr>
        <p:spPr>
          <a:xfrm>
            <a:off x="3671729" y="417"/>
            <a:ext cx="48485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实现与分析</a:t>
            </a:r>
          </a:p>
        </p:txBody>
      </p: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82F3FF5A-DACF-A8A7-A249-36A85AFDB6CC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11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6144123-9ACE-FE80-1746-BA5244E22AE0}"/>
              </a:ext>
            </a:extLst>
          </p:cNvPr>
          <p:cNvSpPr txBox="1"/>
          <p:nvPr/>
        </p:nvSpPr>
        <p:spPr>
          <a:xfrm>
            <a:off x="224901" y="1317907"/>
            <a:ext cx="2896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累加</a:t>
            </a:r>
          </a:p>
        </p:txBody>
      </p:sp>
      <p:pic>
        <p:nvPicPr>
          <p:cNvPr id="8" name="图片 7" descr="upload_post_object_v2_1285392887">
            <a:extLst>
              <a:ext uri="{FF2B5EF4-FFF2-40B4-BE49-F238E27FC236}">
                <a16:creationId xmlns:a16="http://schemas.microsoft.com/office/drawing/2014/main" id="{C9128F62-2A56-1F62-250F-F87FDB322B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254" y="1859654"/>
            <a:ext cx="10263005" cy="405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229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561B5-EE8C-83E7-EA97-4FBF91AEA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B334838-21EA-9D92-9FD2-9711639B4D48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F159F7CC-BD5D-77A7-12B2-76613A1921F8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793C4E3-02FC-A7E9-E16A-DD5DA9CC5F71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 descr="OIL_logo_orange_LR">
            <a:extLst>
              <a:ext uri="{FF2B5EF4-FFF2-40B4-BE49-F238E27FC236}">
                <a16:creationId xmlns:a16="http://schemas.microsoft.com/office/drawing/2014/main" id="{CDF36C5D-329F-6B22-41DD-980385A42E4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4902" y="159057"/>
            <a:ext cx="2612390" cy="51371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23CB8B5-7D50-9B8C-A186-9BD964F00380}"/>
              </a:ext>
            </a:extLst>
          </p:cNvPr>
          <p:cNvSpPr txBox="1"/>
          <p:nvPr/>
        </p:nvSpPr>
        <p:spPr>
          <a:xfrm>
            <a:off x="3671729" y="417"/>
            <a:ext cx="48485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实现与分析</a:t>
            </a:r>
          </a:p>
        </p:txBody>
      </p: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48962707-3A46-D72A-5156-5165D8A9FDB3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12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F8B72E4-0986-5FD1-E434-8EECC7CC45D6}"/>
              </a:ext>
            </a:extLst>
          </p:cNvPr>
          <p:cNvSpPr txBox="1"/>
          <p:nvPr/>
        </p:nvSpPr>
        <p:spPr>
          <a:xfrm>
            <a:off x="224901" y="1317907"/>
            <a:ext cx="2896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累乘</a:t>
            </a:r>
          </a:p>
        </p:txBody>
      </p:sp>
      <p:pic>
        <p:nvPicPr>
          <p:cNvPr id="9" name="图片 8" descr="upload_post_object_v2_253426879">
            <a:extLst>
              <a:ext uri="{FF2B5EF4-FFF2-40B4-BE49-F238E27FC236}">
                <a16:creationId xmlns:a16="http://schemas.microsoft.com/office/drawing/2014/main" id="{F266AEEF-7E18-88D1-E019-001F31BCCB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379" y="1986801"/>
            <a:ext cx="10131152" cy="408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209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C16D3-6FBB-42E6-7E79-4706BCB6C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AEA9662A-7427-4F70-87DD-B618CB0BB949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8BBA77B5-3F29-E6E4-38AC-FE360BDC86D6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33F94E0-8671-7494-EC03-8709B0A74275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 descr="OIL_logo_orange_LR">
            <a:extLst>
              <a:ext uri="{FF2B5EF4-FFF2-40B4-BE49-F238E27FC236}">
                <a16:creationId xmlns:a16="http://schemas.microsoft.com/office/drawing/2014/main" id="{4DB2311D-4EA6-EF69-3A15-573270A5E54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4902" y="159057"/>
            <a:ext cx="2612390" cy="51371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12949F1-2C9D-1EC4-083C-6CB4A9F123A7}"/>
              </a:ext>
            </a:extLst>
          </p:cNvPr>
          <p:cNvSpPr txBox="1"/>
          <p:nvPr/>
        </p:nvSpPr>
        <p:spPr>
          <a:xfrm>
            <a:off x="3671729" y="417"/>
            <a:ext cx="48485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视频演示</a:t>
            </a:r>
          </a:p>
        </p:txBody>
      </p: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D5EFC7A7-D1D9-0A69-E14C-7FE499F2BE49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13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 descr="upload_post_object_v2_386866418">
            <a:extLst>
              <a:ext uri="{FF2B5EF4-FFF2-40B4-BE49-F238E27FC236}">
                <a16:creationId xmlns:a16="http://schemas.microsoft.com/office/drawing/2014/main" id="{2300B730-4AC1-0D50-ED60-27375C9630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1440" y="1095635"/>
            <a:ext cx="8534400" cy="2809875"/>
          </a:xfrm>
          <a:prstGeom prst="rect">
            <a:avLst/>
          </a:prstGeom>
        </p:spPr>
      </p:pic>
      <p:pic>
        <p:nvPicPr>
          <p:cNvPr id="10" name="图片 9" descr="upload_post_object_v2_1396093612">
            <a:extLst>
              <a:ext uri="{FF2B5EF4-FFF2-40B4-BE49-F238E27FC236}">
                <a16:creationId xmlns:a16="http://schemas.microsoft.com/office/drawing/2014/main" id="{C010AA41-CF5F-4F6D-AE31-BF443A7666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1440" y="4084270"/>
            <a:ext cx="8534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086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1500767" y="2650336"/>
            <a:ext cx="91904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THANKS FOR ATTENTION</a:t>
            </a:r>
            <a:r>
              <a:rPr kumimoji="0" lang="zh-CN" altLang="en-US" sz="48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！</a:t>
            </a:r>
            <a:endParaRPr kumimoji="0" lang="en-US" altLang="zh-CN" sz="4800" b="0" i="0" u="none" strike="noStrike" kern="1200" cap="none" spc="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pic>
        <p:nvPicPr>
          <p:cNvPr id="2" name="图片 1" descr="OIL_logo_white_L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1135" y="5851525"/>
            <a:ext cx="2741930" cy="539115"/>
          </a:xfrm>
          <a:prstGeom prst="rect">
            <a:avLst/>
          </a:prstGeom>
        </p:spPr>
      </p:pic>
      <p:pic>
        <p:nvPicPr>
          <p:cNvPr id="4" name="图片 3" descr="03 南科大与电子系（左右反白）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7855" y="5851525"/>
            <a:ext cx="5452745" cy="5937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7bac95e-b4c4-4236-a94f-860ed59cb660"/>
  <p:tag name="COMMONDATA" val="eyJoZGlkIjoiNzgxN2FmZTI0OTI0NTg5MjgzNjRkMDZhZWRmZTliMz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基础母版样式">
  <a:themeElements>
    <a:clrScheme name="南方科技大学专属配色方案 01">
      <a:dk1>
        <a:srgbClr val="ED6C00"/>
      </a:dk1>
      <a:lt1>
        <a:srgbClr val="FFFFFF"/>
      </a:lt1>
      <a:dk2>
        <a:srgbClr val="01605A"/>
      </a:dk2>
      <a:lt2>
        <a:srgbClr val="F2F2F2"/>
      </a:lt2>
      <a:accent1>
        <a:srgbClr val="003F43"/>
      </a:accent1>
      <a:accent2>
        <a:srgbClr val="ED6C00"/>
      </a:accent2>
      <a:accent3>
        <a:srgbClr val="2BB7B3"/>
      </a:accent3>
      <a:accent4>
        <a:srgbClr val="01605A"/>
      </a:accent4>
      <a:accent5>
        <a:srgbClr val="77D3D2"/>
      </a:accent5>
      <a:accent6>
        <a:srgbClr val="DBF6EF"/>
      </a:accent6>
      <a:hlink>
        <a:srgbClr val="2BB7B3"/>
      </a:hlink>
      <a:folHlink>
        <a:srgbClr val="01605A"/>
      </a:folHlink>
    </a:clrScheme>
    <a:fontScheme name="自定义 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r">
          <a:defRPr sz="2400" dirty="0" smtClean="0">
            <a:solidFill>
              <a:srgbClr val="000000"/>
            </a:solidFill>
            <a:latin typeface="Arial" panose="020B0604020202020204" pitchFamily="34" charset="0"/>
            <a:ea typeface="微软雅黑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19531</TotalTime>
  <Words>387</Words>
  <Application>Microsoft Office PowerPoint</Application>
  <PresentationFormat>宽屏</PresentationFormat>
  <Paragraphs>66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思源黑体 CN Bold</vt:lpstr>
      <vt:lpstr>宋体</vt:lpstr>
      <vt:lpstr>微软雅黑</vt:lpstr>
      <vt:lpstr>Arial</vt:lpstr>
      <vt:lpstr>Times New Roman</vt:lpstr>
      <vt:lpstr>基础母版样式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Yaojia Zhang</dc:creator>
  <cp:lastModifiedBy>衍宁 何</cp:lastModifiedBy>
  <cp:revision>86</cp:revision>
  <dcterms:created xsi:type="dcterms:W3CDTF">2019-12-17T11:56:00Z</dcterms:created>
  <dcterms:modified xsi:type="dcterms:W3CDTF">2026-05-30T06:18:13Z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8E12E5B840D04B47B81BBD3139E68710_13</vt:lpwstr>
  </property>
</Properties>
</file>