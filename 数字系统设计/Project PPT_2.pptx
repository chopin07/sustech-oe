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02" r:id="rId2"/>
    <p:sldId id="1294" r:id="rId3"/>
    <p:sldId id="1105" r:id="rId4"/>
    <p:sldId id="1135" r:id="rId5"/>
    <p:sldId id="1295" r:id="rId6"/>
    <p:sldId id="1107" r:id="rId7"/>
    <p:sldId id="1296" r:id="rId8"/>
    <p:sldId id="1109" r:id="rId9"/>
    <p:sldId id="1297" r:id="rId10"/>
    <p:sldId id="1298" r:id="rId11"/>
    <p:sldId id="1299" r:id="rId12"/>
    <p:sldId id="1301" r:id="rId13"/>
    <p:sldId id="1300" r:id="rId14"/>
  </p:sldIdLst>
  <p:sldSz cx="12192000" cy="6858000"/>
  <p:notesSz cx="6858000" cy="9144000"/>
  <p:embeddedFontLst>
    <p:embeddedFont>
      <p:font typeface="HP Simplified Hans" panose="02010600030101010101" charset="-122"/>
      <p:regular r:id="rId17"/>
    </p:embeddedFont>
    <p:embeddedFont>
      <p:font typeface="Impact" panose="020B0806030902050204" pitchFamily="34" charset="0"/>
      <p:regular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6" userDrawn="1">
          <p15:clr>
            <a:srgbClr val="A4A3A4"/>
          </p15:clr>
        </p15:guide>
        <p15:guide id="2" pos="3980" userDrawn="1">
          <p15:clr>
            <a:srgbClr val="A4A3A4"/>
          </p15:clr>
        </p15:guide>
        <p15:guide id="3" orient="horz" pos="398" userDrawn="1">
          <p15:clr>
            <a:srgbClr val="A4A3A4"/>
          </p15:clr>
        </p15:guide>
        <p15:guide id="4" pos="807" userDrawn="1">
          <p15:clr>
            <a:srgbClr val="A4A3A4"/>
          </p15:clr>
        </p15:guide>
        <p15:guide id="5" pos="7344" userDrawn="1">
          <p15:clr>
            <a:srgbClr val="A4A3A4"/>
          </p15:clr>
        </p15:guide>
        <p15:guide id="6" pos="43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100"/>
    <a:srgbClr val="FF7000"/>
    <a:srgbClr val="FFE795"/>
    <a:srgbClr val="FEE695"/>
    <a:srgbClr val="FFB82F"/>
    <a:srgbClr val="FEE9B0"/>
    <a:srgbClr val="4472C4"/>
    <a:srgbClr val="8AA7DA"/>
    <a:srgbClr val="FF0000"/>
    <a:srgbClr val="08A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4" autoAdjust="0"/>
    <p:restoredTop sz="95930" autoAdjust="0"/>
  </p:normalViewPr>
  <p:slideViewPr>
    <p:cSldViewPr snapToGrid="0" showGuides="1">
      <p:cViewPr varScale="1">
        <p:scale>
          <a:sx n="84" d="100"/>
          <a:sy n="84" d="100"/>
        </p:scale>
        <p:origin x="417" y="51"/>
      </p:cViewPr>
      <p:guideLst>
        <p:guide orient="horz" pos="1836"/>
        <p:guide pos="3980"/>
        <p:guide orient="horz" pos="398"/>
        <p:guide pos="807"/>
        <p:guide pos="7344"/>
        <p:guide pos="438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1A974-476A-4A03-881C-2D2F62097DB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0957A-3996-40B0-AAFD-8C624F6BFC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39B46-CED5-EA47-97BC-26D79BB59629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7B896-FDA6-4844-A16E-33BF4D564E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2708910" y="240665"/>
            <a:ext cx="6617335" cy="6617335"/>
          </a:xfrm>
          <a:prstGeom prst="rect">
            <a:avLst/>
          </a:prstGeom>
          <a:blipFill dpi="0" rotWithShape="1">
            <a:blip r:embed="rId3">
              <a:alphaModFix amt="1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25069" y="372985"/>
            <a:ext cx="531231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RESEARCH  /  INNOVATION </a:t>
            </a:r>
            <a:r>
              <a:rPr lang="zh-CN" altLang="en-US" sz="8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/ </a:t>
            </a:r>
            <a:r>
              <a:rPr lang="zh-CN" altLang="en-US" sz="8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ENTREPRENEURSHIP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9205" y="1917700"/>
            <a:ext cx="9517380" cy="17532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基于</a:t>
            </a:r>
            <a:r>
              <a:rPr lang="en-US" altLang="zh-CN" sz="54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FPGA</a:t>
            </a:r>
            <a:r>
              <a:rPr lang="zh-CN" altLang="en-US" sz="54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的模拟</a:t>
            </a:r>
            <a:r>
              <a:rPr lang="en-US" altLang="zh-CN" sz="54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zh-CN" altLang="en-US" sz="54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</a:t>
            </a:r>
            <a:r>
              <a:rPr lang="en-US" altLang="zh-CN" sz="54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  <a:p>
            <a:pPr algn="ctr"/>
            <a:r>
              <a:rPr lang="zh-CN" altLang="en-US" sz="54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实现累加累乘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02705" y="4182110"/>
            <a:ext cx="27241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>
                <a:solidFill>
                  <a:schemeClr val="bg1"/>
                </a:solidFill>
              </a:rPr>
              <a:t>Shengyi Xu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72915" y="3982085"/>
            <a:ext cx="3646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latin typeface="+mn-ea"/>
                <a:cs typeface="+mn-ea"/>
              </a:rPr>
              <a:t>汇报人</a:t>
            </a:r>
            <a:r>
              <a:rPr lang="en-US" altLang="zh-CN" sz="2000">
                <a:latin typeface="+mn-ea"/>
                <a:cs typeface="+mn-ea"/>
              </a:rPr>
              <a:t>: </a:t>
            </a:r>
          </a:p>
          <a:p>
            <a:pPr algn="ctr"/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何衍宁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12311512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6620" y="-1419860"/>
            <a:ext cx="6133465" cy="433451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69260" y="491426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>
                <a:latin typeface="+mn-ea"/>
                <a:cs typeface="+mn-ea"/>
                <a:sym typeface="+mn-ea"/>
              </a:rPr>
              <a:t>项目成员</a:t>
            </a:r>
            <a:r>
              <a:rPr lang="en-US" altLang="zh-CN" sz="2000">
                <a:latin typeface="+mn-ea"/>
                <a:cs typeface="+mn-ea"/>
                <a:sym typeface="+mn-ea"/>
              </a:rPr>
              <a:t>: </a:t>
            </a:r>
            <a:endParaRPr lang="zh-CN" altLang="en-US" sz="20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陈信均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12311125, </a:t>
            </a:r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徐圣毅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12310833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何衍宁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12311512, </a:t>
            </a:r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向阳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12311513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048000" y="61544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b="1">
                <a:latin typeface="+mn-ea"/>
                <a:cs typeface="+mn-ea"/>
                <a:sym typeface="+mn-ea"/>
              </a:rPr>
              <a:t>2026.6.1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6620" y="-1419860"/>
            <a:ext cx="6133465" cy="433451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4758055" y="367665"/>
            <a:ext cx="2689225" cy="684530"/>
          </a:xfrm>
          <a:prstGeom prst="roundRect">
            <a:avLst/>
          </a:prstGeom>
          <a:noFill/>
          <a:ln w="50800" cmpd="dbl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项目介绍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1126490" y="-2148840"/>
            <a:ext cx="108839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pic>
        <p:nvPicPr>
          <p:cNvPr id="12" name="图片 11" descr="ChatGPT Image 2026年5月30日 14_28_24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F">
                  <a:alpha val="100000"/>
                </a:srgbClr>
              </a:clrFrom>
              <a:clrTo>
                <a:srgbClr val="FEFFFF">
                  <a:alpha val="100000"/>
                  <a:alpha val="0"/>
                </a:srgbClr>
              </a:clrTo>
            </a:clrChange>
          </a:blip>
          <a:srcRect b="7101"/>
          <a:stretch>
            <a:fillRect/>
          </a:stretch>
        </p:blipFill>
        <p:spPr>
          <a:xfrm>
            <a:off x="5073015" y="1184275"/>
            <a:ext cx="6861175" cy="56622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1605" y="2033270"/>
            <a:ext cx="4931410" cy="3964940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2800" b="1">
                <a:ln w="6350" cmpd="sng">
                  <a:noFill/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基于</a:t>
            </a:r>
            <a:r>
              <a:rPr lang="en-US" altLang="zh-CN" sz="2800" b="1">
                <a:ln w="6350" cmpd="sng">
                  <a:noFill/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FPGA</a:t>
            </a:r>
            <a:r>
              <a:rPr lang="zh-CN" altLang="en-US" sz="2800" b="1">
                <a:ln w="6350" cmpd="sng">
                  <a:noFill/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的模拟</a:t>
            </a:r>
            <a:r>
              <a:rPr lang="en-US" altLang="zh-CN" sz="2800" b="1">
                <a:ln w="6350" cmpd="sng">
                  <a:noFill/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16</a:t>
            </a:r>
            <a:r>
              <a:rPr lang="zh-CN" altLang="en-US" sz="2800" b="1">
                <a:ln w="6350" cmpd="sng">
                  <a:noFill/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位</a:t>
            </a:r>
            <a:r>
              <a:rPr lang="en-US" altLang="zh-CN" sz="2800" b="1">
                <a:ln w="6350" cmpd="sng">
                  <a:noFill/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CPU</a:t>
            </a:r>
            <a:endParaRPr lang="en-US" altLang="zh-CN" sz="2800" b="1">
              <a:ln w="6350" cmpd="sng">
                <a:noFill/>
                <a:prstDash val="solid"/>
              </a:ln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2800" b="1">
                <a:ln w="6350" cmpd="sng">
                  <a:noFill/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实现累加累乘：</a:t>
            </a:r>
          </a:p>
          <a:p>
            <a:pPr algn="l"/>
            <a:endParaRPr lang="zh-CN" altLang="en-US" sz="2800" b="1" dirty="0">
              <a:ln w="6350" cmpd="sng">
                <a:noFill/>
                <a:prstDash val="solid"/>
              </a:ln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l"/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）使用</a:t>
            </a:r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Xilinx </a:t>
            </a:r>
            <a:r>
              <a:rPr lang="en-US" altLang="zh-CN" sz="2800" b="1" dirty="0" err="1">
                <a:latin typeface="+mn-ea"/>
                <a:cs typeface="宋体" panose="02010600030101010101" pitchFamily="2" charset="-122"/>
              </a:rPr>
              <a:t>Vivado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在</a:t>
            </a:r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VHDL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中设计一个简单的</a:t>
            </a:r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16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位</a:t>
            </a:r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CPU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。</a:t>
            </a:r>
          </a:p>
          <a:p>
            <a:pPr algn="l"/>
            <a:endParaRPr lang="zh-CN" altLang="en-US" sz="2800" b="1" dirty="0">
              <a:latin typeface="+mn-ea"/>
              <a:cs typeface="宋体" panose="02010600030101010101" pitchFamily="2" charset="-122"/>
            </a:endParaRPr>
          </a:p>
          <a:p>
            <a:pPr algn="l"/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）模拟</a:t>
            </a:r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CPU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执行汇编语言的过程，计算</a:t>
            </a:r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到</a:t>
            </a:r>
            <a:r>
              <a:rPr lang="en-US" altLang="zh-CN" sz="2800" b="1" dirty="0">
                <a:latin typeface="+mn-ea"/>
                <a:cs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+mn-ea"/>
                <a:cs typeface="宋体" panose="02010600030101010101" pitchFamily="2" charset="-122"/>
              </a:rPr>
              <a:t>的累加结果。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90500" y="106045"/>
            <a:ext cx="4100830" cy="922020"/>
            <a:chOff x="264" y="0"/>
            <a:chExt cx="6458" cy="1452"/>
          </a:xfrm>
        </p:grpSpPr>
        <p:sp>
          <p:nvSpPr>
            <p:cNvPr id="38" name="文本框 37"/>
            <p:cNvSpPr txBox="1"/>
            <p:nvPr/>
          </p:nvSpPr>
          <p:spPr>
            <a:xfrm>
              <a:off x="1587" y="161"/>
              <a:ext cx="5135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整体架构</a:t>
              </a:r>
              <a:r>
                <a:rPr lang="en-US" alt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设计思路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436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01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8" name="图片 7" descr="ChatGPT Image 2026年5月30日 14_28_24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rcRect l="1728" t="4491" r="2103" b="65738"/>
          <a:stretch>
            <a:fillRect/>
          </a:stretch>
        </p:blipFill>
        <p:spPr>
          <a:xfrm>
            <a:off x="124460" y="2850515"/>
            <a:ext cx="11906885" cy="3276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8700" y="208280"/>
            <a:ext cx="25146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>
                <a:sym typeface="+mn-ea"/>
              </a:rPr>
              <a:t>顶层模块</a:t>
            </a:r>
          </a:p>
          <a:p>
            <a:pPr algn="ctr"/>
            <a:r>
              <a:rPr lang="en-US" altLang="zh-CN" sz="2800" b="1">
                <a:sym typeface="+mn-ea"/>
              </a:rPr>
              <a:t>CPU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71520" y="622808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ym typeface="+mn-ea"/>
              </a:rPr>
              <a:t>控制单元：</a:t>
            </a:r>
            <a:r>
              <a:rPr lang="zh-CN" altLang="en-US" sz="2000">
                <a:sym typeface="+mn-ea"/>
              </a:rPr>
              <a:t>按顺序协调各阶段的执行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351790" y="2394585"/>
            <a:ext cx="32670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ym typeface="+mn-ea"/>
              </a:rPr>
              <a:t>随机存取存储器</a:t>
            </a:r>
            <a:r>
              <a:rPr lang="en-US" altLang="zh-CN" sz="2000" b="1">
                <a:sym typeface="+mn-ea"/>
              </a:rPr>
              <a:t>：</a:t>
            </a:r>
          </a:p>
          <a:p>
            <a:pPr algn="ctr"/>
            <a:r>
              <a:rPr lang="zh-CN" altLang="en-US" sz="2000">
                <a:sym typeface="+mn-ea"/>
              </a:rPr>
              <a:t>用于存储</a:t>
            </a:r>
          </a:p>
          <a:p>
            <a:pPr algn="ctr"/>
            <a:r>
              <a:rPr lang="zh-CN" altLang="en-US" sz="2000">
                <a:sym typeface="+mn-ea"/>
              </a:rPr>
              <a:t>指令和数据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202180" y="1988185"/>
            <a:ext cx="26365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ym typeface="+mn-ea"/>
              </a:rPr>
              <a:t>译码器：</a:t>
            </a:r>
          </a:p>
          <a:p>
            <a:pPr algn="ctr"/>
            <a:r>
              <a:rPr lang="zh-CN" altLang="en-US" sz="2000">
                <a:sym typeface="+mn-ea"/>
              </a:rPr>
              <a:t>解析指令</a:t>
            </a:r>
          </a:p>
          <a:p>
            <a:pPr algn="ctr"/>
            <a:r>
              <a:rPr lang="zh-CN" altLang="en-US" sz="2000">
                <a:sym typeface="+mn-ea"/>
              </a:rPr>
              <a:t>并生成控制信号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53610" y="1988185"/>
            <a:ext cx="26492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ym typeface="+mn-ea"/>
              </a:rPr>
              <a:t>寄存器文件：</a:t>
            </a:r>
          </a:p>
          <a:p>
            <a:pPr algn="ctr"/>
            <a:r>
              <a:rPr lang="zh-CN" altLang="en-US" sz="2000">
                <a:sym typeface="+mn-ea"/>
              </a:rPr>
              <a:t>存储操作数</a:t>
            </a:r>
          </a:p>
          <a:p>
            <a:pPr algn="ctr"/>
            <a:r>
              <a:rPr lang="zh-CN" altLang="en-US" sz="2000">
                <a:sym typeface="+mn-ea"/>
              </a:rPr>
              <a:t>并保存结果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715125" y="2143760"/>
            <a:ext cx="39249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ym typeface="+mn-ea"/>
              </a:rPr>
              <a:t>算术逻辑单元：</a:t>
            </a:r>
          </a:p>
          <a:p>
            <a:pPr algn="ctr"/>
            <a:r>
              <a:rPr lang="zh-CN" altLang="en-US" sz="2000">
                <a:sym typeface="+mn-ea"/>
              </a:rPr>
              <a:t>执行算术和逻辑运算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634220" y="2394585"/>
            <a:ext cx="28486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ym typeface="+mn-ea"/>
              </a:rPr>
              <a:t>程序计数器单元：</a:t>
            </a:r>
          </a:p>
          <a:p>
            <a:pPr algn="ctr"/>
            <a:r>
              <a:rPr lang="zh-CN" altLang="en-US" sz="2000">
                <a:sym typeface="+mn-ea"/>
              </a:rPr>
              <a:t>提供指令地址</a:t>
            </a:r>
          </a:p>
          <a:p>
            <a:pPr algn="ctr"/>
            <a:r>
              <a:rPr lang="zh-CN" altLang="en-US" sz="2000">
                <a:sym typeface="+mn-ea"/>
              </a:rPr>
              <a:t>并处理分支跳转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838700" y="1313815"/>
            <a:ext cx="25146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>
                <a:sym typeface="+mn-ea"/>
              </a:rPr>
              <a:t>子模块</a:t>
            </a:r>
            <a:endParaRPr lang="en-US" altLang="zh-CN" sz="2800" b="1"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6835" y="1184275"/>
            <a:ext cx="11972925" cy="5535930"/>
          </a:xfrm>
          <a:prstGeom prst="roundRect">
            <a:avLst/>
          </a:prstGeom>
          <a:noFill/>
          <a:ln w="190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112" name="文本框 111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90500" y="106045"/>
            <a:ext cx="4100830" cy="922020"/>
            <a:chOff x="264" y="0"/>
            <a:chExt cx="6458" cy="1452"/>
          </a:xfrm>
        </p:grpSpPr>
        <p:sp>
          <p:nvSpPr>
            <p:cNvPr id="10" name="文本框 9"/>
            <p:cNvSpPr txBox="1"/>
            <p:nvPr/>
          </p:nvSpPr>
          <p:spPr>
            <a:xfrm>
              <a:off x="1587" y="161"/>
              <a:ext cx="5135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模块介绍</a:t>
              </a:r>
              <a:r>
                <a:rPr lang="en-US" alt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ym typeface="+mn-ea"/>
                </a:rPr>
                <a:t>寄存器文件</a:t>
              </a:r>
              <a:endParaRPr lang="en-US" altLang="zh-CN" sz="2000" b="1" dirty="0">
                <a:solidFill>
                  <a:srgbClr val="0F383C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endParaRPr>
            </a:p>
          </p:txBody>
        </p:sp>
        <p:cxnSp>
          <p:nvCxnSpPr>
            <p:cNvPr id="113" name="直接连接符 11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 11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436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02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9" name="图片 8" descr="ChatGPT Image 2026年5月30日 14_28_24"/>
          <p:cNvPicPr>
            <a:picLocks noChangeAspect="1"/>
          </p:cNvPicPr>
          <p:nvPr/>
        </p:nvPicPr>
        <p:blipFill>
          <a:blip r:embed="rId5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rcRect l="1102" t="40343" r="67477" b="33726"/>
          <a:stretch>
            <a:fillRect/>
          </a:stretch>
        </p:blipFill>
        <p:spPr>
          <a:xfrm>
            <a:off x="570865" y="1745615"/>
            <a:ext cx="5020945" cy="36804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243955" y="1745615"/>
            <a:ext cx="524891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寄存器文件以</a:t>
            </a:r>
            <a:r>
              <a:rPr lang="en-US" altLang="zh-CN" sz="2400" b="1" dirty="0">
                <a:latin typeface="+mn-ea"/>
                <a:cs typeface="Times New Roman" panose="02020603050405020304" charset="0"/>
                <a:sym typeface="+mn-ea"/>
              </a:rPr>
              <a:t>8</a:t>
            </a:r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个</a:t>
            </a:r>
            <a:r>
              <a:rPr lang="en-US" altLang="zh-CN" sz="2400" b="1" dirty="0">
                <a:latin typeface="+mn-ea"/>
                <a:cs typeface="Times New Roman" panose="02020603050405020304" charset="0"/>
                <a:sym typeface="+mn-ea"/>
              </a:rPr>
              <a:t>16</a:t>
            </a:r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位值的寄存器的形式出现。寄存器文件存储</a:t>
            </a:r>
            <a:r>
              <a:rPr lang="en-US" altLang="zh-CN" sz="2400" b="1" dirty="0">
                <a:latin typeface="+mn-ea"/>
                <a:cs typeface="Times New Roman" panose="02020603050405020304" charset="0"/>
                <a:sym typeface="+mn-ea"/>
              </a:rPr>
              <a:t>CPU</a:t>
            </a:r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需要快速访问的少量数据。它保存指令的操作数并存储计算结果。</a:t>
            </a:r>
          </a:p>
          <a:p>
            <a:pPr indent="457200"/>
            <a:endParaRPr lang="zh-CN" altLang="en-US" sz="2400" b="1" dirty="0">
              <a:latin typeface="+mn-ea"/>
              <a:cs typeface="Times New Roman" panose="02020603050405020304" charset="0"/>
            </a:endParaRPr>
          </a:p>
          <a:p>
            <a:pPr indent="457200"/>
            <a:r>
              <a:rPr lang="en-US" altLang="zh-CN" sz="2400" b="1" dirty="0" err="1">
                <a:latin typeface="+mn-ea"/>
                <a:cs typeface="Times New Roman" panose="02020603050405020304" charset="0"/>
                <a:sym typeface="+mn-ea"/>
              </a:rPr>
              <a:t>clk</a:t>
            </a:r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400" b="1" dirty="0">
                <a:latin typeface="+mn-ea"/>
                <a:cs typeface="Times New Roman" panose="02020603050405020304" charset="0"/>
                <a:sym typeface="+mn-ea"/>
              </a:rPr>
              <a:t>enable</a:t>
            </a:r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位是控制寄存器文件基本操作的输入。</a:t>
            </a:r>
          </a:p>
          <a:p>
            <a:pPr indent="457200"/>
            <a:endParaRPr lang="zh-CN" altLang="en-US" sz="2400" b="1" dirty="0">
              <a:latin typeface="+mn-ea"/>
              <a:cs typeface="Times New Roman" panose="02020603050405020304" charset="0"/>
            </a:endParaRPr>
          </a:p>
          <a:p>
            <a:pPr indent="457200"/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我们有</a:t>
            </a:r>
            <a:r>
              <a:rPr lang="en-US" altLang="zh-CN" sz="2400" b="1" dirty="0" err="1">
                <a:latin typeface="+mn-ea"/>
                <a:cs typeface="Times New Roman" panose="02020603050405020304" charset="0"/>
                <a:sym typeface="+mn-ea"/>
              </a:rPr>
              <a:t>write_enable</a:t>
            </a:r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来控制写入功能。</a:t>
            </a:r>
            <a:r>
              <a:rPr lang="en-US" altLang="zh-CN" sz="2400" b="1" dirty="0" err="1">
                <a:latin typeface="+mn-ea"/>
                <a:cs typeface="Times New Roman" panose="02020603050405020304" charset="0"/>
                <a:sym typeface="+mn-ea"/>
              </a:rPr>
              <a:t>Data_in</a:t>
            </a:r>
            <a:r>
              <a:rPr lang="zh-CN" altLang="en-US" sz="2400" b="1" dirty="0">
                <a:latin typeface="+mn-ea"/>
                <a:cs typeface="Times New Roman" panose="02020603050405020304" charset="0"/>
                <a:sym typeface="+mn-ea"/>
              </a:rPr>
              <a:t>是写入的数据。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112" name="文本框 111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90500" y="106045"/>
            <a:ext cx="4100830" cy="922020"/>
            <a:chOff x="264" y="0"/>
            <a:chExt cx="6458" cy="1452"/>
          </a:xfrm>
        </p:grpSpPr>
        <p:sp>
          <p:nvSpPr>
            <p:cNvPr id="10" name="文本框 9"/>
            <p:cNvSpPr txBox="1"/>
            <p:nvPr/>
          </p:nvSpPr>
          <p:spPr>
            <a:xfrm>
              <a:off x="1587" y="161"/>
              <a:ext cx="5135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模块介绍</a:t>
              </a:r>
              <a:r>
                <a:rPr lang="en-US" alt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ym typeface="+mn-ea"/>
                </a:rPr>
                <a:t>解码器</a:t>
              </a:r>
              <a:endParaRPr lang="en-US" altLang="zh-CN" sz="2000" b="1" dirty="0">
                <a:solidFill>
                  <a:srgbClr val="0F383C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endParaRPr>
            </a:p>
          </p:txBody>
        </p:sp>
        <p:cxnSp>
          <p:nvCxnSpPr>
            <p:cNvPr id="113" name="直接连接符 11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 11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436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02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243955" y="2644775"/>
            <a:ext cx="497649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解码器对从</a:t>
            </a: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RAM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中取得的指令进行“分段”的操作，按照设计的指令集格式提</a:t>
            </a:r>
            <a:r>
              <a:rPr lang="en-US" altLang="zh-CN" sz="2400" b="1" dirty="0" err="1">
                <a:latin typeface="+mn-ea"/>
                <a:cs typeface="宋体" panose="02010600030101010101" pitchFamily="2" charset="-122"/>
                <a:sym typeface="+mn-ea"/>
              </a:rPr>
              <a:t>alu_operation,rA,rB,rD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等信息，并将它们传输到</a:t>
            </a: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模块。</a:t>
            </a:r>
            <a:endParaRPr lang="zh-CN" altLang="en-US" sz="2400" b="1" dirty="0">
              <a:latin typeface="+mn-ea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图片 7" descr="ChatGPT Image 2026年5月30日 14_28_24"/>
          <p:cNvPicPr>
            <a:picLocks noChangeAspect="1"/>
          </p:cNvPicPr>
          <p:nvPr/>
        </p:nvPicPr>
        <p:blipFill>
          <a:blip r:embed="rId5"/>
          <a:srcRect l="35098" t="41355" r="35835" b="33442"/>
          <a:stretch>
            <a:fillRect/>
          </a:stretch>
        </p:blipFill>
        <p:spPr>
          <a:xfrm>
            <a:off x="765810" y="1713230"/>
            <a:ext cx="4976495" cy="38322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90500" y="106045"/>
            <a:ext cx="5024755" cy="922020"/>
            <a:chOff x="264" y="0"/>
            <a:chExt cx="7913" cy="1452"/>
          </a:xfrm>
        </p:grpSpPr>
        <p:sp>
          <p:nvSpPr>
            <p:cNvPr id="38" name="文本框 37"/>
            <p:cNvSpPr txBox="1"/>
            <p:nvPr/>
          </p:nvSpPr>
          <p:spPr>
            <a:xfrm>
              <a:off x="1587" y="161"/>
              <a:ext cx="6590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模块介绍</a:t>
              </a:r>
              <a:r>
                <a:rPr lang="en-US" alt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算术逻辑单元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436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02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9" name="图片 8" descr="ChatGPT Image 2026年5月30日 14_28_24"/>
          <p:cNvPicPr>
            <a:picLocks noChangeAspect="1"/>
          </p:cNvPicPr>
          <p:nvPr/>
        </p:nvPicPr>
        <p:blipFill>
          <a:blip r:embed="rId5"/>
          <a:srcRect l="67395" t="40284" r="1231" b="33876"/>
          <a:stretch>
            <a:fillRect/>
          </a:stretch>
        </p:blipFill>
        <p:spPr>
          <a:xfrm>
            <a:off x="1227455" y="1938020"/>
            <a:ext cx="4792980" cy="3505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81800" y="2536825"/>
            <a:ext cx="344868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（算术逻辑单元）接受解码器给出的操作码，以及从寄存器文件读取的输入数据，并输出可写入寄存器文件的结果。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112" name="文本框 111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90500" y="106045"/>
            <a:ext cx="4100830" cy="922020"/>
            <a:chOff x="264" y="0"/>
            <a:chExt cx="6458" cy="1452"/>
          </a:xfrm>
        </p:grpSpPr>
        <p:sp>
          <p:nvSpPr>
            <p:cNvPr id="10" name="文本框 9"/>
            <p:cNvSpPr txBox="1"/>
            <p:nvPr/>
          </p:nvSpPr>
          <p:spPr>
            <a:xfrm>
              <a:off x="1587" y="161"/>
              <a:ext cx="5135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模块介绍</a:t>
              </a:r>
              <a:r>
                <a:rPr lang="en-US" alt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>
                  <a:sym typeface="+mn-ea"/>
                </a:rPr>
                <a:t>解码器</a:t>
              </a:r>
              <a:endParaRPr lang="en-US" altLang="zh-CN" sz="2000" b="1" dirty="0">
                <a:solidFill>
                  <a:srgbClr val="0F383C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endParaRPr>
            </a:p>
          </p:txBody>
        </p:sp>
        <p:cxnSp>
          <p:nvCxnSpPr>
            <p:cNvPr id="113" name="直接连接符 11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 11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436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02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581775" y="2500630"/>
            <a:ext cx="457390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（程序计数器）单元保存下一条要执行的指令的地址。在每条指令之后，</a:t>
            </a: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递增指向下一条指令。如果有一个分支（例如，跳转指令），</a:t>
            </a:r>
            <a:r>
              <a:rPr lang="en-US" altLang="zh-CN" sz="2400" b="1" dirty="0">
                <a:latin typeface="+mn-ea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400" b="1" dirty="0">
                <a:latin typeface="+mn-ea"/>
                <a:cs typeface="宋体" panose="02010600030101010101" pitchFamily="2" charset="-122"/>
                <a:sym typeface="+mn-ea"/>
              </a:rPr>
              <a:t>将被更新到分支指定的目标地址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altLang="zh-CN" sz="2400" b="1" dirty="0">
                <a:sym typeface="+mn-ea"/>
              </a:rPr>
              <a:t> </a:t>
            </a:r>
            <a:endParaRPr lang="zh-CN" altLang="en-US" sz="2400" b="1" dirty="0">
              <a:latin typeface="+mn-ea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 descr="ChatGPT Image 2026年5月30日 14_28_24"/>
          <p:cNvPicPr>
            <a:picLocks noChangeAspect="1"/>
          </p:cNvPicPr>
          <p:nvPr/>
        </p:nvPicPr>
        <p:blipFill>
          <a:blip r:embed="rId5"/>
          <a:srcRect l="2049" t="72999" r="69450" b="10109"/>
          <a:stretch>
            <a:fillRect/>
          </a:stretch>
        </p:blipFill>
        <p:spPr>
          <a:xfrm>
            <a:off x="805180" y="2049780"/>
            <a:ext cx="5238750" cy="27578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90500" y="106045"/>
            <a:ext cx="5024755" cy="922020"/>
            <a:chOff x="264" y="0"/>
            <a:chExt cx="7913" cy="1452"/>
          </a:xfrm>
        </p:grpSpPr>
        <p:sp>
          <p:nvSpPr>
            <p:cNvPr id="38" name="文本框 37"/>
            <p:cNvSpPr txBox="1"/>
            <p:nvPr/>
          </p:nvSpPr>
          <p:spPr>
            <a:xfrm>
              <a:off x="1587" y="161"/>
              <a:ext cx="6590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实现与分析：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指令集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571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03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879" y="1227431"/>
            <a:ext cx="8262931" cy="3436228"/>
          </a:xfrm>
          <a:prstGeom prst="rect">
            <a:avLst/>
          </a:prstGeom>
        </p:spPr>
      </p:pic>
      <p:pic>
        <p:nvPicPr>
          <p:cNvPr id="4" name="图片 3" descr="upload_post_object_v2_19786030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4983" y="4663314"/>
            <a:ext cx="6507596" cy="200457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90500" y="106045"/>
            <a:ext cx="5024755" cy="922020"/>
            <a:chOff x="264" y="0"/>
            <a:chExt cx="7913" cy="1452"/>
          </a:xfrm>
        </p:grpSpPr>
        <p:sp>
          <p:nvSpPr>
            <p:cNvPr id="38" name="文本框 37"/>
            <p:cNvSpPr txBox="1"/>
            <p:nvPr/>
          </p:nvSpPr>
          <p:spPr>
            <a:xfrm>
              <a:off x="1587" y="161"/>
              <a:ext cx="6590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实现与分析：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累加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571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03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2" name="图片 1" descr="upload_post_object_v2_12853928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54" y="1859654"/>
            <a:ext cx="10263005" cy="405480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90500" y="106045"/>
            <a:ext cx="5024755" cy="922020"/>
            <a:chOff x="264" y="0"/>
            <a:chExt cx="7913" cy="1452"/>
          </a:xfrm>
        </p:grpSpPr>
        <p:sp>
          <p:nvSpPr>
            <p:cNvPr id="38" name="文本框 37"/>
            <p:cNvSpPr txBox="1"/>
            <p:nvPr/>
          </p:nvSpPr>
          <p:spPr>
            <a:xfrm>
              <a:off x="1587" y="161"/>
              <a:ext cx="6590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实现与分析：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累乘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571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03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5" name="图片 4" descr="upload_post_object_v2_2534268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79" y="1901076"/>
            <a:ext cx="10131152" cy="408185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877040" y="6530340"/>
            <a:ext cx="209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90500" y="106045"/>
            <a:ext cx="5024755" cy="922020"/>
            <a:chOff x="264" y="0"/>
            <a:chExt cx="7913" cy="1452"/>
          </a:xfrm>
        </p:grpSpPr>
        <p:sp>
          <p:nvSpPr>
            <p:cNvPr id="38" name="文本框 37"/>
            <p:cNvSpPr txBox="1"/>
            <p:nvPr/>
          </p:nvSpPr>
          <p:spPr>
            <a:xfrm>
              <a:off x="1587" y="161"/>
              <a:ext cx="6590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实现与分析：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仿真演示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571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03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4145" y="4469765"/>
            <a:ext cx="9405620" cy="20815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145" y="1732280"/>
            <a:ext cx="9406255" cy="21329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9740" y="130937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累加：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59740" y="40081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累乘：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753850" y="6530340"/>
            <a:ext cx="4368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90500" y="106045"/>
            <a:ext cx="5024755" cy="922020"/>
            <a:chOff x="264" y="0"/>
            <a:chExt cx="7913" cy="1452"/>
          </a:xfrm>
        </p:grpSpPr>
        <p:sp>
          <p:nvSpPr>
            <p:cNvPr id="38" name="文本框 37"/>
            <p:cNvSpPr txBox="1"/>
            <p:nvPr/>
          </p:nvSpPr>
          <p:spPr>
            <a:xfrm>
              <a:off x="1587" y="161"/>
              <a:ext cx="6590" cy="12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2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实现与分析：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rgbClr val="0F383C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</a:rPr>
                <a:t>视频演示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283" y="1341"/>
              <a:ext cx="1304" cy="4"/>
            </a:xfrm>
            <a:prstGeom prst="line">
              <a:avLst/>
            </a:prstGeom>
            <a:ln w="38100">
              <a:gradFill>
                <a:gsLst>
                  <a:gs pos="0">
                    <a:srgbClr val="FFBA01"/>
                  </a:gs>
                  <a:gs pos="100000">
                    <a:srgbClr val="E25B1B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>
              <p:custDataLst>
                <p:tags r:id="rId1"/>
              </p:custDataLst>
            </p:nvPr>
          </p:nvSpPr>
          <p:spPr>
            <a:xfrm>
              <a:off x="264" y="0"/>
              <a:ext cx="1571" cy="1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u="none" strike="noStrike" kern="1200" cap="none" spc="0" normalizeH="0" baseline="0" noProof="0" dirty="0">
                  <a:ln>
                    <a:noFill/>
                  </a:ln>
                  <a:solidFill>
                    <a:srgbClr val="DF611E"/>
                  </a:solidFill>
                  <a:effectLst/>
                  <a:uLnTx/>
                  <a:uFillTx/>
                  <a:latin typeface="Impact" panose="020B0806030902050204" pitchFamily="34" charset="0"/>
                  <a:ea typeface="思源黑体 CN Medium" panose="020B0600000000000000" pitchFamily="34" charset="-122"/>
                </a:rPr>
                <a:t>03</a:t>
              </a:r>
              <a:endParaRPr kumimoji="0" lang="zh-CN" altLang="en-US" sz="5400" b="0" u="none" strike="noStrike" kern="1200" cap="none" spc="0" normalizeH="0" baseline="0" noProof="0" dirty="0">
                <a:ln>
                  <a:noFill/>
                </a:ln>
                <a:solidFill>
                  <a:srgbClr val="DF611E"/>
                </a:solidFill>
                <a:effectLst/>
                <a:uLnTx/>
                <a:uFillTx/>
                <a:latin typeface="Impact" panose="020B0806030902050204" pitchFamily="34" charset="0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770" y="1514475"/>
            <a:ext cx="9405620" cy="20815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770" y="4352925"/>
            <a:ext cx="9406255" cy="21329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53850" y="6530340"/>
            <a:ext cx="4368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25069" y="372985"/>
            <a:ext cx="531231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RESEARCH  /  INNOVATION </a:t>
            </a:r>
            <a:r>
              <a:rPr lang="zh-CN" altLang="en-US" sz="8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/ </a:t>
            </a:r>
            <a:r>
              <a:rPr lang="zh-CN" altLang="en-US" sz="8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ENTREPRENEURSHIP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8570" y="2802890"/>
            <a:ext cx="9517380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>
                <a:ln w="6350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 for your time!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02705" y="4182110"/>
            <a:ext cx="27241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>
                <a:solidFill>
                  <a:schemeClr val="bg1"/>
                </a:solidFill>
              </a:rPr>
              <a:t>Shengyi Xu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2708910" y="240665"/>
            <a:ext cx="6617335" cy="6617335"/>
          </a:xfrm>
          <a:prstGeom prst="rect">
            <a:avLst/>
          </a:prstGeom>
          <a:blipFill dpi="0" rotWithShape="1">
            <a:blip r:embed="rId3">
              <a:alphaModFix amt="1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6620" y="-1419860"/>
            <a:ext cx="6133465" cy="433451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870065" y="82550"/>
            <a:ext cx="5161280" cy="1101725"/>
            <a:chOff x="1312" y="343"/>
            <a:chExt cx="8128" cy="173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r="75063" b="-4598"/>
            <a:stretch>
              <a:fillRect/>
            </a:stretch>
          </p:blipFill>
          <p:spPr>
            <a:xfrm>
              <a:off x="7725" y="427"/>
              <a:ext cx="1715" cy="1651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312" y="343"/>
              <a:ext cx="6295" cy="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Arial" panose="020B0604020202020204" pitchFamily="34" charset="0"/>
                </a:rPr>
                <a:t>Department of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Eletronic and Eletrical</a:t>
              </a:r>
            </a:p>
            <a:p>
              <a:pPr algn="r"/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HP Simplified Hans" panose="020B0500000000000000" charset="-122"/>
                  <a:ea typeface="HP Simplified Hans" panose="020B0500000000000000" charset="-122"/>
                  <a:cs typeface="Segoe UI Variable Small Semibold" charset="0"/>
                </a:rPr>
                <a:t>Engineering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I0ZjJiMmIyODM0NTc5MzEyN2IzOWYzNjgwNDFiNTYifQ=="/>
  <p:tag name="RESOURCE_RECORD_KEY" val="{&quot;13&quot;:[4364878,1995119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8807874015748,&quot;left&quot;:116.89960629921259,&quot;top&quot;:135.82826771653544,&quot;width&quot;:747.3949606299211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宽屏</PresentationFormat>
  <Paragraphs>128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HP Simplified Hans</vt:lpstr>
      <vt:lpstr>Impact</vt:lpstr>
      <vt:lpstr>宋体</vt:lpstr>
      <vt:lpstr>等线</vt:lpstr>
      <vt:lpstr>Calibri</vt:lpstr>
      <vt:lpstr>思源黑体 CN Light</vt:lpstr>
      <vt:lpstr>等线 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莉雅</dc:creator>
  <cp:lastModifiedBy>衍宁 何</cp:lastModifiedBy>
  <cp:revision>974</cp:revision>
  <dcterms:created xsi:type="dcterms:W3CDTF">2021-04-26T13:23:00Z</dcterms:created>
  <dcterms:modified xsi:type="dcterms:W3CDTF">2026-05-31T06:24:23Z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8F4FB42D6F884F7A8F15D9D251471967_12</vt:lpwstr>
  </property>
  <property fmtid="{D5CDD505-2E9C-101B-9397-08002B2CF9AE}" pid="3" name="KSOProductBuildVer">
    <vt:lpwstr>2052-12.1.0.26375</vt:lpwstr>
  </property>
</Properties>
</file>