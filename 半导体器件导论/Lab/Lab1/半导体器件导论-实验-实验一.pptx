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65" r:id="rId2"/>
    <p:sldId id="323" r:id="rId3"/>
    <p:sldId id="366" r:id="rId4"/>
    <p:sldId id="367" r:id="rId5"/>
    <p:sldId id="368" r:id="rId6"/>
    <p:sldId id="369" r:id="rId7"/>
    <p:sldId id="370" r:id="rId8"/>
    <p:sldId id="371" r:id="rId9"/>
    <p:sldId id="390" r:id="rId10"/>
    <p:sldId id="372" r:id="rId11"/>
    <p:sldId id="350" r:id="rId12"/>
    <p:sldId id="349" r:id="rId13"/>
    <p:sldId id="331" r:id="rId14"/>
    <p:sldId id="333" r:id="rId15"/>
    <p:sldId id="335" r:id="rId16"/>
    <p:sldId id="336" r:id="rId17"/>
    <p:sldId id="338" r:id="rId18"/>
    <p:sldId id="339" r:id="rId19"/>
    <p:sldId id="340" r:id="rId20"/>
    <p:sldId id="341" r:id="rId21"/>
    <p:sldId id="342" r:id="rId22"/>
    <p:sldId id="351" r:id="rId23"/>
    <p:sldId id="346" r:id="rId24"/>
    <p:sldId id="344" r:id="rId25"/>
    <p:sldId id="352" r:id="rId26"/>
    <p:sldId id="343" r:id="rId27"/>
  </p:sldIdLst>
  <p:sldSz cx="9144000" cy="6858000" type="screen4x3"/>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1" userDrawn="1">
          <p15:clr>
            <a:srgbClr val="A4A3A4"/>
          </p15:clr>
        </p15:guide>
        <p15:guide id="2" pos="28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727" autoAdjust="0"/>
    <p:restoredTop sz="94660"/>
  </p:normalViewPr>
  <p:slideViewPr>
    <p:cSldViewPr showGuides="1">
      <p:cViewPr varScale="1">
        <p:scale>
          <a:sx n="108" d="100"/>
          <a:sy n="108" d="100"/>
        </p:scale>
        <p:origin x="1296" y="96"/>
      </p:cViewPr>
      <p:guideLst>
        <p:guide orient="horz" pos="2121"/>
        <p:guide pos="288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2025/9/10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3774275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3">
        <a:schemeClr val="bg1"/>
      </p:bgRef>
    </p:bg>
    <p:spTree>
      <p:nvGrpSpPr>
        <p:cNvPr id="1" name=""/>
        <p:cNvGrpSpPr/>
        <p:nvPr/>
      </p:nvGrpSpPr>
      <p:grpSpPr>
        <a:xfrm>
          <a:off x="0" y="0"/>
          <a:ext cx="0" cy="0"/>
          <a:chOff x="0" y="0"/>
          <a:chExt cx="0" cy="0"/>
        </a:xfrm>
      </p:grpSpPr>
      <p:sp>
        <p:nvSpPr>
          <p:cNvPr id="12" name="矩形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圆角矩形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副标题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28" name="日期占位符 27"/>
          <p:cNvSpPr>
            <a:spLocks noGrp="1"/>
          </p:cNvSpPr>
          <p:nvPr>
            <p:ph type="dt" sz="half" idx="10"/>
          </p:nvPr>
        </p:nvSpPr>
        <p:spPr/>
        <p:txBody>
          <a:bodyPr/>
          <a:lstStyle/>
          <a:p>
            <a:fld id="{530820CF-B880-4189-942D-D702A7CBA730}" type="datetimeFigureOut">
              <a:rPr lang="zh-CN" altLang="en-US" smtClean="0"/>
              <a:t>2025/9/10</a:t>
            </a:fld>
            <a:endParaRPr lang="zh-CN" altLang="en-US"/>
          </a:p>
        </p:txBody>
      </p:sp>
      <p:sp>
        <p:nvSpPr>
          <p:cNvPr id="17" name="页脚占位符 16"/>
          <p:cNvSpPr>
            <a:spLocks noGrp="1"/>
          </p:cNvSpPr>
          <p:nvPr>
            <p:ph type="ftr" sz="quarter" idx="11"/>
          </p:nvPr>
        </p:nvSpPr>
        <p:spPr/>
        <p:txBody>
          <a:bodyPr/>
          <a:lstStyle/>
          <a:p>
            <a:endParaRPr lang="zh-CN" altLang="en-US"/>
          </a:p>
        </p:txBody>
      </p:sp>
      <p:sp>
        <p:nvSpPr>
          <p:cNvPr id="29" name="灯片编号占位符 28"/>
          <p:cNvSpPr>
            <a:spLocks noGrp="1"/>
          </p:cNvSpPr>
          <p:nvPr>
            <p:ph type="sldNum" sz="quarter" idx="12"/>
          </p:nvPr>
        </p:nvSpPr>
        <p:spPr/>
        <p:txBody>
          <a:bodyPr lIns="0" tIns="0" rIns="0" bIns="0">
            <a:noAutofit/>
          </a:bodyPr>
          <a:lstStyle>
            <a:lvl1pPr>
              <a:defRPr sz="1400">
                <a:solidFill>
                  <a:srgbClr val="FFFFFF"/>
                </a:solidFill>
              </a:defRPr>
            </a:lvl1pPr>
          </a:lstStyle>
          <a:p>
            <a:fld id="{0C913308-F349-4B6D-A68A-DD1791B4A57B}" type="slidenum">
              <a:rPr lang="zh-CN" altLang="en-US" smtClean="0"/>
              <a:t>‹#›</a:t>
            </a:fld>
            <a:endParaRPr lang="zh-CN" altLang="en-US"/>
          </a:p>
        </p:txBody>
      </p:sp>
      <p:sp>
        <p:nvSpPr>
          <p:cNvPr id="7" name="矩形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zh-CN" altLang="en-US"/>
              <a:t>单击此处编辑母版标题样式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2025/9/10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内容占位符 7"/>
          <p:cNvSpPr>
            <a:spLocks noGrp="1"/>
          </p:cNvSpPr>
          <p:nvPr>
            <p:ph sz="quarter" idx="1"/>
          </p:nvPr>
        </p:nvSpPr>
        <p:spPr>
          <a:xfrm>
            <a:off x="914400" y="1447800"/>
            <a:ext cx="7772400" cy="4572000"/>
          </a:xfrm>
        </p:spPr>
        <p:txBody>
          <a:bodyPr vert="horz"/>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1"/>
      </p:bgRef>
    </p:bg>
    <p:spTree>
      <p:nvGrpSpPr>
        <p:cNvPr id="1" name=""/>
        <p:cNvGrpSpPr/>
        <p:nvPr/>
      </p:nvGrpSpPr>
      <p:grpSpPr>
        <a:xfrm>
          <a:off x="0" y="0"/>
          <a:ext cx="0" cy="0"/>
          <a:chOff x="0" y="0"/>
          <a:chExt cx="0" cy="0"/>
        </a:xfrm>
      </p:grpSpPr>
      <p:sp>
        <p:nvSpPr>
          <p:cNvPr id="11" name="矩形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圆角矩形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722313" y="952500"/>
            <a:ext cx="7772400" cy="1362075"/>
          </a:xfrm>
        </p:spPr>
        <p:txBody>
          <a:bodyPr anchor="b" anchorCtr="0"/>
          <a:lstStyle>
            <a:lvl1pPr algn="l">
              <a:buNone/>
              <a:defRPr sz="4000" b="0" cap="none"/>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2025/9/10</a:t>
            </a:fld>
            <a:endParaRPr lang="zh-CN" altLang="en-US"/>
          </a:p>
        </p:txBody>
      </p:sp>
      <p:sp>
        <p:nvSpPr>
          <p:cNvPr id="5" name="页脚占位符 4"/>
          <p:cNvSpPr>
            <a:spLocks noGrp="1"/>
          </p:cNvSpPr>
          <p:nvPr>
            <p:ph type="ftr" sz="quarter" idx="11"/>
          </p:nvPr>
        </p:nvSpPr>
        <p:spPr>
          <a:xfrm>
            <a:off x="800100" y="6172200"/>
            <a:ext cx="4000500" cy="457200"/>
          </a:xfrm>
        </p:spPr>
        <p:txBody>
          <a:bodyPr/>
          <a:lstStyle/>
          <a:p>
            <a:endParaRPr lang="zh-CN" altLang="en-US"/>
          </a:p>
        </p:txBody>
      </p:sp>
      <p:sp>
        <p:nvSpPr>
          <p:cNvPr id="7" name="矩形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灯片编号占位符 5"/>
          <p:cNvSpPr>
            <a:spLocks noGrp="1"/>
          </p:cNvSpPr>
          <p:nvPr>
            <p:ph type="sldNum" sz="quarter" idx="12"/>
          </p:nvPr>
        </p:nvSpPr>
        <p:spPr>
          <a:xfrm>
            <a:off x="146304" y="6208776"/>
            <a:ext cx="457200" cy="457200"/>
          </a:xfrm>
        </p:spPr>
        <p:txBody>
          <a:bodyPr/>
          <a:lstStyle/>
          <a:p>
            <a:fld id="{0C913308-F349-4B6D-A68A-DD1791B4A57B}"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2025/9/10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9" name="内容占位符 8"/>
          <p:cNvSpPr>
            <a:spLocks noGrp="1"/>
          </p:cNvSpPr>
          <p:nvPr>
            <p:ph sz="quarter" idx="1"/>
          </p:nvPr>
        </p:nvSpPr>
        <p:spPr>
          <a:xfrm>
            <a:off x="914400" y="1447800"/>
            <a:ext cx="3749040" cy="4572000"/>
          </a:xfrm>
        </p:spPr>
        <p:txBody>
          <a:bodyPr vert="horz"/>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1" name="内容占位符 10"/>
          <p:cNvSpPr>
            <a:spLocks noGrp="1"/>
          </p:cNvSpPr>
          <p:nvPr>
            <p:ph sz="quarter" idx="2"/>
          </p:nvPr>
        </p:nvSpPr>
        <p:spPr>
          <a:xfrm>
            <a:off x="4933950" y="1447800"/>
            <a:ext cx="3749040" cy="4572000"/>
          </a:xfrm>
        </p:spPr>
        <p:txBody>
          <a:bodyPr vert="horz"/>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14400" y="273050"/>
            <a:ext cx="7772400" cy="1143000"/>
          </a:xfrm>
        </p:spPr>
        <p:txBody>
          <a:bodyPr anchor="b" anchorCtr="0"/>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2025/9/10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11" name="内容占位符 10"/>
          <p:cNvSpPr>
            <a:spLocks noGrp="1"/>
          </p:cNvSpPr>
          <p:nvPr>
            <p:ph sz="half" idx="2"/>
          </p:nvPr>
        </p:nvSpPr>
        <p:spPr>
          <a:xfrm>
            <a:off x="914400" y="2247900"/>
            <a:ext cx="3733800" cy="3886200"/>
          </a:xfrm>
        </p:spPr>
        <p:txBody>
          <a:bodyPr vert="horz"/>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3" name="内容占位符 12"/>
          <p:cNvSpPr>
            <a:spLocks noGrp="1"/>
          </p:cNvSpPr>
          <p:nvPr>
            <p:ph sz="half" idx="4"/>
          </p:nvPr>
        </p:nvSpPr>
        <p:spPr>
          <a:xfrm>
            <a:off x="4953000" y="2247900"/>
            <a:ext cx="3733800" cy="3886200"/>
          </a:xfrm>
        </p:spPr>
        <p:txBody>
          <a:bodyPr vert="horz"/>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2025/9/10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2025/9/10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圆角矩形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914400" y="273050"/>
            <a:ext cx="7772400" cy="1143000"/>
          </a:xfrm>
        </p:spPr>
        <p:txBody>
          <a:bodyPr anchor="b" anchorCtr="0"/>
          <a:lstStyle>
            <a:lvl1pPr algn="l">
              <a:buNone/>
              <a:defRPr sz="4000" b="0"/>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2025/9/10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11" name="内容占位符 10"/>
          <p:cNvSpPr>
            <a:spLocks noGrp="1"/>
          </p:cNvSpPr>
          <p:nvPr>
            <p:ph sz="quarter" idx="1"/>
          </p:nvPr>
        </p:nvSpPr>
        <p:spPr>
          <a:xfrm>
            <a:off x="2971800" y="1600200"/>
            <a:ext cx="5715000" cy="4495800"/>
          </a:xfrm>
        </p:spPr>
        <p:txBody>
          <a:bodyPr vert="horz"/>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zh-CN" altLang="en-US"/>
              <a:t>单击此处编辑母版标题样式</a:t>
            </a:r>
            <a:endParaRPr kumimoji="0" lang="en-US"/>
          </a:p>
        </p:txBody>
      </p:sp>
      <p:sp>
        <p:nvSpPr>
          <p:cNvPr id="4" name="文本占位符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2025/9/10</a:t>
            </a:fld>
            <a:endParaRPr lang="zh-CN" altLang="en-US"/>
          </a:p>
        </p:txBody>
      </p:sp>
      <p:sp>
        <p:nvSpPr>
          <p:cNvPr id="6" name="页脚占位符 5"/>
          <p:cNvSpPr>
            <a:spLocks noGrp="1"/>
          </p:cNvSpPr>
          <p:nvPr>
            <p:ph type="ftr" sz="quarter" idx="11"/>
          </p:nvPr>
        </p:nvSpPr>
        <p:spPr>
          <a:xfrm>
            <a:off x="914400" y="6172200"/>
            <a:ext cx="3886200" cy="457200"/>
          </a:xfrm>
        </p:spPr>
        <p:txBody>
          <a:bodyPr/>
          <a:lstStyle/>
          <a:p>
            <a:endParaRPr lang="zh-CN" altLang="en-US"/>
          </a:p>
        </p:txBody>
      </p:sp>
      <p:sp>
        <p:nvSpPr>
          <p:cNvPr id="7" name="灯片编号占位符 6"/>
          <p:cNvSpPr>
            <a:spLocks noGrp="1"/>
          </p:cNvSpPr>
          <p:nvPr>
            <p:ph type="sldNum" sz="quarter" idx="12"/>
          </p:nvPr>
        </p:nvSpPr>
        <p:spPr>
          <a:xfrm>
            <a:off x="146304" y="6208776"/>
            <a:ext cx="457200" cy="457200"/>
          </a:xfrm>
        </p:spPr>
        <p:txBody>
          <a:bodyPr/>
          <a:lstStyle/>
          <a:p>
            <a:fld id="{0C913308-F349-4B6D-A68A-DD1791B4A57B}" type="slidenum">
              <a:rPr lang="zh-CN" altLang="en-US" smtClean="0"/>
              <a:t>‹#›</a:t>
            </a:fld>
            <a:endParaRPr lang="zh-CN" altLang="en-US"/>
          </a:p>
        </p:txBody>
      </p:sp>
      <p:sp>
        <p:nvSpPr>
          <p:cNvPr id="11" name="矩形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矩形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图片占位符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zh-CN" altLang="en-US"/>
              <a:t>单击图标添加图片</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2025/9/10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1"/>
            <a:ext cx="201168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914400" y="274640"/>
            <a:ext cx="55626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2025/9/10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圆角矩形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标题占位符 21"/>
          <p:cNvSpPr>
            <a:spLocks noGrp="1"/>
          </p:cNvSpPr>
          <p:nvPr>
            <p:ph type="title"/>
          </p:nvPr>
        </p:nvSpPr>
        <p:spPr>
          <a:xfrm>
            <a:off x="914400" y="274638"/>
            <a:ext cx="7772400" cy="1143000"/>
          </a:xfrm>
          <a:prstGeom prst="rect">
            <a:avLst/>
          </a:prstGeom>
        </p:spPr>
        <p:txBody>
          <a:bodyPr bIns="91440" anchor="b" anchorCtr="0">
            <a:normAutofit/>
          </a:body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14" name="日期占位符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530820CF-B880-4189-942D-D702A7CBA730}" type="datetimeFigureOut">
              <a:rPr lang="zh-CN" altLang="en-US" smtClean="0"/>
              <a:t>2025/9/10</a:t>
            </a:fld>
            <a:endParaRPr lang="zh-CN" altLang="en-US"/>
          </a:p>
        </p:txBody>
      </p:sp>
      <p:sp>
        <p:nvSpPr>
          <p:cNvPr id="3" name="页脚占位符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zh-CN" altLang="en-US"/>
          </a:p>
        </p:txBody>
      </p:sp>
      <p:sp>
        <p:nvSpPr>
          <p:cNvPr id="23" name="灯片编号占位符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705" y="1842135"/>
            <a:ext cx="8735060" cy="768350"/>
          </a:xfrm>
          <a:prstGeom prst="rect">
            <a:avLst/>
          </a:prstGeom>
          <a:noFill/>
        </p:spPr>
        <p:txBody>
          <a:bodyPr wrap="square" rtlCol="0">
            <a:spAutoFit/>
          </a:bodyPr>
          <a:lstStyle/>
          <a:p>
            <a:pPr>
              <a:spcAft>
                <a:spcPts val="600"/>
              </a:spcAft>
            </a:pPr>
            <a:r>
              <a:rPr sz="4400" b="1" dirty="0">
                <a:solidFill>
                  <a:schemeClr val="bg1"/>
                </a:solidFill>
                <a:latin typeface="微软雅黑" panose="020B0503020204020204" charset="-122"/>
                <a:ea typeface="微软雅黑" panose="020B0503020204020204" charset="-122"/>
                <a:cs typeface="微软雅黑" panose="020B0503020204020204" charset="-122"/>
              </a:rPr>
              <a:t>半导体器件导论-实验-绪论</a:t>
            </a:r>
          </a:p>
        </p:txBody>
      </p:sp>
      <p:sp>
        <p:nvSpPr>
          <p:cNvPr id="5" name="TextBox 4"/>
          <p:cNvSpPr txBox="1"/>
          <p:nvPr/>
        </p:nvSpPr>
        <p:spPr>
          <a:xfrm>
            <a:off x="2216785" y="3693795"/>
            <a:ext cx="6570980" cy="1076325"/>
          </a:xfrm>
          <a:prstGeom prst="rect">
            <a:avLst/>
          </a:prstGeom>
          <a:noFill/>
        </p:spPr>
        <p:txBody>
          <a:bodyPr wrap="square" rtlCol="0">
            <a:spAutoFit/>
          </a:bodyPr>
          <a:lstStyle/>
          <a:p>
            <a:pPr algn="l">
              <a:lnSpc>
                <a:spcPct val="100000"/>
              </a:lnSpc>
            </a:pPr>
            <a:r>
              <a:rPr lang="zh-CN" altLang="en-US" sz="3200" b="1" dirty="0">
                <a:solidFill>
                  <a:srgbClr val="002060"/>
                </a:solidFill>
                <a:latin typeface="Times New Roman" panose="02020603050405020304" charset="0"/>
                <a:cs typeface="Times New Roman" panose="02020603050405020304" charset="0"/>
              </a:rPr>
              <a:t>主讲人：徐琳琳</a:t>
            </a:r>
          </a:p>
          <a:p>
            <a:pPr algn="l">
              <a:lnSpc>
                <a:spcPct val="100000"/>
              </a:lnSpc>
            </a:pPr>
            <a:r>
              <a:rPr lang="zh-CN" altLang="en-US" sz="3200" b="1" dirty="0">
                <a:solidFill>
                  <a:srgbClr val="002060"/>
                </a:solidFill>
                <a:latin typeface="Times New Roman" panose="02020603050405020304" charset="0"/>
                <a:cs typeface="Times New Roman" panose="02020603050405020304" charset="0"/>
                <a:sym typeface="+mn-ea"/>
              </a:rPr>
              <a:t>邮</a:t>
            </a:r>
            <a:r>
              <a:rPr lang="en-US" altLang="zh-CN" sz="3200" b="1" dirty="0">
                <a:solidFill>
                  <a:srgbClr val="002060"/>
                </a:solidFill>
                <a:latin typeface="Times New Roman" panose="02020603050405020304" charset="0"/>
                <a:cs typeface="Times New Roman" panose="02020603050405020304" charset="0"/>
                <a:sym typeface="+mn-ea"/>
              </a:rPr>
              <a:t>  </a:t>
            </a:r>
            <a:r>
              <a:rPr lang="zh-CN" altLang="en-US" sz="3200" b="1" dirty="0">
                <a:solidFill>
                  <a:srgbClr val="002060"/>
                </a:solidFill>
                <a:latin typeface="Times New Roman" panose="02020603050405020304" charset="0"/>
                <a:cs typeface="Times New Roman" panose="02020603050405020304" charset="0"/>
                <a:sym typeface="+mn-ea"/>
              </a:rPr>
              <a:t>箱：</a:t>
            </a:r>
            <a:r>
              <a:rPr lang="en-US" altLang="zh-CN" sz="3200" b="1" u="sng" dirty="0">
                <a:solidFill>
                  <a:srgbClr val="0000FF"/>
                </a:solidFill>
                <a:latin typeface="Times New Roman" panose="02020603050405020304" charset="0"/>
                <a:cs typeface="Times New Roman" panose="02020603050405020304" charset="0"/>
                <a:sym typeface="+mn-ea"/>
              </a:rPr>
              <a:t>xulinalec@163.com</a:t>
            </a:r>
            <a:endParaRPr lang="zh-CN" altLang="en-US" sz="3200" b="1" u="sng" dirty="0">
              <a:solidFill>
                <a:srgbClr val="002060"/>
              </a:solidFill>
              <a:latin typeface="Times New Roman" panose="02020603050405020304" charset="0"/>
              <a:cs typeface="Times New Roman" panose="02020603050405020304" charset="0"/>
            </a:endParaRPr>
          </a:p>
        </p:txBody>
      </p:sp>
      <p:cxnSp>
        <p:nvCxnSpPr>
          <p:cNvPr id="2" name="直接连接符 1"/>
          <p:cNvCxnSpPr/>
          <p:nvPr/>
        </p:nvCxnSpPr>
        <p:spPr>
          <a:xfrm>
            <a:off x="394335" y="6093460"/>
            <a:ext cx="8311515" cy="0"/>
          </a:xfrm>
          <a:prstGeom prst="line">
            <a:avLst/>
          </a:prstGeom>
          <a:ln w="98425">
            <a:gradFill>
              <a:gsLst>
                <a:gs pos="41000">
                  <a:schemeClr val="accent1">
                    <a:lumMod val="5000"/>
                    <a:lumOff val="95000"/>
                  </a:schemeClr>
                </a:gs>
                <a:gs pos="0">
                  <a:schemeClr val="accent1">
                    <a:lumMod val="45000"/>
                    <a:lumOff val="55000"/>
                  </a:schemeClr>
                </a:gs>
                <a:gs pos="84000">
                  <a:schemeClr val="accent1">
                    <a:lumMod val="45000"/>
                    <a:lumOff val="55000"/>
                  </a:schemeClr>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pic>
        <p:nvPicPr>
          <p:cNvPr id="3" name="图片 2" descr="10 南科大与电子系（上下橙蓝）"/>
          <p:cNvPicPr>
            <a:picLocks noChangeAspect="1"/>
          </p:cNvPicPr>
          <p:nvPr/>
        </p:nvPicPr>
        <p:blipFill>
          <a:blip r:embed="rId2"/>
          <a:stretch>
            <a:fillRect/>
          </a:stretch>
        </p:blipFill>
        <p:spPr>
          <a:xfrm>
            <a:off x="3347720" y="332740"/>
            <a:ext cx="2828290" cy="873760"/>
          </a:xfrm>
          <a:prstGeom prst="rect">
            <a:avLst/>
          </a:prstGeom>
          <a:solidFill>
            <a:schemeClr val="bg1"/>
          </a:solidFill>
          <a:effectLst>
            <a:glow rad="330200">
              <a:srgbClr val="FF0000">
                <a:alpha val="40000"/>
              </a:srgbClr>
            </a:glo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p:cNvSpPr txBox="1"/>
          <p:nvPr/>
        </p:nvSpPr>
        <p:spPr>
          <a:xfrm>
            <a:off x="2036233" y="765175"/>
            <a:ext cx="4876800" cy="922020"/>
          </a:xfrm>
          <a:prstGeom prst="rect">
            <a:avLst/>
          </a:prstGeom>
          <a:noFill/>
        </p:spPr>
        <p:txBody>
          <a:bodyPr wrap="square" rtlCol="0">
            <a:spAutoFit/>
          </a:bodyPr>
          <a:lstStyle/>
          <a:p>
            <a:pPr algn="ctr"/>
            <a:r>
              <a:rPr lang="zh-CN" altLang="en-US" sz="5400" b="1" dirty="0">
                <a:solidFill>
                  <a:srgbClr val="C00000"/>
                </a:solidFill>
                <a:latin typeface="微软雅黑" panose="020B0503020204020204" charset="-122"/>
                <a:ea typeface="微软雅黑" panose="020B0503020204020204" charset="-122"/>
              </a:rPr>
              <a:t>主要内容</a:t>
            </a:r>
          </a:p>
        </p:txBody>
      </p:sp>
      <p:sp>
        <p:nvSpPr>
          <p:cNvPr id="3" name="TextBox 3"/>
          <p:cNvSpPr txBox="1"/>
          <p:nvPr/>
        </p:nvSpPr>
        <p:spPr>
          <a:xfrm>
            <a:off x="2917190" y="1917065"/>
            <a:ext cx="5846445" cy="4030980"/>
          </a:xfrm>
          <a:prstGeom prst="rect">
            <a:avLst/>
          </a:prstGeom>
          <a:noFill/>
        </p:spPr>
        <p:txBody>
          <a:bodyPr wrap="square" rtlCol="0">
            <a:spAutoFit/>
          </a:bodyPr>
          <a:lstStyle/>
          <a:p>
            <a:pPr marL="342900" indent="-342900">
              <a:lnSpc>
                <a:spcPct val="200000"/>
              </a:lnSpc>
              <a:buFontTx/>
              <a:buAutoNum type="arabicPeriod"/>
            </a:pPr>
            <a:r>
              <a:rPr lang="en-US" altLang="zh-CN" sz="3200" b="1" dirty="0">
                <a:solidFill>
                  <a:srgbClr val="002060"/>
                </a:solidFill>
                <a:latin typeface="Times New Roman" panose="02020603050405020304" charset="0"/>
                <a:cs typeface="Times New Roman" panose="02020603050405020304" charset="0"/>
              </a:rPr>
              <a:t> </a:t>
            </a:r>
            <a:r>
              <a:rPr lang="zh-CN" altLang="en-US" sz="3200" b="1" dirty="0">
                <a:solidFill>
                  <a:srgbClr val="002060"/>
                </a:solidFill>
                <a:latin typeface="Times New Roman" panose="02020603050405020304" charset="0"/>
                <a:cs typeface="Times New Roman" panose="02020603050405020304" charset="0"/>
              </a:rPr>
              <a:t>课程实验介绍</a:t>
            </a:r>
          </a:p>
          <a:p>
            <a:pPr marL="342900" indent="-342900" algn="l">
              <a:lnSpc>
                <a:spcPct val="200000"/>
              </a:lnSpc>
              <a:buClrTx/>
              <a:buSzTx/>
              <a:buFontTx/>
              <a:buAutoNum type="arabicPeriod"/>
            </a:pPr>
            <a:r>
              <a:rPr lang="en-US" altLang="zh-CN" sz="3200" b="1" dirty="0">
                <a:solidFill>
                  <a:srgbClr val="002060"/>
                </a:solidFill>
                <a:latin typeface="Times New Roman" panose="02020603050405020304" charset="0"/>
                <a:cs typeface="Times New Roman" panose="02020603050405020304" charset="0"/>
              </a:rPr>
              <a:t> </a:t>
            </a:r>
            <a:r>
              <a:rPr lang="zh-CN" altLang="en-US" sz="3200" b="1" dirty="0">
                <a:solidFill>
                  <a:srgbClr val="002060"/>
                </a:solidFill>
                <a:latin typeface="Times New Roman" panose="02020603050405020304" charset="0"/>
                <a:cs typeface="Times New Roman" panose="02020603050405020304" charset="0"/>
              </a:rPr>
              <a:t>课程实验要求</a:t>
            </a:r>
          </a:p>
          <a:p>
            <a:pPr marL="342900" indent="-342900" algn="l">
              <a:lnSpc>
                <a:spcPct val="200000"/>
              </a:lnSpc>
              <a:buClrTx/>
              <a:buSzTx/>
              <a:buFontTx/>
              <a:buAutoNum type="arabicPeriod"/>
            </a:pPr>
            <a:r>
              <a:rPr lang="en-US" altLang="zh-CN" sz="3200" b="1" dirty="0">
                <a:solidFill>
                  <a:srgbClr val="002060"/>
                </a:solidFill>
                <a:latin typeface="Times New Roman" panose="02020603050405020304" charset="0"/>
                <a:cs typeface="Times New Roman" panose="02020603050405020304" charset="0"/>
                <a:sym typeface="+mn-ea"/>
              </a:rPr>
              <a:t> </a:t>
            </a:r>
            <a:r>
              <a:rPr lang="zh-CN" altLang="en-US" sz="3200" b="1" dirty="0">
                <a:solidFill>
                  <a:srgbClr val="002060"/>
                </a:solidFill>
                <a:latin typeface="Times New Roman" panose="02020603050405020304" charset="0"/>
                <a:cs typeface="Times New Roman" panose="02020603050405020304" charset="0"/>
                <a:sym typeface="+mn-ea"/>
              </a:rPr>
              <a:t>Silvaco工艺仿真示例解析</a:t>
            </a:r>
          </a:p>
          <a:p>
            <a:pPr marL="342900" indent="-342900" algn="l">
              <a:lnSpc>
                <a:spcPct val="200000"/>
              </a:lnSpc>
              <a:buClrTx/>
              <a:buSzTx/>
              <a:buFontTx/>
              <a:buAutoNum type="arabicPeriod"/>
            </a:pPr>
            <a:r>
              <a:rPr lang="zh-CN" altLang="en-US" sz="3200" b="1" dirty="0">
                <a:solidFill>
                  <a:srgbClr val="002060"/>
                </a:solidFill>
                <a:latin typeface="Times New Roman" panose="02020603050405020304" charset="0"/>
                <a:cs typeface="Times New Roman" panose="02020603050405020304" charset="0"/>
                <a:sym typeface="+mn-ea"/>
              </a:rPr>
              <a:t>小练手</a:t>
            </a:r>
          </a:p>
        </p:txBody>
      </p:sp>
      <p:sp>
        <p:nvSpPr>
          <p:cNvPr id="7" name="圆角矩形 6"/>
          <p:cNvSpPr/>
          <p:nvPr/>
        </p:nvSpPr>
        <p:spPr>
          <a:xfrm>
            <a:off x="1223645" y="72390"/>
            <a:ext cx="6696710" cy="360045"/>
          </a:xfrm>
          <a:prstGeom prst="roundRect">
            <a:avLst/>
          </a:prstGeom>
          <a:solidFill>
            <a:schemeClr val="accent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988310" y="2420620"/>
            <a:ext cx="2560320" cy="1198880"/>
          </a:xfrm>
          <a:prstGeom prst="rect">
            <a:avLst/>
          </a:prstGeom>
          <a:noFill/>
        </p:spPr>
        <p:txBody>
          <a:bodyPr wrap="none" rtlCol="0" anchor="t">
            <a:spAutoFit/>
          </a:bodyPr>
          <a:lstStyle/>
          <a:p>
            <a:pPr indent="0" algn="l">
              <a:lnSpc>
                <a:spcPct val="200000"/>
              </a:lnSpc>
              <a:buClrTx/>
              <a:buSzTx/>
              <a:buFontTx/>
              <a:buNone/>
            </a:pPr>
            <a:r>
              <a:rPr lang="en-US" altLang="zh-CN" sz="3600" b="1" dirty="0">
                <a:solidFill>
                  <a:srgbClr val="C00000"/>
                </a:solidFill>
                <a:latin typeface="微软雅黑" panose="020B0503020204020204" charset="-122"/>
                <a:ea typeface="微软雅黑" panose="020B0503020204020204" charset="-122"/>
                <a:cs typeface="微软雅黑" panose="020B0503020204020204" charset="-122"/>
                <a:sym typeface="+mn-ea"/>
              </a:rPr>
              <a:t>1. </a:t>
            </a:r>
            <a:r>
              <a:rPr lang="zh-CN" altLang="en-US" sz="3600" b="1" dirty="0">
                <a:solidFill>
                  <a:srgbClr val="C00000"/>
                </a:solidFill>
                <a:latin typeface="微软雅黑" panose="020B0503020204020204" charset="-122"/>
                <a:ea typeface="微软雅黑" panose="020B0503020204020204" charset="-122"/>
                <a:cs typeface="微软雅黑" panose="020B0503020204020204" charset="-122"/>
                <a:sym typeface="+mn-ea"/>
              </a:rPr>
              <a:t>实验介绍</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5560" y="621665"/>
            <a:ext cx="8458200" cy="521970"/>
          </a:xfrm>
          <a:prstGeom prst="rect">
            <a:avLst/>
          </a:prstGeom>
        </p:spPr>
        <p:txBody>
          <a:bodyPr wrap="square">
            <a:spAutoFit/>
          </a:bodyPr>
          <a:lstStyle/>
          <a:p>
            <a:pPr marL="342900" indent="-342900">
              <a:spcBef>
                <a:spcPts val="600"/>
              </a:spcBef>
              <a:buFontTx/>
              <a:buAutoNum type="arabicPeriod"/>
            </a:pPr>
            <a:r>
              <a:rPr lang="zh-CN" altLang="en-US" sz="2800" b="1" dirty="0">
                <a:solidFill>
                  <a:srgbClr val="C00000"/>
                </a:solidFill>
                <a:latin typeface="微软雅黑" panose="020B0503020204020204" charset="-122"/>
                <a:ea typeface="微软雅黑" panose="020B0503020204020204" charset="-122"/>
                <a:cs typeface="Times New Roman" panose="02020603050405020304" charset="0"/>
              </a:rPr>
              <a:t>实验介绍</a:t>
            </a:r>
          </a:p>
        </p:txBody>
      </p:sp>
      <p:sp>
        <p:nvSpPr>
          <p:cNvPr id="8" name="圆角矩形 7"/>
          <p:cNvSpPr/>
          <p:nvPr/>
        </p:nvSpPr>
        <p:spPr>
          <a:xfrm>
            <a:off x="1223645" y="72390"/>
            <a:ext cx="6696710" cy="360045"/>
          </a:xfrm>
          <a:prstGeom prst="roundRect">
            <a:avLst/>
          </a:prstGeom>
          <a:solidFill>
            <a:schemeClr val="accent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60350" y="1773555"/>
            <a:ext cx="8747760" cy="2399665"/>
          </a:xfrm>
          <a:prstGeom prst="rect">
            <a:avLst/>
          </a:prstGeom>
          <a:noFill/>
        </p:spPr>
        <p:txBody>
          <a:bodyPr wrap="square" rtlCol="0">
            <a:spAutoFit/>
          </a:bodyPr>
          <a:lstStyle/>
          <a:p>
            <a:pPr marL="342900" indent="-342900" algn="just" fontAlgn="auto">
              <a:lnSpc>
                <a:spcPct val="150000"/>
              </a:lnSpc>
              <a:buFont typeface="Wingdings" panose="05000000000000000000" charset="0"/>
              <a:buChar char="n"/>
            </a:pP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基于</a:t>
            </a:r>
            <a:r>
              <a:rPr lang="zh-CN" altLang="en-US" sz="2000" b="1">
                <a:solidFill>
                  <a:srgbClr val="FF000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半导体技术</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的</a:t>
            </a:r>
            <a:r>
              <a:rPr lang="zh-CN" altLang="en-US" sz="2000" b="1">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集成电路</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是</a:t>
            </a:r>
            <a:r>
              <a:rPr lang="zh-CN" altLang="en-US" sz="2000" b="1">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电子信息产业</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的</a:t>
            </a:r>
            <a:r>
              <a:rPr lang="zh-CN" altLang="en-US" sz="2000" b="1">
                <a:solidFill>
                  <a:srgbClr val="FF000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基石</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a:t>
            </a:r>
          </a:p>
          <a:p>
            <a:pPr marL="342900" indent="-342900" algn="just" fontAlgn="auto">
              <a:lnSpc>
                <a:spcPct val="150000"/>
              </a:lnSpc>
              <a:buFont typeface="Wingdings" panose="05000000000000000000" charset="0"/>
              <a:buChar char="n"/>
            </a:pP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我国</a:t>
            </a:r>
            <a:r>
              <a:rPr lang="en-US" altLang="zh-CN"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2015</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年发布的《</a:t>
            </a:r>
            <a:r>
              <a:rPr lang="zh-CN" altLang="en-US" sz="2000" b="1">
                <a:solidFill>
                  <a:srgbClr val="FF000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中国制造2025</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》将</a:t>
            </a:r>
            <a:r>
              <a:rPr lang="zh-CN" altLang="en-US" sz="2000" b="1">
                <a:solidFill>
                  <a:srgbClr val="FF000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半导体产业</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列为</a:t>
            </a:r>
            <a:r>
              <a:rPr lang="zh-CN" altLang="en-US" sz="2000" b="1">
                <a:solidFill>
                  <a:srgbClr val="FF000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核心</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产业；</a:t>
            </a:r>
          </a:p>
          <a:p>
            <a:pPr marL="342900" indent="-342900" algn="just" fontAlgn="auto">
              <a:lnSpc>
                <a:spcPct val="150000"/>
              </a:lnSpc>
              <a:buFont typeface="Wingdings" panose="05000000000000000000" charset="0"/>
              <a:buChar char="n"/>
            </a:pPr>
            <a:r>
              <a:rPr lang="zh-CN" altLang="en-US" sz="2000" b="1">
                <a:solidFill>
                  <a:srgbClr val="FF000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半导体产业链</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大致分为</a:t>
            </a:r>
            <a:r>
              <a:rPr lang="zh-CN" altLang="en-US" sz="2000" b="1">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材料</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a:t>
            </a:r>
            <a:r>
              <a:rPr lang="zh-CN" altLang="en-US" sz="2000" b="1">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制造设备</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a:t>
            </a:r>
            <a:r>
              <a:rPr lang="zh-CN" altLang="en-US" sz="2000" b="1">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封装测试</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a:t>
            </a:r>
            <a:r>
              <a:rPr lang="zh-CN" altLang="en-US" sz="2000" b="1">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晶圆代工</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a:t>
            </a:r>
            <a:r>
              <a:rPr lang="zh-CN" altLang="en-US" sz="2000" b="1">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芯片设计</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这</a:t>
            </a:r>
            <a:r>
              <a:rPr lang="en-US" altLang="zh-CN" sz="2000" b="1">
                <a:solidFill>
                  <a:srgbClr val="FF000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5</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大块，其中</a:t>
            </a:r>
            <a:r>
              <a:rPr lang="zh-CN" altLang="en-US" sz="2000" b="1">
                <a:solidFill>
                  <a:srgbClr val="FF000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晶圆代工</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a:t>
            </a:r>
            <a:r>
              <a:rPr lang="zh-CN" altLang="en-US" sz="2000" b="1">
                <a:solidFill>
                  <a:srgbClr val="FF000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芯片设计</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门款最高，是</a:t>
            </a:r>
            <a:r>
              <a:rPr lang="zh-CN" altLang="en-US" sz="2000" b="1">
                <a:solidFill>
                  <a:srgbClr val="FF000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资本</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和</a:t>
            </a:r>
            <a:r>
              <a:rPr lang="zh-CN" altLang="en-US" sz="2000" b="1">
                <a:solidFill>
                  <a:srgbClr val="FF000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人才</a:t>
            </a:r>
            <a:r>
              <a:rPr lang="zh-CN" altLang="en-US" sz="2000">
                <a:solidFill>
                  <a:srgbClr val="002060"/>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最密集的产业。</a:t>
            </a:r>
          </a:p>
        </p:txBody>
      </p:sp>
      <p:sp>
        <p:nvSpPr>
          <p:cNvPr id="5" name="文本框 4"/>
          <p:cNvSpPr txBox="1"/>
          <p:nvPr/>
        </p:nvSpPr>
        <p:spPr>
          <a:xfrm>
            <a:off x="179705" y="1340485"/>
            <a:ext cx="1202055" cy="460375"/>
          </a:xfrm>
          <a:prstGeom prst="rect">
            <a:avLst/>
          </a:prstGeom>
          <a:noFill/>
        </p:spPr>
        <p:txBody>
          <a:bodyPr wrap="square" rtlCol="0">
            <a:spAutoFit/>
          </a:bodyPr>
          <a:lstStyle/>
          <a:p>
            <a:r>
              <a:rPr lang="zh-CN" altLang="en-US" sz="2400" b="1">
                <a:solidFill>
                  <a:srgbClr val="0000FF"/>
                </a:solidFill>
                <a:latin typeface="微软雅黑" panose="020B0503020204020204" charset="-122"/>
                <a:ea typeface="微软雅黑" panose="020B0503020204020204" charset="-122"/>
              </a:rPr>
              <a:t>背景：</a:t>
            </a:r>
          </a:p>
        </p:txBody>
      </p:sp>
      <p:pic>
        <p:nvPicPr>
          <p:cNvPr id="100" name="图片 99"/>
          <p:cNvPicPr/>
          <p:nvPr/>
        </p:nvPicPr>
        <p:blipFill>
          <a:blip r:embed="rId2"/>
          <a:stretch>
            <a:fillRect/>
          </a:stretch>
        </p:blipFill>
        <p:spPr>
          <a:xfrm>
            <a:off x="3058795" y="4365625"/>
            <a:ext cx="3158490" cy="1903730"/>
          </a:xfrm>
          <a:prstGeom prst="rect">
            <a:avLst/>
          </a:prstGeom>
          <a:noFill/>
          <a:ln w="9525">
            <a:noFill/>
          </a:ln>
        </p:spPr>
      </p:pic>
      <p:pic>
        <p:nvPicPr>
          <p:cNvPr id="101" name="图片 100"/>
          <p:cNvPicPr/>
          <p:nvPr/>
        </p:nvPicPr>
        <p:blipFill>
          <a:blip r:embed="rId3"/>
          <a:stretch>
            <a:fillRect/>
          </a:stretch>
        </p:blipFill>
        <p:spPr>
          <a:xfrm>
            <a:off x="394970" y="4365625"/>
            <a:ext cx="2538095" cy="1903095"/>
          </a:xfrm>
          <a:prstGeom prst="rect">
            <a:avLst/>
          </a:prstGeom>
          <a:noFill/>
          <a:ln w="9525">
            <a:noFill/>
          </a:ln>
        </p:spPr>
      </p:pic>
      <p:pic>
        <p:nvPicPr>
          <p:cNvPr id="102" name="图片 101"/>
          <p:cNvPicPr/>
          <p:nvPr/>
        </p:nvPicPr>
        <p:blipFill>
          <a:blip r:embed="rId4"/>
          <a:stretch>
            <a:fillRect/>
          </a:stretch>
        </p:blipFill>
        <p:spPr>
          <a:xfrm>
            <a:off x="6371590" y="4364990"/>
            <a:ext cx="2536190" cy="190309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7315" y="621030"/>
            <a:ext cx="8458200" cy="460375"/>
          </a:xfrm>
          <a:prstGeom prst="rect">
            <a:avLst/>
          </a:prstGeom>
        </p:spPr>
        <p:txBody>
          <a:bodyPr wrap="square">
            <a:spAutoFit/>
          </a:bodyPr>
          <a:lstStyle/>
          <a:p>
            <a:pPr marL="342900" indent="-342900">
              <a:spcBef>
                <a:spcPts val="600"/>
              </a:spcBef>
              <a:buFontTx/>
              <a:buAutoNum type="arabicPeriod"/>
            </a:pPr>
            <a:r>
              <a:rPr lang="zh-CN" altLang="en-US" sz="2400" b="1" dirty="0">
                <a:solidFill>
                  <a:srgbClr val="C00000"/>
                </a:solidFill>
                <a:latin typeface="微软雅黑" panose="020B0503020204020204" charset="-122"/>
                <a:ea typeface="微软雅黑" panose="020B0503020204020204" charset="-122"/>
                <a:cs typeface="Times New Roman" panose="02020603050405020304" charset="0"/>
              </a:rPr>
              <a:t>实验介绍</a:t>
            </a:r>
          </a:p>
        </p:txBody>
      </p:sp>
      <p:sp>
        <p:nvSpPr>
          <p:cNvPr id="7" name="内容占位符 2"/>
          <p:cNvSpPr>
            <a:spLocks noGrp="1"/>
          </p:cNvSpPr>
          <p:nvPr>
            <p:ph idx="1"/>
          </p:nvPr>
        </p:nvSpPr>
        <p:spPr>
          <a:xfrm>
            <a:off x="-90170" y="1196975"/>
            <a:ext cx="8952865" cy="488315"/>
          </a:xfrm>
        </p:spPr>
        <p:txBody>
          <a:bodyPr>
            <a:noAutofit/>
          </a:bodyPr>
          <a:lstStyle/>
          <a:p>
            <a:pPr marL="597535" fontAlgn="auto">
              <a:spcBef>
                <a:spcPts val="500"/>
              </a:spcBef>
              <a:spcAft>
                <a:spcPts val="1200"/>
              </a:spcAft>
              <a:buClr>
                <a:srgbClr val="002060"/>
              </a:buClr>
              <a:buFont typeface="Wingdings" panose="05000000000000000000" charset="0"/>
              <a:buChar char="p"/>
            </a:pPr>
            <a:r>
              <a:rPr lang="en-US" altLang="zh-CN" sz="2000" dirty="0">
                <a:solidFill>
                  <a:srgbClr val="002060"/>
                </a:solidFill>
                <a:latin typeface="Times New Roman" panose="02020603050405020304" charset="0"/>
                <a:ea typeface="微软雅黑" panose="020B0503020204020204" charset="-122"/>
                <a:cs typeface="Times New Roman" panose="02020603050405020304" charset="0"/>
              </a:rPr>
              <a:t> </a:t>
            </a:r>
            <a:r>
              <a:rPr lang="zh-CN" altLang="en-US" sz="2000" dirty="0">
                <a:solidFill>
                  <a:srgbClr val="002060"/>
                </a:solidFill>
                <a:latin typeface="Times New Roman" panose="02020603050405020304" charset="0"/>
                <a:ea typeface="微软雅黑" panose="020B0503020204020204" charset="-122"/>
                <a:cs typeface="Times New Roman" panose="02020603050405020304" charset="0"/>
              </a:rPr>
              <a:t>本课程</a:t>
            </a:r>
            <a:r>
              <a:rPr lang="zh-CN" altLang="en-US" sz="2000" b="1" u="sng" dirty="0">
                <a:solidFill>
                  <a:srgbClr val="002060"/>
                </a:solidFill>
                <a:latin typeface="Times New Roman" panose="02020603050405020304" charset="0"/>
                <a:ea typeface="微软雅黑" panose="020B0503020204020204" charset="-122"/>
                <a:cs typeface="Times New Roman" panose="02020603050405020304" charset="0"/>
              </a:rPr>
              <a:t>所有</a:t>
            </a:r>
            <a:r>
              <a:rPr lang="zh-CN" altLang="en-US" sz="2000" dirty="0">
                <a:solidFill>
                  <a:srgbClr val="002060"/>
                </a:solidFill>
                <a:latin typeface="Times New Roman" panose="02020603050405020304" charset="0"/>
                <a:ea typeface="微软雅黑" panose="020B0503020204020204" charset="-122"/>
                <a:cs typeface="Times New Roman" panose="02020603050405020304" charset="0"/>
              </a:rPr>
              <a:t>实验均基于</a:t>
            </a:r>
            <a:r>
              <a:rPr lang="zh-CN" altLang="en-US" sz="2000" b="1" dirty="0">
                <a:solidFill>
                  <a:srgbClr val="0000FF"/>
                </a:solidFill>
                <a:latin typeface="Times New Roman" panose="02020603050405020304" charset="0"/>
                <a:ea typeface="微软雅黑" panose="020B0503020204020204" charset="-122"/>
                <a:cs typeface="Times New Roman" panose="02020603050405020304" charset="0"/>
              </a:rPr>
              <a:t>半导体工艺和器件仿真软件</a:t>
            </a:r>
            <a:r>
              <a:rPr lang="en-US" altLang="zh-CN" sz="2000" b="1" dirty="0">
                <a:solidFill>
                  <a:srgbClr val="FF0000"/>
                </a:solidFill>
                <a:latin typeface="Times New Roman" panose="02020603050405020304" charset="0"/>
                <a:ea typeface="微软雅黑" panose="020B0503020204020204" charset="-122"/>
                <a:cs typeface="Times New Roman" panose="02020603050405020304" charset="0"/>
              </a:rPr>
              <a:t>Silvaco TCAD</a:t>
            </a:r>
            <a:r>
              <a:rPr lang="zh-CN" altLang="en-US" sz="2000" dirty="0">
                <a:solidFill>
                  <a:srgbClr val="002060"/>
                </a:solidFill>
                <a:latin typeface="Times New Roman" panose="02020603050405020304" charset="0"/>
                <a:ea typeface="微软雅黑" panose="020B0503020204020204" charset="-122"/>
                <a:cs typeface="Times New Roman" panose="02020603050405020304" charset="0"/>
                <a:sym typeface="+mn-ea"/>
              </a:rPr>
              <a:t>。</a:t>
            </a:r>
            <a:endParaRPr lang="zh-CN" altLang="en-US" sz="1800" dirty="0">
              <a:solidFill>
                <a:schemeClr val="tx1"/>
              </a:solidFill>
              <a:latin typeface="Times New Roman" panose="02020603050405020304" charset="0"/>
              <a:ea typeface="微软雅黑" panose="020B0503020204020204" charset="-122"/>
              <a:cs typeface="Times New Roman" panose="02020603050405020304" charset="0"/>
              <a:sym typeface="+mn-ea"/>
            </a:endParaRPr>
          </a:p>
        </p:txBody>
      </p:sp>
      <p:sp>
        <p:nvSpPr>
          <p:cNvPr id="8" name="圆角矩形 7"/>
          <p:cNvSpPr/>
          <p:nvPr/>
        </p:nvSpPr>
        <p:spPr>
          <a:xfrm>
            <a:off x="1223645" y="72390"/>
            <a:ext cx="6696710" cy="360045"/>
          </a:xfrm>
          <a:prstGeom prst="roundRect">
            <a:avLst/>
          </a:prstGeom>
          <a:solidFill>
            <a:schemeClr val="accent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内容占位符 2"/>
          <p:cNvSpPr>
            <a:spLocks noGrp="1"/>
          </p:cNvSpPr>
          <p:nvPr/>
        </p:nvSpPr>
        <p:spPr>
          <a:xfrm>
            <a:off x="191135" y="2997200"/>
            <a:ext cx="8517255" cy="3142615"/>
          </a:xfrm>
          <a:prstGeom prst="rect">
            <a:avLst/>
          </a:prstGeom>
        </p:spPr>
        <p:txBody>
          <a:bodyPr vert="horz">
            <a:noAutofit/>
          </a:bodyPr>
          <a:lst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899795" indent="-457200" fontAlgn="auto">
              <a:spcBef>
                <a:spcPts val="500"/>
              </a:spcBef>
              <a:spcAft>
                <a:spcPts val="1200"/>
              </a:spcAft>
              <a:buClr>
                <a:srgbClr val="002060"/>
              </a:buClr>
              <a:buFont typeface="Wingdings" panose="05000000000000000000" charset="0"/>
              <a:buChar char="l"/>
            </a:pPr>
            <a:r>
              <a:rPr lang="en-US" altLang="zh-CN" sz="2000" b="1" dirty="0">
                <a:solidFill>
                  <a:srgbClr val="FF0000"/>
                </a:solidFill>
                <a:latin typeface="Times New Roman" panose="02020603050405020304" charset="0"/>
                <a:ea typeface="微软雅黑" panose="020B0503020204020204" charset="-122"/>
                <a:cs typeface="Times New Roman" panose="02020603050405020304" charset="0"/>
                <a:sym typeface="+mn-ea"/>
              </a:rPr>
              <a:t>Silvaco TCAD</a:t>
            </a:r>
            <a:r>
              <a:rPr lang="zh-CN" altLang="en-US" sz="2000" b="1" dirty="0">
                <a:solidFill>
                  <a:schemeClr val="tx1"/>
                </a:solidFill>
                <a:latin typeface="Times New Roman" panose="02020603050405020304" charset="0"/>
                <a:ea typeface="微软雅黑" panose="020B0503020204020204" charset="-122"/>
                <a:cs typeface="Times New Roman" panose="02020603050405020304" charset="0"/>
              </a:rPr>
              <a:t>软件基本信息介绍</a:t>
            </a:r>
          </a:p>
          <a:p>
            <a:pPr marL="1259840" indent="-457200" fontAlgn="auto">
              <a:spcBef>
                <a:spcPts val="500"/>
              </a:spcBef>
              <a:spcAft>
                <a:spcPts val="1200"/>
              </a:spcAft>
              <a:buClr>
                <a:srgbClr val="002060"/>
              </a:buClr>
              <a:buFont typeface="+mj-ea"/>
              <a:buAutoNum type="circleNumDbPlain"/>
            </a:pPr>
            <a:r>
              <a:rPr lang="en-US" altLang="zh-CN" sz="1800" dirty="0">
                <a:latin typeface="Times New Roman" panose="02020603050405020304" charset="0"/>
                <a:ea typeface="微软雅黑" panose="020B0503020204020204" charset="-122"/>
                <a:cs typeface="Times New Roman" panose="02020603050405020304" charset="0"/>
                <a:sym typeface="+mn-ea"/>
              </a:rPr>
              <a:t>Silvaco</a:t>
            </a:r>
            <a:r>
              <a:rPr lang="zh-CN" altLang="en-US" sz="1800" dirty="0">
                <a:latin typeface="Times New Roman" panose="02020603050405020304" charset="0"/>
                <a:ea typeface="微软雅黑" panose="020B0503020204020204" charset="-122"/>
                <a:cs typeface="Times New Roman" panose="02020603050405020304" charset="0"/>
                <a:sym typeface="+mn-ea"/>
              </a:rPr>
              <a:t>：</a:t>
            </a:r>
            <a:r>
              <a:rPr lang="en-US" altLang="zh-CN" sz="1800" b="1" dirty="0">
                <a:solidFill>
                  <a:srgbClr val="0000FF"/>
                </a:solidFill>
                <a:latin typeface="Times New Roman" panose="02020603050405020304" charset="0"/>
                <a:ea typeface="微软雅黑" panose="020B0503020204020204" charset="-122"/>
                <a:cs typeface="Times New Roman" panose="02020603050405020304" charset="0"/>
                <a:sym typeface="+mn-ea"/>
              </a:rPr>
              <a:t>sil</a:t>
            </a:r>
            <a:r>
              <a:rPr lang="en-US" altLang="zh-CN" sz="1800" b="1" dirty="0">
                <a:solidFill>
                  <a:schemeClr val="tx1"/>
                </a:solidFill>
                <a:latin typeface="Times New Roman" panose="02020603050405020304" charset="0"/>
                <a:ea typeface="微软雅黑" panose="020B0503020204020204" charset="-122"/>
                <a:cs typeface="Times New Roman" panose="02020603050405020304" charset="0"/>
                <a:sym typeface="+mn-ea"/>
              </a:rPr>
              <a:t>icon</a:t>
            </a:r>
            <a:r>
              <a:rPr lang="en-US" altLang="zh-CN" sz="1800" dirty="0">
                <a:latin typeface="Times New Roman" panose="02020603050405020304" charset="0"/>
                <a:ea typeface="微软雅黑" panose="020B0503020204020204" charset="-122"/>
                <a:cs typeface="Times New Roman" panose="02020603050405020304" charset="0"/>
                <a:sym typeface="+mn-ea"/>
              </a:rPr>
              <a:t>:</a:t>
            </a:r>
            <a:r>
              <a:rPr lang="zh-CN" altLang="en-US" sz="1800" dirty="0">
                <a:latin typeface="Times New Roman" panose="02020603050405020304" charset="0"/>
                <a:ea typeface="微软雅黑" panose="020B0503020204020204" charset="-122"/>
                <a:cs typeface="Times New Roman" panose="02020603050405020304" charset="0"/>
                <a:sym typeface="+mn-ea"/>
              </a:rPr>
              <a:t>硅；</a:t>
            </a:r>
            <a:r>
              <a:rPr lang="en-US" altLang="zh-CN" sz="1800" b="1" dirty="0">
                <a:solidFill>
                  <a:srgbClr val="0000FF"/>
                </a:solidFill>
                <a:latin typeface="Times New Roman" panose="02020603050405020304" charset="0"/>
                <a:ea typeface="微软雅黑" panose="020B0503020204020204" charset="-122"/>
                <a:cs typeface="Times New Roman" panose="02020603050405020304" charset="0"/>
                <a:sym typeface="+mn-ea"/>
              </a:rPr>
              <a:t>va</a:t>
            </a:r>
            <a:r>
              <a:rPr lang="en-US" altLang="zh-CN" sz="1800" b="1" dirty="0">
                <a:solidFill>
                  <a:schemeClr val="tx1"/>
                </a:solidFill>
                <a:latin typeface="Times New Roman" panose="02020603050405020304" charset="0"/>
                <a:ea typeface="微软雅黑" panose="020B0503020204020204" charset="-122"/>
                <a:cs typeface="Times New Roman" panose="02020603050405020304" charset="0"/>
                <a:sym typeface="+mn-ea"/>
              </a:rPr>
              <a:t>lley</a:t>
            </a:r>
            <a:r>
              <a:rPr lang="en-US" altLang="zh-CN" sz="1800" dirty="0">
                <a:latin typeface="Times New Roman" panose="02020603050405020304" charset="0"/>
                <a:ea typeface="微软雅黑" panose="020B0503020204020204" charset="-122"/>
                <a:cs typeface="Times New Roman" panose="02020603050405020304" charset="0"/>
                <a:sym typeface="+mn-ea"/>
              </a:rPr>
              <a:t>:</a:t>
            </a:r>
            <a:r>
              <a:rPr lang="zh-CN" altLang="en-US" sz="1800" dirty="0">
                <a:latin typeface="Times New Roman" panose="02020603050405020304" charset="0"/>
                <a:ea typeface="微软雅黑" panose="020B0503020204020204" charset="-122"/>
                <a:cs typeface="Times New Roman" panose="02020603050405020304" charset="0"/>
                <a:sym typeface="+mn-ea"/>
              </a:rPr>
              <a:t>谷；</a:t>
            </a:r>
            <a:r>
              <a:rPr lang="en-US" altLang="zh-CN" sz="1800" b="1" dirty="0">
                <a:solidFill>
                  <a:srgbClr val="0000FF"/>
                </a:solidFill>
                <a:latin typeface="Times New Roman" panose="02020603050405020304" charset="0"/>
                <a:ea typeface="微软雅黑" panose="020B0503020204020204" charset="-122"/>
                <a:cs typeface="Times New Roman" panose="02020603050405020304" charset="0"/>
                <a:sym typeface="+mn-ea"/>
              </a:rPr>
              <a:t>co</a:t>
            </a:r>
            <a:r>
              <a:rPr lang="en-US" altLang="zh-CN" sz="1800" b="1" dirty="0">
                <a:solidFill>
                  <a:schemeClr val="tx1"/>
                </a:solidFill>
                <a:latin typeface="Times New Roman" panose="02020603050405020304" charset="0"/>
                <a:ea typeface="微软雅黑" panose="020B0503020204020204" charset="-122"/>
                <a:cs typeface="Times New Roman" panose="02020603050405020304" charset="0"/>
                <a:sym typeface="+mn-ea"/>
              </a:rPr>
              <a:t>mpany</a:t>
            </a:r>
            <a:r>
              <a:rPr lang="en-US" altLang="zh-CN" sz="1800" b="1" dirty="0">
                <a:solidFill>
                  <a:srgbClr val="0000FF"/>
                </a:solidFill>
                <a:latin typeface="Times New Roman" panose="02020603050405020304" charset="0"/>
                <a:ea typeface="微软雅黑" panose="020B0503020204020204" charset="-122"/>
                <a:cs typeface="Times New Roman" panose="02020603050405020304" charset="0"/>
                <a:sym typeface="+mn-ea"/>
              </a:rPr>
              <a:t>:</a:t>
            </a:r>
            <a:r>
              <a:rPr lang="zh-CN" altLang="en-US" sz="1800" dirty="0">
                <a:latin typeface="Times New Roman" panose="02020603050405020304" charset="0"/>
                <a:ea typeface="微软雅黑" panose="020B0503020204020204" charset="-122"/>
                <a:cs typeface="Times New Roman" panose="02020603050405020304" charset="0"/>
                <a:sym typeface="+mn-ea"/>
              </a:rPr>
              <a:t>公司；</a:t>
            </a:r>
          </a:p>
          <a:p>
            <a:pPr marL="1259840" indent="-457200" fontAlgn="auto">
              <a:spcBef>
                <a:spcPts val="500"/>
              </a:spcBef>
              <a:spcAft>
                <a:spcPts val="1200"/>
              </a:spcAft>
              <a:buClr>
                <a:srgbClr val="002060"/>
              </a:buClr>
              <a:buFont typeface="+mj-ea"/>
              <a:buAutoNum type="circleNumDbPlain"/>
            </a:pPr>
            <a:r>
              <a:rPr lang="zh-CN" altLang="en-US" sz="1800" dirty="0">
                <a:solidFill>
                  <a:schemeClr val="tx1"/>
                </a:solidFill>
                <a:latin typeface="Times New Roman" panose="02020603050405020304" charset="0"/>
                <a:ea typeface="微软雅黑" panose="020B0503020204020204" charset="-122"/>
                <a:cs typeface="Times New Roman" panose="02020603050405020304" charset="0"/>
              </a:rPr>
              <a:t> TCAD：</a:t>
            </a:r>
            <a:r>
              <a:rPr lang="en-US" altLang="zh-CN" sz="1800" b="1" dirty="0">
                <a:solidFill>
                  <a:srgbClr val="0000FF"/>
                </a:solidFill>
                <a:latin typeface="Times New Roman" panose="02020603050405020304" charset="0"/>
                <a:ea typeface="微软雅黑" panose="020B0503020204020204" charset="-122"/>
                <a:cs typeface="Times New Roman" panose="02020603050405020304" charset="0"/>
              </a:rPr>
              <a:t>T</a:t>
            </a:r>
            <a:r>
              <a:rPr lang="en-US" altLang="zh-CN" sz="1800" dirty="0">
                <a:solidFill>
                  <a:schemeClr val="tx1"/>
                </a:solidFill>
                <a:latin typeface="Times New Roman" panose="02020603050405020304" charset="0"/>
                <a:ea typeface="微软雅黑" panose="020B0503020204020204" charset="-122"/>
                <a:cs typeface="Times New Roman" panose="02020603050405020304" charset="0"/>
              </a:rPr>
              <a:t>echnology </a:t>
            </a:r>
            <a:r>
              <a:rPr lang="en-US" altLang="zh-CN" sz="1800" b="1" dirty="0">
                <a:solidFill>
                  <a:srgbClr val="0000FF"/>
                </a:solidFill>
                <a:latin typeface="Times New Roman" panose="02020603050405020304" charset="0"/>
                <a:ea typeface="微软雅黑" panose="020B0503020204020204" charset="-122"/>
                <a:cs typeface="Times New Roman" panose="02020603050405020304" charset="0"/>
              </a:rPr>
              <a:t>C</a:t>
            </a:r>
            <a:r>
              <a:rPr lang="en-US" altLang="zh-CN" sz="1800" dirty="0">
                <a:solidFill>
                  <a:schemeClr val="tx1"/>
                </a:solidFill>
                <a:latin typeface="Times New Roman" panose="02020603050405020304" charset="0"/>
                <a:ea typeface="微软雅黑" panose="020B0503020204020204" charset="-122"/>
                <a:cs typeface="Times New Roman" panose="02020603050405020304" charset="0"/>
              </a:rPr>
              <a:t>omputer </a:t>
            </a:r>
            <a:r>
              <a:rPr lang="en-US" altLang="zh-CN" sz="1800" b="1" dirty="0">
                <a:solidFill>
                  <a:srgbClr val="0000FF"/>
                </a:solidFill>
                <a:latin typeface="Times New Roman" panose="02020603050405020304" charset="0"/>
                <a:ea typeface="微软雅黑" panose="020B0503020204020204" charset="-122"/>
                <a:cs typeface="Times New Roman" panose="02020603050405020304" charset="0"/>
              </a:rPr>
              <a:t>A</a:t>
            </a:r>
            <a:r>
              <a:rPr lang="en-US" altLang="zh-CN" sz="1800" dirty="0">
                <a:solidFill>
                  <a:schemeClr val="tx1"/>
                </a:solidFill>
                <a:latin typeface="Times New Roman" panose="02020603050405020304" charset="0"/>
                <a:ea typeface="微软雅黑" panose="020B0503020204020204" charset="-122"/>
                <a:cs typeface="Times New Roman" panose="02020603050405020304" charset="0"/>
              </a:rPr>
              <a:t>ided </a:t>
            </a:r>
            <a:r>
              <a:rPr lang="en-US" altLang="zh-CN" sz="1800" b="1" dirty="0">
                <a:solidFill>
                  <a:srgbClr val="0000FF"/>
                </a:solidFill>
                <a:latin typeface="Times New Roman" panose="02020603050405020304" charset="0"/>
                <a:ea typeface="微软雅黑" panose="020B0503020204020204" charset="-122"/>
                <a:cs typeface="Times New Roman" panose="02020603050405020304" charset="0"/>
              </a:rPr>
              <a:t>D</a:t>
            </a:r>
            <a:r>
              <a:rPr lang="en-US" altLang="zh-CN" sz="1800" dirty="0">
                <a:solidFill>
                  <a:schemeClr val="tx1"/>
                </a:solidFill>
                <a:latin typeface="Times New Roman" panose="02020603050405020304" charset="0"/>
                <a:ea typeface="微软雅黑" panose="020B0503020204020204" charset="-122"/>
                <a:cs typeface="Times New Roman" panose="02020603050405020304" charset="0"/>
              </a:rPr>
              <a:t>esign</a:t>
            </a:r>
            <a:r>
              <a:rPr lang="zh-CN" altLang="en-US" sz="1800" dirty="0">
                <a:solidFill>
                  <a:schemeClr val="tx1"/>
                </a:solidFill>
                <a:latin typeface="Times New Roman" panose="02020603050405020304" charset="0"/>
                <a:ea typeface="微软雅黑" panose="020B0503020204020204" charset="-122"/>
                <a:cs typeface="Times New Roman" panose="02020603050405020304" charset="0"/>
              </a:rPr>
              <a:t>；</a:t>
            </a:r>
          </a:p>
          <a:p>
            <a:pPr marL="1259840" indent="-457200" fontAlgn="auto">
              <a:spcBef>
                <a:spcPts val="500"/>
              </a:spcBef>
              <a:spcAft>
                <a:spcPts val="1200"/>
              </a:spcAft>
              <a:buClr>
                <a:srgbClr val="002060"/>
              </a:buClr>
              <a:buFont typeface="+mj-ea"/>
              <a:buAutoNum type="circleNumDbPlain"/>
            </a:pPr>
            <a:r>
              <a:rPr lang="zh-CN" altLang="en-US" sz="1800" dirty="0">
                <a:solidFill>
                  <a:schemeClr val="tx1"/>
                </a:solidFill>
                <a:latin typeface="Times New Roman" panose="02020603050405020304" charset="0"/>
                <a:ea typeface="微软雅黑" panose="020B0503020204020204" charset="-122"/>
                <a:cs typeface="Times New Roman" panose="02020603050405020304" charset="0"/>
              </a:rPr>
              <a:t>来自美国硅谷的</a:t>
            </a:r>
            <a:r>
              <a:rPr lang="en-US" altLang="zh-CN" sz="1800" dirty="0">
                <a:solidFill>
                  <a:schemeClr val="tx1"/>
                </a:solidFill>
                <a:latin typeface="Times New Roman" panose="02020603050405020304" charset="0"/>
                <a:ea typeface="微软雅黑" panose="020B0503020204020204" charset="-122"/>
                <a:cs typeface="Times New Roman" panose="02020603050405020304" charset="0"/>
              </a:rPr>
              <a:t>Silvaco</a:t>
            </a:r>
            <a:r>
              <a:rPr lang="zh-CN" altLang="en-US" sz="1800" dirty="0">
                <a:solidFill>
                  <a:schemeClr val="tx1"/>
                </a:solidFill>
                <a:latin typeface="Times New Roman" panose="02020603050405020304" charset="0"/>
                <a:ea typeface="微软雅黑" panose="020B0503020204020204" charset="-122"/>
                <a:cs typeface="Times New Roman" panose="02020603050405020304" charset="0"/>
              </a:rPr>
              <a:t>公司；</a:t>
            </a:r>
          </a:p>
          <a:p>
            <a:pPr marL="1259840" indent="-457200" fontAlgn="auto">
              <a:spcBef>
                <a:spcPts val="500"/>
              </a:spcBef>
              <a:spcAft>
                <a:spcPts val="1200"/>
              </a:spcAft>
              <a:buClr>
                <a:srgbClr val="002060"/>
              </a:buClr>
              <a:buFont typeface="+mj-ea"/>
              <a:buAutoNum type="circleNumDbPlain"/>
            </a:pPr>
            <a:r>
              <a:rPr lang="zh-CN" altLang="en-US" sz="1800" b="1" dirty="0">
                <a:solidFill>
                  <a:srgbClr val="FF0000"/>
                </a:solidFill>
                <a:latin typeface="Times New Roman" panose="02020603050405020304" charset="0"/>
                <a:ea typeface="微软雅黑" panose="020B0503020204020204" charset="-122"/>
                <a:cs typeface="Times New Roman" panose="02020603050405020304" charset="0"/>
              </a:rPr>
              <a:t>Silvaco TCAD</a:t>
            </a:r>
            <a:r>
              <a:rPr lang="zh-CN" altLang="en-US" sz="1800" dirty="0">
                <a:solidFill>
                  <a:schemeClr val="tx1"/>
                </a:solidFill>
                <a:latin typeface="Times New Roman" panose="02020603050405020304" charset="0"/>
                <a:ea typeface="微软雅黑" panose="020B0503020204020204" charset="-122"/>
                <a:cs typeface="Times New Roman" panose="02020603050405020304" charset="0"/>
              </a:rPr>
              <a:t>是目前商用最成功的半导体工艺和器件仿真软件</a:t>
            </a:r>
            <a:r>
              <a:rPr lang="zh-CN" altLang="en-US" sz="1800" b="1" dirty="0">
                <a:solidFill>
                  <a:schemeClr val="tx1"/>
                </a:solidFill>
                <a:latin typeface="Times New Roman" panose="02020603050405020304" charset="0"/>
                <a:ea typeface="微软雅黑" panose="020B0503020204020204" charset="-122"/>
                <a:cs typeface="Times New Roman" panose="02020603050405020304" charset="0"/>
              </a:rPr>
              <a:t>之一</a:t>
            </a:r>
            <a:r>
              <a:rPr lang="zh-CN" altLang="en-US" sz="1800" dirty="0">
                <a:solidFill>
                  <a:schemeClr val="tx1"/>
                </a:solidFill>
                <a:latin typeface="Times New Roman" panose="02020603050405020304" charset="0"/>
                <a:ea typeface="微软雅黑" panose="020B0503020204020204" charset="-122"/>
                <a:cs typeface="Times New Roman" panose="02020603050405020304" charset="0"/>
              </a:rPr>
              <a:t>；</a:t>
            </a:r>
          </a:p>
          <a:p>
            <a:pPr marL="1259840" indent="-457200" fontAlgn="auto">
              <a:spcBef>
                <a:spcPts val="500"/>
              </a:spcBef>
              <a:spcAft>
                <a:spcPts val="1200"/>
              </a:spcAft>
              <a:buClr>
                <a:srgbClr val="002060"/>
              </a:buClr>
              <a:buFont typeface="+mj-ea"/>
              <a:buAutoNum type="circleNumDbPlain"/>
            </a:pPr>
            <a:r>
              <a:rPr lang="zh-CN" altLang="en-US" sz="1800" dirty="0">
                <a:latin typeface="Times New Roman" panose="02020603050405020304" charset="0"/>
                <a:ea typeface="微软雅黑" panose="020B0503020204020204" charset="-122"/>
                <a:cs typeface="Times New Roman" panose="02020603050405020304" charset="0"/>
                <a:sym typeface="+mn-ea"/>
              </a:rPr>
              <a:t>Silvaco公司是目前世界上</a:t>
            </a:r>
            <a:r>
              <a:rPr lang="zh-CN" altLang="en-US" sz="1800" b="1" dirty="0">
                <a:latin typeface="Times New Roman" panose="02020603050405020304" charset="0"/>
                <a:ea typeface="微软雅黑" panose="020B0503020204020204" charset="-122"/>
                <a:cs typeface="Times New Roman" panose="02020603050405020304" charset="0"/>
                <a:sym typeface="+mn-ea"/>
              </a:rPr>
              <a:t>唯一</a:t>
            </a:r>
            <a:r>
              <a:rPr lang="zh-CN" altLang="en-US" sz="1800" dirty="0">
                <a:latin typeface="Times New Roman" panose="02020603050405020304" charset="0"/>
                <a:ea typeface="微软雅黑" panose="020B0503020204020204" charset="-122"/>
                <a:cs typeface="Times New Roman" panose="02020603050405020304" charset="0"/>
                <a:sym typeface="+mn-ea"/>
              </a:rPr>
              <a:t>能够给</a:t>
            </a:r>
            <a:r>
              <a:rPr lang="en-US" altLang="zh-CN" sz="1800" dirty="0">
                <a:latin typeface="Times New Roman" panose="02020603050405020304" charset="0"/>
                <a:ea typeface="微软雅黑" panose="020B0503020204020204" charset="-122"/>
                <a:cs typeface="Times New Roman" panose="02020603050405020304" charset="0"/>
                <a:sym typeface="+mn-ea"/>
              </a:rPr>
              <a:t>Foundry(</a:t>
            </a:r>
            <a:r>
              <a:rPr lang="zh-CN" altLang="en-US" sz="1800" dirty="0">
                <a:latin typeface="Times New Roman" panose="02020603050405020304" charset="0"/>
                <a:ea typeface="微软雅黑" panose="020B0503020204020204" charset="-122"/>
                <a:cs typeface="Times New Roman" panose="02020603050405020304" charset="0"/>
                <a:sym typeface="+mn-ea"/>
              </a:rPr>
              <a:t>芯片代工厂</a:t>
            </a:r>
            <a:r>
              <a:rPr lang="en-US" altLang="zh-CN" sz="1800" dirty="0">
                <a:latin typeface="Times New Roman" panose="02020603050405020304" charset="0"/>
                <a:ea typeface="微软雅黑" panose="020B0503020204020204" charset="-122"/>
                <a:cs typeface="Times New Roman" panose="02020603050405020304" charset="0"/>
                <a:sym typeface="+mn-ea"/>
              </a:rPr>
              <a:t>)</a:t>
            </a:r>
            <a:r>
              <a:rPr lang="zh-CN" altLang="en-US" sz="1800" dirty="0">
                <a:latin typeface="Times New Roman" panose="02020603050405020304" charset="0"/>
                <a:ea typeface="微软雅黑" panose="020B0503020204020204" charset="-122"/>
                <a:cs typeface="Times New Roman" panose="02020603050405020304" charset="0"/>
                <a:sym typeface="+mn-ea"/>
              </a:rPr>
              <a:t>提供最完整的解决方案和</a:t>
            </a:r>
            <a:r>
              <a:rPr lang="en-US" altLang="zh-CN" sz="1800" dirty="0">
                <a:latin typeface="Times New Roman" panose="02020603050405020304" charset="0"/>
                <a:ea typeface="微软雅黑" panose="020B0503020204020204" charset="-122"/>
                <a:cs typeface="Times New Roman" panose="02020603050405020304" charset="0"/>
                <a:sym typeface="+mn-ea"/>
              </a:rPr>
              <a:t>IC</a:t>
            </a:r>
            <a:r>
              <a:rPr lang="zh-CN" altLang="en-US" sz="1800" dirty="0">
                <a:latin typeface="Times New Roman" panose="02020603050405020304" charset="0"/>
                <a:ea typeface="微软雅黑" panose="020B0503020204020204" charset="-122"/>
                <a:cs typeface="Times New Roman" panose="02020603050405020304" charset="0"/>
                <a:sym typeface="+mn-ea"/>
              </a:rPr>
              <a:t>软件的厂商。</a:t>
            </a:r>
            <a:endParaRPr lang="zh-CN" altLang="en-US" sz="1800" dirty="0">
              <a:solidFill>
                <a:schemeClr val="tx1"/>
              </a:solidFill>
              <a:latin typeface="Times New Roman" panose="02020603050405020304" charset="0"/>
              <a:ea typeface="微软雅黑" panose="020B0503020204020204" charset="-122"/>
              <a:cs typeface="Times New Roman" panose="02020603050405020304" charset="0"/>
              <a:sym typeface="+mn-ea"/>
            </a:endParaRPr>
          </a:p>
        </p:txBody>
      </p:sp>
      <p:sp>
        <p:nvSpPr>
          <p:cNvPr id="9" name="内容占位符 2"/>
          <p:cNvSpPr>
            <a:spLocks noGrp="1"/>
          </p:cNvSpPr>
          <p:nvPr/>
        </p:nvSpPr>
        <p:spPr>
          <a:xfrm>
            <a:off x="180975" y="1772285"/>
            <a:ext cx="8628380" cy="1259205"/>
          </a:xfrm>
          <a:prstGeom prst="rect">
            <a:avLst/>
          </a:prstGeom>
        </p:spPr>
        <p:txBody>
          <a:bodyPr vert="horz">
            <a:noAutofit/>
          </a:bodyPr>
          <a:lst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899795" indent="-457200" fontAlgn="auto">
              <a:spcBef>
                <a:spcPts val="500"/>
              </a:spcBef>
              <a:spcAft>
                <a:spcPts val="1200"/>
              </a:spcAft>
              <a:buClr>
                <a:srgbClr val="002060"/>
              </a:buClr>
              <a:buFont typeface="Wingdings" panose="05000000000000000000" charset="0"/>
              <a:buChar char="l"/>
            </a:pPr>
            <a:r>
              <a:rPr lang="zh-CN" sz="2000" b="1" dirty="0">
                <a:solidFill>
                  <a:srgbClr val="FF0000"/>
                </a:solidFill>
                <a:latin typeface="Times New Roman" panose="02020603050405020304" charset="0"/>
                <a:ea typeface="微软雅黑" panose="020B0503020204020204" charset="-122"/>
                <a:cs typeface="Times New Roman" panose="02020603050405020304" charset="0"/>
                <a:sym typeface="+mn-ea"/>
              </a:rPr>
              <a:t>为什么</a:t>
            </a:r>
            <a:r>
              <a:rPr lang="zh-CN" altLang="en-US" sz="2000" b="1" dirty="0">
                <a:solidFill>
                  <a:schemeClr val="tx1"/>
                </a:solidFill>
                <a:latin typeface="Times New Roman" panose="02020603050405020304" charset="0"/>
                <a:ea typeface="微软雅黑" panose="020B0503020204020204" charset="-122"/>
                <a:cs typeface="Times New Roman" panose="02020603050405020304" charset="0"/>
              </a:rPr>
              <a:t>要学习半导体工艺和器件仿真技术？</a:t>
            </a:r>
          </a:p>
          <a:p>
            <a:pPr marL="1242695" indent="-342900" fontAlgn="auto">
              <a:spcBef>
                <a:spcPts val="500"/>
              </a:spcBef>
              <a:spcAft>
                <a:spcPts val="1200"/>
              </a:spcAft>
              <a:buClr>
                <a:srgbClr val="002060"/>
              </a:buClr>
              <a:buFont typeface="+mj-ea"/>
              <a:buAutoNum type="circleNumDbPlain"/>
            </a:pPr>
            <a:r>
              <a:rPr lang="zh-CN" altLang="en-US" sz="1600"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模拟</a:t>
            </a:r>
            <a:r>
              <a:rPr lang="zh-CN" altLang="en-US" sz="1600"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rPr>
              <a:t>仿真可以为</a:t>
            </a:r>
            <a:r>
              <a:rPr lang="zh-CN" altLang="en-US" sz="16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rPr>
              <a:t>半导体器件</a:t>
            </a:r>
            <a:r>
              <a:rPr lang="zh-CN" altLang="en-US" sz="1600"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rPr>
              <a:t>和</a:t>
            </a:r>
            <a:r>
              <a:rPr lang="zh-CN" altLang="en-US" sz="16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rPr>
              <a:t>集成电路</a:t>
            </a:r>
            <a:r>
              <a:rPr lang="zh-CN" altLang="en-US" sz="1600"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rPr>
              <a:t>的</a:t>
            </a:r>
            <a:r>
              <a:rPr lang="zh-CN" altLang="en-US" sz="16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rPr>
              <a:t>研发</a:t>
            </a:r>
            <a:r>
              <a:rPr lang="zh-CN" altLang="en-US" sz="1600"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rPr>
              <a:t>、</a:t>
            </a:r>
            <a:r>
              <a:rPr lang="zh-CN" altLang="en-US" sz="16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rPr>
              <a:t>测试</a:t>
            </a:r>
            <a:r>
              <a:rPr lang="zh-CN" altLang="en-US" sz="1600"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rPr>
              <a:t>和</a:t>
            </a:r>
            <a:r>
              <a:rPr lang="zh-CN" altLang="en-US" sz="16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rPr>
              <a:t>生产</a:t>
            </a:r>
            <a:r>
              <a:rPr lang="zh-CN" altLang="en-US" sz="1600"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rPr>
              <a:t>提供</a:t>
            </a:r>
            <a:r>
              <a:rPr lang="zh-CN" altLang="en-US" sz="1600" b="1" dirty="0">
                <a:solidFill>
                  <a:srgbClr val="FF0000"/>
                </a:solidFill>
                <a:latin typeface="Times New Roman" panose="02020603050405020304" charset="0"/>
                <a:ea typeface="微软雅黑" panose="020B0503020204020204" charset="-122"/>
                <a:cs typeface="Times New Roman" panose="02020603050405020304" charset="0"/>
              </a:rPr>
              <a:t>指导</a:t>
            </a:r>
            <a:r>
              <a:rPr lang="zh-CN" altLang="en-US" sz="1600"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rPr>
              <a:t>，同时</a:t>
            </a:r>
            <a:r>
              <a:rPr lang="zh-CN" altLang="en-US" sz="1600" b="1" dirty="0">
                <a:solidFill>
                  <a:srgbClr val="FF0000"/>
                </a:solidFill>
                <a:latin typeface="Times New Roman" panose="02020603050405020304" charset="0"/>
                <a:ea typeface="微软雅黑" panose="020B0503020204020204" charset="-122"/>
                <a:cs typeface="Times New Roman" panose="02020603050405020304" charset="0"/>
              </a:rPr>
              <a:t>降低</a:t>
            </a:r>
            <a:r>
              <a:rPr lang="zh-CN" altLang="en-US" sz="1600"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rPr>
              <a:t>高昂的研发成本、</a:t>
            </a:r>
            <a:r>
              <a:rPr lang="zh-CN" altLang="en-US" sz="1600" b="1" dirty="0">
                <a:solidFill>
                  <a:srgbClr val="FF0000"/>
                </a:solidFill>
                <a:latin typeface="Times New Roman" panose="02020603050405020304" charset="0"/>
                <a:ea typeface="微软雅黑" panose="020B0503020204020204" charset="-122"/>
                <a:cs typeface="Times New Roman" panose="02020603050405020304" charset="0"/>
              </a:rPr>
              <a:t>缩短</a:t>
            </a:r>
            <a:r>
              <a:rPr lang="zh-CN" altLang="en-US" sz="1600"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rPr>
              <a:t>开发周期和</a:t>
            </a:r>
            <a:r>
              <a:rPr lang="zh-CN" altLang="en-US" sz="1600" b="1" dirty="0">
                <a:solidFill>
                  <a:srgbClr val="FF0000"/>
                </a:solidFill>
                <a:latin typeface="Times New Roman" panose="02020603050405020304" charset="0"/>
                <a:ea typeface="微软雅黑" panose="020B0503020204020204" charset="-122"/>
                <a:cs typeface="Times New Roman" panose="02020603050405020304" charset="0"/>
              </a:rPr>
              <a:t>提高</a:t>
            </a:r>
            <a:r>
              <a:rPr lang="zh-CN" altLang="en-US" sz="1600"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rPr>
              <a:t>成品率。</a:t>
            </a:r>
            <a:endParaRPr lang="zh-CN" altLang="en-US" sz="1600"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7315" y="549275"/>
            <a:ext cx="8458200" cy="460375"/>
          </a:xfrm>
          <a:prstGeom prst="rect">
            <a:avLst/>
          </a:prstGeom>
        </p:spPr>
        <p:txBody>
          <a:bodyPr wrap="square">
            <a:spAutoFit/>
          </a:bodyPr>
          <a:lstStyle/>
          <a:p>
            <a:pPr marL="342900" indent="-342900">
              <a:spcBef>
                <a:spcPts val="600"/>
              </a:spcBef>
              <a:buFontTx/>
              <a:buAutoNum type="arabicPeriod"/>
            </a:pPr>
            <a:r>
              <a:rPr lang="zh-CN" altLang="en-US" sz="2400" b="1" dirty="0">
                <a:solidFill>
                  <a:srgbClr val="C00000"/>
                </a:solidFill>
                <a:latin typeface="微软雅黑" panose="020B0503020204020204" charset="-122"/>
                <a:ea typeface="微软雅黑" panose="020B0503020204020204" charset="-122"/>
                <a:cs typeface="Times New Roman" panose="02020603050405020304" charset="0"/>
              </a:rPr>
              <a:t>实验介绍</a:t>
            </a:r>
          </a:p>
        </p:txBody>
      </p:sp>
      <p:sp>
        <p:nvSpPr>
          <p:cNvPr id="8" name="圆角矩形 7"/>
          <p:cNvSpPr/>
          <p:nvPr/>
        </p:nvSpPr>
        <p:spPr>
          <a:xfrm>
            <a:off x="1223645" y="72390"/>
            <a:ext cx="6696710" cy="360045"/>
          </a:xfrm>
          <a:prstGeom prst="roundRect">
            <a:avLst/>
          </a:prstGeom>
          <a:solidFill>
            <a:schemeClr val="accent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1"/>
          </p:nvPr>
        </p:nvSpPr>
        <p:spPr>
          <a:xfrm>
            <a:off x="-161925" y="981710"/>
            <a:ext cx="9097645" cy="1436370"/>
          </a:xfrm>
        </p:spPr>
        <p:txBody>
          <a:bodyPr>
            <a:noAutofit/>
          </a:bodyPr>
          <a:lstStyle/>
          <a:p>
            <a:pPr marL="899795" indent="-457200" fontAlgn="auto">
              <a:spcBef>
                <a:spcPts val="500"/>
              </a:spcBef>
              <a:spcAft>
                <a:spcPts val="1200"/>
              </a:spcAft>
              <a:buClr>
                <a:srgbClr val="002060"/>
              </a:buClr>
              <a:buFont typeface="Wingdings" panose="05000000000000000000" charset="0"/>
              <a:buChar char="l"/>
            </a:pPr>
            <a:r>
              <a:rPr lang="en-US" altLang="zh-CN" sz="2000" b="1" dirty="0">
                <a:solidFill>
                  <a:srgbClr val="FF0000"/>
                </a:solidFill>
                <a:latin typeface="Times New Roman" panose="02020603050405020304" charset="0"/>
                <a:ea typeface="微软雅黑" panose="020B0503020204020204" charset="-122"/>
                <a:cs typeface="Times New Roman" panose="02020603050405020304" charset="0"/>
                <a:sym typeface="+mn-ea"/>
              </a:rPr>
              <a:t>Silvaco TCAD</a:t>
            </a:r>
            <a:r>
              <a:rPr lang="zh-CN" altLang="en-US" sz="2000" b="1" dirty="0">
                <a:solidFill>
                  <a:schemeClr val="tx1"/>
                </a:solidFill>
                <a:latin typeface="Times New Roman" panose="02020603050405020304" charset="0"/>
                <a:ea typeface="微软雅黑" panose="020B0503020204020204" charset="-122"/>
                <a:cs typeface="Times New Roman" panose="02020603050405020304" charset="0"/>
              </a:rPr>
              <a:t>软件都可以做什么？</a:t>
            </a:r>
          </a:p>
          <a:p>
            <a:pPr marL="1259840" indent="-457200" fontAlgn="auto">
              <a:spcBef>
                <a:spcPts val="500"/>
              </a:spcBef>
              <a:spcAft>
                <a:spcPts val="1200"/>
              </a:spcAft>
              <a:buClr>
                <a:srgbClr val="002060"/>
              </a:buClr>
              <a:buFont typeface="+mj-ea"/>
              <a:buAutoNum type="circleNumDbPlain"/>
            </a:pPr>
            <a:r>
              <a:rPr lang="zh-CN" sz="1800" dirty="0">
                <a:latin typeface="Times New Roman" panose="02020603050405020304" charset="0"/>
                <a:ea typeface="微软雅黑" panose="020B0503020204020204" charset="-122"/>
                <a:cs typeface="Times New Roman" panose="02020603050405020304" charset="0"/>
                <a:sym typeface="+mn-ea"/>
              </a:rPr>
              <a:t>帮助开发和优化半导体制造工艺：</a:t>
            </a:r>
            <a:r>
              <a:rPr lang="en-US" altLang="zh-CN" sz="1800" b="1" noProof="0" dirty="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sym typeface="+mn-ea"/>
              </a:rPr>
              <a:t>ATHENA</a:t>
            </a:r>
            <a:r>
              <a:rPr lang="zh-CN" altLang="en-US" sz="1800" b="1" noProof="0" dirty="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sym typeface="+mn-ea"/>
              </a:rPr>
              <a:t>工艺仿真器</a:t>
            </a:r>
            <a:endParaRPr lang="zh-CN" sz="1800" dirty="0">
              <a:latin typeface="Times New Roman" panose="02020603050405020304" charset="0"/>
              <a:ea typeface="微软雅黑" panose="020B0503020204020204" charset="-122"/>
              <a:cs typeface="Times New Roman" panose="02020603050405020304" charset="0"/>
              <a:sym typeface="+mn-ea"/>
            </a:endParaRPr>
          </a:p>
          <a:p>
            <a:pPr marL="802640" indent="0" fontAlgn="auto">
              <a:spcBef>
                <a:spcPts val="500"/>
              </a:spcBef>
              <a:spcAft>
                <a:spcPts val="1200"/>
              </a:spcAft>
              <a:buClr>
                <a:srgbClr val="002060"/>
              </a:buClr>
              <a:buFont typeface="+mj-ea"/>
              <a:buNone/>
            </a:pPr>
            <a:r>
              <a:rPr lang="en-US" altLang="zh-CN" sz="16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         </a:t>
            </a:r>
            <a:r>
              <a:rPr lang="zh-CN" sz="16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离子注入、扩散、刻蚀、淀积、外延、光刻、氧化等。</a:t>
            </a:r>
            <a:endParaRPr lang="zh-CN" altLang="en-US" sz="16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endParaRPr>
          </a:p>
        </p:txBody>
      </p:sp>
      <p:sp>
        <p:nvSpPr>
          <p:cNvPr id="2" name="文本框 1"/>
          <p:cNvSpPr txBox="1"/>
          <p:nvPr/>
        </p:nvSpPr>
        <p:spPr>
          <a:xfrm>
            <a:off x="466725" y="3357245"/>
            <a:ext cx="5339715" cy="337185"/>
          </a:xfrm>
          <a:prstGeom prst="rect">
            <a:avLst/>
          </a:prstGeom>
          <a:noFill/>
        </p:spPr>
        <p:txBody>
          <a:bodyPr wrap="square" rtlCol="0">
            <a:spAutoFit/>
          </a:bodyPr>
          <a:lstStyle/>
          <a:p>
            <a:pPr marL="285750" indent="-285750">
              <a:buFont typeface="Wingdings" panose="05000000000000000000" charset="0"/>
              <a:buChar char="p"/>
            </a:pPr>
            <a:r>
              <a:rPr lang="zh-CN" altLang="en-US" sz="1600" b="1">
                <a:solidFill>
                  <a:srgbClr val="0000FF"/>
                </a:solidFill>
                <a:latin typeface="微软雅黑" panose="020B0503020204020204" charset="-122"/>
                <a:ea typeface="微软雅黑" panose="020B0503020204020204" charset="-122"/>
                <a:cs typeface="微软雅黑" panose="020B0503020204020204" charset="-122"/>
              </a:rPr>
              <a:t>举例：</a:t>
            </a:r>
            <a:r>
              <a:rPr lang="en-US" altLang="zh-CN" sz="1600" b="1">
                <a:solidFill>
                  <a:srgbClr val="0000FF"/>
                </a:solidFill>
                <a:latin typeface="微软雅黑" panose="020B0503020204020204" charset="-122"/>
                <a:ea typeface="微软雅黑" panose="020B0503020204020204" charset="-122"/>
                <a:cs typeface="微软雅黑" panose="020B0503020204020204" charset="-122"/>
              </a:rPr>
              <a:t>CMOS</a:t>
            </a:r>
            <a:r>
              <a:rPr lang="zh-CN" altLang="en-US" sz="1600" b="1">
                <a:solidFill>
                  <a:srgbClr val="0000FF"/>
                </a:solidFill>
                <a:latin typeface="微软雅黑" panose="020B0503020204020204" charset="-122"/>
                <a:ea typeface="微软雅黑" panose="020B0503020204020204" charset="-122"/>
                <a:cs typeface="微软雅黑" panose="020B0503020204020204" charset="-122"/>
              </a:rPr>
              <a:t>器件的制作工艺流程</a:t>
            </a:r>
            <a:r>
              <a:rPr lang="zh-CN" altLang="en-US" sz="1600" b="1">
                <a:solidFill>
                  <a:srgbClr val="C00000"/>
                </a:solidFill>
                <a:latin typeface="微软雅黑" panose="020B0503020204020204" charset="-122"/>
                <a:ea typeface="微软雅黑" panose="020B0503020204020204" charset="-122"/>
                <a:cs typeface="微软雅黑" panose="020B0503020204020204" charset="-122"/>
                <a:sym typeface="+mn-ea"/>
              </a:rPr>
              <a:t>（</a:t>
            </a:r>
            <a:r>
              <a:rPr lang="en-US" altLang="zh-CN" sz="1600" b="1">
                <a:solidFill>
                  <a:srgbClr val="C00000"/>
                </a:solidFill>
                <a:latin typeface="微软雅黑" panose="020B0503020204020204" charset="-122"/>
                <a:ea typeface="微软雅黑" panose="020B0503020204020204" charset="-122"/>
                <a:cs typeface="微软雅黑" panose="020B0503020204020204" charset="-122"/>
                <a:sym typeface="+mn-ea"/>
              </a:rPr>
              <a:t>24</a:t>
            </a:r>
            <a:r>
              <a:rPr lang="zh-CN" altLang="en-US" sz="1600" b="1">
                <a:solidFill>
                  <a:srgbClr val="C00000"/>
                </a:solidFill>
                <a:latin typeface="微软雅黑" panose="020B0503020204020204" charset="-122"/>
                <a:ea typeface="微软雅黑" panose="020B0503020204020204" charset="-122"/>
                <a:cs typeface="微软雅黑" panose="020B0503020204020204" charset="-122"/>
                <a:sym typeface="+mn-ea"/>
              </a:rPr>
              <a:t>步）</a:t>
            </a:r>
          </a:p>
        </p:txBody>
      </p:sp>
      <p:pic>
        <p:nvPicPr>
          <p:cNvPr id="7" name="图片 6"/>
          <p:cNvPicPr>
            <a:picLocks noChangeAspect="1"/>
          </p:cNvPicPr>
          <p:nvPr/>
        </p:nvPicPr>
        <p:blipFill>
          <a:blip r:embed="rId2"/>
          <a:stretch>
            <a:fillRect/>
          </a:stretch>
        </p:blipFill>
        <p:spPr>
          <a:xfrm rot="16200000">
            <a:off x="2766060" y="2959100"/>
            <a:ext cx="2780030" cy="4208780"/>
          </a:xfrm>
          <a:prstGeom prst="rect">
            <a:avLst/>
          </a:prstGeom>
        </p:spPr>
      </p:pic>
      <p:sp>
        <p:nvSpPr>
          <p:cNvPr id="9" name="文本框 8"/>
          <p:cNvSpPr txBox="1"/>
          <p:nvPr/>
        </p:nvSpPr>
        <p:spPr>
          <a:xfrm>
            <a:off x="2626995" y="6453505"/>
            <a:ext cx="3249930" cy="306705"/>
          </a:xfrm>
          <a:prstGeom prst="rect">
            <a:avLst/>
          </a:prstGeom>
          <a:noFill/>
        </p:spPr>
        <p:txBody>
          <a:bodyPr wrap="square" rtlCol="0">
            <a:spAutoFit/>
          </a:bodyPr>
          <a:lstStyle/>
          <a:p>
            <a:pPr indent="0" algn="ctr">
              <a:buFont typeface="Wingdings" panose="05000000000000000000" charset="0"/>
              <a:buNone/>
            </a:pPr>
            <a:r>
              <a:rPr lang="en-US" altLang="zh-CN" sz="1400" b="1">
                <a:solidFill>
                  <a:srgbClr val="002060"/>
                </a:solidFill>
                <a:latin typeface="微软雅黑" panose="020B0503020204020204" charset="-122"/>
                <a:ea typeface="微软雅黑" panose="020B0503020204020204" charset="-122"/>
                <a:cs typeface="微软雅黑" panose="020B0503020204020204" charset="-122"/>
              </a:rPr>
              <a:t>CMOS</a:t>
            </a:r>
            <a:r>
              <a:rPr lang="zh-CN" altLang="en-US" sz="1400" b="1">
                <a:solidFill>
                  <a:srgbClr val="002060"/>
                </a:solidFill>
                <a:latin typeface="微软雅黑" panose="020B0503020204020204" charset="-122"/>
                <a:ea typeface="微软雅黑" panose="020B0503020204020204" charset="-122"/>
                <a:cs typeface="微软雅黑" panose="020B0503020204020204" charset="-122"/>
              </a:rPr>
              <a:t>器件的制作工艺流程</a:t>
            </a:r>
          </a:p>
        </p:txBody>
      </p:sp>
      <p:sp>
        <p:nvSpPr>
          <p:cNvPr id="10" name="文本框 9"/>
          <p:cNvSpPr txBox="1"/>
          <p:nvPr/>
        </p:nvSpPr>
        <p:spPr>
          <a:xfrm>
            <a:off x="248285" y="2348865"/>
            <a:ext cx="8646795" cy="874407"/>
          </a:xfrm>
          <a:prstGeom prst="rect">
            <a:avLst/>
          </a:prstGeom>
          <a:noFill/>
          <a:ln w="28575">
            <a:noFill/>
          </a:ln>
        </p:spPr>
        <p:txBody>
          <a:bodyPr wrap="square" rtlCol="0">
            <a:spAutoFit/>
          </a:bodyPr>
          <a:lstStyle/>
          <a:p>
            <a:pPr marL="285750" indent="-285750" fontAlgn="auto">
              <a:lnSpc>
                <a:spcPct val="150000"/>
              </a:lnSpc>
              <a:buFont typeface="Wingdings" panose="05000000000000000000" charset="0"/>
              <a:buChar char="ü"/>
            </a:pPr>
            <a:r>
              <a:rPr lang="zh-CN" altLang="en-US" dirty="0">
                <a:latin typeface="微软雅黑" panose="020B0503020204020204" charset="-122"/>
                <a:ea typeface="微软雅黑" panose="020B0503020204020204" charset="-122"/>
              </a:rPr>
              <a:t>大多数半导体工艺流程都发生在硅片</a:t>
            </a:r>
            <a:r>
              <a:rPr lang="zh-CN" altLang="en-US" b="1" dirty="0">
                <a:solidFill>
                  <a:srgbClr val="FF0000"/>
                </a:solidFill>
                <a:latin typeface="微软雅黑" panose="020B0503020204020204" charset="-122"/>
                <a:ea typeface="微软雅黑" panose="020B0503020204020204" charset="-122"/>
              </a:rPr>
              <a:t>顶层</a:t>
            </a:r>
            <a:r>
              <a:rPr lang="zh-CN" altLang="en-US" dirty="0">
                <a:latin typeface="微软雅黑" panose="020B0503020204020204" charset="-122"/>
                <a:ea typeface="微软雅黑" panose="020B0503020204020204" charset="-122"/>
              </a:rPr>
              <a:t>的</a:t>
            </a:r>
            <a:r>
              <a:rPr lang="zh-CN" altLang="en-US" b="1" dirty="0">
                <a:solidFill>
                  <a:srgbClr val="FF0000"/>
                </a:solidFill>
                <a:latin typeface="微软雅黑" panose="020B0503020204020204" charset="-122"/>
                <a:ea typeface="微软雅黑" panose="020B0503020204020204" charset="-122"/>
              </a:rPr>
              <a:t>数微米</a:t>
            </a:r>
            <a:r>
              <a:rPr lang="zh-CN" altLang="en-US" dirty="0">
                <a:latin typeface="微软雅黑" panose="020B0503020204020204" charset="-122"/>
                <a:ea typeface="微软雅黑" panose="020B0503020204020204" charset="-122"/>
              </a:rPr>
              <a:t>以内；</a:t>
            </a:r>
          </a:p>
          <a:p>
            <a:pPr marL="285750" indent="-285750" fontAlgn="auto">
              <a:lnSpc>
                <a:spcPct val="150000"/>
              </a:lnSpc>
              <a:buFont typeface="Wingdings" panose="05000000000000000000" charset="0"/>
              <a:buChar char="ü"/>
            </a:pPr>
            <a:r>
              <a:rPr lang="zh-CN" altLang="en-US" dirty="0">
                <a:latin typeface="微软雅黑" panose="020B0503020204020204" charset="-122"/>
                <a:ea typeface="微软雅黑" panose="020B0503020204020204" charset="-122"/>
              </a:rPr>
              <a:t>整个半导体器件的制备工艺流程就是描述硅片怎么在有限的工艺流程中</a:t>
            </a:r>
            <a:r>
              <a:rPr lang="zh-CN" altLang="en-US" b="1" dirty="0">
                <a:solidFill>
                  <a:srgbClr val="FF0000"/>
                </a:solidFill>
                <a:latin typeface="微软雅黑" panose="020B0503020204020204" charset="-122"/>
                <a:ea typeface="微软雅黑" panose="020B0503020204020204" charset="-122"/>
              </a:rPr>
              <a:t>重复循环</a:t>
            </a:r>
            <a:r>
              <a:rPr lang="zh-CN" altLang="en-US" dirty="0">
                <a:latin typeface="微软雅黑" panose="020B0503020204020204" charset="-122"/>
                <a:ea typeface="微软雅黑" panose="020B0503020204020204" charset="-122"/>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7315" y="621030"/>
            <a:ext cx="8458200" cy="460375"/>
          </a:xfrm>
          <a:prstGeom prst="rect">
            <a:avLst/>
          </a:prstGeom>
        </p:spPr>
        <p:txBody>
          <a:bodyPr wrap="square">
            <a:spAutoFit/>
          </a:bodyPr>
          <a:lstStyle/>
          <a:p>
            <a:pPr marL="342900" indent="-342900">
              <a:spcBef>
                <a:spcPts val="600"/>
              </a:spcBef>
              <a:buFontTx/>
              <a:buAutoNum type="arabicPeriod"/>
            </a:pPr>
            <a:r>
              <a:rPr lang="zh-CN" altLang="en-US" sz="2400" b="1" dirty="0">
                <a:solidFill>
                  <a:srgbClr val="C00000"/>
                </a:solidFill>
                <a:latin typeface="微软雅黑" panose="020B0503020204020204" charset="-122"/>
                <a:ea typeface="微软雅黑" panose="020B0503020204020204" charset="-122"/>
                <a:cs typeface="Times New Roman" panose="02020603050405020304" charset="0"/>
              </a:rPr>
              <a:t>实验介绍</a:t>
            </a:r>
          </a:p>
        </p:txBody>
      </p:sp>
      <p:sp>
        <p:nvSpPr>
          <p:cNvPr id="8" name="圆角矩形 7"/>
          <p:cNvSpPr/>
          <p:nvPr/>
        </p:nvSpPr>
        <p:spPr>
          <a:xfrm>
            <a:off x="1223645" y="72390"/>
            <a:ext cx="6696710" cy="360045"/>
          </a:xfrm>
          <a:prstGeom prst="roundRect">
            <a:avLst/>
          </a:prstGeom>
          <a:solidFill>
            <a:schemeClr val="accent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1"/>
          </p:nvPr>
        </p:nvSpPr>
        <p:spPr>
          <a:xfrm>
            <a:off x="10160" y="1340485"/>
            <a:ext cx="8782050" cy="4200525"/>
          </a:xfrm>
        </p:spPr>
        <p:txBody>
          <a:bodyPr>
            <a:noAutofit/>
          </a:bodyPr>
          <a:lstStyle/>
          <a:p>
            <a:pPr marL="899795" indent="-457200" algn="just" fontAlgn="auto">
              <a:spcBef>
                <a:spcPts val="500"/>
              </a:spcBef>
              <a:spcAft>
                <a:spcPts val="1200"/>
              </a:spcAft>
              <a:buClr>
                <a:srgbClr val="002060"/>
              </a:buClr>
              <a:buFont typeface="Wingdings" panose="05000000000000000000" charset="0"/>
              <a:buChar char="l"/>
            </a:pPr>
            <a:r>
              <a:rPr lang="en-US" altLang="zh-CN" sz="2000" b="1" dirty="0">
                <a:solidFill>
                  <a:srgbClr val="FF0000"/>
                </a:solidFill>
                <a:latin typeface="Times New Roman" panose="02020603050405020304" charset="0"/>
                <a:ea typeface="微软雅黑" panose="020B0503020204020204" charset="-122"/>
                <a:cs typeface="Times New Roman" panose="02020603050405020304" charset="0"/>
                <a:sym typeface="+mn-ea"/>
              </a:rPr>
              <a:t>Silvaco TCAD</a:t>
            </a:r>
            <a:r>
              <a:rPr lang="zh-CN" altLang="en-US" sz="2000" b="1" dirty="0">
                <a:solidFill>
                  <a:schemeClr val="tx1"/>
                </a:solidFill>
                <a:latin typeface="Times New Roman" panose="02020603050405020304" charset="0"/>
                <a:ea typeface="微软雅黑" panose="020B0503020204020204" charset="-122"/>
                <a:cs typeface="Times New Roman" panose="02020603050405020304" charset="0"/>
              </a:rPr>
              <a:t>软件都可以做什么？</a:t>
            </a:r>
          </a:p>
          <a:p>
            <a:pPr marL="1259840" indent="-457200" algn="just" fontAlgn="auto">
              <a:lnSpc>
                <a:spcPct val="150000"/>
              </a:lnSpc>
              <a:spcBef>
                <a:spcPts val="500"/>
              </a:spcBef>
              <a:spcAft>
                <a:spcPts val="1200"/>
              </a:spcAft>
              <a:buClr>
                <a:srgbClr val="002060"/>
              </a:buClr>
              <a:buFont typeface="+mj-ea"/>
              <a:buAutoNum type="circleNumDbPlain" startAt="2"/>
            </a:pPr>
            <a:r>
              <a:rPr lang="zh-CN" sz="2000" dirty="0">
                <a:latin typeface="Times New Roman" panose="02020603050405020304" charset="0"/>
                <a:ea typeface="微软雅黑" panose="020B0503020204020204" charset="-122"/>
                <a:cs typeface="Times New Roman" panose="02020603050405020304" charset="0"/>
                <a:sym typeface="+mn-ea"/>
              </a:rPr>
              <a:t>帮助开发和优化</a:t>
            </a:r>
            <a:r>
              <a:rPr lang="zh-CN" sz="2000" dirty="0">
                <a:solidFill>
                  <a:schemeClr val="tx1"/>
                </a:solidFill>
                <a:latin typeface="Times New Roman" panose="02020603050405020304" charset="0"/>
                <a:ea typeface="微软雅黑" panose="020B0503020204020204" charset="-122"/>
                <a:cs typeface="Times New Roman" panose="02020603050405020304" charset="0"/>
              </a:rPr>
              <a:t>各种半导体器件：</a:t>
            </a:r>
            <a:r>
              <a:rPr lang="zh-CN" altLang="en-US" sz="2000" b="1" noProof="0" dirty="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sym typeface="+mn-ea"/>
              </a:rPr>
              <a:t>ATLAS器件仿真器</a:t>
            </a:r>
            <a:endParaRPr lang="zh-CN" sz="2000" dirty="0">
              <a:solidFill>
                <a:schemeClr val="tx1"/>
              </a:solidFill>
              <a:latin typeface="Times New Roman" panose="02020603050405020304" charset="0"/>
              <a:ea typeface="微软雅黑" panose="020B0503020204020204" charset="-122"/>
              <a:cs typeface="Times New Roman" panose="02020603050405020304" charset="0"/>
            </a:endParaRPr>
          </a:p>
          <a:p>
            <a:pPr marL="1800225" indent="-457200" algn="just" fontAlgn="auto">
              <a:lnSpc>
                <a:spcPct val="150000"/>
              </a:lnSpc>
              <a:spcBef>
                <a:spcPts val="500"/>
              </a:spcBef>
              <a:spcAft>
                <a:spcPts val="1200"/>
              </a:spcAft>
              <a:buClr>
                <a:srgbClr val="002060"/>
              </a:buClr>
              <a:buFont typeface="Wingdings" panose="05000000000000000000" charset="0"/>
              <a:buChar char="u"/>
            </a:pPr>
            <a:r>
              <a:rPr lang="zh-CN" altLang="en-US"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提供基于物理的、使用简单的、模块化的、可扩展的平台，模拟半导体器件（</a:t>
            </a:r>
            <a:r>
              <a:rPr lang="en-US" altLang="zh-CN"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COMS</a:t>
            </a:r>
            <a:r>
              <a:rPr lang="zh-CN" altLang="en-US"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、双极、高压功率、</a:t>
            </a:r>
            <a:r>
              <a:rPr lang="en-US" altLang="zh-CN"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VCSEL</a:t>
            </a:r>
            <a:r>
              <a:rPr lang="zh-CN" altLang="en-US"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a:t>
            </a:r>
            <a:r>
              <a:rPr lang="en-US" altLang="zh-CN"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TFT</a:t>
            </a:r>
            <a:r>
              <a:rPr lang="zh-CN" altLang="en-US"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、光电子、激光、</a:t>
            </a:r>
            <a:r>
              <a:rPr lang="en-US" altLang="zh-CN"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LED</a:t>
            </a:r>
            <a:r>
              <a:rPr lang="zh-CN" altLang="en-US"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a:t>
            </a:r>
            <a:r>
              <a:rPr lang="en-US" altLang="zh-CN"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CCD</a:t>
            </a:r>
            <a:r>
              <a:rPr lang="zh-CN" altLang="en-US"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、传感器、熔丝、铁电材料等）的</a:t>
            </a:r>
            <a:r>
              <a:rPr lang="zh-CN" altLang="en-US" sz="1800" b="1" dirty="0">
                <a:solidFill>
                  <a:srgbClr val="0000FF"/>
                </a:solidFill>
                <a:latin typeface="Times New Roman" panose="02020603050405020304" charset="0"/>
                <a:ea typeface="微软雅黑" panose="020B0503020204020204" charset="-122"/>
                <a:cs typeface="Times New Roman" panose="02020603050405020304" charset="0"/>
                <a:sym typeface="+mn-ea"/>
              </a:rPr>
              <a:t>电学</a:t>
            </a:r>
            <a:r>
              <a:rPr lang="zh-CN" altLang="en-US"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a:t>
            </a:r>
            <a:r>
              <a:rPr lang="zh-CN" altLang="en-US" sz="1800" b="1" dirty="0">
                <a:solidFill>
                  <a:srgbClr val="0000FF"/>
                </a:solidFill>
                <a:latin typeface="Times New Roman" panose="02020603050405020304" charset="0"/>
                <a:ea typeface="微软雅黑" panose="020B0503020204020204" charset="-122"/>
                <a:cs typeface="Times New Roman" panose="02020603050405020304" charset="0"/>
                <a:sym typeface="+mn-ea"/>
              </a:rPr>
              <a:t>光学</a:t>
            </a:r>
            <a:r>
              <a:rPr lang="zh-CN" altLang="en-US"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和</a:t>
            </a:r>
            <a:r>
              <a:rPr lang="zh-CN" altLang="en-US" sz="1800" b="1" dirty="0">
                <a:solidFill>
                  <a:srgbClr val="0000FF"/>
                </a:solidFill>
                <a:latin typeface="Times New Roman" panose="02020603050405020304" charset="0"/>
                <a:ea typeface="微软雅黑" panose="020B0503020204020204" charset="-122"/>
                <a:cs typeface="Times New Roman" panose="02020603050405020304" charset="0"/>
                <a:sym typeface="+mn-ea"/>
              </a:rPr>
              <a:t>热学</a:t>
            </a:r>
            <a:r>
              <a:rPr lang="zh-CN" altLang="en-US"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行为。</a:t>
            </a:r>
          </a:p>
          <a:p>
            <a:pPr marL="1800225" indent="-457200" algn="just" fontAlgn="auto">
              <a:lnSpc>
                <a:spcPct val="150000"/>
              </a:lnSpc>
              <a:spcBef>
                <a:spcPts val="500"/>
              </a:spcBef>
              <a:spcAft>
                <a:spcPts val="1200"/>
              </a:spcAft>
              <a:buClr>
                <a:srgbClr val="002060"/>
              </a:buClr>
              <a:buFont typeface="Wingdings" panose="05000000000000000000" charset="0"/>
              <a:buChar char="u"/>
            </a:pPr>
            <a:r>
              <a:rPr lang="zh-CN" altLang="en-US"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ATLAS器件仿真器器件来源：</a:t>
            </a:r>
            <a:r>
              <a:rPr lang="zh-CN" altLang="en-US" sz="1800" b="1" noProof="0" dirty="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sym typeface="+mn-ea"/>
              </a:rPr>
              <a:t>ATLAS编辑的器件</a:t>
            </a:r>
            <a:r>
              <a:rPr lang="zh-CN" altLang="en-US"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a:t>
            </a:r>
            <a:r>
              <a:rPr lang="en-US" altLang="zh-CN" sz="1800" b="1" noProof="0" dirty="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sym typeface="+mn-ea"/>
              </a:rPr>
              <a:t>ATHENA</a:t>
            </a:r>
            <a:r>
              <a:rPr lang="zh-CN" altLang="en-US" sz="1800" b="1" noProof="0" dirty="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sym typeface="+mn-ea"/>
              </a:rPr>
              <a:t>工艺仿真器</a:t>
            </a:r>
            <a:r>
              <a:rPr lang="zh-CN" altLang="en-US"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生成的器件、使用Silvaco TCAD组件</a:t>
            </a:r>
            <a:r>
              <a:rPr lang="zh-CN" altLang="en-US" sz="1800" b="1" noProof="0" dirty="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sym typeface="+mn-ea"/>
              </a:rPr>
              <a:t>DevEdit</a:t>
            </a:r>
            <a:r>
              <a:rPr lang="zh-CN" altLang="en-US" sz="1800" b="1" dirty="0">
                <a:solidFill>
                  <a:schemeClr val="tx1">
                    <a:lumMod val="65000"/>
                    <a:lumOff val="35000"/>
                  </a:schemeClr>
                </a:solidFill>
                <a:latin typeface="Times New Roman" panose="02020603050405020304" charset="0"/>
                <a:ea typeface="微软雅黑" panose="020B0503020204020204" charset="-122"/>
                <a:cs typeface="Times New Roman" panose="02020603050405020304" charset="0"/>
                <a:sym typeface="+mn-ea"/>
              </a:rPr>
              <a:t>编辑的器件。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11175" y="1244074"/>
            <a:ext cx="8915400" cy="4201150"/>
          </a:xfrm>
          <a:prstGeom prst="rect">
            <a:avLst/>
          </a:prstGeom>
        </p:spPr>
        <p:txBody>
          <a:bodyPr wrap="square">
            <a:spAutoFit/>
          </a:bodyPr>
          <a:lstStyle/>
          <a:p>
            <a:pPr>
              <a:lnSpc>
                <a:spcPct val="200000"/>
              </a:lnSpc>
            </a:pPr>
            <a:r>
              <a:rPr lang="zh-CN" altLang="en-US" sz="2000" b="1" dirty="0">
                <a:solidFill>
                  <a:srgbClr val="0000FF"/>
                </a:solidFill>
                <a:latin typeface="微软雅黑" panose="020B0503020204020204" charset="-122"/>
                <a:ea typeface="微软雅黑" panose="020B0503020204020204" charset="-122"/>
                <a:cs typeface="微软雅黑" panose="020B0503020204020204" charset="-122"/>
              </a:rPr>
              <a:t>本学期课程项目</a:t>
            </a:r>
            <a:endParaRPr lang="en-US" altLang="zh-CN" sz="2000" b="1" dirty="0">
              <a:solidFill>
                <a:srgbClr val="0000FF"/>
              </a:solidFill>
              <a:latin typeface="微软雅黑" panose="020B0503020204020204" charset="-122"/>
              <a:ea typeface="微软雅黑" panose="020B0503020204020204" charset="-122"/>
              <a:cs typeface="微软雅黑" panose="020B0503020204020204" charset="-122"/>
            </a:endParaRPr>
          </a:p>
          <a:p>
            <a:pPr marL="702945" indent="-467995">
              <a:spcBef>
                <a:spcPts val="1800"/>
              </a:spcBef>
              <a:buFont typeface="+mj-ea"/>
              <a:buAutoNum type="circleNumDbPlain"/>
            </a:pPr>
            <a:r>
              <a:rPr lang="zh-CN" altLang="en-US" sz="2000" b="1" dirty="0">
                <a:solidFill>
                  <a:srgbClr val="002060"/>
                </a:solidFill>
                <a:latin typeface="微软雅黑" panose="020B0503020204020204" charset="-122"/>
                <a:ea typeface="微软雅黑" panose="020B0503020204020204" charset="-122"/>
                <a:cs typeface="微软雅黑" panose="020B0503020204020204" charset="-122"/>
              </a:rPr>
              <a:t>半导体工艺仿真</a:t>
            </a:r>
            <a:r>
              <a:rPr lang="zh-CN" altLang="en-US" sz="2000" b="1" dirty="0">
                <a:solidFill>
                  <a:srgbClr val="002060"/>
                </a:solidFill>
                <a:latin typeface="微软雅黑" panose="020B0503020204020204" charset="-122"/>
                <a:ea typeface="微软雅黑" panose="020B0503020204020204" charset="-122"/>
                <a:cs typeface="微软雅黑" panose="020B0503020204020204" charset="-122"/>
                <a:sym typeface="+mn-ea"/>
              </a:rPr>
              <a:t>（</a:t>
            </a:r>
            <a:r>
              <a:rPr lang="en-US" altLang="zh-CN" sz="2000" b="1" dirty="0">
                <a:solidFill>
                  <a:srgbClr val="002060"/>
                </a:solidFill>
                <a:latin typeface="微软雅黑" panose="020B0503020204020204" charset="-122"/>
                <a:ea typeface="微软雅黑" panose="020B0503020204020204" charset="-122"/>
                <a:cs typeface="微软雅黑" panose="020B0503020204020204" charset="-122"/>
                <a:sym typeface="+mn-ea"/>
              </a:rPr>
              <a:t>12</a:t>
            </a:r>
            <a:r>
              <a:rPr lang="zh-CN" altLang="en-US" sz="2000" b="1" dirty="0">
                <a:solidFill>
                  <a:srgbClr val="002060"/>
                </a:solidFill>
                <a:latin typeface="微软雅黑" panose="020B0503020204020204" charset="-122"/>
                <a:ea typeface="微软雅黑" panose="020B0503020204020204" charset="-122"/>
                <a:cs typeface="微软雅黑" panose="020B0503020204020204" charset="-122"/>
                <a:sym typeface="+mn-ea"/>
              </a:rPr>
              <a:t>学时）</a:t>
            </a:r>
            <a:endParaRPr lang="zh-CN" altLang="en-US" sz="2000" b="1" dirty="0">
              <a:solidFill>
                <a:srgbClr val="002060"/>
              </a:solidFill>
              <a:latin typeface="微软雅黑" panose="020B0503020204020204" charset="-122"/>
              <a:ea typeface="微软雅黑" panose="020B0503020204020204" charset="-122"/>
              <a:cs typeface="微软雅黑" panose="020B0503020204020204" charset="-122"/>
            </a:endParaRPr>
          </a:p>
          <a:p>
            <a:pPr marL="899795" indent="-342900" fontAlgn="auto">
              <a:spcBef>
                <a:spcPts val="1800"/>
              </a:spcBef>
              <a:buFont typeface="Wingdings" panose="05000000000000000000" charset="0"/>
              <a:buChar char="Ø"/>
            </a:pPr>
            <a:r>
              <a:rPr lang="zh-CN"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离子注入、扩散、刻蚀、淀积、外延、光刻、氧化等仿真。</a:t>
            </a:r>
          </a:p>
          <a:p>
            <a:pPr marL="692150" indent="-457200">
              <a:spcBef>
                <a:spcPts val="1800"/>
              </a:spcBef>
              <a:buFont typeface="+mj-ea"/>
              <a:buAutoNum type="circleNumDbPlain" startAt="2"/>
            </a:pPr>
            <a:r>
              <a:rPr lang="zh-CN" altLang="en-US" sz="2000" b="1" dirty="0">
                <a:solidFill>
                  <a:srgbClr val="002060"/>
                </a:solidFill>
                <a:latin typeface="微软雅黑" panose="020B0503020204020204" charset="-122"/>
                <a:ea typeface="微软雅黑" panose="020B0503020204020204" charset="-122"/>
                <a:cs typeface="微软雅黑" panose="020B0503020204020204" charset="-122"/>
              </a:rPr>
              <a:t>半导体器件仿真</a:t>
            </a:r>
            <a:r>
              <a:rPr lang="zh-CN" altLang="en-US" sz="2000" b="1" dirty="0">
                <a:solidFill>
                  <a:srgbClr val="002060"/>
                </a:solidFill>
                <a:latin typeface="微软雅黑" panose="020B0503020204020204" charset="-122"/>
                <a:ea typeface="微软雅黑" panose="020B0503020204020204" charset="-122"/>
                <a:cs typeface="微软雅黑" panose="020B0503020204020204" charset="-122"/>
                <a:sym typeface="+mn-ea"/>
              </a:rPr>
              <a:t>（</a:t>
            </a:r>
            <a:r>
              <a:rPr lang="en-US" altLang="zh-CN" sz="2000" b="1" dirty="0">
                <a:solidFill>
                  <a:srgbClr val="002060"/>
                </a:solidFill>
                <a:latin typeface="微软雅黑" panose="020B0503020204020204" charset="-122"/>
                <a:ea typeface="微软雅黑" panose="020B0503020204020204" charset="-122"/>
                <a:cs typeface="微软雅黑" panose="020B0503020204020204" charset="-122"/>
                <a:sym typeface="+mn-ea"/>
              </a:rPr>
              <a:t>20</a:t>
            </a:r>
            <a:r>
              <a:rPr lang="zh-CN" altLang="en-US" sz="2000" b="1" dirty="0">
                <a:solidFill>
                  <a:srgbClr val="002060"/>
                </a:solidFill>
                <a:latin typeface="微软雅黑" panose="020B0503020204020204" charset="-122"/>
                <a:ea typeface="微软雅黑" panose="020B0503020204020204" charset="-122"/>
                <a:cs typeface="微软雅黑" panose="020B0503020204020204" charset="-122"/>
                <a:sym typeface="+mn-ea"/>
              </a:rPr>
              <a:t>学时）</a:t>
            </a:r>
            <a:endParaRPr lang="zh-CN" altLang="en-US" sz="2000" b="1" dirty="0">
              <a:solidFill>
                <a:srgbClr val="002060"/>
              </a:solidFill>
              <a:latin typeface="微软雅黑" panose="020B0503020204020204" charset="-122"/>
              <a:ea typeface="微软雅黑" panose="020B0503020204020204" charset="-122"/>
              <a:cs typeface="微软雅黑" panose="020B0503020204020204" charset="-122"/>
            </a:endParaRPr>
          </a:p>
          <a:p>
            <a:pPr marL="899795" indent="-285750" fontAlgn="auto">
              <a:spcBef>
                <a:spcPts val="1800"/>
              </a:spcBef>
              <a:buFont typeface="Wingdings" panose="05000000000000000000" charset="0"/>
              <a:buChar char="Ø"/>
            </a:pPr>
            <a:r>
              <a:rPr lang="zh-CN"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二极管特性</a:t>
            </a:r>
            <a:r>
              <a:rPr lang="zh-CN"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仿真（</a:t>
            </a:r>
            <a:r>
              <a:rPr lang="en-US" altLang="zh-CN"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8</a:t>
            </a:r>
            <a:r>
              <a:rPr lang="zh-CN"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学时）</a:t>
            </a:r>
            <a:endParaRPr lang="en-US" altLang="zh-CN"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marL="899795" indent="-285750" fontAlgn="auto">
              <a:spcBef>
                <a:spcPts val="1800"/>
              </a:spcBef>
              <a:buFont typeface="Wingdings" panose="05000000000000000000" charset="0"/>
              <a:buChar char="Ø"/>
            </a:pPr>
            <a:r>
              <a:rPr lang="en-US" altLang="zh-CN"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PIN</a:t>
            </a:r>
            <a:r>
              <a:rPr lang="zh-CN" altLang="en-US"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二极管特性仿真（</a:t>
            </a:r>
            <a:r>
              <a:rPr lang="en-US" altLang="zh-CN"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4</a:t>
            </a:r>
            <a:r>
              <a:rPr lang="zh-CN" altLang="en-US"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学时）</a:t>
            </a:r>
            <a:endParaRPr lang="zh-CN"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marL="899795" indent="-285750">
              <a:spcBef>
                <a:spcPts val="1800"/>
              </a:spcBef>
              <a:buFont typeface="Wingdings" panose="05000000000000000000" charset="0"/>
              <a:buChar char="Ø"/>
            </a:pPr>
            <a:r>
              <a:rPr lang="zh-CN" altLang="en-US"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三</a:t>
            </a:r>
            <a:r>
              <a:rPr lang="zh-CN" altLang="zh-CN"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极管特性</a:t>
            </a:r>
            <a:r>
              <a:rPr lang="zh-CN" altLang="zh-CN"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仿真（</a:t>
            </a:r>
            <a:r>
              <a:rPr lang="en-US" altLang="zh-CN"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4</a:t>
            </a:r>
            <a:r>
              <a:rPr lang="zh-CN" altLang="zh-CN"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学时）</a:t>
            </a:r>
            <a:endParaRPr lang="en-US" altLang="zh-CN"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marL="899795" indent="-285750" fontAlgn="auto">
              <a:spcBef>
                <a:spcPts val="1800"/>
              </a:spcBef>
              <a:buFont typeface="Wingdings" panose="05000000000000000000" charset="0"/>
              <a:buChar char="Ø"/>
            </a:pPr>
            <a:r>
              <a:rPr lang="zh-CN"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LED器件特性仿真</a:t>
            </a:r>
            <a:r>
              <a:rPr lang="zh-CN"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4</a:t>
            </a:r>
            <a:r>
              <a:rPr lang="zh-CN" sz="1600" b="1"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学时）</a:t>
            </a:r>
          </a:p>
        </p:txBody>
      </p:sp>
      <p:sp>
        <p:nvSpPr>
          <p:cNvPr id="7" name="圆角矩形 6"/>
          <p:cNvSpPr/>
          <p:nvPr/>
        </p:nvSpPr>
        <p:spPr>
          <a:xfrm>
            <a:off x="1223645" y="72390"/>
            <a:ext cx="6696710" cy="360045"/>
          </a:xfrm>
          <a:prstGeom prst="roundRect">
            <a:avLst/>
          </a:prstGeom>
          <a:solidFill>
            <a:schemeClr val="accent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79070" y="808385"/>
            <a:ext cx="8458200" cy="460375"/>
          </a:xfrm>
          <a:prstGeom prst="rect">
            <a:avLst/>
          </a:prstGeom>
        </p:spPr>
        <p:txBody>
          <a:bodyPr wrap="square">
            <a:spAutoFit/>
          </a:bodyPr>
          <a:lstStyle/>
          <a:p>
            <a:pPr marL="342900" indent="-342900">
              <a:spcBef>
                <a:spcPts val="600"/>
              </a:spcBef>
              <a:buFontTx/>
              <a:buAutoNum type="arabicPeriod"/>
            </a:pPr>
            <a:r>
              <a:rPr lang="zh-CN" altLang="en-US" sz="2400" b="1" dirty="0">
                <a:solidFill>
                  <a:srgbClr val="C00000"/>
                </a:solidFill>
                <a:latin typeface="微软雅黑" panose="020B0503020204020204" charset="-122"/>
                <a:ea typeface="微软雅黑" panose="020B0503020204020204" charset="-122"/>
                <a:cs typeface="Times New Roman" panose="02020603050405020304" charset="0"/>
              </a:rPr>
              <a:t>实验介绍</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51460" y="549910"/>
            <a:ext cx="7105015" cy="1537970"/>
          </a:xfrm>
          <a:prstGeom prst="rect">
            <a:avLst/>
          </a:prstGeom>
        </p:spPr>
        <p:txBody>
          <a:bodyPr wrap="square">
            <a:spAutoFit/>
          </a:bodyPr>
          <a:lstStyle/>
          <a:p>
            <a:pPr marL="234950" indent="0">
              <a:spcBef>
                <a:spcPts val="1800"/>
              </a:spcBef>
              <a:buFont typeface="+mj-ea"/>
              <a:buNone/>
            </a:pPr>
            <a:r>
              <a:rPr lang="zh-CN" sz="2400" b="1" dirty="0">
                <a:solidFill>
                  <a:srgbClr val="C00000"/>
                </a:solidFill>
                <a:latin typeface="微软雅黑" panose="020B0503020204020204" charset="-122"/>
                <a:ea typeface="微软雅黑" panose="020B0503020204020204" charset="-122"/>
                <a:cs typeface="微软雅黑" panose="020B0503020204020204" charset="-122"/>
              </a:rPr>
              <a:t>参考书</a:t>
            </a:r>
          </a:p>
          <a:p>
            <a:pPr marL="702945" indent="-467995">
              <a:spcBef>
                <a:spcPts val="1800"/>
              </a:spcBef>
              <a:buFont typeface="+mj-ea"/>
              <a:buAutoNum type="circleNumDbPlain"/>
            </a:pPr>
            <a:r>
              <a:rPr lang="zh-CN" altLang="en-US" sz="2000" dirty="0">
                <a:solidFill>
                  <a:srgbClr val="002060"/>
                </a:solidFill>
                <a:latin typeface="微软雅黑" panose="020B0503020204020204" charset="-122"/>
                <a:ea typeface="微软雅黑" panose="020B0503020204020204" charset="-122"/>
                <a:cs typeface="微软雅黑" panose="020B0503020204020204" charset="-122"/>
              </a:rPr>
              <a:t>半导体工艺和器件仿真软件</a:t>
            </a:r>
            <a:r>
              <a:rPr lang="en-US" altLang="zh-CN" sz="2000" dirty="0">
                <a:solidFill>
                  <a:srgbClr val="002060"/>
                </a:solidFill>
                <a:latin typeface="微软雅黑" panose="020B0503020204020204" charset="-122"/>
                <a:ea typeface="微软雅黑" panose="020B0503020204020204" charset="-122"/>
                <a:cs typeface="微软雅黑" panose="020B0503020204020204" charset="-122"/>
              </a:rPr>
              <a:t>Silvaco TCAD</a:t>
            </a:r>
            <a:r>
              <a:rPr lang="zh-CN" altLang="en-US" sz="2000" dirty="0">
                <a:solidFill>
                  <a:srgbClr val="002060"/>
                </a:solidFill>
                <a:latin typeface="微软雅黑" panose="020B0503020204020204" charset="-122"/>
                <a:ea typeface="微软雅黑" panose="020B0503020204020204" charset="-122"/>
                <a:cs typeface="微软雅黑" panose="020B0503020204020204" charset="-122"/>
              </a:rPr>
              <a:t>使用教程</a:t>
            </a:r>
          </a:p>
          <a:p>
            <a:pPr marL="702945" indent="-467995">
              <a:spcBef>
                <a:spcPts val="1800"/>
              </a:spcBef>
              <a:buFont typeface="+mj-ea"/>
              <a:buAutoNum type="circleNumDbPlain"/>
            </a:pPr>
            <a:r>
              <a:rPr lang="zh-CN" altLang="en-US" sz="2000" dirty="0">
                <a:solidFill>
                  <a:srgbClr val="002060"/>
                </a:solidFill>
                <a:latin typeface="微软雅黑" panose="020B0503020204020204" charset="-122"/>
                <a:ea typeface="微软雅黑" panose="020B0503020204020204" charset="-122"/>
                <a:cs typeface="微软雅黑" panose="020B0503020204020204" charset="-122"/>
              </a:rPr>
              <a:t>半导体工艺与测试实验</a:t>
            </a:r>
          </a:p>
        </p:txBody>
      </p:sp>
      <p:sp>
        <p:nvSpPr>
          <p:cNvPr id="7" name="圆角矩形 6"/>
          <p:cNvSpPr/>
          <p:nvPr/>
        </p:nvSpPr>
        <p:spPr>
          <a:xfrm>
            <a:off x="1223645" y="72390"/>
            <a:ext cx="6696710" cy="360045"/>
          </a:xfrm>
          <a:prstGeom prst="roundRect">
            <a:avLst/>
          </a:prstGeom>
          <a:solidFill>
            <a:schemeClr val="accent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0" name="图片 99"/>
          <p:cNvPicPr/>
          <p:nvPr/>
        </p:nvPicPr>
        <p:blipFill>
          <a:blip r:embed="rId2"/>
          <a:stretch>
            <a:fillRect/>
          </a:stretch>
        </p:blipFill>
        <p:spPr>
          <a:xfrm>
            <a:off x="899795" y="2277110"/>
            <a:ext cx="2590800" cy="3683000"/>
          </a:xfrm>
          <a:prstGeom prst="rect">
            <a:avLst/>
          </a:prstGeom>
          <a:noFill/>
          <a:ln w="9525">
            <a:noFill/>
          </a:ln>
        </p:spPr>
      </p:pic>
      <p:pic>
        <p:nvPicPr>
          <p:cNvPr id="101" name="图片 100"/>
          <p:cNvPicPr/>
          <p:nvPr/>
        </p:nvPicPr>
        <p:blipFill>
          <a:blip r:embed="rId3"/>
          <a:stretch>
            <a:fillRect/>
          </a:stretch>
        </p:blipFill>
        <p:spPr>
          <a:xfrm>
            <a:off x="4612640" y="2277110"/>
            <a:ext cx="2875280" cy="3683635"/>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51460" y="549910"/>
            <a:ext cx="7105015" cy="2984500"/>
          </a:xfrm>
          <a:prstGeom prst="rect">
            <a:avLst/>
          </a:prstGeom>
        </p:spPr>
        <p:txBody>
          <a:bodyPr wrap="square">
            <a:spAutoFit/>
          </a:bodyPr>
          <a:lstStyle/>
          <a:p>
            <a:pPr>
              <a:lnSpc>
                <a:spcPct val="200000"/>
              </a:lnSpc>
            </a:pPr>
            <a:r>
              <a:rPr lang="en-US" altLang="zh-CN" sz="2400" b="1" dirty="0">
                <a:solidFill>
                  <a:srgbClr val="C00000"/>
                </a:solidFill>
                <a:latin typeface="微软雅黑" panose="020B0503020204020204" charset="-122"/>
                <a:ea typeface="微软雅黑" panose="020B0503020204020204" charset="-122"/>
                <a:cs typeface="微软雅黑" panose="020B0503020204020204" charset="-122"/>
              </a:rPr>
              <a:t>2. </a:t>
            </a:r>
            <a:r>
              <a:rPr lang="zh-CN" altLang="en-US" sz="2400" b="1" dirty="0">
                <a:solidFill>
                  <a:srgbClr val="C00000"/>
                </a:solidFill>
                <a:latin typeface="微软雅黑" panose="020B0503020204020204" charset="-122"/>
                <a:ea typeface="微软雅黑" panose="020B0503020204020204" charset="-122"/>
                <a:cs typeface="微软雅黑" panose="020B0503020204020204" charset="-122"/>
              </a:rPr>
              <a:t>课程实验要求</a:t>
            </a:r>
            <a:endParaRPr lang="en-US" altLang="zh-CN" sz="2400" b="1" dirty="0">
              <a:solidFill>
                <a:srgbClr val="C00000"/>
              </a:solidFill>
              <a:latin typeface="微软雅黑" panose="020B0503020204020204" charset="-122"/>
              <a:ea typeface="微软雅黑" panose="020B0503020204020204" charset="-122"/>
              <a:cs typeface="微软雅黑" panose="020B0503020204020204" charset="-122"/>
            </a:endParaRPr>
          </a:p>
          <a:p>
            <a:pPr marL="702945" indent="-467995">
              <a:spcBef>
                <a:spcPts val="1800"/>
              </a:spcBef>
              <a:buFont typeface="+mj-ea"/>
              <a:buAutoNum type="circleNumDbPlain"/>
            </a:pPr>
            <a:r>
              <a:rPr lang="zh-CN" altLang="en-US" sz="2000" dirty="0">
                <a:solidFill>
                  <a:srgbClr val="002060"/>
                </a:solidFill>
                <a:latin typeface="微软雅黑" panose="020B0503020204020204" charset="-122"/>
                <a:ea typeface="微软雅黑" panose="020B0503020204020204" charset="-122"/>
                <a:cs typeface="微软雅黑" panose="020B0503020204020204" charset="-122"/>
              </a:rPr>
              <a:t>不来上课必须请假，并说明原因；</a:t>
            </a:r>
          </a:p>
          <a:p>
            <a:pPr marL="702945" indent="-467995">
              <a:spcBef>
                <a:spcPts val="1800"/>
              </a:spcBef>
              <a:buFont typeface="+mj-ea"/>
              <a:buAutoNum type="circleNumDbPlain"/>
            </a:pPr>
            <a:r>
              <a:rPr lang="zh-CN" altLang="en-US" sz="2000" dirty="0">
                <a:solidFill>
                  <a:srgbClr val="002060"/>
                </a:solidFill>
                <a:latin typeface="微软雅黑" panose="020B0503020204020204" charset="-122"/>
                <a:ea typeface="微软雅黑" panose="020B0503020204020204" charset="-122"/>
                <a:cs typeface="微软雅黑" panose="020B0503020204020204" charset="-122"/>
              </a:rPr>
              <a:t>按时提交实验报告；</a:t>
            </a:r>
          </a:p>
          <a:p>
            <a:pPr marL="702945" indent="-467995">
              <a:spcBef>
                <a:spcPts val="1800"/>
              </a:spcBef>
              <a:buFont typeface="+mj-ea"/>
              <a:buAutoNum type="circleNumDbPlain"/>
            </a:pPr>
            <a:r>
              <a:rPr lang="zh-CN" altLang="en-US" sz="2000" dirty="0">
                <a:solidFill>
                  <a:srgbClr val="002060"/>
                </a:solidFill>
                <a:latin typeface="微软雅黑" panose="020B0503020204020204" charset="-122"/>
                <a:ea typeface="微软雅黑" panose="020B0503020204020204" charset="-122"/>
                <a:cs typeface="微软雅黑" panose="020B0503020204020204" charset="-122"/>
              </a:rPr>
              <a:t>不能在教室吃东西；</a:t>
            </a:r>
          </a:p>
          <a:p>
            <a:pPr marL="702945" indent="-467995">
              <a:spcBef>
                <a:spcPts val="1800"/>
              </a:spcBef>
              <a:buFont typeface="+mj-ea"/>
              <a:buAutoNum type="circleNumDbPlain"/>
            </a:pPr>
            <a:r>
              <a:rPr lang="zh-CN" altLang="en-US" sz="2000" dirty="0">
                <a:solidFill>
                  <a:srgbClr val="002060"/>
                </a:solidFill>
                <a:latin typeface="微软雅黑" panose="020B0503020204020204" charset="-122"/>
                <a:ea typeface="微软雅黑" panose="020B0503020204020204" charset="-122"/>
                <a:cs typeface="微软雅黑" panose="020B0503020204020204" charset="-122"/>
              </a:rPr>
              <a:t>上课注意用电安全；</a:t>
            </a:r>
          </a:p>
        </p:txBody>
      </p:sp>
      <p:sp>
        <p:nvSpPr>
          <p:cNvPr id="7" name="圆角矩形 6"/>
          <p:cNvSpPr/>
          <p:nvPr/>
        </p:nvSpPr>
        <p:spPr>
          <a:xfrm>
            <a:off x="1223645" y="72390"/>
            <a:ext cx="6696710" cy="360045"/>
          </a:xfrm>
          <a:prstGeom prst="roundRect">
            <a:avLst/>
          </a:prstGeom>
          <a:solidFill>
            <a:schemeClr val="accent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909445" y="2421255"/>
            <a:ext cx="5346700" cy="1076325"/>
          </a:xfrm>
          <a:prstGeom prst="rect">
            <a:avLst/>
          </a:prstGeom>
          <a:noFill/>
        </p:spPr>
        <p:txBody>
          <a:bodyPr wrap="none" rtlCol="0" anchor="t">
            <a:spAutoFit/>
          </a:bodyPr>
          <a:lstStyle/>
          <a:p>
            <a:pPr indent="0" algn="l">
              <a:lnSpc>
                <a:spcPct val="200000"/>
              </a:lnSpc>
              <a:buClrTx/>
              <a:buSzTx/>
              <a:buFontTx/>
              <a:buNone/>
            </a:pPr>
            <a:r>
              <a:rPr lang="en-US" altLang="zh-CN" sz="3200" b="1" dirty="0">
                <a:solidFill>
                  <a:srgbClr val="C00000"/>
                </a:solidFill>
                <a:latin typeface="微软雅黑" panose="020B0503020204020204" charset="-122"/>
                <a:ea typeface="微软雅黑" panose="020B0503020204020204" charset="-122"/>
                <a:cs typeface="微软雅黑" panose="020B0503020204020204" charset="-122"/>
                <a:sym typeface="+mn-ea"/>
              </a:rPr>
              <a:t>3. </a:t>
            </a:r>
            <a:r>
              <a:rPr lang="zh-CN" altLang="en-US" sz="3200" b="1" dirty="0">
                <a:solidFill>
                  <a:srgbClr val="C00000"/>
                </a:solidFill>
                <a:latin typeface="微软雅黑" panose="020B0503020204020204" charset="-122"/>
                <a:ea typeface="微软雅黑" panose="020B0503020204020204" charset="-122"/>
                <a:cs typeface="微软雅黑" panose="020B0503020204020204" charset="-122"/>
                <a:sym typeface="+mn-ea"/>
              </a:rPr>
              <a:t>Silvaco工艺仿真示例解析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2"/>
          <p:cNvPicPr>
            <a:picLocks noChangeAspect="1"/>
          </p:cNvPicPr>
          <p:nvPr/>
        </p:nvPicPr>
        <p:blipFill>
          <a:blip r:embed="rId2"/>
          <a:stretch>
            <a:fillRect/>
          </a:stretch>
        </p:blipFill>
        <p:spPr>
          <a:xfrm>
            <a:off x="107315" y="621030"/>
            <a:ext cx="8917305" cy="5688965"/>
          </a:xfrm>
          <a:prstGeom prst="rect">
            <a:avLst/>
          </a:prstGeom>
          <a:noFill/>
          <a:ln>
            <a:noFill/>
          </a:ln>
        </p:spPr>
      </p:pic>
      <p:sp>
        <p:nvSpPr>
          <p:cNvPr id="5" name="文本框 4"/>
          <p:cNvSpPr txBox="1"/>
          <p:nvPr/>
        </p:nvSpPr>
        <p:spPr>
          <a:xfrm>
            <a:off x="323215" y="188595"/>
            <a:ext cx="4996180" cy="368300"/>
          </a:xfrm>
          <a:prstGeom prst="rect">
            <a:avLst/>
          </a:prstGeom>
          <a:noFill/>
        </p:spPr>
        <p:txBody>
          <a:bodyPr wrap="square" rtlCol="0">
            <a:spAutoFit/>
          </a:bodyPr>
          <a:lstStyle/>
          <a:p>
            <a:r>
              <a:rPr lang="zh-CN" altLang="en-US" b="1">
                <a:solidFill>
                  <a:srgbClr val="0000FF"/>
                </a:solidFill>
              </a:rPr>
              <a:t>按照软件打开步骤打开软件操作界面，如下图：</a:t>
            </a:r>
          </a:p>
        </p:txBody>
      </p:sp>
      <p:sp>
        <p:nvSpPr>
          <p:cNvPr id="2" name="文本框 1"/>
          <p:cNvSpPr txBox="1"/>
          <p:nvPr/>
        </p:nvSpPr>
        <p:spPr>
          <a:xfrm>
            <a:off x="3275965" y="1052830"/>
            <a:ext cx="2646045" cy="368300"/>
          </a:xfrm>
          <a:prstGeom prst="rect">
            <a:avLst/>
          </a:prstGeom>
          <a:noFill/>
        </p:spPr>
        <p:txBody>
          <a:bodyPr wrap="square" rtlCol="0">
            <a:spAutoFit/>
          </a:bodyPr>
          <a:lstStyle/>
          <a:p>
            <a:r>
              <a:rPr lang="zh-CN" altLang="en-US" b="1">
                <a:solidFill>
                  <a:srgbClr val="FF0000"/>
                </a:solidFill>
                <a:latin typeface="微软雅黑" panose="020B0503020204020204" charset="-122"/>
                <a:ea typeface="微软雅黑" panose="020B0503020204020204" charset="-122"/>
                <a:cs typeface="微软雅黑" panose="020B0503020204020204" charset="-122"/>
              </a:rPr>
              <a:t>集成环境</a:t>
            </a:r>
            <a:r>
              <a:rPr lang="en-US" altLang="zh-CN" b="1">
                <a:solidFill>
                  <a:srgbClr val="FF0000"/>
                </a:solidFill>
                <a:latin typeface="微软雅黑" panose="020B0503020204020204" charset="-122"/>
                <a:ea typeface="微软雅黑" panose="020B0503020204020204" charset="-122"/>
                <a:cs typeface="微软雅黑" panose="020B0503020204020204" charset="-122"/>
              </a:rPr>
              <a:t>Deckbuild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7950" y="118110"/>
            <a:ext cx="8458200" cy="460375"/>
          </a:xfrm>
          <a:prstGeom prst="rect">
            <a:avLst/>
          </a:prstGeom>
        </p:spPr>
        <p:txBody>
          <a:bodyPr wrap="square">
            <a:spAutoFit/>
          </a:bodyPr>
          <a:lstStyle/>
          <a:p>
            <a:pPr indent="0">
              <a:spcBef>
                <a:spcPts val="600"/>
              </a:spcBef>
              <a:buFontTx/>
              <a:buNone/>
            </a:pPr>
            <a:r>
              <a:rPr lang="zh-CN" altLang="en-US" sz="2400" b="1" dirty="0">
                <a:solidFill>
                  <a:srgbClr val="C00000"/>
                </a:solidFill>
                <a:latin typeface="微软雅黑" panose="020B0503020204020204" charset="-122"/>
                <a:ea typeface="微软雅黑" panose="020B0503020204020204" charset="-122"/>
                <a:cs typeface="Times New Roman" panose="02020603050405020304" charset="0"/>
              </a:rPr>
              <a:t>代码解析示例</a:t>
            </a:r>
            <a:r>
              <a:rPr lang="en-US" altLang="zh-CN" sz="2400" b="1" dirty="0">
                <a:solidFill>
                  <a:srgbClr val="C00000"/>
                </a:solidFill>
                <a:latin typeface="微软雅黑" panose="020B0503020204020204" charset="-122"/>
                <a:ea typeface="微软雅黑" panose="020B0503020204020204" charset="-122"/>
                <a:cs typeface="Times New Roman" panose="02020603050405020304" charset="0"/>
              </a:rPr>
              <a:t>: </a:t>
            </a:r>
            <a:r>
              <a:rPr lang="zh-CN" altLang="en-US" sz="2400" b="1" dirty="0">
                <a:solidFill>
                  <a:srgbClr val="0000FF"/>
                </a:solidFill>
                <a:latin typeface="Times New Roman" panose="02020603050405020304" charset="0"/>
                <a:ea typeface="微软雅黑" panose="020B0503020204020204" charset="-122"/>
                <a:cs typeface="Times New Roman" panose="02020603050405020304" charset="0"/>
                <a:sym typeface="+mn-ea"/>
              </a:rPr>
              <a:t>离子掺杂和退火工艺仿真</a:t>
            </a:r>
          </a:p>
        </p:txBody>
      </p:sp>
      <p:sp>
        <p:nvSpPr>
          <p:cNvPr id="2" name="文本框 1"/>
          <p:cNvSpPr txBox="1"/>
          <p:nvPr/>
        </p:nvSpPr>
        <p:spPr>
          <a:xfrm>
            <a:off x="3851910" y="3065145"/>
            <a:ext cx="4024630" cy="1076325"/>
          </a:xfrm>
          <a:prstGeom prst="rect">
            <a:avLst/>
          </a:prstGeom>
          <a:solidFill>
            <a:schemeClr val="accent1"/>
          </a:solidFill>
        </p:spPr>
        <p:txBody>
          <a:bodyPr wrap="square" rtlCol="0">
            <a:spAutoFit/>
          </a:bodyPr>
          <a:lstStyle/>
          <a:p>
            <a:pPr fontAlgn="auto">
              <a:spcBef>
                <a:spcPts val="600"/>
              </a:spcBef>
            </a:pPr>
            <a:r>
              <a:rPr lang="zh-CN" altLang="en-US" b="1">
                <a:solidFill>
                  <a:schemeClr val="bg1"/>
                </a:solidFill>
              </a:rPr>
              <a:t>注意：</a:t>
            </a:r>
          </a:p>
          <a:p>
            <a:pPr fontAlgn="auto">
              <a:spcBef>
                <a:spcPts val="600"/>
              </a:spcBef>
            </a:pPr>
            <a:r>
              <a:rPr lang="en-US" altLang="zh-CN" b="1">
                <a:solidFill>
                  <a:schemeClr val="bg1"/>
                </a:solidFill>
              </a:rPr>
              <a:t>1. </a:t>
            </a:r>
            <a:r>
              <a:rPr lang="zh-CN" altLang="en-US" b="1">
                <a:solidFill>
                  <a:schemeClr val="bg1"/>
                </a:solidFill>
              </a:rPr>
              <a:t>空行不运行；</a:t>
            </a:r>
          </a:p>
          <a:p>
            <a:pPr fontAlgn="auto">
              <a:spcBef>
                <a:spcPts val="600"/>
              </a:spcBef>
            </a:pPr>
            <a:r>
              <a:rPr lang="en-US" altLang="zh-CN" b="1">
                <a:solidFill>
                  <a:schemeClr val="bg1"/>
                </a:solidFill>
              </a:rPr>
              <a:t>2. </a:t>
            </a:r>
            <a:r>
              <a:rPr lang="zh-CN" altLang="en-US" b="1">
                <a:solidFill>
                  <a:schemeClr val="bg1"/>
                </a:solidFill>
              </a:rPr>
              <a:t>开头带</a:t>
            </a:r>
            <a:r>
              <a:rPr lang="en-US" altLang="zh-CN" b="1">
                <a:solidFill>
                  <a:schemeClr val="bg1"/>
                </a:solidFill>
              </a:rPr>
              <a:t>#</a:t>
            </a:r>
            <a:r>
              <a:rPr lang="zh-CN" altLang="en-US" b="1">
                <a:solidFill>
                  <a:schemeClr val="bg1"/>
                </a:solidFill>
              </a:rPr>
              <a:t>的语句为注释，不运行。</a:t>
            </a:r>
          </a:p>
        </p:txBody>
      </p:sp>
      <p:sp>
        <p:nvSpPr>
          <p:cNvPr id="3" name="文本框 2"/>
          <p:cNvSpPr txBox="1"/>
          <p:nvPr/>
        </p:nvSpPr>
        <p:spPr>
          <a:xfrm>
            <a:off x="3564255" y="908685"/>
            <a:ext cx="4858385" cy="755650"/>
          </a:xfrm>
          <a:prstGeom prst="rect">
            <a:avLst/>
          </a:prstGeom>
          <a:noFill/>
        </p:spPr>
        <p:txBody>
          <a:bodyPr wrap="square" rtlCol="0">
            <a:spAutoFit/>
          </a:bodyPr>
          <a:lstStyle/>
          <a:p>
            <a:pPr marL="285750" indent="-285750">
              <a:lnSpc>
                <a:spcPct val="120000"/>
              </a:lnSpc>
              <a:buFont typeface="Wingdings" panose="05000000000000000000" charset="0"/>
              <a:buChar char="p"/>
            </a:pPr>
            <a:r>
              <a:rPr lang="en-US" altLang="zh-CN" b="1">
                <a:solidFill>
                  <a:srgbClr val="FF0000"/>
                </a:solidFill>
                <a:latin typeface="微软雅黑" panose="020B0503020204020204" charset="-122"/>
                <a:ea typeface="微软雅黑" panose="020B0503020204020204" charset="-122"/>
                <a:cs typeface="微软雅黑" panose="020B0503020204020204" charset="-122"/>
              </a:rPr>
              <a:t>Deckbuild</a:t>
            </a:r>
            <a:r>
              <a:rPr lang="zh-CN" altLang="en-US" b="1">
                <a:solidFill>
                  <a:srgbClr val="FF0000"/>
                </a:solidFill>
                <a:latin typeface="微软雅黑" panose="020B0503020204020204" charset="-122"/>
                <a:ea typeface="微软雅黑" panose="020B0503020204020204" charset="-122"/>
                <a:cs typeface="微软雅黑" panose="020B0503020204020204" charset="-122"/>
              </a:rPr>
              <a:t>的语法由命令和参数组成</a:t>
            </a:r>
          </a:p>
          <a:p>
            <a:pPr marL="285750" indent="-285750">
              <a:lnSpc>
                <a:spcPct val="120000"/>
              </a:lnSpc>
              <a:buFont typeface="Wingdings" panose="05000000000000000000" charset="0"/>
              <a:buChar char="p"/>
            </a:pPr>
            <a:r>
              <a:rPr lang="zh-CN" altLang="en-US" b="1">
                <a:solidFill>
                  <a:srgbClr val="FF0000"/>
                </a:solidFill>
                <a:latin typeface="微软雅黑" panose="020B0503020204020204" charset="-122"/>
                <a:ea typeface="微软雅黑" panose="020B0503020204020204" charset="-122"/>
                <a:cs typeface="微软雅黑" panose="020B0503020204020204" charset="-122"/>
              </a:rPr>
              <a:t>一条语句只能有</a:t>
            </a:r>
            <a:r>
              <a:rPr lang="en-US" altLang="zh-CN" b="1">
                <a:solidFill>
                  <a:srgbClr val="FF0000"/>
                </a:solidFill>
                <a:latin typeface="微软雅黑" panose="020B0503020204020204" charset="-122"/>
                <a:ea typeface="微软雅黑" panose="020B0503020204020204" charset="-122"/>
                <a:cs typeface="微软雅黑" panose="020B0503020204020204" charset="-122"/>
              </a:rPr>
              <a:t>1</a:t>
            </a:r>
            <a:r>
              <a:rPr lang="zh-CN" altLang="en-US" b="1">
                <a:solidFill>
                  <a:srgbClr val="FF0000"/>
                </a:solidFill>
                <a:latin typeface="微软雅黑" panose="020B0503020204020204" charset="-122"/>
                <a:ea typeface="微软雅黑" panose="020B0503020204020204" charset="-122"/>
                <a:cs typeface="微软雅黑" panose="020B0503020204020204" charset="-122"/>
              </a:rPr>
              <a:t>个命令，但可有多个参数</a:t>
            </a:r>
          </a:p>
        </p:txBody>
      </p:sp>
      <p:sp>
        <p:nvSpPr>
          <p:cNvPr id="4" name="矩形 3"/>
          <p:cNvSpPr/>
          <p:nvPr/>
        </p:nvSpPr>
        <p:spPr>
          <a:xfrm>
            <a:off x="321913" y="2977188"/>
            <a:ext cx="321310" cy="288000"/>
          </a:xfrm>
          <a:prstGeom prst="rect">
            <a:avLst/>
          </a:prstGeom>
          <a:ln w="15875">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7" name="矩形 6"/>
          <p:cNvSpPr/>
          <p:nvPr/>
        </p:nvSpPr>
        <p:spPr>
          <a:xfrm>
            <a:off x="303136" y="1498872"/>
            <a:ext cx="513715" cy="1162839"/>
          </a:xfrm>
          <a:prstGeom prst="rect">
            <a:avLst/>
          </a:prstGeom>
          <a:ln w="15875">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8" name="矩形 7"/>
          <p:cNvSpPr/>
          <p:nvPr/>
        </p:nvSpPr>
        <p:spPr>
          <a:xfrm>
            <a:off x="317649" y="3585470"/>
            <a:ext cx="720000" cy="288000"/>
          </a:xfrm>
          <a:prstGeom prst="rect">
            <a:avLst/>
          </a:prstGeom>
          <a:ln w="15875">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9" name="矩形 8"/>
          <p:cNvSpPr/>
          <p:nvPr/>
        </p:nvSpPr>
        <p:spPr>
          <a:xfrm>
            <a:off x="317650" y="4173480"/>
            <a:ext cx="648000" cy="288000"/>
          </a:xfrm>
          <a:prstGeom prst="rect">
            <a:avLst/>
          </a:prstGeom>
          <a:ln w="15875">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0" name="矩形 9"/>
          <p:cNvSpPr/>
          <p:nvPr/>
        </p:nvSpPr>
        <p:spPr>
          <a:xfrm>
            <a:off x="334160" y="4761490"/>
            <a:ext cx="648000" cy="288000"/>
          </a:xfrm>
          <a:prstGeom prst="rect">
            <a:avLst/>
          </a:prstGeom>
          <a:ln w="15875">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1" name="矩形 10"/>
          <p:cNvSpPr/>
          <p:nvPr/>
        </p:nvSpPr>
        <p:spPr>
          <a:xfrm>
            <a:off x="313840" y="5334260"/>
            <a:ext cx="828000" cy="288000"/>
          </a:xfrm>
          <a:prstGeom prst="rect">
            <a:avLst/>
          </a:prstGeom>
          <a:ln w="15875">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2" name="矩形 11"/>
          <p:cNvSpPr/>
          <p:nvPr/>
        </p:nvSpPr>
        <p:spPr>
          <a:xfrm>
            <a:off x="332762" y="5949312"/>
            <a:ext cx="756000" cy="288000"/>
          </a:xfrm>
          <a:prstGeom prst="rect">
            <a:avLst/>
          </a:prstGeom>
          <a:ln w="15875">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3" name="矩形 12"/>
          <p:cNvSpPr/>
          <p:nvPr/>
        </p:nvSpPr>
        <p:spPr>
          <a:xfrm>
            <a:off x="685768" y="2977187"/>
            <a:ext cx="1855494" cy="288000"/>
          </a:xfrm>
          <a:prstGeom prst="rect">
            <a:avLst/>
          </a:prstGeom>
          <a:ln w="15875">
            <a:solidFill>
              <a:srgbClr val="00B05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4" name="矩形 13"/>
          <p:cNvSpPr/>
          <p:nvPr/>
        </p:nvSpPr>
        <p:spPr>
          <a:xfrm>
            <a:off x="1062318" y="3589280"/>
            <a:ext cx="2448000" cy="288000"/>
          </a:xfrm>
          <a:prstGeom prst="rect">
            <a:avLst/>
          </a:prstGeom>
          <a:ln w="15875">
            <a:solidFill>
              <a:srgbClr val="00B05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5" name="矩形 14"/>
          <p:cNvSpPr/>
          <p:nvPr/>
        </p:nvSpPr>
        <p:spPr>
          <a:xfrm>
            <a:off x="985410" y="4173480"/>
            <a:ext cx="2376000" cy="288000"/>
          </a:xfrm>
          <a:prstGeom prst="rect">
            <a:avLst/>
          </a:prstGeom>
          <a:ln w="15875">
            <a:solidFill>
              <a:srgbClr val="00B05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6" name="矩形 15"/>
          <p:cNvSpPr/>
          <p:nvPr/>
        </p:nvSpPr>
        <p:spPr>
          <a:xfrm>
            <a:off x="1005897" y="4753870"/>
            <a:ext cx="5004000" cy="288000"/>
          </a:xfrm>
          <a:prstGeom prst="rect">
            <a:avLst/>
          </a:prstGeom>
          <a:ln w="15875">
            <a:solidFill>
              <a:srgbClr val="00B05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8" name="矩形 17"/>
          <p:cNvSpPr/>
          <p:nvPr/>
        </p:nvSpPr>
        <p:spPr>
          <a:xfrm>
            <a:off x="1180522" y="5334260"/>
            <a:ext cx="2290445" cy="288000"/>
          </a:xfrm>
          <a:prstGeom prst="rect">
            <a:avLst/>
          </a:prstGeom>
          <a:ln w="15875">
            <a:solidFill>
              <a:srgbClr val="00B05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1" name="文本框 20"/>
          <p:cNvSpPr txBox="1"/>
          <p:nvPr/>
        </p:nvSpPr>
        <p:spPr>
          <a:xfrm>
            <a:off x="4619866" y="1600354"/>
            <a:ext cx="1045210" cy="337185"/>
          </a:xfrm>
          <a:prstGeom prst="rect">
            <a:avLst/>
          </a:prstGeom>
          <a:noFill/>
        </p:spPr>
        <p:txBody>
          <a:bodyPr wrap="square" rtlCol="0" anchor="t">
            <a:spAutoFit/>
          </a:bodyPr>
          <a:lstStyle/>
          <a:p>
            <a:r>
              <a:rPr lang="zh-CN" altLang="en-US" sz="1600" b="1" dirty="0">
                <a:solidFill>
                  <a:srgbClr val="FF0000"/>
                </a:solidFill>
                <a:latin typeface="楷体" panose="02010609060101010101" charset="-122"/>
                <a:ea typeface="楷体" panose="02010609060101010101" charset="-122"/>
                <a:cs typeface="微软雅黑" panose="020B0503020204020204" charset="-122"/>
                <a:sym typeface="+mn-ea"/>
              </a:rPr>
              <a:t>表示命令</a:t>
            </a:r>
          </a:p>
        </p:txBody>
      </p:sp>
      <p:sp>
        <p:nvSpPr>
          <p:cNvPr id="22" name="矩形 21"/>
          <p:cNvSpPr/>
          <p:nvPr/>
        </p:nvSpPr>
        <p:spPr>
          <a:xfrm>
            <a:off x="3971531" y="1672744"/>
            <a:ext cx="513715" cy="196850"/>
          </a:xfrm>
          <a:prstGeom prst="rect">
            <a:avLst/>
          </a:prstGeom>
          <a:ln w="15875">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3" name="矩形 22"/>
          <p:cNvSpPr/>
          <p:nvPr/>
        </p:nvSpPr>
        <p:spPr>
          <a:xfrm>
            <a:off x="3971531" y="1996594"/>
            <a:ext cx="513715" cy="196850"/>
          </a:xfrm>
          <a:prstGeom prst="rect">
            <a:avLst/>
          </a:prstGeom>
          <a:ln w="15875">
            <a:solidFill>
              <a:srgbClr val="00B05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4" name="文本框 23"/>
          <p:cNvSpPr txBox="1"/>
          <p:nvPr/>
        </p:nvSpPr>
        <p:spPr>
          <a:xfrm>
            <a:off x="4619866" y="1936269"/>
            <a:ext cx="1045210" cy="337185"/>
          </a:xfrm>
          <a:prstGeom prst="rect">
            <a:avLst/>
          </a:prstGeom>
          <a:noFill/>
        </p:spPr>
        <p:txBody>
          <a:bodyPr wrap="square" rtlCol="0" anchor="t">
            <a:spAutoFit/>
          </a:bodyPr>
          <a:lstStyle/>
          <a:p>
            <a:r>
              <a:rPr lang="zh-CN" altLang="en-US" sz="1600" b="1">
                <a:solidFill>
                  <a:srgbClr val="00B050"/>
                </a:solidFill>
                <a:latin typeface="楷体" panose="02010609060101010101" charset="-122"/>
                <a:ea typeface="楷体" panose="02010609060101010101" charset="-122"/>
                <a:cs typeface="微软雅黑" panose="020B0503020204020204" charset="-122"/>
                <a:sym typeface="+mn-ea"/>
              </a:rPr>
              <a:t>表示参数</a:t>
            </a:r>
          </a:p>
        </p:txBody>
      </p:sp>
      <p:sp>
        <p:nvSpPr>
          <p:cNvPr id="26" name="矩形 25"/>
          <p:cNvSpPr/>
          <p:nvPr/>
        </p:nvSpPr>
        <p:spPr>
          <a:xfrm>
            <a:off x="332255" y="6259859"/>
            <a:ext cx="455930" cy="288000"/>
          </a:xfrm>
          <a:prstGeom prst="rect">
            <a:avLst/>
          </a:prstGeom>
          <a:ln w="15875">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35D826A6-E122-4329-95A6-0B0C026AFD6D}"/>
              </a:ext>
            </a:extLst>
          </p:cNvPr>
          <p:cNvPicPr>
            <a:picLocks noChangeAspect="1"/>
          </p:cNvPicPr>
          <p:nvPr/>
        </p:nvPicPr>
        <p:blipFill>
          <a:blip r:embed="rId3"/>
          <a:stretch>
            <a:fillRect/>
          </a:stretch>
        </p:blipFill>
        <p:spPr>
          <a:xfrm>
            <a:off x="357425" y="562746"/>
            <a:ext cx="7972684" cy="599217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7950" y="118110"/>
            <a:ext cx="8458200" cy="460375"/>
          </a:xfrm>
          <a:prstGeom prst="rect">
            <a:avLst/>
          </a:prstGeom>
        </p:spPr>
        <p:txBody>
          <a:bodyPr wrap="square">
            <a:spAutoFit/>
          </a:bodyPr>
          <a:lstStyle/>
          <a:p>
            <a:pPr indent="0">
              <a:spcBef>
                <a:spcPts val="600"/>
              </a:spcBef>
              <a:buFontTx/>
              <a:buNone/>
            </a:pPr>
            <a:r>
              <a:rPr lang="zh-CN" altLang="en-US" sz="2400" b="1" dirty="0">
                <a:solidFill>
                  <a:srgbClr val="C00000"/>
                </a:solidFill>
                <a:latin typeface="微软雅黑" panose="020B0503020204020204" charset="-122"/>
                <a:ea typeface="微软雅黑" panose="020B0503020204020204" charset="-122"/>
                <a:cs typeface="Times New Roman" panose="02020603050405020304" charset="0"/>
              </a:rPr>
              <a:t>代码解析示例</a:t>
            </a:r>
            <a:r>
              <a:rPr lang="en-US" altLang="zh-CN" sz="2400" b="1" dirty="0">
                <a:solidFill>
                  <a:srgbClr val="C00000"/>
                </a:solidFill>
                <a:latin typeface="微软雅黑" panose="020B0503020204020204" charset="-122"/>
                <a:ea typeface="微软雅黑" panose="020B0503020204020204" charset="-122"/>
                <a:cs typeface="Times New Roman" panose="02020603050405020304" charset="0"/>
              </a:rPr>
              <a:t>: </a:t>
            </a:r>
            <a:r>
              <a:rPr lang="zh-CN" altLang="en-US" sz="2400" b="1" dirty="0">
                <a:solidFill>
                  <a:srgbClr val="0000FF"/>
                </a:solidFill>
                <a:latin typeface="Times New Roman" panose="02020603050405020304" charset="0"/>
                <a:ea typeface="微软雅黑" panose="020B0503020204020204" charset="-122"/>
                <a:cs typeface="Times New Roman" panose="02020603050405020304" charset="0"/>
                <a:sym typeface="+mn-ea"/>
              </a:rPr>
              <a:t>离子掺杂和退火工艺仿真</a:t>
            </a:r>
          </a:p>
        </p:txBody>
      </p:sp>
      <p:sp>
        <p:nvSpPr>
          <p:cNvPr id="11" name="矩形: 圆角 10">
            <a:extLst>
              <a:ext uri="{FF2B5EF4-FFF2-40B4-BE49-F238E27FC236}">
                <a16:creationId xmlns:a16="http://schemas.microsoft.com/office/drawing/2014/main" id="{388CB52D-B990-1459-0AA4-1188C102466F}"/>
              </a:ext>
            </a:extLst>
          </p:cNvPr>
          <p:cNvSpPr/>
          <p:nvPr/>
        </p:nvSpPr>
        <p:spPr>
          <a:xfrm>
            <a:off x="208424" y="606156"/>
            <a:ext cx="1583730" cy="619624"/>
          </a:xfrm>
          <a:prstGeom prst="roundRect">
            <a:avLst/>
          </a:prstGeom>
          <a:noFill/>
          <a:ln w="222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2C2D9AD4-EDD1-4562-9E39-0FB5ED1D56A4}"/>
              </a:ext>
            </a:extLst>
          </p:cNvPr>
          <p:cNvPicPr>
            <a:picLocks noChangeAspect="1"/>
          </p:cNvPicPr>
          <p:nvPr/>
        </p:nvPicPr>
        <p:blipFill>
          <a:blip r:embed="rId2"/>
          <a:stretch>
            <a:fillRect/>
          </a:stretch>
        </p:blipFill>
        <p:spPr>
          <a:xfrm>
            <a:off x="271724" y="606156"/>
            <a:ext cx="7972684" cy="599217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内容占位符 16"/>
          <p:cNvPicPr>
            <a:picLocks noGrp="1" noChangeAspect="1"/>
          </p:cNvPicPr>
          <p:nvPr>
            <p:ph idx="1"/>
          </p:nvPr>
        </p:nvPicPr>
        <p:blipFill>
          <a:blip r:embed="rId2"/>
          <a:srcRect l="11749" r="2324" b="16528"/>
          <a:stretch>
            <a:fillRect/>
          </a:stretch>
        </p:blipFill>
        <p:spPr>
          <a:xfrm>
            <a:off x="175895" y="764540"/>
            <a:ext cx="5227320" cy="5942965"/>
          </a:xfrm>
          <a:prstGeom prst="rect">
            <a:avLst/>
          </a:prstGeom>
        </p:spPr>
      </p:pic>
      <p:grpSp>
        <p:nvGrpSpPr>
          <p:cNvPr id="12" name="组合 11"/>
          <p:cNvGrpSpPr/>
          <p:nvPr/>
        </p:nvGrpSpPr>
        <p:grpSpPr>
          <a:xfrm>
            <a:off x="5332730" y="648335"/>
            <a:ext cx="1969770" cy="1637030"/>
            <a:chOff x="5109" y="1588"/>
            <a:chExt cx="3102" cy="2578"/>
          </a:xfrm>
        </p:grpSpPr>
        <p:cxnSp>
          <p:nvCxnSpPr>
            <p:cNvPr id="4" name="直接箭头连接符 3"/>
            <p:cNvCxnSpPr/>
            <p:nvPr/>
          </p:nvCxnSpPr>
          <p:spPr>
            <a:xfrm flipV="1">
              <a:off x="5952" y="2112"/>
              <a:ext cx="170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a:off x="5952" y="2112"/>
              <a:ext cx="0" cy="17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7653" y="1885"/>
              <a:ext cx="558" cy="580"/>
            </a:xfrm>
            <a:prstGeom prst="rect">
              <a:avLst/>
            </a:prstGeom>
            <a:noFill/>
          </p:spPr>
          <p:txBody>
            <a:bodyPr wrap="square" rtlCol="0">
              <a:spAutoFit/>
            </a:bodyPr>
            <a:lstStyle/>
            <a:p>
              <a:r>
                <a:rPr lang="en-US" altLang="zh-CN" b="1">
                  <a:latin typeface="Times New Roman" panose="02020603050405020304" charset="0"/>
                  <a:cs typeface="Times New Roman" panose="02020603050405020304" charset="0"/>
                </a:rPr>
                <a:t>X</a:t>
              </a:r>
            </a:p>
          </p:txBody>
        </p:sp>
        <p:sp>
          <p:nvSpPr>
            <p:cNvPr id="8" name="文本框 7"/>
            <p:cNvSpPr txBox="1"/>
            <p:nvPr/>
          </p:nvSpPr>
          <p:spPr>
            <a:xfrm>
              <a:off x="5394" y="3586"/>
              <a:ext cx="558" cy="580"/>
            </a:xfrm>
            <a:prstGeom prst="rect">
              <a:avLst/>
            </a:prstGeom>
            <a:noFill/>
          </p:spPr>
          <p:txBody>
            <a:bodyPr wrap="square" rtlCol="0">
              <a:spAutoFit/>
            </a:bodyPr>
            <a:lstStyle/>
            <a:p>
              <a:r>
                <a:rPr lang="en-US" altLang="zh-CN" b="1">
                  <a:latin typeface="Times New Roman" panose="02020603050405020304" charset="0"/>
                  <a:cs typeface="Times New Roman" panose="02020603050405020304" charset="0"/>
                </a:rPr>
                <a:t>Y</a:t>
              </a:r>
            </a:p>
          </p:txBody>
        </p:sp>
        <p:sp>
          <p:nvSpPr>
            <p:cNvPr id="9" name="文本框 8"/>
            <p:cNvSpPr txBox="1"/>
            <p:nvPr/>
          </p:nvSpPr>
          <p:spPr>
            <a:xfrm>
              <a:off x="5109" y="1588"/>
              <a:ext cx="978" cy="580"/>
            </a:xfrm>
            <a:prstGeom prst="rect">
              <a:avLst/>
            </a:prstGeom>
            <a:noFill/>
          </p:spPr>
          <p:txBody>
            <a:bodyPr wrap="none" rtlCol="0" anchor="t">
              <a:spAutoFit/>
            </a:bodyPr>
            <a:lstStyle/>
            <a:p>
              <a:r>
                <a:rPr lang="en-US" altLang="zh-CN" b="1" dirty="0">
                  <a:latin typeface="Times New Roman" panose="02020603050405020304" charset="0"/>
                  <a:ea typeface="微软雅黑" panose="020B0503020204020204" charset="-122"/>
                  <a:cs typeface="Times New Roman" panose="02020603050405020304" charset="0"/>
                  <a:sym typeface="+mn-ea"/>
                </a:rPr>
                <a:t>(0,0)</a:t>
              </a:r>
              <a:endParaRPr lang="zh-CN" altLang="en-US"/>
            </a:p>
          </p:txBody>
        </p:sp>
      </p:grpSp>
      <p:sp>
        <p:nvSpPr>
          <p:cNvPr id="10" name="文本框 9"/>
          <p:cNvSpPr txBox="1"/>
          <p:nvPr/>
        </p:nvSpPr>
        <p:spPr>
          <a:xfrm>
            <a:off x="3418840" y="2646680"/>
            <a:ext cx="5549900" cy="2045335"/>
          </a:xfrm>
          <a:prstGeom prst="rect">
            <a:avLst/>
          </a:prstGeom>
          <a:noFill/>
          <a:ln w="41275" cmpd="sng">
            <a:solidFill>
              <a:srgbClr val="FF0000"/>
            </a:solidFill>
            <a:prstDash val="solid"/>
          </a:ln>
        </p:spPr>
        <p:txBody>
          <a:bodyPr wrap="square" rtlCol="0" anchor="t">
            <a:spAutoFit/>
          </a:bodyPr>
          <a:lstStyle/>
          <a:p>
            <a:pPr marL="285750" indent="-285750" fontAlgn="auto">
              <a:spcBef>
                <a:spcPts val="600"/>
              </a:spcBef>
              <a:buFont typeface="Arial" panose="020B0604020202020204" pitchFamily="34" charset="0"/>
              <a:buChar char="•"/>
            </a:pPr>
            <a:r>
              <a:rPr lang="en-US" altLang="zh-CN" sz="1600" b="1" dirty="0">
                <a:solidFill>
                  <a:srgbClr val="C00000"/>
                </a:solidFill>
                <a:latin typeface="Times New Roman" panose="02020603050405020304" charset="0"/>
                <a:ea typeface="微软雅黑" panose="020B0503020204020204" charset="-122"/>
                <a:cs typeface="Times New Roman" panose="02020603050405020304" charset="0"/>
                <a:sym typeface="+mn-ea"/>
              </a:rPr>
              <a:t>loc</a:t>
            </a:r>
            <a:r>
              <a:rPr lang="en-US" altLang="zh-CN" sz="1400" b="1" dirty="0">
                <a:latin typeface="Times New Roman" panose="02020603050405020304" charset="0"/>
                <a:ea typeface="微软雅黑" panose="020B0503020204020204" charset="-122"/>
                <a:cs typeface="Times New Roman" panose="02020603050405020304" charset="0"/>
                <a:sym typeface="+mn-ea"/>
              </a:rPr>
              <a:t>: location,</a:t>
            </a:r>
            <a:r>
              <a:rPr lang="zh-CN" altLang="en-US" sz="1400" b="1" dirty="0">
                <a:latin typeface="Times New Roman" panose="02020603050405020304" charset="0"/>
                <a:ea typeface="微软雅黑" panose="020B0503020204020204" charset="-122"/>
                <a:cs typeface="Times New Roman" panose="02020603050405020304" charset="0"/>
                <a:sym typeface="+mn-ea"/>
              </a:rPr>
              <a:t>设定网格线在轴上的坐标，默认单位是</a:t>
            </a:r>
            <a:r>
              <a:rPr lang="en-US" altLang="zh-CN" sz="1400" b="1" dirty="0">
                <a:latin typeface="Times New Roman" panose="02020603050405020304" charset="0"/>
                <a:ea typeface="微软雅黑" panose="020B0503020204020204" charset="-122"/>
                <a:cs typeface="Times New Roman" panose="02020603050405020304" charset="0"/>
                <a:sym typeface="+mn-ea"/>
              </a:rPr>
              <a:t>μm</a:t>
            </a:r>
            <a:r>
              <a:rPr lang="zh-CN" altLang="en-US" sz="1400" b="1" dirty="0">
                <a:latin typeface="Times New Roman" panose="02020603050405020304" charset="0"/>
                <a:ea typeface="微软雅黑" panose="020B0503020204020204" charset="-122"/>
                <a:cs typeface="Times New Roman" panose="02020603050405020304" charset="0"/>
                <a:sym typeface="+mn-ea"/>
              </a:rPr>
              <a:t>；</a:t>
            </a:r>
          </a:p>
          <a:p>
            <a:pPr marL="285750" indent="-285750" fontAlgn="auto">
              <a:spcBef>
                <a:spcPts val="600"/>
              </a:spcBef>
              <a:buFont typeface="Arial" panose="020B0604020202020204" pitchFamily="34" charset="0"/>
              <a:buChar char="•"/>
            </a:pPr>
            <a:r>
              <a:rPr lang="en-US" altLang="zh-CN" sz="1600" b="1" dirty="0">
                <a:solidFill>
                  <a:srgbClr val="C00000"/>
                </a:solidFill>
                <a:latin typeface="Times New Roman" panose="02020603050405020304" charset="0"/>
                <a:ea typeface="微软雅黑" panose="020B0503020204020204" charset="-122"/>
                <a:cs typeface="Times New Roman" panose="02020603050405020304" charset="0"/>
                <a:sym typeface="+mn-ea"/>
              </a:rPr>
              <a:t>spacing:</a:t>
            </a:r>
            <a:r>
              <a:rPr lang="zh-CN" altLang="en-US" sz="1400" b="1" dirty="0">
                <a:latin typeface="Times New Roman" panose="02020603050405020304" charset="0"/>
                <a:ea typeface="微软雅黑" panose="020B0503020204020204" charset="-122"/>
                <a:cs typeface="Times New Roman" panose="02020603050405020304" charset="0"/>
                <a:sym typeface="+mn-ea"/>
              </a:rPr>
              <a:t>设定在</a:t>
            </a:r>
            <a:r>
              <a:rPr lang="en-US" altLang="zh-CN" sz="1400" b="1" dirty="0">
                <a:latin typeface="Times New Roman" panose="02020603050405020304" charset="0"/>
                <a:ea typeface="微软雅黑" panose="020B0503020204020204" charset="-122"/>
                <a:cs typeface="Times New Roman" panose="02020603050405020304" charset="0"/>
                <a:sym typeface="+mn-ea"/>
              </a:rPr>
              <a:t>loc</a:t>
            </a:r>
            <a:r>
              <a:rPr lang="zh-CN" altLang="en-US" sz="1400" b="1" dirty="0">
                <a:latin typeface="Times New Roman" panose="02020603050405020304" charset="0"/>
                <a:ea typeface="微软雅黑" panose="020B0503020204020204" charset="-122"/>
                <a:cs typeface="Times New Roman" panose="02020603050405020304" charset="0"/>
                <a:sym typeface="+mn-ea"/>
              </a:rPr>
              <a:t>处邻近网格线的间距</a:t>
            </a:r>
            <a:r>
              <a:rPr lang="en-US" altLang="zh-CN" sz="1400" b="1" dirty="0">
                <a:latin typeface="Times New Roman" panose="02020603050405020304" charset="0"/>
                <a:ea typeface="微软雅黑" panose="020B0503020204020204" charset="-122"/>
                <a:cs typeface="Times New Roman" panose="02020603050405020304" charset="0"/>
                <a:sym typeface="+mn-ea"/>
              </a:rPr>
              <a:t>,</a:t>
            </a:r>
            <a:r>
              <a:rPr lang="zh-CN" altLang="en-US" sz="1400" b="1" dirty="0">
                <a:latin typeface="Times New Roman" panose="02020603050405020304" charset="0"/>
                <a:ea typeface="微软雅黑" panose="020B0503020204020204" charset="-122"/>
                <a:cs typeface="Times New Roman" panose="02020603050405020304" charset="0"/>
                <a:sym typeface="+mn-ea"/>
              </a:rPr>
              <a:t>默认单位是</a:t>
            </a:r>
            <a:r>
              <a:rPr lang="en-US" altLang="zh-CN" sz="1400" b="1" dirty="0">
                <a:latin typeface="Times New Roman" panose="02020603050405020304" charset="0"/>
                <a:ea typeface="微软雅黑" panose="020B0503020204020204" charset="-122"/>
                <a:cs typeface="Times New Roman" panose="02020603050405020304" charset="0"/>
                <a:sym typeface="+mn-ea"/>
              </a:rPr>
              <a:t>μm</a:t>
            </a:r>
            <a:r>
              <a:rPr lang="zh-CN" altLang="en-US" sz="1400" b="1" dirty="0">
                <a:latin typeface="Times New Roman" panose="02020603050405020304" charset="0"/>
                <a:ea typeface="微软雅黑" panose="020B0503020204020204" charset="-122"/>
                <a:cs typeface="Times New Roman" panose="02020603050405020304" charset="0"/>
                <a:sym typeface="+mn-ea"/>
              </a:rPr>
              <a:t>；</a:t>
            </a:r>
          </a:p>
          <a:p>
            <a:pPr marL="285750" indent="-285750" fontAlgn="auto">
              <a:spcBef>
                <a:spcPts val="600"/>
              </a:spcBef>
              <a:buFont typeface="Wingdings" panose="05000000000000000000" charset="0"/>
              <a:buChar char="ü"/>
            </a:pPr>
            <a:r>
              <a:rPr lang="zh-CN" altLang="en-US" sz="1400" b="1" dirty="0">
                <a:solidFill>
                  <a:srgbClr val="0000FF"/>
                </a:solidFill>
                <a:latin typeface="Times New Roman" panose="02020603050405020304" charset="0"/>
                <a:ea typeface="微软雅黑" panose="020B0503020204020204" charset="-122"/>
                <a:cs typeface="Times New Roman" panose="02020603050405020304" charset="0"/>
                <a:sym typeface="+mn-ea"/>
              </a:rPr>
              <a:t>注意：</a:t>
            </a:r>
          </a:p>
          <a:p>
            <a:pPr marL="342900" indent="-342900" fontAlgn="auto">
              <a:spcBef>
                <a:spcPts val="600"/>
              </a:spcBef>
              <a:buFont typeface="+mj-ea"/>
              <a:buAutoNum type="circleNumDbPlain"/>
            </a:pPr>
            <a:r>
              <a:rPr lang="zh-CN" altLang="en-US" sz="1400" b="1" dirty="0">
                <a:solidFill>
                  <a:srgbClr val="0000FF"/>
                </a:solidFill>
                <a:latin typeface="Times New Roman" panose="02020603050405020304" charset="0"/>
                <a:ea typeface="微软雅黑" panose="020B0503020204020204" charset="-122"/>
                <a:cs typeface="Times New Roman" panose="02020603050405020304" charset="0"/>
                <a:sym typeface="+mn-ea"/>
              </a:rPr>
              <a:t>如果几个</a:t>
            </a:r>
            <a:r>
              <a:rPr lang="en-US" altLang="zh-CN" sz="1400" b="1" dirty="0">
                <a:solidFill>
                  <a:srgbClr val="0000FF"/>
                </a:solidFill>
                <a:latin typeface="Times New Roman" panose="02020603050405020304" charset="0"/>
                <a:ea typeface="微软雅黑" panose="020B0503020204020204" charset="-122"/>
                <a:cs typeface="Times New Roman" panose="02020603050405020304" charset="0"/>
                <a:sym typeface="+mn-ea"/>
              </a:rPr>
              <a:t>loc</a:t>
            </a:r>
            <a:r>
              <a:rPr lang="zh-CN" altLang="en-US" sz="1400" b="1" dirty="0">
                <a:solidFill>
                  <a:srgbClr val="0000FF"/>
                </a:solidFill>
                <a:latin typeface="Times New Roman" panose="02020603050405020304" charset="0"/>
                <a:ea typeface="微软雅黑" panose="020B0503020204020204" charset="-122"/>
                <a:cs typeface="Times New Roman" panose="02020603050405020304" charset="0"/>
                <a:sym typeface="+mn-ea"/>
              </a:rPr>
              <a:t>处的</a:t>
            </a:r>
            <a:r>
              <a:rPr lang="en-US" altLang="zh-CN" sz="1400" b="1" dirty="0">
                <a:solidFill>
                  <a:srgbClr val="0000FF"/>
                </a:solidFill>
                <a:latin typeface="Times New Roman" panose="02020603050405020304" charset="0"/>
                <a:ea typeface="微软雅黑" panose="020B0503020204020204" charset="-122"/>
                <a:cs typeface="Times New Roman" panose="02020603050405020304" charset="0"/>
                <a:sym typeface="+mn-ea"/>
              </a:rPr>
              <a:t>spacing</a:t>
            </a:r>
            <a:r>
              <a:rPr lang="zh-CN" altLang="en-US" sz="1400" b="1" dirty="0">
                <a:solidFill>
                  <a:srgbClr val="0000FF"/>
                </a:solidFill>
                <a:latin typeface="Times New Roman" panose="02020603050405020304" charset="0"/>
                <a:ea typeface="微软雅黑" panose="020B0503020204020204" charset="-122"/>
                <a:cs typeface="Times New Roman" panose="02020603050405020304" charset="0"/>
                <a:sym typeface="+mn-ea"/>
              </a:rPr>
              <a:t>是一样的，说明网格线是均匀的，否则就是不均匀的；</a:t>
            </a:r>
          </a:p>
          <a:p>
            <a:pPr marL="342900" indent="-342900" fontAlgn="auto">
              <a:spcBef>
                <a:spcPts val="600"/>
              </a:spcBef>
              <a:buFont typeface="+mj-ea"/>
              <a:buAutoNum type="circleNumDbPlain"/>
            </a:pPr>
            <a:r>
              <a:rPr lang="zh-CN" altLang="en-US" sz="1400" b="1" dirty="0">
                <a:solidFill>
                  <a:srgbClr val="0000FF"/>
                </a:solidFill>
                <a:latin typeface="Times New Roman" panose="02020603050405020304" charset="0"/>
                <a:ea typeface="微软雅黑" panose="020B0503020204020204" charset="-122"/>
                <a:cs typeface="Times New Roman" panose="02020603050405020304" charset="0"/>
                <a:sym typeface="+mn-ea"/>
              </a:rPr>
              <a:t>如果网格是不均匀的，系统会将网格间距从较小值渐变到较大值；</a:t>
            </a:r>
          </a:p>
          <a:p>
            <a:pPr marL="342900" indent="-342900" fontAlgn="auto">
              <a:spcBef>
                <a:spcPts val="600"/>
              </a:spcBef>
              <a:buFont typeface="+mj-ea"/>
              <a:buAutoNum type="circleNumDbPlain"/>
            </a:pPr>
            <a:r>
              <a:rPr lang="zh-CN" altLang="en-US" sz="1400" b="1" dirty="0">
                <a:solidFill>
                  <a:srgbClr val="0000FF"/>
                </a:solidFill>
                <a:latin typeface="Times New Roman" panose="02020603050405020304" charset="0"/>
                <a:ea typeface="微软雅黑" panose="020B0503020204020204" charset="-122"/>
                <a:cs typeface="Times New Roman" panose="02020603050405020304" charset="0"/>
                <a:sym typeface="+mn-ea"/>
              </a:rPr>
              <a:t>离子注入或存在</a:t>
            </a:r>
            <a:r>
              <a:rPr lang="en-US" altLang="zh-CN" sz="1400" b="1" dirty="0">
                <a:solidFill>
                  <a:srgbClr val="0000FF"/>
                </a:solidFill>
                <a:latin typeface="Times New Roman" panose="02020603050405020304" charset="0"/>
                <a:ea typeface="微软雅黑" panose="020B0503020204020204" charset="-122"/>
                <a:cs typeface="Times New Roman" panose="02020603050405020304" charset="0"/>
                <a:sym typeface="+mn-ea"/>
              </a:rPr>
              <a:t>PN</a:t>
            </a:r>
            <a:r>
              <a:rPr lang="zh-CN" altLang="en-US" sz="1400" b="1" dirty="0">
                <a:solidFill>
                  <a:srgbClr val="0000FF"/>
                </a:solidFill>
                <a:latin typeface="Times New Roman" panose="02020603050405020304" charset="0"/>
                <a:ea typeface="微软雅黑" panose="020B0503020204020204" charset="-122"/>
                <a:cs typeface="Times New Roman" panose="02020603050405020304" charset="0"/>
                <a:sym typeface="+mn-ea"/>
              </a:rPr>
              <a:t>结的区域应划分更细致的网格。</a:t>
            </a:r>
          </a:p>
        </p:txBody>
      </p:sp>
      <p:sp>
        <p:nvSpPr>
          <p:cNvPr id="11" name="文本框 10"/>
          <p:cNvSpPr txBox="1"/>
          <p:nvPr/>
        </p:nvSpPr>
        <p:spPr>
          <a:xfrm>
            <a:off x="5370195" y="2216150"/>
            <a:ext cx="1706880" cy="275590"/>
          </a:xfrm>
          <a:prstGeom prst="rect">
            <a:avLst/>
          </a:prstGeom>
          <a:noFill/>
        </p:spPr>
        <p:txBody>
          <a:bodyPr wrap="none" rtlCol="0" anchor="t">
            <a:spAutoFit/>
          </a:bodyPr>
          <a:lstStyle/>
          <a:p>
            <a:r>
              <a:rPr lang="zh-CN" altLang="en-US" sz="1200" b="1" dirty="0">
                <a:solidFill>
                  <a:srgbClr val="002060"/>
                </a:solidFill>
                <a:latin typeface="Times New Roman" panose="02020603050405020304" charset="0"/>
                <a:ea typeface="微软雅黑" panose="020B0503020204020204" charset="-122"/>
                <a:cs typeface="Times New Roman" panose="02020603050405020304" charset="0"/>
                <a:sym typeface="+mn-ea"/>
              </a:rPr>
              <a:t>二维网格坐标系示意图</a:t>
            </a:r>
          </a:p>
        </p:txBody>
      </p:sp>
      <p:cxnSp>
        <p:nvCxnSpPr>
          <p:cNvPr id="15" name="直接箭头连接符 14"/>
          <p:cNvCxnSpPr>
            <a:stCxn id="2" idx="3"/>
          </p:cNvCxnSpPr>
          <p:nvPr/>
        </p:nvCxnSpPr>
        <p:spPr>
          <a:xfrm flipV="1">
            <a:off x="2639695" y="1484630"/>
            <a:ext cx="2365375" cy="5816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2" idx="3"/>
          </p:cNvCxnSpPr>
          <p:nvPr/>
        </p:nvCxnSpPr>
        <p:spPr>
          <a:xfrm>
            <a:off x="2639695" y="2066290"/>
            <a:ext cx="708660" cy="15792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7950" y="118110"/>
            <a:ext cx="8458200" cy="460375"/>
          </a:xfrm>
          <a:prstGeom prst="rect">
            <a:avLst/>
          </a:prstGeom>
        </p:spPr>
        <p:txBody>
          <a:bodyPr wrap="square">
            <a:spAutoFit/>
          </a:bodyPr>
          <a:lstStyle/>
          <a:p>
            <a:pPr indent="0">
              <a:spcBef>
                <a:spcPts val="600"/>
              </a:spcBef>
              <a:buFontTx/>
              <a:buNone/>
            </a:pPr>
            <a:r>
              <a:rPr lang="zh-CN" altLang="en-US" sz="2400" b="1" dirty="0">
                <a:solidFill>
                  <a:srgbClr val="C00000"/>
                </a:solidFill>
                <a:latin typeface="微软雅黑" panose="020B0503020204020204" charset="-122"/>
                <a:ea typeface="微软雅黑" panose="020B0503020204020204" charset="-122"/>
                <a:cs typeface="Times New Roman" panose="02020603050405020304" charset="0"/>
              </a:rPr>
              <a:t>代码解析示例</a:t>
            </a:r>
            <a:r>
              <a:rPr lang="en-US" altLang="zh-CN" sz="2400" b="1" dirty="0">
                <a:solidFill>
                  <a:srgbClr val="C00000"/>
                </a:solidFill>
                <a:latin typeface="微软雅黑" panose="020B0503020204020204" charset="-122"/>
                <a:ea typeface="微软雅黑" panose="020B0503020204020204" charset="-122"/>
                <a:cs typeface="Times New Roman" panose="02020603050405020304" charset="0"/>
              </a:rPr>
              <a:t>: </a:t>
            </a:r>
            <a:r>
              <a:rPr lang="zh-CN" altLang="en-US" sz="2400" b="1" dirty="0">
                <a:solidFill>
                  <a:srgbClr val="0000FF"/>
                </a:solidFill>
                <a:latin typeface="Times New Roman" panose="02020603050405020304" charset="0"/>
                <a:ea typeface="微软雅黑" panose="020B0503020204020204" charset="-122"/>
                <a:cs typeface="Times New Roman" panose="02020603050405020304" charset="0"/>
                <a:sym typeface="+mn-ea"/>
              </a:rPr>
              <a:t>离子掺杂和退火工艺仿真</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779520" y="2204720"/>
            <a:ext cx="5122545" cy="814705"/>
          </a:xfrm>
          <a:prstGeom prst="rect">
            <a:avLst/>
          </a:prstGeom>
          <a:noFill/>
          <a:ln w="41275" cmpd="sng">
            <a:solidFill>
              <a:srgbClr val="FF0000"/>
            </a:solidFill>
            <a:prstDash val="solid"/>
          </a:ln>
        </p:spPr>
        <p:txBody>
          <a:bodyPr wrap="square" rtlCol="0" anchor="t">
            <a:spAutoFit/>
          </a:bodyPr>
          <a:lstStyle/>
          <a:p>
            <a:pPr marL="285750" indent="-285750" fontAlgn="auto">
              <a:spcBef>
                <a:spcPts val="600"/>
              </a:spcBef>
              <a:buFont typeface="Arial" panose="020B0604020202020204" pitchFamily="34" charset="0"/>
              <a:buChar char="•"/>
            </a:pPr>
            <a:r>
              <a:rPr lang="en-US" altLang="zh-CN" sz="1400" b="1" dirty="0">
                <a:solidFill>
                  <a:srgbClr val="FF0000"/>
                </a:solidFill>
                <a:latin typeface="Times New Roman" panose="02020603050405020304" charset="0"/>
                <a:ea typeface="微软雅黑" panose="020B0503020204020204" charset="-122"/>
                <a:cs typeface="Times New Roman" panose="02020603050405020304" charset="0"/>
                <a:sym typeface="+mn-ea"/>
              </a:rPr>
              <a:t>init</a:t>
            </a: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是</a:t>
            </a:r>
            <a:r>
              <a:rPr lang="en-US" altLang="zh-CN" sz="1400" b="1" dirty="0">
                <a:solidFill>
                  <a:srgbClr val="FF0000"/>
                </a:solidFill>
                <a:latin typeface="Times New Roman" panose="02020603050405020304" charset="0"/>
                <a:ea typeface="微软雅黑" panose="020B0503020204020204" charset="-122"/>
                <a:cs typeface="Times New Roman" panose="02020603050405020304" charset="0"/>
                <a:sym typeface="+mn-ea"/>
              </a:rPr>
              <a:t>initialize</a:t>
            </a: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的简写，为</a:t>
            </a:r>
            <a:r>
              <a:rPr lang="zh-CN" altLang="en-US" sz="1400" b="1" dirty="0">
                <a:solidFill>
                  <a:srgbClr val="FF0000"/>
                </a:solidFill>
                <a:latin typeface="Times New Roman" panose="02020603050405020304" charset="0"/>
                <a:ea typeface="微软雅黑" panose="020B0503020204020204" charset="-122"/>
                <a:cs typeface="Times New Roman" panose="02020603050405020304" charset="0"/>
                <a:sym typeface="+mn-ea"/>
              </a:rPr>
              <a:t>初始化</a:t>
            </a: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命令；</a:t>
            </a:r>
          </a:p>
          <a:p>
            <a:pPr marL="285750" indent="-285750" fontAlgn="auto">
              <a:spcBef>
                <a:spcPts val="600"/>
              </a:spcBef>
              <a:buFont typeface="Arial" panose="020B0604020202020204" pitchFamily="34" charset="0"/>
              <a:buChar char="•"/>
            </a:pP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所定义的衬底是</a:t>
            </a:r>
            <a:r>
              <a:rPr lang="zh-CN" altLang="en-US" sz="1400" b="1" dirty="0">
                <a:solidFill>
                  <a:srgbClr val="0000FF"/>
                </a:solidFill>
                <a:latin typeface="Times New Roman" panose="02020603050405020304" charset="0"/>
                <a:ea typeface="微软雅黑" panose="020B0503020204020204" charset="-122"/>
                <a:cs typeface="Times New Roman" panose="02020603050405020304" charset="0"/>
                <a:sym typeface="+mn-ea"/>
              </a:rPr>
              <a:t>硅</a:t>
            </a: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材料，掺杂磷（即</a:t>
            </a:r>
            <a:r>
              <a:rPr lang="en-US" altLang="zh-CN" sz="1400" b="1" dirty="0">
                <a:solidFill>
                  <a:schemeClr val="tx1"/>
                </a:solidFill>
                <a:latin typeface="Times New Roman" panose="02020603050405020304" charset="0"/>
                <a:ea typeface="微软雅黑" panose="020B0503020204020204" charset="-122"/>
                <a:cs typeface="Times New Roman" panose="02020603050405020304" charset="0"/>
                <a:sym typeface="+mn-ea"/>
              </a:rPr>
              <a:t>N</a:t>
            </a: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型掺杂），浓度是</a:t>
            </a:r>
            <a:r>
              <a:rPr lang="en-US" altLang="zh-CN" sz="1400" b="1" dirty="0">
                <a:solidFill>
                  <a:srgbClr val="0000FF"/>
                </a:solidFill>
                <a:latin typeface="Times New Roman" panose="02020603050405020304" charset="0"/>
                <a:ea typeface="微软雅黑" panose="020B0503020204020204" charset="-122"/>
                <a:cs typeface="Times New Roman" panose="02020603050405020304" charset="0"/>
                <a:sym typeface="+mn-ea"/>
              </a:rPr>
              <a:t>1</a:t>
            </a:r>
            <a:r>
              <a:rPr lang="zh-CN" altLang="en-US" sz="1400" b="1" dirty="0">
                <a:solidFill>
                  <a:srgbClr val="0000FF"/>
                </a:solidFill>
                <a:latin typeface="Times New Roman" panose="02020603050405020304" charset="0"/>
                <a:ea typeface="微软雅黑" panose="020B0503020204020204" charset="-122"/>
                <a:cs typeface="Times New Roman" panose="02020603050405020304" charset="0"/>
                <a:sym typeface="+mn-ea"/>
              </a:rPr>
              <a:t>×</a:t>
            </a:r>
            <a:r>
              <a:rPr lang="en-US" altLang="zh-CN" sz="1400" b="1" dirty="0">
                <a:solidFill>
                  <a:srgbClr val="0000FF"/>
                </a:solidFill>
                <a:latin typeface="Times New Roman" panose="02020603050405020304" charset="0"/>
                <a:ea typeface="微软雅黑" panose="020B0503020204020204" charset="-122"/>
                <a:cs typeface="Times New Roman" panose="02020603050405020304" charset="0"/>
                <a:sym typeface="+mn-ea"/>
              </a:rPr>
              <a:t>10</a:t>
            </a:r>
            <a:r>
              <a:rPr lang="en-US" altLang="zh-CN" sz="1400" b="1" baseline="30000" dirty="0">
                <a:solidFill>
                  <a:srgbClr val="0000FF"/>
                </a:solidFill>
                <a:latin typeface="Times New Roman" panose="02020603050405020304" charset="0"/>
                <a:ea typeface="微软雅黑" panose="020B0503020204020204" charset="-122"/>
                <a:cs typeface="Times New Roman" panose="02020603050405020304" charset="0"/>
                <a:sym typeface="+mn-ea"/>
              </a:rPr>
              <a:t>14</a:t>
            </a:r>
            <a:r>
              <a:rPr lang="en-US" altLang="zh-CN" sz="1400" b="1" dirty="0">
                <a:solidFill>
                  <a:srgbClr val="0000FF"/>
                </a:solidFill>
                <a:latin typeface="Times New Roman" panose="02020603050405020304" charset="0"/>
                <a:ea typeface="微软雅黑" panose="020B0503020204020204" charset="-122"/>
                <a:cs typeface="Times New Roman" panose="02020603050405020304" charset="0"/>
                <a:sym typeface="+mn-ea"/>
              </a:rPr>
              <a:t>cm</a:t>
            </a:r>
            <a:r>
              <a:rPr lang="en-US" altLang="zh-CN" sz="1400" b="1" baseline="30000" dirty="0">
                <a:solidFill>
                  <a:srgbClr val="0000FF"/>
                </a:solidFill>
                <a:latin typeface="Times New Roman" panose="02020603050405020304" charset="0"/>
                <a:ea typeface="微软雅黑" panose="020B0503020204020204" charset="-122"/>
                <a:cs typeface="Times New Roman" panose="02020603050405020304" charset="0"/>
                <a:sym typeface="+mn-ea"/>
              </a:rPr>
              <a:t>-3</a:t>
            </a:r>
            <a:r>
              <a:rPr lang="zh-CN" altLang="en-US" sz="1400" b="1" dirty="0">
                <a:latin typeface="Times New Roman" panose="02020603050405020304" charset="0"/>
                <a:ea typeface="微软雅黑" panose="020B0503020204020204" charset="-122"/>
                <a:cs typeface="Times New Roman" panose="02020603050405020304" charset="0"/>
                <a:sym typeface="+mn-ea"/>
              </a:rPr>
              <a:t>；</a:t>
            </a:r>
            <a:endParaRPr lang="en-US" altLang="zh-CN" sz="1400" b="1" baseline="30000" dirty="0">
              <a:solidFill>
                <a:srgbClr val="0000FF"/>
              </a:solidFill>
              <a:latin typeface="Times New Roman" panose="02020603050405020304" charset="0"/>
              <a:ea typeface="微软雅黑" panose="020B0503020204020204" charset="-122"/>
              <a:cs typeface="Times New Roman" panose="02020603050405020304" charset="0"/>
              <a:sym typeface="+mn-ea"/>
            </a:endParaRPr>
          </a:p>
        </p:txBody>
      </p:sp>
      <p:cxnSp>
        <p:nvCxnSpPr>
          <p:cNvPr id="16" name="直接箭头连接符 15"/>
          <p:cNvCxnSpPr>
            <a:stCxn id="2" idx="3"/>
            <a:endCxn id="10" idx="1"/>
          </p:cNvCxnSpPr>
          <p:nvPr/>
        </p:nvCxnSpPr>
        <p:spPr>
          <a:xfrm flipV="1">
            <a:off x="2468880" y="2612390"/>
            <a:ext cx="1310640" cy="4279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07950" y="118110"/>
            <a:ext cx="8458200" cy="460375"/>
          </a:xfrm>
          <a:prstGeom prst="rect">
            <a:avLst/>
          </a:prstGeom>
        </p:spPr>
        <p:txBody>
          <a:bodyPr wrap="square">
            <a:spAutoFit/>
          </a:bodyPr>
          <a:lstStyle/>
          <a:p>
            <a:pPr indent="0">
              <a:spcBef>
                <a:spcPts val="600"/>
              </a:spcBef>
              <a:buFontTx/>
              <a:buNone/>
            </a:pPr>
            <a:r>
              <a:rPr lang="zh-CN" altLang="en-US" sz="2400" b="1" dirty="0">
                <a:solidFill>
                  <a:srgbClr val="C00000"/>
                </a:solidFill>
                <a:latin typeface="微软雅黑" panose="020B0503020204020204" charset="-122"/>
                <a:ea typeface="微软雅黑" panose="020B0503020204020204" charset="-122"/>
                <a:cs typeface="Times New Roman" panose="02020603050405020304" charset="0"/>
              </a:rPr>
              <a:t>代码解析示例</a:t>
            </a:r>
            <a:r>
              <a:rPr lang="en-US" altLang="zh-CN" sz="2400" b="1" dirty="0">
                <a:solidFill>
                  <a:srgbClr val="C00000"/>
                </a:solidFill>
                <a:latin typeface="微软雅黑" panose="020B0503020204020204" charset="-122"/>
                <a:ea typeface="微软雅黑" panose="020B0503020204020204" charset="-122"/>
                <a:cs typeface="Times New Roman" panose="02020603050405020304" charset="0"/>
              </a:rPr>
              <a:t>: </a:t>
            </a:r>
            <a:r>
              <a:rPr lang="zh-CN" altLang="en-US" sz="2400" b="1" dirty="0">
                <a:solidFill>
                  <a:srgbClr val="0000FF"/>
                </a:solidFill>
                <a:latin typeface="Times New Roman" panose="02020603050405020304" charset="0"/>
                <a:ea typeface="微软雅黑" panose="020B0503020204020204" charset="-122"/>
                <a:cs typeface="Times New Roman" panose="02020603050405020304" charset="0"/>
                <a:sym typeface="+mn-ea"/>
              </a:rPr>
              <a:t>离子掺杂和退火工艺仿真</a:t>
            </a:r>
          </a:p>
        </p:txBody>
      </p:sp>
      <p:pic>
        <p:nvPicPr>
          <p:cNvPr id="9" name="内容占位符 8"/>
          <p:cNvPicPr>
            <a:picLocks noGrp="1" noChangeAspect="1"/>
          </p:cNvPicPr>
          <p:nvPr>
            <p:ph idx="1"/>
          </p:nvPr>
        </p:nvPicPr>
        <p:blipFill>
          <a:blip r:embed="rId2"/>
          <a:srcRect l="8471" r="24932" b="15708"/>
          <a:stretch>
            <a:fillRect/>
          </a:stretch>
        </p:blipFill>
        <p:spPr>
          <a:xfrm>
            <a:off x="361315" y="621030"/>
            <a:ext cx="5161915" cy="58318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779520" y="2204720"/>
            <a:ext cx="5122545" cy="598805"/>
          </a:xfrm>
          <a:prstGeom prst="rect">
            <a:avLst/>
          </a:prstGeom>
          <a:noFill/>
          <a:ln w="41275" cmpd="sng">
            <a:solidFill>
              <a:srgbClr val="FF0000"/>
            </a:solidFill>
            <a:prstDash val="solid"/>
          </a:ln>
        </p:spPr>
        <p:txBody>
          <a:bodyPr wrap="square" rtlCol="0" anchor="t">
            <a:spAutoFit/>
          </a:bodyPr>
          <a:lstStyle/>
          <a:p>
            <a:pPr marL="285750" indent="-285750" fontAlgn="auto">
              <a:spcBef>
                <a:spcPts val="600"/>
              </a:spcBef>
              <a:buFont typeface="Arial" panose="020B0604020202020204" pitchFamily="34" charset="0"/>
              <a:buChar char="•"/>
            </a:pPr>
            <a:r>
              <a:rPr lang="en-US" sz="1400" b="1" dirty="0">
                <a:solidFill>
                  <a:srgbClr val="FF0000"/>
                </a:solidFill>
                <a:latin typeface="Times New Roman" panose="02020603050405020304" charset="0"/>
                <a:ea typeface="微软雅黑" panose="020B0503020204020204" charset="-122"/>
                <a:cs typeface="Times New Roman" panose="02020603050405020304" charset="0"/>
                <a:sym typeface="+mn-ea"/>
              </a:rPr>
              <a:t>implant</a:t>
            </a: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是</a:t>
            </a:r>
            <a:r>
              <a:rPr lang="zh-CN" altLang="en-US" sz="1400" b="1" dirty="0">
                <a:solidFill>
                  <a:srgbClr val="FF0000"/>
                </a:solidFill>
                <a:latin typeface="Times New Roman" panose="02020603050405020304" charset="0"/>
                <a:ea typeface="微软雅黑" panose="020B0503020204020204" charset="-122"/>
                <a:cs typeface="Times New Roman" panose="02020603050405020304" charset="0"/>
                <a:sym typeface="+mn-ea"/>
              </a:rPr>
              <a:t>掺杂注入</a:t>
            </a: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命令；</a:t>
            </a:r>
          </a:p>
          <a:p>
            <a:pPr marL="285750" indent="-285750" fontAlgn="auto">
              <a:spcBef>
                <a:spcPts val="600"/>
              </a:spcBef>
              <a:buFont typeface="Arial" panose="020B0604020202020204" pitchFamily="34" charset="0"/>
              <a:buChar char="•"/>
            </a:pP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掺杂的杂质是</a:t>
            </a:r>
            <a:r>
              <a:rPr lang="zh-CN" altLang="en-US" sz="1400" b="1" dirty="0">
                <a:solidFill>
                  <a:srgbClr val="0000FF"/>
                </a:solidFill>
                <a:latin typeface="Times New Roman" panose="02020603050405020304" charset="0"/>
                <a:ea typeface="微软雅黑" panose="020B0503020204020204" charset="-122"/>
                <a:cs typeface="Times New Roman" panose="02020603050405020304" charset="0"/>
                <a:sym typeface="+mn-ea"/>
              </a:rPr>
              <a:t>硼</a:t>
            </a: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a:t>
            </a:r>
            <a:r>
              <a:rPr lang="zh-CN" altLang="en-US" sz="1400" b="1" dirty="0">
                <a:latin typeface="Times New Roman" panose="02020603050405020304" charset="0"/>
                <a:ea typeface="微软雅黑" panose="020B0503020204020204" charset="-122"/>
                <a:cs typeface="Times New Roman" panose="02020603050405020304" charset="0"/>
                <a:sym typeface="+mn-ea"/>
              </a:rPr>
              <a:t>剂量</a:t>
            </a: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是</a:t>
            </a:r>
            <a:r>
              <a:rPr lang="en-US" altLang="zh-CN" sz="1400" b="1" dirty="0">
                <a:solidFill>
                  <a:srgbClr val="0000FF"/>
                </a:solidFill>
                <a:latin typeface="Times New Roman" panose="02020603050405020304" charset="0"/>
                <a:ea typeface="微软雅黑" panose="020B0503020204020204" charset="-122"/>
                <a:cs typeface="Times New Roman" panose="02020603050405020304" charset="0"/>
                <a:sym typeface="+mn-ea"/>
              </a:rPr>
              <a:t>1</a:t>
            </a:r>
            <a:r>
              <a:rPr lang="zh-CN" altLang="en-US" sz="1400" b="1" dirty="0">
                <a:solidFill>
                  <a:srgbClr val="0000FF"/>
                </a:solidFill>
                <a:latin typeface="Times New Roman" panose="02020603050405020304" charset="0"/>
                <a:ea typeface="微软雅黑" panose="020B0503020204020204" charset="-122"/>
                <a:cs typeface="Times New Roman" panose="02020603050405020304" charset="0"/>
                <a:sym typeface="+mn-ea"/>
              </a:rPr>
              <a:t>×</a:t>
            </a:r>
            <a:r>
              <a:rPr lang="en-US" altLang="zh-CN" sz="1400" b="1" dirty="0">
                <a:solidFill>
                  <a:srgbClr val="0000FF"/>
                </a:solidFill>
                <a:latin typeface="Times New Roman" panose="02020603050405020304" charset="0"/>
                <a:ea typeface="微软雅黑" panose="020B0503020204020204" charset="-122"/>
                <a:cs typeface="Times New Roman" panose="02020603050405020304" charset="0"/>
                <a:sym typeface="+mn-ea"/>
              </a:rPr>
              <a:t>10</a:t>
            </a:r>
            <a:r>
              <a:rPr lang="en-US" altLang="zh-CN" sz="1400" b="1" baseline="30000" dirty="0">
                <a:solidFill>
                  <a:srgbClr val="0000FF"/>
                </a:solidFill>
                <a:latin typeface="Times New Roman" panose="02020603050405020304" charset="0"/>
                <a:ea typeface="微软雅黑" panose="020B0503020204020204" charset="-122"/>
                <a:cs typeface="Times New Roman" panose="02020603050405020304" charset="0"/>
                <a:sym typeface="+mn-ea"/>
              </a:rPr>
              <a:t>13</a:t>
            </a:r>
            <a:r>
              <a:rPr lang="en-US" altLang="zh-CN" sz="1400" b="1" dirty="0">
                <a:solidFill>
                  <a:srgbClr val="0000FF"/>
                </a:solidFill>
                <a:latin typeface="Times New Roman" panose="02020603050405020304" charset="0"/>
                <a:ea typeface="微软雅黑" panose="020B0503020204020204" charset="-122"/>
                <a:cs typeface="Times New Roman" panose="02020603050405020304" charset="0"/>
                <a:sym typeface="+mn-ea"/>
              </a:rPr>
              <a:t>cm</a:t>
            </a:r>
            <a:r>
              <a:rPr lang="en-US" altLang="zh-CN" sz="1400" b="1" baseline="30000" dirty="0">
                <a:solidFill>
                  <a:srgbClr val="0000FF"/>
                </a:solidFill>
                <a:latin typeface="Times New Roman" panose="02020603050405020304" charset="0"/>
                <a:ea typeface="微软雅黑" panose="020B0503020204020204" charset="-122"/>
                <a:cs typeface="Times New Roman" panose="02020603050405020304" charset="0"/>
                <a:sym typeface="+mn-ea"/>
              </a:rPr>
              <a:t>-2</a:t>
            </a:r>
            <a:r>
              <a:rPr lang="zh-CN" altLang="en-US" sz="1400" b="1" dirty="0">
                <a:latin typeface="Times New Roman" panose="02020603050405020304" charset="0"/>
                <a:ea typeface="微软雅黑" panose="020B0503020204020204" charset="-122"/>
                <a:cs typeface="Times New Roman" panose="02020603050405020304" charset="0"/>
                <a:sym typeface="+mn-ea"/>
              </a:rPr>
              <a:t>；能量是</a:t>
            </a:r>
            <a:r>
              <a:rPr lang="en-US" altLang="zh-CN" sz="1400" b="1" dirty="0">
                <a:latin typeface="Times New Roman" panose="02020603050405020304" charset="0"/>
                <a:ea typeface="微软雅黑" panose="020B0503020204020204" charset="-122"/>
                <a:cs typeface="Times New Roman" panose="02020603050405020304" charset="0"/>
                <a:sym typeface="+mn-ea"/>
              </a:rPr>
              <a:t>70keV</a:t>
            </a:r>
            <a:endParaRPr lang="en-US" altLang="zh-CN" sz="1400" b="1" baseline="30000" dirty="0">
              <a:solidFill>
                <a:srgbClr val="0000FF"/>
              </a:solidFill>
              <a:latin typeface="Times New Roman" panose="02020603050405020304" charset="0"/>
              <a:ea typeface="微软雅黑" panose="020B0503020204020204" charset="-122"/>
              <a:cs typeface="Times New Roman" panose="02020603050405020304" charset="0"/>
              <a:sym typeface="+mn-ea"/>
            </a:endParaRPr>
          </a:p>
        </p:txBody>
      </p:sp>
      <p:cxnSp>
        <p:nvCxnSpPr>
          <p:cNvPr id="16" name="直接箭头连接符 15"/>
          <p:cNvCxnSpPr/>
          <p:nvPr/>
        </p:nvCxnSpPr>
        <p:spPr>
          <a:xfrm flipV="1">
            <a:off x="3357245" y="2853055"/>
            <a:ext cx="1070610" cy="6553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07950" y="118110"/>
            <a:ext cx="8458200" cy="460375"/>
          </a:xfrm>
          <a:prstGeom prst="rect">
            <a:avLst/>
          </a:prstGeom>
        </p:spPr>
        <p:txBody>
          <a:bodyPr wrap="square">
            <a:spAutoFit/>
          </a:bodyPr>
          <a:lstStyle/>
          <a:p>
            <a:pPr indent="0">
              <a:spcBef>
                <a:spcPts val="600"/>
              </a:spcBef>
              <a:buFontTx/>
              <a:buNone/>
            </a:pPr>
            <a:r>
              <a:rPr lang="zh-CN" altLang="en-US" sz="2400" b="1" dirty="0">
                <a:solidFill>
                  <a:srgbClr val="C00000"/>
                </a:solidFill>
                <a:latin typeface="微软雅黑" panose="020B0503020204020204" charset="-122"/>
                <a:ea typeface="微软雅黑" panose="020B0503020204020204" charset="-122"/>
                <a:cs typeface="Times New Roman" panose="02020603050405020304" charset="0"/>
              </a:rPr>
              <a:t>代码解析示例</a:t>
            </a:r>
            <a:r>
              <a:rPr lang="en-US" altLang="zh-CN" sz="2400" b="1" dirty="0">
                <a:solidFill>
                  <a:srgbClr val="C00000"/>
                </a:solidFill>
                <a:latin typeface="微软雅黑" panose="020B0503020204020204" charset="-122"/>
                <a:ea typeface="微软雅黑" panose="020B0503020204020204" charset="-122"/>
                <a:cs typeface="Times New Roman" panose="02020603050405020304" charset="0"/>
              </a:rPr>
              <a:t>: </a:t>
            </a:r>
            <a:r>
              <a:rPr lang="zh-CN" altLang="en-US" sz="2400" b="1" dirty="0">
                <a:solidFill>
                  <a:srgbClr val="0000FF"/>
                </a:solidFill>
                <a:latin typeface="Times New Roman" panose="02020603050405020304" charset="0"/>
                <a:ea typeface="微软雅黑" panose="020B0503020204020204" charset="-122"/>
                <a:cs typeface="Times New Roman" panose="02020603050405020304" charset="0"/>
                <a:sym typeface="+mn-ea"/>
              </a:rPr>
              <a:t>离子掺杂和退火工艺仿真</a:t>
            </a:r>
          </a:p>
        </p:txBody>
      </p:sp>
      <p:pic>
        <p:nvPicPr>
          <p:cNvPr id="7" name="内容占位符 6"/>
          <p:cNvPicPr>
            <a:picLocks noGrp="1" noChangeAspect="1"/>
          </p:cNvPicPr>
          <p:nvPr>
            <p:ph idx="1"/>
          </p:nvPr>
        </p:nvPicPr>
        <p:blipFill>
          <a:blip r:embed="rId2"/>
          <a:srcRect l="9831" r="24932" b="15708"/>
          <a:stretch>
            <a:fillRect/>
          </a:stretch>
        </p:blipFill>
        <p:spPr>
          <a:xfrm>
            <a:off x="539115" y="692785"/>
            <a:ext cx="5072380" cy="585025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p:cNvPicPr>
            <a:picLocks noGrp="1" noChangeAspect="1"/>
          </p:cNvPicPr>
          <p:nvPr>
            <p:ph idx="1"/>
          </p:nvPr>
        </p:nvPicPr>
        <p:blipFill>
          <a:blip r:embed="rId2"/>
          <a:srcRect l="9955" r="24932" b="15708"/>
          <a:stretch>
            <a:fillRect/>
          </a:stretch>
        </p:blipFill>
        <p:spPr>
          <a:xfrm>
            <a:off x="251460" y="650240"/>
            <a:ext cx="5251450" cy="6068060"/>
          </a:xfrm>
          <a:prstGeom prst="rect">
            <a:avLst/>
          </a:prstGeom>
        </p:spPr>
      </p:pic>
      <p:sp>
        <p:nvSpPr>
          <p:cNvPr id="10" name="文本框 9"/>
          <p:cNvSpPr txBox="1"/>
          <p:nvPr/>
        </p:nvSpPr>
        <p:spPr>
          <a:xfrm>
            <a:off x="3600450" y="1359535"/>
            <a:ext cx="5217160" cy="2984500"/>
          </a:xfrm>
          <a:prstGeom prst="rect">
            <a:avLst/>
          </a:prstGeom>
          <a:noFill/>
          <a:ln w="41275" cmpd="sng">
            <a:solidFill>
              <a:srgbClr val="FF0000"/>
            </a:solidFill>
            <a:prstDash val="solid"/>
          </a:ln>
        </p:spPr>
        <p:txBody>
          <a:bodyPr wrap="square" rtlCol="0" anchor="t">
            <a:spAutoFit/>
          </a:bodyPr>
          <a:lstStyle/>
          <a:p>
            <a:pPr marL="285750" indent="-285750" fontAlgn="auto">
              <a:lnSpc>
                <a:spcPct val="150000"/>
              </a:lnSpc>
              <a:spcBef>
                <a:spcPts val="600"/>
              </a:spcBef>
              <a:buFont typeface="Arial" panose="020B0604020202020204" pitchFamily="34" charset="0"/>
              <a:buChar char="•"/>
            </a:pPr>
            <a:r>
              <a:rPr lang="en-US" sz="1400" b="1" dirty="0">
                <a:solidFill>
                  <a:srgbClr val="FF0000"/>
                </a:solidFill>
                <a:latin typeface="Times New Roman" panose="02020603050405020304" charset="0"/>
                <a:ea typeface="微软雅黑" panose="020B0503020204020204" charset="-122"/>
                <a:cs typeface="Times New Roman" panose="02020603050405020304" charset="0"/>
                <a:sym typeface="+mn-ea"/>
              </a:rPr>
              <a:t>diffuse</a:t>
            </a: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是</a:t>
            </a:r>
            <a:r>
              <a:rPr lang="zh-CN" altLang="en-US" sz="1400" b="1" dirty="0">
                <a:solidFill>
                  <a:srgbClr val="FF0000"/>
                </a:solidFill>
                <a:latin typeface="Times New Roman" panose="02020603050405020304" charset="0"/>
                <a:ea typeface="微软雅黑" panose="020B0503020204020204" charset="-122"/>
                <a:cs typeface="Times New Roman" panose="02020603050405020304" charset="0"/>
                <a:sym typeface="+mn-ea"/>
              </a:rPr>
              <a:t>扩散</a:t>
            </a: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命令；</a:t>
            </a:r>
          </a:p>
          <a:p>
            <a:pPr marL="285750" indent="-285750" fontAlgn="auto">
              <a:lnSpc>
                <a:spcPct val="150000"/>
              </a:lnSpc>
              <a:spcBef>
                <a:spcPts val="600"/>
              </a:spcBef>
              <a:buFont typeface="Arial" panose="020B0604020202020204" pitchFamily="34" charset="0"/>
              <a:buChar char="•"/>
            </a:pP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扩散时间是</a:t>
            </a:r>
            <a:r>
              <a:rPr lang="en-US" altLang="zh-CN" sz="1400" b="1" dirty="0">
                <a:solidFill>
                  <a:srgbClr val="0000FF"/>
                </a:solidFill>
                <a:latin typeface="Times New Roman" panose="02020603050405020304" charset="0"/>
                <a:ea typeface="微软雅黑" panose="020B0503020204020204" charset="-122"/>
                <a:cs typeface="Times New Roman" panose="02020603050405020304" charset="0"/>
                <a:sym typeface="+mn-ea"/>
              </a:rPr>
              <a:t>30min</a:t>
            </a: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，扩散氛围的温度是</a:t>
            </a:r>
            <a:r>
              <a:rPr lang="en-US" altLang="zh-CN" sz="1400" b="1" dirty="0">
                <a:solidFill>
                  <a:srgbClr val="0000FF"/>
                </a:solidFill>
                <a:latin typeface="Times New Roman" panose="02020603050405020304" charset="0"/>
                <a:ea typeface="微软雅黑" panose="020B0503020204020204" charset="-122"/>
                <a:cs typeface="Times New Roman" panose="02020603050405020304" charset="0"/>
                <a:sym typeface="+mn-ea"/>
              </a:rPr>
              <a:t>1000℃</a:t>
            </a:r>
            <a:r>
              <a:rPr lang="zh-CN" sz="1400" b="1" dirty="0">
                <a:solidFill>
                  <a:schemeClr val="tx1"/>
                </a:solidFill>
                <a:latin typeface="Times New Roman" panose="02020603050405020304" charset="0"/>
                <a:ea typeface="微软雅黑" panose="020B0503020204020204" charset="-122"/>
                <a:cs typeface="Times New Roman" panose="02020603050405020304" charset="0"/>
                <a:sym typeface="+mn-ea"/>
              </a:rPr>
              <a:t>；</a:t>
            </a:r>
          </a:p>
          <a:p>
            <a:pPr marL="285750" indent="-285750" fontAlgn="auto">
              <a:lnSpc>
                <a:spcPct val="150000"/>
              </a:lnSpc>
              <a:spcBef>
                <a:spcPts val="600"/>
              </a:spcBef>
              <a:buFont typeface="Arial" panose="020B0604020202020204" pitchFamily="34" charset="0"/>
              <a:buChar char="•"/>
            </a:pPr>
            <a:r>
              <a:rPr lang="zh-CN" altLang="en-US" sz="1400" b="1" dirty="0">
                <a:latin typeface="Times New Roman" panose="02020603050405020304" charset="0"/>
                <a:ea typeface="微软雅黑" panose="020B0503020204020204" charset="-122"/>
                <a:cs typeface="Times New Roman" panose="02020603050405020304" charset="0"/>
                <a:sym typeface="+mn-ea"/>
              </a:rPr>
              <a:t>退火的作用：</a:t>
            </a:r>
          </a:p>
          <a:p>
            <a:pPr marL="288290" indent="0" algn="just" fontAlgn="auto">
              <a:lnSpc>
                <a:spcPct val="150000"/>
              </a:lnSpc>
              <a:spcBef>
                <a:spcPts val="600"/>
              </a:spcBef>
              <a:buFont typeface="Arial" panose="020B0604020202020204" pitchFamily="34" charset="0"/>
              <a:buNone/>
            </a:pPr>
            <a:r>
              <a:rPr lang="en-US" altLang="zh-CN" sz="1400" dirty="0">
                <a:latin typeface="Times New Roman" panose="02020603050405020304" charset="0"/>
                <a:ea typeface="微软雅黑" panose="020B0503020204020204" charset="-122"/>
                <a:cs typeface="Times New Roman" panose="02020603050405020304" charset="0"/>
                <a:sym typeface="+mn-ea"/>
              </a:rPr>
              <a:t>1</a:t>
            </a:r>
            <a:r>
              <a:rPr lang="zh-CN" altLang="en-US" sz="1400" dirty="0">
                <a:latin typeface="Times New Roman" panose="02020603050405020304" charset="0"/>
                <a:ea typeface="微软雅黑" panose="020B0503020204020204" charset="-122"/>
                <a:cs typeface="Times New Roman" panose="02020603050405020304" charset="0"/>
                <a:sym typeface="+mn-ea"/>
              </a:rPr>
              <a:t>）杂质注入时，由于离子</a:t>
            </a:r>
            <a:r>
              <a:rPr lang="zh-CN" altLang="en-US" sz="1400" b="1" dirty="0">
                <a:latin typeface="Times New Roman" panose="02020603050405020304" charset="0"/>
                <a:ea typeface="微软雅黑" panose="020B0503020204020204" charset="-122"/>
                <a:cs typeface="Times New Roman" panose="02020603050405020304" charset="0"/>
                <a:sym typeface="+mn-ea"/>
              </a:rPr>
              <a:t>碰撞</a:t>
            </a:r>
            <a:r>
              <a:rPr lang="zh-CN" altLang="en-US" sz="1400" dirty="0">
                <a:latin typeface="Times New Roman" panose="02020603050405020304" charset="0"/>
                <a:ea typeface="微软雅黑" panose="020B0503020204020204" charset="-122"/>
                <a:cs typeface="Times New Roman" panose="02020603050405020304" charset="0"/>
                <a:sym typeface="+mn-ea"/>
              </a:rPr>
              <a:t>会引起衬底原子离开晶格的位置从而造成</a:t>
            </a:r>
            <a:r>
              <a:rPr lang="zh-CN" altLang="en-US" sz="1400" b="1" dirty="0">
                <a:latin typeface="Times New Roman" panose="02020603050405020304" charset="0"/>
                <a:ea typeface="微软雅黑" panose="020B0503020204020204" charset="-122"/>
                <a:cs typeface="Times New Roman" panose="02020603050405020304" charset="0"/>
                <a:sym typeface="+mn-ea"/>
              </a:rPr>
              <a:t>晶格损伤</a:t>
            </a:r>
            <a:r>
              <a:rPr lang="zh-CN" altLang="en-US" sz="1400" dirty="0">
                <a:latin typeface="Times New Roman" panose="02020603050405020304" charset="0"/>
                <a:ea typeface="微软雅黑" panose="020B0503020204020204" charset="-122"/>
                <a:cs typeface="Times New Roman" panose="02020603050405020304" charset="0"/>
                <a:sym typeface="+mn-ea"/>
              </a:rPr>
              <a:t>，导致半导体器件的载流子迁移率和寿命等参数受到影响，退火处理会</a:t>
            </a:r>
            <a:r>
              <a:rPr lang="zh-CN" altLang="en-US" sz="1400" b="1" dirty="0">
                <a:solidFill>
                  <a:srgbClr val="FF0000"/>
                </a:solidFill>
                <a:latin typeface="Times New Roman" panose="02020603050405020304" charset="0"/>
                <a:ea typeface="微软雅黑" panose="020B0503020204020204" charset="-122"/>
                <a:cs typeface="Times New Roman" panose="02020603050405020304" charset="0"/>
                <a:sym typeface="+mn-ea"/>
              </a:rPr>
              <a:t>消除</a:t>
            </a:r>
            <a:r>
              <a:rPr lang="zh-CN" altLang="en-US" sz="1400" dirty="0">
                <a:solidFill>
                  <a:schemeClr val="tx1"/>
                </a:solidFill>
                <a:latin typeface="Times New Roman" panose="02020603050405020304" charset="0"/>
                <a:ea typeface="微软雅黑" panose="020B0503020204020204" charset="-122"/>
                <a:cs typeface="Times New Roman" panose="02020603050405020304" charset="0"/>
                <a:sym typeface="+mn-ea"/>
              </a:rPr>
              <a:t>或</a:t>
            </a:r>
            <a:r>
              <a:rPr lang="zh-CN" altLang="en-US" sz="1400" b="1" dirty="0">
                <a:solidFill>
                  <a:srgbClr val="FF0000"/>
                </a:solidFill>
                <a:latin typeface="Times New Roman" panose="02020603050405020304" charset="0"/>
                <a:ea typeface="微软雅黑" panose="020B0503020204020204" charset="-122"/>
                <a:cs typeface="Times New Roman" panose="02020603050405020304" charset="0"/>
                <a:sym typeface="+mn-ea"/>
              </a:rPr>
              <a:t>减少</a:t>
            </a:r>
            <a:r>
              <a:rPr lang="zh-CN" altLang="en-US" sz="1400" dirty="0">
                <a:latin typeface="Times New Roman" panose="02020603050405020304" charset="0"/>
                <a:ea typeface="微软雅黑" panose="020B0503020204020204" charset="-122"/>
                <a:cs typeface="Times New Roman" panose="02020603050405020304" charset="0"/>
                <a:sym typeface="+mn-ea"/>
              </a:rPr>
              <a:t>这些晶格损伤。</a:t>
            </a:r>
          </a:p>
          <a:p>
            <a:pPr marL="288290" indent="0" algn="just" fontAlgn="auto">
              <a:lnSpc>
                <a:spcPct val="150000"/>
              </a:lnSpc>
              <a:spcBef>
                <a:spcPts val="600"/>
              </a:spcBef>
              <a:buFont typeface="Arial" panose="020B0604020202020204" pitchFamily="34" charset="0"/>
              <a:buNone/>
            </a:pPr>
            <a:r>
              <a:rPr lang="en-US" altLang="zh-CN" sz="1400" dirty="0">
                <a:latin typeface="Times New Roman" panose="02020603050405020304" charset="0"/>
                <a:ea typeface="微软雅黑" panose="020B0503020204020204" charset="-122"/>
                <a:cs typeface="Times New Roman" panose="02020603050405020304" charset="0"/>
                <a:sym typeface="+mn-ea"/>
              </a:rPr>
              <a:t>2</a:t>
            </a:r>
            <a:r>
              <a:rPr lang="zh-CN" altLang="en-US" sz="1400" dirty="0">
                <a:latin typeface="Times New Roman" panose="02020603050405020304" charset="0"/>
                <a:ea typeface="微软雅黑" panose="020B0503020204020204" charset="-122"/>
                <a:cs typeface="Times New Roman" panose="02020603050405020304" charset="0"/>
                <a:sym typeface="+mn-ea"/>
              </a:rPr>
              <a:t>）大部分杂质离子在被注入时并</a:t>
            </a:r>
            <a:r>
              <a:rPr lang="zh-CN" altLang="en-US" sz="1400" b="1" dirty="0">
                <a:latin typeface="Times New Roman" panose="02020603050405020304" charset="0"/>
                <a:ea typeface="微软雅黑" panose="020B0503020204020204" charset="-122"/>
                <a:cs typeface="Times New Roman" panose="02020603050405020304" charset="0"/>
                <a:sym typeface="+mn-ea"/>
              </a:rPr>
              <a:t>不位于置换位置</a:t>
            </a:r>
            <a:r>
              <a:rPr lang="zh-CN" altLang="en-US" sz="1400" dirty="0">
                <a:latin typeface="Times New Roman" panose="02020603050405020304" charset="0"/>
                <a:ea typeface="微软雅黑" panose="020B0503020204020204" charset="-122"/>
                <a:cs typeface="Times New Roman" panose="02020603050405020304" charset="0"/>
                <a:sym typeface="+mn-ea"/>
              </a:rPr>
              <a:t>，退火工艺可使得杂质离子</a:t>
            </a:r>
            <a:r>
              <a:rPr lang="zh-CN" altLang="en-US" sz="1400" b="1" dirty="0">
                <a:latin typeface="Times New Roman" panose="02020603050405020304" charset="0"/>
                <a:ea typeface="微软雅黑" panose="020B0503020204020204" charset="-122"/>
                <a:cs typeface="Times New Roman" panose="02020603050405020304" charset="0"/>
                <a:sym typeface="+mn-ea"/>
              </a:rPr>
              <a:t>处于置换位置</a:t>
            </a:r>
            <a:r>
              <a:rPr lang="zh-CN" altLang="en-US" sz="1400" dirty="0">
                <a:latin typeface="Times New Roman" panose="02020603050405020304" charset="0"/>
                <a:ea typeface="微软雅黑" panose="020B0503020204020204" charset="-122"/>
                <a:cs typeface="Times New Roman" panose="02020603050405020304" charset="0"/>
                <a:sym typeface="+mn-ea"/>
              </a:rPr>
              <a:t>，从而被</a:t>
            </a:r>
            <a:r>
              <a:rPr lang="zh-CN" altLang="en-US" sz="1400" b="1" dirty="0">
                <a:solidFill>
                  <a:srgbClr val="FF0000"/>
                </a:solidFill>
                <a:latin typeface="Times New Roman" panose="02020603050405020304" charset="0"/>
                <a:ea typeface="微软雅黑" panose="020B0503020204020204" charset="-122"/>
                <a:cs typeface="Times New Roman" panose="02020603050405020304" charset="0"/>
                <a:sym typeface="+mn-ea"/>
              </a:rPr>
              <a:t>激活</a:t>
            </a:r>
            <a:r>
              <a:rPr lang="zh-CN" altLang="en-US" sz="1400" dirty="0">
                <a:latin typeface="Times New Roman" panose="02020603050405020304" charset="0"/>
                <a:ea typeface="微软雅黑" panose="020B0503020204020204" charset="-122"/>
                <a:cs typeface="Times New Roman" panose="02020603050405020304" charset="0"/>
                <a:sym typeface="+mn-ea"/>
              </a:rPr>
              <a:t>。</a:t>
            </a:r>
          </a:p>
        </p:txBody>
      </p:sp>
      <p:cxnSp>
        <p:nvCxnSpPr>
          <p:cNvPr id="16" name="直接箭头连接符 15"/>
          <p:cNvCxnSpPr/>
          <p:nvPr/>
        </p:nvCxnSpPr>
        <p:spPr>
          <a:xfrm flipV="1">
            <a:off x="3204210" y="4168140"/>
            <a:ext cx="360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07950" y="118110"/>
            <a:ext cx="8458200" cy="460375"/>
          </a:xfrm>
          <a:prstGeom prst="rect">
            <a:avLst/>
          </a:prstGeom>
        </p:spPr>
        <p:txBody>
          <a:bodyPr wrap="square">
            <a:spAutoFit/>
          </a:bodyPr>
          <a:lstStyle/>
          <a:p>
            <a:pPr indent="0">
              <a:spcBef>
                <a:spcPts val="600"/>
              </a:spcBef>
              <a:buFontTx/>
              <a:buNone/>
            </a:pPr>
            <a:r>
              <a:rPr lang="zh-CN" altLang="en-US" sz="2400" b="1" dirty="0">
                <a:solidFill>
                  <a:srgbClr val="C00000"/>
                </a:solidFill>
                <a:latin typeface="微软雅黑" panose="020B0503020204020204" charset="-122"/>
                <a:ea typeface="微软雅黑" panose="020B0503020204020204" charset="-122"/>
                <a:cs typeface="Times New Roman" panose="02020603050405020304" charset="0"/>
              </a:rPr>
              <a:t>代码解析示例</a:t>
            </a:r>
            <a:r>
              <a:rPr lang="en-US" altLang="zh-CN" sz="2400" b="1" dirty="0">
                <a:solidFill>
                  <a:srgbClr val="C00000"/>
                </a:solidFill>
                <a:latin typeface="微软雅黑" panose="020B0503020204020204" charset="-122"/>
                <a:ea typeface="微软雅黑" panose="020B0503020204020204" charset="-122"/>
                <a:cs typeface="Times New Roman" panose="02020603050405020304" charset="0"/>
              </a:rPr>
              <a:t>: </a:t>
            </a:r>
            <a:r>
              <a:rPr lang="zh-CN" altLang="en-US" sz="2400" b="1" dirty="0">
                <a:solidFill>
                  <a:srgbClr val="0000FF"/>
                </a:solidFill>
                <a:latin typeface="Times New Roman" panose="02020603050405020304" charset="0"/>
                <a:ea typeface="微软雅黑" panose="020B0503020204020204" charset="-122"/>
                <a:cs typeface="Times New Roman" panose="02020603050405020304" charset="0"/>
                <a:sym typeface="+mn-ea"/>
              </a:rPr>
              <a:t>离子掺杂和退火工艺仿真</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p:cNvPicPr>
            <a:picLocks noGrp="1" noChangeAspect="1"/>
          </p:cNvPicPr>
          <p:nvPr>
            <p:ph idx="1"/>
          </p:nvPr>
        </p:nvPicPr>
        <p:blipFill>
          <a:blip r:embed="rId2"/>
          <a:srcRect l="8551" r="34472" b="15708"/>
          <a:stretch>
            <a:fillRect/>
          </a:stretch>
        </p:blipFill>
        <p:spPr>
          <a:xfrm>
            <a:off x="222250" y="701675"/>
            <a:ext cx="5202555" cy="5916930"/>
          </a:xfrm>
          <a:prstGeom prst="rect">
            <a:avLst/>
          </a:prstGeom>
        </p:spPr>
      </p:pic>
      <p:sp>
        <p:nvSpPr>
          <p:cNvPr id="10" name="文本框 9"/>
          <p:cNvSpPr txBox="1"/>
          <p:nvPr/>
        </p:nvSpPr>
        <p:spPr>
          <a:xfrm>
            <a:off x="3635375" y="1964055"/>
            <a:ext cx="5122545" cy="2091690"/>
          </a:xfrm>
          <a:prstGeom prst="rect">
            <a:avLst/>
          </a:prstGeom>
          <a:noFill/>
          <a:ln w="41275" cmpd="sng">
            <a:solidFill>
              <a:srgbClr val="FF0000"/>
            </a:solidFill>
            <a:prstDash val="solid"/>
          </a:ln>
        </p:spPr>
        <p:txBody>
          <a:bodyPr wrap="square" rtlCol="0" anchor="t">
            <a:spAutoFit/>
          </a:bodyPr>
          <a:lstStyle/>
          <a:p>
            <a:pPr marL="285750" indent="-285750" fontAlgn="auto">
              <a:lnSpc>
                <a:spcPct val="150000"/>
              </a:lnSpc>
              <a:spcBef>
                <a:spcPts val="600"/>
              </a:spcBef>
              <a:buFont typeface="Arial" panose="020B0604020202020204" pitchFamily="34" charset="0"/>
              <a:buChar char="•"/>
            </a:pPr>
            <a:r>
              <a:rPr lang="en-US" sz="1600" b="1" dirty="0">
                <a:solidFill>
                  <a:srgbClr val="FF0000"/>
                </a:solidFill>
                <a:latin typeface="Times New Roman" panose="02020603050405020304" charset="0"/>
                <a:ea typeface="微软雅黑" panose="020B0503020204020204" charset="-122"/>
                <a:cs typeface="Times New Roman" panose="02020603050405020304" charset="0"/>
                <a:sym typeface="+mn-ea"/>
              </a:rPr>
              <a:t>extract</a:t>
            </a:r>
            <a:r>
              <a:rPr lang="zh-CN" altLang="en-US" sz="1600" b="1" dirty="0">
                <a:solidFill>
                  <a:schemeClr val="tx1"/>
                </a:solidFill>
                <a:latin typeface="Times New Roman" panose="02020603050405020304" charset="0"/>
                <a:ea typeface="微软雅黑" panose="020B0503020204020204" charset="-122"/>
                <a:cs typeface="Times New Roman" panose="02020603050405020304" charset="0"/>
                <a:sym typeface="+mn-ea"/>
              </a:rPr>
              <a:t>是</a:t>
            </a:r>
            <a:r>
              <a:rPr lang="zh-CN" altLang="en-US" sz="1600" b="1" dirty="0">
                <a:solidFill>
                  <a:srgbClr val="FF0000"/>
                </a:solidFill>
                <a:latin typeface="Times New Roman" panose="02020603050405020304" charset="0"/>
                <a:ea typeface="微软雅黑" panose="020B0503020204020204" charset="-122"/>
                <a:cs typeface="Times New Roman" panose="02020603050405020304" charset="0"/>
                <a:sym typeface="+mn-ea"/>
              </a:rPr>
              <a:t>提取</a:t>
            </a:r>
            <a:r>
              <a:rPr lang="zh-CN" altLang="en-US" sz="1600" b="1" dirty="0">
                <a:solidFill>
                  <a:schemeClr val="tx1"/>
                </a:solidFill>
                <a:latin typeface="Times New Roman" panose="02020603050405020304" charset="0"/>
                <a:ea typeface="微软雅黑" panose="020B0503020204020204" charset="-122"/>
                <a:cs typeface="Times New Roman" panose="02020603050405020304" charset="0"/>
                <a:sym typeface="+mn-ea"/>
              </a:rPr>
              <a:t>命令；</a:t>
            </a:r>
          </a:p>
          <a:p>
            <a:pPr marL="285750" indent="-285750" algn="l" fontAlgn="auto">
              <a:lnSpc>
                <a:spcPct val="150000"/>
              </a:lnSpc>
              <a:spcBef>
                <a:spcPts val="600"/>
              </a:spcBef>
              <a:buClrTx/>
              <a:buSzTx/>
              <a:buFont typeface="Arial" panose="020B0604020202020204" pitchFamily="34" charset="0"/>
              <a:buChar char="•"/>
            </a:pPr>
            <a:r>
              <a:rPr lang="zh-CN" sz="1600" b="1" dirty="0">
                <a:solidFill>
                  <a:schemeClr val="tx1"/>
                </a:solidFill>
                <a:latin typeface="Times New Roman" panose="02020603050405020304" charset="0"/>
                <a:ea typeface="微软雅黑" panose="020B0503020204020204" charset="-122"/>
                <a:cs typeface="Times New Roman" panose="02020603050405020304" charset="0"/>
                <a:sym typeface="+mn-ea"/>
              </a:rPr>
              <a:t>由于衬底杂质是</a:t>
            </a:r>
            <a:r>
              <a:rPr lang="zh-CN" sz="1600" b="1" dirty="0">
                <a:solidFill>
                  <a:srgbClr val="FF0000"/>
                </a:solidFill>
                <a:latin typeface="Times New Roman" panose="02020603050405020304" charset="0"/>
                <a:ea typeface="微软雅黑" panose="020B0503020204020204" charset="-122"/>
                <a:cs typeface="Times New Roman" panose="02020603050405020304" charset="0"/>
                <a:sym typeface="+mn-ea"/>
              </a:rPr>
              <a:t>磷</a:t>
            </a:r>
            <a:r>
              <a:rPr lang="zh-CN" sz="1600" b="1" dirty="0">
                <a:solidFill>
                  <a:schemeClr val="tx1"/>
                </a:solidFill>
                <a:latin typeface="Times New Roman" panose="02020603050405020304" charset="0"/>
                <a:ea typeface="微软雅黑" panose="020B0503020204020204" charset="-122"/>
                <a:cs typeface="Times New Roman" panose="02020603050405020304" charset="0"/>
                <a:sym typeface="+mn-ea"/>
              </a:rPr>
              <a:t>（第</a:t>
            </a:r>
            <a:r>
              <a:rPr lang="en-US" altLang="zh-CN" sz="1600" b="1" dirty="0">
                <a:solidFill>
                  <a:schemeClr val="tx1"/>
                </a:solidFill>
                <a:latin typeface="Times New Roman" panose="02020603050405020304" charset="0"/>
                <a:ea typeface="微软雅黑" panose="020B0503020204020204" charset="-122"/>
                <a:cs typeface="Times New Roman" panose="02020603050405020304" charset="0"/>
                <a:sym typeface="+mn-ea"/>
              </a:rPr>
              <a:t>V</a:t>
            </a:r>
            <a:r>
              <a:rPr lang="zh-CN" altLang="en-US" sz="1600" b="1" dirty="0">
                <a:solidFill>
                  <a:schemeClr val="tx1"/>
                </a:solidFill>
                <a:latin typeface="Times New Roman" panose="02020603050405020304" charset="0"/>
                <a:ea typeface="微软雅黑" panose="020B0503020204020204" charset="-122"/>
                <a:cs typeface="Times New Roman" panose="02020603050405020304" charset="0"/>
                <a:sym typeface="+mn-ea"/>
              </a:rPr>
              <a:t>族元素</a:t>
            </a:r>
            <a:r>
              <a:rPr lang="zh-CN" sz="1600" b="1" dirty="0">
                <a:solidFill>
                  <a:schemeClr val="tx1"/>
                </a:solidFill>
                <a:latin typeface="Times New Roman" panose="02020603050405020304" charset="0"/>
                <a:ea typeface="微软雅黑" panose="020B0503020204020204" charset="-122"/>
                <a:cs typeface="Times New Roman" panose="02020603050405020304" charset="0"/>
                <a:sym typeface="+mn-ea"/>
              </a:rPr>
              <a:t>），掺入杂质是</a:t>
            </a:r>
            <a:r>
              <a:rPr lang="zh-CN" sz="1600" b="1" dirty="0">
                <a:solidFill>
                  <a:srgbClr val="FF0000"/>
                </a:solidFill>
                <a:latin typeface="Times New Roman" panose="02020603050405020304" charset="0"/>
                <a:ea typeface="微软雅黑" panose="020B0503020204020204" charset="-122"/>
                <a:cs typeface="Times New Roman" panose="02020603050405020304" charset="0"/>
                <a:sym typeface="+mn-ea"/>
              </a:rPr>
              <a:t>硼</a:t>
            </a:r>
            <a:r>
              <a:rPr lang="zh-CN" sz="1600" b="1" dirty="0">
                <a:latin typeface="Times New Roman" panose="02020603050405020304" charset="0"/>
                <a:ea typeface="微软雅黑" panose="020B0503020204020204" charset="-122"/>
                <a:cs typeface="Times New Roman" panose="02020603050405020304" charset="0"/>
                <a:sym typeface="+mn-ea"/>
              </a:rPr>
              <a:t>（第</a:t>
            </a:r>
            <a:r>
              <a:rPr lang="en-US" altLang="zh-CN" sz="1600" b="1" dirty="0">
                <a:latin typeface="Times New Roman" panose="02020603050405020304" charset="0"/>
                <a:ea typeface="微软雅黑" panose="020B0503020204020204" charset="-122"/>
                <a:cs typeface="Times New Roman" panose="02020603050405020304" charset="0"/>
                <a:sym typeface="+mn-ea"/>
              </a:rPr>
              <a:t>III</a:t>
            </a:r>
            <a:r>
              <a:rPr lang="zh-CN" altLang="en-US" sz="1600" b="1" dirty="0">
                <a:latin typeface="Times New Roman" panose="02020603050405020304" charset="0"/>
                <a:ea typeface="微软雅黑" panose="020B0503020204020204" charset="-122"/>
                <a:cs typeface="Times New Roman" panose="02020603050405020304" charset="0"/>
                <a:sym typeface="+mn-ea"/>
              </a:rPr>
              <a:t>族元素</a:t>
            </a:r>
            <a:r>
              <a:rPr lang="zh-CN" sz="1600" b="1" dirty="0">
                <a:latin typeface="Times New Roman" panose="02020603050405020304" charset="0"/>
                <a:ea typeface="微软雅黑" panose="020B0503020204020204" charset="-122"/>
                <a:cs typeface="Times New Roman" panose="02020603050405020304" charset="0"/>
                <a:sym typeface="+mn-ea"/>
              </a:rPr>
              <a:t>），所以会形成</a:t>
            </a:r>
            <a:r>
              <a:rPr lang="zh-CN" altLang="en-US" sz="1600" b="1" dirty="0">
                <a:latin typeface="Times New Roman" panose="02020603050405020304" charset="0"/>
                <a:ea typeface="微软雅黑" panose="020B0503020204020204" charset="-122"/>
                <a:cs typeface="Times New Roman" panose="02020603050405020304" charset="0"/>
                <a:sym typeface="+mn-ea"/>
              </a:rPr>
              <a:t>一个PN结</a:t>
            </a:r>
            <a:r>
              <a:rPr lang="zh-CN" altLang="en-US" sz="1600" b="1" dirty="0">
                <a:solidFill>
                  <a:schemeClr val="tx1"/>
                </a:solidFill>
                <a:latin typeface="Times New Roman" panose="02020603050405020304" charset="0"/>
                <a:ea typeface="微软雅黑" panose="020B0503020204020204" charset="-122"/>
                <a:cs typeface="Times New Roman" panose="02020603050405020304" charset="0"/>
                <a:sym typeface="+mn-ea"/>
              </a:rPr>
              <a:t>；</a:t>
            </a:r>
          </a:p>
          <a:p>
            <a:pPr marL="285750" indent="-285750" algn="l" fontAlgn="auto">
              <a:lnSpc>
                <a:spcPct val="150000"/>
              </a:lnSpc>
              <a:spcBef>
                <a:spcPts val="600"/>
              </a:spcBef>
              <a:buClrTx/>
              <a:buSzTx/>
              <a:buFont typeface="Arial" panose="020B0604020202020204" pitchFamily="34" charset="0"/>
              <a:buChar char="•"/>
            </a:pPr>
            <a:r>
              <a:rPr lang="zh-CN" altLang="en-US" sz="1600" b="1" dirty="0">
                <a:latin typeface="Times New Roman" panose="02020603050405020304" charset="0"/>
                <a:ea typeface="微软雅黑" panose="020B0503020204020204" charset="-122"/>
                <a:cs typeface="Times New Roman" panose="02020603050405020304" charset="0"/>
                <a:sym typeface="+mn-ea"/>
              </a:rPr>
              <a:t>在</a:t>
            </a:r>
            <a:r>
              <a:rPr lang="en-US" altLang="zh-CN" sz="1600" b="1" dirty="0">
                <a:latin typeface="Times New Roman" panose="02020603050405020304" charset="0"/>
                <a:ea typeface="微软雅黑" panose="020B0503020204020204" charset="-122"/>
                <a:cs typeface="Times New Roman" panose="02020603050405020304" charset="0"/>
                <a:sym typeface="+mn-ea"/>
              </a:rPr>
              <a:t>x</a:t>
            </a:r>
            <a:r>
              <a:rPr lang="zh-CN" altLang="en-US" sz="1600" b="1" dirty="0">
                <a:latin typeface="Times New Roman" panose="02020603050405020304" charset="0"/>
                <a:ea typeface="微软雅黑" panose="020B0503020204020204" charset="-122"/>
                <a:cs typeface="Times New Roman" panose="02020603050405020304" charset="0"/>
                <a:sym typeface="+mn-ea"/>
              </a:rPr>
              <a:t>坐标</a:t>
            </a:r>
            <a:r>
              <a:rPr lang="en-US" altLang="zh-CN" sz="1600" b="1" dirty="0">
                <a:latin typeface="Times New Roman" panose="02020603050405020304" charset="0"/>
                <a:ea typeface="微软雅黑" panose="020B0503020204020204" charset="-122"/>
                <a:cs typeface="Times New Roman" panose="02020603050405020304" charset="0"/>
                <a:sym typeface="+mn-ea"/>
              </a:rPr>
              <a:t>0</a:t>
            </a:r>
            <a:r>
              <a:rPr lang="zh-CN" altLang="en-US" sz="1600" b="1" dirty="0">
                <a:latin typeface="Times New Roman" panose="02020603050405020304" charset="0"/>
                <a:ea typeface="微软雅黑" panose="020B0503020204020204" charset="-122"/>
                <a:cs typeface="Times New Roman" panose="02020603050405020304" charset="0"/>
                <a:sym typeface="+mn-ea"/>
              </a:rPr>
              <a:t>处，提取</a:t>
            </a:r>
            <a:r>
              <a:rPr lang="en-US" altLang="zh-CN" sz="1600" b="1" dirty="0">
                <a:latin typeface="Times New Roman" panose="02020603050405020304" charset="0"/>
                <a:ea typeface="微软雅黑" panose="020B0503020204020204" charset="-122"/>
                <a:cs typeface="Times New Roman" panose="02020603050405020304" charset="0"/>
                <a:sym typeface="+mn-ea"/>
              </a:rPr>
              <a:t>1</a:t>
            </a:r>
            <a:r>
              <a:rPr lang="zh-CN" altLang="en-US" sz="1600" b="1" dirty="0">
                <a:latin typeface="Times New Roman" panose="02020603050405020304" charset="0"/>
                <a:ea typeface="微软雅黑" panose="020B0503020204020204" charset="-122"/>
                <a:cs typeface="Times New Roman" panose="02020603050405020304" charset="0"/>
                <a:sym typeface="+mn-ea"/>
              </a:rPr>
              <a:t>个材料采样点，提取硅材料中的结深，生成名为</a:t>
            </a:r>
            <a:r>
              <a:rPr lang="en-US" altLang="zh-CN" sz="1600" b="1" dirty="0">
                <a:latin typeface="Times New Roman" panose="02020603050405020304" charset="0"/>
                <a:ea typeface="微软雅黑" panose="020B0503020204020204" charset="-122"/>
                <a:cs typeface="Times New Roman" panose="02020603050405020304" charset="0"/>
                <a:sym typeface="+mn-ea"/>
              </a:rPr>
              <a:t>xj</a:t>
            </a:r>
            <a:r>
              <a:rPr lang="zh-CN" altLang="en-US" sz="1600" b="1" dirty="0">
                <a:latin typeface="Times New Roman" panose="02020603050405020304" charset="0"/>
                <a:ea typeface="微软雅黑" panose="020B0503020204020204" charset="-122"/>
                <a:cs typeface="Times New Roman" panose="02020603050405020304" charset="0"/>
                <a:sym typeface="+mn-ea"/>
              </a:rPr>
              <a:t>的参数并输出。</a:t>
            </a:r>
          </a:p>
        </p:txBody>
      </p:sp>
      <p:cxnSp>
        <p:nvCxnSpPr>
          <p:cNvPr id="16" name="直接箭头连接符 15"/>
          <p:cNvCxnSpPr/>
          <p:nvPr/>
        </p:nvCxnSpPr>
        <p:spPr>
          <a:xfrm flipV="1">
            <a:off x="4427855" y="4095115"/>
            <a:ext cx="0" cy="3644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2554605" y="981075"/>
            <a:ext cx="6203950" cy="613410"/>
            <a:chOff x="3458" y="1545"/>
            <a:chExt cx="10855" cy="966"/>
          </a:xfrm>
        </p:grpSpPr>
        <p:sp>
          <p:nvSpPr>
            <p:cNvPr id="8" name="文本框 7"/>
            <p:cNvSpPr txBox="1"/>
            <p:nvPr/>
          </p:nvSpPr>
          <p:spPr>
            <a:xfrm>
              <a:off x="3571" y="1545"/>
              <a:ext cx="10628" cy="483"/>
            </a:xfrm>
            <a:prstGeom prst="rect">
              <a:avLst/>
            </a:prstGeom>
            <a:noFill/>
          </p:spPr>
          <p:txBody>
            <a:bodyPr wrap="square" rtlCol="0" anchor="t">
              <a:spAutoFit/>
            </a:bodyPr>
            <a:lstStyle/>
            <a:p>
              <a:r>
                <a:rPr lang="zh-CN" altLang="en-US" sz="1400" b="1">
                  <a:latin typeface="Times New Roman" panose="02020603050405020304" charset="0"/>
                  <a:ea typeface="微软雅黑" panose="020B0503020204020204" charset="-122"/>
                  <a:cs typeface="Times New Roman" panose="02020603050405020304" charset="0"/>
                </a:rPr>
                <a:t>extract name = “xj” xj silicon mat.occno = 1 x.val = 0 junc.occno = 1</a:t>
              </a:r>
            </a:p>
          </p:txBody>
        </p:sp>
        <p:sp>
          <p:nvSpPr>
            <p:cNvPr id="9" name="文本框 8"/>
            <p:cNvSpPr txBox="1"/>
            <p:nvPr/>
          </p:nvSpPr>
          <p:spPr>
            <a:xfrm>
              <a:off x="3685" y="2028"/>
              <a:ext cx="10628" cy="483"/>
            </a:xfrm>
            <a:prstGeom prst="rect">
              <a:avLst/>
            </a:prstGeom>
            <a:noFill/>
          </p:spPr>
          <p:txBody>
            <a:bodyPr wrap="square" rtlCol="0" anchor="t">
              <a:spAutoFit/>
            </a:bodyPr>
            <a:lstStyle/>
            <a:p>
              <a:r>
                <a:rPr lang="zh-CN" altLang="en-US" sz="1400" b="1">
                  <a:solidFill>
                    <a:srgbClr val="FF0000"/>
                  </a:solidFill>
                  <a:latin typeface="Times New Roman" panose="02020603050405020304" charset="0"/>
                  <a:ea typeface="微软雅黑" panose="020B0503020204020204" charset="-122"/>
                  <a:cs typeface="Times New Roman" panose="02020603050405020304" charset="0"/>
                </a:rPr>
                <a:t>提取</a:t>
              </a:r>
              <a:r>
                <a:rPr lang="en-US" altLang="zh-CN" sz="1400" b="1">
                  <a:solidFill>
                    <a:srgbClr val="FF0000"/>
                  </a:solidFill>
                  <a:latin typeface="Times New Roman" panose="02020603050405020304" charset="0"/>
                  <a:ea typeface="微软雅黑" panose="020B0503020204020204" charset="-122"/>
                  <a:cs typeface="Times New Roman" panose="02020603050405020304" charset="0"/>
                </a:rPr>
                <a:t>  </a:t>
              </a:r>
              <a:r>
                <a:rPr lang="zh-CN" altLang="en-US" sz="1400" b="1">
                  <a:solidFill>
                    <a:srgbClr val="FF0000"/>
                  </a:solidFill>
                  <a:latin typeface="Times New Roman" panose="02020603050405020304" charset="0"/>
                  <a:ea typeface="微软雅黑" panose="020B0503020204020204" charset="-122"/>
                  <a:cs typeface="Times New Roman" panose="02020603050405020304" charset="0"/>
                </a:rPr>
                <a:t> </a:t>
              </a:r>
              <a:r>
                <a:rPr lang="en-US" altLang="zh-CN" sz="1400" b="1">
                  <a:solidFill>
                    <a:srgbClr val="FF0000"/>
                  </a:solidFill>
                  <a:latin typeface="Times New Roman" panose="02020603050405020304" charset="0"/>
                  <a:ea typeface="微软雅黑" panose="020B0503020204020204" charset="-122"/>
                  <a:cs typeface="Times New Roman" panose="02020603050405020304" charset="0"/>
                </a:rPr>
                <a:t>  </a:t>
              </a:r>
              <a:r>
                <a:rPr lang="zh-CN" altLang="en-US" sz="1400" b="1">
                  <a:solidFill>
                    <a:srgbClr val="FF0000"/>
                  </a:solidFill>
                  <a:latin typeface="Times New Roman" panose="02020603050405020304" charset="0"/>
                  <a:ea typeface="微软雅黑" panose="020B0503020204020204" charset="-122"/>
                  <a:cs typeface="Times New Roman" panose="02020603050405020304" charset="0"/>
                </a:rPr>
                <a:t>名称 </a:t>
              </a:r>
              <a:r>
                <a:rPr lang="en-US" altLang="zh-CN" sz="1400" b="1">
                  <a:solidFill>
                    <a:srgbClr val="FF0000"/>
                  </a:solidFill>
                  <a:latin typeface="Times New Roman" panose="02020603050405020304" charset="0"/>
                  <a:ea typeface="微软雅黑" panose="020B0503020204020204" charset="-122"/>
                  <a:cs typeface="Times New Roman" panose="02020603050405020304" charset="0"/>
                </a:rPr>
                <a:t>       </a:t>
              </a:r>
              <a:r>
                <a:rPr lang="zh-CN" altLang="en-US" sz="1400" b="1">
                  <a:solidFill>
                    <a:srgbClr val="FF0000"/>
                  </a:solidFill>
                  <a:latin typeface="Times New Roman" panose="02020603050405020304" charset="0"/>
                  <a:ea typeface="微软雅黑" panose="020B0503020204020204" charset="-122"/>
                  <a:cs typeface="Times New Roman" panose="02020603050405020304" charset="0"/>
                </a:rPr>
                <a:t>xj</a:t>
              </a:r>
              <a:r>
                <a:rPr lang="en-US" altLang="zh-CN" sz="1400" b="1">
                  <a:solidFill>
                    <a:srgbClr val="FF0000"/>
                  </a:solidFill>
                  <a:latin typeface="Times New Roman" panose="02020603050405020304" charset="0"/>
                  <a:ea typeface="微软雅黑" panose="020B0503020204020204" charset="-122"/>
                  <a:cs typeface="Times New Roman" panose="02020603050405020304" charset="0"/>
                </a:rPr>
                <a:t> </a:t>
              </a:r>
              <a:r>
                <a:rPr lang="zh-CN" altLang="en-US" sz="1400" b="1">
                  <a:solidFill>
                    <a:srgbClr val="FF0000"/>
                  </a:solidFill>
                  <a:latin typeface="Times New Roman" panose="02020603050405020304" charset="0"/>
                  <a:ea typeface="微软雅黑" panose="020B0503020204020204" charset="-122"/>
                  <a:cs typeface="Times New Roman" panose="02020603050405020304" charset="0"/>
                </a:rPr>
                <a:t> </a:t>
              </a:r>
              <a:r>
                <a:rPr lang="en-US" altLang="zh-CN" sz="1400" b="1">
                  <a:solidFill>
                    <a:srgbClr val="FF0000"/>
                  </a:solidFill>
                  <a:latin typeface="Times New Roman" panose="02020603050405020304" charset="0"/>
                  <a:ea typeface="微软雅黑" panose="020B0503020204020204" charset="-122"/>
                  <a:cs typeface="Times New Roman" panose="02020603050405020304" charset="0"/>
                </a:rPr>
                <a:t> </a:t>
              </a:r>
              <a:r>
                <a:rPr lang="zh-CN" altLang="en-US" sz="1400" b="1">
                  <a:solidFill>
                    <a:srgbClr val="FF0000"/>
                  </a:solidFill>
                  <a:latin typeface="Times New Roman" panose="02020603050405020304" charset="0"/>
                  <a:ea typeface="微软雅黑" panose="020B0503020204020204" charset="-122"/>
                  <a:cs typeface="Times New Roman" panose="02020603050405020304" charset="0"/>
                </a:rPr>
                <a:t>结深</a:t>
              </a:r>
              <a:r>
                <a:rPr lang="en-US" altLang="zh-CN" sz="1400" b="1">
                  <a:solidFill>
                    <a:srgbClr val="FF0000"/>
                  </a:solidFill>
                  <a:latin typeface="Times New Roman" panose="02020603050405020304" charset="0"/>
                  <a:ea typeface="微软雅黑" panose="020B0503020204020204" charset="-122"/>
                  <a:cs typeface="Times New Roman" panose="02020603050405020304" charset="0"/>
                </a:rPr>
                <a:t>  </a:t>
              </a:r>
              <a:r>
                <a:rPr lang="zh-CN" altLang="en-US" sz="1400" b="1">
                  <a:solidFill>
                    <a:srgbClr val="FF0000"/>
                  </a:solidFill>
                  <a:latin typeface="Times New Roman" panose="02020603050405020304" charset="0"/>
                  <a:ea typeface="微软雅黑" panose="020B0503020204020204" charset="-122"/>
                  <a:cs typeface="Times New Roman" panose="02020603050405020304" charset="0"/>
                </a:rPr>
                <a:t> 硅 </a:t>
              </a:r>
              <a:r>
                <a:rPr lang="en-US" altLang="zh-CN" sz="1400" b="1">
                  <a:solidFill>
                    <a:srgbClr val="FF0000"/>
                  </a:solidFill>
                  <a:latin typeface="Times New Roman" panose="02020603050405020304" charset="0"/>
                  <a:ea typeface="微软雅黑" panose="020B0503020204020204" charset="-122"/>
                  <a:cs typeface="Times New Roman" panose="02020603050405020304" charset="0"/>
                </a:rPr>
                <a:t>  </a:t>
              </a:r>
              <a:r>
                <a:rPr lang="zh-CN" altLang="en-US" sz="1400" b="1">
                  <a:solidFill>
                    <a:srgbClr val="FF0000"/>
                  </a:solidFill>
                  <a:latin typeface="Times New Roman" panose="02020603050405020304" charset="0"/>
                  <a:ea typeface="微软雅黑" panose="020B0503020204020204" charset="-122"/>
                  <a:cs typeface="Times New Roman" panose="02020603050405020304" charset="0"/>
                </a:rPr>
                <a:t>材料提取点1个 </a:t>
              </a:r>
              <a:r>
                <a:rPr lang="en-US" altLang="zh-CN" sz="1400" b="1">
                  <a:solidFill>
                    <a:srgbClr val="FF0000"/>
                  </a:solidFill>
                  <a:latin typeface="Times New Roman" panose="02020603050405020304" charset="0"/>
                  <a:ea typeface="微软雅黑" panose="020B0503020204020204" charset="-122"/>
                  <a:cs typeface="Times New Roman" panose="02020603050405020304" charset="0"/>
                </a:rPr>
                <a:t> </a:t>
              </a:r>
              <a:r>
                <a:rPr lang="en-US" altLang="zh-CN" sz="1400" b="1" dirty="0">
                  <a:solidFill>
                    <a:srgbClr val="FF0000"/>
                  </a:solidFill>
                  <a:latin typeface="Times New Roman" panose="02020603050405020304" charset="0"/>
                  <a:ea typeface="微软雅黑" panose="020B0503020204020204" charset="-122"/>
                  <a:cs typeface="Times New Roman" panose="02020603050405020304" charset="0"/>
                  <a:sym typeface="+mn-ea"/>
                </a:rPr>
                <a:t>x</a:t>
              </a:r>
              <a:r>
                <a:rPr lang="zh-CN" altLang="en-US" sz="1400" b="1" dirty="0">
                  <a:solidFill>
                    <a:srgbClr val="FF0000"/>
                  </a:solidFill>
                  <a:latin typeface="Times New Roman" panose="02020603050405020304" charset="0"/>
                  <a:ea typeface="微软雅黑" panose="020B0503020204020204" charset="-122"/>
                  <a:cs typeface="Times New Roman" panose="02020603050405020304" charset="0"/>
                  <a:sym typeface="+mn-ea"/>
                </a:rPr>
                <a:t>坐标</a:t>
              </a:r>
              <a:r>
                <a:rPr lang="en-US" altLang="zh-CN" sz="1400" b="1" dirty="0">
                  <a:solidFill>
                    <a:srgbClr val="FF0000"/>
                  </a:solidFill>
                  <a:latin typeface="Times New Roman" panose="02020603050405020304" charset="0"/>
                  <a:ea typeface="微软雅黑" panose="020B0503020204020204" charset="-122"/>
                  <a:cs typeface="Times New Roman" panose="02020603050405020304" charset="0"/>
                  <a:sym typeface="+mn-ea"/>
                </a:rPr>
                <a:t>0</a:t>
              </a:r>
              <a:r>
                <a:rPr lang="zh-CN" altLang="en-US" sz="1400" b="1">
                  <a:solidFill>
                    <a:srgbClr val="FF0000"/>
                  </a:solidFill>
                  <a:latin typeface="Times New Roman" panose="02020603050405020304" charset="0"/>
                  <a:ea typeface="微软雅黑" panose="020B0503020204020204" charset="-122"/>
                  <a:cs typeface="Times New Roman" panose="02020603050405020304" charset="0"/>
                </a:rPr>
                <a:t> </a:t>
              </a:r>
              <a:r>
                <a:rPr lang="en-US" altLang="zh-CN" sz="1400" b="1">
                  <a:solidFill>
                    <a:srgbClr val="FF0000"/>
                  </a:solidFill>
                  <a:latin typeface="Times New Roman" panose="02020603050405020304" charset="0"/>
                  <a:ea typeface="微软雅黑" panose="020B0503020204020204" charset="-122"/>
                  <a:cs typeface="Times New Roman" panose="02020603050405020304" charset="0"/>
                </a:rPr>
                <a:t>  </a:t>
              </a:r>
              <a:r>
                <a:rPr lang="zh-CN" altLang="en-US" sz="1400" b="1">
                  <a:solidFill>
                    <a:srgbClr val="FF0000"/>
                  </a:solidFill>
                  <a:latin typeface="Times New Roman" panose="02020603050405020304" charset="0"/>
                  <a:ea typeface="微软雅黑" panose="020B0503020204020204" charset="-122"/>
                  <a:cs typeface="Times New Roman" panose="02020603050405020304" charset="0"/>
                  <a:sym typeface="+mn-ea"/>
                </a:rPr>
                <a:t>结提取点1个</a:t>
              </a:r>
            </a:p>
          </p:txBody>
        </p:sp>
        <p:sp>
          <p:nvSpPr>
            <p:cNvPr id="12" name="圆角矩形 11"/>
            <p:cNvSpPr/>
            <p:nvPr/>
          </p:nvSpPr>
          <p:spPr>
            <a:xfrm>
              <a:off x="3458" y="1545"/>
              <a:ext cx="10206" cy="96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 name="直接箭头连接符 12"/>
          <p:cNvCxnSpPr/>
          <p:nvPr/>
        </p:nvCxnSpPr>
        <p:spPr>
          <a:xfrm flipV="1">
            <a:off x="3420110" y="1638300"/>
            <a:ext cx="0" cy="28213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07950" y="118110"/>
            <a:ext cx="8458200" cy="460375"/>
          </a:xfrm>
          <a:prstGeom prst="rect">
            <a:avLst/>
          </a:prstGeom>
        </p:spPr>
        <p:txBody>
          <a:bodyPr wrap="square">
            <a:spAutoFit/>
          </a:bodyPr>
          <a:lstStyle/>
          <a:p>
            <a:pPr indent="0">
              <a:spcBef>
                <a:spcPts val="600"/>
              </a:spcBef>
              <a:buFontTx/>
              <a:buNone/>
            </a:pPr>
            <a:r>
              <a:rPr lang="zh-CN" altLang="en-US" sz="2400" b="1" dirty="0">
                <a:solidFill>
                  <a:srgbClr val="C00000"/>
                </a:solidFill>
                <a:latin typeface="微软雅黑" panose="020B0503020204020204" charset="-122"/>
                <a:ea typeface="微软雅黑" panose="020B0503020204020204" charset="-122"/>
                <a:cs typeface="Times New Roman" panose="02020603050405020304" charset="0"/>
              </a:rPr>
              <a:t>代码解析示例</a:t>
            </a:r>
            <a:r>
              <a:rPr lang="en-US" altLang="zh-CN" sz="2400" b="1" dirty="0">
                <a:solidFill>
                  <a:srgbClr val="C00000"/>
                </a:solidFill>
                <a:latin typeface="微软雅黑" panose="020B0503020204020204" charset="-122"/>
                <a:ea typeface="微软雅黑" panose="020B0503020204020204" charset="-122"/>
                <a:cs typeface="Times New Roman" panose="02020603050405020304" charset="0"/>
              </a:rPr>
              <a:t>: </a:t>
            </a:r>
            <a:r>
              <a:rPr lang="zh-CN" altLang="en-US" sz="2400" b="1" dirty="0">
                <a:solidFill>
                  <a:srgbClr val="0000FF"/>
                </a:solidFill>
                <a:latin typeface="Times New Roman" panose="02020603050405020304" charset="0"/>
                <a:ea typeface="微软雅黑" panose="020B0503020204020204" charset="-122"/>
                <a:cs typeface="Times New Roman" panose="02020603050405020304" charset="0"/>
                <a:sym typeface="+mn-ea"/>
              </a:rPr>
              <a:t>离子掺杂和退火工艺仿真</a:t>
            </a:r>
          </a:p>
        </p:txBody>
      </p:sp>
      <p:sp>
        <p:nvSpPr>
          <p:cNvPr id="2" name="文本框 1"/>
          <p:cNvSpPr txBox="1"/>
          <p:nvPr/>
        </p:nvSpPr>
        <p:spPr>
          <a:xfrm>
            <a:off x="3634740" y="5184140"/>
            <a:ext cx="5165725" cy="1460500"/>
          </a:xfrm>
          <a:prstGeom prst="rect">
            <a:avLst/>
          </a:prstGeom>
          <a:noFill/>
          <a:ln w="47625">
            <a:solidFill>
              <a:srgbClr val="FF0000"/>
            </a:solidFill>
          </a:ln>
        </p:spPr>
        <p:txBody>
          <a:bodyPr wrap="square" rtlCol="0" anchor="t">
            <a:spAutoFit/>
          </a:bodyPr>
          <a:lstStyle/>
          <a:p>
            <a:pPr indent="0" algn="l" fontAlgn="auto">
              <a:lnSpc>
                <a:spcPct val="150000"/>
              </a:lnSpc>
              <a:spcBef>
                <a:spcPts val="600"/>
              </a:spcBef>
              <a:buClrTx/>
              <a:buSzTx/>
              <a:buFont typeface="Arial" panose="020B0604020202020204" pitchFamily="34" charset="0"/>
              <a:buNone/>
            </a:pPr>
            <a:r>
              <a:rPr lang="zh-CN" altLang="en-US" sz="1400" b="1" dirty="0">
                <a:solidFill>
                  <a:srgbClr val="0000FF"/>
                </a:solidFill>
                <a:latin typeface="Times New Roman" panose="02020603050405020304" charset="0"/>
                <a:ea typeface="微软雅黑" panose="020B0503020204020204" charset="-122"/>
                <a:cs typeface="Times New Roman" panose="02020603050405020304" charset="0"/>
                <a:sym typeface="+mn-ea"/>
              </a:rPr>
              <a:t>注意：</a:t>
            </a:r>
          </a:p>
          <a:p>
            <a:pPr indent="0" algn="l" fontAlgn="auto">
              <a:lnSpc>
                <a:spcPct val="150000"/>
              </a:lnSpc>
              <a:spcBef>
                <a:spcPts val="600"/>
              </a:spcBef>
              <a:buClrTx/>
              <a:buSzTx/>
              <a:buFont typeface="Arial" panose="020B0604020202020204" pitchFamily="34" charset="0"/>
              <a:buNone/>
            </a:pPr>
            <a:r>
              <a:rPr lang="en-US" altLang="zh-CN" sz="1400" b="1" dirty="0">
                <a:latin typeface="Times New Roman" panose="02020603050405020304" charset="0"/>
                <a:ea typeface="微软雅黑" panose="020B0503020204020204" charset="-122"/>
                <a:cs typeface="Times New Roman" panose="02020603050405020304" charset="0"/>
                <a:sym typeface="+mn-ea"/>
              </a:rPr>
              <a:t>      </a:t>
            </a:r>
            <a:r>
              <a:rPr lang="zh-CN" altLang="en-US" sz="1400" b="1" dirty="0">
                <a:latin typeface="Times New Roman" panose="02020603050405020304" charset="0"/>
                <a:ea typeface="微软雅黑" panose="020B0503020204020204" charset="-122"/>
                <a:cs typeface="Times New Roman" panose="02020603050405020304" charset="0"/>
                <a:sym typeface="+mn-ea"/>
              </a:rPr>
              <a:t>使晶体管或二极管工作的结构是</a:t>
            </a:r>
            <a:r>
              <a:rPr lang="en-US" altLang="zh-CN" sz="1400" b="1" dirty="0">
                <a:solidFill>
                  <a:srgbClr val="FF0000"/>
                </a:solidFill>
                <a:latin typeface="Times New Roman" panose="02020603050405020304" charset="0"/>
                <a:ea typeface="微软雅黑" panose="020B0503020204020204" charset="-122"/>
                <a:cs typeface="Times New Roman" panose="02020603050405020304" charset="0"/>
                <a:sym typeface="+mn-ea"/>
              </a:rPr>
              <a:t>PN</a:t>
            </a:r>
            <a:r>
              <a:rPr lang="zh-CN" altLang="en-US" sz="1400" b="1" dirty="0">
                <a:solidFill>
                  <a:srgbClr val="FF0000"/>
                </a:solidFill>
                <a:latin typeface="Times New Roman" panose="02020603050405020304" charset="0"/>
                <a:ea typeface="微软雅黑" panose="020B0503020204020204" charset="-122"/>
                <a:cs typeface="Times New Roman" panose="02020603050405020304" charset="0"/>
                <a:sym typeface="+mn-ea"/>
              </a:rPr>
              <a:t>结</a:t>
            </a:r>
            <a:r>
              <a:rPr lang="zh-CN" altLang="en-US" sz="1400" b="1" dirty="0">
                <a:latin typeface="Times New Roman" panose="02020603050405020304" charset="0"/>
                <a:ea typeface="微软雅黑" panose="020B0503020204020204" charset="-122"/>
                <a:cs typeface="Times New Roman" panose="02020603050405020304" charset="0"/>
                <a:sym typeface="+mn-ea"/>
              </a:rPr>
              <a:t>，</a:t>
            </a:r>
            <a:r>
              <a:rPr lang="en-US" altLang="zh-CN" sz="1400" b="1" dirty="0">
                <a:latin typeface="Times New Roman" panose="02020603050405020304" charset="0"/>
                <a:ea typeface="微软雅黑" panose="020B0503020204020204" charset="-122"/>
                <a:cs typeface="Times New Roman" panose="02020603050405020304" charset="0"/>
                <a:sym typeface="+mn-ea"/>
              </a:rPr>
              <a:t>PN</a:t>
            </a:r>
            <a:r>
              <a:rPr lang="zh-CN" altLang="en-US" sz="1400" b="1" dirty="0">
                <a:latin typeface="Times New Roman" panose="02020603050405020304" charset="0"/>
                <a:ea typeface="微软雅黑" panose="020B0503020204020204" charset="-122"/>
                <a:cs typeface="Times New Roman" panose="02020603050405020304" charset="0"/>
                <a:sym typeface="+mn-ea"/>
              </a:rPr>
              <a:t>结位于富含电子的区域和富含空穴的区域的</a:t>
            </a:r>
            <a:r>
              <a:rPr lang="zh-CN" altLang="en-US" sz="1400" b="1" dirty="0">
                <a:solidFill>
                  <a:srgbClr val="FF0000"/>
                </a:solidFill>
                <a:latin typeface="Times New Roman" panose="02020603050405020304" charset="0"/>
                <a:ea typeface="微软雅黑" panose="020B0503020204020204" charset="-122"/>
                <a:cs typeface="Times New Roman" panose="02020603050405020304" charset="0"/>
                <a:sym typeface="+mn-ea"/>
              </a:rPr>
              <a:t>分界</a:t>
            </a:r>
            <a:r>
              <a:rPr lang="zh-CN" altLang="en-US" sz="1400" b="1" dirty="0">
                <a:latin typeface="Times New Roman" panose="02020603050405020304" charset="0"/>
                <a:ea typeface="微软雅黑" panose="020B0503020204020204" charset="-122"/>
                <a:cs typeface="Times New Roman" panose="02020603050405020304" charset="0"/>
                <a:sym typeface="+mn-ea"/>
              </a:rPr>
              <a:t>处，其</a:t>
            </a:r>
            <a:r>
              <a:rPr lang="zh-CN" altLang="en-US" sz="1400" b="1" dirty="0">
                <a:solidFill>
                  <a:srgbClr val="FF0000"/>
                </a:solidFill>
                <a:latin typeface="Times New Roman" panose="02020603050405020304" charset="0"/>
                <a:ea typeface="微软雅黑" panose="020B0503020204020204" charset="-122"/>
                <a:cs typeface="Times New Roman" panose="02020603050405020304" charset="0"/>
                <a:sym typeface="+mn-ea"/>
              </a:rPr>
              <a:t>深度值</a:t>
            </a:r>
            <a:r>
              <a:rPr lang="zh-CN" altLang="en-US" sz="1400" b="1" dirty="0">
                <a:latin typeface="Times New Roman" panose="02020603050405020304" charset="0"/>
                <a:ea typeface="微软雅黑" panose="020B0503020204020204" charset="-122"/>
                <a:cs typeface="Times New Roman" panose="02020603050405020304" charset="0"/>
                <a:sym typeface="+mn-ea"/>
              </a:rPr>
              <a:t>在电子浓度和空穴浓度</a:t>
            </a:r>
            <a:r>
              <a:rPr lang="zh-CN" altLang="en-US" sz="1400" b="1" dirty="0">
                <a:solidFill>
                  <a:srgbClr val="FF0000"/>
                </a:solidFill>
                <a:latin typeface="Times New Roman" panose="02020603050405020304" charset="0"/>
                <a:ea typeface="微软雅黑" panose="020B0503020204020204" charset="-122"/>
                <a:cs typeface="Times New Roman" panose="02020603050405020304" charset="0"/>
                <a:sym typeface="+mn-ea"/>
              </a:rPr>
              <a:t>相同</a:t>
            </a:r>
            <a:r>
              <a:rPr lang="zh-CN" altLang="en-US" sz="1400" b="1" dirty="0">
                <a:latin typeface="Times New Roman" panose="02020603050405020304" charset="0"/>
                <a:ea typeface="微软雅黑" panose="020B0503020204020204" charset="-122"/>
                <a:cs typeface="Times New Roman" panose="02020603050405020304" charset="0"/>
                <a:sym typeface="+mn-ea"/>
              </a:rPr>
              <a:t>的地方。</a:t>
            </a:r>
          </a:p>
        </p:txBody>
      </p:sp>
      <p:cxnSp>
        <p:nvCxnSpPr>
          <p:cNvPr id="3" name="直接箭头连接符 2"/>
          <p:cNvCxnSpPr/>
          <p:nvPr/>
        </p:nvCxnSpPr>
        <p:spPr>
          <a:xfrm flipH="1">
            <a:off x="4427855" y="4869180"/>
            <a:ext cx="0" cy="288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636010" y="2564765"/>
            <a:ext cx="5122545" cy="598805"/>
          </a:xfrm>
          <a:prstGeom prst="rect">
            <a:avLst/>
          </a:prstGeom>
          <a:noFill/>
          <a:ln w="41275" cmpd="sng">
            <a:solidFill>
              <a:srgbClr val="FF0000"/>
            </a:solidFill>
            <a:prstDash val="solid"/>
          </a:ln>
        </p:spPr>
        <p:txBody>
          <a:bodyPr wrap="square" rtlCol="0" anchor="t">
            <a:spAutoFit/>
          </a:bodyPr>
          <a:lstStyle/>
          <a:p>
            <a:pPr marL="285750" indent="-285750" fontAlgn="auto">
              <a:spcBef>
                <a:spcPts val="600"/>
              </a:spcBef>
              <a:buFont typeface="Arial" panose="020B0604020202020204" pitchFamily="34" charset="0"/>
              <a:buChar char="•"/>
            </a:pPr>
            <a:r>
              <a:rPr lang="en-US" altLang="zh-CN" sz="1400" b="1" dirty="0">
                <a:latin typeface="Times New Roman" panose="02020603050405020304" charset="0"/>
                <a:ea typeface="微软雅黑" panose="020B0503020204020204" charset="-122"/>
                <a:cs typeface="Times New Roman" panose="02020603050405020304" charset="0"/>
                <a:sym typeface="+mn-ea"/>
              </a:rPr>
              <a:t>structure</a:t>
            </a: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是</a:t>
            </a:r>
            <a:r>
              <a:rPr lang="zh-CN" altLang="en-US" sz="1400" b="1" dirty="0">
                <a:solidFill>
                  <a:srgbClr val="FF0000"/>
                </a:solidFill>
                <a:latin typeface="Times New Roman" panose="02020603050405020304" charset="0"/>
                <a:ea typeface="微软雅黑" panose="020B0503020204020204" charset="-122"/>
                <a:cs typeface="Times New Roman" panose="02020603050405020304" charset="0"/>
                <a:sym typeface="+mn-ea"/>
              </a:rPr>
              <a:t>保存结构</a:t>
            </a: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命令；</a:t>
            </a:r>
          </a:p>
          <a:p>
            <a:pPr marL="285750" indent="-285750" fontAlgn="auto">
              <a:spcBef>
                <a:spcPts val="600"/>
              </a:spcBef>
              <a:buFont typeface="Arial" panose="020B0604020202020204" pitchFamily="34" charset="0"/>
              <a:buChar char="•"/>
            </a:pPr>
            <a:r>
              <a:rPr lang="zh-CN" sz="1400" b="1" dirty="0">
                <a:solidFill>
                  <a:schemeClr val="tx1"/>
                </a:solidFill>
                <a:latin typeface="Times New Roman" panose="02020603050405020304" charset="0"/>
                <a:ea typeface="微软雅黑" panose="020B0503020204020204" charset="-122"/>
                <a:cs typeface="Times New Roman" panose="02020603050405020304" charset="0"/>
                <a:sym typeface="+mn-ea"/>
              </a:rPr>
              <a:t>结构的名字是</a:t>
            </a:r>
            <a:r>
              <a:rPr lang="en-US" altLang="zh-CN" sz="1400" b="1" dirty="0">
                <a:solidFill>
                  <a:srgbClr val="0000FF"/>
                </a:solidFill>
                <a:latin typeface="Times New Roman" panose="02020603050405020304" charset="0"/>
                <a:ea typeface="微软雅黑" panose="020B0503020204020204" charset="-122"/>
                <a:cs typeface="Times New Roman" panose="02020603050405020304" charset="0"/>
                <a:sym typeface="+mn-ea"/>
              </a:rPr>
              <a:t>boron_implant</a:t>
            </a:r>
            <a:r>
              <a:rPr lang="zh-CN" altLang="en-US" sz="1400" b="1" dirty="0">
                <a:latin typeface="Times New Roman" panose="02020603050405020304" charset="0"/>
                <a:ea typeface="微软雅黑" panose="020B0503020204020204" charset="-122"/>
                <a:cs typeface="Times New Roman" panose="02020603050405020304" charset="0"/>
                <a:sym typeface="+mn-ea"/>
              </a:rPr>
              <a:t>，后缀是</a:t>
            </a:r>
            <a:r>
              <a:rPr lang="en-US" altLang="zh-CN" sz="1400" b="1" dirty="0">
                <a:solidFill>
                  <a:srgbClr val="0000FF"/>
                </a:solidFill>
                <a:latin typeface="Times New Roman" panose="02020603050405020304" charset="0"/>
                <a:ea typeface="微软雅黑" panose="020B0503020204020204" charset="-122"/>
                <a:cs typeface="Times New Roman" panose="02020603050405020304" charset="0"/>
                <a:sym typeface="+mn-ea"/>
              </a:rPr>
              <a:t>str</a:t>
            </a:r>
            <a:r>
              <a:rPr lang="zh-CN" sz="1400" b="1" dirty="0">
                <a:solidFill>
                  <a:schemeClr val="tx1"/>
                </a:solidFill>
                <a:latin typeface="Times New Roman" panose="02020603050405020304" charset="0"/>
                <a:ea typeface="微软雅黑" panose="020B0503020204020204" charset="-122"/>
                <a:cs typeface="Times New Roman" panose="02020603050405020304" charset="0"/>
                <a:sym typeface="+mn-ea"/>
              </a:rPr>
              <a:t>；</a:t>
            </a:r>
            <a:endParaRPr lang="zh-CN" sz="1400" b="1" baseline="30000" dirty="0">
              <a:solidFill>
                <a:srgbClr val="0000FF"/>
              </a:solidFill>
              <a:latin typeface="Times New Roman" panose="02020603050405020304" charset="0"/>
              <a:ea typeface="微软雅黑" panose="020B0503020204020204" charset="-122"/>
              <a:cs typeface="Times New Roman" panose="02020603050405020304" charset="0"/>
              <a:sym typeface="+mn-ea"/>
            </a:endParaRPr>
          </a:p>
        </p:txBody>
      </p:sp>
      <p:cxnSp>
        <p:nvCxnSpPr>
          <p:cNvPr id="16" name="直接箭头连接符 15"/>
          <p:cNvCxnSpPr/>
          <p:nvPr/>
        </p:nvCxnSpPr>
        <p:spPr>
          <a:xfrm flipV="1">
            <a:off x="5868035" y="3571875"/>
            <a:ext cx="0" cy="14636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07950" y="118110"/>
            <a:ext cx="8458200" cy="460375"/>
          </a:xfrm>
          <a:prstGeom prst="rect">
            <a:avLst/>
          </a:prstGeom>
        </p:spPr>
        <p:txBody>
          <a:bodyPr wrap="square">
            <a:spAutoFit/>
          </a:bodyPr>
          <a:lstStyle/>
          <a:p>
            <a:pPr indent="0">
              <a:spcBef>
                <a:spcPts val="600"/>
              </a:spcBef>
              <a:buFontTx/>
              <a:buNone/>
            </a:pPr>
            <a:r>
              <a:rPr lang="zh-CN" altLang="en-US" sz="2400" b="1" dirty="0">
                <a:solidFill>
                  <a:srgbClr val="C00000"/>
                </a:solidFill>
                <a:latin typeface="微软雅黑" panose="020B0503020204020204" charset="-122"/>
                <a:ea typeface="微软雅黑" panose="020B0503020204020204" charset="-122"/>
                <a:cs typeface="Times New Roman" panose="02020603050405020304" charset="0"/>
              </a:rPr>
              <a:t>代码解析示例</a:t>
            </a:r>
            <a:r>
              <a:rPr lang="en-US" altLang="zh-CN" sz="2400" b="1" dirty="0">
                <a:solidFill>
                  <a:srgbClr val="C00000"/>
                </a:solidFill>
                <a:latin typeface="微软雅黑" panose="020B0503020204020204" charset="-122"/>
                <a:ea typeface="微软雅黑" panose="020B0503020204020204" charset="-122"/>
                <a:cs typeface="Times New Roman" panose="02020603050405020304" charset="0"/>
              </a:rPr>
              <a:t>: </a:t>
            </a:r>
            <a:r>
              <a:rPr lang="zh-CN" altLang="en-US" sz="2400" b="1" dirty="0">
                <a:solidFill>
                  <a:srgbClr val="0000FF"/>
                </a:solidFill>
                <a:latin typeface="Times New Roman" panose="02020603050405020304" charset="0"/>
                <a:ea typeface="微软雅黑" panose="020B0503020204020204" charset="-122"/>
                <a:cs typeface="Times New Roman" panose="02020603050405020304" charset="0"/>
                <a:sym typeface="+mn-ea"/>
              </a:rPr>
              <a:t>离子掺杂和退火工艺仿真</a:t>
            </a:r>
          </a:p>
        </p:txBody>
      </p:sp>
      <p:pic>
        <p:nvPicPr>
          <p:cNvPr id="7" name="内容占位符 6"/>
          <p:cNvPicPr>
            <a:picLocks noGrp="1" noChangeAspect="1"/>
          </p:cNvPicPr>
          <p:nvPr>
            <p:ph idx="1"/>
          </p:nvPr>
        </p:nvPicPr>
        <p:blipFill>
          <a:blip r:embed="rId2"/>
          <a:srcRect l="9658" r="13687" b="15708"/>
          <a:stretch>
            <a:fillRect/>
          </a:stretch>
        </p:blipFill>
        <p:spPr>
          <a:xfrm>
            <a:off x="179070" y="578485"/>
            <a:ext cx="6217920" cy="610298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636010" y="2923540"/>
            <a:ext cx="5122545" cy="598805"/>
          </a:xfrm>
          <a:prstGeom prst="rect">
            <a:avLst/>
          </a:prstGeom>
          <a:noFill/>
          <a:ln w="41275" cmpd="sng">
            <a:solidFill>
              <a:srgbClr val="FF0000"/>
            </a:solidFill>
            <a:prstDash val="solid"/>
          </a:ln>
        </p:spPr>
        <p:txBody>
          <a:bodyPr wrap="square" rtlCol="0" anchor="t">
            <a:spAutoFit/>
          </a:bodyPr>
          <a:lstStyle/>
          <a:p>
            <a:pPr marL="285750" indent="-285750" fontAlgn="auto">
              <a:spcBef>
                <a:spcPts val="600"/>
              </a:spcBef>
              <a:buFont typeface="Arial" panose="020B0604020202020204" pitchFamily="34" charset="0"/>
              <a:buChar char="•"/>
            </a:pPr>
            <a:r>
              <a:rPr lang="en-US" altLang="zh-CN" sz="1400" b="1" dirty="0">
                <a:solidFill>
                  <a:srgbClr val="FF0000"/>
                </a:solidFill>
                <a:latin typeface="Times New Roman" panose="02020603050405020304" charset="0"/>
                <a:ea typeface="微软雅黑" panose="020B0503020204020204" charset="-122"/>
                <a:cs typeface="Times New Roman" panose="02020603050405020304" charset="0"/>
                <a:sym typeface="+mn-ea"/>
              </a:rPr>
              <a:t>tonyplot</a:t>
            </a: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是</a:t>
            </a:r>
            <a:r>
              <a:rPr lang="zh-CN" altLang="en-US" sz="1400" b="1" dirty="0">
                <a:solidFill>
                  <a:srgbClr val="FF0000"/>
                </a:solidFill>
                <a:latin typeface="Times New Roman" panose="02020603050405020304" charset="0"/>
                <a:ea typeface="微软雅黑" panose="020B0503020204020204" charset="-122"/>
                <a:cs typeface="Times New Roman" panose="02020603050405020304" charset="0"/>
                <a:sym typeface="+mn-ea"/>
              </a:rPr>
              <a:t>显示</a:t>
            </a:r>
            <a:r>
              <a:rPr lang="zh-CN" altLang="en-US" sz="1400" b="1" dirty="0">
                <a:solidFill>
                  <a:schemeClr val="tx1"/>
                </a:solidFill>
                <a:latin typeface="Times New Roman" panose="02020603050405020304" charset="0"/>
                <a:ea typeface="微软雅黑" panose="020B0503020204020204" charset="-122"/>
                <a:cs typeface="Times New Roman" panose="02020603050405020304" charset="0"/>
                <a:sym typeface="+mn-ea"/>
              </a:rPr>
              <a:t>命令；</a:t>
            </a:r>
          </a:p>
          <a:p>
            <a:pPr marL="285750" indent="-285750" fontAlgn="auto">
              <a:spcBef>
                <a:spcPts val="600"/>
              </a:spcBef>
              <a:buFont typeface="Arial" panose="020B0604020202020204" pitchFamily="34" charset="0"/>
              <a:buChar char="•"/>
            </a:pPr>
            <a:r>
              <a:rPr lang="zh-CN" sz="1400" b="1" dirty="0">
                <a:solidFill>
                  <a:schemeClr val="tx1"/>
                </a:solidFill>
                <a:latin typeface="Times New Roman" panose="02020603050405020304" charset="0"/>
                <a:ea typeface="微软雅黑" panose="020B0503020204020204" charset="-122"/>
                <a:cs typeface="Times New Roman" panose="02020603050405020304" charset="0"/>
                <a:sym typeface="+mn-ea"/>
              </a:rPr>
              <a:t>将文件名为</a:t>
            </a:r>
            <a:r>
              <a:rPr lang="en-US" altLang="zh-CN" sz="1400" b="1" dirty="0">
                <a:latin typeface="Times New Roman" panose="02020603050405020304" charset="0"/>
                <a:ea typeface="微软雅黑" panose="020B0503020204020204" charset="-122"/>
                <a:cs typeface="Times New Roman" panose="02020603050405020304" charset="0"/>
                <a:sym typeface="+mn-ea"/>
              </a:rPr>
              <a:t>boron_implant</a:t>
            </a:r>
            <a:r>
              <a:rPr lang="zh-CN" altLang="en-US" sz="1400" b="1" dirty="0">
                <a:latin typeface="Times New Roman" panose="02020603050405020304" charset="0"/>
                <a:ea typeface="微软雅黑" panose="020B0503020204020204" charset="-122"/>
                <a:cs typeface="Times New Roman" panose="02020603050405020304" charset="0"/>
                <a:sym typeface="+mn-ea"/>
              </a:rPr>
              <a:t>的结构</a:t>
            </a:r>
            <a:r>
              <a:rPr lang="zh-CN" sz="1400" b="1" dirty="0">
                <a:solidFill>
                  <a:schemeClr val="tx1"/>
                </a:solidFill>
                <a:latin typeface="Times New Roman" panose="02020603050405020304" charset="0"/>
                <a:ea typeface="微软雅黑" panose="020B0503020204020204" charset="-122"/>
                <a:cs typeface="Times New Roman" panose="02020603050405020304" charset="0"/>
                <a:sym typeface="+mn-ea"/>
              </a:rPr>
              <a:t>显示出来；</a:t>
            </a:r>
            <a:endParaRPr lang="zh-CN" sz="1400" b="1" baseline="30000" dirty="0">
              <a:solidFill>
                <a:srgbClr val="0000FF"/>
              </a:solidFill>
              <a:latin typeface="Times New Roman" panose="02020603050405020304" charset="0"/>
              <a:ea typeface="微软雅黑" panose="020B0503020204020204" charset="-122"/>
              <a:cs typeface="Times New Roman" panose="02020603050405020304" charset="0"/>
              <a:sym typeface="+mn-ea"/>
            </a:endParaRPr>
          </a:p>
        </p:txBody>
      </p:sp>
      <p:cxnSp>
        <p:nvCxnSpPr>
          <p:cNvPr id="16" name="直接箭头连接符 15"/>
          <p:cNvCxnSpPr/>
          <p:nvPr/>
        </p:nvCxnSpPr>
        <p:spPr>
          <a:xfrm flipV="1">
            <a:off x="5868035" y="3554095"/>
            <a:ext cx="0" cy="2082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07950" y="118110"/>
            <a:ext cx="8458200" cy="460375"/>
          </a:xfrm>
          <a:prstGeom prst="rect">
            <a:avLst/>
          </a:prstGeom>
        </p:spPr>
        <p:txBody>
          <a:bodyPr wrap="square">
            <a:spAutoFit/>
          </a:bodyPr>
          <a:lstStyle/>
          <a:p>
            <a:pPr indent="0">
              <a:spcBef>
                <a:spcPts val="600"/>
              </a:spcBef>
              <a:buFontTx/>
              <a:buNone/>
            </a:pPr>
            <a:r>
              <a:rPr lang="zh-CN" altLang="en-US" sz="2400" b="1" dirty="0">
                <a:solidFill>
                  <a:srgbClr val="C00000"/>
                </a:solidFill>
                <a:latin typeface="微软雅黑" panose="020B0503020204020204" charset="-122"/>
                <a:ea typeface="微软雅黑" panose="020B0503020204020204" charset="-122"/>
                <a:cs typeface="Times New Roman" panose="02020603050405020304" charset="0"/>
              </a:rPr>
              <a:t>代码解析示例</a:t>
            </a:r>
            <a:r>
              <a:rPr lang="en-US" altLang="zh-CN" sz="2400" b="1" dirty="0">
                <a:solidFill>
                  <a:srgbClr val="C00000"/>
                </a:solidFill>
                <a:latin typeface="微软雅黑" panose="020B0503020204020204" charset="-122"/>
                <a:ea typeface="微软雅黑" panose="020B0503020204020204" charset="-122"/>
                <a:cs typeface="Times New Roman" panose="02020603050405020304" charset="0"/>
              </a:rPr>
              <a:t>: </a:t>
            </a:r>
            <a:r>
              <a:rPr lang="zh-CN" altLang="en-US" sz="2400" b="1" dirty="0">
                <a:solidFill>
                  <a:srgbClr val="0000FF"/>
                </a:solidFill>
                <a:latin typeface="Times New Roman" panose="02020603050405020304" charset="0"/>
                <a:ea typeface="微软雅黑" panose="020B0503020204020204" charset="-122"/>
                <a:cs typeface="Times New Roman" panose="02020603050405020304" charset="0"/>
                <a:sym typeface="+mn-ea"/>
              </a:rPr>
              <a:t>离子掺杂和退火工艺仿真</a:t>
            </a:r>
          </a:p>
        </p:txBody>
      </p:sp>
      <p:pic>
        <p:nvPicPr>
          <p:cNvPr id="7" name="内容占位符 6"/>
          <p:cNvPicPr>
            <a:picLocks noGrp="1" noChangeAspect="1"/>
          </p:cNvPicPr>
          <p:nvPr>
            <p:ph idx="1"/>
          </p:nvPr>
        </p:nvPicPr>
        <p:blipFill>
          <a:blip r:embed="rId2"/>
          <a:srcRect l="8418" r="15088" b="15708"/>
          <a:stretch>
            <a:fillRect/>
          </a:stretch>
        </p:blipFill>
        <p:spPr>
          <a:xfrm>
            <a:off x="107950" y="621030"/>
            <a:ext cx="6190615" cy="608901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79705" y="981075"/>
            <a:ext cx="8665845" cy="5255895"/>
          </a:xfrm>
          <a:prstGeom prst="rect">
            <a:avLst/>
          </a:prstGeom>
        </p:spPr>
      </p:pic>
      <p:sp>
        <p:nvSpPr>
          <p:cNvPr id="6" name="矩形 5"/>
          <p:cNvSpPr/>
          <p:nvPr/>
        </p:nvSpPr>
        <p:spPr>
          <a:xfrm>
            <a:off x="107950" y="332740"/>
            <a:ext cx="8458200" cy="460375"/>
          </a:xfrm>
          <a:prstGeom prst="rect">
            <a:avLst/>
          </a:prstGeom>
        </p:spPr>
        <p:txBody>
          <a:bodyPr wrap="square">
            <a:spAutoFit/>
          </a:bodyPr>
          <a:lstStyle/>
          <a:p>
            <a:pPr indent="0">
              <a:spcBef>
                <a:spcPts val="600"/>
              </a:spcBef>
              <a:buFontTx/>
              <a:buNone/>
            </a:pPr>
            <a:r>
              <a:rPr lang="zh-CN" altLang="en-US" sz="2400" b="1" dirty="0">
                <a:solidFill>
                  <a:srgbClr val="0000FF"/>
                </a:solidFill>
                <a:latin typeface="Times New Roman" panose="02020603050405020304" charset="0"/>
                <a:ea typeface="微软雅黑" panose="020B0503020204020204" charset="-122"/>
                <a:cs typeface="Times New Roman" panose="02020603050405020304" charset="0"/>
                <a:sym typeface="+mn-ea"/>
              </a:rPr>
              <a:t>仿真运行：</a:t>
            </a:r>
            <a:r>
              <a:rPr lang="en-US" altLang="zh-CN" sz="2400" b="1" dirty="0">
                <a:solidFill>
                  <a:srgbClr val="0000FF"/>
                </a:solidFill>
                <a:latin typeface="Times New Roman" panose="02020603050405020304" charset="0"/>
                <a:ea typeface="微软雅黑" panose="020B0503020204020204" charset="-122"/>
                <a:cs typeface="Times New Roman" panose="02020603050405020304" charset="0"/>
                <a:sym typeface="+mn-ea"/>
              </a:rPr>
              <a:t>  </a:t>
            </a:r>
            <a:r>
              <a:rPr lang="zh-CN" altLang="en-US" sz="2400" b="1" dirty="0">
                <a:solidFill>
                  <a:srgbClr val="C00000"/>
                </a:solidFill>
                <a:latin typeface="Times New Roman" panose="02020603050405020304" charset="0"/>
                <a:ea typeface="微软雅黑" panose="020B0503020204020204" charset="-122"/>
                <a:cs typeface="Times New Roman" panose="02020603050405020304" charset="0"/>
                <a:sym typeface="+mn-ea"/>
              </a:rPr>
              <a:t>代码输入</a:t>
            </a:r>
          </a:p>
        </p:txBody>
      </p:sp>
      <p:sp>
        <p:nvSpPr>
          <p:cNvPr id="5" name="文本框 4"/>
          <p:cNvSpPr txBox="1"/>
          <p:nvPr/>
        </p:nvSpPr>
        <p:spPr>
          <a:xfrm>
            <a:off x="2844165" y="2348865"/>
            <a:ext cx="3543300" cy="368300"/>
          </a:xfrm>
          <a:prstGeom prst="rect">
            <a:avLst/>
          </a:prstGeom>
          <a:noFill/>
        </p:spPr>
        <p:txBody>
          <a:bodyPr wrap="square" rtlCol="0">
            <a:spAutoFit/>
          </a:bodyPr>
          <a:lstStyle/>
          <a:p>
            <a:r>
              <a:rPr lang="zh-CN" altLang="en-US" b="1">
                <a:solidFill>
                  <a:srgbClr val="FF0000"/>
                </a:solidFill>
              </a:rPr>
              <a:t>注意：代码中不能有中文字符！！</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46380" y="1052830"/>
            <a:ext cx="8650605" cy="5275580"/>
          </a:xfrm>
          <a:prstGeom prst="rect">
            <a:avLst/>
          </a:prstGeom>
        </p:spPr>
      </p:pic>
      <p:sp>
        <p:nvSpPr>
          <p:cNvPr id="6" name="矩形 5"/>
          <p:cNvSpPr/>
          <p:nvPr/>
        </p:nvSpPr>
        <p:spPr>
          <a:xfrm>
            <a:off x="179705" y="405130"/>
            <a:ext cx="8458200" cy="460375"/>
          </a:xfrm>
          <a:prstGeom prst="rect">
            <a:avLst/>
          </a:prstGeom>
        </p:spPr>
        <p:txBody>
          <a:bodyPr wrap="square">
            <a:spAutoFit/>
          </a:bodyPr>
          <a:lstStyle/>
          <a:p>
            <a:pPr indent="0">
              <a:spcBef>
                <a:spcPts val="600"/>
              </a:spcBef>
              <a:buFontTx/>
              <a:buNone/>
            </a:pPr>
            <a:r>
              <a:rPr lang="zh-CN" altLang="en-US" sz="2400" b="1" dirty="0">
                <a:solidFill>
                  <a:srgbClr val="0000FF"/>
                </a:solidFill>
                <a:latin typeface="Times New Roman" panose="02020603050405020304" charset="0"/>
                <a:ea typeface="微软雅黑" panose="020B0503020204020204" charset="-122"/>
                <a:cs typeface="Times New Roman" panose="02020603050405020304" charset="0"/>
                <a:sym typeface="+mn-ea"/>
              </a:rPr>
              <a:t>仿真运行：</a:t>
            </a:r>
            <a:r>
              <a:rPr lang="en-US" altLang="zh-CN" sz="2400" b="1" dirty="0">
                <a:solidFill>
                  <a:srgbClr val="0000FF"/>
                </a:solidFill>
                <a:latin typeface="Times New Roman" panose="02020603050405020304" charset="0"/>
                <a:ea typeface="微软雅黑" panose="020B0503020204020204" charset="-122"/>
                <a:cs typeface="Times New Roman" panose="02020603050405020304" charset="0"/>
                <a:sym typeface="+mn-ea"/>
              </a:rPr>
              <a:t> </a:t>
            </a:r>
            <a:r>
              <a:rPr lang="zh-CN" altLang="en-US" sz="2400" b="1" dirty="0">
                <a:solidFill>
                  <a:srgbClr val="C00000"/>
                </a:solidFill>
                <a:latin typeface="Times New Roman" panose="02020603050405020304" charset="0"/>
                <a:ea typeface="微软雅黑" panose="020B0503020204020204" charset="-122"/>
                <a:cs typeface="Times New Roman" panose="02020603050405020304" charset="0"/>
                <a:sym typeface="+mn-ea"/>
              </a:rPr>
              <a:t>代码运行</a:t>
            </a:r>
          </a:p>
        </p:txBody>
      </p:sp>
      <p:sp>
        <p:nvSpPr>
          <p:cNvPr id="3" name="矩形 2"/>
          <p:cNvSpPr/>
          <p:nvPr/>
        </p:nvSpPr>
        <p:spPr>
          <a:xfrm>
            <a:off x="395605" y="4293235"/>
            <a:ext cx="3317240" cy="1524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755650" y="6381750"/>
            <a:ext cx="6631305" cy="337185"/>
          </a:xfrm>
          <a:prstGeom prst="rect">
            <a:avLst/>
          </a:prstGeom>
          <a:noFill/>
        </p:spPr>
        <p:txBody>
          <a:bodyPr wrap="square" rtlCol="0">
            <a:spAutoFit/>
          </a:bodyPr>
          <a:lstStyle/>
          <a:p>
            <a:r>
              <a:rPr lang="en-US" altLang="zh-CN" sz="1600" b="1">
                <a:solidFill>
                  <a:srgbClr val="C00000"/>
                </a:solidFill>
                <a:latin typeface="Times New Roman" panose="02020603050405020304" charset="0"/>
                <a:cs typeface="Times New Roman" panose="02020603050405020304" charset="0"/>
              </a:rPr>
              <a:t>Net doping</a:t>
            </a:r>
            <a:r>
              <a:rPr lang="zh-CN" altLang="en-US" sz="1600" b="1">
                <a:solidFill>
                  <a:srgbClr val="C00000"/>
                </a:solidFill>
                <a:latin typeface="Times New Roman" panose="02020603050405020304" charset="0"/>
                <a:cs typeface="Times New Roman" panose="02020603050405020304" charset="0"/>
              </a:rPr>
              <a:t>的意思是净掺杂。</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419475" y="2421255"/>
            <a:ext cx="1890395" cy="1076325"/>
          </a:xfrm>
          <a:prstGeom prst="rect">
            <a:avLst/>
          </a:prstGeom>
          <a:noFill/>
        </p:spPr>
        <p:txBody>
          <a:bodyPr wrap="none" rtlCol="0" anchor="t">
            <a:spAutoFit/>
          </a:bodyPr>
          <a:lstStyle/>
          <a:p>
            <a:pPr indent="0" algn="l">
              <a:lnSpc>
                <a:spcPct val="200000"/>
              </a:lnSpc>
              <a:buClrTx/>
              <a:buSzTx/>
              <a:buFontTx/>
              <a:buNone/>
            </a:pPr>
            <a:r>
              <a:rPr lang="en-US" altLang="zh-CN" sz="3200" b="1" dirty="0">
                <a:solidFill>
                  <a:srgbClr val="C00000"/>
                </a:solidFill>
                <a:latin typeface="微软雅黑" panose="020B0503020204020204" charset="-122"/>
                <a:ea typeface="微软雅黑" panose="020B0503020204020204" charset="-122"/>
                <a:cs typeface="微软雅黑" panose="020B0503020204020204" charset="-122"/>
                <a:sym typeface="+mn-ea"/>
              </a:rPr>
              <a:t>4. </a:t>
            </a:r>
            <a:r>
              <a:rPr lang="zh-CN" altLang="en-US" sz="3200" b="1" dirty="0">
                <a:solidFill>
                  <a:srgbClr val="C00000"/>
                </a:solidFill>
                <a:latin typeface="微软雅黑" panose="020B0503020204020204" charset="-122"/>
                <a:ea typeface="微软雅黑" panose="020B0503020204020204" charset="-122"/>
                <a:cs typeface="微软雅黑" panose="020B0503020204020204" charset="-122"/>
                <a:sym typeface="+mn-ea"/>
              </a:rPr>
              <a:t>小练手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750" y="476885"/>
            <a:ext cx="7871460" cy="706755"/>
          </a:xfrm>
          <a:prstGeom prst="rect">
            <a:avLst/>
          </a:prstGeom>
          <a:noFill/>
        </p:spPr>
        <p:txBody>
          <a:bodyPr wrap="square" rtlCol="0" anchor="t">
            <a:spAutoFit/>
          </a:bodyPr>
          <a:lstStyle/>
          <a:p>
            <a:pPr>
              <a:lnSpc>
                <a:spcPct val="200000"/>
              </a:lnSpc>
            </a:pPr>
            <a:r>
              <a:rPr lang="zh-CN" sz="2000" b="1" dirty="0">
                <a:solidFill>
                  <a:srgbClr val="C00000"/>
                </a:solidFill>
                <a:latin typeface="微软雅黑" panose="020B0503020204020204" charset="-122"/>
                <a:ea typeface="微软雅黑" panose="020B0503020204020204" charset="-122"/>
                <a:cs typeface="微软雅黑" panose="020B0503020204020204" charset="-122"/>
                <a:sym typeface="+mn-ea"/>
              </a:rPr>
              <a:t>实验一：结深随退火时间、退火温度的变化规律仿真</a:t>
            </a:r>
          </a:p>
        </p:txBody>
      </p:sp>
      <p:sp>
        <p:nvSpPr>
          <p:cNvPr id="3" name="文本框 2"/>
          <p:cNvSpPr txBox="1"/>
          <p:nvPr/>
        </p:nvSpPr>
        <p:spPr>
          <a:xfrm>
            <a:off x="323528" y="1412875"/>
            <a:ext cx="8498205" cy="2168525"/>
          </a:xfrm>
          <a:prstGeom prst="rect">
            <a:avLst/>
          </a:prstGeom>
          <a:noFill/>
        </p:spPr>
        <p:txBody>
          <a:bodyPr wrap="square" rtlCol="0">
            <a:spAutoFit/>
          </a:bodyPr>
          <a:lstStyle/>
          <a:p>
            <a:pPr fontAlgn="auto">
              <a:lnSpc>
                <a:spcPct val="150000"/>
              </a:lnSpc>
            </a:pPr>
            <a:r>
              <a:rPr lang="zh-CN" altLang="en-US" b="1" dirty="0">
                <a:solidFill>
                  <a:srgbClr val="0000FF"/>
                </a:solidFill>
              </a:rPr>
              <a:t>实验要求：</a:t>
            </a:r>
          </a:p>
          <a:p>
            <a:pPr fontAlgn="auto">
              <a:lnSpc>
                <a:spcPct val="150000"/>
              </a:lnSpc>
            </a:pPr>
            <a:r>
              <a:rPr lang="en-US" altLang="zh-CN" dirty="0"/>
              <a:t>1.</a:t>
            </a:r>
            <a:r>
              <a:rPr lang="zh-CN" altLang="en-US" dirty="0">
                <a:sym typeface="+mn-ea"/>
              </a:rPr>
              <a:t>使用上述模型，仿真出</a:t>
            </a:r>
            <a:r>
              <a:rPr lang="zh-CN" altLang="en-US">
                <a:sym typeface="+mn-ea"/>
              </a:rPr>
              <a:t>不同</a:t>
            </a:r>
            <a:r>
              <a:rPr lang="zh-CN" altLang="en-US" b="1">
                <a:sym typeface="+mn-ea"/>
              </a:rPr>
              <a:t>退火</a:t>
            </a:r>
            <a:r>
              <a:rPr lang="zh-CN" altLang="en-US" b="1" dirty="0">
                <a:sym typeface="+mn-ea"/>
              </a:rPr>
              <a:t>时间</a:t>
            </a:r>
            <a:r>
              <a:rPr lang="zh-CN" altLang="en-US" dirty="0">
                <a:sym typeface="+mn-ea"/>
              </a:rPr>
              <a:t>、</a:t>
            </a:r>
            <a:r>
              <a:rPr lang="zh-CN" altLang="en-US" b="1" dirty="0">
                <a:sym typeface="+mn-ea"/>
              </a:rPr>
              <a:t>退火温度</a:t>
            </a:r>
            <a:r>
              <a:rPr lang="zh-CN" altLang="en-US" dirty="0">
                <a:sym typeface="+mn-ea"/>
              </a:rPr>
              <a:t>下的结深，给出结深</a:t>
            </a:r>
            <a:r>
              <a:rPr lang="zh-CN" altLang="en-US">
                <a:sym typeface="+mn-ea"/>
              </a:rPr>
              <a:t>随</a:t>
            </a:r>
            <a:r>
              <a:rPr lang="zh-CN" altLang="en-US" b="1">
                <a:sym typeface="+mn-ea"/>
              </a:rPr>
              <a:t>退火</a:t>
            </a:r>
            <a:r>
              <a:rPr lang="zh-CN" altLang="en-US" b="1" dirty="0">
                <a:sym typeface="+mn-ea"/>
              </a:rPr>
              <a:t>时间、退火温度（指出超过哪个温度节点后，结深开始快速变化）</a:t>
            </a:r>
            <a:r>
              <a:rPr lang="zh-CN" altLang="en-US" dirty="0">
                <a:sym typeface="+mn-ea"/>
              </a:rPr>
              <a:t>的变化规律曲线，并总结变化规律；</a:t>
            </a:r>
          </a:p>
          <a:p>
            <a:pPr fontAlgn="auto">
              <a:lnSpc>
                <a:spcPct val="150000"/>
              </a:lnSpc>
            </a:pP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95830" y="2277110"/>
            <a:ext cx="4773930" cy="1198880"/>
          </a:xfrm>
          <a:prstGeom prst="rect">
            <a:avLst/>
          </a:prstGeom>
          <a:noFill/>
          <a:ln>
            <a:noFill/>
          </a:ln>
        </p:spPr>
        <p:txBody>
          <a:bodyPr wrap="none" rtlCol="0" anchor="t">
            <a:spAutoFit/>
          </a:bodyPr>
          <a:lstStyle/>
          <a:p>
            <a:pPr algn="ctr"/>
            <a:r>
              <a:rPr lang="zh-CN" altLang="en-US" sz="7200" b="1">
                <a:solidFill>
                  <a:schemeClr val="accent1"/>
                </a:solidFill>
                <a:effectLst>
                  <a:outerShdw blurRad="38100" dist="25400" dir="5400000" algn="ctr" rotWithShape="0">
                    <a:srgbClr val="6E747A">
                      <a:alpha val="43000"/>
                    </a:srgbClr>
                  </a:outerShdw>
                </a:effectLst>
              </a:rPr>
              <a:t>欢迎交流！</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WIyNzc2MjMzNzRkNWUyZGE3ZDc5M2U5NWFlODgxYWQifQ=="/>
  <p:tag name="KSO_WPP_MARK_KEY" val="88dd638f-6975-4e38-8e20-a4dcf76c32c3"/>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平衡">
  <a:themeElements>
    <a:clrScheme name="平衡">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平衡">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平衡">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102</TotalTime>
  <Words>1228</Words>
  <Application>Microsoft Office PowerPoint</Application>
  <PresentationFormat>全屏显示(4:3)</PresentationFormat>
  <Paragraphs>113</Paragraphs>
  <Slides>26</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26</vt:i4>
      </vt:variant>
    </vt:vector>
  </HeadingPairs>
  <TitlesOfParts>
    <vt:vector size="36" baseType="lpstr">
      <vt:lpstr>楷体</vt:lpstr>
      <vt:lpstr>微软雅黑</vt:lpstr>
      <vt:lpstr>Arial</vt:lpstr>
      <vt:lpstr>Calibri</vt:lpstr>
      <vt:lpstr>Franklin Gothic Book</vt:lpstr>
      <vt:lpstr>Perpetua</vt:lpstr>
      <vt:lpstr>Times New Roman</vt:lpstr>
      <vt:lpstr>Wingdings</vt:lpstr>
      <vt:lpstr>Wingdings 2</vt:lpstr>
      <vt:lpstr>平衡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dell</dc:creator>
  <cp:lastModifiedBy>Administrator</cp:lastModifiedBy>
  <cp:revision>689</cp:revision>
  <dcterms:created xsi:type="dcterms:W3CDTF">2020-03-29T10:36:00Z</dcterms:created>
  <dcterms:modified xsi:type="dcterms:W3CDTF">2025-09-10T03:23:16Z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319B22EE123B473EB5A32AF43C1586E2</vt:lpwstr>
  </property>
  <property fmtid="{D5CDD505-2E9C-101B-9397-08002B2CF9AE}" pid="3" name="KSOProductBuildVer">
    <vt:lpwstr>2052-12.1.0.19770</vt:lpwstr>
  </property>
</Properties>
</file>