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0"/>
  </p:handoutMasterIdLst>
  <p:sldIdLst>
    <p:sldId id="265" r:id="rId3"/>
    <p:sldId id="323" r:id="rId4"/>
    <p:sldId id="743" r:id="rId5"/>
    <p:sldId id="741" r:id="rId6"/>
    <p:sldId id="663" r:id="rId7"/>
    <p:sldId id="343" r:id="rId8"/>
  </p:sldIdLst>
  <p:sldSz cx="9144000" cy="6858000" type="screen4x3"/>
  <p:notesSz cx="6858000" cy="9144000"/>
  <p:custDataLst>
    <p:tags r:id="rId1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28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85208"/>
    <a:srgbClr val="FF6C0D"/>
    <a:srgbClr val="9716AE"/>
    <a:srgbClr val="C52ABC"/>
    <a:srgbClr val="1D41D5"/>
    <a:srgbClr val="D869EC"/>
    <a:srgbClr val="5407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02" d="100"/>
          <a:sy n="102" d="100"/>
        </p:scale>
        <p:origin x="1278" y="96"/>
      </p:cViewPr>
      <p:guideLst>
        <p:guide orient="horz" pos="2140"/>
        <p:guide pos="288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gs" Target="tags/tag2.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1"/>
      </p:bgRef>
    </p:bg>
    <p:spTree>
      <p:nvGrpSpPr>
        <p:cNvPr id="1" name=""/>
        <p:cNvGrpSpPr/>
        <p:nvPr/>
      </p:nvGrpSpPr>
      <p:grpSpPr>
        <a:xfrm>
          <a:off x="0" y="0"/>
          <a:ext cx="0" cy="0"/>
          <a:chOff x="0" y="0"/>
          <a:chExt cx="0" cy="0"/>
        </a:xfrm>
      </p:grpSpPr>
      <p:sp>
        <p:nvSpPr>
          <p:cNvPr id="12" name="矩形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圆角矩形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副标题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a:t>单击此处编辑母版副标题样式</a:t>
            </a:r>
            <a:endParaRPr kumimoji="0" lang="en-US"/>
          </a:p>
        </p:txBody>
      </p:sp>
      <p:sp>
        <p:nvSpPr>
          <p:cNvPr id="28" name="日期占位符 27"/>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7" name="页脚占位符 16"/>
          <p:cNvSpPr>
            <a:spLocks noGrp="1"/>
          </p:cNvSpPr>
          <p:nvPr>
            <p:ph type="ftr" sz="quarter" idx="11"/>
          </p:nvPr>
        </p:nvSpPr>
        <p:spPr/>
        <p:txBody>
          <a:bodyPr/>
          <a:lstStyle/>
          <a:p>
            <a:endParaRPr lang="zh-CN" altLang="en-US"/>
          </a:p>
        </p:txBody>
      </p:sp>
      <p:sp>
        <p:nvSpPr>
          <p:cNvPr id="29" name="灯片编号占位符 28"/>
          <p:cNvSpPr>
            <a:spLocks noGrp="1"/>
          </p:cNvSpPr>
          <p:nvPr>
            <p:ph type="sldNum" sz="quarter" idx="12"/>
          </p:nvPr>
        </p:nvSpPr>
        <p:spPr/>
        <p:txBody>
          <a:bodyPr lIns="0" tIns="0" rIns="0" bIns="0">
            <a:noAutofit/>
          </a:bodyPr>
          <a:lstStyle>
            <a:lvl1pPr>
              <a:defRPr sz="1400">
                <a:solidFill>
                  <a:srgbClr val="FFFFFF"/>
                </a:solidFill>
              </a:defRPr>
            </a:lvl1pPr>
          </a:lstStyle>
          <a:p>
            <a:fld id="{0C913308-F349-4B6D-A68A-DD1791B4A57B}" type="slidenum">
              <a:rPr lang="zh-CN" altLang="en-US" smtClean="0"/>
            </a:fld>
            <a:endParaRPr lang="zh-CN" altLang="en-US"/>
          </a:p>
        </p:txBody>
      </p:sp>
      <p:sp>
        <p:nvSpPr>
          <p:cNvPr id="7" name="矩形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zh-CN" altLang="en-US"/>
              <a:t>单击此处编辑母版标题样式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内容占位符 7"/>
          <p:cNvSpPr>
            <a:spLocks noGrp="1"/>
          </p:cNvSpPr>
          <p:nvPr>
            <p:ph sz="quarter" idx="1"/>
          </p:nvPr>
        </p:nvSpPr>
        <p:spPr>
          <a:xfrm>
            <a:off x="914400" y="1447800"/>
            <a:ext cx="7772400" cy="45720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1"/>
      </p:bgRef>
    </p:bg>
    <p:spTree>
      <p:nvGrpSpPr>
        <p:cNvPr id="1" name=""/>
        <p:cNvGrpSpPr/>
        <p:nvPr/>
      </p:nvGrpSpPr>
      <p:grpSpPr>
        <a:xfrm>
          <a:off x="0" y="0"/>
          <a:ext cx="0" cy="0"/>
          <a:chOff x="0" y="0"/>
          <a:chExt cx="0" cy="0"/>
        </a:xfrm>
      </p:grpSpPr>
      <p:sp>
        <p:nvSpPr>
          <p:cNvPr id="11" name="矩形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圆角矩形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722313" y="952500"/>
            <a:ext cx="7772400" cy="1362075"/>
          </a:xfrm>
        </p:spPr>
        <p:txBody>
          <a:bodyPr anchor="b" anchorCtr="0"/>
          <a:lstStyle>
            <a:lvl1pPr algn="l">
              <a:buNone/>
              <a:defRPr sz="4000" b="0" cap="none"/>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endParaRPr kumimoji="0"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800100" y="6172200"/>
            <a:ext cx="4000500" cy="457200"/>
          </a:xfrm>
        </p:spPr>
        <p:txBody>
          <a:bodyPr/>
          <a:lstStyle/>
          <a:p>
            <a:endParaRPr lang="zh-CN" altLang="en-US"/>
          </a:p>
        </p:txBody>
      </p:sp>
      <p:sp>
        <p:nvSpPr>
          <p:cNvPr id="7" name="矩形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矩形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灯片编号占位符 5"/>
          <p:cNvSpPr>
            <a:spLocks noGrp="1"/>
          </p:cNvSpPr>
          <p:nvPr>
            <p:ph type="sldNum" sz="quarter" idx="12"/>
          </p:nvPr>
        </p:nvSpPr>
        <p:spPr>
          <a:xfrm>
            <a:off x="146304" y="6208776"/>
            <a:ext cx="457200" cy="457200"/>
          </a:xfrm>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内容占位符 8"/>
          <p:cNvSpPr>
            <a:spLocks noGrp="1"/>
          </p:cNvSpPr>
          <p:nvPr>
            <p:ph sz="quarter" idx="1"/>
          </p:nvPr>
        </p:nvSpPr>
        <p:spPr>
          <a:xfrm>
            <a:off x="914400" y="1447800"/>
            <a:ext cx="3749040" cy="45720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11" name="内容占位符 10"/>
          <p:cNvSpPr>
            <a:spLocks noGrp="1"/>
          </p:cNvSpPr>
          <p:nvPr>
            <p:ph sz="quarter" idx="2"/>
          </p:nvPr>
        </p:nvSpPr>
        <p:spPr>
          <a:xfrm>
            <a:off x="4933950" y="1447800"/>
            <a:ext cx="3749040" cy="45720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14400" y="273050"/>
            <a:ext cx="7772400" cy="1143000"/>
          </a:xfrm>
        </p:spPr>
        <p:txBody>
          <a:bodyPr anchor="b" anchorCtr="0"/>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4" name="文本占位符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a:t>单击此处编辑母版文本样式</a:t>
            </a:r>
            <a:endParaRPr kumimoji="0"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1" name="内容占位符 10"/>
          <p:cNvSpPr>
            <a:spLocks noGrp="1"/>
          </p:cNvSpPr>
          <p:nvPr>
            <p:ph sz="half" idx="2"/>
          </p:nvPr>
        </p:nvSpPr>
        <p:spPr>
          <a:xfrm>
            <a:off x="914400" y="2247900"/>
            <a:ext cx="3733800" cy="38862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13" name="内容占位符 12"/>
          <p:cNvSpPr>
            <a:spLocks noGrp="1"/>
          </p:cNvSpPr>
          <p:nvPr>
            <p:ph sz="half" idx="4"/>
          </p:nvPr>
        </p:nvSpPr>
        <p:spPr>
          <a:xfrm>
            <a:off x="4953000" y="2247900"/>
            <a:ext cx="3733800" cy="38862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圆角矩形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标题 1"/>
          <p:cNvSpPr>
            <a:spLocks noGrp="1"/>
          </p:cNvSpPr>
          <p:nvPr>
            <p:ph type="title"/>
          </p:nvPr>
        </p:nvSpPr>
        <p:spPr>
          <a:xfrm>
            <a:off x="914400" y="273050"/>
            <a:ext cx="7772400" cy="1143000"/>
          </a:xfrm>
        </p:spPr>
        <p:txBody>
          <a:bodyPr anchor="b" anchorCtr="0"/>
          <a:lstStyle>
            <a:lvl1pPr algn="l">
              <a:buNone/>
              <a:defRPr sz="4000" b="0"/>
            </a:lvl1pPr>
          </a:lstStyle>
          <a:p>
            <a:r>
              <a:rPr kumimoji="0" lang="zh-CN" altLang="en-US"/>
              <a:t>单击此处编辑母版标题样式</a:t>
            </a:r>
            <a:endParaRPr kumimoji="0" lang="en-US"/>
          </a:p>
        </p:txBody>
      </p:sp>
      <p:sp>
        <p:nvSpPr>
          <p:cNvPr id="3" name="文本占位符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zh-CN" altLang="en-US"/>
              <a:t>单击此处编辑母版文本样式</a:t>
            </a:r>
            <a:endParaRPr kumimoji="0"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1" name="内容占位符 10"/>
          <p:cNvSpPr>
            <a:spLocks noGrp="1"/>
          </p:cNvSpPr>
          <p:nvPr>
            <p:ph sz="quarter" idx="1"/>
          </p:nvPr>
        </p:nvSpPr>
        <p:spPr>
          <a:xfrm>
            <a:off x="2971800" y="1600200"/>
            <a:ext cx="5715000" cy="4495800"/>
          </a:xfrm>
        </p:spPr>
        <p:txBody>
          <a:bodyPr vert="horz"/>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zh-CN" altLang="en-US"/>
              <a:t>单击此处编辑母版标题样式</a:t>
            </a:r>
            <a:endParaRPr kumimoji="0" lang="en-US"/>
          </a:p>
        </p:txBody>
      </p:sp>
      <p:sp>
        <p:nvSpPr>
          <p:cNvPr id="4" name="文本占位符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zh-CN" altLang="en-US"/>
              <a:t>单击此处编辑母版文本样式</a:t>
            </a:r>
            <a:endParaRPr kumimoji="0"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a:xfrm>
            <a:off x="914400" y="6172200"/>
            <a:ext cx="3886200" cy="457200"/>
          </a:xfrm>
        </p:spPr>
        <p:txBody>
          <a:bodyPr/>
          <a:lstStyle/>
          <a:p>
            <a:endParaRPr lang="zh-CN" altLang="en-US"/>
          </a:p>
        </p:txBody>
      </p:sp>
      <p:sp>
        <p:nvSpPr>
          <p:cNvPr id="7" name="灯片编号占位符 6"/>
          <p:cNvSpPr>
            <a:spLocks noGrp="1"/>
          </p:cNvSpPr>
          <p:nvPr>
            <p:ph type="sldNum" sz="quarter" idx="12"/>
          </p:nvPr>
        </p:nvSpPr>
        <p:spPr>
          <a:xfrm>
            <a:off x="146304" y="6208776"/>
            <a:ext cx="457200" cy="457200"/>
          </a:xfrm>
        </p:spPr>
        <p:txBody>
          <a:bodyPr/>
          <a:lstStyle/>
          <a:p>
            <a:fld id="{0C913308-F349-4B6D-A68A-DD1791B4A57B}" type="slidenum">
              <a:rPr lang="zh-CN" altLang="en-US" smtClean="0"/>
            </a:fld>
            <a:endParaRPr lang="zh-CN" altLang="en-US"/>
          </a:p>
        </p:txBody>
      </p:sp>
      <p:sp>
        <p:nvSpPr>
          <p:cNvPr id="11" name="矩形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矩形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图片占位符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zh-CN" altLang="en-US"/>
              <a:t>单击图标添加图片</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1"/>
            <a:ext cx="2011680"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914400" y="274640"/>
            <a:ext cx="556260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圆角矩形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标题占位符 21"/>
          <p:cNvSpPr>
            <a:spLocks noGrp="1"/>
          </p:cNvSpPr>
          <p:nvPr>
            <p:ph type="title"/>
          </p:nvPr>
        </p:nvSpPr>
        <p:spPr>
          <a:xfrm>
            <a:off x="914400" y="274638"/>
            <a:ext cx="7772400" cy="1143000"/>
          </a:xfrm>
          <a:prstGeom prst="rect">
            <a:avLst/>
          </a:prstGeom>
        </p:spPr>
        <p:txBody>
          <a:bodyPr bIns="91440" anchor="b" anchorCtr="0">
            <a:normAutofit/>
          </a:bodyPr>
          <a:lstStyle/>
          <a:p>
            <a:r>
              <a:rPr kumimoji="0" lang="zh-CN" altLang="en-US"/>
              <a:t>单击此处编辑母版标题样式</a:t>
            </a:r>
            <a:endParaRPr kumimoji="0" lang="en-US"/>
          </a:p>
        </p:txBody>
      </p:sp>
      <p:sp>
        <p:nvSpPr>
          <p:cNvPr id="13" name="文本占位符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14" name="日期占位符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530820CF-B880-4189-942D-D702A7CBA730}" type="datetimeFigureOut">
              <a:rPr lang="zh-CN" altLang="en-US" smtClean="0"/>
            </a:fld>
            <a:endParaRPr lang="zh-CN" altLang="en-US"/>
          </a:p>
        </p:txBody>
      </p:sp>
      <p:sp>
        <p:nvSpPr>
          <p:cNvPr id="3" name="页脚占位符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zh-CN" altLang="en-US"/>
          </a:p>
        </p:txBody>
      </p:sp>
      <p:sp>
        <p:nvSpPr>
          <p:cNvPr id="23" name="灯片编号占位符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705" y="1842135"/>
            <a:ext cx="8735060" cy="768350"/>
          </a:xfrm>
          <a:prstGeom prst="rect">
            <a:avLst/>
          </a:prstGeom>
          <a:noFill/>
        </p:spPr>
        <p:txBody>
          <a:bodyPr wrap="square" rtlCol="0">
            <a:spAutoFit/>
          </a:bodyPr>
          <a:lstStyle/>
          <a:p>
            <a:pPr>
              <a:spcAft>
                <a:spcPts val="600"/>
              </a:spcAft>
            </a:pPr>
            <a:r>
              <a:rPr sz="4400" b="1" dirty="0" err="1">
                <a:solidFill>
                  <a:schemeClr val="bg1"/>
                </a:solidFill>
                <a:latin typeface="微软雅黑" panose="020B0503020204020204" charset="-122"/>
                <a:ea typeface="微软雅黑" panose="020B0503020204020204" charset="-122"/>
                <a:cs typeface="微软雅黑" panose="020B0503020204020204" charset="-122"/>
              </a:rPr>
              <a:t>半导体器件导论-实验</a:t>
            </a:r>
            <a:r>
              <a:rPr lang="zh-CN" altLang="en-US" sz="4400" b="1" dirty="0">
                <a:solidFill>
                  <a:schemeClr val="bg1"/>
                </a:solidFill>
                <a:latin typeface="微软雅黑" panose="020B0503020204020204" charset="-122"/>
                <a:ea typeface="微软雅黑" panose="020B0503020204020204" charset="-122"/>
                <a:cs typeface="微软雅黑" panose="020B0503020204020204" charset="-122"/>
              </a:rPr>
              <a:t>六</a:t>
            </a:r>
            <a:endParaRPr lang="zh-CN" altLang="en-US" sz="4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TextBox 4"/>
          <p:cNvSpPr txBox="1"/>
          <p:nvPr/>
        </p:nvSpPr>
        <p:spPr>
          <a:xfrm>
            <a:off x="2216785" y="3693795"/>
            <a:ext cx="6570980" cy="1076325"/>
          </a:xfrm>
          <a:prstGeom prst="rect">
            <a:avLst/>
          </a:prstGeom>
          <a:noFill/>
        </p:spPr>
        <p:txBody>
          <a:bodyPr wrap="square" rtlCol="0">
            <a:spAutoFit/>
          </a:bodyPr>
          <a:lstStyle/>
          <a:p>
            <a:pPr algn="l">
              <a:lnSpc>
                <a:spcPct val="100000"/>
              </a:lnSpc>
            </a:pPr>
            <a:r>
              <a:rPr lang="zh-CN" altLang="en-US" sz="3200" b="1" dirty="0">
                <a:solidFill>
                  <a:srgbClr val="002060"/>
                </a:solidFill>
                <a:latin typeface="Times New Roman" panose="02020603050405020304" charset="0"/>
                <a:cs typeface="Times New Roman" panose="02020603050405020304" charset="0"/>
              </a:rPr>
              <a:t>主讲人：徐琳琳</a:t>
            </a:r>
            <a:endParaRPr lang="zh-CN" altLang="en-US" sz="3200" b="1" dirty="0">
              <a:solidFill>
                <a:srgbClr val="002060"/>
              </a:solidFill>
              <a:latin typeface="Times New Roman" panose="02020603050405020304" charset="0"/>
              <a:cs typeface="Times New Roman" panose="02020603050405020304" charset="0"/>
            </a:endParaRPr>
          </a:p>
          <a:p>
            <a:pPr algn="l">
              <a:lnSpc>
                <a:spcPct val="100000"/>
              </a:lnSpc>
            </a:pPr>
            <a:r>
              <a:rPr lang="zh-CN" altLang="en-US" sz="3200" b="1" dirty="0">
                <a:solidFill>
                  <a:srgbClr val="002060"/>
                </a:solidFill>
                <a:latin typeface="Times New Roman" panose="02020603050405020304" charset="0"/>
                <a:cs typeface="Times New Roman" panose="02020603050405020304" charset="0"/>
                <a:sym typeface="+mn-ea"/>
              </a:rPr>
              <a:t>邮</a:t>
            </a:r>
            <a:r>
              <a:rPr lang="en-US" altLang="zh-CN" sz="3200" b="1" dirty="0">
                <a:solidFill>
                  <a:srgbClr val="002060"/>
                </a:solidFill>
                <a:latin typeface="Times New Roman" panose="02020603050405020304" charset="0"/>
                <a:cs typeface="Times New Roman" panose="02020603050405020304" charset="0"/>
                <a:sym typeface="+mn-ea"/>
              </a:rPr>
              <a:t>    </a:t>
            </a:r>
            <a:r>
              <a:rPr lang="zh-CN" altLang="en-US" sz="3200" b="1" dirty="0">
                <a:solidFill>
                  <a:srgbClr val="002060"/>
                </a:solidFill>
                <a:latin typeface="Times New Roman" panose="02020603050405020304" charset="0"/>
                <a:cs typeface="Times New Roman" panose="02020603050405020304" charset="0"/>
                <a:sym typeface="+mn-ea"/>
              </a:rPr>
              <a:t>箱：</a:t>
            </a:r>
            <a:r>
              <a:rPr lang="en-US" altLang="zh-CN" sz="3200" b="1" u="sng" dirty="0">
                <a:solidFill>
                  <a:srgbClr val="0000FF"/>
                </a:solidFill>
                <a:latin typeface="Times New Roman" panose="02020603050405020304" charset="0"/>
                <a:cs typeface="Times New Roman" panose="02020603050405020304" charset="0"/>
                <a:sym typeface="+mn-ea"/>
              </a:rPr>
              <a:t>xulinalec@163.com</a:t>
            </a:r>
            <a:endParaRPr lang="zh-CN" altLang="en-US" sz="3200" b="1" u="sng" dirty="0">
              <a:solidFill>
                <a:srgbClr val="002060"/>
              </a:solidFill>
              <a:latin typeface="Times New Roman" panose="02020603050405020304" charset="0"/>
              <a:cs typeface="Times New Roman" panose="02020603050405020304" charset="0"/>
            </a:endParaRPr>
          </a:p>
        </p:txBody>
      </p:sp>
      <p:cxnSp>
        <p:nvCxnSpPr>
          <p:cNvPr id="2" name="直接连接符 1"/>
          <p:cNvCxnSpPr/>
          <p:nvPr/>
        </p:nvCxnSpPr>
        <p:spPr>
          <a:xfrm>
            <a:off x="394335" y="6093460"/>
            <a:ext cx="8311515" cy="0"/>
          </a:xfrm>
          <a:prstGeom prst="line">
            <a:avLst/>
          </a:prstGeom>
          <a:ln w="98425">
            <a:gradFill>
              <a:gsLst>
                <a:gs pos="41000">
                  <a:schemeClr val="accent1">
                    <a:lumMod val="5000"/>
                    <a:lumOff val="95000"/>
                  </a:schemeClr>
                </a:gs>
                <a:gs pos="0">
                  <a:schemeClr val="accent1">
                    <a:lumMod val="45000"/>
                    <a:lumOff val="55000"/>
                  </a:schemeClr>
                </a:gs>
                <a:gs pos="84000">
                  <a:schemeClr val="accent1">
                    <a:lumMod val="45000"/>
                    <a:lumOff val="55000"/>
                  </a:schemeClr>
                </a:gs>
                <a:gs pos="100000">
                  <a:schemeClr val="accent1">
                    <a:lumMod val="30000"/>
                    <a:lumOff val="70000"/>
                  </a:schemeClr>
                </a:gs>
              </a:gsLst>
              <a:lin ang="5400000" scaled="1"/>
            </a:gradFill>
          </a:ln>
        </p:spPr>
        <p:style>
          <a:lnRef idx="1">
            <a:schemeClr val="accent1"/>
          </a:lnRef>
          <a:fillRef idx="0">
            <a:schemeClr val="accent1"/>
          </a:fillRef>
          <a:effectRef idx="0">
            <a:schemeClr val="accent1"/>
          </a:effectRef>
          <a:fontRef idx="minor">
            <a:schemeClr val="tx1"/>
          </a:fontRef>
        </p:style>
      </p:cxnSp>
      <p:pic>
        <p:nvPicPr>
          <p:cNvPr id="8" name="图片 7" descr="10 南科大与电子系（上下橙蓝）"/>
          <p:cNvPicPr>
            <a:picLocks noChangeAspect="1"/>
          </p:cNvPicPr>
          <p:nvPr/>
        </p:nvPicPr>
        <p:blipFill>
          <a:blip r:embed="rId1"/>
          <a:stretch>
            <a:fillRect/>
          </a:stretch>
        </p:blipFill>
        <p:spPr>
          <a:xfrm>
            <a:off x="3347720" y="314960"/>
            <a:ext cx="2828290" cy="873760"/>
          </a:xfrm>
          <a:prstGeom prst="rect">
            <a:avLst/>
          </a:prstGeom>
          <a:solidFill>
            <a:schemeClr val="bg1"/>
          </a:solidFill>
          <a:effectLst>
            <a:glow rad="330200">
              <a:srgbClr val="FF0000">
                <a:alpha val="40000"/>
              </a:srgbClr>
            </a:glo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p:cNvSpPr txBox="1"/>
          <p:nvPr/>
        </p:nvSpPr>
        <p:spPr>
          <a:xfrm>
            <a:off x="2051473" y="598805"/>
            <a:ext cx="4876800" cy="922020"/>
          </a:xfrm>
          <a:prstGeom prst="rect">
            <a:avLst/>
          </a:prstGeom>
          <a:noFill/>
        </p:spPr>
        <p:txBody>
          <a:bodyPr wrap="square" rtlCol="0">
            <a:spAutoFit/>
          </a:bodyPr>
          <a:lstStyle/>
          <a:p>
            <a:pPr algn="ctr"/>
            <a:r>
              <a:rPr lang="zh-CN" altLang="en-US" sz="5400" b="1" dirty="0">
                <a:solidFill>
                  <a:srgbClr val="C00000"/>
                </a:solidFill>
                <a:latin typeface="微软雅黑" panose="020B0503020204020204" charset="-122"/>
                <a:ea typeface="微软雅黑" panose="020B0503020204020204" charset="-122"/>
              </a:rPr>
              <a:t>主要内容</a:t>
            </a:r>
            <a:endParaRPr lang="zh-CN" altLang="en-US" sz="5400" b="1" dirty="0">
              <a:solidFill>
                <a:srgbClr val="C00000"/>
              </a:solidFill>
              <a:latin typeface="微软雅黑" panose="020B0503020204020204" charset="-122"/>
              <a:ea typeface="微软雅黑" panose="020B0503020204020204" charset="-122"/>
            </a:endParaRPr>
          </a:p>
        </p:txBody>
      </p:sp>
      <p:sp>
        <p:nvSpPr>
          <p:cNvPr id="3" name="TextBox 3"/>
          <p:cNvSpPr txBox="1"/>
          <p:nvPr/>
        </p:nvSpPr>
        <p:spPr>
          <a:xfrm>
            <a:off x="474345" y="2420620"/>
            <a:ext cx="8495665" cy="1568450"/>
          </a:xfrm>
          <a:prstGeom prst="rect">
            <a:avLst/>
          </a:prstGeom>
          <a:noFill/>
        </p:spPr>
        <p:txBody>
          <a:bodyPr wrap="square" rtlCol="0">
            <a:spAutoFit/>
          </a:bodyPr>
          <a:lstStyle/>
          <a:p>
            <a:pPr fontAlgn="auto">
              <a:lnSpc>
                <a:spcPct val="150000"/>
              </a:lnSpc>
            </a:pPr>
            <a:r>
              <a:rPr lang="en-US" altLang="zh-CN" sz="3200" b="1" dirty="0">
                <a:solidFill>
                  <a:srgbClr val="0000FF"/>
                </a:solidFill>
                <a:latin typeface="微软雅黑" panose="020B0503020204020204" charset="-122"/>
                <a:ea typeface="微软雅黑" panose="020B0503020204020204" charset="-122"/>
                <a:cs typeface="微软雅黑" panose="020B0503020204020204" charset="-122"/>
                <a:sym typeface="+mn-ea"/>
              </a:rPr>
              <a:t>1. </a:t>
            </a:r>
            <a:r>
              <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mn-ea"/>
              </a:rPr>
              <a:t>发光二极管</a:t>
            </a:r>
            <a:r>
              <a:rPr lang="en-US" altLang="zh-CN" sz="3200" b="1" dirty="0">
                <a:solidFill>
                  <a:srgbClr val="0000FF"/>
                </a:solidFill>
                <a:latin typeface="微软雅黑" panose="020B0503020204020204" charset="-122"/>
                <a:ea typeface="微软雅黑" panose="020B0503020204020204" charset="-122"/>
                <a:cs typeface="微软雅黑" panose="020B0503020204020204" charset="-122"/>
                <a:sym typeface="+mn-ea"/>
              </a:rPr>
              <a:t>(LED)</a:t>
            </a:r>
            <a:r>
              <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mn-ea"/>
              </a:rPr>
              <a:t>介绍</a:t>
            </a:r>
            <a:endPar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mn-ea"/>
            </a:endParaRPr>
          </a:p>
          <a:p>
            <a:pPr fontAlgn="auto">
              <a:lnSpc>
                <a:spcPct val="150000"/>
              </a:lnSpc>
            </a:pPr>
            <a:r>
              <a:rPr lang="en-US" altLang="zh-CN" sz="3200" b="1" dirty="0">
                <a:solidFill>
                  <a:srgbClr val="0000FF"/>
                </a:solidFill>
                <a:latin typeface="微软雅黑" panose="020B0503020204020204" charset="-122"/>
                <a:ea typeface="微软雅黑" panose="020B0503020204020204" charset="-122"/>
                <a:cs typeface="微软雅黑" panose="020B0503020204020204" charset="-122"/>
                <a:sym typeface="+mn-ea"/>
              </a:rPr>
              <a:t>2. </a:t>
            </a:r>
            <a:r>
              <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mn-ea"/>
              </a:rPr>
              <a:t>实验六</a:t>
            </a:r>
            <a:r>
              <a:rPr lang="en-US" altLang="zh-CN" sz="3200" b="1" dirty="0">
                <a:solidFill>
                  <a:srgbClr val="0000FF"/>
                </a:solidFill>
                <a:latin typeface="微软雅黑" panose="020B0503020204020204" charset="-122"/>
                <a:ea typeface="微软雅黑" panose="020B0503020204020204" charset="-122"/>
                <a:cs typeface="微软雅黑" panose="020B0503020204020204" charset="-122"/>
                <a:sym typeface="+mn-ea"/>
              </a:rPr>
              <a:t>:</a:t>
            </a:r>
            <a:r>
              <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Wingdings" panose="05000000000000000000" pitchFamily="2" charset="2"/>
              </a:rPr>
              <a:t>发光二极管</a:t>
            </a:r>
            <a:r>
              <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mn-ea"/>
              </a:rPr>
              <a:t>特性仿真实验</a:t>
            </a:r>
            <a:endParaRPr lang="zh-CN" altLang="en-US" sz="3200" b="1" dirty="0">
              <a:solidFill>
                <a:srgbClr val="0000FF"/>
              </a:solidFill>
              <a:latin typeface="微软雅黑" panose="020B0503020204020204" charset="-122"/>
              <a:ea typeface="微软雅黑" panose="020B0503020204020204" charset="-122"/>
              <a:cs typeface="微软雅黑" panose="020B0503020204020204" charset="-122"/>
              <a:sym typeface="+mn-ea"/>
            </a:endParaRPr>
          </a:p>
        </p:txBody>
      </p:sp>
      <p:sp>
        <p:nvSpPr>
          <p:cNvPr id="7" name="圆角矩形 6"/>
          <p:cNvSpPr/>
          <p:nvPr/>
        </p:nvSpPr>
        <p:spPr>
          <a:xfrm>
            <a:off x="1223645" y="72390"/>
            <a:ext cx="6696710" cy="360045"/>
          </a:xfrm>
          <a:prstGeom prst="roundRect">
            <a:avLst/>
          </a:prstGeom>
          <a:solidFill>
            <a:schemeClr val="accent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79705" y="621030"/>
            <a:ext cx="8776970" cy="2399665"/>
          </a:xfrm>
          <a:prstGeom prst="rect">
            <a:avLst/>
          </a:prstGeom>
          <a:noFill/>
        </p:spPr>
        <p:txBody>
          <a:bodyPr wrap="square" rtlCol="0" anchor="t">
            <a:spAutoFit/>
          </a:bodyPr>
          <a:lstStyle/>
          <a:p>
            <a:pPr marL="285750" indent="-285750" algn="just">
              <a:lnSpc>
                <a:spcPct val="150000"/>
              </a:lnSpc>
              <a:buFont typeface="Wingdings" panose="05000000000000000000" charset="0"/>
              <a:buChar char="p"/>
            </a:pP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商用的主流的</a:t>
            </a:r>
            <a:r>
              <a:rPr lang="en-US" altLang="zh-CN" sz="2000" b="1">
                <a:solidFill>
                  <a:srgbClr val="0000FF"/>
                </a:solidFill>
                <a:latin typeface="微软雅黑" panose="020B0503020204020204" charset="-122"/>
                <a:ea typeface="微软雅黑" panose="020B0503020204020204" charset="-122"/>
                <a:cs typeface="微软雅黑" panose="020B0503020204020204" charset="-122"/>
              </a:rPr>
              <a:t>LED</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芯片是InGaN／GaN</a:t>
            </a:r>
            <a:r>
              <a:rPr lang="en-US" altLang="zh-CN" sz="2000" b="1">
                <a:solidFill>
                  <a:srgbClr val="0000FF"/>
                </a:solidFill>
                <a:latin typeface="微软雅黑" panose="020B0503020204020204" charset="-122"/>
                <a:ea typeface="微软雅黑" panose="020B0503020204020204" charset="-122"/>
                <a:cs typeface="微软雅黑" panose="020B0503020204020204" charset="-122"/>
              </a:rPr>
              <a:t> </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多量子肼（</a:t>
            </a:r>
            <a:r>
              <a:rPr lang="zh-CN" altLang="en-US" sz="2000" b="1">
                <a:solidFill>
                  <a:srgbClr val="0000FF"/>
                </a:solidFill>
                <a:latin typeface="微软雅黑" panose="020B0503020204020204" charset="-122"/>
                <a:ea typeface="微软雅黑" panose="020B0503020204020204" charset="-122"/>
                <a:cs typeface="微软雅黑" panose="020B0503020204020204" charset="-122"/>
                <a:sym typeface="+mn-ea"/>
              </a:rPr>
              <a:t>MQWs</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a:t>
            </a:r>
            <a:r>
              <a:rPr lang="zh-CN" altLang="en-US" sz="2000" b="1">
                <a:solidFill>
                  <a:srgbClr val="0000FF"/>
                </a:solidFill>
                <a:latin typeface="微软雅黑" panose="020B0503020204020204" charset="-122"/>
                <a:ea typeface="微软雅黑" panose="020B0503020204020204" charset="-122"/>
                <a:cs typeface="微软雅黑" panose="020B0503020204020204" charset="-122"/>
                <a:sym typeface="+mn-ea"/>
              </a:rPr>
              <a:t>基</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LED</a:t>
            </a:r>
            <a:endParaRPr lang="zh-CN" altLang="en-US" sz="2000" b="1">
              <a:solidFill>
                <a:srgbClr val="0000FF"/>
              </a:solidFill>
              <a:latin typeface="微软雅黑" panose="020B0503020204020204" charset="-122"/>
              <a:ea typeface="微软雅黑" panose="020B0503020204020204" charset="-122"/>
              <a:cs typeface="微软雅黑" panose="020B0503020204020204" charset="-122"/>
            </a:endParaRPr>
          </a:p>
          <a:p>
            <a:pPr marL="539750" indent="-285750" algn="just" fontAlgn="auto">
              <a:lnSpc>
                <a:spcPct val="150000"/>
              </a:lnSpc>
              <a:buFont typeface="Wingdings" panose="05000000000000000000" charset="0"/>
              <a:buChar char="Ø"/>
            </a:pPr>
            <a:r>
              <a:rPr lang="zh-CN" altLang="en-US" sz="1600">
                <a:solidFill>
                  <a:srgbClr val="0070C0"/>
                </a:solidFill>
                <a:latin typeface="微软雅黑" panose="020B0503020204020204" charset="-122"/>
                <a:ea typeface="微软雅黑" panose="020B0503020204020204" charset="-122"/>
                <a:cs typeface="微软雅黑" panose="020B0503020204020204" charset="-122"/>
              </a:rPr>
              <a:t>InGaN是一种直接带隙的三元合金化合物半导体，通过调节其内部元素In和Ga的含量，可以实现其带隙宽度在</a:t>
            </a:r>
            <a:r>
              <a:rPr lang="en-US" altLang="zh-CN" sz="1600">
                <a:solidFill>
                  <a:srgbClr val="0070C0"/>
                </a:solidFill>
                <a:latin typeface="微软雅黑" panose="020B0503020204020204" charset="-122"/>
                <a:ea typeface="微软雅黑" panose="020B0503020204020204" charset="-122"/>
                <a:cs typeface="微软雅黑" panose="020B0503020204020204" charset="-122"/>
              </a:rPr>
              <a:t>0.7</a:t>
            </a:r>
            <a:r>
              <a:rPr lang="zh-CN" altLang="en-US" sz="1600">
                <a:solidFill>
                  <a:srgbClr val="0070C0"/>
                </a:solidFill>
                <a:latin typeface="微软雅黑" panose="020B0503020204020204" charset="-122"/>
                <a:ea typeface="微软雅黑" panose="020B0503020204020204" charset="-122"/>
                <a:cs typeface="微软雅黑" panose="020B0503020204020204" charset="-122"/>
              </a:rPr>
              <a:t> eV(InN带隙宽度)到3</a:t>
            </a:r>
            <a:r>
              <a:rPr lang="en-US" altLang="zh-CN" sz="1600">
                <a:solidFill>
                  <a:srgbClr val="0070C0"/>
                </a:solidFill>
                <a:latin typeface="微软雅黑" panose="020B0503020204020204" charset="-122"/>
                <a:ea typeface="微软雅黑" panose="020B0503020204020204" charset="-122"/>
                <a:cs typeface="微软雅黑" panose="020B0503020204020204" charset="-122"/>
              </a:rPr>
              <a:t>.</a:t>
            </a:r>
            <a:r>
              <a:rPr lang="zh-CN" altLang="en-US" sz="1600">
                <a:solidFill>
                  <a:srgbClr val="0070C0"/>
                </a:solidFill>
                <a:latin typeface="微软雅黑" panose="020B0503020204020204" charset="-122"/>
                <a:ea typeface="微软雅黑" panose="020B0503020204020204" charset="-122"/>
                <a:cs typeface="微软雅黑" panose="020B0503020204020204" charset="-122"/>
              </a:rPr>
              <a:t>44 eV(GaN带隙宽度)范围内的连续可调，其发光波长覆盖了可见光在内的</a:t>
            </a:r>
            <a:r>
              <a:rPr lang="zh-CN" altLang="en-US" sz="1600" b="1">
                <a:solidFill>
                  <a:srgbClr val="0070C0"/>
                </a:solidFill>
                <a:highlight>
                  <a:srgbClr val="00FFFF"/>
                </a:highlight>
                <a:latin typeface="微软雅黑" panose="020B0503020204020204" charset="-122"/>
                <a:ea typeface="微软雅黑" panose="020B0503020204020204" charset="-122"/>
                <a:cs typeface="微软雅黑" panose="020B0503020204020204" charset="-122"/>
              </a:rPr>
              <a:t>从近紫外到近红外</a:t>
            </a:r>
            <a:r>
              <a:rPr lang="zh-CN" altLang="en-US" sz="1600">
                <a:solidFill>
                  <a:srgbClr val="0070C0"/>
                </a:solidFill>
                <a:latin typeface="微软雅黑" panose="020B0503020204020204" charset="-122"/>
                <a:ea typeface="微软雅黑" panose="020B0503020204020204" charset="-122"/>
                <a:cs typeface="微软雅黑" panose="020B0503020204020204" charset="-122"/>
              </a:rPr>
              <a:t>极宽的范围；</a:t>
            </a:r>
            <a:endParaRPr lang="zh-CN" altLang="en-US" sz="1600">
              <a:solidFill>
                <a:srgbClr val="0070C0"/>
              </a:solidFill>
              <a:latin typeface="微软雅黑" panose="020B0503020204020204" charset="-122"/>
              <a:ea typeface="微软雅黑" panose="020B0503020204020204" charset="-122"/>
              <a:cs typeface="微软雅黑" panose="020B0503020204020204" charset="-122"/>
            </a:endParaRPr>
          </a:p>
          <a:p>
            <a:pPr marL="539750" indent="-285750" algn="just" fontAlgn="auto">
              <a:lnSpc>
                <a:spcPct val="150000"/>
              </a:lnSpc>
              <a:buFont typeface="Wingdings" panose="05000000000000000000" charset="0"/>
              <a:buChar char="Ø"/>
            </a:pPr>
            <a:r>
              <a:rPr lang="zh-CN" altLang="en-US" sz="1600">
                <a:solidFill>
                  <a:srgbClr val="0070C0"/>
                </a:solidFill>
                <a:latin typeface="微软雅黑" panose="020B0503020204020204" charset="-122"/>
                <a:ea typeface="微软雅黑" panose="020B0503020204020204" charset="-122"/>
                <a:cs typeface="微软雅黑" panose="020B0503020204020204" charset="-122"/>
                <a:sym typeface="+mn-ea"/>
              </a:rPr>
              <a:t>目前 InGaN 基多量子肼蓝光 LED 内量子效率已近</a:t>
            </a:r>
            <a:r>
              <a:rPr lang="zh-CN" altLang="en-US" sz="1600" b="1">
                <a:solidFill>
                  <a:srgbClr val="0070C0"/>
                </a:solidFill>
                <a:highlight>
                  <a:srgbClr val="00FFFF"/>
                </a:highlight>
                <a:latin typeface="微软雅黑" panose="020B0503020204020204" charset="-122"/>
                <a:ea typeface="微软雅黑" panose="020B0503020204020204" charset="-122"/>
                <a:cs typeface="微软雅黑" panose="020B0503020204020204" charset="-122"/>
                <a:sym typeface="+mn-ea"/>
              </a:rPr>
              <a:t> 90%</a:t>
            </a:r>
            <a:r>
              <a:rPr lang="zh-CN" altLang="en-US" sz="1600">
                <a:solidFill>
                  <a:srgbClr val="0070C0"/>
                </a:solidFill>
                <a:latin typeface="微软雅黑" panose="020B0503020204020204" charset="-122"/>
                <a:ea typeface="微软雅黑" panose="020B0503020204020204" charset="-122"/>
                <a:cs typeface="微软雅黑" panose="020B0503020204020204" charset="-122"/>
                <a:sym typeface="+mn-ea"/>
              </a:rPr>
              <a:t>。这是其成为白光固态照明首选的重要原因</a:t>
            </a:r>
            <a:r>
              <a:rPr lang="zh-CN" altLang="en-US" sz="1600">
                <a:sym typeface="+mn-ea"/>
              </a:rPr>
              <a:t>。</a:t>
            </a:r>
            <a:endParaRPr lang="zh-CN" altLang="en-US" sz="1600">
              <a:solidFill>
                <a:srgbClr val="0070C0"/>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3789680" y="3285490"/>
            <a:ext cx="5354320" cy="645160"/>
          </a:xfrm>
          <a:prstGeom prst="rect">
            <a:avLst/>
          </a:prstGeom>
          <a:noFill/>
        </p:spPr>
        <p:txBody>
          <a:bodyPr wrap="square" rtlCol="0" anchor="t">
            <a:spAutoFit/>
          </a:bodyPr>
          <a:lstStyle/>
          <a:p>
            <a:pPr marL="285750" indent="-285750">
              <a:buFont typeface="Wingdings" panose="05000000000000000000" charset="0"/>
              <a:buChar char="u"/>
            </a:pPr>
            <a:r>
              <a:rPr lang="zh-CN" altLang="en-US" b="1">
                <a:solidFill>
                  <a:srgbClr val="0000FF"/>
                </a:solidFill>
                <a:latin typeface="微软雅黑" panose="020B0503020204020204" charset="-122"/>
                <a:ea typeface="微软雅黑" panose="020B0503020204020204" charset="-122"/>
                <a:cs typeface="微软雅黑" panose="020B0503020204020204" charset="-122"/>
              </a:rPr>
              <a:t>通常情况下，InGaN的带隙宽度可根据Vegard定律得出：</a:t>
            </a:r>
            <a:endParaRPr lang="zh-CN" altLang="en-US" b="1">
              <a:solidFill>
                <a:srgbClr val="0000FF"/>
              </a:solidFill>
              <a:latin typeface="微软雅黑" panose="020B0503020204020204" charset="-122"/>
              <a:ea typeface="微软雅黑" panose="020B0503020204020204" charset="-122"/>
              <a:cs typeface="微软雅黑" panose="020B0503020204020204" charset="-122"/>
            </a:endParaRPr>
          </a:p>
        </p:txBody>
      </p:sp>
      <p:pic>
        <p:nvPicPr>
          <p:cNvPr id="6" name="图片 5"/>
          <p:cNvPicPr>
            <a:picLocks noChangeAspect="1"/>
          </p:cNvPicPr>
          <p:nvPr/>
        </p:nvPicPr>
        <p:blipFill>
          <a:blip r:embed="rId2"/>
          <a:stretch>
            <a:fillRect/>
          </a:stretch>
        </p:blipFill>
        <p:spPr>
          <a:xfrm>
            <a:off x="4006850" y="3996690"/>
            <a:ext cx="5034915" cy="755650"/>
          </a:xfrm>
          <a:prstGeom prst="rect">
            <a:avLst/>
          </a:prstGeom>
        </p:spPr>
      </p:pic>
      <p:sp>
        <p:nvSpPr>
          <p:cNvPr id="8" name="文本框 7"/>
          <p:cNvSpPr txBox="1"/>
          <p:nvPr/>
        </p:nvSpPr>
        <p:spPr>
          <a:xfrm>
            <a:off x="179705" y="26670"/>
            <a:ext cx="3098800" cy="737235"/>
          </a:xfrm>
          <a:prstGeom prst="rect">
            <a:avLst/>
          </a:prstGeom>
          <a:noFill/>
        </p:spPr>
        <p:txBody>
          <a:bodyPr wrap="none" rtlCol="0" anchor="t">
            <a:spAutoFit/>
          </a:bodyPr>
          <a:lstStyle/>
          <a:p>
            <a:pPr fontAlgn="auto">
              <a:lnSpc>
                <a:spcPct val="150000"/>
              </a:lnSpc>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sym typeface="+mn-ea"/>
              </a:rPr>
              <a:t>1. </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rPr>
              <a:t>发光二极管介绍</a:t>
            </a:r>
            <a:endPar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3"/>
          <a:srcRect b="11310"/>
          <a:stretch>
            <a:fillRect/>
          </a:stretch>
        </p:blipFill>
        <p:spPr>
          <a:xfrm>
            <a:off x="204470" y="2926715"/>
            <a:ext cx="3681095" cy="2957830"/>
          </a:xfrm>
          <a:prstGeom prst="rect">
            <a:avLst/>
          </a:prstGeom>
        </p:spPr>
      </p:pic>
      <p:sp>
        <p:nvSpPr>
          <p:cNvPr id="3" name="文本框 2"/>
          <p:cNvSpPr txBox="1"/>
          <p:nvPr/>
        </p:nvSpPr>
        <p:spPr>
          <a:xfrm>
            <a:off x="348615" y="5857875"/>
            <a:ext cx="3380105" cy="306705"/>
          </a:xfrm>
          <a:prstGeom prst="rect">
            <a:avLst/>
          </a:prstGeom>
          <a:noFill/>
        </p:spPr>
        <p:txBody>
          <a:bodyPr wrap="none" rtlCol="0" anchor="t">
            <a:spAutoFit/>
          </a:bodyPr>
          <a:lstStyle/>
          <a:p>
            <a:pPr algn="l"/>
            <a:r>
              <a:rPr lang="zh-CN" altLang="en-US" sz="1400" b="1">
                <a:solidFill>
                  <a:srgbClr val="002060"/>
                </a:solidFill>
                <a:latin typeface="微软雅黑" panose="020B0503020204020204" charset="-122"/>
                <a:ea typeface="微软雅黑" panose="020B0503020204020204" charset="-122"/>
                <a:cs typeface="微软雅黑" panose="020B0503020204020204" charset="-122"/>
                <a:sym typeface="+mn-ea"/>
              </a:rPr>
              <a:t>InGaN／GaN</a:t>
            </a:r>
            <a:r>
              <a:rPr lang="en-US" altLang="zh-CN" sz="1400" b="1">
                <a:solidFill>
                  <a:srgbClr val="002060"/>
                </a:solidFill>
                <a:latin typeface="微软雅黑" panose="020B0503020204020204" charset="-122"/>
                <a:ea typeface="微软雅黑" panose="020B0503020204020204" charset="-122"/>
                <a:cs typeface="微软雅黑" panose="020B0503020204020204" charset="-122"/>
                <a:sym typeface="+mn-ea"/>
              </a:rPr>
              <a:t> MQWs</a:t>
            </a:r>
            <a:r>
              <a:rPr lang="zh-CN" altLang="en-US" sz="1400" b="1">
                <a:solidFill>
                  <a:srgbClr val="002060"/>
                </a:solidFill>
                <a:latin typeface="微软雅黑" panose="020B0503020204020204" charset="-122"/>
                <a:ea typeface="微软雅黑" panose="020B0503020204020204" charset="-122"/>
                <a:cs typeface="微软雅黑" panose="020B0503020204020204" charset="-122"/>
                <a:sym typeface="+mn-ea"/>
              </a:rPr>
              <a:t>基</a:t>
            </a:r>
            <a:r>
              <a:rPr lang="en-US" altLang="zh-CN" sz="1400" b="1">
                <a:solidFill>
                  <a:srgbClr val="002060"/>
                </a:solidFill>
                <a:latin typeface="微软雅黑" panose="020B0503020204020204" charset="-122"/>
                <a:ea typeface="微软雅黑" panose="020B0503020204020204" charset="-122"/>
                <a:cs typeface="微软雅黑" panose="020B0503020204020204" charset="-122"/>
                <a:sym typeface="+mn-ea"/>
              </a:rPr>
              <a:t>LED</a:t>
            </a:r>
            <a:r>
              <a:rPr lang="zh-CN" altLang="en-US" sz="1400" b="1">
                <a:solidFill>
                  <a:srgbClr val="002060"/>
                </a:solidFill>
                <a:latin typeface="微软雅黑" panose="020B0503020204020204" charset="-122"/>
                <a:ea typeface="微软雅黑" panose="020B0503020204020204" charset="-122"/>
                <a:cs typeface="微软雅黑" panose="020B0503020204020204" charset="-122"/>
                <a:sym typeface="+mn-ea"/>
              </a:rPr>
              <a:t>结构示意图</a:t>
            </a:r>
            <a:endParaRPr lang="zh-CN" altLang="en-US" sz="14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cxnSp>
        <p:nvCxnSpPr>
          <p:cNvPr id="9" name="直接箭头连接符 8"/>
          <p:cNvCxnSpPr/>
          <p:nvPr/>
        </p:nvCxnSpPr>
        <p:spPr>
          <a:xfrm flipV="1">
            <a:off x="6351905" y="4572000"/>
            <a:ext cx="0" cy="53086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579745" y="5141595"/>
            <a:ext cx="1440815" cy="337185"/>
          </a:xfrm>
          <a:prstGeom prst="rect">
            <a:avLst/>
          </a:prstGeom>
          <a:noFill/>
        </p:spPr>
        <p:txBody>
          <a:bodyPr wrap="none" rtlCol="0" anchor="t">
            <a:spAutoFit/>
          </a:bodyPr>
          <a:lstStyle/>
          <a:p>
            <a:r>
              <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rPr>
              <a:t>GaN带隙宽度</a:t>
            </a:r>
            <a:endPar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cxnSp>
        <p:nvCxnSpPr>
          <p:cNvPr id="12" name="直接箭头连接符 11"/>
          <p:cNvCxnSpPr/>
          <p:nvPr/>
        </p:nvCxnSpPr>
        <p:spPr>
          <a:xfrm flipV="1">
            <a:off x="7164070" y="4572000"/>
            <a:ext cx="0" cy="88201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443345" y="5445760"/>
            <a:ext cx="1367155" cy="337185"/>
          </a:xfrm>
          <a:prstGeom prst="rect">
            <a:avLst/>
          </a:prstGeom>
          <a:noFill/>
        </p:spPr>
        <p:txBody>
          <a:bodyPr wrap="none" rtlCol="0" anchor="t">
            <a:spAutoFit/>
          </a:bodyPr>
          <a:lstStyle/>
          <a:p>
            <a:r>
              <a:rPr lang="en-US" altLang="zh-CN" sz="1600" b="1">
                <a:solidFill>
                  <a:srgbClr val="002060"/>
                </a:solidFill>
                <a:latin typeface="微软雅黑" panose="020B0503020204020204" charset="-122"/>
                <a:ea typeface="微软雅黑" panose="020B0503020204020204" charset="-122"/>
                <a:cs typeface="微软雅黑" panose="020B0503020204020204" charset="-122"/>
                <a:sym typeface="+mn-ea"/>
              </a:rPr>
              <a:t>In</a:t>
            </a:r>
            <a:r>
              <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rPr>
              <a:t>N带隙宽度</a:t>
            </a:r>
            <a:endPar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5563235" y="4778375"/>
            <a:ext cx="788670" cy="337185"/>
          </a:xfrm>
          <a:prstGeom prst="rect">
            <a:avLst/>
          </a:prstGeom>
          <a:noFill/>
        </p:spPr>
        <p:txBody>
          <a:bodyPr wrap="none" rtlCol="0" anchor="t">
            <a:spAutoFit/>
          </a:bodyPr>
          <a:lstStyle/>
          <a:p>
            <a:r>
              <a:rPr lang="en-US" altLang="zh-CN" sz="1600" b="1">
                <a:solidFill>
                  <a:srgbClr val="002060"/>
                </a:solidFill>
                <a:latin typeface="微软雅黑" panose="020B0503020204020204" charset="-122"/>
                <a:ea typeface="微软雅黑" panose="020B0503020204020204" charset="-122"/>
                <a:cs typeface="微软雅黑" panose="020B0503020204020204" charset="-122"/>
                <a:sym typeface="+mn-ea"/>
              </a:rPr>
              <a:t>In</a:t>
            </a:r>
            <a:r>
              <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rPr>
              <a:t>含量</a:t>
            </a:r>
            <a:endPar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cxnSp>
        <p:nvCxnSpPr>
          <p:cNvPr id="15" name="直接箭头连接符 14"/>
          <p:cNvCxnSpPr/>
          <p:nvPr/>
        </p:nvCxnSpPr>
        <p:spPr>
          <a:xfrm flipV="1">
            <a:off x="6012180" y="4509770"/>
            <a:ext cx="0" cy="26924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V="1">
            <a:off x="7863840" y="4516120"/>
            <a:ext cx="0" cy="53086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7235190" y="5067935"/>
            <a:ext cx="1402080" cy="337185"/>
          </a:xfrm>
          <a:prstGeom prst="rect">
            <a:avLst/>
          </a:prstGeom>
          <a:noFill/>
        </p:spPr>
        <p:txBody>
          <a:bodyPr wrap="none" rtlCol="0" anchor="t">
            <a:spAutoFit/>
          </a:bodyPr>
          <a:lstStyle/>
          <a:p>
            <a:r>
              <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rPr>
              <a:t>能带弯曲系数</a:t>
            </a:r>
            <a:endParaRPr lang="zh-CN" altLang="en-US" sz="16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sp>
        <p:nvSpPr>
          <p:cNvPr id="25" name="矩形 24"/>
          <p:cNvSpPr/>
          <p:nvPr/>
        </p:nvSpPr>
        <p:spPr>
          <a:xfrm>
            <a:off x="1663065" y="6164580"/>
            <a:ext cx="6200775" cy="506730"/>
          </a:xfrm>
          <a:prstGeom prst="rect">
            <a:avLst/>
          </a:prstGeom>
          <a:gradFill>
            <a:gsLst>
              <a:gs pos="0">
                <a:srgbClr val="E30000"/>
              </a:gs>
              <a:gs pos="100000">
                <a:srgbClr val="760303"/>
              </a:gs>
            </a:gsLst>
            <a:path path="rect">
              <a:fillToRect l="50000" t="50000" r="50000" b="50000"/>
            </a:path>
            <a:tileRect/>
          </a:gradFill>
        </p:spPr>
        <p:txBody>
          <a:bodyPr wrap="square" anchor="t" anchorCtr="0">
            <a:spAutoFit/>
          </a:bodyPr>
          <a:lstStyle/>
          <a:p>
            <a:pPr indent="0" algn="ctr">
              <a:lnSpc>
                <a:spcPct val="150000"/>
              </a:lnSpc>
              <a:buFont typeface="Wingdings" panose="05000000000000000000" charset="0"/>
              <a:buNone/>
            </a:pPr>
            <a:r>
              <a:rPr lang="zh-CN" b="1" dirty="0">
                <a:solidFill>
                  <a:schemeClr val="bg1"/>
                </a:solidFill>
                <a:latin typeface="微软雅黑" panose="020B0503020204020204" charset="-122"/>
                <a:ea typeface="微软雅黑" panose="020B0503020204020204" charset="-122"/>
                <a:sym typeface="+mn-ea"/>
              </a:rPr>
              <a:t>InGaN／GaN MQWs基LED本质是一个是</a:t>
            </a:r>
            <a:r>
              <a:rPr lang="zh-CN" b="1" dirty="0">
                <a:solidFill>
                  <a:srgbClr val="FFFF00"/>
                </a:solidFill>
                <a:latin typeface="微软雅黑" panose="020B0503020204020204" charset="-122"/>
                <a:ea typeface="微软雅黑" panose="020B0503020204020204" charset="-122"/>
                <a:sym typeface="+mn-ea"/>
              </a:rPr>
              <a:t>PIN</a:t>
            </a:r>
            <a:r>
              <a:rPr lang="zh-CN" b="1" dirty="0">
                <a:solidFill>
                  <a:schemeClr val="bg1"/>
                </a:solidFill>
                <a:latin typeface="微软雅黑" panose="020B0503020204020204" charset="-122"/>
                <a:ea typeface="微软雅黑" panose="020B0503020204020204" charset="-122"/>
                <a:sym typeface="+mn-ea"/>
              </a:rPr>
              <a:t>二极管！</a:t>
            </a:r>
            <a:endParaRPr lang="zh-CN"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3215" y="765175"/>
            <a:ext cx="8422005" cy="2814955"/>
          </a:xfrm>
          <a:prstGeom prst="rect">
            <a:avLst/>
          </a:prstGeom>
          <a:noFill/>
        </p:spPr>
        <p:txBody>
          <a:bodyPr wrap="square" rtlCol="0" anchor="t">
            <a:spAutoFit/>
          </a:bodyPr>
          <a:lstStyle/>
          <a:p>
            <a:pPr marL="285750" indent="-285750">
              <a:lnSpc>
                <a:spcPct val="150000"/>
              </a:lnSpc>
              <a:buFont typeface="Wingdings" panose="05000000000000000000" charset="0"/>
              <a:buChar char="p"/>
            </a:pPr>
            <a:r>
              <a:rPr lang="en-US" altLang="zh-CN" sz="2000" b="1">
                <a:solidFill>
                  <a:srgbClr val="0000FF"/>
                </a:solidFill>
                <a:latin typeface="微软雅黑" panose="020B0503020204020204" charset="-122"/>
                <a:ea typeface="微软雅黑" panose="020B0503020204020204" charset="-122"/>
                <a:cs typeface="微软雅黑" panose="020B0503020204020204" charset="-122"/>
              </a:rPr>
              <a:t>LED</a:t>
            </a:r>
            <a:r>
              <a:rPr lang="zh-CN" altLang="en-US" sz="2000" b="1">
                <a:solidFill>
                  <a:srgbClr val="0000FF"/>
                </a:solidFill>
                <a:latin typeface="微软雅黑" panose="020B0503020204020204" charset="-122"/>
                <a:ea typeface="微软雅黑" panose="020B0503020204020204" charset="-122"/>
                <a:cs typeface="微软雅黑" panose="020B0503020204020204" charset="-122"/>
              </a:rPr>
              <a:t>芯片为什么要采用量子肼结构？</a:t>
            </a:r>
            <a:endParaRPr lang="zh-CN" altLang="en-US" sz="2000" b="1">
              <a:solidFill>
                <a:srgbClr val="0000FF"/>
              </a:solidFill>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400">
                <a:latin typeface="微软雅黑" panose="020B0503020204020204" charset="-122"/>
                <a:ea typeface="微软雅黑" panose="020B0503020204020204" charset="-122"/>
                <a:cs typeface="微软雅黑" panose="020B0503020204020204" charset="-122"/>
              </a:rPr>
              <a:t>1</a:t>
            </a:r>
            <a:r>
              <a:rPr lang="zh-CN" altLang="en-US" sz="1400">
                <a:latin typeface="微软雅黑" panose="020B0503020204020204" charset="-122"/>
                <a:ea typeface="微软雅黑" panose="020B0503020204020204" charset="-122"/>
                <a:cs typeface="微软雅黑" panose="020B0503020204020204" charset="-122"/>
              </a:rPr>
              <a:t>）在半导体</a:t>
            </a:r>
            <a:r>
              <a:rPr lang="zh-CN" altLang="en-US" sz="1400">
                <a:latin typeface="微软雅黑" panose="020B0503020204020204" charset="-122"/>
                <a:ea typeface="微软雅黑" panose="020B0503020204020204" charset="-122"/>
                <a:cs typeface="微软雅黑" panose="020B0503020204020204" charset="-122"/>
                <a:sym typeface="+mn-ea"/>
              </a:rPr>
              <a:t>块材料</a:t>
            </a:r>
            <a:r>
              <a:rPr lang="zh-CN" altLang="en-US" sz="1400">
                <a:latin typeface="微软雅黑" panose="020B0503020204020204" charset="-122"/>
                <a:ea typeface="微软雅黑" panose="020B0503020204020204" charset="-122"/>
                <a:cs typeface="微软雅黑" panose="020B0503020204020204" charset="-122"/>
              </a:rPr>
              <a:t>中，电子和空穴可以在三个不同的空间维度上自由运动，</a:t>
            </a:r>
            <a:r>
              <a:rPr lang="zh-CN" altLang="en-US" sz="1400">
                <a:latin typeface="微软雅黑" panose="020B0503020204020204" charset="-122"/>
                <a:ea typeface="微软雅黑" panose="020B0503020204020204" charset="-122"/>
                <a:cs typeface="微软雅黑" panose="020B0503020204020204" charset="-122"/>
                <a:sym typeface="+mn-ea"/>
              </a:rPr>
              <a:t>电子和空穴的态密度随能量呈现</a:t>
            </a:r>
            <a:r>
              <a:rPr lang="zh-CN" altLang="en-US" sz="1400" b="1">
                <a:solidFill>
                  <a:srgbClr val="C00000"/>
                </a:solidFill>
                <a:latin typeface="微软雅黑" panose="020B0503020204020204" charset="-122"/>
                <a:ea typeface="微软雅黑" panose="020B0503020204020204" charset="-122"/>
                <a:cs typeface="微软雅黑" panose="020B0503020204020204" charset="-122"/>
                <a:sym typeface="+mn-ea"/>
              </a:rPr>
              <a:t>平滑</a:t>
            </a:r>
            <a:r>
              <a:rPr lang="zh-CN" altLang="en-US" sz="1400">
                <a:latin typeface="微软雅黑" panose="020B0503020204020204" charset="-122"/>
                <a:ea typeface="微软雅黑" panose="020B0503020204020204" charset="-122"/>
                <a:cs typeface="微软雅黑" panose="020B0503020204020204" charset="-122"/>
                <a:sym typeface="+mn-ea"/>
              </a:rPr>
              <a:t>的平方根分布规律</a:t>
            </a:r>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a:p>
            <a:pPr>
              <a:lnSpc>
                <a:spcPct val="150000"/>
              </a:lnSpc>
            </a:pPr>
            <a:r>
              <a:rPr lang="en-US" altLang="zh-CN" sz="1400">
                <a:latin typeface="微软雅黑" panose="020B0503020204020204" charset="-122"/>
                <a:ea typeface="微软雅黑" panose="020B0503020204020204" charset="-122"/>
                <a:cs typeface="微软雅黑" panose="020B0503020204020204" charset="-122"/>
              </a:rPr>
              <a:t>2.</a:t>
            </a:r>
            <a:r>
              <a:rPr lang="zh-CN" altLang="en-US" sz="1400">
                <a:latin typeface="微软雅黑" panose="020B0503020204020204" charset="-122"/>
                <a:ea typeface="微软雅黑" panose="020B0503020204020204" charset="-122"/>
                <a:cs typeface="微软雅黑" panose="020B0503020204020204" charset="-122"/>
              </a:rPr>
              <a:t>）量子阱(QW)是由一层带隙较窄且较薄的半导体材料和位于两侧的具有较宽带隙的半导体材料构成的一种类三明治结构。其中，我们将带隙较窄的半导体层称之为</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阱</a:t>
            </a:r>
            <a:r>
              <a:rPr lang="zh-CN" altLang="en-US" sz="1400">
                <a:latin typeface="微软雅黑" panose="020B0503020204020204" charset="-122"/>
                <a:ea typeface="微软雅黑" panose="020B0503020204020204" charset="-122"/>
                <a:cs typeface="微软雅黑" panose="020B0503020204020204" charset="-122"/>
              </a:rPr>
              <a:t>，将带隙较宽的半导体层称之为</a:t>
            </a:r>
            <a:r>
              <a:rPr lang="zh-CN" altLang="en-US" sz="1400" b="1">
                <a:solidFill>
                  <a:srgbClr val="C00000"/>
                </a:solidFill>
                <a:latin typeface="微软雅黑" panose="020B0503020204020204" charset="-122"/>
                <a:ea typeface="微软雅黑" panose="020B0503020204020204" charset="-122"/>
                <a:cs typeface="微软雅黑" panose="020B0503020204020204" charset="-122"/>
              </a:rPr>
              <a:t>垒</a:t>
            </a:r>
            <a:r>
              <a:rPr lang="zh-CN" altLang="en-US" sz="1400">
                <a:latin typeface="微软雅黑" panose="020B0503020204020204" charset="-122"/>
                <a:ea typeface="微软雅黑" panose="020B0503020204020204" charset="-122"/>
                <a:cs typeface="微软雅黑" panose="020B0503020204020204" charset="-122"/>
              </a:rPr>
              <a:t>。当阱层的厚度可以与电子和空穴的德布罗意波长（纳米量级）相比较时，阱中就会表现出对电子和空穴的量子限制效应，致使它们在QW中在只能做近似二维平面运动。由于</a:t>
            </a:r>
            <a:r>
              <a:rPr lang="en-US" altLang="zh-CN" sz="1400">
                <a:latin typeface="微软雅黑" panose="020B0503020204020204" charset="-122"/>
                <a:ea typeface="微软雅黑" panose="020B0503020204020204" charset="-122"/>
                <a:cs typeface="微软雅黑" panose="020B0503020204020204" charset="-122"/>
              </a:rPr>
              <a:t>QW</a:t>
            </a:r>
            <a:r>
              <a:rPr lang="zh-CN" altLang="en-US" sz="1400">
                <a:latin typeface="微软雅黑" panose="020B0503020204020204" charset="-122"/>
                <a:ea typeface="微软雅黑" panose="020B0503020204020204" charset="-122"/>
                <a:cs typeface="微软雅黑" panose="020B0503020204020204" charset="-122"/>
                <a:sym typeface="+mn-ea"/>
              </a:rPr>
              <a:t>的二维限制，导致了其中的电子和空穴态密度随能量呈现出</a:t>
            </a:r>
            <a:r>
              <a:rPr lang="zh-CN" altLang="en-US" sz="1400" b="1">
                <a:solidFill>
                  <a:srgbClr val="C00000"/>
                </a:solidFill>
                <a:latin typeface="微软雅黑" panose="020B0503020204020204" charset="-122"/>
                <a:ea typeface="微软雅黑" panose="020B0503020204020204" charset="-122"/>
                <a:cs typeface="微软雅黑" panose="020B0503020204020204" charset="-122"/>
                <a:sym typeface="+mn-ea"/>
              </a:rPr>
              <a:t>离散</a:t>
            </a:r>
            <a:r>
              <a:rPr lang="zh-CN" altLang="en-US" sz="1400">
                <a:latin typeface="微软雅黑" panose="020B0503020204020204" charset="-122"/>
                <a:ea typeface="微软雅黑" panose="020B0503020204020204" charset="-122"/>
                <a:cs typeface="微软雅黑" panose="020B0503020204020204" charset="-122"/>
                <a:sym typeface="+mn-ea"/>
              </a:rPr>
              <a:t>的分布规律。</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rcRect b="14879"/>
          <a:stretch>
            <a:fillRect/>
          </a:stretch>
        </p:blipFill>
        <p:spPr>
          <a:xfrm>
            <a:off x="35560" y="4004945"/>
            <a:ext cx="3968750" cy="2368550"/>
          </a:xfrm>
          <a:prstGeom prst="rect">
            <a:avLst/>
          </a:prstGeom>
        </p:spPr>
      </p:pic>
      <p:sp>
        <p:nvSpPr>
          <p:cNvPr id="6" name="文本框 5"/>
          <p:cNvSpPr txBox="1"/>
          <p:nvPr/>
        </p:nvSpPr>
        <p:spPr>
          <a:xfrm>
            <a:off x="640080" y="3735070"/>
            <a:ext cx="1838960" cy="306705"/>
          </a:xfrm>
          <a:prstGeom prst="rect">
            <a:avLst/>
          </a:prstGeom>
          <a:noFill/>
        </p:spPr>
        <p:txBody>
          <a:bodyPr wrap="square" rtlCol="0">
            <a:spAutoFit/>
          </a:bodyPr>
          <a:lstStyle/>
          <a:p>
            <a:pPr algn="ctr"/>
            <a:r>
              <a:rPr lang="zh-CN" altLang="en-US" sz="1400" b="1">
                <a:solidFill>
                  <a:srgbClr val="C00000"/>
                </a:solidFill>
                <a:latin typeface="微软雅黑" panose="020B0503020204020204" charset="-122"/>
                <a:ea typeface="微软雅黑" panose="020B0503020204020204" charset="-122"/>
              </a:rPr>
              <a:t>辐射复合效率低</a:t>
            </a:r>
            <a:endParaRPr lang="zh-CN" altLang="en-US" sz="1400" b="1">
              <a:solidFill>
                <a:srgbClr val="C00000"/>
              </a:solidFill>
              <a:latin typeface="微软雅黑" panose="020B0503020204020204" charset="-122"/>
              <a:ea typeface="微软雅黑" panose="020B0503020204020204" charset="-122"/>
            </a:endParaRPr>
          </a:p>
        </p:txBody>
      </p:sp>
      <p:sp>
        <p:nvSpPr>
          <p:cNvPr id="7" name="文本框 6"/>
          <p:cNvSpPr txBox="1"/>
          <p:nvPr/>
        </p:nvSpPr>
        <p:spPr>
          <a:xfrm>
            <a:off x="2098040" y="3735070"/>
            <a:ext cx="1838960" cy="306705"/>
          </a:xfrm>
          <a:prstGeom prst="rect">
            <a:avLst/>
          </a:prstGeom>
          <a:noFill/>
        </p:spPr>
        <p:txBody>
          <a:bodyPr wrap="square" rtlCol="0">
            <a:spAutoFit/>
          </a:bodyPr>
          <a:lstStyle/>
          <a:p>
            <a:pPr algn="ctr"/>
            <a:r>
              <a:rPr lang="zh-CN" altLang="en-US" sz="1400" b="1">
                <a:solidFill>
                  <a:srgbClr val="C00000"/>
                </a:solidFill>
                <a:latin typeface="微软雅黑" panose="020B0503020204020204" charset="-122"/>
                <a:ea typeface="微软雅黑" panose="020B0503020204020204" charset="-122"/>
              </a:rPr>
              <a:t>辐射复合效率高</a:t>
            </a:r>
            <a:endParaRPr lang="zh-CN" altLang="en-US" sz="1400" b="1">
              <a:solidFill>
                <a:srgbClr val="C00000"/>
              </a:solidFill>
              <a:latin typeface="微软雅黑" panose="020B0503020204020204" charset="-122"/>
              <a:ea typeface="微软雅黑" panose="020B0503020204020204" charset="-122"/>
            </a:endParaRPr>
          </a:p>
        </p:txBody>
      </p:sp>
      <p:sp>
        <p:nvSpPr>
          <p:cNvPr id="8" name="文本框 7"/>
          <p:cNvSpPr txBox="1"/>
          <p:nvPr/>
        </p:nvSpPr>
        <p:spPr>
          <a:xfrm>
            <a:off x="179070" y="116840"/>
            <a:ext cx="3098800" cy="737235"/>
          </a:xfrm>
          <a:prstGeom prst="rect">
            <a:avLst/>
          </a:prstGeom>
          <a:noFill/>
        </p:spPr>
        <p:txBody>
          <a:bodyPr wrap="none" rtlCol="0" anchor="t">
            <a:spAutoFit/>
          </a:bodyPr>
          <a:lstStyle/>
          <a:p>
            <a:pPr fontAlgn="auto">
              <a:lnSpc>
                <a:spcPct val="150000"/>
              </a:lnSpc>
            </a:pPr>
            <a:r>
              <a:rPr lang="en-US" altLang="zh-CN" sz="2800" b="1" dirty="0">
                <a:solidFill>
                  <a:srgbClr val="C00000"/>
                </a:solidFill>
                <a:latin typeface="微软雅黑" panose="020B0503020204020204" charset="-122"/>
                <a:ea typeface="微软雅黑" panose="020B0503020204020204" charset="-122"/>
                <a:cs typeface="微软雅黑" panose="020B0503020204020204" charset="-122"/>
                <a:sym typeface="+mn-ea"/>
              </a:rPr>
              <a:t>1. </a:t>
            </a:r>
            <a:r>
              <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rPr>
              <a:t>发光二极管介绍</a:t>
            </a:r>
            <a:endParaRPr lang="zh-CN" altLang="en-US" sz="2800" b="1" dirty="0">
              <a:solidFill>
                <a:srgbClr val="C00000"/>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539115" y="6416040"/>
            <a:ext cx="3671570" cy="275590"/>
          </a:xfrm>
          <a:prstGeom prst="rect">
            <a:avLst/>
          </a:prstGeom>
          <a:noFill/>
        </p:spPr>
        <p:txBody>
          <a:bodyPr wrap="none" rtlCol="0" anchor="t">
            <a:spAutoFit/>
          </a:bodyPr>
          <a:lstStyle/>
          <a:p>
            <a:r>
              <a:rPr lang="zh-CN" sz="1200" b="1">
                <a:solidFill>
                  <a:srgbClr val="002060"/>
                </a:solidFill>
                <a:latin typeface="微软雅黑" panose="020B0503020204020204" charset="-122"/>
                <a:ea typeface="微软雅黑" panose="020B0503020204020204" charset="-122"/>
                <a:cs typeface="微软雅黑" panose="020B0503020204020204" charset="-122"/>
                <a:sym typeface="+mn-ea"/>
              </a:rPr>
              <a:t>半导体块材料和</a:t>
            </a:r>
            <a:r>
              <a:rPr lang="en-US" altLang="zh-CN" sz="1200" b="1">
                <a:solidFill>
                  <a:srgbClr val="002060"/>
                </a:solidFill>
                <a:latin typeface="微软雅黑" panose="020B0503020204020204" charset="-122"/>
                <a:ea typeface="微软雅黑" panose="020B0503020204020204" charset="-122"/>
                <a:cs typeface="微软雅黑" panose="020B0503020204020204" charset="-122"/>
                <a:sym typeface="+mn-ea"/>
              </a:rPr>
              <a:t>QW</a:t>
            </a:r>
            <a:r>
              <a:rPr lang="zh-CN" altLang="en-US" sz="1200" b="1">
                <a:solidFill>
                  <a:srgbClr val="002060"/>
                </a:solidFill>
                <a:latin typeface="微软雅黑" panose="020B0503020204020204" charset="-122"/>
                <a:ea typeface="微软雅黑" panose="020B0503020204020204" charset="-122"/>
                <a:cs typeface="微软雅黑" panose="020B0503020204020204" charset="-122"/>
                <a:sym typeface="+mn-ea"/>
              </a:rPr>
              <a:t>结构的形貌和态密度分布示意图</a:t>
            </a:r>
            <a:endParaRPr lang="zh-CN" altLang="en-US" sz="12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pic>
        <p:nvPicPr>
          <p:cNvPr id="10" name="图片 9"/>
          <p:cNvPicPr>
            <a:picLocks noChangeAspect="1"/>
          </p:cNvPicPr>
          <p:nvPr/>
        </p:nvPicPr>
        <p:blipFill>
          <a:blip r:embed="rId2"/>
          <a:srcRect l="10877" t="2520" r="4278" b="17286"/>
          <a:stretch>
            <a:fillRect/>
          </a:stretch>
        </p:blipFill>
        <p:spPr>
          <a:xfrm>
            <a:off x="5230495" y="3566795"/>
            <a:ext cx="3364865" cy="2760345"/>
          </a:xfrm>
          <a:prstGeom prst="rect">
            <a:avLst/>
          </a:prstGeom>
        </p:spPr>
      </p:pic>
      <p:sp>
        <p:nvSpPr>
          <p:cNvPr id="11" name="文本框 10"/>
          <p:cNvSpPr txBox="1"/>
          <p:nvPr/>
        </p:nvSpPr>
        <p:spPr>
          <a:xfrm>
            <a:off x="5365115" y="6373495"/>
            <a:ext cx="3014980" cy="275590"/>
          </a:xfrm>
          <a:prstGeom prst="rect">
            <a:avLst/>
          </a:prstGeom>
          <a:noFill/>
        </p:spPr>
        <p:txBody>
          <a:bodyPr wrap="none" rtlCol="0" anchor="t">
            <a:spAutoFit/>
          </a:bodyPr>
          <a:lstStyle/>
          <a:p>
            <a:pPr algn="l"/>
            <a:r>
              <a:rPr lang="zh-CN" altLang="en-US" sz="1200" b="1">
                <a:solidFill>
                  <a:srgbClr val="002060"/>
                </a:solidFill>
                <a:latin typeface="微软雅黑" panose="020B0503020204020204" charset="-122"/>
                <a:ea typeface="微软雅黑" panose="020B0503020204020204" charset="-122"/>
                <a:cs typeface="微软雅黑" panose="020B0503020204020204" charset="-122"/>
                <a:sym typeface="+mn-ea"/>
              </a:rPr>
              <a:t>InGaN／GaN</a:t>
            </a:r>
            <a:r>
              <a:rPr lang="en-US" altLang="zh-CN" sz="1200" b="1">
                <a:solidFill>
                  <a:srgbClr val="002060"/>
                </a:solidFill>
                <a:latin typeface="微软雅黑" panose="020B0503020204020204" charset="-122"/>
                <a:ea typeface="微软雅黑" panose="020B0503020204020204" charset="-122"/>
                <a:cs typeface="微软雅黑" panose="020B0503020204020204" charset="-122"/>
                <a:sym typeface="+mn-ea"/>
              </a:rPr>
              <a:t> </a:t>
            </a:r>
            <a:r>
              <a:rPr lang="zh-CN" altLang="en-US" sz="1200" b="1">
                <a:solidFill>
                  <a:srgbClr val="002060"/>
                </a:solidFill>
                <a:latin typeface="微软雅黑" panose="020B0503020204020204" charset="-122"/>
                <a:ea typeface="微软雅黑" panose="020B0503020204020204" charset="-122"/>
                <a:cs typeface="微软雅黑" panose="020B0503020204020204" charset="-122"/>
                <a:sym typeface="+mn-ea"/>
              </a:rPr>
              <a:t>多量子肼基</a:t>
            </a:r>
            <a:r>
              <a:rPr lang="en-US" altLang="zh-CN" sz="1200" b="1">
                <a:solidFill>
                  <a:srgbClr val="002060"/>
                </a:solidFill>
                <a:latin typeface="微软雅黑" panose="020B0503020204020204" charset="-122"/>
                <a:ea typeface="微软雅黑" panose="020B0503020204020204" charset="-122"/>
                <a:cs typeface="微软雅黑" panose="020B0503020204020204" charset="-122"/>
                <a:sym typeface="+mn-ea"/>
              </a:rPr>
              <a:t>LED</a:t>
            </a:r>
            <a:r>
              <a:rPr lang="zh-CN" altLang="en-US" sz="1200" b="1">
                <a:solidFill>
                  <a:srgbClr val="002060"/>
                </a:solidFill>
                <a:latin typeface="微软雅黑" panose="020B0503020204020204" charset="-122"/>
                <a:ea typeface="微软雅黑" panose="020B0503020204020204" charset="-122"/>
                <a:cs typeface="微软雅黑" panose="020B0503020204020204" charset="-122"/>
                <a:sym typeface="+mn-ea"/>
              </a:rPr>
              <a:t>能带结构图</a:t>
            </a:r>
            <a:endParaRPr lang="zh-CN" altLang="en-US" sz="1200" b="1">
              <a:solidFill>
                <a:srgbClr val="002060"/>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9070" y="476250"/>
            <a:ext cx="8790940" cy="2306955"/>
          </a:xfrm>
          <a:prstGeom prst="rect">
            <a:avLst/>
          </a:prstGeom>
          <a:noFill/>
        </p:spPr>
        <p:txBody>
          <a:bodyPr wrap="square" rtlCol="0">
            <a:spAutoFit/>
          </a:bodyPr>
          <a:lstStyle/>
          <a:p>
            <a:pPr algn="just">
              <a:lnSpc>
                <a:spcPct val="150000"/>
              </a:lnSpc>
            </a:pPr>
            <a:r>
              <a:rPr lang="en-US" altLang="zh-CN" sz="2400" b="1" dirty="0">
                <a:solidFill>
                  <a:srgbClr val="0000FF"/>
                </a:solidFill>
                <a:latin typeface="微软雅黑" panose="020B0503020204020204" charset="-122"/>
                <a:ea typeface="微软雅黑" panose="020B0503020204020204" charset="-122"/>
                <a:cs typeface="微软雅黑" panose="020B0503020204020204" charset="-122"/>
              </a:rPr>
              <a:t>2. </a:t>
            </a:r>
            <a:r>
              <a:rPr lang="zh-CN" altLang="en-US" sz="2400" b="1" dirty="0">
                <a:solidFill>
                  <a:srgbClr val="0000FF"/>
                </a:solidFill>
                <a:latin typeface="微软雅黑" panose="020B0503020204020204" charset="-122"/>
                <a:ea typeface="微软雅黑" panose="020B0503020204020204" charset="-122"/>
                <a:cs typeface="微软雅黑" panose="020B0503020204020204" charset="-122"/>
              </a:rPr>
              <a:t>实验六：发光二极管特性仿真实验</a:t>
            </a:r>
            <a:endParaRPr lang="zh-CN" altLang="en-US" sz="2400" b="1" dirty="0">
              <a:solidFill>
                <a:srgbClr val="0000FF"/>
              </a:solidFill>
              <a:latin typeface="微软雅黑" panose="020B0503020204020204" charset="-122"/>
              <a:ea typeface="微软雅黑" panose="020B0503020204020204" charset="-122"/>
              <a:cs typeface="微软雅黑" panose="020B0503020204020204" charset="-122"/>
            </a:endParaRPr>
          </a:p>
          <a:p>
            <a:pPr indent="0" algn="just">
              <a:lnSpc>
                <a:spcPct val="150000"/>
              </a:lnSpc>
              <a:buFont typeface="+mj-lt"/>
              <a:buNone/>
            </a:pPr>
            <a:r>
              <a:rPr lang="zh-CN" altLang="en-US" dirty="0">
                <a:latin typeface="微软雅黑" panose="020B0503020204020204" charset="-122"/>
                <a:ea typeface="微软雅黑" panose="020B0503020204020204" charset="-122"/>
                <a:cs typeface="微软雅黑" panose="020B0503020204020204" charset="-122"/>
                <a:sym typeface="+mn-ea"/>
              </a:rPr>
              <a:t>（</a:t>
            </a:r>
            <a:r>
              <a:rPr lang="en-US" altLang="zh-CN" dirty="0">
                <a:latin typeface="微软雅黑" panose="020B0503020204020204" charset="-122"/>
                <a:ea typeface="微软雅黑" panose="020B0503020204020204" charset="-122"/>
                <a:cs typeface="微软雅黑" panose="020B0503020204020204" charset="-122"/>
                <a:sym typeface="+mn-ea"/>
              </a:rPr>
              <a:t>1</a:t>
            </a:r>
            <a:r>
              <a:rPr lang="zh-CN" altLang="en-US" dirty="0">
                <a:latin typeface="微软雅黑" panose="020B0503020204020204" charset="-122"/>
                <a:ea typeface="微软雅黑" panose="020B0503020204020204" charset="-122"/>
                <a:cs typeface="微软雅黑" panose="020B0503020204020204" charset="-122"/>
                <a:sym typeface="+mn-ea"/>
              </a:rPr>
              <a:t>）参考给定代码，利用</a:t>
            </a:r>
            <a:r>
              <a:rPr lang="en-US" altLang="zh-CN" dirty="0" err="1">
                <a:latin typeface="微软雅黑" panose="020B0503020204020204" charset="-122"/>
                <a:ea typeface="微软雅黑" panose="020B0503020204020204" charset="-122"/>
                <a:cs typeface="微软雅黑" panose="020B0503020204020204" charset="-122"/>
                <a:sym typeface="+mn-ea"/>
              </a:rPr>
              <a:t>Silvaco</a:t>
            </a:r>
            <a:r>
              <a:rPr lang="zh-CN" altLang="en-US" dirty="0">
                <a:latin typeface="微软雅黑" panose="020B0503020204020204" charset="-122"/>
                <a:ea typeface="微软雅黑" panose="020B0503020204020204" charset="-122"/>
                <a:cs typeface="微软雅黑" panose="020B0503020204020204" charset="-122"/>
                <a:sym typeface="+mn-ea"/>
              </a:rPr>
              <a:t>器件仿真器制作一个蓝光单量子阱LED模型，仿真出其</a:t>
            </a:r>
            <a:r>
              <a:rPr lang="en-US" altLang="zh-CN" dirty="0">
                <a:latin typeface="微软雅黑" panose="020B0503020204020204" charset="-122"/>
                <a:ea typeface="微软雅黑" panose="020B0503020204020204" charset="-122"/>
                <a:cs typeface="微软雅黑" panose="020B0503020204020204" charset="-122"/>
                <a:sym typeface="+mn-ea"/>
              </a:rPr>
              <a:t>IV</a:t>
            </a:r>
            <a:r>
              <a:rPr lang="zh-CN" altLang="en-US" dirty="0">
                <a:latin typeface="微软雅黑" panose="020B0503020204020204" charset="-122"/>
                <a:ea typeface="微软雅黑" panose="020B0503020204020204" charset="-122"/>
                <a:cs typeface="微软雅黑" panose="020B0503020204020204" charset="-122"/>
                <a:sym typeface="+mn-ea"/>
              </a:rPr>
              <a:t>（电流</a:t>
            </a:r>
            <a:r>
              <a:rPr lang="en-US" altLang="zh-CN" dirty="0">
                <a:latin typeface="微软雅黑" panose="020B0503020204020204" charset="-122"/>
                <a:ea typeface="微软雅黑" panose="020B0503020204020204" charset="-122"/>
                <a:cs typeface="微软雅黑" panose="020B0503020204020204" charset="-122"/>
                <a:sym typeface="+mn-ea"/>
              </a:rPr>
              <a:t>-</a:t>
            </a:r>
            <a:r>
              <a:rPr lang="zh-CN" altLang="en-US" dirty="0">
                <a:latin typeface="微软雅黑" panose="020B0503020204020204" charset="-122"/>
                <a:ea typeface="微软雅黑" panose="020B0503020204020204" charset="-122"/>
                <a:cs typeface="微软雅黑" panose="020B0503020204020204" charset="-122"/>
                <a:sym typeface="+mn-ea"/>
              </a:rPr>
              <a:t>电压）特性，</a:t>
            </a:r>
            <a:r>
              <a:rPr lang="en-US" altLang="zh-CN" dirty="0">
                <a:latin typeface="微软雅黑" panose="020B0503020204020204" charset="-122"/>
                <a:ea typeface="微软雅黑" panose="020B0503020204020204" charset="-122"/>
                <a:cs typeface="微软雅黑" panose="020B0503020204020204" charset="-122"/>
                <a:sym typeface="+mn-ea"/>
              </a:rPr>
              <a:t>IL</a:t>
            </a:r>
            <a:r>
              <a:rPr lang="zh-CN" altLang="en-US" dirty="0">
                <a:latin typeface="微软雅黑" panose="020B0503020204020204" charset="-122"/>
                <a:ea typeface="微软雅黑" panose="020B0503020204020204" charset="-122"/>
                <a:cs typeface="微软雅黑" panose="020B0503020204020204" charset="-122"/>
                <a:sym typeface="+mn-ea"/>
              </a:rPr>
              <a:t>（电流</a:t>
            </a:r>
            <a:r>
              <a:rPr lang="en-US" altLang="zh-CN" dirty="0">
                <a:latin typeface="微软雅黑" panose="020B0503020204020204" charset="-122"/>
                <a:ea typeface="微软雅黑" panose="020B0503020204020204" charset="-122"/>
                <a:cs typeface="微软雅黑" panose="020B0503020204020204" charset="-122"/>
                <a:sym typeface="+mn-ea"/>
              </a:rPr>
              <a:t>-</a:t>
            </a:r>
            <a:r>
              <a:rPr lang="zh-CN" altLang="en-US" dirty="0">
                <a:latin typeface="微软雅黑" panose="020B0503020204020204" charset="-122"/>
                <a:ea typeface="微软雅黑" panose="020B0503020204020204" charset="-122"/>
                <a:cs typeface="微软雅黑" panose="020B0503020204020204" charset="-122"/>
                <a:sym typeface="+mn-ea"/>
              </a:rPr>
              <a:t>光强）特性；（电压范围：</a:t>
            </a:r>
            <a:r>
              <a:rPr lang="en-US" altLang="zh-CN" dirty="0">
                <a:latin typeface="微软雅黑" panose="020B0503020204020204" charset="-122"/>
                <a:ea typeface="微软雅黑" panose="020B0503020204020204" charset="-122"/>
                <a:cs typeface="微软雅黑" panose="020B0503020204020204" charset="-122"/>
                <a:sym typeface="+mn-ea"/>
              </a:rPr>
              <a:t>0~3.2V</a:t>
            </a:r>
            <a:r>
              <a:rPr lang="zh-CN" altLang="en-US" dirty="0">
                <a:latin typeface="微软雅黑" panose="020B0503020204020204" charset="-122"/>
                <a:ea typeface="微软雅黑" panose="020B0503020204020204" charset="-122"/>
                <a:cs typeface="微软雅黑" panose="020B0503020204020204" charset="-122"/>
                <a:sym typeface="+mn-ea"/>
              </a:rPr>
              <a:t>）</a:t>
            </a:r>
            <a:endParaRPr lang="zh-CN" altLang="en-US" dirty="0">
              <a:latin typeface="微软雅黑" panose="020B0503020204020204" charset="-122"/>
              <a:ea typeface="微软雅黑" panose="020B0503020204020204" charset="-122"/>
              <a:cs typeface="微软雅黑" panose="020B0503020204020204" charset="-122"/>
              <a:sym typeface="+mn-ea"/>
            </a:endParaRPr>
          </a:p>
          <a:p>
            <a:pPr indent="0" algn="just">
              <a:lnSpc>
                <a:spcPct val="150000"/>
              </a:lnSpc>
              <a:buFont typeface="+mj-lt"/>
              <a:buNone/>
            </a:pPr>
            <a:r>
              <a:rPr lang="zh-CN" altLang="en-US" dirty="0">
                <a:latin typeface="微软雅黑" panose="020B0503020204020204" charset="-122"/>
                <a:ea typeface="微软雅黑" panose="020B0503020204020204" charset="-122"/>
                <a:cs typeface="微软雅黑" panose="020B0503020204020204" charset="-122"/>
                <a:sym typeface="+mn-ea"/>
              </a:rPr>
              <a:t>（</a:t>
            </a:r>
            <a:r>
              <a:rPr lang="en-US" altLang="zh-CN" dirty="0">
                <a:latin typeface="微软雅黑" panose="020B0503020204020204" charset="-122"/>
                <a:ea typeface="微软雅黑" panose="020B0503020204020204" charset="-122"/>
                <a:cs typeface="微软雅黑" panose="020B0503020204020204" charset="-122"/>
                <a:sym typeface="+mn-ea"/>
              </a:rPr>
              <a:t>2</a:t>
            </a:r>
            <a:r>
              <a:rPr lang="zh-CN" altLang="en-US" dirty="0">
                <a:latin typeface="微软雅黑" panose="020B0503020204020204" charset="-122"/>
                <a:ea typeface="微软雅黑" panose="020B0503020204020204" charset="-122"/>
                <a:cs typeface="微软雅黑" panose="020B0503020204020204" charset="-122"/>
                <a:sym typeface="+mn-ea"/>
              </a:rPr>
              <a:t>）将单量子阱LED中的量子肼材料</a:t>
            </a:r>
            <a:r>
              <a:rPr lang="en-US" altLang="zh-CN" dirty="0" err="1">
                <a:latin typeface="微软雅黑" panose="020B0503020204020204" charset="-122"/>
                <a:ea typeface="微软雅黑" panose="020B0503020204020204" charset="-122"/>
                <a:cs typeface="微软雅黑" panose="020B0503020204020204" charset="-122"/>
                <a:sym typeface="+mn-ea"/>
              </a:rPr>
              <a:t>InGaN</a:t>
            </a:r>
            <a:r>
              <a:rPr lang="zh-CN" altLang="en-US" dirty="0">
                <a:latin typeface="微软雅黑" panose="020B0503020204020204" charset="-122"/>
                <a:ea typeface="微软雅黑" panose="020B0503020204020204" charset="-122"/>
                <a:cs typeface="微软雅黑" panose="020B0503020204020204" charset="-122"/>
                <a:sym typeface="+mn-ea"/>
              </a:rPr>
              <a:t>中</a:t>
            </a:r>
            <a:r>
              <a:rPr lang="en-US" altLang="zh-CN" dirty="0">
                <a:latin typeface="微软雅黑" panose="020B0503020204020204" charset="-122"/>
                <a:ea typeface="微软雅黑" panose="020B0503020204020204" charset="-122"/>
                <a:cs typeface="微软雅黑" panose="020B0503020204020204" charset="-122"/>
                <a:sym typeface="+mn-ea"/>
              </a:rPr>
              <a:t>In</a:t>
            </a:r>
            <a:r>
              <a:rPr lang="zh-CN" altLang="en-US" dirty="0">
                <a:latin typeface="微软雅黑" panose="020B0503020204020204" charset="-122"/>
                <a:ea typeface="微软雅黑" panose="020B0503020204020204" charset="-122"/>
                <a:cs typeface="微软雅黑" panose="020B0503020204020204" charset="-122"/>
                <a:sym typeface="+mn-ea"/>
              </a:rPr>
              <a:t>的含量从</a:t>
            </a:r>
            <a:r>
              <a:rPr lang="en-US" altLang="zh-CN" dirty="0">
                <a:latin typeface="微软雅黑" panose="020B0503020204020204" charset="-122"/>
                <a:ea typeface="微软雅黑" panose="020B0503020204020204" charset="-122"/>
                <a:cs typeface="微软雅黑" panose="020B0503020204020204" charset="-122"/>
                <a:sym typeface="+mn-ea"/>
              </a:rPr>
              <a:t>0.1</a:t>
            </a:r>
            <a:r>
              <a:rPr lang="zh-CN" altLang="en-US" dirty="0">
                <a:latin typeface="微软雅黑" panose="020B0503020204020204" charset="-122"/>
                <a:ea typeface="微软雅黑" panose="020B0503020204020204" charset="-122"/>
                <a:cs typeface="微软雅黑" panose="020B0503020204020204" charset="-122"/>
                <a:sym typeface="+mn-ea"/>
              </a:rPr>
              <a:t>变化至</a:t>
            </a:r>
            <a:r>
              <a:rPr lang="en-US" altLang="zh-CN" dirty="0">
                <a:latin typeface="微软雅黑" panose="020B0503020204020204" charset="-122"/>
                <a:ea typeface="微软雅黑" panose="020B0503020204020204" charset="-122"/>
                <a:cs typeface="微软雅黑" panose="020B0503020204020204" charset="-122"/>
                <a:sym typeface="+mn-ea"/>
              </a:rPr>
              <a:t>0.6</a:t>
            </a:r>
            <a:r>
              <a:rPr lang="zh-CN" altLang="en-US" dirty="0">
                <a:latin typeface="微软雅黑" panose="020B0503020204020204" charset="-122"/>
                <a:ea typeface="微软雅黑" panose="020B0503020204020204" charset="-122"/>
                <a:cs typeface="微软雅黑" panose="020B0503020204020204" charset="-122"/>
                <a:sym typeface="+mn-ea"/>
              </a:rPr>
              <a:t>时，</a:t>
            </a:r>
            <a:r>
              <a:rPr lang="en-US" altLang="zh-CN" dirty="0">
                <a:latin typeface="微软雅黑" panose="020B0503020204020204" charset="-122"/>
                <a:ea typeface="微软雅黑" panose="020B0503020204020204" charset="-122"/>
                <a:cs typeface="微软雅黑" panose="020B0503020204020204" charset="-122"/>
                <a:sym typeface="+mn-ea"/>
              </a:rPr>
              <a:t>LED</a:t>
            </a:r>
            <a:r>
              <a:rPr lang="zh-CN" altLang="en-US" dirty="0">
                <a:latin typeface="微软雅黑" panose="020B0503020204020204" charset="-122"/>
                <a:ea typeface="微软雅黑" panose="020B0503020204020204" charset="-122"/>
                <a:cs typeface="微软雅黑" panose="020B0503020204020204" charset="-122"/>
                <a:sym typeface="+mn-ea"/>
              </a:rPr>
              <a:t>光谱宽度和中心波长如何变化，总结仿真结果。（电压范围：</a:t>
            </a:r>
            <a:r>
              <a:rPr lang="en-US" altLang="zh-CN" dirty="0">
                <a:latin typeface="微软雅黑" panose="020B0503020204020204" charset="-122"/>
                <a:ea typeface="微软雅黑" panose="020B0503020204020204" charset="-122"/>
                <a:cs typeface="微软雅黑" panose="020B0503020204020204" charset="-122"/>
                <a:sym typeface="+mn-ea"/>
              </a:rPr>
              <a:t>0~3.2V</a:t>
            </a:r>
            <a:r>
              <a:rPr lang="zh-CN" altLang="en-US" dirty="0">
                <a:latin typeface="微软雅黑" panose="020B0503020204020204" charset="-122"/>
                <a:ea typeface="微软雅黑" panose="020B0503020204020204" charset="-122"/>
                <a:cs typeface="微软雅黑" panose="020B0503020204020204" charset="-122"/>
                <a:sym typeface="+mn-ea"/>
              </a:rPr>
              <a:t>）</a:t>
            </a: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195830" y="2277110"/>
            <a:ext cx="4773930" cy="1198880"/>
          </a:xfrm>
          <a:prstGeom prst="rect">
            <a:avLst/>
          </a:prstGeom>
          <a:noFill/>
          <a:ln>
            <a:noFill/>
          </a:ln>
        </p:spPr>
        <p:txBody>
          <a:bodyPr wrap="none" rtlCol="0" anchor="t">
            <a:spAutoFit/>
          </a:bodyPr>
          <a:lstStyle/>
          <a:p>
            <a:pPr algn="ctr"/>
            <a:r>
              <a:rPr lang="zh-CN" altLang="en-US" sz="7200" b="1">
                <a:solidFill>
                  <a:schemeClr val="accent1"/>
                </a:solidFill>
                <a:effectLst>
                  <a:outerShdw blurRad="38100" dist="25400" dir="5400000" algn="ctr" rotWithShape="0">
                    <a:srgbClr val="6E747A">
                      <a:alpha val="43000"/>
                    </a:srgbClr>
                  </a:outerShdw>
                </a:effectLst>
              </a:rPr>
              <a:t>欢迎交流！</a:t>
            </a:r>
            <a:endParaRPr lang="zh-CN" altLang="en-US" sz="7200" b="1">
              <a:solidFill>
                <a:schemeClr val="accent1"/>
              </a:solidFill>
              <a:effectLst>
                <a:outerShdw blurRad="38100" dist="25400" dir="5400000" algn="ctr" rotWithShape="0">
                  <a:srgbClr val="6E747A">
                    <a:alpha val="43000"/>
                  </a:srgbClr>
                </a:outerShdw>
              </a:effectLst>
            </a:endParaRPr>
          </a:p>
        </p:txBody>
      </p:sp>
    </p:spTree>
  </p:cSld>
  <p:clrMapOvr>
    <a:masterClrMapping/>
  </p:clrMapOvr>
</p:sld>
</file>

<file path=ppt/tags/tag1.xml><?xml version="1.0" encoding="utf-8"?>
<p:tagLst xmlns:p="http://schemas.openxmlformats.org/presentationml/2006/main">
  <p:tag name="KSO_WM_UNIT_PLACING_PICTURE_USER_VIEWPORT" val="{&quot;height&quot;:3779,&quot;width&quot;:13822}"/>
</p:tagLst>
</file>

<file path=ppt/tags/tag2.xml><?xml version="1.0" encoding="utf-8"?>
<p:tagLst xmlns:p="http://schemas.openxmlformats.org/presentationml/2006/main">
  <p:tag name="COMMONDATA" val="eyJoZGlkIjoiZWIyNzc2MjMzNzRkNWUyZGE3ZDc5M2U5NWFlODgxYWQifQ=="/>
  <p:tag name="KSO_WPP_MARK_KEY" val="45b30325-577c-47bf-b5b9-28a987549e5e"/>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Equity</Template>
  <TotalTime>0</TotalTime>
  <Words>938</Words>
  <Application>WPS 演示</Application>
  <PresentationFormat>全屏显示(4:3)</PresentationFormat>
  <Paragraphs>50</Paragraphs>
  <Slides>6</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vt:i4>
      </vt:variant>
    </vt:vector>
  </HeadingPairs>
  <TitlesOfParts>
    <vt:vector size="20" baseType="lpstr">
      <vt:lpstr>Arial</vt:lpstr>
      <vt:lpstr>宋体</vt:lpstr>
      <vt:lpstr>Wingdings</vt:lpstr>
      <vt:lpstr>Wingdings 2</vt:lpstr>
      <vt:lpstr>Wingdings</vt:lpstr>
      <vt:lpstr>微软雅黑</vt:lpstr>
      <vt:lpstr>Times New Roman</vt:lpstr>
      <vt:lpstr>楷体</vt:lpstr>
      <vt:lpstr>Perpetua</vt:lpstr>
      <vt:lpstr>Arial Unicode MS</vt:lpstr>
      <vt:lpstr>Franklin Gothic Book</vt:lpstr>
      <vt:lpstr>幼圆</vt:lpstr>
      <vt:lpstr>Calibri</vt:lpstr>
      <vt:lpstr>平衡</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dell</dc:creator>
  <cp:lastModifiedBy>徐琳琳</cp:lastModifiedBy>
  <cp:revision>1808</cp:revision>
  <dcterms:created xsi:type="dcterms:W3CDTF">2020-03-29T10:36:00Z</dcterms:created>
  <dcterms:modified xsi:type="dcterms:W3CDTF">2025-05-21T06:13:34Z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B02FFB7BA2294C06BABDFCD2D1CDA99A</vt:lpwstr>
  </property>
  <property fmtid="{D5CDD505-2E9C-101B-9397-08002B2CF9AE}" pid="3" name="KSOProductBuildVer">
    <vt:lpwstr>2052-12.1.0.21171</vt:lpwstr>
  </property>
</Properties>
</file>