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65" r:id="rId3"/>
    <p:sldId id="323" r:id="rId4"/>
    <p:sldId id="403" r:id="rId5"/>
    <p:sldId id="560" r:id="rId6"/>
    <p:sldId id="546" r:id="rId8"/>
    <p:sldId id="566" r:id="rId9"/>
    <p:sldId id="343" r:id="rId10"/>
  </p:sldIdLst>
  <p:sldSz cx="9144000" cy="6858000" type="screen4x3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29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1D41D5"/>
    <a:srgbClr val="D869EC"/>
    <a:srgbClr val="5407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104" d="100"/>
          <a:sy n="104" d="100"/>
        </p:scale>
        <p:origin x="1824" y="114"/>
      </p:cViewPr>
      <p:guideLst>
        <p:guide orient="horz" pos="2205"/>
        <p:guide pos="294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圆角矩形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圆角矩形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内容占位符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圆角矩形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矩形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圆角矩形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  <a:p>
            <a:pPr lvl="1" eaLnBrk="1" latinLnBrk="0" hangingPunct="1"/>
            <a:r>
              <a:rPr kumimoji="0" lang="zh-CN" altLang="en-US"/>
              <a:t>第二级</a:t>
            </a:r>
            <a:endParaRPr kumimoji="0" lang="zh-CN" altLang="en-US"/>
          </a:p>
          <a:p>
            <a:pPr lvl="2" eaLnBrk="1" latinLnBrk="0" hangingPunct="1"/>
            <a:r>
              <a:rPr kumimoji="0" lang="zh-CN" altLang="en-US"/>
              <a:t>第三级</a:t>
            </a:r>
            <a:endParaRPr kumimoji="0" lang="zh-CN" altLang="en-US"/>
          </a:p>
          <a:p>
            <a:pPr lvl="3" eaLnBrk="1" latinLnBrk="0" hangingPunct="1"/>
            <a:r>
              <a:rPr kumimoji="0" lang="zh-CN" altLang="en-US"/>
              <a:t>第四级</a:t>
            </a:r>
            <a:endParaRPr kumimoji="0" lang="zh-CN" altLang="en-US"/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 panose="05020102010507070707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9705" y="1842135"/>
            <a:ext cx="873506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sz="4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半导体器件导论-实验</a:t>
            </a:r>
            <a:r>
              <a:rPr lang="zh-CN" sz="4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</a:t>
            </a:r>
            <a:endParaRPr lang="zh-CN" sz="4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6785" y="3693795"/>
            <a:ext cx="657098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3200" b="1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主讲人：徐琳琳</a:t>
            </a:r>
            <a:endParaRPr lang="zh-CN" altLang="en-US" sz="3200" b="1" dirty="0">
              <a:solidFill>
                <a:srgbClr val="00206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00000"/>
              </a:lnSpc>
            </a:pPr>
            <a:r>
              <a:rPr lang="zh-CN" altLang="en-US" sz="3200" b="1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邮</a:t>
            </a:r>
            <a:r>
              <a:rPr lang="en-US" altLang="zh-CN" sz="3200" b="1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</a:t>
            </a:r>
            <a:r>
              <a:rPr lang="zh-CN" altLang="en-US" sz="3200" b="1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箱：</a:t>
            </a:r>
            <a:r>
              <a:rPr lang="en-US" altLang="zh-CN" sz="3200" b="1" u="sng" dirty="0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xulinalec@163.com</a:t>
            </a:r>
            <a:endParaRPr lang="zh-CN" altLang="en-US" sz="3200" b="1" u="sng" dirty="0">
              <a:solidFill>
                <a:srgbClr val="00206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394335" y="6093460"/>
            <a:ext cx="8311515" cy="0"/>
          </a:xfrm>
          <a:prstGeom prst="line">
            <a:avLst/>
          </a:prstGeom>
          <a:ln w="98425">
            <a:gradFill>
              <a:gsLst>
                <a:gs pos="41000">
                  <a:schemeClr val="accent1">
                    <a:lumMod val="5000"/>
                    <a:lumOff val="95000"/>
                  </a:schemeClr>
                </a:gs>
                <a:gs pos="0">
                  <a:schemeClr val="accent1">
                    <a:lumMod val="45000"/>
                    <a:lumOff val="55000"/>
                  </a:schemeClr>
                </a:gs>
                <a:gs pos="84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10 南科大与电子系（上下橙蓝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7720" y="332740"/>
            <a:ext cx="2828290" cy="873760"/>
          </a:xfrm>
          <a:prstGeom prst="rect">
            <a:avLst/>
          </a:prstGeom>
          <a:solidFill>
            <a:schemeClr val="bg1"/>
          </a:solidFill>
          <a:effectLst>
            <a:glow rad="330200">
              <a:srgbClr val="FF0000">
                <a:alpha val="40000"/>
              </a:srgbClr>
            </a:glo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/>
          <p:cNvSpPr txBox="1"/>
          <p:nvPr/>
        </p:nvSpPr>
        <p:spPr>
          <a:xfrm>
            <a:off x="2051473" y="598805"/>
            <a:ext cx="48768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主要内容</a:t>
            </a:r>
            <a:endParaRPr lang="zh-CN" altLang="en-US" sz="5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27050" y="2565400"/>
            <a:ext cx="806323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auto">
              <a:lnSpc>
                <a:spcPct val="150000"/>
              </a:lnSpc>
              <a:buFontTx/>
              <a:buAutoNum type="arabicPeriod"/>
            </a:pP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sz="32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PIN二极管介绍</a:t>
            </a:r>
            <a:endParaRPr lang="zh-CN" sz="32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fontAlgn="auto">
              <a:lnSpc>
                <a:spcPct val="150000"/>
              </a:lnSpc>
              <a:buFontTx/>
              <a:buAutoNum type="arabicPeriod"/>
            </a:pP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sz="32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实验四、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PIN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二极管特性仿真</a:t>
            </a:r>
            <a:r>
              <a:rPr lang="en-US" altLang="zh-CN" sz="28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学时）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  <a:buFontTx/>
              <a:buNone/>
            </a:pPr>
            <a:endParaRPr lang="zh-CN" altLang="en-US" sz="32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1223645" y="72390"/>
            <a:ext cx="6696710" cy="360045"/>
          </a:xfrm>
          <a:prstGeom prst="roundRect">
            <a:avLst/>
          </a:prstGeom>
          <a:solidFill>
            <a:schemeClr val="accent1">
              <a:alpha val="8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835785" y="2348865"/>
            <a:ext cx="492506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ctr">
              <a:lnSpc>
                <a:spcPct val="200000"/>
              </a:lnSpc>
              <a:buClrTx/>
              <a:buSzTx/>
              <a:buFontTx/>
              <a:buNone/>
            </a:pPr>
            <a:r>
              <a:rPr 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PIN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二极</a:t>
            </a:r>
            <a:r>
              <a:rPr 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管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介绍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9070" y="-99392"/>
            <a:ext cx="6553170" cy="82413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algn="l">
              <a:lnSpc>
                <a:spcPct val="200000"/>
              </a:lnSpc>
              <a:buClrTx/>
              <a:buSzTx/>
              <a:buFont typeface="Wingdings" panose="05000000000000000000" pitchFamily="2" charset="2"/>
              <a:buChar char="l"/>
            </a:pPr>
            <a:r>
              <a:rPr lang="en-US" altLang="zh-CN" sz="2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PIN</a:t>
            </a:r>
            <a:r>
              <a:rPr lang="zh-CN" altLang="en-US" sz="2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二极管介绍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50157" y="836712"/>
            <a:ext cx="6160770" cy="1426845"/>
            <a:chOff x="1193" y="1353"/>
            <a:chExt cx="9702" cy="2247"/>
          </a:xfrm>
        </p:grpSpPr>
        <p:cxnSp>
          <p:nvCxnSpPr>
            <p:cNvPr id="8" name="直接连接符 7"/>
            <p:cNvCxnSpPr/>
            <p:nvPr/>
          </p:nvCxnSpPr>
          <p:spPr>
            <a:xfrm>
              <a:off x="4227" y="3090"/>
              <a:ext cx="0" cy="45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7202" y="3090"/>
              <a:ext cx="0" cy="45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组合 9"/>
            <p:cNvGrpSpPr/>
            <p:nvPr/>
          </p:nvGrpSpPr>
          <p:grpSpPr>
            <a:xfrm>
              <a:off x="1193" y="1353"/>
              <a:ext cx="9702" cy="2247"/>
              <a:chOff x="1193" y="1353"/>
              <a:chExt cx="9702" cy="2247"/>
            </a:xfrm>
          </p:grpSpPr>
          <p:grpSp>
            <p:nvGrpSpPr>
              <p:cNvPr id="11" name="组合 10"/>
              <p:cNvGrpSpPr/>
              <p:nvPr/>
            </p:nvGrpSpPr>
            <p:grpSpPr>
              <a:xfrm>
                <a:off x="1193" y="1353"/>
                <a:ext cx="9702" cy="1699"/>
                <a:chOff x="78" y="1718"/>
                <a:chExt cx="9702" cy="1699"/>
              </a:xfrm>
            </p:grpSpPr>
            <p:sp>
              <p:nvSpPr>
                <p:cNvPr id="15" name="文本框 10"/>
                <p:cNvSpPr txBox="1"/>
                <p:nvPr/>
              </p:nvSpPr>
              <p:spPr>
                <a:xfrm>
                  <a:off x="78" y="2631"/>
                  <a:ext cx="1823" cy="434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r>
                    <a:rPr lang="en-US" altLang="zh-CN" sz="1200" b="1">
                      <a:solidFill>
                        <a:srgbClr val="002060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E</a:t>
                  </a:r>
                  <a:r>
                    <a:rPr lang="zh-CN" altLang="en-US" sz="1200" b="1">
                      <a:solidFill>
                        <a:srgbClr val="002060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lectrode  </a:t>
                  </a:r>
                  <a:endParaRPr lang="zh-CN" altLang="en-US" sz="1200" b="1">
                    <a:solidFill>
                      <a:srgbClr val="002060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16" name="文本框 11"/>
                <p:cNvSpPr txBox="1"/>
                <p:nvPr/>
              </p:nvSpPr>
              <p:spPr>
                <a:xfrm>
                  <a:off x="7701" y="2590"/>
                  <a:ext cx="2079" cy="531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r>
                    <a:rPr lang="en-US" altLang="zh-CN" sz="1200" b="1">
                      <a:solidFill>
                        <a:srgbClr val="002060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E</a:t>
                  </a:r>
                  <a:r>
                    <a:rPr lang="zh-CN" altLang="en-US" sz="1200" b="1">
                      <a:solidFill>
                        <a:srgbClr val="002060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lectrode</a:t>
                  </a:r>
                  <a:r>
                    <a:rPr lang="zh-CN" altLang="en-US" sz="1600" b="1">
                      <a:solidFill>
                        <a:srgbClr val="002060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  </a:t>
                  </a:r>
                  <a:endParaRPr lang="zh-CN" altLang="en-US" sz="1600" b="1">
                    <a:solidFill>
                      <a:srgbClr val="002060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17" name="矩形 16"/>
                <p:cNvSpPr/>
                <p:nvPr/>
              </p:nvSpPr>
              <p:spPr>
                <a:xfrm>
                  <a:off x="1615" y="2340"/>
                  <a:ext cx="1508" cy="1077"/>
                </a:xfrm>
                <a:prstGeom prst="rect">
                  <a:avLst/>
                </a:prstGeom>
                <a:solidFill>
                  <a:srgbClr val="9BBB59">
                    <a:lumMod val="60000"/>
                    <a:lumOff val="40000"/>
                  </a:srgb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8" name="矩形 17"/>
                <p:cNvSpPr/>
                <p:nvPr/>
              </p:nvSpPr>
              <p:spPr>
                <a:xfrm>
                  <a:off x="6087" y="2340"/>
                  <a:ext cx="1400" cy="1077"/>
                </a:xfrm>
                <a:prstGeom prst="rect">
                  <a:avLst/>
                </a:prstGeom>
                <a:solidFill>
                  <a:srgbClr val="F79646">
                    <a:lumMod val="40000"/>
                    <a:lumOff val="60000"/>
                  </a:srgb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9" name="矩形 18"/>
                <p:cNvSpPr/>
                <p:nvPr/>
              </p:nvSpPr>
              <p:spPr>
                <a:xfrm>
                  <a:off x="1644" y="2340"/>
                  <a:ext cx="5843" cy="1077"/>
                </a:xfrm>
                <a:prstGeom prst="rect">
                  <a:avLst/>
                </a:prstGeom>
                <a:noFill/>
                <a:ln w="25400" cap="flat" cmpd="sng" algn="ctr">
                  <a:solidFill>
                    <a:srgbClr val="4F81BD">
                      <a:shade val="50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3149" y="2340"/>
                  <a:ext cx="2924" cy="1077"/>
                </a:xfrm>
                <a:prstGeom prst="rect">
                  <a:avLst/>
                </a:prstGeom>
                <a:solidFill>
                  <a:srgbClr val="9BBB59">
                    <a:lumMod val="60000"/>
                    <a:lumOff val="40000"/>
                    <a:alpha val="23000"/>
                  </a:srgb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r>
                    <a:rPr lang="en-US" altLang="zh-CN" b="1"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  <a:sym typeface="+mn-ea"/>
                    </a:rPr>
                    <a:t>N</a:t>
                  </a:r>
                  <a:r>
                    <a:rPr lang="en-US" altLang="zh-CN" b="1" baseline="30000"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  <a:sym typeface="+mn-ea"/>
                    </a:rPr>
                    <a:t>-</a:t>
                  </a:r>
                  <a:endParaRPr lang="zh-CN" altLang="en-US" b="1" baseline="30000"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  <a:sym typeface="+mn-ea"/>
                  </a:endParaRPr>
                </a:p>
              </p:txBody>
            </p:sp>
            <p:sp>
              <p:nvSpPr>
                <p:cNvPr id="21" name="矩形 20"/>
                <p:cNvSpPr/>
                <p:nvPr/>
              </p:nvSpPr>
              <p:spPr>
                <a:xfrm>
                  <a:off x="7499" y="2700"/>
                  <a:ext cx="240" cy="360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文本框 80"/>
                <p:cNvSpPr txBox="1"/>
                <p:nvPr/>
              </p:nvSpPr>
              <p:spPr>
                <a:xfrm>
                  <a:off x="3637" y="1718"/>
                  <a:ext cx="1947" cy="5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600" b="1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PIN diode</a:t>
                  </a:r>
                  <a:endParaRPr lang="en-US" altLang="zh-CN" sz="1600" b="1">
                    <a:solidFill>
                      <a:srgbClr val="0000FF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23" name="文本框 81"/>
                <p:cNvSpPr txBox="1"/>
                <p:nvPr/>
              </p:nvSpPr>
              <p:spPr>
                <a:xfrm>
                  <a:off x="2095" y="2590"/>
                  <a:ext cx="652" cy="582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r>
                    <a:rPr lang="en-US" altLang="zh-CN" b="1">
                      <a:solidFill>
                        <a:srgbClr val="002060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P</a:t>
                  </a:r>
                  <a:r>
                    <a:rPr lang="en-US" altLang="zh-CN" b="1" baseline="30000">
                      <a:solidFill>
                        <a:srgbClr val="002060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+</a:t>
                  </a:r>
                  <a:endParaRPr lang="en-US" altLang="zh-CN" b="1" baseline="30000">
                    <a:solidFill>
                      <a:srgbClr val="002060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endParaRPr>
                </a:p>
              </p:txBody>
            </p:sp>
            <p:sp>
              <p:nvSpPr>
                <p:cNvPr id="24" name="文本框 82"/>
                <p:cNvSpPr txBox="1"/>
                <p:nvPr/>
              </p:nvSpPr>
              <p:spPr>
                <a:xfrm>
                  <a:off x="6631" y="2590"/>
                  <a:ext cx="690" cy="582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r>
                    <a:rPr lang="en-US" altLang="zh-CN">
                      <a:latin typeface="Times New Roman" panose="02020603050405020304" charset="0"/>
                      <a:cs typeface="Times New Roman" panose="02020603050405020304" charset="0"/>
                    </a:rPr>
                    <a:t>N</a:t>
                  </a:r>
                  <a:r>
                    <a:rPr lang="en-US" altLang="zh-CN" baseline="30000">
                      <a:latin typeface="Times New Roman" panose="02020603050405020304" charset="0"/>
                      <a:cs typeface="Times New Roman" panose="02020603050405020304" charset="0"/>
                    </a:rPr>
                    <a:t>+</a:t>
                  </a:r>
                  <a:endParaRPr lang="en-US" altLang="zh-CN" baseline="300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1398" y="2700"/>
                  <a:ext cx="240" cy="360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12" name="直接箭头连接符 11"/>
              <p:cNvCxnSpPr/>
              <p:nvPr/>
            </p:nvCxnSpPr>
            <p:spPr>
              <a:xfrm>
                <a:off x="6239" y="3273"/>
                <a:ext cx="788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箭头连接符 12"/>
              <p:cNvCxnSpPr/>
              <p:nvPr/>
            </p:nvCxnSpPr>
            <p:spPr>
              <a:xfrm>
                <a:off x="4363" y="3273"/>
                <a:ext cx="788" cy="0"/>
              </a:xfrm>
              <a:prstGeom prst="straightConnector1">
                <a:avLst/>
              </a:prstGeom>
              <a:ln>
                <a:headEnd type="arrow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文本框 17"/>
              <p:cNvSpPr txBox="1"/>
              <p:nvPr/>
            </p:nvSpPr>
            <p:spPr>
              <a:xfrm>
                <a:off x="5383" y="3020"/>
                <a:ext cx="468" cy="5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d</a:t>
                </a:r>
                <a:endPara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</p:grpSp>
      </p:grpSp>
      <p:sp>
        <p:nvSpPr>
          <p:cNvPr id="2" name="TextBox 1"/>
          <p:cNvSpPr txBox="1"/>
          <p:nvPr/>
        </p:nvSpPr>
        <p:spPr>
          <a:xfrm>
            <a:off x="242678" y="2348880"/>
            <a:ext cx="8361770" cy="4061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常用的</a:t>
            </a:r>
            <a:r>
              <a:rPr lang="en-US" altLang="zh-CN" sz="20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PIN</a:t>
            </a:r>
            <a:r>
              <a:rPr lang="zh-CN" altLang="en-US" sz="20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管的结构为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P</a:t>
            </a:r>
            <a:r>
              <a:rPr lang="en-US" altLang="zh-CN" sz="2000" b="1" baseline="30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N</a:t>
            </a:r>
            <a:r>
              <a:rPr lang="en-US" altLang="zh-CN" sz="2000" b="1" baseline="30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N</a:t>
            </a:r>
            <a:r>
              <a:rPr lang="en-US" altLang="zh-CN" sz="2000" b="1" baseline="30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altLang="en-US" sz="20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000" b="1" baseline="300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N</a:t>
            </a:r>
            <a:r>
              <a:rPr lang="en-US" altLang="zh-CN" sz="2000" b="1" baseline="30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0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层的作用</a:t>
            </a:r>
            <a:endParaRPr lang="en-US" altLang="zh-CN" sz="2000" b="1" baseline="300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791845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提高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耐压；</a:t>
            </a:r>
            <a:endParaRPr lang="zh-CN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N</a:t>
            </a:r>
            <a:r>
              <a:rPr lang="en-US" altLang="zh-CN" sz="2000" b="1" baseline="30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altLang="en-US" sz="20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层的作用</a:t>
            </a:r>
            <a:endParaRPr lang="en-US" altLang="zh-CN" sz="2000" b="1" baseline="300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791845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低掺杂的半导体与金属电极之间是整流接触或肖特基接触，而非欧姆接触，这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不利于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电流的流入和流出；</a:t>
            </a:r>
            <a:endParaRPr lang="en-US" altLang="zh-CN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相比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P</a:t>
            </a:r>
            <a:r>
              <a:rPr lang="en-US" altLang="zh-CN" sz="2000" b="1" baseline="30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P </a:t>
            </a:r>
            <a:r>
              <a:rPr lang="en-US" altLang="zh-CN" sz="2000" b="1" baseline="30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N</a:t>
            </a:r>
            <a:r>
              <a:rPr lang="en-US" altLang="zh-CN" sz="2000" b="1" baseline="30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altLang="en-US" sz="20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型</a:t>
            </a:r>
            <a:r>
              <a:rPr lang="en-US" altLang="zh-CN" sz="20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PIN</a:t>
            </a:r>
            <a:r>
              <a:rPr lang="zh-CN" altLang="en-US" sz="20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二极管，其优势为：</a:t>
            </a:r>
            <a:endParaRPr lang="en-US" altLang="zh-CN" sz="2000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791845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工艺上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更容易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实现（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中子嬗变工艺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）；</a:t>
            </a:r>
            <a:endParaRPr lang="en-US" altLang="zh-CN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791845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对于给定的工作电压要求，器件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更薄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zh-CN" altLang="en-US" sz="200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H="1">
            <a:off x="2032524" y="1231682"/>
            <a:ext cx="0" cy="68400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H="1">
            <a:off x="2499234" y="1226752"/>
            <a:ext cx="0" cy="68400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flipH="1">
            <a:off x="3934763" y="1226206"/>
            <a:ext cx="0" cy="68400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H="1">
            <a:off x="4119361" y="1221276"/>
            <a:ext cx="0" cy="68400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2035096" y="1416467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C00000"/>
                </a:solidFill>
                <a:latin typeface="宋体" panose="02010600030101010101" pitchFamily="2" charset="-122"/>
              </a:rPr>
              <a:t>①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3814767" y="141296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C00000"/>
                </a:solidFill>
                <a:latin typeface="宋体" panose="02010600030101010101" pitchFamily="2" charset="-122"/>
              </a:rPr>
              <a:t>②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289059" y="1416467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C00000"/>
                </a:solidFill>
                <a:latin typeface="宋体" panose="02010600030101010101" pitchFamily="2" charset="-122"/>
              </a:rPr>
              <a:t>③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091843" y="542932"/>
            <a:ext cx="2979313" cy="2076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P</a:t>
            </a:r>
            <a:r>
              <a:rPr lang="en-US" altLang="zh-CN" b="1" baseline="300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en-US" altLang="zh-CN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N</a:t>
            </a:r>
            <a:r>
              <a:rPr lang="en-US" altLang="zh-CN" b="1" baseline="300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结</a:t>
            </a:r>
            <a:endParaRPr lang="en-US" altLang="zh-CN" b="1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N</a:t>
            </a:r>
            <a:r>
              <a:rPr lang="en-US" altLang="zh-CN" b="1" baseline="300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en-US" altLang="zh-CN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N</a:t>
            </a:r>
            <a:r>
              <a:rPr lang="en-US" altLang="zh-CN" b="1" baseline="300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结</a:t>
            </a:r>
            <a:endParaRPr lang="zh-CN" altLang="en-US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：电子和空穴复合区域</a:t>
            </a:r>
            <a:endParaRPr lang="en-US" altLang="zh-CN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539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正偏时，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③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区中存储有大量自由电荷！</a:t>
            </a:r>
            <a:endParaRPr lang="en-US" altLang="zh-CN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1460" y="-98425"/>
            <a:ext cx="672084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>
              <a:lnSpc>
                <a:spcPct val="200000"/>
              </a:lnSpc>
              <a:buClrTx/>
              <a:buSzTx/>
              <a:buFontTx/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 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Lab 4</a:t>
            </a:r>
            <a:r>
              <a:rPr 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Simulation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of the </a:t>
            </a:r>
            <a:r>
              <a:rPr 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PIN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diode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443980" y="548640"/>
            <a:ext cx="2367915" cy="175323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Doping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：</a:t>
            </a:r>
            <a:endParaRPr lang="zh-CN" altLang="en-US" b="1" dirty="0">
              <a:solidFill>
                <a:srgbClr val="C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</a:pPr>
            <a:r>
              <a:rPr lang="en-US" altLang="zh-CN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P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：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×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10</a:t>
            </a:r>
            <a:r>
              <a:rPr lang="en-US" altLang="zh-CN" baseline="30000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18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原子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/cm</a:t>
            </a:r>
            <a:r>
              <a:rPr lang="en-US" altLang="zh-CN" baseline="30000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3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；</a:t>
            </a:r>
            <a:endParaRPr lang="zh-CN" altLang="en-US" dirty="0">
              <a:solidFill>
                <a:srgbClr val="C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 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：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5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×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10</a:t>
            </a:r>
            <a:r>
              <a:rPr lang="en-US" altLang="zh-CN" baseline="30000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10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原子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/cm</a:t>
            </a:r>
            <a:r>
              <a:rPr lang="en-US" altLang="zh-CN" baseline="30000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3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；</a:t>
            </a:r>
            <a:endParaRPr lang="zh-CN" altLang="en-US" dirty="0">
              <a:solidFill>
                <a:srgbClr val="C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N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：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1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×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10</a:t>
            </a:r>
            <a:r>
              <a:rPr lang="en-US" altLang="zh-CN" baseline="30000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18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原子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/cm</a:t>
            </a:r>
            <a:r>
              <a:rPr lang="en-US" altLang="zh-CN" baseline="30000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3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；</a:t>
            </a:r>
            <a:endParaRPr lang="zh-CN" altLang="en-US" dirty="0">
              <a:solidFill>
                <a:srgbClr val="C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02235" y="1052830"/>
            <a:ext cx="6129020" cy="1175385"/>
            <a:chOff x="176" y="1636"/>
            <a:chExt cx="9652" cy="1851"/>
          </a:xfrm>
        </p:grpSpPr>
        <p:grpSp>
          <p:nvGrpSpPr>
            <p:cNvPr id="17" name="组合 16"/>
            <p:cNvGrpSpPr/>
            <p:nvPr/>
          </p:nvGrpSpPr>
          <p:grpSpPr>
            <a:xfrm>
              <a:off x="176" y="1636"/>
              <a:ext cx="9653" cy="1112"/>
              <a:chOff x="176" y="1636"/>
              <a:chExt cx="9653" cy="1112"/>
            </a:xfrm>
          </p:grpSpPr>
          <p:sp>
            <p:nvSpPr>
              <p:cNvPr id="11" name="文本框 10"/>
              <p:cNvSpPr txBox="1"/>
              <p:nvPr/>
            </p:nvSpPr>
            <p:spPr>
              <a:xfrm>
                <a:off x="176" y="1927"/>
                <a:ext cx="1823" cy="43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zh-CN" sz="1200" b="1">
                    <a:solidFill>
                      <a:srgbClr val="00206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E</a:t>
                </a:r>
                <a:r>
                  <a:rPr lang="zh-CN" altLang="en-US" sz="1200" b="1">
                    <a:solidFill>
                      <a:srgbClr val="00206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lectrode</a:t>
                </a:r>
                <a:r>
                  <a:rPr lang="en-US" altLang="zh-CN" sz="1200" b="1">
                    <a:solidFill>
                      <a:srgbClr val="00206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1</a:t>
                </a:r>
                <a:r>
                  <a:rPr lang="zh-CN" altLang="en-US" sz="1200" b="1">
                    <a:solidFill>
                      <a:srgbClr val="00206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 </a:t>
                </a:r>
                <a:endParaRPr lang="zh-CN" altLang="en-US" sz="1200" b="1">
                  <a:solidFill>
                    <a:srgbClr val="00206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8025" y="1886"/>
                <a:ext cx="1805" cy="53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zh-CN" sz="1200" b="1">
                    <a:solidFill>
                      <a:srgbClr val="00206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E</a:t>
                </a:r>
                <a:r>
                  <a:rPr lang="zh-CN" altLang="en-US" sz="1200" b="1">
                    <a:solidFill>
                      <a:srgbClr val="00206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lectrode</a:t>
                </a:r>
                <a:r>
                  <a:rPr lang="en-US" altLang="zh-CN" sz="1200" b="1">
                    <a:solidFill>
                      <a:srgbClr val="00206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2</a:t>
                </a:r>
                <a:r>
                  <a:rPr lang="zh-CN" altLang="en-US" sz="1600" b="1">
                    <a:solidFill>
                      <a:srgbClr val="00206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 </a:t>
                </a:r>
                <a:endParaRPr lang="zh-CN" altLang="en-US" sz="1600" b="1">
                  <a:solidFill>
                    <a:srgbClr val="00206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1939" y="1636"/>
                <a:ext cx="1508" cy="1077"/>
              </a:xfrm>
              <a:prstGeom prst="rect">
                <a:avLst/>
              </a:prstGeom>
              <a:solidFill>
                <a:srgbClr val="9BBB59">
                  <a:lumMod val="60000"/>
                  <a:lumOff val="40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" name="矩形 75"/>
              <p:cNvSpPr/>
              <p:nvPr/>
            </p:nvSpPr>
            <p:spPr>
              <a:xfrm>
                <a:off x="6411" y="1636"/>
                <a:ext cx="1400" cy="1077"/>
              </a:xfrm>
              <a:prstGeom prst="rect">
                <a:avLst/>
              </a:prstGeom>
              <a:solidFill>
                <a:srgbClr val="F79646">
                  <a:lumMod val="40000"/>
                  <a:lumOff val="60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矩形 76"/>
              <p:cNvSpPr/>
              <p:nvPr/>
            </p:nvSpPr>
            <p:spPr>
              <a:xfrm>
                <a:off x="1968" y="1636"/>
                <a:ext cx="5843" cy="1077"/>
              </a:xfrm>
              <a:prstGeom prst="rect">
                <a:avLst/>
              </a:prstGeom>
              <a:noFill/>
              <a:ln w="25400" cap="flat" cmpd="sng" algn="ctr">
                <a:solidFill>
                  <a:srgbClr val="4F81BD">
                    <a:shade val="5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矩形 77"/>
              <p:cNvSpPr/>
              <p:nvPr/>
            </p:nvSpPr>
            <p:spPr>
              <a:xfrm>
                <a:off x="3473" y="1636"/>
                <a:ext cx="2924" cy="1077"/>
              </a:xfrm>
              <a:prstGeom prst="rect">
                <a:avLst/>
              </a:prstGeom>
              <a:solidFill>
                <a:srgbClr val="9BBB59">
                  <a:lumMod val="60000"/>
                  <a:lumOff val="40000"/>
                  <a:alpha val="23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>
                    <a:solidFill>
                      <a:srgbClr val="FF000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  <a:sym typeface="+mn-ea"/>
                  </a:rPr>
                  <a:t>I</a:t>
                </a:r>
                <a:endParaRPr lang="zh-CN" altLang="en-US" sz="1200" b="1">
                  <a:solidFill>
                    <a:srgbClr val="FF0000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79" name="矩形 78"/>
              <p:cNvSpPr/>
              <p:nvPr/>
            </p:nvSpPr>
            <p:spPr>
              <a:xfrm>
                <a:off x="7823" y="1996"/>
                <a:ext cx="240" cy="360"/>
              </a:xfrm>
              <a:prstGeom prst="rect">
                <a:avLst/>
              </a:prstGeom>
              <a:solidFill>
                <a:sysClr val="windowText" lastClr="00000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" name="文本框 81"/>
              <p:cNvSpPr txBox="1"/>
              <p:nvPr/>
            </p:nvSpPr>
            <p:spPr>
              <a:xfrm>
                <a:off x="2419" y="1886"/>
                <a:ext cx="508" cy="862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altLang="zh-CN" b="1">
                    <a:solidFill>
                      <a:srgbClr val="002060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P</a:t>
                </a:r>
                <a:endParaRPr lang="en-US" altLang="zh-CN" b="1" baseline="30000">
                  <a:solidFill>
                    <a:srgbClr val="00206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  <a:p>
                <a:endParaRPr lang="en-US" altLang="zh-CN" b="1" baseline="30000">
                  <a:solidFill>
                    <a:srgbClr val="00206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83" name="文本框 82"/>
              <p:cNvSpPr txBox="1"/>
              <p:nvPr/>
            </p:nvSpPr>
            <p:spPr>
              <a:xfrm>
                <a:off x="6955" y="1886"/>
                <a:ext cx="548" cy="5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N</a:t>
                </a:r>
                <a:endParaRPr lang="en-US" altLang="zh-CN" baseline="30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1722" y="1996"/>
                <a:ext cx="240" cy="360"/>
              </a:xfrm>
              <a:prstGeom prst="rect">
                <a:avLst/>
              </a:prstGeom>
              <a:solidFill>
                <a:sysClr val="windowText" lastClr="00000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0" name="直接连接符 9"/>
            <p:cNvCxnSpPr/>
            <p:nvPr/>
          </p:nvCxnSpPr>
          <p:spPr>
            <a:xfrm>
              <a:off x="3451" y="2823"/>
              <a:ext cx="7" cy="6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6411" y="2823"/>
              <a:ext cx="7" cy="6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/>
            <p:nvPr/>
          </p:nvCxnSpPr>
          <p:spPr>
            <a:xfrm>
              <a:off x="5448" y="3160"/>
              <a:ext cx="788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/>
            <p:nvPr/>
          </p:nvCxnSpPr>
          <p:spPr>
            <a:xfrm>
              <a:off x="3572" y="3160"/>
              <a:ext cx="788" cy="0"/>
            </a:xfrm>
            <a:prstGeom prst="straightConnector1">
              <a:avLst/>
            </a:prstGeom>
            <a:ln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/>
            <p:cNvSpPr txBox="1"/>
            <p:nvPr/>
          </p:nvSpPr>
          <p:spPr>
            <a:xfrm>
              <a:off x="4592" y="2907"/>
              <a:ext cx="468" cy="58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d</a:t>
              </a:r>
              <a:endPara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14502" y="2585720"/>
            <a:ext cx="8721993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Requirements: </a:t>
            </a:r>
            <a:r>
              <a:rPr lang="zh-CN" altLang="en-US" sz="20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Simulate the reverse breakdown voltage of the PIN diode when d=0, 0.2, and 0.</a:t>
            </a:r>
            <a:r>
              <a:rPr lang="en-US" altLang="zh-CN" sz="20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sz="20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 micrometers, and </a:t>
            </a:r>
            <a:r>
              <a:rPr lang="en-US" altLang="zh-CN" sz="20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plot the relationship between the </a:t>
            </a:r>
            <a:r>
              <a:rPr lang="zh-CN" altLang="en-US" sz="20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breakdown voltage of the PIN diode </a:t>
            </a:r>
            <a:r>
              <a:rPr lang="en-US" altLang="zh-CN" sz="20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and d</a:t>
            </a:r>
            <a:r>
              <a:rPr lang="zh-CN" altLang="en-US" sz="20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.</a:t>
            </a:r>
            <a:endParaRPr lang="zh-CN" altLang="en-US" sz="2000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23215" y="765175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参考代码</a:t>
            </a:r>
            <a:endParaRPr lang="zh-CN" altLang="en-US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467360" y="1268730"/>
            <a:ext cx="7362190" cy="25844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en-US" b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#</a:t>
            </a:r>
            <a:r>
              <a:rPr lang="zh-CN" b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定义区域</a:t>
            </a:r>
            <a:endParaRPr lang="en-US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/>
            <a:r>
              <a:rPr lang="en-US" b="0">
                <a:latin typeface="Times New Roman" panose="02020603050405020304" charset="0"/>
                <a:ea typeface="宋体" panose="02010600030101010101" pitchFamily="2" charset="-122"/>
              </a:rPr>
              <a:t>region num = 1 y.min = 0    y.max = 0.9 material = silicon</a:t>
            </a:r>
            <a:endParaRPr lang="en-US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/>
            <a:r>
              <a:rPr lang="en-US" b="0">
                <a:latin typeface="Times New Roman" panose="02020603050405020304" charset="0"/>
                <a:ea typeface="宋体" panose="02010600030101010101" pitchFamily="2" charset="-122"/>
              </a:rPr>
              <a:t>region num = 2 y.min = 0.9 y.max = 2.9 material = silicon</a:t>
            </a:r>
            <a:endParaRPr lang="en-US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/>
            <a:r>
              <a:rPr lang="en-US" b="0">
                <a:latin typeface="Times New Roman" panose="02020603050405020304" charset="0"/>
                <a:ea typeface="宋体" panose="02010600030101010101" pitchFamily="2" charset="-122"/>
              </a:rPr>
              <a:t>region num = 3 y.min = 2.9 y.max = 3.8 material = silicon</a:t>
            </a:r>
            <a:endParaRPr lang="en-US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/>
            <a:endParaRPr lang="zh-CN" b="0">
              <a:solidFill>
                <a:srgbClr val="0000FF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/>
            <a:r>
              <a:rPr lang="zh-CN" b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#定义掺杂分布</a:t>
            </a:r>
            <a:endParaRPr lang="zh-CN" b="0">
              <a:solidFill>
                <a:srgbClr val="0000FF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/>
            <a:r>
              <a:rPr lang="en-US" altLang="en-US" b="0">
                <a:latin typeface="Times New Roman" panose="02020603050405020304" charset="0"/>
                <a:ea typeface="宋体" panose="02010600030101010101" pitchFamily="2" charset="-122"/>
              </a:rPr>
              <a:t>doping region = 1 p.type uniform conc = 1e18</a:t>
            </a:r>
            <a:endParaRPr lang="en-US" altLang="en-US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/>
            <a:r>
              <a:rPr lang="en-US" altLang="en-US" b="0">
                <a:latin typeface="Times New Roman" panose="02020603050405020304" charset="0"/>
                <a:ea typeface="宋体" panose="02010600030101010101" pitchFamily="2" charset="-122"/>
              </a:rPr>
              <a:t>doping region = 2 n.type uniform conc = 5e10</a:t>
            </a:r>
            <a:endParaRPr lang="en-US" altLang="en-US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/>
            <a:r>
              <a:rPr lang="en-US" altLang="en-US" b="0">
                <a:latin typeface="Times New Roman" panose="02020603050405020304" charset="0"/>
                <a:ea typeface="宋体" panose="02010600030101010101" pitchFamily="2" charset="-122"/>
              </a:rPr>
              <a:t>doping region = 3 n.type uniform conc = 1e18</a:t>
            </a:r>
            <a:endParaRPr lang="en-US" altLang="en-US" b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3215" y="4220845"/>
            <a:ext cx="8251825" cy="163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fontAlgn="auto">
              <a:lnSpc>
                <a:spcPts val="2400"/>
              </a:lnSpc>
              <a:buFont typeface="Wingdings" panose="05000000000000000000" charset="0"/>
              <a:buChar char="l"/>
            </a:pPr>
            <a:r>
              <a:rPr lang="zh-CN" altLang="en-US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注意：</a:t>
            </a:r>
            <a:endParaRPr lang="zh-CN" altLang="en-US" sz="16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lnSpc>
                <a:spcPts val="2400"/>
              </a:lnSpc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1. method newton trap</a:t>
            </a:r>
            <a:r>
              <a:rPr lang="en-US" altLang="zh-CN" sz="1600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 maxtrap=10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climit=1e-4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（适当调整</a:t>
            </a:r>
            <a:r>
              <a:rPr lang="en-US" altLang="zh-CN" sz="1600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maxtrap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的值）；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indent="0" fontAlgn="auto">
              <a:lnSpc>
                <a:spcPts val="2400"/>
              </a:lnSpc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2.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适当调整结区的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mash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疏密程度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indent="0" fontAlgn="auto">
              <a:lnSpc>
                <a:spcPts val="2400"/>
              </a:lnSpc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3.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在仿真击穿电压的时候，先大致的选一个范围大的负电压范围，在仿真截断处可以大致判断击穿电压的位置，然后在该处附近的电压的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step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调尽可能的小一些。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195830" y="2277110"/>
            <a:ext cx="477393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7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欢迎交流！</a:t>
            </a:r>
            <a:endParaRPr lang="zh-CN" altLang="en-US" sz="72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6016f03f-dce4-4da3-8b1b-f568740d794b"/>
  <p:tag name="COMMONDATA" val="eyJoZGlkIjoiZWIyNzc2MjMzNzRkNWUyZGE3ZDc5M2U5NWFlODgxYWQ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平衡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平衡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平衡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0</TotalTime>
  <Words>1093</Words>
  <Application>WPS 演示</Application>
  <PresentationFormat>全屏显示(4:3)</PresentationFormat>
  <Paragraphs>90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Arial</vt:lpstr>
      <vt:lpstr>宋体</vt:lpstr>
      <vt:lpstr>Wingdings</vt:lpstr>
      <vt:lpstr>Wingdings 2</vt:lpstr>
      <vt:lpstr>Wingdings</vt:lpstr>
      <vt:lpstr>微软雅黑</vt:lpstr>
      <vt:lpstr>Times New Roman</vt:lpstr>
      <vt:lpstr>Perpetua</vt:lpstr>
      <vt:lpstr>Arial Unicode MS</vt:lpstr>
      <vt:lpstr>Franklin Gothic Book</vt:lpstr>
      <vt:lpstr>幼圆</vt:lpstr>
      <vt:lpstr>Calibri</vt:lpstr>
      <vt:lpstr>平衡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dell</dc:creator>
  <cp:lastModifiedBy>徐琳琳</cp:lastModifiedBy>
  <cp:revision>1275</cp:revision>
  <dcterms:created xsi:type="dcterms:W3CDTF">2020-03-29T10:36:00Z</dcterms:created>
  <dcterms:modified xsi:type="dcterms:W3CDTF">2025-11-04T09:17:03Z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319B22EE123B473EB5A32AF43C1586E2</vt:lpwstr>
  </property>
  <property fmtid="{D5CDD505-2E9C-101B-9397-08002B2CF9AE}" pid="3" name="KSOProductBuildVer">
    <vt:lpwstr>2052-12.1.0.23542</vt:lpwstr>
  </property>
</Properties>
</file>