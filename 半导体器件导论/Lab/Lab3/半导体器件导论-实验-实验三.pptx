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5" r:id="rId3"/>
    <p:sldId id="323" r:id="rId4"/>
    <p:sldId id="403" r:id="rId5"/>
    <p:sldId id="570" r:id="rId6"/>
    <p:sldId id="549" r:id="rId7"/>
    <p:sldId id="556" r:id="rId8"/>
    <p:sldId id="574" r:id="rId10"/>
    <p:sldId id="537" r:id="rId11"/>
    <p:sldId id="571" r:id="rId12"/>
    <p:sldId id="591" r:id="rId13"/>
    <p:sldId id="606" r:id="rId14"/>
    <p:sldId id="592" r:id="rId15"/>
    <p:sldId id="593" r:id="rId16"/>
    <p:sldId id="594" r:id="rId17"/>
    <p:sldId id="595" r:id="rId18"/>
    <p:sldId id="596" r:id="rId19"/>
    <p:sldId id="597" r:id="rId20"/>
    <p:sldId id="598" r:id="rId21"/>
    <p:sldId id="599" r:id="rId22"/>
    <p:sldId id="600" r:id="rId23"/>
    <p:sldId id="601" r:id="rId24"/>
    <p:sldId id="608" r:id="rId25"/>
    <p:sldId id="481" r:id="rId26"/>
    <p:sldId id="576" r:id="rId27"/>
    <p:sldId id="609" r:id="rId28"/>
    <p:sldId id="610" r:id="rId29"/>
    <p:sldId id="343" r:id="rId30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9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16AE"/>
    <a:srgbClr val="0000FF"/>
    <a:srgbClr val="C52ABC"/>
    <a:srgbClr val="1D41D5"/>
    <a:srgbClr val="D869EC"/>
    <a:srgbClr val="540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296" y="-68"/>
      </p:cViewPr>
      <p:guideLst>
        <p:guide orient="horz" pos="2159"/>
        <p:guide pos="29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5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705" y="1842135"/>
            <a:ext cx="87350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半导体器件导论-实验</a:t>
            </a:r>
            <a:r>
              <a:rPr 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endParaRPr 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6785" y="3693795"/>
            <a:ext cx="6570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主讲人：徐琳琳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邮</a:t>
            </a: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箱：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xulinalec@163.com</a:t>
            </a:r>
            <a:endParaRPr lang="zh-CN" altLang="en-US" sz="3200" b="1" u="sng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94335" y="6093460"/>
            <a:ext cx="8311515" cy="0"/>
          </a:xfrm>
          <a:prstGeom prst="line">
            <a:avLst/>
          </a:prstGeom>
          <a:ln w="98425">
            <a:gradFill>
              <a:gsLst>
                <a:gs pos="41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10 南科大与电子系（上下橙蓝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332740"/>
            <a:ext cx="2828290" cy="873760"/>
          </a:xfrm>
          <a:prstGeom prst="rect">
            <a:avLst/>
          </a:prstGeom>
          <a:solidFill>
            <a:schemeClr val="bg1"/>
          </a:solidFill>
          <a:effectLst>
            <a:glow rad="330200">
              <a:srgbClr val="FF000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051473" y="598805"/>
            <a:ext cx="4876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5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31595" y="2348865"/>
            <a:ext cx="69234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Tx/>
              <a:buAutoNum type="arabicPeriod"/>
            </a:pP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PN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结介绍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fontAlgn="auto">
              <a:lnSpc>
                <a:spcPct val="150000"/>
              </a:lnSpc>
              <a:buFontTx/>
              <a:buAutoNum type="arabicPeriod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PN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结器件仿真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fontAlgn="auto">
              <a:lnSpc>
                <a:spcPct val="150000"/>
              </a:lnSpc>
              <a:buFontTx/>
              <a:buAutoNum type="arabicPeriod"/>
            </a:pP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实验三：</a:t>
            </a: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PN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结工艺仿真（</a:t>
            </a: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学时）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23645" y="72390"/>
            <a:ext cx="6696710" cy="360045"/>
          </a:xfrm>
          <a:prstGeom prst="roundRect">
            <a:avLst/>
          </a:prstGeom>
          <a:solidFill>
            <a:schemeClr val="accent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23440" y="1988820"/>
            <a:ext cx="4653915" cy="2183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PN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介绍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endParaRPr lang="zh-CN" altLang="en-US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07950" y="-215265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05" y="568960"/>
            <a:ext cx="6924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本证半导体、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N型半导体和P型半导体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99610" y="1410335"/>
            <a:ext cx="4456430" cy="2050415"/>
            <a:chOff x="3470" y="2334"/>
            <a:chExt cx="7018" cy="322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746" y="2334"/>
              <a:ext cx="3433" cy="3229"/>
            </a:xfrm>
            <a:prstGeom prst="round2Diag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3569" y="2895"/>
              <a:ext cx="3098" cy="21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p"/>
              </a:pPr>
              <a:r>
                <a:rPr lang="en-US" altLang="zh-CN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型半导体：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539750" indent="-285750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多子：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电子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539750" indent="-285750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少子：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空穴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70" y="2339"/>
              <a:ext cx="7018" cy="3175"/>
            </a:xfrm>
            <a:prstGeom prst="rect">
              <a:avLst/>
            </a:prstGeom>
            <a:solidFill>
              <a:schemeClr val="accent1">
                <a:alpha val="11000"/>
              </a:schemeClr>
            </a:solidFill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94970" y="3585210"/>
            <a:ext cx="8323580" cy="3244850"/>
            <a:chOff x="-621" y="5646"/>
            <a:chExt cx="13108" cy="5110"/>
          </a:xfrm>
          <a:solidFill>
            <a:schemeClr val="accent1">
              <a:alpha val="11000"/>
            </a:schemeClr>
          </a:solidFill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rcRect t="1993"/>
            <a:stretch>
              <a:fillRect/>
            </a:stretch>
          </p:blipFill>
          <p:spPr>
            <a:xfrm>
              <a:off x="4226" y="5740"/>
              <a:ext cx="8203" cy="5016"/>
            </a:xfrm>
            <a:prstGeom prst="rect">
              <a:avLst/>
            </a:prstGeom>
            <a:grpFill/>
          </p:spPr>
        </p:pic>
        <p:sp>
          <p:nvSpPr>
            <p:cNvPr id="7" name="文本框 6"/>
            <p:cNvSpPr txBox="1"/>
            <p:nvPr/>
          </p:nvSpPr>
          <p:spPr>
            <a:xfrm>
              <a:off x="59" y="6875"/>
              <a:ext cx="3108" cy="2107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p"/>
              </a:pPr>
              <a:r>
                <a:rPr lang="en-US" altLang="zh-CN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型半导体：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539750" indent="-285750" algn="l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多子：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空穴</a:t>
              </a:r>
              <a:endParaRPr lang="zh-CN" altLang="en-US"/>
            </a:p>
            <a:p>
              <a:pPr marL="539750" indent="-285750" algn="l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少子：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电子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-621" y="5646"/>
              <a:ext cx="13108" cy="4891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75260" y="1410335"/>
            <a:ext cx="4100830" cy="2016125"/>
            <a:chOff x="615" y="2334"/>
            <a:chExt cx="6458" cy="317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1" y="2394"/>
              <a:ext cx="3197" cy="2997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736" y="3246"/>
              <a:ext cx="2622" cy="13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p"/>
              </a:pP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本征半导体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indent="0" algn="ctr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（如：硅</a:t>
              </a:r>
              <a:r>
                <a:rPr lang="en-US" altLang="zh-CN" sz="14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Si</a:t>
              </a:r>
              <a:r>
                <a:rPr lang="zh-CN" altLang="en-US" sz="14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endPara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15" y="2334"/>
              <a:ext cx="6458" cy="31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347720" y="3046730"/>
            <a:ext cx="4572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（如掺杂磷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3810" y="5638800"/>
            <a:ext cx="353949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（如掺杂硼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71755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8930" y="758190"/>
            <a:ext cx="8159115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结的形成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975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通过在一块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本证半导体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，分别形成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（如掺杂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P型半导体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（如掺杂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N型半导体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P型半导体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在交界处产生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冶金学接触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原子级接触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多子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扩散运动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少子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漂移运动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达到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动态平衡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时，在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N型半导体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P型半导体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交界面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处产生的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空间电荷区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或耗尽区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）即为</a:t>
            </a: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347720" y="5661660"/>
            <a:ext cx="2320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结示意图（对称结）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07540" y="3429000"/>
            <a:ext cx="5297805" cy="22447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360" y="6165215"/>
            <a:ext cx="7962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结制备工艺：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离子注入法、扩散法、外延生长法、合金法等。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950" y="-170180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365" y="621030"/>
            <a:ext cx="7916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结的电场电势分布</a:t>
            </a:r>
            <a:r>
              <a:rPr lang="zh-CN" altLang="en-US"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示例：均</a:t>
            </a:r>
            <a:r>
              <a:rPr lang="zh-CN" altLang="en-US" sz="1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匀掺杂对称PN结、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突变结近似。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7410" y="2273935"/>
            <a:ext cx="152400" cy="228600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9210" y="2230120"/>
            <a:ext cx="11576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zh-CN" altLang="en-US" sz="1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lectrode  </a:t>
            </a:r>
            <a:endParaRPr lang="zh-CN" altLang="en-US" sz="12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69815" y="2204085"/>
            <a:ext cx="13201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zh-CN" altLang="en-US" sz="1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lectrode</a:t>
            </a: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1843405" y="3270250"/>
            <a:ext cx="2232660" cy="0"/>
          </a:xfrm>
          <a:prstGeom prst="line">
            <a:avLst/>
          </a:prstGeom>
          <a:ln>
            <a:solidFill>
              <a:srgbClr val="5407A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H="1" flipV="1">
            <a:off x="2922270" y="2837180"/>
            <a:ext cx="0" cy="1141730"/>
          </a:xfrm>
          <a:prstGeom prst="straightConnector1">
            <a:avLst/>
          </a:prstGeom>
          <a:ln>
            <a:solidFill>
              <a:srgbClr val="5407A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flipH="1">
            <a:off x="1991360" y="1324610"/>
            <a:ext cx="5715" cy="53640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3861435" y="1324610"/>
            <a:ext cx="5080" cy="53640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2000885" y="3274060"/>
            <a:ext cx="936000" cy="612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2920365" y="3274060"/>
            <a:ext cx="936000" cy="612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05205" y="2045335"/>
            <a:ext cx="1677670" cy="683895"/>
          </a:xfrm>
          <a:prstGeom prst="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3176270" y="2045335"/>
            <a:ext cx="1557655" cy="683895"/>
          </a:xfrm>
          <a:prstGeom prst="rect">
            <a:avLst/>
          </a:prstGeom>
          <a:solidFill>
            <a:srgbClr val="F7964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23620" y="2045335"/>
            <a:ext cx="3710305" cy="683895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997075" y="2045335"/>
            <a:ext cx="1856740" cy="683895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4741545" y="2273935"/>
            <a:ext cx="152400" cy="228600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/>
          <p:cNvCxnSpPr/>
          <p:nvPr/>
        </p:nvCxnSpPr>
        <p:spPr>
          <a:xfrm flipH="1">
            <a:off x="2959735" y="1731645"/>
            <a:ext cx="0" cy="304165"/>
          </a:xfrm>
          <a:prstGeom prst="line">
            <a:avLst/>
          </a:prstGeom>
          <a:noFill/>
          <a:ln w="22225" cap="flat" cmpd="sng" algn="ctr">
            <a:solidFill>
              <a:srgbClr val="C00000"/>
            </a:solidFill>
            <a:prstDash val="solid"/>
            <a:tailEnd type="arrow"/>
          </a:ln>
          <a:effectLst/>
        </p:spPr>
      </p:cxnSp>
      <p:sp>
        <p:nvSpPr>
          <p:cNvPr id="81" name="文本框 80"/>
          <p:cNvSpPr txBox="1"/>
          <p:nvPr/>
        </p:nvSpPr>
        <p:spPr>
          <a:xfrm>
            <a:off x="2174875" y="1355725"/>
            <a:ext cx="23564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PN junction</a:t>
            </a:r>
            <a:endParaRPr lang="en-US" altLang="zh-CN" sz="1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310005" y="2204085"/>
            <a:ext cx="3048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>
                <a:solidFill>
                  <a:srgbClr val="002060"/>
                </a:solidFill>
                <a:sym typeface="+mn-ea"/>
              </a:rPr>
              <a:t>P</a:t>
            </a:r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4190365" y="2204085"/>
            <a:ext cx="3302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/>
              <a:t>N</a:t>
            </a:r>
            <a:endParaRPr lang="en-US" altLang="zh-CN"/>
          </a:p>
        </p:txBody>
      </p:sp>
      <p:cxnSp>
        <p:nvCxnSpPr>
          <p:cNvPr id="84" name="直接连接符 83"/>
          <p:cNvCxnSpPr/>
          <p:nvPr/>
        </p:nvCxnSpPr>
        <p:spPr>
          <a:xfrm>
            <a:off x="2937510" y="2057400"/>
            <a:ext cx="0" cy="6838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/>
          <p:cNvGrpSpPr/>
          <p:nvPr/>
        </p:nvGrpSpPr>
        <p:grpSpPr>
          <a:xfrm>
            <a:off x="3073400" y="2017395"/>
            <a:ext cx="438785" cy="722630"/>
            <a:chOff x="10275" y="1817"/>
            <a:chExt cx="691" cy="1138"/>
          </a:xfrm>
        </p:grpSpPr>
        <p:sp>
          <p:nvSpPr>
            <p:cNvPr id="86" name="椭圆 85"/>
            <p:cNvSpPr/>
            <p:nvPr/>
          </p:nvSpPr>
          <p:spPr>
            <a:xfrm>
              <a:off x="10358" y="1963"/>
              <a:ext cx="283" cy="283"/>
            </a:xfrm>
            <a:prstGeom prst="ellipse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87" name="椭圆 86"/>
            <p:cNvSpPr/>
            <p:nvPr/>
          </p:nvSpPr>
          <p:spPr>
            <a:xfrm>
              <a:off x="10358" y="2563"/>
              <a:ext cx="283" cy="283"/>
            </a:xfrm>
            <a:prstGeom prst="ellipse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0280" y="1817"/>
              <a:ext cx="6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</a:rPr>
                <a:t>+</a:t>
              </a:r>
              <a:endParaRPr lang="en-US" altLang="zh-CN" sz="1600">
                <a:solidFill>
                  <a:schemeClr val="bg1"/>
                </a:solidFill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10275" y="2425"/>
              <a:ext cx="6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</a:rPr>
                <a:t>+</a:t>
              </a:r>
              <a:endParaRPr lang="en-US" altLang="zh-CN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2185670" y="2017395"/>
            <a:ext cx="339725" cy="750570"/>
            <a:chOff x="6406" y="6875"/>
            <a:chExt cx="535" cy="1182"/>
          </a:xfrm>
        </p:grpSpPr>
        <p:grpSp>
          <p:nvGrpSpPr>
            <p:cNvPr id="91" name="组合 90"/>
            <p:cNvGrpSpPr/>
            <p:nvPr/>
          </p:nvGrpSpPr>
          <p:grpSpPr>
            <a:xfrm>
              <a:off x="6501" y="7021"/>
              <a:ext cx="282" cy="882"/>
              <a:chOff x="8398" y="2056"/>
              <a:chExt cx="282" cy="882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8398" y="2056"/>
                <a:ext cx="283" cy="283"/>
              </a:xfrm>
              <a:prstGeom prst="ellipse">
                <a:avLst/>
              </a:prstGeom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98" y="2656"/>
                <a:ext cx="283" cy="283"/>
              </a:xfrm>
              <a:prstGeom prst="ellipse">
                <a:avLst/>
              </a:prstGeom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zh-CN"/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6411" y="6875"/>
              <a:ext cx="5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-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6406" y="7477"/>
              <a:ext cx="5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-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3395980" y="2018665"/>
            <a:ext cx="441325" cy="723265"/>
            <a:chOff x="10275" y="1817"/>
            <a:chExt cx="691" cy="1139"/>
          </a:xfrm>
        </p:grpSpPr>
        <p:sp>
          <p:nvSpPr>
            <p:cNvPr id="97" name="椭圆 96"/>
            <p:cNvSpPr/>
            <p:nvPr/>
          </p:nvSpPr>
          <p:spPr>
            <a:xfrm>
              <a:off x="10358" y="1963"/>
              <a:ext cx="283" cy="283"/>
            </a:xfrm>
            <a:prstGeom prst="ellipse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8" name="椭圆 97"/>
            <p:cNvSpPr/>
            <p:nvPr/>
          </p:nvSpPr>
          <p:spPr>
            <a:xfrm>
              <a:off x="10358" y="2563"/>
              <a:ext cx="283" cy="283"/>
            </a:xfrm>
            <a:prstGeom prst="ellipse">
              <a:avLst/>
            </a:pr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280" y="1817"/>
              <a:ext cx="6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</a:rPr>
                <a:t>+</a:t>
              </a:r>
              <a:endParaRPr lang="en-US" altLang="zh-CN" sz="1600">
                <a:solidFill>
                  <a:schemeClr val="bg1"/>
                </a:solidFill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0275" y="2425"/>
              <a:ext cx="6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</a:rPr>
                <a:t>+</a:t>
              </a:r>
              <a:endParaRPr lang="en-US" altLang="zh-CN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2543175" y="2017395"/>
            <a:ext cx="339725" cy="750570"/>
            <a:chOff x="6406" y="6875"/>
            <a:chExt cx="535" cy="1182"/>
          </a:xfrm>
        </p:grpSpPr>
        <p:grpSp>
          <p:nvGrpSpPr>
            <p:cNvPr id="102" name="组合 101"/>
            <p:cNvGrpSpPr/>
            <p:nvPr/>
          </p:nvGrpSpPr>
          <p:grpSpPr>
            <a:xfrm>
              <a:off x="6501" y="7021"/>
              <a:ext cx="282" cy="882"/>
              <a:chOff x="8398" y="2056"/>
              <a:chExt cx="282" cy="882"/>
            </a:xfrm>
          </p:grpSpPr>
          <p:sp>
            <p:nvSpPr>
              <p:cNvPr id="103" name="椭圆 102"/>
              <p:cNvSpPr/>
              <p:nvPr/>
            </p:nvSpPr>
            <p:spPr>
              <a:xfrm>
                <a:off x="8398" y="2056"/>
                <a:ext cx="283" cy="283"/>
              </a:xfrm>
              <a:prstGeom prst="ellipse">
                <a:avLst/>
              </a:prstGeom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8398" y="2656"/>
                <a:ext cx="283" cy="283"/>
              </a:xfrm>
              <a:prstGeom prst="ellipse">
                <a:avLst/>
              </a:prstGeom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zh-CN"/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6411" y="6875"/>
              <a:ext cx="5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-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6406" y="7477"/>
              <a:ext cx="5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-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sp>
        <p:nvSpPr>
          <p:cNvPr id="108" name="文本框 107"/>
          <p:cNvSpPr txBox="1"/>
          <p:nvPr/>
        </p:nvSpPr>
        <p:spPr>
          <a:xfrm>
            <a:off x="2967355" y="2770505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1955800" y="4482465"/>
            <a:ext cx="1946910" cy="625475"/>
          </a:xfrm>
          <a:custGeom>
            <a:avLst/>
            <a:gdLst>
              <a:gd name="connisteX0" fmla="*/ 0 w 1946910"/>
              <a:gd name="connsiteY0" fmla="*/ 625475 h 625475"/>
              <a:gd name="connisteX1" fmla="*/ 607695 w 1946910"/>
              <a:gd name="connsiteY1" fmla="*/ 518160 h 625475"/>
              <a:gd name="connisteX2" fmla="*/ 1250315 w 1946910"/>
              <a:gd name="connsiteY2" fmla="*/ 89535 h 625475"/>
              <a:gd name="connisteX3" fmla="*/ 1946910 w 1946910"/>
              <a:gd name="connsiteY3" fmla="*/ 0 h 6254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46910" h="625475">
                <a:moveTo>
                  <a:pt x="0" y="625475"/>
                </a:moveTo>
                <a:cubicBezTo>
                  <a:pt x="108585" y="612775"/>
                  <a:pt x="357505" y="625475"/>
                  <a:pt x="607695" y="518160"/>
                </a:cubicBezTo>
                <a:cubicBezTo>
                  <a:pt x="857885" y="410845"/>
                  <a:pt x="982345" y="193040"/>
                  <a:pt x="1250315" y="89535"/>
                </a:cubicBezTo>
                <a:cubicBezTo>
                  <a:pt x="1518285" y="-13970"/>
                  <a:pt x="1820545" y="9525"/>
                  <a:pt x="1946910" y="0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连接符 110"/>
          <p:cNvCxnSpPr/>
          <p:nvPr/>
        </p:nvCxnSpPr>
        <p:spPr>
          <a:xfrm>
            <a:off x="1843405" y="5140325"/>
            <a:ext cx="2232660" cy="0"/>
          </a:xfrm>
          <a:prstGeom prst="line">
            <a:avLst/>
          </a:prstGeom>
          <a:ln>
            <a:solidFill>
              <a:srgbClr val="5407A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H="1" flipV="1">
            <a:off x="2933700" y="4347845"/>
            <a:ext cx="0" cy="1141730"/>
          </a:xfrm>
          <a:prstGeom prst="straightConnector1">
            <a:avLst/>
          </a:prstGeom>
          <a:ln>
            <a:solidFill>
              <a:srgbClr val="5407A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2937510" y="3989070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ϕ</a:t>
            </a:r>
            <a:endParaRPr lang="en-US" altLang="zh-CN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27000" y="3339465"/>
            <a:ext cx="1355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电场分布</a:t>
            </a:r>
            <a:endParaRPr lang="zh-CN" altLang="en-US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右箭头 117"/>
          <p:cNvSpPr/>
          <p:nvPr/>
        </p:nvSpPr>
        <p:spPr>
          <a:xfrm>
            <a:off x="1483995" y="3409315"/>
            <a:ext cx="28829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框 118"/>
          <p:cNvSpPr txBox="1"/>
          <p:nvPr/>
        </p:nvSpPr>
        <p:spPr>
          <a:xfrm>
            <a:off x="301625" y="4645025"/>
            <a:ext cx="10280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电势分布</a:t>
            </a:r>
            <a:endParaRPr lang="zh-CN" altLang="en-US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右箭头 119"/>
          <p:cNvSpPr/>
          <p:nvPr/>
        </p:nvSpPr>
        <p:spPr>
          <a:xfrm>
            <a:off x="1482725" y="4690110"/>
            <a:ext cx="28829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4076065" y="3124835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076065" y="4996180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934845" y="2935605"/>
            <a:ext cx="8413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-x</a:t>
            </a:r>
            <a:r>
              <a:rPr lang="en-US" altLang="zh-CN" sz="1600" b="1" baseline="-250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</a:t>
            </a:r>
            <a:endParaRPr lang="zh-CN" altLang="en-US" sz="1600" b="1" baseline="-25000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484245" y="2954020"/>
            <a:ext cx="8413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-x</a:t>
            </a:r>
            <a:r>
              <a:rPr lang="en-US" altLang="zh-CN" sz="1600" b="1" baseline="-250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endParaRPr lang="zh-CN" altLang="en-US" sz="1600" b="1" baseline="-25000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255645" y="3052445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837180"/>
            <a:ext cx="3088640" cy="7137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25" y="3573145"/>
            <a:ext cx="2880360" cy="6445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44390" y="4474845"/>
            <a:ext cx="3301365" cy="660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825" y="5069205"/>
            <a:ext cx="4347210" cy="811530"/>
          </a:xfrm>
          <a:prstGeom prst="rect">
            <a:avLst/>
          </a:prstGeom>
        </p:spPr>
      </p:pic>
      <p:sp>
        <p:nvSpPr>
          <p:cNvPr id="3" name="左大括号 2"/>
          <p:cNvSpPr/>
          <p:nvPr/>
        </p:nvSpPr>
        <p:spPr>
          <a:xfrm>
            <a:off x="5287010" y="3141345"/>
            <a:ext cx="221615" cy="791845"/>
          </a:xfrm>
          <a:prstGeom prst="leftBrace">
            <a:avLst>
              <a:gd name="adj1" fmla="val 47971"/>
              <a:gd name="adj2" fmla="val 50000"/>
            </a:avLst>
          </a:prstGeom>
          <a:ln w="41275" cmpd="sng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左大括号 4"/>
          <p:cNvSpPr/>
          <p:nvPr/>
        </p:nvSpPr>
        <p:spPr>
          <a:xfrm>
            <a:off x="4460875" y="4780915"/>
            <a:ext cx="221615" cy="791845"/>
          </a:xfrm>
          <a:prstGeom prst="leftBrace">
            <a:avLst>
              <a:gd name="adj1" fmla="val 47971"/>
              <a:gd name="adj2" fmla="val 50000"/>
            </a:avLst>
          </a:prstGeom>
          <a:ln w="41275" cmpd="sng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flipV="1">
            <a:off x="1958975" y="5928995"/>
            <a:ext cx="1946910" cy="625475"/>
          </a:xfrm>
          <a:custGeom>
            <a:avLst/>
            <a:gdLst>
              <a:gd name="connisteX0" fmla="*/ 0 w 1946910"/>
              <a:gd name="connsiteY0" fmla="*/ 625475 h 625475"/>
              <a:gd name="connisteX1" fmla="*/ 607695 w 1946910"/>
              <a:gd name="connsiteY1" fmla="*/ 518160 h 625475"/>
              <a:gd name="connisteX2" fmla="*/ 1250315 w 1946910"/>
              <a:gd name="connsiteY2" fmla="*/ 89535 h 625475"/>
              <a:gd name="connisteX3" fmla="*/ 1946910 w 1946910"/>
              <a:gd name="connsiteY3" fmla="*/ 0 h 6254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46910" h="625475">
                <a:moveTo>
                  <a:pt x="0" y="625475"/>
                </a:moveTo>
                <a:cubicBezTo>
                  <a:pt x="108585" y="612775"/>
                  <a:pt x="357505" y="625475"/>
                  <a:pt x="607695" y="518160"/>
                </a:cubicBezTo>
                <a:cubicBezTo>
                  <a:pt x="857885" y="410845"/>
                  <a:pt x="982345" y="193040"/>
                  <a:pt x="1250315" y="89535"/>
                </a:cubicBezTo>
                <a:cubicBezTo>
                  <a:pt x="1518285" y="-13970"/>
                  <a:pt x="1820545" y="9525"/>
                  <a:pt x="1946910" y="0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1846580" y="5877560"/>
            <a:ext cx="2232660" cy="0"/>
          </a:xfrm>
          <a:prstGeom prst="line">
            <a:avLst/>
          </a:prstGeom>
          <a:ln>
            <a:solidFill>
              <a:srgbClr val="5407A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2936875" y="5589270"/>
            <a:ext cx="0" cy="1141730"/>
          </a:xfrm>
          <a:prstGeom prst="straightConnector1">
            <a:avLst/>
          </a:prstGeom>
          <a:ln>
            <a:solidFill>
              <a:srgbClr val="5407A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079240" y="6237605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87675" y="548957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en-US" altLang="zh-CN" sz="1600" b="1" baseline="-25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altLang="zh-CN" sz="1600" b="1" baseline="-25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134620" y="5966460"/>
            <a:ext cx="19342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电子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的势能分布</a:t>
            </a:r>
            <a:endParaRPr lang="zh-CN" altLang="en-US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1555115" y="6021705"/>
            <a:ext cx="28829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655570" y="3212465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61285" y="5080000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64460" y="6332220"/>
            <a:ext cx="326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76190" y="6165215"/>
            <a:ext cx="1840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电子的势能：</a:t>
            </a:r>
            <a:endParaRPr 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86245" y="6155690"/>
            <a:ext cx="13677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2000" b="1" baseline="-250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</a:t>
            </a:r>
            <a:r>
              <a:rPr lang="en-US" altLang="zh-CN" sz="2000" b="1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 -</a:t>
            </a:r>
            <a:r>
              <a:rPr lang="en-US" altLang="zh-CN" sz="2000" b="1" i="1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eϕ</a:t>
            </a:r>
            <a:endParaRPr lang="en-US" altLang="zh-CN" sz="2000" b="1" i="1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714240" y="1677897"/>
            <a:ext cx="4172585" cy="2850923"/>
            <a:chOff x="2666" y="2917"/>
            <a:chExt cx="9196" cy="585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l="2418" t="19685"/>
            <a:stretch>
              <a:fillRect/>
            </a:stretch>
          </p:blipFill>
          <p:spPr>
            <a:xfrm>
              <a:off x="2666" y="2917"/>
              <a:ext cx="9196" cy="5858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4141" y="7327"/>
              <a:ext cx="3632" cy="7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PN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结区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7950" y="-170180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3365" y="621030"/>
            <a:ext cx="8923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PN结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中的能带结构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均匀掺杂PN结、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突变结近似、热平衡状态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" y="4490720"/>
            <a:ext cx="4394835" cy="179959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indent="-342900" algn="just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热平衡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结的特点：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9750" indent="-285750" algn="just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结区电子和空穴的扩散和漂移抵消；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结区具有统一的费米能级；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结区能带弯曲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06730" y="1788160"/>
            <a:ext cx="14643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39115" y="3291205"/>
            <a:ext cx="14643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39115" y="3002915"/>
            <a:ext cx="1464310" cy="0"/>
          </a:xfrm>
          <a:prstGeom prst="line">
            <a:avLst/>
          </a:prstGeom>
          <a:ln w="31750">
            <a:solidFill>
              <a:srgbClr val="D869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39115" y="2539365"/>
            <a:ext cx="146431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379345" y="1791970"/>
            <a:ext cx="14643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411730" y="3295015"/>
            <a:ext cx="14643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79345" y="2066290"/>
            <a:ext cx="1464310" cy="0"/>
          </a:xfrm>
          <a:prstGeom prst="line">
            <a:avLst/>
          </a:prstGeom>
          <a:ln w="31750">
            <a:solidFill>
              <a:srgbClr val="D869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412365" y="2543175"/>
            <a:ext cx="146431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79705" y="3729355"/>
            <a:ext cx="42824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扩散和漂移运动发生前交界面的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能级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结构示意图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12520" y="1345565"/>
            <a:ext cx="2764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                        N</a:t>
            </a:r>
            <a:endParaRPr lang="en-US" altLang="zh-CN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88840" y="4490720"/>
            <a:ext cx="42824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热平衡状态时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结区的能级结构示意图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66055" y="1341120"/>
            <a:ext cx="34715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                                   N</a:t>
            </a:r>
            <a:endParaRPr lang="en-US" altLang="zh-CN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16450" y="5120005"/>
            <a:ext cx="36080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结区总的内建势垒高度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bi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7950" y="310451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7950" y="2809240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Fp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7950" y="234886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Fi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7950" y="161480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44290" y="311848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50005" y="187261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Fn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844290" y="236283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Fi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844290" y="1628775"/>
            <a:ext cx="658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endParaRPr lang="en-US" altLang="zh-CN" sz="1600" b="1" baseline="-25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532495" y="2809240"/>
            <a:ext cx="501650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C52AB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rgbClr val="C52AB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Fn</a:t>
            </a:r>
            <a:endParaRPr lang="en-US" altLang="zh-CN" sz="1600" b="1" baseline="-25000">
              <a:solidFill>
                <a:srgbClr val="C52AB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488815" y="2782570"/>
            <a:ext cx="501650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C52AB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sz="1600" b="1" baseline="-25000">
                <a:solidFill>
                  <a:srgbClr val="C52AB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Fp</a:t>
            </a:r>
            <a:endParaRPr lang="en-US" altLang="zh-CN" sz="1600" b="1" baseline="-25000">
              <a:solidFill>
                <a:srgbClr val="C52AB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rcRect l="14571" t="19043" r="2020" b="52393"/>
          <a:stretch>
            <a:fillRect/>
          </a:stretch>
        </p:blipFill>
        <p:spPr>
          <a:xfrm>
            <a:off x="4932045" y="5589270"/>
            <a:ext cx="3687445" cy="87820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 flipV="1">
            <a:off x="1403350" y="2997200"/>
            <a:ext cx="84455" cy="418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1478280" y="2141855"/>
            <a:ext cx="1941195" cy="1264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7755" y="3373755"/>
            <a:ext cx="90297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>
                <a:solidFill>
                  <a:srgbClr val="9716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准费米能级</a:t>
            </a:r>
            <a:endParaRPr lang="zh-CN" altLang="en-US" sz="1000" b="1">
              <a:solidFill>
                <a:srgbClr val="9716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6250" y="2323465"/>
            <a:ext cx="17068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（电子占据的几率为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62835" y="2348865"/>
            <a:ext cx="17068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（电子占据的几率为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070" y="-99060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3850" y="694055"/>
            <a:ext cx="835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结的导电性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4364990"/>
            <a:ext cx="3954780" cy="2302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3996"/>
          <a:stretch>
            <a:fillRect/>
          </a:stretch>
        </p:blipFill>
        <p:spPr>
          <a:xfrm>
            <a:off x="305435" y="1412875"/>
            <a:ext cx="3844925" cy="233553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 rot="5400000">
            <a:off x="1906905" y="3588385"/>
            <a:ext cx="503555" cy="9359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72000" y="836930"/>
            <a:ext cx="287210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结的伏安特性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左大括号 11"/>
          <p:cNvSpPr/>
          <p:nvPr/>
        </p:nvSpPr>
        <p:spPr>
          <a:xfrm rot="16200000" flipH="1">
            <a:off x="7742555" y="493395"/>
            <a:ext cx="240665" cy="2117090"/>
          </a:xfrm>
          <a:prstGeom prst="leftBrace">
            <a:avLst>
              <a:gd name="adj1" fmla="val 47971"/>
              <a:gd name="adj2" fmla="val 50000"/>
            </a:avLst>
          </a:prstGeom>
          <a:ln w="412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5818"/>
          <a:stretch>
            <a:fillRect/>
          </a:stretch>
        </p:blipFill>
        <p:spPr>
          <a:xfrm>
            <a:off x="4716145" y="1679575"/>
            <a:ext cx="4286885" cy="37585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00245" y="5589905"/>
            <a:ext cx="28054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二极管</a:t>
            </a:r>
            <a:r>
              <a:rPr lang="zh-CN" altLang="en-US" b="1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导通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后，其两端的电压基本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保持不变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 l="59160" t="3233" b="23880"/>
          <a:stretch>
            <a:fillRect/>
          </a:stretch>
        </p:blipFill>
        <p:spPr>
          <a:xfrm>
            <a:off x="7653020" y="5222240"/>
            <a:ext cx="1268730" cy="1300480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705" y="-115570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3850" y="694055"/>
            <a:ext cx="835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结的导电性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213"/>
          <a:stretch>
            <a:fillRect/>
          </a:stretch>
        </p:blipFill>
        <p:spPr>
          <a:xfrm>
            <a:off x="251460" y="1339215"/>
            <a:ext cx="3810635" cy="2369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4221480"/>
            <a:ext cx="3954780" cy="2375535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>
          <a:xfrm rot="5400000">
            <a:off x="1904365" y="3573145"/>
            <a:ext cx="503555" cy="9359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59655" y="1125855"/>
            <a:ext cx="287210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结的伏安特性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左大括号 11"/>
          <p:cNvSpPr/>
          <p:nvPr/>
        </p:nvSpPr>
        <p:spPr>
          <a:xfrm rot="16200000">
            <a:off x="5716905" y="4648200"/>
            <a:ext cx="221615" cy="1936115"/>
          </a:xfrm>
          <a:prstGeom prst="leftBrace">
            <a:avLst>
              <a:gd name="adj1" fmla="val 47971"/>
              <a:gd name="adj2" fmla="val 50000"/>
            </a:avLst>
          </a:prstGeom>
          <a:ln w="412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5818"/>
          <a:stretch>
            <a:fillRect/>
          </a:stretch>
        </p:blipFill>
        <p:spPr>
          <a:xfrm>
            <a:off x="4697730" y="1773555"/>
            <a:ext cx="4286885" cy="375856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78070" y="5949315"/>
            <a:ext cx="19621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BR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一般几十伏。</a:t>
            </a:r>
            <a:endParaRPr lang="zh-CN" altLang="en-US" b="1">
              <a:solidFill>
                <a:srgbClr val="0000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16370" y="203835"/>
            <a:ext cx="23196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单向导电性</a:t>
            </a:r>
            <a:endParaRPr lang="zh-CN" altLang="en-US" b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整流</a:t>
            </a:r>
            <a:endParaRPr lang="zh-CN" altLang="en-US" b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950" y="3933190"/>
            <a:ext cx="8928735" cy="2736215"/>
          </a:xfrm>
          <a:prstGeom prst="rect">
            <a:avLst/>
          </a:prstGeom>
          <a:solidFill>
            <a:srgbClr val="0000FF">
              <a:alpha val="9000"/>
            </a:srgbClr>
          </a:solidFill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899" name="Rectangle 7"/>
          <p:cNvSpPr/>
          <p:nvPr/>
        </p:nvSpPr>
        <p:spPr>
          <a:xfrm>
            <a:off x="710565" y="2159318"/>
            <a:ext cx="1752600" cy="47561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雪崩击穿 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900" name="AutoShape 8"/>
          <p:cNvSpPr/>
          <p:nvPr/>
        </p:nvSpPr>
        <p:spPr>
          <a:xfrm>
            <a:off x="1886903" y="1743393"/>
            <a:ext cx="301625" cy="1393825"/>
          </a:xfrm>
          <a:prstGeom prst="leftBrace">
            <a:avLst>
              <a:gd name="adj1" fmla="val 38508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01" name="Rectangle 10"/>
          <p:cNvSpPr/>
          <p:nvPr/>
        </p:nvSpPr>
        <p:spPr>
          <a:xfrm>
            <a:off x="-131888" y="4653136"/>
            <a:ext cx="1752600" cy="800219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齐纳击穿</a:t>
            </a:r>
            <a:endParaRPr lang="en-US" altLang="zh-CN" sz="2000" b="1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0" hangingPunct="0">
              <a:lnSpc>
                <a:spcPct val="125000"/>
              </a:lnSpc>
              <a:spcBef>
                <a:spcPct val="50000"/>
              </a:spcBef>
            </a:pPr>
            <a:r>
              <a:rPr lang="en-US" altLang="zh-CN" sz="1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隧道二极管</a:t>
            </a:r>
            <a:r>
              <a:rPr lang="en-US" altLang="zh-CN" sz="1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2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902" name="AutoShape 11"/>
          <p:cNvSpPr/>
          <p:nvPr/>
        </p:nvSpPr>
        <p:spPr>
          <a:xfrm>
            <a:off x="1325563" y="4437380"/>
            <a:ext cx="215900" cy="1350963"/>
          </a:xfrm>
          <a:prstGeom prst="leftBrace">
            <a:avLst>
              <a:gd name="adj1" fmla="val 52144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03" name="Rectangle 13"/>
          <p:cNvSpPr/>
          <p:nvPr/>
        </p:nvSpPr>
        <p:spPr>
          <a:xfrm>
            <a:off x="3444240" y="1230630"/>
            <a:ext cx="4830763" cy="42354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结掺杂浓度较低 </a:t>
            </a:r>
            <a:r>
              <a:rPr lang="en-US" altLang="zh-CN" b="1" dirty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b="1" dirty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耗尽区较宽</a:t>
            </a:r>
            <a:r>
              <a:rPr lang="en-US" altLang="zh-CN" b="1" dirty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b="1" dirty="0">
              <a:solidFill>
                <a:srgbClr val="99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904" name="Rectangle 14"/>
          <p:cNvSpPr/>
          <p:nvPr/>
        </p:nvSpPr>
        <p:spPr>
          <a:xfrm>
            <a:off x="2204085" y="1510030"/>
            <a:ext cx="1097280" cy="3683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</a:rPr>
              <a:t>发生条件</a:t>
            </a:r>
            <a:endParaRPr lang="zh-CN" altLang="en-US" b="1" dirty="0">
              <a:solidFill>
                <a:srgbClr val="008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05" name="AutoShape 15"/>
          <p:cNvSpPr/>
          <p:nvPr/>
        </p:nvSpPr>
        <p:spPr>
          <a:xfrm>
            <a:off x="3287395" y="1446530"/>
            <a:ext cx="228600" cy="533400"/>
          </a:xfrm>
          <a:prstGeom prst="leftBrace">
            <a:avLst>
              <a:gd name="adj1" fmla="val 19444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06" name="Rectangle 16"/>
          <p:cNvSpPr/>
          <p:nvPr/>
        </p:nvSpPr>
        <p:spPr>
          <a:xfrm>
            <a:off x="3444240" y="1687830"/>
            <a:ext cx="4267200" cy="42354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外加</a:t>
            </a:r>
            <a:r>
              <a:rPr lang="zh-CN" altLang="en-US" b="1" smtClean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反向电压较大</a:t>
            </a:r>
            <a:endParaRPr lang="en-US" altLang="zh-CN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0907" name="Group 17"/>
          <p:cNvGrpSpPr/>
          <p:nvPr/>
        </p:nvGrpSpPr>
        <p:grpSpPr>
          <a:xfrm>
            <a:off x="2196783" y="2272348"/>
            <a:ext cx="2460625" cy="368300"/>
            <a:chOff x="1768" y="2832"/>
            <a:chExt cx="1550" cy="232"/>
          </a:xfrm>
        </p:grpSpPr>
        <p:sp>
          <p:nvSpPr>
            <p:cNvPr id="80919" name="Rectangle 18"/>
            <p:cNvSpPr/>
            <p:nvPr/>
          </p:nvSpPr>
          <p:spPr>
            <a:xfrm>
              <a:off x="1768" y="2832"/>
              <a:ext cx="775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rgbClr val="008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形成原因</a:t>
              </a:r>
              <a:r>
                <a:rPr lang="en-US" altLang="zh-CN" b="1" dirty="0">
                  <a:solidFill>
                    <a:srgbClr val="008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</a:t>
              </a:r>
              <a:r>
                <a:rPr lang="en-US" altLang="zh-CN" b="1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altLang="zh-CN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0920" name="Rectangle 19"/>
            <p:cNvSpPr/>
            <p:nvPr/>
          </p:nvSpPr>
          <p:spPr>
            <a:xfrm>
              <a:off x="2483" y="2832"/>
              <a:ext cx="835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碰撞电离。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0908" name="Group 30"/>
          <p:cNvGrpSpPr/>
          <p:nvPr/>
        </p:nvGrpSpPr>
        <p:grpSpPr>
          <a:xfrm>
            <a:off x="1507173" y="4839970"/>
            <a:ext cx="2509838" cy="368300"/>
            <a:chOff x="1720" y="3792"/>
            <a:chExt cx="1581" cy="232"/>
          </a:xfrm>
        </p:grpSpPr>
        <p:sp>
          <p:nvSpPr>
            <p:cNvPr id="80917" name="Rectangle 31"/>
            <p:cNvSpPr/>
            <p:nvPr/>
          </p:nvSpPr>
          <p:spPr>
            <a:xfrm>
              <a:off x="1720" y="3792"/>
              <a:ext cx="775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rgbClr val="008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形成原因</a:t>
              </a:r>
              <a:r>
                <a:rPr lang="en-US" altLang="zh-CN" b="1" dirty="0">
                  <a:solidFill>
                    <a:srgbClr val="008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</a:t>
              </a:r>
              <a:r>
                <a:rPr lang="en-US" altLang="zh-CN" b="1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altLang="zh-CN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0918" name="Rectangle 32"/>
            <p:cNvSpPr/>
            <p:nvPr/>
          </p:nvSpPr>
          <p:spPr>
            <a:xfrm>
              <a:off x="2423" y="3792"/>
              <a:ext cx="878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场致激发。</a:t>
              </a:r>
              <a:r>
                <a:rPr lang="zh-CN" altLang="en-US" b="1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zh-CN" altLang="en-US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0909" name="Rectangle 34"/>
          <p:cNvSpPr/>
          <p:nvPr/>
        </p:nvSpPr>
        <p:spPr>
          <a:xfrm>
            <a:off x="1532573" y="4220210"/>
            <a:ext cx="1097280" cy="3683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</a:rPr>
              <a:t>发生条件</a:t>
            </a:r>
            <a:endParaRPr lang="zh-CN" altLang="en-US" b="1" dirty="0">
              <a:solidFill>
                <a:srgbClr val="008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10" name="AutoShape 35"/>
          <p:cNvSpPr/>
          <p:nvPr/>
        </p:nvSpPr>
        <p:spPr>
          <a:xfrm>
            <a:off x="2639378" y="4132580"/>
            <a:ext cx="228600" cy="533400"/>
          </a:xfrm>
          <a:prstGeom prst="leftBrace">
            <a:avLst>
              <a:gd name="adj1" fmla="val 19444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11" name="Rectangle 36"/>
          <p:cNvSpPr/>
          <p:nvPr/>
        </p:nvSpPr>
        <p:spPr>
          <a:xfrm>
            <a:off x="2869883" y="3932555"/>
            <a:ext cx="48768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结掺杂浓度较高 </a:t>
            </a:r>
            <a:r>
              <a:rPr lang="en-US" altLang="zh-CN" b="1" dirty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b="1" dirty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耗尽区</a:t>
            </a:r>
            <a:r>
              <a:rPr lang="zh-CN" altLang="en-US" b="1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较</a:t>
            </a:r>
            <a:r>
              <a:rPr lang="zh-CN" altLang="en-US" b="1" smtClean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窄</a:t>
            </a:r>
            <a:r>
              <a:rPr lang="en-US" altLang="zh-CN" b="1" smtClean="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b="1" dirty="0">
              <a:solidFill>
                <a:srgbClr val="99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912" name="Rectangle 37"/>
          <p:cNvSpPr/>
          <p:nvPr/>
        </p:nvSpPr>
        <p:spPr>
          <a:xfrm>
            <a:off x="2867978" y="4361180"/>
            <a:ext cx="41148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外加</a:t>
            </a:r>
            <a:r>
              <a:rPr lang="zh-CN" altLang="en-US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反向电压</a:t>
            </a:r>
            <a:r>
              <a:rPr lang="zh-CN" altLang="en-US" b="1" smtClean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</a:t>
            </a:r>
            <a:endParaRPr lang="en-US" altLang="zh-CN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913" name="Text Box 43"/>
          <p:cNvSpPr txBox="1"/>
          <p:nvPr/>
        </p:nvSpPr>
        <p:spPr>
          <a:xfrm>
            <a:off x="2246630" y="3341370"/>
            <a:ext cx="5364480" cy="36830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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载流子运动的平均自由路程 </a:t>
            </a:r>
            <a:r>
              <a:rPr lang="en-US" altLang="zh-CN" b="1" i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(BR)</a:t>
            </a:r>
            <a:r>
              <a:rPr lang="en-US" altLang="zh-CN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</a:t>
            </a:r>
            <a:endParaRPr lang="en-US" altLang="zh-CN" b="1" baseline="30000" dirty="0">
              <a:solidFill>
                <a:srgbClr val="00B05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80914" name="Text Box 47"/>
          <p:cNvSpPr txBox="1"/>
          <p:nvPr/>
        </p:nvSpPr>
        <p:spPr>
          <a:xfrm>
            <a:off x="1476058" y="5948680"/>
            <a:ext cx="67056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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价电子获得的能量</a:t>
            </a:r>
            <a:r>
              <a:rPr lang="zh-CN" altLang="en-US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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</a:t>
            </a:r>
            <a:r>
              <a:rPr lang="en-US" altLang="zh-CN" b="1" i="1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(BR)</a:t>
            </a:r>
            <a:r>
              <a:rPr lang="en-US" altLang="zh-CN" b="1" baseline="30000" dirty="0">
                <a:solidFill>
                  <a:srgbClr val="00B05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</a:t>
            </a:r>
            <a:endParaRPr lang="en-US" altLang="zh-CN" b="1" baseline="30000" dirty="0">
              <a:solidFill>
                <a:srgbClr val="00B05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80915" name="Rectangle 49"/>
          <p:cNvSpPr/>
          <p:nvPr/>
        </p:nvSpPr>
        <p:spPr>
          <a:xfrm>
            <a:off x="1470025" y="2924493"/>
            <a:ext cx="69850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击穿电压的温度特性</a:t>
            </a:r>
            <a:r>
              <a:rPr lang="en-US" altLang="zh-CN" b="1" dirty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雪崩击穿电压具有正温度系数。</a:t>
            </a:r>
            <a:endParaRPr lang="zh-CN" altLang="en-US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916" name="Rectangle 51"/>
          <p:cNvSpPr/>
          <p:nvPr/>
        </p:nvSpPr>
        <p:spPr>
          <a:xfrm>
            <a:off x="680720" y="5572760"/>
            <a:ext cx="7164388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b="1" dirty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击穿电压的温度特性</a:t>
            </a:r>
            <a:r>
              <a:rPr lang="en-US" altLang="zh-CN" b="1" dirty="0">
                <a:solidFill>
                  <a:srgbClr val="008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隧道击穿电压具有负温度系数。</a:t>
            </a:r>
            <a:endParaRPr lang="zh-CN" altLang="en-US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05" y="589325"/>
            <a:ext cx="87909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3119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结反向特性之</a:t>
            </a:r>
            <a:r>
              <a:rPr lang="zh-CN" sz="2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雪崩击穿</a:t>
            </a:r>
            <a:r>
              <a:rPr 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和齐纳击穿</a:t>
            </a:r>
            <a:endParaRPr lang="zh-CN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62395" y="4744899"/>
            <a:ext cx="2297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Clr>
                <a:srgbClr val="5407A3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应用：稳压二极管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79705" y="-98425"/>
            <a:ext cx="46462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12180" y="2105204"/>
            <a:ext cx="27546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Clr>
                <a:srgbClr val="5407A3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应用：雪崩光电二极管</a:t>
            </a:r>
            <a:endParaRPr lang="zh-CN" altLang="en-US" b="1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627630" y="2205355"/>
            <a:ext cx="46462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结器件仿真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1460" y="620395"/>
            <a:ext cx="8890635" cy="6123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9716AE"/>
                </a:solidFill>
                <a:latin typeface="Times New Roman" panose="02020603050405020304" charset="0"/>
                <a:cs typeface="Times New Roman" panose="02020603050405020304" charset="0"/>
              </a:rPr>
              <a:t>go atlas</a:t>
            </a:r>
            <a:endParaRPr lang="zh-CN" altLang="en-US" b="1">
              <a:solidFill>
                <a:srgbClr val="9716A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mesh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x.mesh location=0.0 spac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=0.1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x.mes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h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location=1.0 spac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=0.1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y.mesh location=0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.0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spac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=0.1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y.mesh location=5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.0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spac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=0.00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y.mesh location=10  spac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=0.1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region num=1 silicon</a:t>
            </a:r>
            <a:r>
              <a:rPr lang="en-US" altLang="zh-CN" sz="1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# </a:t>
            </a:r>
            <a:r>
              <a:rPr lang="zh-CN" altLang="en-US" sz="1400" b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定义区域及材料</a:t>
            </a:r>
            <a:endParaRPr lang="zh-CN" altLang="en-US" sz="16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electrode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name=anode top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electrode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name=cathod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bottom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doping uniform conc=1e18 n.type   </a:t>
            </a:r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将衬底进行均匀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型掺杂，浓度为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e1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原子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/cm</a:t>
            </a:r>
            <a:r>
              <a:rPr lang="en-US" altLang="zh-CN" sz="1400" b="1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zh-CN" altLang="en-US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doping uniform conc=</a:t>
            </a:r>
            <a:r>
              <a:rPr lang="en-US" altLang="zh-CN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e1</a:t>
            </a:r>
            <a:r>
              <a:rPr lang="en-US" altLang="zh-CN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p.type y.bottom=5.0</a:t>
            </a:r>
            <a:endParaRPr lang="zh-CN" altLang="en-US" b="1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将衬底上半部分均匀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型掺杂，浓度为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e1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原子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/cm</a:t>
            </a:r>
            <a:r>
              <a:rPr lang="en-US" altLang="zh-CN" sz="1400" b="1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zh-CN" altLang="en-US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output con.band val.band QFN QFP</a:t>
            </a:r>
            <a:endParaRPr lang="zh-CN" altLang="en-US" b="1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#计算导带能级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con.band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，价带能级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val.band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，电子和空穴的准费米能级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QFN和QFP</a:t>
            </a:r>
            <a:endParaRPr lang="zh-CN" altLang="en-US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models conmob fldmob bgn srh auger </a:t>
            </a:r>
            <a:endParaRPr lang="zh-CN" altLang="en-US" b="1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设置计算模型，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conmob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为与浓度有关的迁移率模型，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fldmob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为与电场有关的迁移率模型，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bgn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为带隙变窄理论模型（掺杂会导致衬底材料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带隙变窄），</a:t>
            </a:r>
            <a:r>
              <a:rPr lang="en-US" altLang="zh-CN" sz="14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srh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为</a:t>
            </a:r>
            <a:r>
              <a:rPr lang="en-US" altLang="zh-CN" sz="14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Shockley-Read-Hall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复合模型（描述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Ge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等具有间接跃迁能带的复合模型），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auger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为俄歇复合模型（对于硅来说，掺杂浓度高的时候，俄歇复合作用不可忽视）</a:t>
            </a:r>
            <a:endParaRPr lang="zh-CN" altLang="en-US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solve init</a:t>
            </a:r>
            <a:r>
              <a:rPr lang="en-US" altLang="zh-CN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#解电极无偏压下的初始值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save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 outfile=diode.str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tonyplot diode.str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quit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05" y="45085"/>
            <a:ext cx="74333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平衡</a:t>
            </a:r>
            <a:r>
              <a:rPr lang="en-US" altLang="zh-CN" sz="2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结没加偏压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932170" y="908685"/>
            <a:ext cx="2227580" cy="2719070"/>
            <a:chOff x="9342" y="1431"/>
            <a:chExt cx="3508" cy="4282"/>
          </a:xfrm>
        </p:grpSpPr>
        <p:sp>
          <p:nvSpPr>
            <p:cNvPr id="11" name="矩形 10"/>
            <p:cNvSpPr/>
            <p:nvPr/>
          </p:nvSpPr>
          <p:spPr>
            <a:xfrm>
              <a:off x="10035" y="1431"/>
              <a:ext cx="2091" cy="1868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型均匀掺杂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035" y="3299"/>
              <a:ext cx="2091" cy="1868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型均匀掺杂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342" y="5231"/>
              <a:ext cx="35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对称突变结</a:t>
              </a:r>
              <a:endPara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3665" y="620395"/>
            <a:ext cx="4949190" cy="2776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" y="1624330"/>
            <a:ext cx="8471535" cy="45034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23215" y="260985"/>
            <a:ext cx="743331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x=0.5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处的掺杂浓度分布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步骤：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Tool-&gt;Cutline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</a:t>
            </a: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Cutline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界面设置要提取的位置。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85815" y="2853055"/>
            <a:ext cx="40767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52080" y="2853055"/>
            <a:ext cx="42418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7017385" y="1624330"/>
            <a:ext cx="0" cy="4551045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580" y="1844675"/>
            <a:ext cx="7534910" cy="40328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530" y="116840"/>
            <a:ext cx="879094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x=0.5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处的电场分布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步骤：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）选定曲线窗口，右键打开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Display</a:t>
            </a: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在列表中选定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Electric Field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，并应用（需要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去勾选</a:t>
            </a:r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以前选定的数据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01995" y="3068955"/>
            <a:ext cx="40767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68260" y="3068955"/>
            <a:ext cx="42418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25" y="1557020"/>
            <a:ext cx="8780145" cy="46424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530" y="116840"/>
            <a:ext cx="879094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x=0.5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处的电势分布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步骤：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）选定曲线窗口，右键打开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Display</a:t>
            </a: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在列表中选定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Potential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，并应用（需要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去勾选</a:t>
            </a:r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以前选定的数据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0920" y="2781300"/>
            <a:ext cx="40767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7209790" y="5398135"/>
            <a:ext cx="148336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7434580" y="2365375"/>
            <a:ext cx="0" cy="300799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452995" y="3572510"/>
            <a:ext cx="14719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2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电势差：</a:t>
            </a:r>
            <a:r>
              <a:rPr lang="en-US" altLang="zh-CN" sz="12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~0.88V</a:t>
            </a:r>
            <a:endParaRPr lang="en-US" altLang="zh-CN" sz="12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7185" y="2781300"/>
            <a:ext cx="42418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731645"/>
            <a:ext cx="8298180" cy="44088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530" y="116840"/>
            <a:ext cx="8790940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x=0.5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处的能级分布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步骤：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）选定曲线窗口，右键打开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Display</a:t>
            </a: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在列表中选定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Conduction Band Energy, Valence Band Energy, Electron QFL,Hole QFL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，并应用（需要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去勾选</a:t>
            </a:r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以前选定的数据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90165" y="6258560"/>
            <a:ext cx="3759200" cy="368300"/>
          </a:xfrm>
          <a:prstGeom prst="rect">
            <a:avLst/>
          </a:prstGeom>
          <a:solidFill>
            <a:srgbClr val="00B0F0">
              <a:alpha val="42000"/>
            </a:srgbClr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结区能带弯曲，费米能级统一！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12180" y="3213100"/>
            <a:ext cx="40767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78445" y="3213100"/>
            <a:ext cx="42418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700530"/>
            <a:ext cx="8729345" cy="46539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6530" y="116840"/>
            <a:ext cx="8790940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x=0.5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处的能级分布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步骤：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）选定曲线窗口，右键打开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Display</a:t>
            </a:r>
            <a:r>
              <a:rPr lang="en-US" alt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在列表中选定</a:t>
            </a:r>
            <a:r>
              <a:rPr lang="en-US" altLang="zh-CN" sz="1400" b="1" dirty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Electron Con,Hole Con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，并应用（</a:t>
            </a:r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去勾选</a:t>
            </a:r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以前选定的数据</a:t>
            </a: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84570" y="3068955"/>
            <a:ext cx="40767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50835" y="3068955"/>
            <a:ext cx="424180" cy="460375"/>
          </a:xfrm>
          <a:prstGeom prst="rect">
            <a:avLst/>
          </a:prstGeom>
          <a:solidFill>
            <a:srgbClr val="00B0F0">
              <a:alpha val="5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79705" y="45085"/>
            <a:ext cx="74333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非平衡状态（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结加正向偏压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122035" y="942975"/>
            <a:ext cx="1484630" cy="2306320"/>
            <a:chOff x="11849" y="1244"/>
            <a:chExt cx="2338" cy="3632"/>
          </a:xfrm>
        </p:grpSpPr>
        <p:sp>
          <p:nvSpPr>
            <p:cNvPr id="11" name="矩形 10"/>
            <p:cNvSpPr/>
            <p:nvPr/>
          </p:nvSpPr>
          <p:spPr>
            <a:xfrm>
              <a:off x="11849" y="2112"/>
              <a:ext cx="1257" cy="946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849" y="3058"/>
              <a:ext cx="1257" cy="946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2" name="直接连接符 1"/>
            <p:cNvCxnSpPr/>
            <p:nvPr/>
          </p:nvCxnSpPr>
          <p:spPr>
            <a:xfrm flipH="1" flipV="1">
              <a:off x="12458" y="1244"/>
              <a:ext cx="0" cy="86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/>
            <p:cNvCxnSpPr/>
            <p:nvPr/>
          </p:nvCxnSpPr>
          <p:spPr>
            <a:xfrm flipH="1" flipV="1">
              <a:off x="12478" y="4003"/>
              <a:ext cx="0" cy="86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/>
          </p:nvCxnSpPr>
          <p:spPr>
            <a:xfrm>
              <a:off x="12467" y="1247"/>
              <a:ext cx="1477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12467" y="4871"/>
              <a:ext cx="1477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H="1" flipV="1">
              <a:off x="13944" y="1247"/>
              <a:ext cx="0" cy="1644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13944" y="3232"/>
              <a:ext cx="0" cy="1644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3677" y="2906"/>
              <a:ext cx="51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3787" y="3246"/>
              <a:ext cx="34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382270" y="621030"/>
            <a:ext cx="7701915" cy="5754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rgbClr val="9716A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go atlas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mesh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x.mesh location=0.0 spac=0.1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x.mesh location=1.0 spac=0.1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y.mesh location=0   spac=0.1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y.mesh location=5   spac=0.001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y.mesh location=10  spac=0.1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region num=1 silicon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electrode name=anode top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electrode name=cathode bottom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doping uniform conc=1e18 n.type  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doping uniform conc=2e18 p.type y.bottom=5.0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 con.band val.band QFN QFP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models conmob fldmob bgn srh auger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init 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 newton 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采用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newton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迭代法进行计算，是漂移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扩散问题的默认计算方法。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log outfile = diode.log  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将计算结果保存在日志文件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vanode = 0 vstep = 0.1 vfinal = 2 name = anode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阳极偏压区间是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0~2V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，电压变化步长是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0.1V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tonyplot diode.log 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#画出计算的数据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save outfile=diode.str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tonyplot diode.str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quit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" y="764540"/>
            <a:ext cx="8830945" cy="49536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530" y="116840"/>
            <a:ext cx="87909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阳极加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0~2V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偏压时的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I-V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曲线（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正偏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2095" y="5877560"/>
            <a:ext cx="8613140" cy="783590"/>
          </a:xfrm>
          <a:prstGeom prst="rect">
            <a:avLst/>
          </a:prstGeom>
          <a:solidFill>
            <a:srgbClr val="00B0F0">
              <a:alpha val="15000"/>
            </a:srgbClr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串联电阻效应：</a:t>
            </a:r>
            <a:endParaRPr lang="zh-CN" altLang="en-US" sz="1400" b="1">
              <a:solidFill>
                <a:srgbClr val="0000FF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电中性的</a:t>
            </a:r>
            <a:r>
              <a:rPr lang="en-US" altLang="zh-CN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区和</a:t>
            </a:r>
            <a:r>
              <a:rPr lang="en-US" altLang="zh-CN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区以及空间电荷区包含有有限值的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电阻</a:t>
            </a:r>
            <a:r>
              <a:rPr lang="zh-CN" altLang="en-US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，因此，实际的</a:t>
            </a:r>
            <a:r>
              <a:rPr lang="en-US" altLang="zh-CN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结等效电路应包括一个</a:t>
            </a:r>
            <a:r>
              <a:rPr lang="en-US" altLang="zh-CN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串联电阻</a:t>
            </a:r>
            <a:r>
              <a:rPr lang="zh-CN" altLang="en-US" sz="1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43980" y="3573145"/>
            <a:ext cx="2011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受</a:t>
            </a:r>
            <a:r>
              <a:rPr lang="zh-CN" altLang="en-US" sz="16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串联电阻效应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948170" y="2099310"/>
            <a:ext cx="1643380" cy="50673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79705" y="45085"/>
            <a:ext cx="74333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非平衡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结加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正反向偏压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913880" y="798830"/>
            <a:ext cx="1484630" cy="2306320"/>
            <a:chOff x="11849" y="1244"/>
            <a:chExt cx="2338" cy="3632"/>
          </a:xfrm>
        </p:grpSpPr>
        <p:sp>
          <p:nvSpPr>
            <p:cNvPr id="11" name="矩形 10"/>
            <p:cNvSpPr/>
            <p:nvPr/>
          </p:nvSpPr>
          <p:spPr>
            <a:xfrm>
              <a:off x="11849" y="2112"/>
              <a:ext cx="1257" cy="946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849" y="3058"/>
              <a:ext cx="1257" cy="946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H="1" flipV="1">
              <a:off x="12458" y="1244"/>
              <a:ext cx="0" cy="86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 flipH="1" flipV="1">
              <a:off x="12478" y="4003"/>
              <a:ext cx="0" cy="86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12467" y="1247"/>
              <a:ext cx="1477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2467" y="4871"/>
              <a:ext cx="1477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 flipV="1">
              <a:off x="13944" y="1247"/>
              <a:ext cx="0" cy="1644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13944" y="3232"/>
              <a:ext cx="0" cy="1644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3677" y="3245"/>
              <a:ext cx="51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3787" y="2907"/>
              <a:ext cx="34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3779520" y="1341120"/>
            <a:ext cx="2160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没加任何击穿模型！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560" y="548640"/>
            <a:ext cx="8996680" cy="6123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9716A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go atlas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mesh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x.mesh location=0.0 spac=0.1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x.mesh location=1.0 spac=0.1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y.mesh location=0   spac=0.1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y.mesh location=5   spac=0.001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y.mesh location=10  spac=0.1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region num=1 silicon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electrode name=anode top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electrode name=cathode bottom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doping uniform conc=1e18 n.type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doping uniform conc=2e18 p.type y.bottom=5.0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 con.band val.band QFN QFP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models conmob fldmob bgn srh auger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init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 newton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采用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newton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迭代法进行计算，是漂移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扩散问题的默认计算方法。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log outfile = diode.log 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将计算结果保存在日志文件</a:t>
            </a:r>
            <a:endParaRPr lang="zh-CN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vanode=-10 vstep=0.25 vfinal=-0.25 name=anode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阳极偏压区间是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-10~-0.25V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，电压变化步长是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0.25V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vanode = 0 vstep = 0.1 vfinal = 2 name = anode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阳极偏压区间是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0~2V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，电压变化步长是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0.1V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tonyplot diode.log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#画出计算的数据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quit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76530" y="116840"/>
            <a:ext cx="87909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阳极加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-10~2V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偏压时的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I-V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曲线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1460" y="764540"/>
            <a:ext cx="2854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没加任何击穿模型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1196975"/>
            <a:ext cx="5116195" cy="5202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585" y="438785"/>
            <a:ext cx="8965565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ts val="2400"/>
              </a:lnSpc>
            </a:pPr>
            <a:r>
              <a:rPr lang="en-US" altLang="zh-CN" sz="1600" b="1">
                <a:solidFill>
                  <a:srgbClr val="9716A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go atlas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......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electrode name=anode top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electrode name=cathode bottom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doping uniform conc=1e18 n.type 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doping uniform conc=2e18 p.type y.bottom=5.0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 con.band val.band QFN QFP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models conmob fldmob bgn srh auger bbt.std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#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增加加碰撞电离的影响，即增加碰撞电离模型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selb 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impact selb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init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zh-CN" altLang="en-US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 maxtrap：</a:t>
            </a:r>
            <a:r>
              <a:rPr lang="zh-CN" altLang="en-US" sz="1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定义折半次数；#climit：定义浓度归一化因子，表示数值分析中的误差测量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 newton trap maxtrap=10 climit=1e-4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log outfile = diode.log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将计算结果保存在日志文件</a:t>
            </a:r>
            <a:endParaRPr lang="zh-CN" altLang="en-US" sz="12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分区间设置反向偏压（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重要</a:t>
            </a:r>
            <a:r>
              <a:rPr lang="zh-CN" altLang="en-US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12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vanode=0 vstep=-0.5 vfinal=-7.4 name=anode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vanode=-7.41 vstep=-0.001 vfinal=-7.9 name=anode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solve vanode=-8.0 vstep=-0.5 vfinal=-10.1 name=anode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tonyplot diode.log </a:t>
            </a:r>
            <a:r>
              <a:rPr lang="zh-CN" altLang="en-US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#画出计算的数据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quit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05" y="45085"/>
            <a:ext cx="743331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非平衡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结齐纳击穿特性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8391" r="52543"/>
          <a:stretch>
            <a:fillRect/>
          </a:stretch>
        </p:blipFill>
        <p:spPr>
          <a:xfrm>
            <a:off x="5436235" y="332740"/>
            <a:ext cx="3401695" cy="31197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53251" t="8447"/>
          <a:stretch>
            <a:fillRect/>
          </a:stretch>
        </p:blipFill>
        <p:spPr>
          <a:xfrm>
            <a:off x="5508625" y="3501390"/>
            <a:ext cx="3350895" cy="31178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96505" y="2061210"/>
            <a:ext cx="1635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稳压工作电压</a:t>
            </a:r>
            <a:endParaRPr lang="zh-CN" altLang="en-US" sz="1600" b="1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6904990" y="2493010"/>
            <a:ext cx="763905" cy="1977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6732270" y="476885"/>
            <a:ext cx="144145" cy="28829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760845" y="4365625"/>
            <a:ext cx="144145" cy="28829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6876415" y="765175"/>
            <a:ext cx="792480" cy="1727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3190" y="2421255"/>
            <a:ext cx="868680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  <a:buClrTx/>
              <a:buSzTx/>
              <a:buFontTx/>
              <a:buNone/>
            </a:pPr>
            <a:r>
              <a:rPr lang="en-US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实验三：PN结工艺和特性仿真</a:t>
            </a:r>
            <a:endParaRPr lang="zh-CN" sz="4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560" y="-171450"/>
            <a:ext cx="767461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实验三：PN结工艺仿真</a:t>
            </a:r>
            <a:endParaRPr lang="zh-CN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660" y="693420"/>
            <a:ext cx="889254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实验要求：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用工艺仿真器制作一个如下图所示结构的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结，并用器件仿真器仿真出其伏安特性；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给出所设计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结的结构图；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给出所设计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的掺杂浓度分布图（</a:t>
            </a: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含结深分布曲线和所定义的电极名称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给出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中间位置的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结深；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PN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结的正反向特性，反向特性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包含击穿特性（仿真齐纳击穿）。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ClrTx/>
              <a:buSzTx/>
              <a:buFont typeface="+mj-ea"/>
              <a:buNone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报告提交截止日期见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BB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系统；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780155" y="3682365"/>
            <a:ext cx="2597785" cy="3022600"/>
            <a:chOff x="6519" y="5572"/>
            <a:chExt cx="4091" cy="4760"/>
          </a:xfrm>
        </p:grpSpPr>
        <p:sp>
          <p:nvSpPr>
            <p:cNvPr id="2" name="矩形 1"/>
            <p:cNvSpPr/>
            <p:nvPr/>
          </p:nvSpPr>
          <p:spPr>
            <a:xfrm>
              <a:off x="6519" y="5967"/>
              <a:ext cx="3969" cy="396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519" y="9936"/>
              <a:ext cx="3968" cy="340"/>
            </a:xfrm>
            <a:prstGeom prst="rect">
              <a:avLst/>
            </a:prstGeom>
            <a:solidFill>
              <a:srgbClr val="C52AB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231" y="9898"/>
              <a:ext cx="11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</a:t>
              </a:r>
              <a:endParaRPr lang="en-US" altLang="zh-CN" sz="1200" b="1" baseline="-2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831" y="8915"/>
              <a:ext cx="11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endParaRPr lang="en-US" altLang="zh-CN" sz="1200" b="1" baseline="-2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54" y="5630"/>
              <a:ext cx="2381" cy="1410"/>
            </a:xfrm>
            <a:prstGeom prst="ellipse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519" y="5627"/>
              <a:ext cx="1361" cy="340"/>
            </a:xfrm>
            <a:prstGeom prst="rect">
              <a:avLst/>
            </a:prstGeom>
            <a:solidFill>
              <a:srgbClr val="1D41D5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127" y="5627"/>
              <a:ext cx="1361" cy="340"/>
            </a:xfrm>
            <a:prstGeom prst="rect">
              <a:avLst/>
            </a:prstGeom>
            <a:solidFill>
              <a:srgbClr val="1D41D5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881" y="5627"/>
              <a:ext cx="1360" cy="340"/>
            </a:xfrm>
            <a:prstGeom prst="rect">
              <a:avLst/>
            </a:prstGeom>
            <a:solidFill>
              <a:srgbClr val="C52AB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625" y="5600"/>
              <a:ext cx="11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SiO</a:t>
              </a:r>
              <a:r>
                <a:rPr lang="en-US" altLang="zh-CN" sz="1200" b="1" baseline="-25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1200" b="1" baseline="-2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462" y="5572"/>
              <a:ext cx="11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SiO</a:t>
              </a:r>
              <a:r>
                <a:rPr lang="en-US" altLang="zh-CN" sz="1200" b="1" baseline="-25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1200" b="1" baseline="-2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269" y="5572"/>
              <a:ext cx="11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</a:t>
              </a:r>
              <a:endParaRPr lang="en-US" altLang="zh-CN" sz="1200" b="1" baseline="-2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45" y="7040"/>
              <a:ext cx="1672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结深曲线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7315" y="-22074"/>
            <a:ext cx="87909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参考代码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829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548640"/>
            <a:ext cx="8561705" cy="60324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9716AE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b="1">
              <a:solidFill>
                <a:srgbClr val="9716A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x loc=0.00 spac=0.2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x loc=1 spac=0.1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x loc=1.1 spac=0.02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x loc=2 spac=0.25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y loc=0.00 spac=0.02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y loc=0.2 spac=0.1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y loc=0.4 spac=0.02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line y loc=2 spac=0.5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init silicon c.phos</a:t>
            </a:r>
            <a:r>
              <a:rPr lang="zh-CN" altLang="en-US" sz="1600" smtClean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lang="en-US" altLang="zh-CN" sz="1600" smtClean="0"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zh-CN" altLang="en-US" sz="160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0e18 orientation=100 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deposit oxide thick=0.50 divisions=5 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etch oxide left p1.x=1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implant boron dose=1.0e1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 energy=50 </a:t>
            </a:r>
            <a:r>
              <a:rPr lang="zh-CN" altLang="en-US" sz="1600" smtClean="0">
                <a:latin typeface="Times New Roman" panose="02020603050405020304" charset="0"/>
                <a:cs typeface="Times New Roman" panose="02020603050405020304" charset="0"/>
              </a:rPr>
              <a:t>pearson tilt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=7 rotation=0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# 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执行了一次fermi compress</a:t>
            </a:r>
            <a:endParaRPr lang="en-US" altLang="zh-CN" sz="1600" b="1" smtClean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 b="1" smtClean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method 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fermi </a:t>
            </a:r>
            <a:r>
              <a:rPr lang="zh-CN" altLang="en-US" sz="1600" b="1" smtClean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compress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# 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氮气氛退火有助于杂质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高效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掺杂</a:t>
            </a:r>
            <a:endParaRPr lang="en-US" altLang="zh-CN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diffus 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time=30 temp=1000 nitro press=1.00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etch oxide all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deposit alum thickness=0.2 div=3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etch alum right p1.x=1.0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electrode name=anode x=0.0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electrode name=cathode backside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structure outf=diodezener_0.str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tonyplot  diodezener_0.</a:t>
            </a:r>
            <a:r>
              <a:rPr lang="zh-CN" altLang="en-US" sz="1600" smtClean="0">
                <a:latin typeface="Times New Roman" panose="02020603050405020304" charset="0"/>
                <a:cs typeface="Times New Roman" panose="02020603050405020304" charset="0"/>
              </a:rPr>
              <a:t>str 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748" y="517089"/>
            <a:ext cx="5033253" cy="2603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21045" y="23962"/>
            <a:ext cx="8790940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</a:t>
            </a:r>
            <a:r>
              <a:rPr lang="zh-CN" altLang="en-US" sz="2000" b="1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上页代码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512" y="523586"/>
            <a:ext cx="8561705" cy="5862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mtClean="0">
                <a:solidFill>
                  <a:srgbClr val="9716AE"/>
                </a:solidFill>
                <a:latin typeface="Times New Roman" panose="02020603050405020304" charset="0"/>
                <a:cs typeface="Times New Roman" panose="02020603050405020304" charset="0"/>
              </a:rPr>
              <a:t>go atlas</a:t>
            </a:r>
            <a:endParaRPr lang="en-US" altLang="zh-CN" b="1" smtClean="0">
              <a:solidFill>
                <a:srgbClr val="9716A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 bipolar:仿真PN结二极管常用模型；bbt.std:</a:t>
            </a:r>
            <a:r>
              <a:rPr lang="en-US" altLang="zh-CN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隧穿模型</a:t>
            </a:r>
            <a:endParaRPr lang="zh-CN" altLang="en-US" sz="1400" b="1">
              <a:solidFill>
                <a:srgbClr val="9716AE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models bipolar bbt.std print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b="1" smtClean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增加加碰撞电离的影响，</a:t>
            </a:r>
            <a:endParaRPr lang="zh-CN" altLang="en-US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即增加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碰撞电离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模型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selb</a:t>
            </a:r>
            <a:endParaRPr lang="en-US" altLang="zh-CN" sz="1400" b="1" smtClean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smtClean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impact selb</a:t>
            </a:r>
            <a:endParaRPr lang="en-US" altLang="zh-CN" b="1" smtClean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 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maxtrap：定义折半次数</a:t>
            </a:r>
            <a:r>
              <a:rPr lang="zh-CN" altLang="en-US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；</a:t>
            </a:r>
            <a:endParaRPr lang="en-US" altLang="zh-CN" sz="1400" b="1" smtClean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climit</a:t>
            </a: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：定义浓度</a:t>
            </a:r>
            <a:r>
              <a:rPr lang="zh-CN" altLang="en-US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归一化因子</a:t>
            </a:r>
            <a:endParaRPr lang="zh-CN" altLang="en-US" sz="1400" b="1" smtClean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smtClean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method newton trap maxtrap=10 </a:t>
            </a:r>
            <a:r>
              <a:rPr lang="en-US" altLang="zh-CN" b="1" smtClean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\</a:t>
            </a:r>
            <a:endParaRPr lang="en-US" altLang="zh-CN" b="1" smtClean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smtClean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climit=1e-4</a:t>
            </a:r>
            <a:r>
              <a:rPr lang="en-US" altLang="zh-CN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b="1" smtClean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mtClean="0">
                <a:latin typeface="Times New Roman" panose="02020603050405020304" charset="0"/>
                <a:cs typeface="Times New Roman" panose="02020603050405020304" charset="0"/>
              </a:rPr>
              <a:t>solve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init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log </a:t>
            </a:r>
            <a:r>
              <a:rPr lang="zh-CN" altLang="en-US" smtClean="0">
                <a:latin typeface="Times New Roman" panose="02020603050405020304" charset="0"/>
                <a:cs typeface="Times New Roman" panose="02020603050405020304" charset="0"/>
              </a:rPr>
              <a:t>outf</a:t>
            </a:r>
            <a:r>
              <a:rPr lang="en-US" altLang="zh-CN" smtClean="0">
                <a:latin typeface="Times New Roman" panose="02020603050405020304" charset="0"/>
                <a:cs typeface="Times New Roman" panose="02020603050405020304" charset="0"/>
              </a:rPr>
              <a:t>ile</a:t>
            </a:r>
            <a:r>
              <a:rPr lang="zh-CN" altLang="en-US" smtClean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diodezener.log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solve vanode=-0.25 vstep=-0.25 vfinal=-10 </a:t>
            </a:r>
            <a:r>
              <a:rPr lang="zh-CN" altLang="en-US" smtClean="0">
                <a:latin typeface="Times New Roman" panose="02020603050405020304" charset="0"/>
                <a:cs typeface="Times New Roman" panose="02020603050405020304" charset="0"/>
              </a:rPr>
              <a:t>name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=anode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tonyplot diodezener.</a:t>
            </a:r>
            <a:r>
              <a:rPr lang="zh-CN" altLang="en-US" smtClean="0">
                <a:latin typeface="Times New Roman" panose="02020603050405020304" charset="0"/>
                <a:cs typeface="Times New Roman" panose="02020603050405020304" charset="0"/>
              </a:rPr>
              <a:t>log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quit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779912" y="1691030"/>
            <a:ext cx="5193361" cy="2359561"/>
            <a:chOff x="4951175" y="3880383"/>
            <a:chExt cx="4032000" cy="2080359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175" y="3880383"/>
              <a:ext cx="4032000" cy="2080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" name="组合 1"/>
            <p:cNvGrpSpPr/>
            <p:nvPr/>
          </p:nvGrpSpPr>
          <p:grpSpPr>
            <a:xfrm>
              <a:off x="7044604" y="4003407"/>
              <a:ext cx="1334737" cy="1858741"/>
              <a:chOff x="6807372" y="2511843"/>
              <a:chExt cx="1334737" cy="1858741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6807372" y="2511843"/>
                <a:ext cx="0" cy="18587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6838454" y="3230854"/>
                <a:ext cx="1303655" cy="32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稳压工作电压</a:t>
                </a:r>
                <a:endParaRPr lang="zh-CN" altLang="en-US"/>
              </a:p>
            </p:txBody>
          </p:sp>
        </p:grpSp>
      </p:grpSp>
      <p:cxnSp>
        <p:nvCxnSpPr>
          <p:cNvPr id="5" name="直接箭头连接符 4"/>
          <p:cNvCxnSpPr/>
          <p:nvPr/>
        </p:nvCxnSpPr>
        <p:spPr>
          <a:xfrm flipH="1">
            <a:off x="6516370" y="2964180"/>
            <a:ext cx="508000" cy="753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95830" y="2277110"/>
            <a:ext cx="47739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欢迎交流！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35,&quot;width&quot;:8343}"/>
</p:tagLst>
</file>

<file path=ppt/tags/tag2.xml><?xml version="1.0" encoding="utf-8"?>
<p:tagLst xmlns:p="http://schemas.openxmlformats.org/presentationml/2006/main">
  <p:tag name="KSO_WM_UNIT_PLACING_PICTURE_USER_VIEWPORT" val="{&quot;height&quot;:1040,&quot;width&quot;:5199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PP_MARK_KEY" val="5e5175a0-fb0f-4147-9181-1a1cbed42dca"/>
  <p:tag name="COMMONDATA" val="eyJoZGlkIjoiZWIyNzc2MjMzNzRkNWUyZGE3ZDc5M2U5NWFlODgxYWQifQ=="/>
  <p:tag name="commondata" val="eyJoZGlkIjoiOWY0MjcyYTk3ZTNmZDEyODJkNzk2M2Q2MDU5YWY4Mz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5538</Words>
  <Application>WPS 演示</Application>
  <PresentationFormat>全屏显示(4:3)</PresentationFormat>
  <Paragraphs>459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宋体</vt:lpstr>
      <vt:lpstr>Wingdings</vt:lpstr>
      <vt:lpstr>Wingdings 2</vt:lpstr>
      <vt:lpstr>Wingdings</vt:lpstr>
      <vt:lpstr>微软雅黑</vt:lpstr>
      <vt:lpstr>Times New Roman</vt:lpstr>
      <vt:lpstr>Symbol</vt:lpstr>
      <vt:lpstr>Perpetua</vt:lpstr>
      <vt:lpstr>Arial Unicode MS</vt:lpstr>
      <vt:lpstr>Franklin Gothic Book</vt:lpstr>
      <vt:lpstr>幼圆</vt:lpstr>
      <vt:lpstr>Calibri</vt:lpstr>
      <vt:lpstr>Miss Sweetie</vt:lpstr>
      <vt:lpstr>Comic Book</vt:lpstr>
      <vt:lpstr>汉仪超粗圆简</vt:lpstr>
      <vt:lpstr>平衡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徐琳琳</cp:lastModifiedBy>
  <cp:revision>1302</cp:revision>
  <dcterms:created xsi:type="dcterms:W3CDTF">2020-03-29T10:36:00Z</dcterms:created>
  <dcterms:modified xsi:type="dcterms:W3CDTF">2025-10-22T01:50:11Z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4267DDCF1908492D9CB9FE93E8116E22_13</vt:lpwstr>
  </property>
  <property fmtid="{D5CDD505-2E9C-101B-9397-08002B2CF9AE}" pid="3" name="KSOProductBuildVer">
    <vt:lpwstr>2052-12.1.0.23125</vt:lpwstr>
  </property>
</Properties>
</file>