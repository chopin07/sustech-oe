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handoutMasterIdLst>
    <p:handoutMasterId r:id="rId16"/>
  </p:handoutMasterIdLst>
  <p:sldIdLst>
    <p:sldId id="265" r:id="rId3"/>
    <p:sldId id="323" r:id="rId4"/>
    <p:sldId id="679" r:id="rId5"/>
    <p:sldId id="701" r:id="rId6"/>
    <p:sldId id="680" r:id="rId7"/>
    <p:sldId id="676" r:id="rId8"/>
    <p:sldId id="670" r:id="rId9"/>
    <p:sldId id="700" r:id="rId10"/>
    <p:sldId id="663" r:id="rId11"/>
    <p:sldId id="702" r:id="rId13"/>
    <p:sldId id="710" r:id="rId14"/>
    <p:sldId id="343" r:id="rId15"/>
  </p:sldIdLst>
  <p:sldSz cx="9144000" cy="6858000" type="screen4x3"/>
  <p:notesSz cx="6858000" cy="9144000"/>
  <p:custDataLst>
    <p:tags r:id="rId2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6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2ABC"/>
    <a:srgbClr val="5407A3"/>
    <a:srgbClr val="0000FF"/>
    <a:srgbClr val="F85208"/>
    <a:srgbClr val="FF6C0D"/>
    <a:srgbClr val="9716AE"/>
    <a:srgbClr val="1D41D5"/>
    <a:srgbClr val="D869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65" d="100"/>
          <a:sy n="65" d="100"/>
        </p:scale>
        <p:origin x="-1296" y="-68"/>
      </p:cViewPr>
      <p:guideLst>
        <p:guide orient="horz" pos="2160"/>
        <p:guide pos="286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gs" Target="tags/tag2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圆角矩形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/>
              <a:t>单击此处编辑母版副标题样式</a:t>
            </a:r>
            <a:endParaRPr kumimoji="0" lang="en-US"/>
          </a:p>
        </p:txBody>
      </p:sp>
      <p:sp>
        <p:nvSpPr>
          <p:cNvPr id="28" name="日期占位符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圆角矩形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11" name="内容占位符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13" name="内容占位符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圆角矩形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矩形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矩形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/>
              <a:t>单击图标添加图片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圆角矩形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标题占位符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  <a:p>
            <a:pPr lvl="1" eaLnBrk="1" latinLnBrk="0" hangingPunct="1"/>
            <a:r>
              <a:rPr kumimoji="0" lang="zh-CN" altLang="en-US"/>
              <a:t>第二级</a:t>
            </a:r>
            <a:endParaRPr kumimoji="0" lang="zh-CN" altLang="en-US"/>
          </a:p>
          <a:p>
            <a:pPr lvl="2" eaLnBrk="1" latinLnBrk="0" hangingPunct="1"/>
            <a:r>
              <a:rPr kumimoji="0" lang="zh-CN" altLang="en-US"/>
              <a:t>第三级</a:t>
            </a:r>
            <a:endParaRPr kumimoji="0" lang="zh-CN" altLang="en-US"/>
          </a:p>
          <a:p>
            <a:pPr lvl="3" eaLnBrk="1" latinLnBrk="0" hangingPunct="1"/>
            <a:r>
              <a:rPr kumimoji="0" lang="zh-CN" altLang="en-US"/>
              <a:t>第四级</a:t>
            </a:r>
            <a:endParaRPr kumimoji="0" lang="zh-CN" altLang="en-US"/>
          </a:p>
          <a:p>
            <a:pPr lvl="4" eaLnBrk="1" latinLnBrk="0" hangingPunct="1"/>
            <a:r>
              <a:rPr kumimoji="0" lang="zh-CN" altLang="en-US"/>
              <a:t>第五级</a:t>
            </a:r>
            <a:endParaRPr kumimoji="0" lang="en-US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 panose="05020102010507070707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 panose="05020102010507070707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 panose="05020102010507070707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79705" y="1842135"/>
            <a:ext cx="873506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sz="4400" b="1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半导体器件导论</a:t>
            </a:r>
            <a:r>
              <a:rPr sz="4400" b="1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4400" b="1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</a:t>
            </a:r>
            <a:r>
              <a:rPr lang="zh-CN" sz="4400" b="1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</a:t>
            </a:r>
            <a:endParaRPr lang="zh-CN" sz="4400" b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16785" y="3693795"/>
            <a:ext cx="657098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3200" b="1" dirty="0">
                <a:solidFill>
                  <a:srgbClr val="002060"/>
                </a:solidFill>
                <a:latin typeface="Times New Roman" panose="02020603050405020304" charset="0"/>
                <a:cs typeface="Times New Roman" panose="02020603050405020304" charset="0"/>
              </a:rPr>
              <a:t>主讲人：徐琳琳</a:t>
            </a:r>
            <a:endParaRPr lang="zh-CN" altLang="en-US" sz="3200" b="1" dirty="0">
              <a:solidFill>
                <a:srgbClr val="00206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00000"/>
              </a:lnSpc>
            </a:pPr>
            <a:r>
              <a:rPr lang="zh-CN" altLang="en-US" sz="3200" b="1" dirty="0">
                <a:solidFill>
                  <a:srgbClr val="00206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邮</a:t>
            </a:r>
            <a:r>
              <a:rPr lang="en-US" altLang="zh-CN" sz="3200" b="1" dirty="0">
                <a:solidFill>
                  <a:srgbClr val="00206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</a:t>
            </a:r>
            <a:r>
              <a:rPr lang="zh-CN" altLang="en-US" sz="3200" b="1" dirty="0">
                <a:solidFill>
                  <a:srgbClr val="00206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箱：</a:t>
            </a:r>
            <a:r>
              <a:rPr lang="en-US" altLang="zh-CN" sz="3200" b="1" u="sng" dirty="0">
                <a:solidFill>
                  <a:srgbClr val="0000FF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xulinalec@163.com</a:t>
            </a:r>
            <a:endParaRPr lang="zh-CN" altLang="en-US" sz="3200" b="1" u="sng" dirty="0">
              <a:solidFill>
                <a:srgbClr val="00206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2" name="直接连接符 1"/>
          <p:cNvCxnSpPr/>
          <p:nvPr/>
        </p:nvCxnSpPr>
        <p:spPr>
          <a:xfrm>
            <a:off x="394335" y="6093460"/>
            <a:ext cx="8311515" cy="0"/>
          </a:xfrm>
          <a:prstGeom prst="line">
            <a:avLst/>
          </a:prstGeom>
          <a:ln w="98425">
            <a:gradFill>
              <a:gsLst>
                <a:gs pos="41000">
                  <a:schemeClr val="accent1">
                    <a:lumMod val="5000"/>
                    <a:lumOff val="95000"/>
                  </a:schemeClr>
                </a:gs>
                <a:gs pos="0">
                  <a:schemeClr val="accent1">
                    <a:lumMod val="45000"/>
                    <a:lumOff val="55000"/>
                  </a:schemeClr>
                </a:gs>
                <a:gs pos="84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 descr="10 南科大与电子系（上下橙蓝）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47720" y="332740"/>
            <a:ext cx="2828290" cy="873760"/>
          </a:xfrm>
          <a:prstGeom prst="rect">
            <a:avLst/>
          </a:prstGeom>
          <a:solidFill>
            <a:schemeClr val="bg1"/>
          </a:solidFill>
          <a:effectLst>
            <a:glow rad="330200">
              <a:srgbClr val="FF0000">
                <a:alpha val="40000"/>
              </a:srgbClr>
            </a:glo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"/>
          <p:cNvSpPr txBox="1"/>
          <p:nvPr/>
        </p:nvSpPr>
        <p:spPr>
          <a:xfrm>
            <a:off x="2051473" y="598805"/>
            <a:ext cx="48768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主要内容</a:t>
            </a:r>
            <a:endParaRPr lang="zh-CN" altLang="en-US" sz="5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223645" y="2420888"/>
            <a:ext cx="740791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en-US" altLang="zh-CN" sz="3200" b="1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. </a:t>
            </a:r>
            <a:r>
              <a:rPr lang="zh-CN" altLang="en-US" sz="3200" b="1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什么</a:t>
            </a:r>
            <a:r>
              <a:rPr lang="zh-CN" altLang="en-US" sz="32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是双极型</a:t>
            </a:r>
            <a:r>
              <a:rPr lang="zh-CN" altLang="en-US" sz="32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三极管</a:t>
            </a:r>
            <a:r>
              <a:rPr lang="en-US" altLang="zh-CN" sz="3200" b="1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?</a:t>
            </a:r>
            <a:endParaRPr lang="en-US" altLang="zh-CN" sz="32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fontAlgn="auto">
              <a:lnSpc>
                <a:spcPct val="150000"/>
              </a:lnSpc>
            </a:pPr>
            <a:r>
              <a:rPr lang="en-US" altLang="zh-CN" sz="3200" b="1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2. </a:t>
            </a:r>
            <a:r>
              <a:rPr lang="zh-CN" altLang="en-US" sz="3200" b="1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实验五</a:t>
            </a:r>
            <a:r>
              <a:rPr lang="en-US" altLang="zh-CN" sz="3200" b="1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:</a:t>
            </a: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" panose="05000000000000000000" pitchFamily="2" charset="2"/>
              </a:rPr>
              <a:t>双极型</a:t>
            </a: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三极管</a:t>
            </a:r>
            <a:r>
              <a:rPr lang="en-US" altLang="zh-CN" sz="3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(BJT)</a:t>
            </a: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特性仿真</a:t>
            </a:r>
            <a:endParaRPr lang="zh-CN" altLang="en-US" sz="32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1223645" y="72390"/>
            <a:ext cx="6696710" cy="360045"/>
          </a:xfrm>
          <a:prstGeom prst="roundRect">
            <a:avLst/>
          </a:prstGeom>
          <a:solidFill>
            <a:schemeClr val="accent1">
              <a:alpha val="8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http://img.mp.itc.cn/upload/20170616/9e0d685d82ea479990346fdfed5e9acb_th.jpg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90" b="17175"/>
          <a:stretch>
            <a:fillRect/>
          </a:stretch>
        </p:blipFill>
        <p:spPr bwMode="auto">
          <a:xfrm>
            <a:off x="4282440" y="2469515"/>
            <a:ext cx="4603750" cy="2713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95605" y="5661660"/>
            <a:ext cx="840486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mtClean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美国贝尔实验室</a:t>
            </a:r>
            <a:r>
              <a:rPr lang="zh-CN" altLang="en-US" smtClean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巴丁、肖克利、布莱顿</a:t>
            </a:r>
            <a:r>
              <a:rPr lang="zh-CN" altLang="en-US" sz="1600" b="1" smtClean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</a:t>
            </a:r>
            <a:r>
              <a:rPr lang="en-US" altLang="zh-CN" sz="1600" b="1" dirty="0" smtClean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1947</a:t>
            </a:r>
            <a:r>
              <a:rPr lang="zh-CN" altLang="en-US" sz="1600" b="1" dirty="0" smtClean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年）</a:t>
            </a:r>
            <a:r>
              <a:rPr lang="zh-CN" altLang="en-US" dirty="0" smtClean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因发明晶体三极管</a:t>
            </a:r>
            <a:endParaRPr lang="en-US" altLang="zh-CN" dirty="0" smtClean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dirty="0" smtClean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同获</a:t>
            </a:r>
            <a:r>
              <a:rPr lang="en-US" altLang="zh-CN" dirty="0" smtClean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1956</a:t>
            </a:r>
            <a:r>
              <a:rPr lang="zh-CN" altLang="en-US" dirty="0" smtClean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年</a:t>
            </a:r>
            <a:r>
              <a:rPr lang="zh-CN" altLang="en-US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诺贝尔物理学奖</a:t>
            </a:r>
            <a:r>
              <a:rPr lang="zh-CN" altLang="en-US" dirty="0" smtClean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en-US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787769" y="5183146"/>
            <a:ext cx="251863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400" b="1" dirty="0" smtClean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第一个晶体三极管（锗材料）</a:t>
            </a:r>
            <a:endParaRPr lang="en-US" altLang="zh-CN" sz="1400" b="1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51520" y="797564"/>
            <a:ext cx="7848872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b="1" dirty="0" smtClean="0">
                <a:latin typeface="微软雅黑" panose="020B0503020204020204" charset="-122"/>
                <a:ea typeface="微软雅黑" panose="020B0503020204020204" charset="-122"/>
              </a:rPr>
              <a:t>三极管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</a:rPr>
              <a:t>的出现，使得</a:t>
            </a:r>
            <a:r>
              <a:rPr lang="en-US" altLang="zh-CN" dirty="0" smtClean="0">
                <a:latin typeface="微软雅黑" panose="020B0503020204020204" charset="-122"/>
                <a:ea typeface="微软雅黑" panose="020B0503020204020204" charset="-122"/>
              </a:rPr>
              <a:t>PN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</a:rPr>
              <a:t>结的应用发生了</a:t>
            </a:r>
            <a:r>
              <a:rPr lang="zh-CN" altLang="en-US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质的飞越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</a:rPr>
              <a:t>；</a:t>
            </a:r>
            <a:endParaRPr lang="en-US" altLang="zh-CN" dirty="0" smtClean="0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b="1" dirty="0" smtClean="0">
                <a:latin typeface="微软雅黑" panose="020B0503020204020204" charset="-122"/>
                <a:ea typeface="微软雅黑" panose="020B0503020204020204" charset="-122"/>
              </a:rPr>
              <a:t>三极管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</a:rPr>
              <a:t>是电子电路中的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核心器件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</a:rPr>
              <a:t>之一，被称为电子线路的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灵魂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；</a:t>
            </a:r>
            <a:endParaRPr lang="zh-CN" altLang="en-US" b="1" dirty="0" smtClean="0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b="1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三极管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的主要应用：</a:t>
            </a:r>
            <a:r>
              <a:rPr lang="zh-CN" altLang="en-US" b="1" dirty="0" smtClean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信号放大、振荡、开关器件、各种集成电路等。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3" name="Picture 4" descr="http://img.mp.itc.cn/upload/20170616/59cde82c71a2459ca47cd16c196228f6_th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46" t="16206" r="23149" b="51667"/>
          <a:stretch>
            <a:fillRect/>
          </a:stretch>
        </p:blipFill>
        <p:spPr bwMode="auto">
          <a:xfrm>
            <a:off x="5796136" y="324485"/>
            <a:ext cx="1587304" cy="627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 descr="http://img.mp.itc.cn/upload/20170616/59cde82c71a2459ca47cd16c196228f6_th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46" t="48663" r="23149" b="10149"/>
          <a:stretch>
            <a:fillRect/>
          </a:stretch>
        </p:blipFill>
        <p:spPr bwMode="auto">
          <a:xfrm>
            <a:off x="7312112" y="142655"/>
            <a:ext cx="1652376" cy="838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文本框 3"/>
          <p:cNvSpPr txBox="1"/>
          <p:nvPr/>
        </p:nvSpPr>
        <p:spPr>
          <a:xfrm>
            <a:off x="179070" y="-99060"/>
            <a:ext cx="464629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lnSpc>
                <a:spcPct val="200000"/>
              </a:lnSpc>
              <a:buClrTx/>
              <a:buSzTx/>
              <a:buFontTx/>
              <a:buNone/>
            </a:pPr>
            <a:r>
              <a:rPr 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 </a:t>
            </a:r>
            <a:r>
              <a:rPr lang="zh-CN" altLang="en-US" sz="2400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什么是双极型三极管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?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100" name="图片 99"/>
          <p:cNvPicPr/>
          <p:nvPr/>
        </p:nvPicPr>
        <p:blipFill>
          <a:blip r:embed="rId3"/>
          <a:stretch>
            <a:fillRect/>
          </a:stretch>
        </p:blipFill>
        <p:spPr>
          <a:xfrm>
            <a:off x="323850" y="2565400"/>
            <a:ext cx="3784600" cy="25463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矩形 3"/>
          <p:cNvSpPr/>
          <p:nvPr/>
        </p:nvSpPr>
        <p:spPr>
          <a:xfrm>
            <a:off x="866680" y="5157192"/>
            <a:ext cx="3057248" cy="307777"/>
          </a:xfrm>
          <a:prstGeom prst="rect">
            <a:avLst/>
          </a:prstGeom>
        </p:spPr>
        <p:txBody>
          <a:bodyPr wrap="none" rtlCol="0" anchor="t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400" b="1" smtClean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巴丁</a:t>
            </a:r>
            <a:r>
              <a:rPr lang="zh-CN" altLang="en-US" sz="14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zh-CN" altLang="en-US" sz="1400" b="1" smtClean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肖克利、</a:t>
            </a:r>
            <a:r>
              <a:rPr lang="zh-CN" altLang="en-US" sz="1400" b="1" smtClean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布莱顿（自左向右）</a:t>
            </a:r>
            <a:endParaRPr lang="zh-CN" altLang="en-US" sz="1400" b="1" dirty="0" smtClean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228080" y="1891665"/>
            <a:ext cx="792480" cy="935990"/>
          </a:xfrm>
          <a:prstGeom prst="rect">
            <a:avLst/>
          </a:prstGeom>
          <a:solidFill>
            <a:srgbClr val="FF6C0D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</a:rPr>
              <a:t>P</a:t>
            </a:r>
            <a:endParaRPr lang="en-US" altLang="zh-CN" sz="2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228080" y="2827655"/>
            <a:ext cx="792480" cy="384175"/>
          </a:xfrm>
          <a:prstGeom prst="rect">
            <a:avLst/>
          </a:prstGeom>
          <a:solidFill>
            <a:srgbClr val="00B0F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</a:rPr>
              <a:t>N</a:t>
            </a:r>
            <a:endParaRPr lang="en-US" altLang="zh-CN" sz="2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228080" y="3211830"/>
            <a:ext cx="792480" cy="935990"/>
          </a:xfrm>
          <a:prstGeom prst="rect">
            <a:avLst/>
          </a:prstGeom>
          <a:solidFill>
            <a:srgbClr val="F85208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</a:rPr>
              <a:t>P</a:t>
            </a:r>
            <a:endParaRPr lang="en-US" altLang="zh-CN" sz="2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439545" y="1815465"/>
            <a:ext cx="792480" cy="935990"/>
          </a:xfrm>
          <a:prstGeom prst="rect">
            <a:avLst/>
          </a:prstGeom>
          <a:solidFill>
            <a:srgbClr val="00B0F0">
              <a:alpha val="59000"/>
            </a:srgb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</a:rPr>
              <a:t>N</a:t>
            </a:r>
            <a:endParaRPr lang="en-US" altLang="zh-CN" sz="2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439545" y="2751455"/>
            <a:ext cx="792480" cy="384175"/>
          </a:xfrm>
          <a:prstGeom prst="rect">
            <a:avLst/>
          </a:prstGeom>
          <a:solidFill>
            <a:srgbClr val="FF6C0D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</a:rPr>
              <a:t>P</a:t>
            </a:r>
            <a:endParaRPr lang="en-US" altLang="zh-CN" sz="2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439545" y="3135630"/>
            <a:ext cx="792480" cy="935990"/>
          </a:xfrm>
          <a:prstGeom prst="rect">
            <a:avLst/>
          </a:prstGeom>
          <a:solidFill>
            <a:srgbClr val="00B0F0">
              <a:alpha val="62000"/>
            </a:srgb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</a:rPr>
              <a:t>N</a:t>
            </a:r>
            <a:endParaRPr lang="en-US" altLang="zh-CN" sz="2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39115" y="2111375"/>
            <a:ext cx="9169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发射区</a:t>
            </a:r>
            <a:endParaRPr lang="zh-CN" altLang="en-US" sz="14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82625" y="2795905"/>
            <a:ext cx="9169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基区</a:t>
            </a:r>
            <a:endParaRPr lang="zh-CN" altLang="en-US" sz="14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39115" y="3453765"/>
            <a:ext cx="9169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集电区</a:t>
            </a:r>
            <a:endParaRPr lang="zh-CN" altLang="en-US" sz="14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251710" y="2625725"/>
            <a:ext cx="9169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发射结</a:t>
            </a:r>
            <a:endParaRPr lang="zh-CN" altLang="en-US" sz="14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251710" y="2967990"/>
            <a:ext cx="9169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集电结</a:t>
            </a:r>
            <a:endParaRPr lang="zh-CN" altLang="en-US" sz="14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6" name="直接连接符 15"/>
          <p:cNvCxnSpPr/>
          <p:nvPr/>
        </p:nvCxnSpPr>
        <p:spPr>
          <a:xfrm flipV="1">
            <a:off x="1816735" y="1137920"/>
            <a:ext cx="0" cy="647700"/>
          </a:xfrm>
          <a:prstGeom prst="line">
            <a:avLst/>
          </a:prstGeom>
          <a:ln w="25400"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V="1">
            <a:off x="1835785" y="4101465"/>
            <a:ext cx="0" cy="647700"/>
          </a:xfrm>
          <a:prstGeom prst="line">
            <a:avLst/>
          </a:prstGeom>
          <a:ln w="25400"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2267585" y="2977515"/>
            <a:ext cx="1370965" cy="0"/>
          </a:xfrm>
          <a:prstGeom prst="line">
            <a:avLst/>
          </a:prstGeom>
          <a:ln w="25400"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1475105" y="834390"/>
            <a:ext cx="9169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发射极</a:t>
            </a:r>
            <a:endParaRPr lang="zh-CN" altLang="en-US" sz="14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707765" y="2828925"/>
            <a:ext cx="9169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基</a:t>
            </a:r>
            <a:r>
              <a:rPr lang="zh-CN" altLang="en-US" sz="1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极</a:t>
            </a:r>
            <a:endParaRPr lang="zh-CN" altLang="en-US" sz="14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475105" y="4794885"/>
            <a:ext cx="9169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集电</a:t>
            </a:r>
            <a:r>
              <a:rPr lang="zh-CN" altLang="en-US" sz="1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极</a:t>
            </a:r>
            <a:endParaRPr lang="zh-CN" altLang="en-US" sz="14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6" name="左大括号 25"/>
          <p:cNvSpPr/>
          <p:nvPr/>
        </p:nvSpPr>
        <p:spPr>
          <a:xfrm>
            <a:off x="1188085" y="1858645"/>
            <a:ext cx="125095" cy="819150"/>
          </a:xfrm>
          <a:prstGeom prst="leftBrace">
            <a:avLst>
              <a:gd name="adj1" fmla="val 50440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左大括号 26"/>
          <p:cNvSpPr/>
          <p:nvPr/>
        </p:nvSpPr>
        <p:spPr>
          <a:xfrm>
            <a:off x="1188085" y="3202940"/>
            <a:ext cx="125095" cy="819150"/>
          </a:xfrm>
          <a:prstGeom prst="leftBrace">
            <a:avLst>
              <a:gd name="adj1" fmla="val 50440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左大括号 27"/>
          <p:cNvSpPr/>
          <p:nvPr/>
        </p:nvSpPr>
        <p:spPr>
          <a:xfrm>
            <a:off x="1217295" y="2742565"/>
            <a:ext cx="88900" cy="417830"/>
          </a:xfrm>
          <a:prstGeom prst="leftBrace">
            <a:avLst>
              <a:gd name="adj1" fmla="val 50440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3"/>
          <p:cNvSpPr txBox="1"/>
          <p:nvPr/>
        </p:nvSpPr>
        <p:spPr>
          <a:xfrm>
            <a:off x="179070" y="-99060"/>
            <a:ext cx="464629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l">
              <a:lnSpc>
                <a:spcPct val="200000"/>
              </a:lnSpc>
              <a:buClrTx/>
              <a:buSzTx/>
              <a:buFontTx/>
              <a:buNone/>
            </a:pPr>
            <a:r>
              <a:rPr 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 </a:t>
            </a:r>
            <a:r>
              <a:rPr lang="zh-CN" altLang="en-US" sz="2400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什么是双极型三极管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?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901350" y="5171974"/>
            <a:ext cx="2378710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1400" b="1" dirty="0" smtClean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NPN</a:t>
            </a:r>
            <a:r>
              <a:rPr lang="zh-CN" altLang="en-US" sz="1400" b="1" dirty="0" smtClean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型双极型三极管</a:t>
            </a:r>
            <a:r>
              <a:rPr lang="zh-CN" altLang="en-US" sz="1400" b="1" dirty="0" smtClean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（硅）</a:t>
            </a:r>
            <a:endParaRPr lang="zh-CN" altLang="en-US" sz="1400" b="1" dirty="0" smtClean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5505100" y="4364889"/>
            <a:ext cx="2345055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 dirty="0" smtClean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PNP</a:t>
            </a:r>
            <a:r>
              <a:rPr lang="zh-CN" altLang="en-US" sz="1400" b="1" dirty="0" smtClean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型双极型三极管（鍺）</a:t>
            </a:r>
            <a:endParaRPr lang="zh-CN" altLang="en-US" sz="1400" b="1" dirty="0" smtClean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TextBox 5"/>
          <p:cNvSpPr txBox="1"/>
          <p:nvPr/>
        </p:nvSpPr>
        <p:spPr>
          <a:xfrm>
            <a:off x="4140200" y="117475"/>
            <a:ext cx="4378325" cy="1383665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400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三个区</a:t>
            </a:r>
            <a:r>
              <a:rPr lang="zh-CN" altLang="en-US" sz="1400" b="1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</a:t>
            </a:r>
            <a:r>
              <a:rPr lang="zh-CN" altLang="en-US" sz="1400" b="1" smtClean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发射区、基区和集电区</a:t>
            </a:r>
            <a:r>
              <a:rPr lang="zh-CN" altLang="en-US" sz="1400" b="1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</a:t>
            </a:r>
            <a:endParaRPr lang="en-US" altLang="zh-CN" sz="1400" b="1" dirty="0" smtClean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400" b="1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三</a:t>
            </a:r>
            <a:r>
              <a:rPr lang="zh-CN" altLang="en-US" sz="1400" b="1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个电极（</a:t>
            </a:r>
            <a:r>
              <a:rPr lang="zh-CN" altLang="en-US" sz="1400" b="1" smtClean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发射极、基极和集电极</a:t>
            </a:r>
            <a:r>
              <a:rPr lang="zh-CN" altLang="en-US" sz="1400" b="1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en-US" altLang="zh-CN" sz="1400" b="1" dirty="0" smtClean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400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两个</a:t>
            </a:r>
            <a:r>
              <a:rPr lang="en-US" altLang="zh-CN" sz="1400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PN</a:t>
            </a:r>
            <a:r>
              <a:rPr lang="zh-CN" altLang="en-US" sz="1400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结</a:t>
            </a:r>
            <a:r>
              <a:rPr lang="zh-CN" altLang="en-US" sz="1400" b="1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</a:t>
            </a:r>
            <a:r>
              <a:rPr lang="zh-CN" altLang="en-US" sz="1400" b="1" smtClean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发射结和集电结</a:t>
            </a:r>
            <a:r>
              <a:rPr lang="zh-CN" altLang="en-US" sz="1400" b="1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</a:t>
            </a:r>
            <a:endParaRPr lang="zh-CN" altLang="en-US" sz="1400" b="1" dirty="0" smtClean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1400" b="1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两种载流子</a:t>
            </a:r>
            <a:r>
              <a:rPr lang="zh-CN" altLang="en-US" sz="1400" b="1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（电子和空穴）参与导电（即</a:t>
            </a:r>
            <a:r>
              <a:rPr lang="zh-CN" altLang="en-US" sz="1400" b="1" smtClean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双极型</a:t>
            </a:r>
            <a:r>
              <a:rPr lang="zh-CN" altLang="en-US" sz="1400" b="1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</a:t>
            </a:r>
            <a:endParaRPr lang="en-US" altLang="zh-CN" sz="1400" b="1" dirty="0" smtClean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2831465" y="860425"/>
            <a:ext cx="1666875" cy="1760139"/>
            <a:chOff x="4685" y="1061"/>
            <a:chExt cx="2902" cy="3179"/>
          </a:xfrm>
        </p:grpSpPr>
        <p:grpSp>
          <p:nvGrpSpPr>
            <p:cNvPr id="41" name="组合 40"/>
            <p:cNvGrpSpPr/>
            <p:nvPr/>
          </p:nvGrpSpPr>
          <p:grpSpPr>
            <a:xfrm>
              <a:off x="4747" y="1061"/>
              <a:ext cx="1396" cy="3179"/>
              <a:chOff x="4747" y="1061"/>
              <a:chExt cx="1396" cy="3179"/>
            </a:xfrm>
          </p:grpSpPr>
          <p:cxnSp>
            <p:nvCxnSpPr>
              <p:cNvPr id="35" name="直接箭头连接符 34"/>
              <p:cNvCxnSpPr/>
              <p:nvPr/>
            </p:nvCxnSpPr>
            <p:spPr>
              <a:xfrm>
                <a:off x="5689" y="2729"/>
                <a:ext cx="454" cy="454"/>
              </a:xfrm>
              <a:prstGeom prst="straightConnector1">
                <a:avLst/>
              </a:prstGeom>
              <a:ln w="2222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箭头连接符 35"/>
              <p:cNvCxnSpPr/>
              <p:nvPr/>
            </p:nvCxnSpPr>
            <p:spPr>
              <a:xfrm flipV="1">
                <a:off x="5689" y="2110"/>
                <a:ext cx="454" cy="454"/>
              </a:xfrm>
              <a:prstGeom prst="straightConnector1">
                <a:avLst/>
              </a:prstGeom>
              <a:ln w="22225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/>
              <p:cNvCxnSpPr/>
              <p:nvPr/>
            </p:nvCxnSpPr>
            <p:spPr>
              <a:xfrm>
                <a:off x="5689" y="2110"/>
                <a:ext cx="0" cy="1068"/>
              </a:xfrm>
              <a:prstGeom prst="line">
                <a:avLst/>
              </a:prstGeom>
              <a:ln w="222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/>
              <p:cNvCxnSpPr/>
              <p:nvPr/>
            </p:nvCxnSpPr>
            <p:spPr>
              <a:xfrm>
                <a:off x="4747" y="2659"/>
                <a:ext cx="928" cy="0"/>
              </a:xfrm>
              <a:prstGeom prst="line">
                <a:avLst/>
              </a:prstGeom>
              <a:ln w="222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/>
              <p:cNvCxnSpPr/>
              <p:nvPr/>
            </p:nvCxnSpPr>
            <p:spPr>
              <a:xfrm>
                <a:off x="6129" y="3172"/>
                <a:ext cx="0" cy="1068"/>
              </a:xfrm>
              <a:prstGeom prst="line">
                <a:avLst/>
              </a:prstGeom>
              <a:ln w="222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/>
              <p:cNvCxnSpPr/>
              <p:nvPr/>
            </p:nvCxnSpPr>
            <p:spPr>
              <a:xfrm>
                <a:off x="6143" y="1061"/>
                <a:ext cx="0" cy="1068"/>
              </a:xfrm>
              <a:prstGeom prst="line">
                <a:avLst/>
              </a:prstGeom>
              <a:ln w="222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2" name="文本框 41"/>
            <p:cNvSpPr txBox="1"/>
            <p:nvPr/>
          </p:nvSpPr>
          <p:spPr>
            <a:xfrm>
              <a:off x="5612" y="3372"/>
              <a:ext cx="1444" cy="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E</a:t>
              </a:r>
              <a:endParaRPr lang="en-US" altLang="zh-CN" sz="1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4685" y="2137"/>
              <a:ext cx="1444" cy="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B</a:t>
              </a:r>
              <a:endParaRPr lang="en-US" altLang="zh-CN" sz="1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6143" y="1353"/>
              <a:ext cx="1444" cy="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C</a:t>
              </a:r>
              <a:endParaRPr lang="en-US" altLang="zh-CN" sz="1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sp>
        <p:nvSpPr>
          <p:cNvPr id="57" name="椭圆 56"/>
          <p:cNvSpPr/>
          <p:nvPr/>
        </p:nvSpPr>
        <p:spPr>
          <a:xfrm>
            <a:off x="3615690" y="744220"/>
            <a:ext cx="108000" cy="108000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椭圆 57"/>
          <p:cNvSpPr/>
          <p:nvPr/>
        </p:nvSpPr>
        <p:spPr>
          <a:xfrm>
            <a:off x="3599815" y="2620645"/>
            <a:ext cx="108000" cy="108000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椭圆 58"/>
          <p:cNvSpPr/>
          <p:nvPr/>
        </p:nvSpPr>
        <p:spPr>
          <a:xfrm>
            <a:off x="2759075" y="1683385"/>
            <a:ext cx="108000" cy="108000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0" name="组合 59"/>
          <p:cNvGrpSpPr/>
          <p:nvPr/>
        </p:nvGrpSpPr>
        <p:grpSpPr>
          <a:xfrm>
            <a:off x="7233285" y="1893570"/>
            <a:ext cx="1666875" cy="1760139"/>
            <a:chOff x="4685" y="1061"/>
            <a:chExt cx="2902" cy="3179"/>
          </a:xfrm>
        </p:grpSpPr>
        <p:grpSp>
          <p:nvGrpSpPr>
            <p:cNvPr id="61" name="组合 60"/>
            <p:cNvGrpSpPr/>
            <p:nvPr/>
          </p:nvGrpSpPr>
          <p:grpSpPr>
            <a:xfrm>
              <a:off x="4747" y="1061"/>
              <a:ext cx="1396" cy="3179"/>
              <a:chOff x="4747" y="1061"/>
              <a:chExt cx="1396" cy="3179"/>
            </a:xfrm>
          </p:grpSpPr>
          <p:cxnSp>
            <p:nvCxnSpPr>
              <p:cNvPr id="62" name="直接箭头连接符 61"/>
              <p:cNvCxnSpPr/>
              <p:nvPr/>
            </p:nvCxnSpPr>
            <p:spPr>
              <a:xfrm>
                <a:off x="5689" y="2729"/>
                <a:ext cx="454" cy="454"/>
              </a:xfrm>
              <a:prstGeom prst="straightConnector1">
                <a:avLst/>
              </a:prstGeom>
              <a:ln w="22225">
                <a:headEnd type="arrow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箭头连接符 62"/>
              <p:cNvCxnSpPr/>
              <p:nvPr/>
            </p:nvCxnSpPr>
            <p:spPr>
              <a:xfrm flipV="1">
                <a:off x="5689" y="2110"/>
                <a:ext cx="454" cy="454"/>
              </a:xfrm>
              <a:prstGeom prst="straightConnector1">
                <a:avLst/>
              </a:prstGeom>
              <a:ln w="22225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接连接符 63"/>
              <p:cNvCxnSpPr/>
              <p:nvPr/>
            </p:nvCxnSpPr>
            <p:spPr>
              <a:xfrm>
                <a:off x="5689" y="2110"/>
                <a:ext cx="0" cy="1068"/>
              </a:xfrm>
              <a:prstGeom prst="line">
                <a:avLst/>
              </a:prstGeom>
              <a:ln w="222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直接连接符 64"/>
              <p:cNvCxnSpPr/>
              <p:nvPr/>
            </p:nvCxnSpPr>
            <p:spPr>
              <a:xfrm>
                <a:off x="4747" y="2659"/>
                <a:ext cx="928" cy="0"/>
              </a:xfrm>
              <a:prstGeom prst="line">
                <a:avLst/>
              </a:prstGeom>
              <a:ln w="222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直接连接符 65"/>
              <p:cNvCxnSpPr/>
              <p:nvPr/>
            </p:nvCxnSpPr>
            <p:spPr>
              <a:xfrm>
                <a:off x="6129" y="3172"/>
                <a:ext cx="0" cy="1068"/>
              </a:xfrm>
              <a:prstGeom prst="line">
                <a:avLst/>
              </a:prstGeom>
              <a:ln w="222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直接连接符 66"/>
              <p:cNvCxnSpPr/>
              <p:nvPr/>
            </p:nvCxnSpPr>
            <p:spPr>
              <a:xfrm>
                <a:off x="6143" y="1061"/>
                <a:ext cx="0" cy="1068"/>
              </a:xfrm>
              <a:prstGeom prst="line">
                <a:avLst/>
              </a:prstGeom>
              <a:ln w="222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8" name="文本框 67"/>
            <p:cNvSpPr txBox="1"/>
            <p:nvPr/>
          </p:nvSpPr>
          <p:spPr>
            <a:xfrm>
              <a:off x="5612" y="3372"/>
              <a:ext cx="1444" cy="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E</a:t>
              </a:r>
              <a:endParaRPr lang="en-US" altLang="zh-CN" sz="1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4685" y="2137"/>
              <a:ext cx="1444" cy="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B</a:t>
              </a:r>
              <a:endParaRPr lang="en-US" altLang="zh-CN" sz="1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70" name="文本框 69"/>
            <p:cNvSpPr txBox="1"/>
            <p:nvPr/>
          </p:nvSpPr>
          <p:spPr>
            <a:xfrm>
              <a:off x="6143" y="1353"/>
              <a:ext cx="1444" cy="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C</a:t>
              </a:r>
              <a:endParaRPr lang="en-US" altLang="zh-CN" sz="1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sp>
        <p:nvSpPr>
          <p:cNvPr id="71" name="椭圆 70"/>
          <p:cNvSpPr/>
          <p:nvPr/>
        </p:nvSpPr>
        <p:spPr>
          <a:xfrm>
            <a:off x="8017510" y="1777365"/>
            <a:ext cx="108000" cy="108000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椭圆 71"/>
          <p:cNvSpPr/>
          <p:nvPr/>
        </p:nvSpPr>
        <p:spPr>
          <a:xfrm>
            <a:off x="8001635" y="3653790"/>
            <a:ext cx="108000" cy="108000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椭圆 72"/>
          <p:cNvSpPr/>
          <p:nvPr/>
        </p:nvSpPr>
        <p:spPr>
          <a:xfrm>
            <a:off x="7160895" y="2716530"/>
            <a:ext cx="108000" cy="108000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7630" y="3501390"/>
            <a:ext cx="1936750" cy="883920"/>
          </a:xfrm>
          <a:prstGeom prst="rect">
            <a:avLst/>
          </a:prstGeom>
        </p:spPr>
      </p:pic>
      <p:sp>
        <p:nvSpPr>
          <p:cNvPr id="24" name="矩形 23"/>
          <p:cNvSpPr/>
          <p:nvPr/>
        </p:nvSpPr>
        <p:spPr>
          <a:xfrm>
            <a:off x="2549810" y="4385209"/>
            <a:ext cx="2132965" cy="245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000" b="1" dirty="0" smtClean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基于平面工艺的</a:t>
            </a:r>
            <a:r>
              <a:rPr lang="en-US" altLang="zh-CN" sz="1000" b="1" dirty="0" smtClean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NPN</a:t>
            </a:r>
            <a:r>
              <a:rPr lang="zh-CN" altLang="en-US" sz="1000" b="1" dirty="0" smtClean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三极管示意图</a:t>
            </a:r>
            <a:endParaRPr lang="zh-CN" altLang="en-US" sz="1000" b="1" dirty="0" smtClean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2051685" y="5561965"/>
            <a:ext cx="5318760" cy="1106805"/>
          </a:xfrm>
          <a:prstGeom prst="rect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path path="rect">
              <a:fillToRect l="50000" t="50000" r="50000" b="50000"/>
            </a:path>
            <a:tileRect/>
          </a:gradFill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4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鍺管反向漏电流</a:t>
            </a:r>
            <a:r>
              <a:rPr lang="zh-CN" altLang="en-US" sz="1400" b="1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大</a:t>
            </a:r>
            <a:r>
              <a:rPr lang="zh-CN" altLang="en-US" sz="14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（几百</a:t>
            </a:r>
            <a:r>
              <a:rPr lang="en-US" altLang="zh-CN" sz="14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μA</a:t>
            </a:r>
            <a:r>
              <a:rPr lang="zh-CN" altLang="en-US" sz="14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），承受的温度</a:t>
            </a:r>
            <a:r>
              <a:rPr lang="zh-CN" altLang="en-US" sz="1400" b="1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低</a:t>
            </a:r>
            <a:r>
              <a:rPr lang="zh-CN" altLang="en-US" sz="14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</a:t>
            </a:r>
            <a:r>
              <a:rPr lang="en-US" altLang="zh-CN" sz="14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~100</a:t>
            </a:r>
            <a:r>
              <a:rPr lang="zh-CN" altLang="en-US" sz="14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°</a:t>
            </a:r>
            <a:r>
              <a:rPr lang="en-US" altLang="zh-CN" sz="14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</a:t>
            </a:r>
            <a:r>
              <a:rPr lang="zh-CN" altLang="en-US" sz="14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）；</a:t>
            </a:r>
            <a:endParaRPr lang="zh-CN" altLang="en-US" sz="1400" b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4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硅</a:t>
            </a:r>
            <a:r>
              <a:rPr lang="zh-CN" altLang="en-US" sz="14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管反向漏电流</a:t>
            </a:r>
            <a:r>
              <a:rPr lang="zh-CN" altLang="en-US" sz="1400" b="1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小</a:t>
            </a:r>
            <a:r>
              <a:rPr lang="zh-CN" altLang="en-US" sz="14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</a:t>
            </a:r>
            <a:r>
              <a:rPr lang="en-US" altLang="zh-CN" sz="14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&lt;1μA </a:t>
            </a:r>
            <a:r>
              <a:rPr lang="zh-CN" altLang="en-US" sz="14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），承受的温度</a:t>
            </a:r>
            <a:r>
              <a:rPr lang="zh-CN" altLang="en-US" sz="1400" b="1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高</a:t>
            </a:r>
            <a:r>
              <a:rPr lang="zh-CN" altLang="en-US" sz="14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</a:t>
            </a:r>
            <a:r>
              <a:rPr lang="en-US" altLang="zh-CN" sz="14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~200</a:t>
            </a:r>
            <a:r>
              <a:rPr lang="zh-CN" altLang="en-US" sz="14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°</a:t>
            </a:r>
            <a:r>
              <a:rPr lang="en-US" altLang="zh-CN" sz="14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</a:t>
            </a:r>
            <a:r>
              <a:rPr lang="zh-CN" altLang="en-US" sz="14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）；</a:t>
            </a:r>
            <a:endParaRPr lang="zh-CN" altLang="en-US" sz="1400" b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285750" indent="-285750" algn="ctr">
              <a:lnSpc>
                <a:spcPct val="150000"/>
              </a:lnSpc>
            </a:pPr>
            <a:r>
              <a:rPr lang="zh-CN" altLang="en-US" sz="1600" b="1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结论：硅管比鍺管质量好，应用更广泛！</a:t>
            </a:r>
            <a:endParaRPr lang="zh-CN" altLang="en-US" sz="1600" b="1" dirty="0" smtClean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46" name="直接箭头连接符 45"/>
          <p:cNvCxnSpPr/>
          <p:nvPr/>
        </p:nvCxnSpPr>
        <p:spPr>
          <a:xfrm flipH="1">
            <a:off x="4644390" y="3543300"/>
            <a:ext cx="0" cy="822325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/>
          <p:cNvSpPr txBox="1"/>
          <p:nvPr/>
        </p:nvSpPr>
        <p:spPr>
          <a:xfrm>
            <a:off x="4611572" y="3789040"/>
            <a:ext cx="976549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1400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~</a:t>
            </a:r>
            <a:r>
              <a:rPr lang="zh-CN" altLang="en-US" sz="1400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几百μm</a:t>
            </a:r>
            <a:endParaRPr lang="zh-CN" altLang="en-US" sz="1400"/>
          </a:p>
        </p:txBody>
      </p:sp>
      <p:cxnSp>
        <p:nvCxnSpPr>
          <p:cNvPr id="74" name="直接箭头连接符 73"/>
          <p:cNvCxnSpPr/>
          <p:nvPr/>
        </p:nvCxnSpPr>
        <p:spPr>
          <a:xfrm>
            <a:off x="3275856" y="3760396"/>
            <a:ext cx="0" cy="18000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文本框 46"/>
          <p:cNvSpPr txBox="1"/>
          <p:nvPr/>
        </p:nvSpPr>
        <p:spPr>
          <a:xfrm>
            <a:off x="3380840" y="3697287"/>
            <a:ext cx="1455920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400" b="1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几</a:t>
            </a:r>
            <a:r>
              <a:rPr lang="en-US" altLang="zh-CN" sz="1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~ </a:t>
            </a:r>
            <a:r>
              <a:rPr lang="zh-CN" altLang="en-US" sz="1400" b="1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几十</a:t>
            </a:r>
            <a:r>
              <a:rPr lang="zh-CN" altLang="en-US" sz="1400" b="1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μ</a:t>
            </a:r>
            <a:r>
              <a:rPr lang="zh-CN" altLang="en-US" sz="1400" b="1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m</a:t>
            </a:r>
            <a:endParaRPr lang="zh-CN" altLang="en-US" sz="14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179512" y="587003"/>
            <a:ext cx="8820150" cy="276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b="1" dirty="0" smtClean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三极管实现电流放大作用的</a:t>
            </a:r>
            <a:r>
              <a:rPr lang="zh-CN" altLang="en-US" b="1" dirty="0" smtClean="0">
                <a:solidFill>
                  <a:srgbClr val="0000FF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内部条件</a:t>
            </a:r>
            <a:r>
              <a:rPr lang="zh-CN" altLang="en-US" b="1" dirty="0" smtClean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endParaRPr lang="en-US" altLang="zh-CN" b="1" dirty="0" smtClean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sz="1600" dirty="0" smtClean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1600" dirty="0" smtClean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r>
              <a:rPr lang="zh-CN" altLang="en-US" sz="1600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发射区</a:t>
            </a:r>
            <a:r>
              <a:rPr lang="zh-CN" altLang="en-US" sz="1600" dirty="0" smtClean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掺杂浓度最高（</a:t>
            </a:r>
            <a:r>
              <a:rPr lang="zh-CN" altLang="en-US" sz="1400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约为基区的几十</a:t>
            </a:r>
            <a:r>
              <a:rPr lang="en-US" altLang="zh-CN" sz="1400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~</a:t>
            </a:r>
            <a:r>
              <a:rPr lang="zh-CN" altLang="en-US" sz="1400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几百倍</a:t>
            </a:r>
            <a:r>
              <a:rPr lang="zh-CN" altLang="en-US" sz="1600" dirty="0" smtClean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），利于发射载流子；</a:t>
            </a:r>
            <a:endParaRPr lang="en-US" altLang="zh-CN" sz="1600" dirty="0" smtClean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sz="1600" dirty="0" smtClean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1600" dirty="0" smtClean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）基区低掺杂、面积小、厚度薄（</a:t>
            </a:r>
            <a:r>
              <a:rPr lang="zh-CN" altLang="en-US" sz="1400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3~30μm</a:t>
            </a:r>
            <a:r>
              <a:rPr lang="zh-CN" altLang="en-US" sz="1600" dirty="0" smtClean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），便于发射区扩散的载流子通过；</a:t>
            </a:r>
            <a:endParaRPr lang="en-US" altLang="zh-CN" sz="1600" dirty="0" smtClean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sz="1600" dirty="0" smtClean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sz="1600" dirty="0" smtClean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）集电区</a:t>
            </a:r>
            <a:r>
              <a:rPr lang="zh-CN" altLang="en-US" sz="1600" smtClean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掺杂</a:t>
            </a:r>
            <a:r>
              <a:rPr lang="zh-CN" altLang="en-US" sz="1600" smtClean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浓度最低，</a:t>
            </a:r>
            <a:r>
              <a:rPr lang="zh-CN" altLang="en-US" sz="1600" dirty="0" smtClean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且面积大，便于收集</a:t>
            </a:r>
            <a:r>
              <a:rPr lang="zh-CN" altLang="en-US" sz="1600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发射区扩散</a:t>
            </a:r>
            <a:r>
              <a:rPr lang="zh-CN" altLang="en-US" sz="160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zh-CN" altLang="en-US" sz="1600" smtClean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载流子，形成大的集电极电流。</a:t>
            </a:r>
            <a:endParaRPr lang="zh-CN" altLang="en-US" sz="1600" dirty="0" smtClean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b="1" dirty="0" smtClean="0">
                <a:solidFill>
                  <a:srgbClr val="0000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三极管实现电流放大作用的</a:t>
            </a:r>
            <a:r>
              <a:rPr lang="zh-CN" altLang="en-US" b="1" dirty="0" smtClean="0">
                <a:solidFill>
                  <a:srgbClr val="0000FF"/>
                </a:solidFill>
                <a:highlight>
                  <a:srgbClr val="FFFF00"/>
                </a:highlight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外部条件</a:t>
            </a:r>
            <a:r>
              <a:rPr lang="zh-CN" altLang="en-US" b="1" dirty="0" smtClean="0">
                <a:solidFill>
                  <a:srgbClr val="0000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：</a:t>
            </a:r>
            <a:endParaRPr lang="en-US" altLang="zh-CN" b="1" dirty="0" smtClean="0">
              <a:solidFill>
                <a:srgbClr val="0000FF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（</a:t>
            </a:r>
            <a:r>
              <a:rPr lang="en-US" altLang="zh-CN" sz="1600" dirty="0" smtClean="0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1</a:t>
            </a:r>
            <a:r>
              <a:rPr lang="zh-CN" altLang="en-US" sz="1600" dirty="0" smtClean="0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）</a:t>
            </a:r>
            <a:r>
              <a:rPr lang="zh-CN" altLang="en-US" sz="1600" dirty="0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发射结正偏（利于扩散电子，</a:t>
            </a:r>
            <a:r>
              <a:rPr lang="zh-CN" altLang="en-US" sz="1600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扩散电流</a:t>
            </a:r>
            <a:r>
              <a:rPr lang="zh-CN" altLang="en-US" sz="1600" smtClean="0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为</a:t>
            </a:r>
            <a:r>
              <a:rPr lang="en-US" altLang="zh-CN" sz="1600" b="1" i="1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I</a:t>
            </a:r>
            <a:r>
              <a:rPr lang="en-US" altLang="zh-CN" sz="1600" baseline="-25000" smtClean="0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e</a:t>
            </a:r>
            <a:r>
              <a:rPr lang="zh-CN" altLang="en-US" sz="1600" dirty="0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）</a:t>
            </a:r>
            <a:r>
              <a:rPr lang="zh-CN" altLang="en-US" sz="1600" dirty="0" smtClean="0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；</a:t>
            </a:r>
            <a:endParaRPr lang="en-US" altLang="zh-CN" sz="1600" dirty="0" smtClean="0">
              <a:solidFill>
                <a:srgbClr val="00206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（</a:t>
            </a:r>
            <a:r>
              <a:rPr lang="en-US" altLang="zh-CN" sz="1600" dirty="0" smtClean="0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2</a:t>
            </a:r>
            <a:r>
              <a:rPr lang="zh-CN" altLang="en-US" sz="1600" dirty="0" smtClean="0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）集电结反偏（便于收集发射区扩散而来的电子，形成</a:t>
            </a:r>
            <a:r>
              <a:rPr lang="zh-CN" altLang="en-US" sz="1600" smtClean="0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集电极</a:t>
            </a:r>
            <a:r>
              <a:rPr lang="zh-CN" altLang="en-US" sz="1600" smtClean="0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电流</a:t>
            </a:r>
            <a:r>
              <a:rPr lang="en-US" altLang="zh-CN" sz="1600" b="1" i="1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I</a:t>
            </a:r>
            <a:r>
              <a:rPr lang="en-US" altLang="zh-CN" sz="1600" baseline="-25000" smtClean="0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c</a:t>
            </a:r>
            <a:r>
              <a:rPr lang="zh-CN" altLang="en-US" sz="1600" dirty="0" smtClean="0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）。</a:t>
            </a:r>
            <a:endParaRPr lang="zh-CN" altLang="en-US" sz="1600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3"/>
          <p:cNvSpPr txBox="1"/>
          <p:nvPr/>
        </p:nvSpPr>
        <p:spPr>
          <a:xfrm>
            <a:off x="179070" y="-99060"/>
            <a:ext cx="464629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l">
              <a:lnSpc>
                <a:spcPct val="200000"/>
              </a:lnSpc>
              <a:buClrTx/>
              <a:buSzTx/>
              <a:buFontTx/>
              <a:buNone/>
            </a:pPr>
            <a:r>
              <a:rPr 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 </a:t>
            </a:r>
            <a:r>
              <a:rPr lang="zh-CN" altLang="en-US" sz="2400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什么是双极型三极管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?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1259632" y="3284985"/>
            <a:ext cx="6498306" cy="3096343"/>
            <a:chOff x="2891" y="6030"/>
            <a:chExt cx="7580" cy="3793"/>
          </a:xfrm>
        </p:grpSpPr>
        <p:pic>
          <p:nvPicPr>
            <p:cNvPr id="28" name="图片 27"/>
            <p:cNvPicPr>
              <a:picLocks noChangeAspect="1"/>
            </p:cNvPicPr>
            <p:nvPr/>
          </p:nvPicPr>
          <p:blipFill rotWithShape="1">
            <a:blip r:embed="rId1"/>
            <a:srcRect t="4169" b="10365"/>
            <a:stretch>
              <a:fillRect/>
            </a:stretch>
          </p:blipFill>
          <p:spPr>
            <a:xfrm>
              <a:off x="2891" y="6030"/>
              <a:ext cx="7580" cy="3793"/>
            </a:xfrm>
            <a:prstGeom prst="rect">
              <a:avLst/>
            </a:prstGeom>
          </p:spPr>
        </p:pic>
        <p:sp>
          <p:nvSpPr>
            <p:cNvPr id="29" name="矩形 28"/>
            <p:cNvSpPr/>
            <p:nvPr/>
          </p:nvSpPr>
          <p:spPr>
            <a:xfrm>
              <a:off x="6125" y="9596"/>
              <a:ext cx="1474" cy="2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1" name="文本框 30"/>
          <p:cNvSpPr txBox="1"/>
          <p:nvPr/>
        </p:nvSpPr>
        <p:spPr>
          <a:xfrm>
            <a:off x="2968749" y="6404183"/>
            <a:ext cx="3241675" cy="33718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1600" b="1" dirty="0" smtClean="0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NPN</a:t>
            </a:r>
            <a:r>
              <a:rPr lang="zh-CN" altLang="en-US" sz="1600" b="1" dirty="0" smtClean="0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三极管内部载流子运动示意图</a:t>
            </a:r>
            <a:endParaRPr lang="zh-CN" altLang="en-US" sz="1600" b="1" dirty="0" smtClean="0">
              <a:solidFill>
                <a:srgbClr val="00206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51460" y="3361690"/>
            <a:ext cx="8716010" cy="28149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sz="1600" b="1" dirty="0">
                <a:solidFill>
                  <a:srgbClr val="0000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基区电流（主要是电子和空穴的复合产生的</a:t>
            </a:r>
            <a:r>
              <a:rPr lang="zh-CN" altLang="en-US" sz="1600" b="1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复合电流</a:t>
            </a:r>
            <a:r>
              <a:rPr lang="zh-CN" altLang="en-US" sz="1600" b="1" dirty="0">
                <a:solidFill>
                  <a:srgbClr val="0000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）</a:t>
            </a:r>
            <a:endParaRPr lang="zh-CN" altLang="en-US" sz="1600" b="1" dirty="0">
              <a:solidFill>
                <a:srgbClr val="0000FF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zh-CN" b="1" i="1" smtClean="0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I</a:t>
            </a:r>
            <a:r>
              <a:rPr lang="en-US" altLang="zh-CN" b="1" baseline="-25000" smtClean="0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B</a:t>
            </a:r>
            <a:r>
              <a:rPr lang="en-US" altLang="zh-CN" b="1" smtClean="0">
                <a:solidFill>
                  <a:srgbClr val="FF0000"/>
                </a:solidFill>
                <a:sym typeface="+mn-ea"/>
              </a:rPr>
              <a:t> = </a:t>
            </a:r>
            <a:r>
              <a:rPr lang="en-US" altLang="zh-CN" b="1" i="1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I</a:t>
            </a:r>
            <a:r>
              <a:rPr lang="en-US" altLang="zh-CN" b="1" baseline="-25000" smtClean="0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E </a:t>
            </a:r>
            <a:r>
              <a:rPr lang="en-US" altLang="zh-CN" b="1" smtClean="0">
                <a:solidFill>
                  <a:srgbClr val="FF0000"/>
                </a:solidFill>
                <a:sym typeface="+mn-ea"/>
              </a:rPr>
              <a:t>– </a:t>
            </a:r>
            <a:r>
              <a:rPr lang="en-US" altLang="zh-CN" b="1" i="1" smtClean="0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I</a:t>
            </a:r>
            <a:r>
              <a:rPr lang="en-US" altLang="zh-CN" b="1" baseline="-25000" smtClean="0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C </a:t>
            </a:r>
            <a:r>
              <a:rPr lang="en-US" altLang="zh-CN" b="1" smtClean="0">
                <a:solidFill>
                  <a:srgbClr val="FF0000"/>
                </a:solidFill>
                <a:sym typeface="+mn-ea"/>
              </a:rPr>
              <a:t> ;</a:t>
            </a:r>
            <a:r>
              <a:rPr lang="zh-CN" altLang="en-US" b="1" smtClean="0">
                <a:solidFill>
                  <a:srgbClr val="0070C0"/>
                </a:solidFill>
                <a:sym typeface="+mn-ea"/>
              </a:rPr>
              <a:t>（</a:t>
            </a:r>
            <a:r>
              <a:rPr lang="en-US" altLang="zh-CN" b="1" i="1" smtClean="0">
                <a:solidFill>
                  <a:srgbClr val="0070C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en-US" altLang="zh-CN" b="1" i="1">
                <a:solidFill>
                  <a:srgbClr val="0070C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I</a:t>
            </a:r>
            <a:r>
              <a:rPr lang="en-US" altLang="zh-CN" b="1" baseline="-25000">
                <a:solidFill>
                  <a:srgbClr val="0070C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B</a:t>
            </a:r>
            <a:r>
              <a:rPr lang="en-US" altLang="zh-CN" b="1">
                <a:solidFill>
                  <a:srgbClr val="0070C0"/>
                </a:solidFill>
                <a:sym typeface="+mn-ea"/>
              </a:rPr>
              <a:t> </a:t>
            </a:r>
            <a:r>
              <a:rPr lang="zh-CN" altLang="en-US" b="1" smtClean="0">
                <a:solidFill>
                  <a:srgbClr val="0070C0"/>
                </a:solidFill>
                <a:sym typeface="+mn-ea"/>
              </a:rPr>
              <a:t>≈ </a:t>
            </a:r>
            <a:r>
              <a:rPr lang="en-US" altLang="zh-CN" b="1" i="1" smtClean="0">
                <a:solidFill>
                  <a:srgbClr val="0070C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I</a:t>
            </a:r>
            <a:r>
              <a:rPr lang="en-US" altLang="zh-CN" b="1" baseline="-25000" smtClean="0">
                <a:solidFill>
                  <a:srgbClr val="0070C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B1 </a:t>
            </a:r>
            <a:r>
              <a:rPr lang="zh-CN" altLang="en-US" b="1" baseline="-25000" smtClean="0">
                <a:solidFill>
                  <a:srgbClr val="0070C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；</a:t>
            </a:r>
            <a:r>
              <a:rPr lang="en-US" altLang="zh-CN" b="1" i="1" smtClean="0">
                <a:solidFill>
                  <a:srgbClr val="0070C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I</a:t>
            </a:r>
            <a:r>
              <a:rPr lang="en-US" altLang="zh-CN" b="1" baseline="-25000" smtClean="0">
                <a:solidFill>
                  <a:srgbClr val="0070C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C</a:t>
            </a:r>
            <a:r>
              <a:rPr lang="zh-CN" altLang="en-US" b="1" smtClean="0">
                <a:solidFill>
                  <a:srgbClr val="0070C0"/>
                </a:solidFill>
                <a:sym typeface="+mn-ea"/>
              </a:rPr>
              <a:t> ≈ </a:t>
            </a:r>
            <a:r>
              <a:rPr lang="en-US" altLang="zh-CN" b="1" i="1" smtClean="0">
                <a:solidFill>
                  <a:srgbClr val="0070C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I</a:t>
            </a:r>
            <a:r>
              <a:rPr lang="en-US" altLang="zh-CN" b="1" baseline="-25000" smtClean="0">
                <a:solidFill>
                  <a:srgbClr val="0070C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CN1 </a:t>
            </a:r>
            <a:r>
              <a:rPr lang="zh-CN" altLang="en-US" b="1" smtClean="0">
                <a:solidFill>
                  <a:srgbClr val="0070C0"/>
                </a:solidFill>
                <a:sym typeface="+mn-ea"/>
              </a:rPr>
              <a:t>）</a:t>
            </a:r>
            <a:endParaRPr lang="en-US" altLang="zh-CN" b="1" smtClean="0">
              <a:solidFill>
                <a:srgbClr val="0070C0"/>
              </a:solidFill>
              <a:sym typeface="+mn-ea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sz="1600" b="1" smtClean="0">
                <a:solidFill>
                  <a:srgbClr val="0000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由于</a:t>
            </a:r>
            <a:r>
              <a:rPr lang="zh-CN" sz="1600" b="1" dirty="0" smtClean="0">
                <a:solidFill>
                  <a:srgbClr val="0000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基区很薄，且为低掺杂，而集电区面积很大，掺杂浓度相对较高，所以，三极管正常工作的时候有（</a:t>
            </a:r>
            <a:r>
              <a:rPr lang="en-US" altLang="zh-CN" sz="1600" b="1" i="1" dirty="0">
                <a:solidFill>
                  <a:srgbClr val="0000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β</a:t>
            </a:r>
            <a:r>
              <a:rPr lang="zh-CN" altLang="en-US" sz="1600" dirty="0">
                <a:solidFill>
                  <a:srgbClr val="0000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为三极管的</a:t>
            </a:r>
            <a:r>
              <a:rPr lang="zh-CN" altLang="en-US" sz="1600" b="1" dirty="0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放大倍数</a:t>
            </a:r>
            <a:r>
              <a:rPr lang="zh-CN" sz="1600" b="1" dirty="0" smtClean="0">
                <a:solidFill>
                  <a:srgbClr val="0000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）：</a:t>
            </a:r>
            <a:endParaRPr lang="zh-CN" sz="1600" b="1" dirty="0" smtClean="0">
              <a:solidFill>
                <a:srgbClr val="0000FF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342900" indent="-342900" algn="ctr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000" b="1" i="1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I</a:t>
            </a:r>
            <a:r>
              <a:rPr lang="en-US" altLang="zh-CN" sz="2000" b="1" baseline="-25000" smtClean="0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C</a:t>
            </a:r>
            <a:r>
              <a:rPr lang="en-US" altLang="zh-CN" sz="2000" b="1" smtClean="0">
                <a:solidFill>
                  <a:srgbClr val="FF0000"/>
                </a:solidFill>
                <a:sym typeface="+mn-ea"/>
              </a:rPr>
              <a:t> = </a:t>
            </a:r>
            <a:r>
              <a:rPr lang="en-US" altLang="zh-CN" sz="2000" b="1" i="1" smtClean="0">
                <a:solidFill>
                  <a:srgbClr val="FF0000"/>
                </a:solidFill>
                <a:sym typeface="+mn-ea"/>
              </a:rPr>
              <a:t>β </a:t>
            </a:r>
            <a:r>
              <a:rPr lang="en-US" altLang="zh-CN" sz="2000" b="1" smtClean="0">
                <a:solidFill>
                  <a:srgbClr val="FF0000"/>
                </a:solidFill>
                <a:sym typeface="+mn-ea"/>
              </a:rPr>
              <a:t>* </a:t>
            </a:r>
            <a:r>
              <a:rPr lang="en-US" altLang="zh-CN" sz="2000" b="1" i="1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I</a:t>
            </a:r>
            <a:r>
              <a:rPr lang="en-US" altLang="zh-CN" sz="2000" b="1" baseline="-25000" smtClean="0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B</a:t>
            </a:r>
            <a:endParaRPr lang="en-US" altLang="zh-CN" sz="2000" b="1" baseline="-25000" dirty="0">
              <a:solidFill>
                <a:srgbClr val="FF000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sz="1600" b="1" dirty="0" smtClean="0">
                <a:solidFill>
                  <a:srgbClr val="0000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微小的基极电流可控制较大的集电极电流，故双极型三极管属于</a:t>
            </a:r>
            <a:r>
              <a:rPr lang="zh-CN" sz="1600" b="1" dirty="0" smtClean="0">
                <a:solidFill>
                  <a:srgbClr val="0000FF"/>
                </a:solidFill>
                <a:highlight>
                  <a:srgbClr val="00FF00"/>
                </a:highlight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电流控制器件</a:t>
            </a:r>
            <a:r>
              <a:rPr lang="zh-CN" sz="1600" b="1" dirty="0" smtClean="0">
                <a:solidFill>
                  <a:srgbClr val="0000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；</a:t>
            </a:r>
            <a:endParaRPr lang="zh-CN" sz="1600" b="1" dirty="0" smtClean="0">
              <a:solidFill>
                <a:srgbClr val="0000FF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sz="1600" b="1" dirty="0" smtClean="0">
                <a:solidFill>
                  <a:srgbClr val="0000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同时满足</a:t>
            </a:r>
            <a:r>
              <a:rPr lang="zh-CN" sz="1600" b="1" dirty="0" smtClean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内部条件</a:t>
            </a:r>
            <a:r>
              <a:rPr lang="zh-CN" sz="1600" b="1" dirty="0" smtClean="0">
                <a:solidFill>
                  <a:srgbClr val="0000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和</a:t>
            </a:r>
            <a:r>
              <a:rPr lang="zh-CN" sz="1600" b="1" dirty="0" smtClean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外部条件</a:t>
            </a:r>
            <a:r>
              <a:rPr lang="zh-CN" sz="1600" b="1" dirty="0" smtClean="0">
                <a:solidFill>
                  <a:srgbClr val="0000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的三极管方具有</a:t>
            </a:r>
            <a:r>
              <a:rPr lang="zh-CN" sz="1600" b="1" dirty="0" smtClean="0">
                <a:solidFill>
                  <a:srgbClr val="0000FF"/>
                </a:solidFill>
                <a:highlight>
                  <a:srgbClr val="00FF00"/>
                </a:highlight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电流放大能力</a:t>
            </a:r>
            <a:r>
              <a:rPr lang="zh-CN" sz="1600" b="1" dirty="0" smtClean="0">
                <a:solidFill>
                  <a:srgbClr val="0000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。</a:t>
            </a:r>
            <a:endParaRPr lang="zh-CN" sz="1600" b="1" dirty="0" smtClean="0">
              <a:solidFill>
                <a:srgbClr val="0000FF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12" name="文本框 3"/>
          <p:cNvSpPr txBox="1"/>
          <p:nvPr/>
        </p:nvSpPr>
        <p:spPr>
          <a:xfrm>
            <a:off x="179705" y="-99060"/>
            <a:ext cx="464629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l">
              <a:lnSpc>
                <a:spcPct val="200000"/>
              </a:lnSpc>
              <a:buClrTx/>
              <a:buSzTx/>
              <a:buFontTx/>
              <a:buNone/>
            </a:pPr>
            <a:r>
              <a:rPr 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 </a:t>
            </a:r>
            <a:r>
              <a:rPr lang="zh-CN" altLang="en-US" sz="2400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什么是双极型三极管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?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6184100" y="1122680"/>
            <a:ext cx="1953787" cy="2009775"/>
            <a:chOff x="4747" y="1061"/>
            <a:chExt cx="2840" cy="3179"/>
          </a:xfrm>
        </p:grpSpPr>
        <p:grpSp>
          <p:nvGrpSpPr>
            <p:cNvPr id="41" name="组合 40"/>
            <p:cNvGrpSpPr/>
            <p:nvPr/>
          </p:nvGrpSpPr>
          <p:grpSpPr>
            <a:xfrm>
              <a:off x="4747" y="1061"/>
              <a:ext cx="1396" cy="3179"/>
              <a:chOff x="4747" y="1061"/>
              <a:chExt cx="1396" cy="3179"/>
            </a:xfrm>
          </p:grpSpPr>
          <p:cxnSp>
            <p:nvCxnSpPr>
              <p:cNvPr id="35" name="直接箭头连接符 34"/>
              <p:cNvCxnSpPr/>
              <p:nvPr/>
            </p:nvCxnSpPr>
            <p:spPr>
              <a:xfrm>
                <a:off x="5689" y="2729"/>
                <a:ext cx="454" cy="454"/>
              </a:xfrm>
              <a:prstGeom prst="straightConnector1">
                <a:avLst/>
              </a:prstGeom>
              <a:ln w="2222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箭头连接符 35"/>
              <p:cNvCxnSpPr/>
              <p:nvPr/>
            </p:nvCxnSpPr>
            <p:spPr>
              <a:xfrm flipV="1">
                <a:off x="5689" y="2110"/>
                <a:ext cx="454" cy="454"/>
              </a:xfrm>
              <a:prstGeom prst="straightConnector1">
                <a:avLst/>
              </a:prstGeom>
              <a:ln w="22225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/>
              <p:cNvCxnSpPr/>
              <p:nvPr/>
            </p:nvCxnSpPr>
            <p:spPr>
              <a:xfrm>
                <a:off x="5689" y="2110"/>
                <a:ext cx="0" cy="1068"/>
              </a:xfrm>
              <a:prstGeom prst="line">
                <a:avLst/>
              </a:prstGeom>
              <a:ln w="222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/>
              <p:cNvCxnSpPr/>
              <p:nvPr/>
            </p:nvCxnSpPr>
            <p:spPr>
              <a:xfrm>
                <a:off x="4747" y="2659"/>
                <a:ext cx="942" cy="0"/>
              </a:xfrm>
              <a:prstGeom prst="line">
                <a:avLst/>
              </a:prstGeom>
              <a:ln w="222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/>
              <p:cNvCxnSpPr/>
              <p:nvPr/>
            </p:nvCxnSpPr>
            <p:spPr>
              <a:xfrm>
                <a:off x="6129" y="3172"/>
                <a:ext cx="0" cy="1068"/>
              </a:xfrm>
              <a:prstGeom prst="line">
                <a:avLst/>
              </a:prstGeom>
              <a:ln w="222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/>
              <p:cNvCxnSpPr/>
              <p:nvPr/>
            </p:nvCxnSpPr>
            <p:spPr>
              <a:xfrm>
                <a:off x="6143" y="1061"/>
                <a:ext cx="0" cy="1068"/>
              </a:xfrm>
              <a:prstGeom prst="line">
                <a:avLst/>
              </a:prstGeom>
              <a:ln w="222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2" name="文本框 41"/>
            <p:cNvSpPr txBox="1"/>
            <p:nvPr/>
          </p:nvSpPr>
          <p:spPr>
            <a:xfrm>
              <a:off x="5612" y="3372"/>
              <a:ext cx="1444" cy="4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E</a:t>
              </a:r>
              <a:endParaRPr lang="en-US" altLang="zh-CN" sz="1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5274" y="2069"/>
              <a:ext cx="1444" cy="4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B</a:t>
              </a:r>
              <a:endParaRPr lang="en-US" altLang="zh-CN" sz="1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6143" y="1353"/>
              <a:ext cx="1444" cy="4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C</a:t>
              </a:r>
              <a:endParaRPr lang="en-US" altLang="zh-CN" sz="1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cxnSp>
        <p:nvCxnSpPr>
          <p:cNvPr id="6" name="直接连接符 5"/>
          <p:cNvCxnSpPr/>
          <p:nvPr/>
        </p:nvCxnSpPr>
        <p:spPr>
          <a:xfrm flipV="1">
            <a:off x="7140937" y="1122680"/>
            <a:ext cx="1529715" cy="8255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8659222" y="1121410"/>
            <a:ext cx="2540" cy="874395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V="1">
            <a:off x="6185897" y="3126105"/>
            <a:ext cx="2484000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8661762" y="2260600"/>
            <a:ext cx="2540" cy="874395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6181452" y="2124075"/>
            <a:ext cx="635" cy="46800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 flipH="1">
            <a:off x="6174467" y="2707640"/>
            <a:ext cx="635" cy="43200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7686402" y="1045210"/>
            <a:ext cx="431800" cy="144145"/>
          </a:xfrm>
          <a:prstGeom prst="rect">
            <a:avLst/>
          </a:prstGeom>
          <a:solidFill>
            <a:srgbClr val="1D41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6291307" y="2061210"/>
            <a:ext cx="431800" cy="144145"/>
          </a:xfrm>
          <a:prstGeom prst="rect">
            <a:avLst/>
          </a:prstGeom>
          <a:solidFill>
            <a:srgbClr val="1D41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" name="直接连接符 19"/>
          <p:cNvCxnSpPr/>
          <p:nvPr/>
        </p:nvCxnSpPr>
        <p:spPr>
          <a:xfrm>
            <a:off x="5940152" y="2604135"/>
            <a:ext cx="482600" cy="0"/>
          </a:xfrm>
          <a:prstGeom prst="line">
            <a:avLst/>
          </a:prstGeom>
          <a:ln w="31750">
            <a:solidFill>
              <a:srgbClr val="9716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6040482" y="2704465"/>
            <a:ext cx="288000" cy="0"/>
          </a:xfrm>
          <a:prstGeom prst="line">
            <a:avLst/>
          </a:prstGeom>
          <a:ln w="31750">
            <a:solidFill>
              <a:srgbClr val="9716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8445862" y="1995805"/>
            <a:ext cx="482600" cy="0"/>
          </a:xfrm>
          <a:prstGeom prst="line">
            <a:avLst/>
          </a:prstGeom>
          <a:ln w="31750">
            <a:solidFill>
              <a:srgbClr val="9716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8518252" y="2078990"/>
            <a:ext cx="288000" cy="0"/>
          </a:xfrm>
          <a:prstGeom prst="line">
            <a:avLst/>
          </a:prstGeom>
          <a:ln w="31750">
            <a:solidFill>
              <a:srgbClr val="9716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8443957" y="2177415"/>
            <a:ext cx="482600" cy="0"/>
          </a:xfrm>
          <a:prstGeom prst="line">
            <a:avLst/>
          </a:prstGeom>
          <a:ln w="31750">
            <a:solidFill>
              <a:srgbClr val="9716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8516347" y="2260600"/>
            <a:ext cx="288000" cy="0"/>
          </a:xfrm>
          <a:prstGeom prst="line">
            <a:avLst/>
          </a:prstGeom>
          <a:ln w="31750">
            <a:solidFill>
              <a:srgbClr val="9716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>
            <a:off x="7275557" y="2492375"/>
            <a:ext cx="0" cy="374650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7339057" y="2492375"/>
            <a:ext cx="377026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b="1" i="1" smtClean="0">
                <a:solidFill>
                  <a:srgbClr val="0000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I</a:t>
            </a:r>
            <a:r>
              <a:rPr lang="en-US" altLang="zh-CN" b="1" baseline="-25000" smtClean="0">
                <a:solidFill>
                  <a:srgbClr val="0000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E</a:t>
            </a:r>
            <a:endParaRPr lang="zh-CN" altLang="en-US"/>
          </a:p>
        </p:txBody>
      </p:sp>
      <p:cxnSp>
        <p:nvCxnSpPr>
          <p:cNvPr id="26" name="直接箭头连接符 25"/>
          <p:cNvCxnSpPr/>
          <p:nvPr/>
        </p:nvCxnSpPr>
        <p:spPr>
          <a:xfrm>
            <a:off x="6168117" y="1943735"/>
            <a:ext cx="396000" cy="0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6195422" y="1538605"/>
            <a:ext cx="377026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b="1" i="1" smtClean="0">
                <a:solidFill>
                  <a:srgbClr val="0000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I</a:t>
            </a:r>
            <a:r>
              <a:rPr lang="en-US" altLang="zh-CN" b="1" baseline="-25000" smtClean="0">
                <a:solidFill>
                  <a:srgbClr val="0000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B</a:t>
            </a:r>
            <a:endParaRPr lang="zh-CN" altLang="en-US"/>
          </a:p>
        </p:txBody>
      </p:sp>
      <p:cxnSp>
        <p:nvCxnSpPr>
          <p:cNvPr id="28" name="直接箭头连接符 27"/>
          <p:cNvCxnSpPr/>
          <p:nvPr/>
        </p:nvCxnSpPr>
        <p:spPr>
          <a:xfrm flipH="1">
            <a:off x="7203802" y="1034415"/>
            <a:ext cx="432000" cy="0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7275557" y="640080"/>
            <a:ext cx="385042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b="1" i="1" smtClean="0">
                <a:solidFill>
                  <a:srgbClr val="0000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I</a:t>
            </a:r>
            <a:r>
              <a:rPr lang="en-US" altLang="zh-CN" b="1" baseline="-25000" smtClean="0">
                <a:solidFill>
                  <a:srgbClr val="0000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C</a:t>
            </a:r>
            <a:endParaRPr lang="zh-CN" altLang="en-US"/>
          </a:p>
        </p:txBody>
      </p:sp>
      <p:grpSp>
        <p:nvGrpSpPr>
          <p:cNvPr id="46" name="组合 45"/>
          <p:cNvGrpSpPr/>
          <p:nvPr/>
        </p:nvGrpSpPr>
        <p:grpSpPr>
          <a:xfrm>
            <a:off x="434174" y="837496"/>
            <a:ext cx="5328399" cy="2406920"/>
            <a:chOff x="2891" y="6030"/>
            <a:chExt cx="7580" cy="3793"/>
          </a:xfrm>
        </p:grpSpPr>
        <p:pic>
          <p:nvPicPr>
            <p:cNvPr id="47" name="图片 46"/>
            <p:cNvPicPr>
              <a:picLocks noChangeAspect="1"/>
            </p:cNvPicPr>
            <p:nvPr/>
          </p:nvPicPr>
          <p:blipFill rotWithShape="1">
            <a:blip r:embed="rId1"/>
            <a:srcRect t="4169" b="10365"/>
            <a:stretch>
              <a:fillRect/>
            </a:stretch>
          </p:blipFill>
          <p:spPr>
            <a:xfrm>
              <a:off x="2891" y="6030"/>
              <a:ext cx="7580" cy="3793"/>
            </a:xfrm>
            <a:prstGeom prst="rect">
              <a:avLst/>
            </a:prstGeom>
          </p:spPr>
        </p:pic>
        <p:sp>
          <p:nvSpPr>
            <p:cNvPr id="48" name="矩形 47"/>
            <p:cNvSpPr/>
            <p:nvPr/>
          </p:nvSpPr>
          <p:spPr>
            <a:xfrm>
              <a:off x="6125" y="9596"/>
              <a:ext cx="1474" cy="2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3"/>
          <p:cNvSpPr txBox="1"/>
          <p:nvPr/>
        </p:nvSpPr>
        <p:spPr>
          <a:xfrm>
            <a:off x="251460" y="116840"/>
            <a:ext cx="8126095" cy="14452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 algn="l">
              <a:lnSpc>
                <a:spcPct val="20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400" b="1" dirty="0" smtClean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双极型三极管的输入特性</a:t>
            </a:r>
            <a:endParaRPr lang="zh-CN" altLang="en-US" sz="2400" b="1" dirty="0" smtClean="0">
              <a:solidFill>
                <a:srgbClr val="C0000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indent="0" algn="l">
              <a:lnSpc>
                <a:spcPct val="200000"/>
              </a:lnSpc>
              <a:buClrTx/>
              <a:buSzTx/>
              <a:buFont typeface="Wingdings" panose="05000000000000000000" charset="0"/>
              <a:buNone/>
            </a:pP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即：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V</a:t>
            </a:r>
            <a:r>
              <a:rPr lang="en-US" altLang="zh-CN" sz="2000" b="1" baseline="-25000" dirty="0">
                <a:solidFill>
                  <a:srgbClr val="0000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CE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为不同的定值</a:t>
            </a:r>
            <a:r>
              <a:rPr lang="zh-CN" altLang="en-US" sz="2000" b="1">
                <a:solidFill>
                  <a:srgbClr val="0000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时</a:t>
            </a:r>
            <a:r>
              <a:rPr lang="zh-CN" altLang="en-US" sz="2000" b="1" smtClean="0">
                <a:solidFill>
                  <a:srgbClr val="0000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，</a:t>
            </a:r>
            <a:r>
              <a:rPr lang="en-US" altLang="zh-CN" sz="2000" b="1" i="1" smtClean="0">
                <a:solidFill>
                  <a:srgbClr val="0000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I</a:t>
            </a:r>
            <a:r>
              <a:rPr lang="en-US" altLang="zh-CN" sz="2000" b="1" baseline="-25000" smtClean="0">
                <a:solidFill>
                  <a:srgbClr val="0000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B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与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V</a:t>
            </a:r>
            <a:r>
              <a:rPr lang="en-US" altLang="zh-CN" sz="2000" b="1" baseline="-25000" dirty="0">
                <a:solidFill>
                  <a:srgbClr val="0000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BE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之间的关系。</a:t>
            </a:r>
            <a:endParaRPr lang="zh-CN" altLang="en-US" sz="2000" b="1" dirty="0">
              <a:solidFill>
                <a:srgbClr val="0000FF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43305" y="4941570"/>
            <a:ext cx="3434080" cy="33718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zh-CN" altLang="en-US" sz="1600" b="1" dirty="0" smtClean="0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双极型三极管的输入特性（</a:t>
            </a:r>
            <a:r>
              <a:rPr lang="zh-CN" altLang="en-US" sz="1600" b="1" dirty="0" smtClean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小功率</a:t>
            </a:r>
            <a:r>
              <a:rPr lang="zh-CN" altLang="en-US" sz="1600" b="1" dirty="0" smtClean="0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）</a:t>
            </a:r>
            <a:endParaRPr lang="zh-CN" altLang="en-US" sz="1600" b="1" dirty="0" smtClean="0">
              <a:solidFill>
                <a:srgbClr val="00206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292080" y="1556912"/>
            <a:ext cx="3562350" cy="484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auto">
              <a:lnSpc>
                <a:spcPct val="150000"/>
              </a:lnSpc>
              <a:spcBef>
                <a:spcPts val="600"/>
              </a:spcBef>
              <a:buFont typeface="Wingdings" panose="05000000000000000000" charset="0"/>
              <a:buChar char="l"/>
            </a:pPr>
            <a:r>
              <a:rPr lang="en-US" altLang="zh-CN" b="1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V</a:t>
            </a:r>
            <a:r>
              <a:rPr lang="en-US" altLang="zh-CN" b="1" baseline="-2500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CE</a:t>
            </a:r>
            <a:r>
              <a:rPr lang="en-US" altLang="zh-CN" b="1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&lt;1V</a:t>
            </a:r>
            <a:r>
              <a:rPr lang="zh-CN" altLang="en-US" b="1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时，曲线右移：</a:t>
            </a:r>
            <a:endParaRPr lang="zh-CN" altLang="en-US" b="1">
              <a:solidFill>
                <a:srgbClr val="C0000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285750" indent="-285750" fontAlgn="auto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 b="1">
                <a:solidFill>
                  <a:srgbClr val="0000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原因：</a:t>
            </a: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由于基区很薄，发射区注入基区的</a:t>
            </a:r>
            <a:r>
              <a:rPr lang="zh-CN" altLang="en-US" sz="1600" smtClean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电子一部分会穿过</a:t>
            </a: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集电结，形成集电极电流，</a:t>
            </a:r>
            <a:r>
              <a:rPr lang="zh-CN" altLang="en-US" sz="1600" smtClean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同时在基区</a:t>
            </a: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参与复合的载流子数量减少，导致相同</a:t>
            </a:r>
            <a:r>
              <a:rPr lang="en-US" altLang="zh-CN" sz="1600">
                <a:solidFill>
                  <a:srgbClr val="0000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V</a:t>
            </a:r>
            <a:r>
              <a:rPr lang="en-US" altLang="zh-CN" sz="1600" baseline="-25000">
                <a:solidFill>
                  <a:srgbClr val="0000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B</a:t>
            </a:r>
            <a:r>
              <a:rPr lang="en-US" altLang="zh-CN" sz="1600" baseline="-250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E</a:t>
            </a: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下</a:t>
            </a:r>
            <a:r>
              <a:rPr lang="zh-CN" altLang="en-US" sz="1600" smtClean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，随着</a:t>
            </a:r>
            <a:r>
              <a:rPr lang="en-US" altLang="zh-CN" sz="1600" b="1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V</a:t>
            </a:r>
            <a:r>
              <a:rPr lang="en-US" altLang="zh-CN" sz="1600" b="1" baseline="-2500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CE</a:t>
            </a:r>
            <a:r>
              <a:rPr lang="zh-CN" altLang="en-US" sz="1600" smtClean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的增加，</a:t>
            </a:r>
            <a:r>
              <a:rPr lang="en-US" altLang="zh-CN" sz="1600" b="1" i="1" smtClean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I</a:t>
            </a:r>
            <a:r>
              <a:rPr lang="en-US" altLang="zh-CN" sz="1600" b="1" baseline="-25000" smtClean="0">
                <a:solidFill>
                  <a:srgbClr val="0000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B</a:t>
            </a: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减小。</a:t>
            </a:r>
            <a:endParaRPr lang="zh-CN" altLang="en-US" sz="16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285750" indent="-285750" fontAlgn="auto">
              <a:lnSpc>
                <a:spcPct val="150000"/>
              </a:lnSpc>
              <a:spcBef>
                <a:spcPts val="600"/>
              </a:spcBef>
            </a:pPr>
            <a:r>
              <a:rPr lang="en-US" altLang="zh-CN" b="1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V</a:t>
            </a:r>
            <a:r>
              <a:rPr lang="en-US" altLang="zh-CN" b="1" baseline="-2500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CE</a:t>
            </a:r>
            <a:r>
              <a:rPr lang="en-US" altLang="zh-CN" b="1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≥1V</a:t>
            </a:r>
            <a:r>
              <a:rPr lang="zh-CN" altLang="en-US" b="1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时，曲线不变：</a:t>
            </a:r>
            <a:endParaRPr lang="zh-CN" altLang="en-US" b="1">
              <a:solidFill>
                <a:srgbClr val="C0000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285750" indent="-285750" fontAlgn="auto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 b="1">
                <a:solidFill>
                  <a:srgbClr val="0000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原因：</a:t>
            </a: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发射区注入基区的电子绝大部分会越过集电结到达集电区，形成的集电极</a:t>
            </a:r>
            <a:r>
              <a:rPr lang="zh-CN" altLang="en-US" sz="1600" smtClean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电流</a:t>
            </a:r>
            <a:r>
              <a:rPr lang="en-US" altLang="zh-CN" sz="1600" i="1" smtClean="0">
                <a:solidFill>
                  <a:srgbClr val="0000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I</a:t>
            </a:r>
            <a:r>
              <a:rPr lang="en-US" altLang="zh-CN" sz="1600" baseline="-25000" smtClean="0">
                <a:solidFill>
                  <a:srgbClr val="0000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C</a:t>
            </a: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不再变化，因而</a:t>
            </a:r>
            <a:r>
              <a:rPr lang="zh-CN" altLang="en-US" sz="1600" smtClean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，</a:t>
            </a:r>
            <a:r>
              <a:rPr lang="zh-CN" sz="1600" b="1" smtClean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发射结</a:t>
            </a:r>
            <a:r>
              <a:rPr lang="zh-CN" sz="1600" smtClean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的伏安特性</a:t>
            </a: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不再随</a:t>
            </a:r>
            <a:r>
              <a:rPr lang="en-US" altLang="zh-CN" sz="1600" b="1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V</a:t>
            </a:r>
            <a:r>
              <a:rPr lang="en-US" altLang="zh-CN" sz="1600" b="1" baseline="-2500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CE</a:t>
            </a: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的变化而变化</a:t>
            </a:r>
            <a:r>
              <a:rPr lang="zh-CN" altLang="en-US" sz="1600" smtClean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。</a:t>
            </a:r>
            <a:endParaRPr lang="zh-CN" altLang="en-US" sz="16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pic>
        <p:nvPicPr>
          <p:cNvPr id="10" name="图片 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55650" y="1632585"/>
            <a:ext cx="4362450" cy="3238500"/>
          </a:xfrm>
          <a:prstGeom prst="rect">
            <a:avLst/>
          </a:prstGeom>
        </p:spPr>
      </p:pic>
      <p:grpSp>
        <p:nvGrpSpPr>
          <p:cNvPr id="46" name="组合 45"/>
          <p:cNvGrpSpPr/>
          <p:nvPr/>
        </p:nvGrpSpPr>
        <p:grpSpPr>
          <a:xfrm>
            <a:off x="5580380" y="188595"/>
            <a:ext cx="3170555" cy="1308100"/>
            <a:chOff x="2891" y="6030"/>
            <a:chExt cx="7580" cy="3793"/>
          </a:xfrm>
        </p:grpSpPr>
        <p:pic>
          <p:nvPicPr>
            <p:cNvPr id="47" name="图片 46"/>
            <p:cNvPicPr>
              <a:picLocks noChangeAspect="1"/>
            </p:cNvPicPr>
            <p:nvPr/>
          </p:nvPicPr>
          <p:blipFill rotWithShape="1">
            <a:blip r:embed="rId3"/>
            <a:srcRect t="4169" b="10365"/>
            <a:stretch>
              <a:fillRect/>
            </a:stretch>
          </p:blipFill>
          <p:spPr>
            <a:xfrm>
              <a:off x="2891" y="6030"/>
              <a:ext cx="7580" cy="3793"/>
            </a:xfrm>
            <a:prstGeom prst="rect">
              <a:avLst/>
            </a:prstGeom>
          </p:spPr>
        </p:pic>
        <p:sp>
          <p:nvSpPr>
            <p:cNvPr id="48" name="矩形 47"/>
            <p:cNvSpPr/>
            <p:nvPr/>
          </p:nvSpPr>
          <p:spPr>
            <a:xfrm>
              <a:off x="6125" y="9596"/>
              <a:ext cx="1474" cy="2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3"/>
          <p:cNvSpPr txBox="1"/>
          <p:nvPr/>
        </p:nvSpPr>
        <p:spPr>
          <a:xfrm>
            <a:off x="251460" y="45085"/>
            <a:ext cx="8126095" cy="1291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 algn="l">
              <a:lnSpc>
                <a:spcPct val="20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400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双极型三极管的输出特性</a:t>
            </a:r>
            <a:endParaRPr lang="zh-CN" altLang="en-US" sz="2400" b="1" dirty="0" smtClean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b="1">
                <a:solidFill>
                  <a:srgbClr val="0000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即</a:t>
            </a:r>
            <a:r>
              <a:rPr lang="zh-CN" altLang="en-US" sz="2000" b="1" smtClean="0">
                <a:solidFill>
                  <a:srgbClr val="0000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：</a:t>
            </a:r>
            <a:r>
              <a:rPr lang="en-US" altLang="zh-CN" sz="2000" b="1" i="1" smtClean="0">
                <a:solidFill>
                  <a:srgbClr val="0000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I</a:t>
            </a:r>
            <a:r>
              <a:rPr lang="en-US" altLang="zh-CN" sz="2000" b="1" baseline="-25000" smtClean="0">
                <a:solidFill>
                  <a:srgbClr val="0000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B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为不同的定值</a:t>
            </a:r>
            <a:r>
              <a:rPr lang="zh-CN" altLang="en-US" sz="2000" b="1">
                <a:solidFill>
                  <a:srgbClr val="0000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时</a:t>
            </a:r>
            <a:r>
              <a:rPr lang="zh-CN" altLang="en-US" sz="2000" b="1" smtClean="0">
                <a:solidFill>
                  <a:srgbClr val="0000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，</a:t>
            </a:r>
            <a:r>
              <a:rPr lang="en-US" altLang="zh-CN" sz="2000" b="1" i="1">
                <a:solidFill>
                  <a:srgbClr val="0000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I</a:t>
            </a:r>
            <a:r>
              <a:rPr lang="en-US" altLang="zh-CN" sz="2000" b="1" baseline="-25000" smtClean="0">
                <a:solidFill>
                  <a:srgbClr val="0000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C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与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V</a:t>
            </a:r>
            <a:r>
              <a:rPr lang="en-US" altLang="zh-CN" sz="2000" b="1" baseline="-25000" dirty="0">
                <a:solidFill>
                  <a:srgbClr val="0000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CE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之间的关系。</a:t>
            </a:r>
            <a:endParaRPr lang="en-US" altLang="zh-CN" sz="2000" b="1" dirty="0">
              <a:solidFill>
                <a:srgbClr val="0000FF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340" y="1628775"/>
            <a:ext cx="4390390" cy="264985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23215" y="4077335"/>
            <a:ext cx="171704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b="1" dirty="0">
                <a:solidFill>
                  <a:srgbClr val="0000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V</a:t>
            </a:r>
            <a:r>
              <a:rPr lang="en-US" altLang="zh-CN" b="1" baseline="-25000" dirty="0">
                <a:solidFill>
                  <a:srgbClr val="0000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CE</a:t>
            </a:r>
            <a:r>
              <a:rPr lang="zh-CN" altLang="en-US" b="1" baseline="-25000" dirty="0">
                <a:solidFill>
                  <a:srgbClr val="0000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（</a:t>
            </a:r>
            <a:r>
              <a:rPr lang="en-US" altLang="zh-CN" b="1" baseline="-25000" dirty="0">
                <a:solidFill>
                  <a:srgbClr val="0000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sat</a:t>
            </a:r>
            <a:r>
              <a:rPr lang="zh-CN" altLang="en-US" b="1" baseline="-25000" dirty="0">
                <a:solidFill>
                  <a:srgbClr val="0000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）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~ 0.3V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313815" y="4521200"/>
            <a:ext cx="3434080" cy="33718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1600" b="1" dirty="0" smtClean="0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双极型三极管的输出特性（</a:t>
            </a:r>
            <a:r>
              <a:rPr lang="zh-CN" altLang="en-US" sz="1600" b="1" dirty="0" smtClean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小功率</a:t>
            </a:r>
            <a:r>
              <a:rPr lang="zh-CN" altLang="en-US" sz="1600" b="1" dirty="0" smtClean="0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）</a:t>
            </a:r>
            <a:endParaRPr lang="zh-CN" altLang="en-US" sz="1600" b="1" dirty="0" smtClean="0">
              <a:solidFill>
                <a:srgbClr val="00206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782820" y="1268730"/>
            <a:ext cx="4280535" cy="3923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截止区：</a:t>
            </a:r>
            <a:endParaRPr lang="zh-CN" altLang="en-US" sz="20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179705" fontAlgn="auto">
              <a:lnSpc>
                <a:spcPct val="150000"/>
              </a:lnSpc>
            </a:pPr>
            <a:r>
              <a:rPr lang="zh-CN" altLang="en-US" b="1">
                <a:solidFill>
                  <a:srgbClr val="0000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条件：</a:t>
            </a:r>
            <a:r>
              <a:rPr lang="zh-CN" altLang="en-US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发射结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未</a:t>
            </a:r>
            <a:r>
              <a:rPr lang="zh-CN" altLang="en-US" b="1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正向导通</a:t>
            </a:r>
            <a:r>
              <a:rPr lang="zh-CN" altLang="en-US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，集电结</a:t>
            </a:r>
            <a:r>
              <a:rPr lang="zh-CN" altLang="en-US" b="1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反偏</a:t>
            </a:r>
            <a:r>
              <a:rPr lang="zh-CN" altLang="en-US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；</a:t>
            </a:r>
            <a:endParaRPr lang="zh-CN" altLang="en-US" b="1">
              <a:solidFill>
                <a:srgbClr val="0000FF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marL="179705" fontAlgn="auto">
              <a:lnSpc>
                <a:spcPct val="150000"/>
              </a:lnSpc>
            </a:pPr>
            <a:r>
              <a:rPr lang="zh-CN" altLang="en-US" b="1">
                <a:solidFill>
                  <a:srgbClr val="0000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特点</a:t>
            </a:r>
            <a:r>
              <a:rPr lang="zh-CN" altLang="en-US" b="1" smtClean="0">
                <a:solidFill>
                  <a:srgbClr val="0000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：</a:t>
            </a:r>
            <a:r>
              <a:rPr lang="en-US" altLang="zh-CN" b="1" i="1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I</a:t>
            </a:r>
            <a:r>
              <a:rPr lang="en-US" altLang="zh-CN" b="1" baseline="-25000" smtClean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B </a:t>
            </a:r>
            <a:r>
              <a:rPr lang="en-US" altLang="zh-CN" b="1" i="1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= 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0</a:t>
            </a:r>
            <a:r>
              <a:rPr lang="en-US" altLang="zh-CN" b="1" i="1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en-US" altLang="zh-CN" b="1" i="1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, </a:t>
            </a:r>
            <a:r>
              <a:rPr lang="en-US" altLang="zh-CN" b="1" i="1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I</a:t>
            </a:r>
            <a:r>
              <a:rPr lang="en-US" altLang="zh-CN" b="1" baseline="-25000" smtClean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C</a:t>
            </a:r>
            <a:r>
              <a:rPr lang="en-US" altLang="zh-CN" b="1" smtClean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=0</a:t>
            </a:r>
            <a:r>
              <a:rPr lang="zh-CN" altLang="en-US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。</a:t>
            </a:r>
            <a:endParaRPr lang="zh-CN" altLang="en-US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b="1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饱和区：</a:t>
            </a:r>
            <a:r>
              <a:rPr lang="zh-CN" altLang="en-US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（</a:t>
            </a:r>
            <a:r>
              <a:rPr lang="en-US" altLang="zh-CN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V</a:t>
            </a:r>
            <a:r>
              <a:rPr lang="en-US" altLang="zh-CN" b="1" baseline="-250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CE</a:t>
            </a:r>
            <a:r>
              <a:rPr lang="en-US" altLang="zh-CN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≤0.3V</a:t>
            </a:r>
            <a:r>
              <a:rPr lang="zh-CN" altLang="en-US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）</a:t>
            </a:r>
            <a:endParaRPr lang="zh-CN" altLang="en-US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179705" fontAlgn="auto">
              <a:lnSpc>
                <a:spcPct val="150000"/>
              </a:lnSpc>
            </a:pPr>
            <a:r>
              <a:rPr lang="zh-CN" altLang="en-US" b="1">
                <a:solidFill>
                  <a:srgbClr val="0000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条件：</a:t>
            </a:r>
            <a:r>
              <a:rPr lang="zh-CN" altLang="en-US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发射结</a:t>
            </a:r>
            <a:r>
              <a:rPr lang="zh-CN" altLang="en-US" b="1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正向导通</a:t>
            </a:r>
            <a:r>
              <a:rPr lang="zh-CN" altLang="en-US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，集电结</a:t>
            </a:r>
            <a:r>
              <a:rPr lang="zh-CN" altLang="en-US" b="1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正偏</a:t>
            </a:r>
            <a:r>
              <a:rPr lang="zh-CN" altLang="en-US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；</a:t>
            </a:r>
            <a:endParaRPr lang="zh-CN" altLang="en-US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179705" fontAlgn="auto">
              <a:lnSpc>
                <a:spcPct val="150000"/>
              </a:lnSpc>
            </a:pPr>
            <a:r>
              <a:rPr lang="zh-CN" altLang="en-US" b="1">
                <a:solidFill>
                  <a:srgbClr val="0000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特点</a:t>
            </a:r>
            <a:r>
              <a:rPr lang="zh-CN" altLang="en-US" b="1" smtClean="0">
                <a:solidFill>
                  <a:srgbClr val="0000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：</a:t>
            </a:r>
            <a:r>
              <a:rPr lang="en-US" altLang="zh-CN" i="1" smtClean="0">
                <a:solidFill>
                  <a:srgbClr val="0000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I</a:t>
            </a:r>
            <a:r>
              <a:rPr lang="en-US" altLang="zh-CN" baseline="-25000" smtClean="0">
                <a:solidFill>
                  <a:srgbClr val="0000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C</a:t>
            </a:r>
            <a:r>
              <a:rPr lang="zh-CN" altLang="en-US" smtClean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与</a:t>
            </a:r>
            <a:r>
              <a:rPr lang="en-US" altLang="zh-CN" i="1">
                <a:solidFill>
                  <a:srgbClr val="0000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I</a:t>
            </a:r>
            <a:r>
              <a:rPr lang="en-US" altLang="zh-CN" baseline="-25000" smtClean="0">
                <a:solidFill>
                  <a:srgbClr val="0000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B</a:t>
            </a:r>
            <a:r>
              <a:rPr lang="zh-CN" altLang="en-US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和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V</a:t>
            </a:r>
            <a:r>
              <a:rPr lang="en-US" altLang="zh-CN" baseline="-25000">
                <a:solidFill>
                  <a:srgbClr val="0000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CE</a:t>
            </a:r>
            <a:r>
              <a:rPr lang="zh-CN" altLang="en-US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同时相关。</a:t>
            </a:r>
            <a:endParaRPr lang="zh-CN" altLang="en-US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indent="-342900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放大区：</a:t>
            </a:r>
            <a:r>
              <a:rPr lang="zh-CN" altLang="en-US" sz="20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（</a:t>
            </a:r>
            <a:r>
              <a:rPr lang="en-US" altLang="zh-CN" sz="20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V</a:t>
            </a:r>
            <a:r>
              <a:rPr lang="en-US" altLang="zh-CN" sz="2000" b="1" baseline="-250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CE</a:t>
            </a:r>
            <a:r>
              <a:rPr lang="en-US" altLang="zh-CN" sz="20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&gt;0.3V</a:t>
            </a:r>
            <a:r>
              <a:rPr lang="zh-CN" altLang="en-US" sz="20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）</a:t>
            </a:r>
            <a:endParaRPr lang="zh-CN" altLang="en-US" sz="20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179705" fontAlgn="auto">
              <a:lnSpc>
                <a:spcPct val="150000"/>
              </a:lnSpc>
            </a:pPr>
            <a:r>
              <a:rPr lang="zh-CN" altLang="en-US" b="1">
                <a:solidFill>
                  <a:srgbClr val="0000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条件：</a:t>
            </a:r>
            <a:r>
              <a:rPr lang="zh-CN" altLang="en-US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发射结</a:t>
            </a:r>
            <a:r>
              <a:rPr lang="zh-CN" altLang="en-US" b="1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正向导通</a:t>
            </a:r>
            <a:r>
              <a:rPr lang="zh-CN" altLang="en-US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，集电结</a:t>
            </a:r>
            <a:r>
              <a:rPr lang="zh-CN" altLang="en-US" b="1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反偏</a:t>
            </a:r>
            <a:r>
              <a:rPr lang="zh-CN" altLang="en-US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；</a:t>
            </a:r>
            <a:endParaRPr lang="zh-CN" altLang="en-US" b="1">
              <a:solidFill>
                <a:srgbClr val="0000FF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marL="179705" fontAlgn="auto">
              <a:lnSpc>
                <a:spcPct val="150000"/>
              </a:lnSpc>
            </a:pPr>
            <a:r>
              <a:rPr lang="zh-CN" altLang="en-US" b="1">
                <a:solidFill>
                  <a:srgbClr val="0000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特点</a:t>
            </a:r>
            <a:r>
              <a:rPr lang="zh-CN" altLang="en-US" b="1" smtClean="0">
                <a:solidFill>
                  <a:srgbClr val="0000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：</a:t>
            </a:r>
            <a:r>
              <a:rPr lang="en-US" altLang="zh-CN" b="1" i="1" smtClean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I</a:t>
            </a:r>
            <a:r>
              <a:rPr lang="en-US" altLang="zh-CN" b="1" baseline="-25000" smtClean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C</a:t>
            </a:r>
            <a:r>
              <a:rPr lang="en-US" altLang="zh-CN" b="1" smtClean="0">
                <a:solidFill>
                  <a:srgbClr val="C00000"/>
                </a:solidFill>
                <a:sym typeface="+mn-ea"/>
              </a:rPr>
              <a:t> </a:t>
            </a:r>
            <a:r>
              <a:rPr lang="en-US" altLang="zh-CN" b="1">
                <a:solidFill>
                  <a:srgbClr val="C00000"/>
                </a:solidFill>
                <a:sym typeface="+mn-ea"/>
              </a:rPr>
              <a:t>=β* </a:t>
            </a:r>
            <a:r>
              <a:rPr lang="en-US" altLang="zh-CN" b="1" i="1" smtClean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I</a:t>
            </a:r>
            <a:r>
              <a:rPr lang="en-US" altLang="zh-CN" b="1" baseline="-25000" smtClean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B</a:t>
            </a:r>
            <a:r>
              <a:rPr lang="zh-CN" altLang="en-US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。</a:t>
            </a:r>
            <a:endParaRPr lang="zh-CN" altLang="en-US" b="1" baseline="-25000" dirty="0">
              <a:solidFill>
                <a:srgbClr val="FF000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755650" y="5300980"/>
            <a:ext cx="7486015" cy="922020"/>
          </a:xfrm>
          <a:prstGeom prst="rect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path path="rect">
              <a:fillToRect l="50000" t="50000" r="50000" b="50000"/>
            </a:path>
            <a:tileRect/>
          </a:gradFill>
        </p:spPr>
        <p:txBody>
          <a:bodyPr wrap="square" anchor="t" anchorCtr="0">
            <a:sp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模拟电路中，三极管主要工作在</a:t>
            </a:r>
            <a:r>
              <a:rPr lang="zh-CN" b="1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放大状态，</a:t>
            </a:r>
            <a:r>
              <a:rPr lang="zh-CN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做</a:t>
            </a:r>
            <a:r>
              <a:rPr lang="zh-CN" b="1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放大器</a:t>
            </a:r>
            <a:r>
              <a:rPr lang="zh-CN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元件用</a:t>
            </a:r>
            <a:endParaRPr lang="zh-CN" b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数字电路中，三极管只用到</a:t>
            </a:r>
            <a:r>
              <a:rPr lang="zh-CN" b="1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截止</a:t>
            </a:r>
            <a:r>
              <a:rPr lang="zh-CN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zh-CN" b="1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饱和</a:t>
            </a:r>
            <a:r>
              <a:rPr lang="zh-CN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两种状态，做</a:t>
            </a:r>
            <a:r>
              <a:rPr lang="zh-CN" b="1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开关</a:t>
            </a:r>
            <a:r>
              <a:rPr lang="zh-CN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元件用</a:t>
            </a:r>
            <a:endParaRPr lang="zh-CN" b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79705" y="116840"/>
            <a:ext cx="8790940" cy="6877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b="1" smtClean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实验五要求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zh-CN" altLang="en-US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just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）用器件仿真器建立如下结构结构的三极管模型，放大倍数不低于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50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倍。注意结区的网格要设置的密一些。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just">
              <a:lnSpc>
                <a:spcPct val="150000"/>
              </a:lnSpc>
              <a:buFont typeface="Wingdings" panose="05000000000000000000" pitchFamily="2" charset="2"/>
              <a:buNone/>
            </a:pP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just">
              <a:lnSpc>
                <a:spcPct val="150000"/>
              </a:lnSpc>
              <a:buFont typeface="Wingdings" panose="05000000000000000000" pitchFamily="2" charset="2"/>
              <a:buNone/>
            </a:pP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just">
              <a:lnSpc>
                <a:spcPct val="150000"/>
              </a:lnSpc>
              <a:buFont typeface="+mj-lt"/>
              <a:buNone/>
            </a:pPr>
            <a:endParaRPr lang="zh-CN" altLang="en-US" sz="160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just">
              <a:lnSpc>
                <a:spcPct val="150000"/>
              </a:lnSpc>
              <a:buFont typeface="+mj-lt"/>
              <a:buNone/>
            </a:pPr>
            <a:endParaRPr lang="zh-CN" altLang="en-US" sz="160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just">
              <a:lnSpc>
                <a:spcPct val="150000"/>
              </a:lnSpc>
              <a:buFont typeface="+mj-lt"/>
              <a:buNone/>
            </a:pPr>
            <a:endParaRPr lang="zh-CN" altLang="en-US" sz="160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just">
              <a:lnSpc>
                <a:spcPct val="150000"/>
              </a:lnSpc>
              <a:buFont typeface="+mj-lt"/>
              <a:buNone/>
            </a:pPr>
            <a:endParaRPr lang="zh-CN" altLang="en-US" sz="160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just">
              <a:lnSpc>
                <a:spcPct val="150000"/>
              </a:lnSpc>
              <a:buFont typeface="+mj-lt"/>
              <a:buNone/>
            </a:pPr>
            <a:endParaRPr lang="zh-CN" altLang="en-US" sz="160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just">
              <a:lnSpc>
                <a:spcPct val="150000"/>
              </a:lnSpc>
              <a:buFont typeface="+mj-lt"/>
              <a:buNone/>
            </a:pPr>
            <a:endParaRPr lang="zh-CN" altLang="en-US" sz="160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just">
              <a:lnSpc>
                <a:spcPct val="150000"/>
              </a:lnSpc>
              <a:buFont typeface="+mj-lt"/>
              <a:buNone/>
            </a:pPr>
            <a:endParaRPr lang="zh-CN" altLang="en-US" sz="160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just">
              <a:lnSpc>
                <a:spcPct val="150000"/>
              </a:lnSpc>
              <a:buFont typeface="+mj-lt"/>
              <a:buNone/>
            </a:pPr>
            <a:endParaRPr lang="zh-CN" altLang="en-US" sz="160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just">
              <a:lnSpc>
                <a:spcPct val="150000"/>
              </a:lnSpc>
              <a:buFont typeface="+mj-lt"/>
              <a:buNone/>
            </a:pPr>
            <a:endParaRPr lang="zh-CN" altLang="en-US" sz="160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just">
              <a:lnSpc>
                <a:spcPct val="150000"/>
              </a:lnSpc>
              <a:buFont typeface="+mj-lt"/>
              <a:buNone/>
            </a:pPr>
            <a:endParaRPr lang="zh-CN" altLang="en-US" sz="160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just">
              <a:lnSpc>
                <a:spcPct val="150000"/>
              </a:lnSpc>
              <a:buFont typeface="+mj-lt"/>
              <a:buNone/>
            </a:pPr>
            <a:r>
              <a:rPr lang="zh-CN" altLang="en-US" sz="140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140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140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仿真</a:t>
            </a:r>
            <a:r>
              <a:rPr lang="zh-CN" altLang="en-US" sz="140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出三极管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</a:t>
            </a:r>
            <a:r>
              <a:rPr lang="zh-CN" sz="1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输入特性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（基极的电压范围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0~0.7V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，集电极的电压分别为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0.1, 0.2, 0.3, 0.5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1.0,1.5, 2.0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注意：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对于不同的集电极电压，可适当的调节基极的电压范围。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）；</a:t>
            </a:r>
            <a:endParaRPr lang="en-US" alt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just">
              <a:lnSpc>
                <a:spcPct val="150000"/>
              </a:lnSpc>
              <a:buFont typeface="+mj-lt"/>
              <a:buNone/>
            </a:pPr>
            <a:r>
              <a:rPr lang="zh-CN" altLang="en-US" sz="140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140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sz="140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仿真</a:t>
            </a:r>
            <a:r>
              <a:rPr lang="zh-CN" altLang="en-US" sz="140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出三极管</a:t>
            </a:r>
            <a:r>
              <a:rPr lang="en-US" altLang="zh-CN" sz="1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输出特性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zh-CN" altLang="en-US" sz="140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并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给出</a:t>
            </a:r>
            <a:r>
              <a:rPr lang="zh-CN" altLang="en-US" sz="140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三极管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的放大倍数</a:t>
            </a:r>
            <a:r>
              <a:rPr lang="en-US" altLang="zh-CN" sz="1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β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的实际值（集电极的电压范围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0~5V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）。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just">
              <a:lnSpc>
                <a:spcPct val="150000"/>
              </a:lnSpc>
              <a:buClrTx/>
              <a:buSzTx/>
              <a:buFont typeface="+mj-lt"/>
            </a:pPr>
            <a:endParaRPr lang="zh-CN" altLang="en-US" sz="14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just">
              <a:lnSpc>
                <a:spcPct val="150000"/>
              </a:lnSpc>
              <a:buClrTx/>
              <a:buSzTx/>
              <a:buFont typeface="+mj-lt"/>
            </a:pPr>
            <a:endParaRPr lang="zh-CN" altLang="en-US" sz="140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4665" y="979170"/>
            <a:ext cx="5633720" cy="4325620"/>
          </a:xfrm>
          <a:prstGeom prst="rect">
            <a:avLst/>
          </a:prstGeom>
        </p:spPr>
      </p:pic>
      <p:sp>
        <p:nvSpPr>
          <p:cNvPr id="3" name="椭圆 2"/>
          <p:cNvSpPr/>
          <p:nvPr/>
        </p:nvSpPr>
        <p:spPr>
          <a:xfrm>
            <a:off x="5652770" y="1365885"/>
            <a:ext cx="689610" cy="347980"/>
          </a:xfrm>
          <a:prstGeom prst="ellipse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581015" y="1014730"/>
            <a:ext cx="1648460" cy="4565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just">
              <a:lnSpc>
                <a:spcPct val="150000"/>
              </a:lnSpc>
              <a:buFont typeface="+mj-lt"/>
              <a:buNone/>
            </a:pPr>
            <a:r>
              <a:rPr lang="en-US" altLang="zh-CN" sz="12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</a:t>
            </a:r>
            <a:r>
              <a:rPr lang="zh-CN" altLang="en-US" sz="12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型重饰区</a:t>
            </a:r>
            <a:endParaRPr lang="zh-CN" altLang="en-US" sz="12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79705" y="45085"/>
            <a:ext cx="655253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b="1" smtClean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双极型</a:t>
            </a:r>
            <a:r>
              <a:rPr lang="zh-CN" altLang="en-US" sz="2000" b="1" smtClean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三极</a:t>
            </a:r>
            <a:r>
              <a:rPr lang="en-US" altLang="zh-CN" sz="2000" b="1" smtClean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管</a:t>
            </a:r>
            <a:r>
              <a:rPr lang="zh-CN" altLang="en-US" sz="200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参考代码</a:t>
            </a:r>
            <a:r>
              <a:rPr lang="zh-CN" altLang="en-US" sz="200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endParaRPr lang="zh-CN" altLang="en-US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251460" y="548640"/>
            <a:ext cx="8853805" cy="61855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fontAlgn="auto">
              <a:spcBef>
                <a:spcPts val="600"/>
              </a:spcBef>
            </a:pPr>
            <a:r>
              <a:rPr lang="en-US" sz="1200" b="1">
                <a:solidFill>
                  <a:srgbClr val="C52ABC"/>
                </a:solidFill>
                <a:latin typeface="Calibri" panose="020F0502020204030204" charset="0"/>
                <a:ea typeface="宋体" panose="02010600030101010101" pitchFamily="2" charset="-122"/>
              </a:rPr>
              <a:t>go atlas</a:t>
            </a:r>
            <a:r>
              <a:rPr lang="en-US" sz="1200" b="1">
                <a:latin typeface="Calibri" panose="020F0502020204030204" charset="0"/>
                <a:ea typeface="宋体" panose="02010600030101010101" pitchFamily="2" charset="-122"/>
              </a:rPr>
              <a:t>mesh x.m l=0   spacing=0.15x.m l=0.8 spacing=0.15x.m l=1.0 spacing=0.03x.m l=1.5 spacing=0.12x.m l=2.0 spacing=0.15</a:t>
            </a:r>
            <a:r>
              <a:rPr lang="en-US" sz="1200" b="1"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 </a:t>
            </a:r>
            <a:r>
              <a:rPr lang="en-US" sz="1200" b="1">
                <a:latin typeface="Calibri" panose="020F0502020204030204" charset="0"/>
                <a:ea typeface="宋体" panose="02010600030101010101" pitchFamily="2" charset="-122"/>
              </a:rPr>
              <a:t>y.m l=0.0  spacing=0.006y.m l=0.04 spacing=0.006y.m l=0.06 spacing=0.005y.m l=0.15 spacing=0.02y.m l=0.30 spacing=0.02y.m l=1.0  spacing=0.12</a:t>
            </a:r>
            <a:r>
              <a:rPr lang="en-US" sz="1200" b="1"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 </a:t>
            </a:r>
            <a:endParaRPr lang="en-US" sz="1200" b="1">
              <a:latin typeface="Calibri" panose="020F05020202040302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 fontAlgn="auto">
              <a:spcBef>
                <a:spcPts val="0"/>
              </a:spcBef>
            </a:pPr>
            <a:r>
              <a:rPr lang="en-US" sz="1200" b="1">
                <a:latin typeface="Calibri" panose="020F0502020204030204" charset="0"/>
                <a:ea typeface="宋体" panose="02010600030101010101" pitchFamily="2" charset="-122"/>
              </a:rPr>
              <a:t>region num=1 silicon</a:t>
            </a:r>
            <a:r>
              <a:rPr lang="en-US" sz="1200" b="1"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 </a:t>
            </a:r>
            <a:r>
              <a:rPr lang="en-US" sz="1200" b="1">
                <a:latin typeface="Calibri" panose="020F0502020204030204" charset="0"/>
                <a:ea typeface="宋体" panose="02010600030101010101" pitchFamily="2" charset="-122"/>
              </a:rPr>
              <a:t>electrode num=1 name=emitter left length=0.8electrode num=2 name=base    right length=0.5 y.max=0electrode num=3 name=collector bottom</a:t>
            </a:r>
            <a:r>
              <a:rPr lang="en-US" sz="1200" b="1"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 </a:t>
            </a:r>
            <a:endParaRPr lang="en-US" sz="1200" b="1">
              <a:latin typeface="Calibri" panose="020F05020202040302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 fontAlgn="auto">
              <a:spcBef>
                <a:spcPts val="0"/>
              </a:spcBef>
            </a:pPr>
            <a:r>
              <a:rPr lang="en-US" sz="1200" b="1">
                <a:latin typeface="Calibri" panose="020F0502020204030204" charset="0"/>
                <a:ea typeface="宋体" panose="02010600030101010101" pitchFamily="2" charset="-122"/>
              </a:rPr>
              <a:t>doping reg=1 uniform n.type conc=5e15 </a:t>
            </a:r>
            <a:r>
              <a:rPr lang="en-US" sz="1200" b="1">
                <a:solidFill>
                  <a:srgbClr val="00B050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#</a:t>
            </a:r>
            <a:r>
              <a:rPr lang="zh-CN" altLang="en-US" sz="1200" b="1">
                <a:solidFill>
                  <a:srgbClr val="00B050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整个衬底</a:t>
            </a:r>
            <a:r>
              <a:rPr lang="en-US" sz="1200" b="1">
                <a:solidFill>
                  <a:srgbClr val="00B050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n.type</a:t>
            </a:r>
            <a:r>
              <a:rPr lang="zh-CN" altLang="en-US" sz="1200" b="1">
                <a:solidFill>
                  <a:srgbClr val="00B050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均匀掺杂</a:t>
            </a:r>
            <a:r>
              <a:rPr lang="en-US" sz="1200" b="1">
                <a:latin typeface="Calibri" panose="020F0502020204030204" charset="0"/>
                <a:ea typeface="宋体" panose="02010600030101010101" pitchFamily="2" charset="-122"/>
              </a:rPr>
              <a:t>doping reg=1 gauss   n.type conc=1e18 peak=1.0 char=0.2 </a:t>
            </a:r>
            <a:r>
              <a:rPr lang="en-US" sz="1200" b="1">
                <a:latin typeface="Calibri" panose="020F0502020204030204" charset="0"/>
                <a:ea typeface="宋体" panose="02010600030101010101" pitchFamily="2" charset="-122"/>
                <a:sym typeface="+mn-ea"/>
              </a:rPr>
              <a:t>  </a:t>
            </a:r>
            <a:r>
              <a:rPr lang="en-US" sz="1200" b="1">
                <a:solidFill>
                  <a:srgbClr val="00B050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#整个衬底做 n.type 高斯掺杂，峰值</a:t>
            </a:r>
            <a:r>
              <a:rPr lang="zh-CN" altLang="en-US" sz="1200" b="1">
                <a:solidFill>
                  <a:srgbClr val="00B050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位置</a:t>
            </a:r>
            <a:r>
              <a:rPr lang="en-US" sz="1200" b="1">
                <a:solidFill>
                  <a:srgbClr val="00B050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peak=1.0（y方向），峰值浓度为1e18原子/cm3，标准差参数char=0.2</a:t>
            </a:r>
            <a:r>
              <a:rPr lang="zh-CN" altLang="en-US" sz="1200" b="1">
                <a:solidFill>
                  <a:srgbClr val="00B050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。</a:t>
            </a:r>
            <a:r>
              <a:rPr lang="zh-CN" altLang="en-US" sz="1200" b="1">
                <a:solidFill>
                  <a:srgbClr val="00B050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得到集电区</a:t>
            </a:r>
            <a:endParaRPr lang="en-US" sz="1200" b="1">
              <a:solidFill>
                <a:srgbClr val="00B050"/>
              </a:solidFill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  <a:p>
            <a:pPr algn="l" fontAlgn="auto">
              <a:spcBef>
                <a:spcPts val="0"/>
              </a:spcBef>
              <a:buClrTx/>
              <a:buSzTx/>
              <a:buFontTx/>
            </a:pPr>
            <a:r>
              <a:rPr lang="zh-CN" altLang="en-US" sz="1200" b="1">
                <a:latin typeface="Calibri" panose="020F0502020204030204" charset="0"/>
                <a:ea typeface="宋体" panose="02010600030101010101" pitchFamily="2" charset="-122"/>
                <a:sym typeface="+mn-ea"/>
              </a:rPr>
              <a:t>doping reg=1 gauss   p.type conc=1e18 peak=0.05 junct=0.15</a:t>
            </a:r>
            <a:r>
              <a:rPr lang="en-US" sz="1200" b="1">
                <a:latin typeface="Calibri" panose="020F0502020204030204" charset="0"/>
                <a:ea typeface="宋体" panose="02010600030101010101" pitchFamily="2" charset="-122"/>
                <a:sym typeface="+mn-ea"/>
              </a:rPr>
              <a:t> </a:t>
            </a:r>
            <a:r>
              <a:rPr lang="en-US" sz="1200" b="1">
                <a:solidFill>
                  <a:srgbClr val="00B050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#对衬底做 p.type 高斯掺杂，峰值</a:t>
            </a:r>
            <a:r>
              <a:rPr lang="zh-CN" altLang="en-US" sz="1200" b="1">
                <a:solidFill>
                  <a:srgbClr val="00B050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位置</a:t>
            </a:r>
            <a:r>
              <a:rPr lang="en-US" sz="1200" b="1">
                <a:solidFill>
                  <a:srgbClr val="00B050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peak=0.05（y方向），峰值浓度为1e18原子/cm3，</a:t>
            </a:r>
            <a:r>
              <a:rPr lang="zh-CN" altLang="en-US" sz="1200" b="1">
                <a:solidFill>
                  <a:srgbClr val="00B050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结深</a:t>
            </a:r>
            <a:r>
              <a:rPr lang="en-US" sz="1200" b="1">
                <a:solidFill>
                  <a:srgbClr val="00B050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junct</a:t>
            </a:r>
            <a:r>
              <a:rPr lang="zh-CN" altLang="en-US" sz="1200" b="1">
                <a:solidFill>
                  <a:srgbClr val="00B050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在</a:t>
            </a:r>
            <a:r>
              <a:rPr lang="en-US" sz="1200" b="1">
                <a:solidFill>
                  <a:srgbClr val="00B050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0.15μm</a:t>
            </a:r>
            <a:r>
              <a:rPr lang="zh-CN" altLang="en-US" sz="1200" b="1">
                <a:solidFill>
                  <a:srgbClr val="00B050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处。得到基区</a:t>
            </a:r>
            <a:r>
              <a:rPr lang="zh-CN" altLang="en-US" sz="1200" b="1">
                <a:latin typeface="Calibri" panose="020F0502020204030204" charset="0"/>
                <a:ea typeface="宋体" panose="02010600030101010101" pitchFamily="2" charset="-122"/>
                <a:sym typeface="+mn-ea"/>
              </a:rPr>
              <a:t>doping reg=1 gauss   n.type conc=5e19 peak=0.0  junct=0.05 x.right=0.8</a:t>
            </a:r>
            <a:r>
              <a:rPr lang="en-US" sz="1200" b="1">
                <a:latin typeface="Calibri" panose="020F0502020204030204" charset="0"/>
                <a:ea typeface="宋体" panose="02010600030101010101" pitchFamily="2" charset="-122"/>
                <a:sym typeface="+mn-ea"/>
              </a:rPr>
              <a:t> </a:t>
            </a:r>
            <a:r>
              <a:rPr lang="en-US" sz="1200" b="1">
                <a:solidFill>
                  <a:srgbClr val="00B050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#对衬底x=0.8</a:t>
            </a:r>
            <a:r>
              <a:rPr lang="zh-CN" altLang="en-US" sz="1200" b="1">
                <a:solidFill>
                  <a:srgbClr val="00B050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以左</a:t>
            </a:r>
            <a:r>
              <a:rPr lang="en-US" sz="1200" b="1">
                <a:solidFill>
                  <a:srgbClr val="00B050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做 n.type 高斯掺杂，峰值</a:t>
            </a:r>
            <a:r>
              <a:rPr lang="zh-CN" altLang="en-US" sz="1200" b="1">
                <a:solidFill>
                  <a:srgbClr val="00B050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位置</a:t>
            </a:r>
            <a:r>
              <a:rPr lang="en-US" sz="1200" b="1">
                <a:solidFill>
                  <a:srgbClr val="00B050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peak=0（y方向），峰值浓度为5e19原子/cm3，</a:t>
            </a:r>
            <a:r>
              <a:rPr lang="zh-CN" altLang="en-US" sz="1200" b="1">
                <a:solidFill>
                  <a:srgbClr val="00B050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结深</a:t>
            </a:r>
            <a:r>
              <a:rPr lang="en-US" sz="1200" b="1">
                <a:solidFill>
                  <a:srgbClr val="00B050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junct</a:t>
            </a:r>
            <a:r>
              <a:rPr lang="zh-CN" altLang="en-US" sz="1200" b="1">
                <a:solidFill>
                  <a:srgbClr val="00B050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在</a:t>
            </a:r>
            <a:r>
              <a:rPr lang="en-US" sz="1200" b="1">
                <a:solidFill>
                  <a:srgbClr val="00B050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0.05μm</a:t>
            </a:r>
            <a:r>
              <a:rPr lang="zh-CN" altLang="en-US" sz="1200" b="1">
                <a:solidFill>
                  <a:srgbClr val="00B050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处。得到发射区</a:t>
            </a:r>
            <a:r>
              <a:rPr lang="zh-CN" altLang="en-US" sz="1200" b="1">
                <a:latin typeface="Calibri" panose="020F0502020204030204" charset="0"/>
                <a:ea typeface="宋体" panose="02010600030101010101" pitchFamily="2" charset="-122"/>
                <a:sym typeface="+mn-ea"/>
              </a:rPr>
              <a:t>doping reg=1 gauss   p.type conc=5e19 peak=0.0  char=0.08 x.left=1.5</a:t>
            </a:r>
            <a:r>
              <a:rPr lang="zh-CN" altLang="en-US" sz="1200" b="1">
                <a:latin typeface="Calibri" panose="020F0502020204030204" charset="0"/>
                <a:ea typeface="宋体" panose="02010600030101010101" pitchFamily="2" charset="-122"/>
              </a:rPr>
              <a:t> </a:t>
            </a:r>
            <a:r>
              <a:rPr lang="en-US" sz="1200" b="1">
                <a:latin typeface="Calibri" panose="020F0502020204030204" charset="0"/>
                <a:ea typeface="宋体" panose="02010600030101010101" pitchFamily="2" charset="-122"/>
                <a:sym typeface="+mn-ea"/>
              </a:rPr>
              <a:t> </a:t>
            </a:r>
            <a:r>
              <a:rPr lang="en-US" sz="1200" b="1">
                <a:solidFill>
                  <a:srgbClr val="00B050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#对衬底x=1.5</a:t>
            </a:r>
            <a:r>
              <a:rPr lang="zh-CN" altLang="en-US" sz="1200" b="1">
                <a:solidFill>
                  <a:srgbClr val="00B050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以右</a:t>
            </a:r>
            <a:r>
              <a:rPr lang="en-US" sz="1200" b="1">
                <a:solidFill>
                  <a:srgbClr val="00B050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做p.type 高斯掺杂，峰值</a:t>
            </a:r>
            <a:r>
              <a:rPr lang="zh-CN" altLang="en-US" sz="1200" b="1">
                <a:solidFill>
                  <a:srgbClr val="00B050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位置</a:t>
            </a:r>
            <a:r>
              <a:rPr lang="en-US" sz="1200" b="1">
                <a:solidFill>
                  <a:srgbClr val="00B050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peak=0（y方向），峰值浓度为5e19原子/cm3，</a:t>
            </a:r>
            <a:r>
              <a:rPr sz="1200" b="1">
                <a:solidFill>
                  <a:srgbClr val="00B050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标准差参数char=0.</a:t>
            </a:r>
            <a:r>
              <a:rPr lang="en-US" sz="1200" b="1">
                <a:solidFill>
                  <a:srgbClr val="00B050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08</a:t>
            </a:r>
            <a:r>
              <a:rPr lang="zh-CN" altLang="en-US" sz="1200" b="1">
                <a:solidFill>
                  <a:srgbClr val="00B050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。重饰基区</a:t>
            </a:r>
            <a:r>
              <a:rPr lang="zh-CN" altLang="en-US" sz="1200" b="1">
                <a:latin typeface="Calibri" panose="020F0502020204030204" charset="0"/>
                <a:ea typeface="宋体" panose="02010600030101010101" pitchFamily="2" charset="-122"/>
              </a:rPr>
              <a:t> </a:t>
            </a:r>
            <a:endParaRPr lang="zh-CN" altLang="en-US" sz="1200" b="1">
              <a:latin typeface="Calibri" panose="020F0502020204030204" charset="0"/>
              <a:ea typeface="宋体" panose="02010600030101010101" pitchFamily="2" charset="-122"/>
            </a:endParaRPr>
          </a:p>
          <a:p>
            <a:pPr algn="l" fontAlgn="auto">
              <a:spcBef>
                <a:spcPts val="0"/>
              </a:spcBef>
              <a:buClrTx/>
              <a:buSzTx/>
              <a:buFontTx/>
            </a:pPr>
            <a:endParaRPr lang="zh-CN" altLang="en-US" sz="1200" b="1">
              <a:latin typeface="Calibri" panose="020F0502020204030204" charset="0"/>
              <a:ea typeface="宋体" panose="02010600030101010101" pitchFamily="2" charset="-122"/>
            </a:endParaRPr>
          </a:p>
          <a:p>
            <a:pPr algn="l" fontAlgn="auto">
              <a:spcBef>
                <a:spcPts val="0"/>
              </a:spcBef>
              <a:buClrTx/>
              <a:buSzTx/>
              <a:buFontTx/>
            </a:pPr>
            <a:r>
              <a:rPr lang="en-US" sz="1200" b="1">
                <a:latin typeface="Calibri" panose="020F0502020204030204" charset="0"/>
                <a:ea typeface="宋体" panose="02010600030101010101" pitchFamily="2" charset="-122"/>
              </a:rPr>
              <a:t>models conmob fldmob consrh auger print  contact name=emitter n.poly surf.rec </a:t>
            </a:r>
            <a:r>
              <a:rPr sz="1200" b="1">
                <a:solidFill>
                  <a:srgbClr val="00B050"/>
                </a:solidFill>
                <a:latin typeface="Calibri" panose="020F0502020204030204" charset="0"/>
                <a:ea typeface="宋体" panose="02010600030101010101" pitchFamily="2" charset="-122"/>
              </a:rPr>
              <a:t>#设置发射极为多晶硅接触 </a:t>
            </a:r>
            <a:r>
              <a:rPr lang="zh-CN" sz="1200" b="1">
                <a:solidFill>
                  <a:srgbClr val="00B050"/>
                </a:solidFill>
                <a:latin typeface="Calibri" panose="020F0502020204030204" charset="0"/>
                <a:ea typeface="宋体" panose="02010600030101010101" pitchFamily="2" charset="-122"/>
              </a:rPr>
              <a:t>，实际工艺中会额外镀上一层多晶硅薄膜，以提高器件速度</a:t>
            </a:r>
            <a:endParaRPr lang="zh-CN" sz="1200" b="1">
              <a:solidFill>
                <a:srgbClr val="00B050"/>
              </a:solidFill>
              <a:latin typeface="Calibri" panose="020F0502020204030204" charset="0"/>
              <a:ea typeface="宋体" panose="02010600030101010101" pitchFamily="2" charset="-122"/>
            </a:endParaRPr>
          </a:p>
          <a:p>
            <a:pPr algn="l" fontAlgn="auto">
              <a:spcBef>
                <a:spcPts val="0"/>
              </a:spcBef>
              <a:buClrTx/>
              <a:buSzTx/>
              <a:buFontTx/>
            </a:pPr>
            <a:r>
              <a:rPr lang="en-US" sz="1200" b="1">
                <a:latin typeface="Calibri" panose="020F0502020204030204" charset="0"/>
                <a:ea typeface="宋体" panose="02010600030101010101" pitchFamily="2" charset="-122"/>
              </a:rPr>
              <a:t>solve init</a:t>
            </a:r>
            <a:r>
              <a:rPr lang="en-US" sz="1200" b="1"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 </a:t>
            </a:r>
            <a:r>
              <a:rPr lang="en-US" sz="1200" b="1">
                <a:latin typeface="Calibri" panose="020F0502020204030204" charset="0"/>
                <a:ea typeface="宋体" panose="02010600030101010101" pitchFamily="2" charset="-122"/>
              </a:rPr>
              <a:t>save outf=bjt.str</a:t>
            </a:r>
            <a:r>
              <a:rPr lang="en-US" sz="1200" b="1"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 </a:t>
            </a:r>
            <a:r>
              <a:rPr lang="en-US" sz="1200" b="1">
                <a:latin typeface="Calibri" panose="020F0502020204030204" charset="0"/>
                <a:ea typeface="宋体" panose="02010600030101010101" pitchFamily="2" charset="-122"/>
              </a:rPr>
              <a:t>tonyplot  bjt.str</a:t>
            </a:r>
            <a:endParaRPr lang="en-US" altLang="en-US" sz="1200" b="1">
              <a:latin typeface="Calibri" panose="020F0502020204030204" charset="0"/>
              <a:ea typeface="宋体" panose="02010600030101010101" pitchFamily="2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435600" y="2708910"/>
            <a:ext cx="3037840" cy="997585"/>
            <a:chOff x="8674" y="8802"/>
            <a:chExt cx="4784" cy="1571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674" y="9143"/>
              <a:ext cx="4785" cy="1230"/>
            </a:xfrm>
            <a:prstGeom prst="rect">
              <a:avLst/>
            </a:prstGeom>
          </p:spPr>
        </p:pic>
        <p:sp>
          <p:nvSpPr>
            <p:cNvPr id="3" name="文本框 2"/>
            <p:cNvSpPr txBox="1"/>
            <p:nvPr/>
          </p:nvSpPr>
          <p:spPr>
            <a:xfrm>
              <a:off x="8674" y="8802"/>
              <a:ext cx="4000" cy="48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zh-CN" altLang="en-US" sz="1400" b="1">
                  <a:solidFill>
                    <a:srgbClr val="002060"/>
                  </a:solidFill>
                  <a:latin typeface="Calibri" panose="020F0502020204030204" charset="0"/>
                  <a:ea typeface="宋体" panose="02010600030101010101" pitchFamily="2" charset="-122"/>
                  <a:sym typeface="+mn-ea"/>
                </a:rPr>
                <a:t>高斯掺杂（</a:t>
              </a:r>
              <a:r>
                <a:rPr lang="en-US" altLang="zh-CN" sz="1400" b="1">
                  <a:solidFill>
                    <a:srgbClr val="002060"/>
                  </a:solidFill>
                  <a:latin typeface="Calibri" panose="020F0502020204030204" charset="0"/>
                  <a:ea typeface="宋体" panose="02010600030101010101" pitchFamily="2" charset="-122"/>
                  <a:sym typeface="+mn-ea"/>
                </a:rPr>
                <a:t>y</a:t>
              </a:r>
              <a:r>
                <a:rPr lang="zh-CN" altLang="en-US" sz="1400" b="1">
                  <a:solidFill>
                    <a:srgbClr val="002060"/>
                  </a:solidFill>
                  <a:latin typeface="Calibri" panose="020F0502020204030204" charset="0"/>
                  <a:ea typeface="宋体" panose="02010600030101010101" pitchFamily="2" charset="-122"/>
                  <a:sym typeface="+mn-ea"/>
                </a:rPr>
                <a:t>向）分布公式：</a:t>
              </a:r>
              <a:endParaRPr lang="zh-CN" altLang="en-US" sz="1400" b="1">
                <a:solidFill>
                  <a:srgbClr val="002060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611505" y="980440"/>
            <a:ext cx="7119620" cy="12833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注意：</a:t>
            </a:r>
            <a:endParaRPr lang="zh-CN" altLang="en-US"/>
          </a:p>
          <a:p>
            <a:r>
              <a:rPr lang="en-US" altLang="zh-CN"/>
              <a:t>1. </a:t>
            </a:r>
            <a:r>
              <a:rPr lang="zh-CN" altLang="en-US"/>
              <a:t>在仿真输入和输出特性曲线的时候，注意</a:t>
            </a:r>
            <a:r>
              <a:rPr lang="en-US" altLang="zh-CN"/>
              <a:t>log off </a:t>
            </a:r>
            <a:r>
              <a:rPr lang="zh-CN" altLang="en-US">
                <a:sym typeface="+mn-ea"/>
              </a:rPr>
              <a:t>命令</a:t>
            </a:r>
            <a:r>
              <a:rPr lang="zh-CN" altLang="en-US"/>
              <a:t>或</a:t>
            </a:r>
            <a:r>
              <a:rPr lang="en-US" altLang="zh-CN">
                <a:sym typeface="+mn-ea"/>
              </a:rPr>
              <a:t>log off</a:t>
            </a:r>
            <a:r>
              <a:rPr lang="en-US" altLang="zh-CN"/>
              <a:t> </a:t>
            </a:r>
            <a:r>
              <a:rPr lang="zh-CN" altLang="en-US">
                <a:sym typeface="+mn-ea"/>
              </a:rPr>
              <a:t>和</a:t>
            </a:r>
            <a:r>
              <a:rPr lang="en-US" altLang="zh-CN"/>
              <a:t>solve init</a:t>
            </a:r>
            <a:r>
              <a:rPr lang="zh-CN" altLang="en-US">
                <a:sym typeface="+mn-ea"/>
              </a:rPr>
              <a:t>组合命令</a:t>
            </a:r>
            <a:r>
              <a:rPr lang="zh-CN" altLang="en-US"/>
              <a:t>的使用</a:t>
            </a:r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195830" y="2277110"/>
            <a:ext cx="4773930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7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欢迎交流！</a:t>
            </a:r>
            <a:endParaRPr lang="zh-CN" altLang="en-US" sz="72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5100,&quot;width&quot;:6870}"/>
</p:tagLst>
</file>

<file path=ppt/tags/tag2.xml><?xml version="1.0" encoding="utf-8"?>
<p:tagLst xmlns:p="http://schemas.openxmlformats.org/presentationml/2006/main">
  <p:tag name="COMMONDATA" val="eyJoZGlkIjoiZWIyNzc2MjMzNzRkNWUyZGE3ZDc5M2U5NWFlODgxYWQifQ=="/>
  <p:tag name="KSO_WPP_MARK_KEY" val="751aae20-c2f6-4819-93c2-5bbf19ce7f34"/>
  <p:tag name="commondata" val="eyJoZGlkIjoiOWY0MjcyYTk3ZTNmZDEyODJkNzk2M2Q2MDU5YWY4MzEifQ==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平衡">
  <a:themeElements>
    <a:clrScheme name="平衡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平衡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平衡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0</TotalTime>
  <Words>2922</Words>
  <Application>WPS 演示</Application>
  <PresentationFormat>全屏显示(4:3)</PresentationFormat>
  <Paragraphs>207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5" baseType="lpstr">
      <vt:lpstr>Arial</vt:lpstr>
      <vt:lpstr>宋体</vt:lpstr>
      <vt:lpstr>Wingdings</vt:lpstr>
      <vt:lpstr>Wingdings 2</vt:lpstr>
      <vt:lpstr>Wingdings</vt:lpstr>
      <vt:lpstr>微软雅黑</vt:lpstr>
      <vt:lpstr>Times New Roman</vt:lpstr>
      <vt:lpstr>Calibri</vt:lpstr>
      <vt:lpstr>Perpetua</vt:lpstr>
      <vt:lpstr>Arial Unicode MS</vt:lpstr>
      <vt:lpstr>Franklin Gothic Book</vt:lpstr>
      <vt:lpstr>幼圆</vt:lpstr>
      <vt:lpstr>平衡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dell</dc:creator>
  <cp:lastModifiedBy>徐琳琳</cp:lastModifiedBy>
  <cp:revision>1752</cp:revision>
  <dcterms:created xsi:type="dcterms:W3CDTF">2020-03-29T10:36:00Z</dcterms:created>
  <dcterms:modified xsi:type="dcterms:W3CDTF">2025-11-10T07:40:02Z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B02FFB7BA2294C06BABDFCD2D1CDA99A</vt:lpwstr>
  </property>
  <property fmtid="{D5CDD505-2E9C-101B-9397-08002B2CF9AE}" pid="3" name="KSOProductBuildVer">
    <vt:lpwstr>2052-12.1.0.23542</vt:lpwstr>
  </property>
</Properties>
</file>