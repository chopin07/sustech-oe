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44"/>
  </p:handoutMasterIdLst>
  <p:sldIdLst>
    <p:sldId id="265" r:id="rId3"/>
    <p:sldId id="323" r:id="rId4"/>
    <p:sldId id="403" r:id="rId5"/>
    <p:sldId id="410" r:id="rId6"/>
    <p:sldId id="404" r:id="rId7"/>
    <p:sldId id="419" r:id="rId8"/>
    <p:sldId id="405" r:id="rId9"/>
    <p:sldId id="411" r:id="rId10"/>
    <p:sldId id="436" r:id="rId11"/>
    <p:sldId id="412" r:id="rId12"/>
    <p:sldId id="437" r:id="rId13"/>
    <p:sldId id="414" r:id="rId14"/>
    <p:sldId id="439" r:id="rId15"/>
    <p:sldId id="413" r:id="rId16"/>
    <p:sldId id="415" r:id="rId17"/>
    <p:sldId id="418" r:id="rId18"/>
    <p:sldId id="441" r:id="rId19"/>
    <p:sldId id="409" r:id="rId20"/>
    <p:sldId id="443" r:id="rId21"/>
    <p:sldId id="444" r:id="rId22"/>
    <p:sldId id="445" r:id="rId23"/>
    <p:sldId id="446" r:id="rId24"/>
    <p:sldId id="447" r:id="rId25"/>
    <p:sldId id="448" r:id="rId26"/>
    <p:sldId id="449" r:id="rId27"/>
    <p:sldId id="450" r:id="rId28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61" r:id="rId40"/>
    <p:sldId id="462" r:id="rId41"/>
    <p:sldId id="463" r:id="rId42"/>
    <p:sldId id="343" r:id="rId43"/>
  </p:sldIdLst>
  <p:sldSz cx="9144000" cy="6858000" type="screen4x3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869EC"/>
    <a:srgbClr val="540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10" d="100"/>
          <a:sy n="110" d="100"/>
        </p:scale>
        <p:origin x="1614" y="78"/>
      </p:cViewPr>
      <p:guideLst>
        <p:guide orient="horz" pos="2114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gs" Target="tags/tag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705" y="1842135"/>
            <a:ext cx="87350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半导体器件导论-实验</a:t>
            </a:r>
            <a:r>
              <a:rPr lang="zh-CN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endParaRPr 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6785" y="3693795"/>
            <a:ext cx="65709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主讲人：徐琳琳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邮</a:t>
            </a: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箱：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xulinalec@163.com</a:t>
            </a:r>
            <a:endParaRPr lang="zh-CN" altLang="en-US" sz="3200" b="1" u="sng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94335" y="6093460"/>
            <a:ext cx="8311515" cy="0"/>
          </a:xfrm>
          <a:prstGeom prst="line">
            <a:avLst/>
          </a:prstGeom>
          <a:ln w="98425">
            <a:gradFill>
              <a:gsLst>
                <a:gs pos="41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10 南科大与电子系（上下橙蓝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332740"/>
            <a:ext cx="2828290" cy="873760"/>
          </a:xfrm>
          <a:prstGeom prst="rect">
            <a:avLst/>
          </a:prstGeom>
          <a:solidFill>
            <a:schemeClr val="bg1"/>
          </a:solidFill>
          <a:effectLst>
            <a:glow rad="330200">
              <a:srgbClr val="FF0000">
                <a:alpha val="4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051473" y="598805"/>
            <a:ext cx="4876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5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31595" y="2348865"/>
            <a:ext cx="69234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Tx/>
              <a:buAutoNum type="arabicPeriod"/>
            </a:pP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半导体工艺仿真介绍</a:t>
            </a:r>
            <a:endParaRPr lang="en-US" altLang="zh-CN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实验二</a:t>
            </a:r>
            <a:endParaRPr lang="zh-CN" altLang="en-US" sz="3200" b="1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23645" y="72390"/>
            <a:ext cx="6696710" cy="360045"/>
          </a:xfrm>
          <a:prstGeom prst="roundRect">
            <a:avLst/>
          </a:prstGeom>
          <a:solidFill>
            <a:schemeClr val="accent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433" y="1628775"/>
            <a:ext cx="7921625" cy="27997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半导体单项工艺仿真介绍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离子注入、扩散、淀积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、外延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\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刻蚀、抛光、电极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46545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21665"/>
            <a:ext cx="79819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）定义初始结构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b="1">
                <a:solidFill>
                  <a:srgbClr val="0070C0"/>
                </a:solidFill>
                <a:sym typeface="+mn-ea"/>
              </a:rPr>
              <a:t>便于后续进行工艺仿真时直接调用。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5275" y="1266507"/>
            <a:ext cx="3204210" cy="5323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u="sng" dirty="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Code</a:t>
            </a:r>
            <a:r>
              <a:rPr lang="zh-CN" altLang="en-US" b="1" u="sng" dirty="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endParaRPr lang="zh-CN" altLang="en-US" b="1" u="sng" dirty="0" smtClean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启动工艺仿真器</a:t>
            </a:r>
            <a:r>
              <a:rPr lang="en-US" altLang="zh-CN" sz="1200" b="1" cap="all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athena</a:t>
            </a:r>
            <a:endParaRPr lang="en-US" altLang="zh-CN" sz="1200" b="1" cap="all" dirty="0" smtClean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go athena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sz="1600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#网格初始化</a:t>
            </a:r>
            <a:endParaRPr lang="zh-CN" altLang="en-US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x loc = 0.0 spacing = 0.1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x loc = 1.0 spacing = 0.1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y loc = 0.0 spacing = 0.02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y loc = 2.0 spacing = 0.2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zh-CN" altLang="en-US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#衬底初始化</a:t>
            </a:r>
            <a:endParaRPr lang="zh-CN" altLang="en-US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init silicon </a:t>
            </a:r>
            <a:r>
              <a:rPr lang="en-US" altLang="zh-CN" b="1" dirty="0" err="1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c.phos</a:t>
            </a: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1e14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#保存仿真结构</a:t>
            </a:r>
            <a:endParaRPr lang="zh-CN" altLang="en-US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structure outfile = init.str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#显示仿真结构</a:t>
            </a:r>
            <a:endParaRPr lang="en-US" altLang="zh-CN" sz="1200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tonyplot init.str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quit</a:t>
            </a:r>
            <a:endParaRPr lang="en-US" altLang="zh-CN" b="1" dirty="0" smtClean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47720" y="1412875"/>
            <a:ext cx="5456555" cy="1630045"/>
          </a:xfrm>
          <a:prstGeom prst="rect">
            <a:avLst/>
          </a:prstGeom>
          <a:noFill/>
          <a:ln w="41275" cmpd="sng">
            <a:solidFill>
              <a:srgbClr val="FF0000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CMOS</a:t>
            </a:r>
            <a:r>
              <a:rPr lang="zh-CN" altLang="en-US" sz="16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集成电路</a:t>
            </a:r>
            <a:r>
              <a:rPr lang="zh-CN" altLang="en-US" sz="16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占集成电路应用的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95%</a:t>
            </a:r>
            <a:r>
              <a:rPr lang="zh-CN" altLang="en-US" sz="16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以上；</a:t>
            </a:r>
            <a:endParaRPr lang="zh-CN" altLang="en-US" sz="16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CMOS</a:t>
            </a:r>
            <a:r>
              <a:rPr lang="zh-CN" altLang="en-US" sz="16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集成电路</a:t>
            </a:r>
            <a:r>
              <a:rPr lang="zh-CN" altLang="en-US" sz="16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一般采用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100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）晶向</a:t>
            </a:r>
            <a:r>
              <a:rPr lang="zh-CN" altLang="en-US" sz="16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硅材料</a:t>
            </a:r>
            <a:r>
              <a:rPr lang="zh-CN" altLang="en-US" sz="16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。</a:t>
            </a:r>
            <a:endParaRPr lang="zh-CN" altLang="en-US" sz="16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572135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100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）晶向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的硅原子面密度小，相应的表面态密度也小（</a:t>
            </a:r>
            <a:r>
              <a:rPr lang="zh-CN" altLang="en-US" sz="12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表面态密度大会影响接触势垒，从而影响器件工作性能</a:t>
            </a:r>
            <a:r>
              <a:rPr lang="zh-CN" altLang="en-US" sz="14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4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6055" y="3213100"/>
            <a:ext cx="4165600" cy="3470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950" y="765175"/>
            <a:ext cx="8863330" cy="5877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）离子注入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implant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用于工艺仿真时进行注入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掺杂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特点：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注入的离子通过磁质量分析器选取，纯度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，能量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单一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注入剂量范围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宽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en-US" altLang="zh-CN" sz="1600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~10</a:t>
            </a:r>
            <a:r>
              <a:rPr lang="en-US" altLang="zh-CN" sz="1600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/cm</a:t>
            </a:r>
            <a:r>
              <a:rPr lang="en-US" altLang="zh-CN" sz="1600" baseline="30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，且同一平面的杂质均匀度可保证在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±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1%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的精度；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衬底温度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（＜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400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°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避免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热缺陷的产生，也使得掩膜材料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丰富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注入的直进性，横向效应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远远小于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热扩散效应（横向效应影响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MOS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晶体管的有效沟道长度）；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离子注入是一个非平衡的过程，不受杂质在衬底材料中溶解度的限制，原则上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对各种元素均可掺杂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化合物半导体在高温处理时，组分可能会发生变化，采用离子注入时基本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不存在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这种问题。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不足：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高速离子会引起晶格损伤；难以得到很浅和很深的注入分布；高剂量注入时，产率受限制；离子注入设备很贵。。。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(Gauss)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SVDP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模型和Monte Carlo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(MC)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模型等；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908685"/>
            <a:ext cx="8744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）离子注入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implant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215" y="1413510"/>
            <a:ext cx="344170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SVDP 模型</a:t>
            </a:r>
            <a:endParaRPr lang="en-US" altLang="zh-CN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SIMS-Verified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Dual 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Pearson,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一般用于描述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杂质的掺杂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0870" y="2276867"/>
            <a:ext cx="6982460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en-US" altLang="zh-CN" sz="2000" b="1" u="sng" dirty="0" smtClean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 smtClean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</a:t>
            </a: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athena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implant</a:t>
            </a:r>
            <a:r>
              <a:rPr lang="zh-CN" altLang="en-US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1" dirty="0" smtClean="0">
                <a:latin typeface="Times New Roman" panose="02020603050405020304" charset="0"/>
                <a:cs typeface="Times New Roman" panose="02020603050405020304" charset="0"/>
              </a:rPr>
              <a:t>boron</a:t>
            </a:r>
            <a:r>
              <a:rPr lang="en-US" altLang="zh-CN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dose = 1e1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 energy = 100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tilt = 0 pears 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s.oxide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= 0.005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structure outfile = implant_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svdp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tonyplot implant_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svdp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57634" y="3149218"/>
            <a:ext cx="1550670" cy="351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316980" y="2593246"/>
            <a:ext cx="0" cy="504000"/>
          </a:xfrm>
          <a:prstGeom prst="straightConnector1">
            <a:avLst/>
          </a:prstGeom>
          <a:ln w="28575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764915" y="1052736"/>
            <a:ext cx="5231130" cy="1517015"/>
          </a:xfrm>
          <a:prstGeom prst="rect">
            <a:avLst/>
          </a:prstGeom>
          <a:solidFill>
            <a:srgbClr val="0000FF">
              <a:alpha val="20000"/>
            </a:srgbClr>
          </a:solidFill>
          <a:ln w="28575"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s.oxide: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屏氧参数，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μm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利用薄的（屏蔽）氧化层（多晶），使离子进入晶体前的速度方向无序化，以减小沟道效应。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2889" t="44341" r="3345" b="38229"/>
          <a:stretch>
            <a:fillRect/>
          </a:stretch>
        </p:blipFill>
        <p:spPr>
          <a:xfrm>
            <a:off x="1913890" y="4221088"/>
            <a:ext cx="5328285" cy="220091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16914" y="6421998"/>
            <a:ext cx="82136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https://www.doc88.com/p-7834017497982.html?r=1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5605" y="1125220"/>
            <a:ext cx="4093210" cy="51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zh-CN" altLang="en-US" sz="1600" b="1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sz="1600" b="1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implant </a:t>
            </a:r>
            <a:r>
              <a:rPr lang="en-US" altLang="zh-CN" sz="1600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boron</a:t>
            </a:r>
            <a:r>
              <a:rPr lang="zh-CN" altLang="en-US" sz="1600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dose = 1e1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 energy =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pears \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lang="en-US" altLang="zh-CN" sz="1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s.oxide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= 0.005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structure outfile = implant_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sz="1600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implant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boron</a:t>
            </a:r>
            <a:r>
              <a:rPr lang="zh-CN" altLang="en-US" sz="16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dose = 1e1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 energy =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pears \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lang="en-US" altLang="zh-CN" sz="1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s.oxide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= 0.005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structure outfile = implant_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sz="1600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implant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boron</a:t>
            </a:r>
            <a:r>
              <a:rPr lang="zh-CN" altLang="en-US" sz="16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dose = 1e1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 energy = 100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pears \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lang="en-US" altLang="zh-CN" sz="1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s.oxide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= 0.005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structure outfile = implant_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tonyplot -overlay implant_*.str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460" y="756920"/>
            <a:ext cx="41408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SVDP模型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不同离子注入能量的对比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9705" y="188595"/>
            <a:ext cx="8744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）离子注入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implant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6410" y="5958205"/>
            <a:ext cx="2927438" cy="351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655977" y="5940663"/>
            <a:ext cx="40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以上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个结构放在一个图上画出来。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3253499" y="6136989"/>
            <a:ext cx="476761" cy="0"/>
          </a:xfrm>
          <a:prstGeom prst="straightConnector1">
            <a:avLst/>
          </a:prstGeom>
          <a:ln w="28575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182745" y="1774190"/>
            <a:ext cx="373380" cy="32512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565650" y="1936750"/>
            <a:ext cx="429260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004435" y="1751965"/>
            <a:ext cx="2748915" cy="3683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换行标识，</a:t>
            </a:r>
            <a:r>
              <a:rPr lang="en-US" altLang="zh-CN"/>
              <a:t>\</a:t>
            </a:r>
            <a:r>
              <a:rPr lang="zh-CN" altLang="en-US"/>
              <a:t>前需加空格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499110"/>
            <a:ext cx="822325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zh-CN" altLang="en-US" sz="1600" b="1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sz="1600" b="1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implant 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zh-CN" sz="1600" dirty="0" smtClean="0">
                <a:latin typeface="Times New Roman" panose="02020603050405020304" charset="0"/>
                <a:cs typeface="Times New Roman" panose="02020603050405020304" charset="0"/>
              </a:rPr>
              <a:t>oron</a:t>
            </a:r>
            <a:r>
              <a:rPr lang="zh-CN" altLang="en-US" sz="16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dose = 1e14 energy = 100 tilt = 0 pears s.oxide = 0.001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unit.dam dam.factor</a:t>
            </a: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 = 0.05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structure outfile = implant_SVPDdam.str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 dirty="0">
                <a:latin typeface="Times New Roman" panose="02020603050405020304" charset="0"/>
                <a:cs typeface="Times New Roman" panose="02020603050405020304" charset="0"/>
              </a:rPr>
              <a:t>tonyplot implant_SVPDdam.str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1460" y="137795"/>
            <a:ext cx="44145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SVDP模型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Interstitial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点缺陷模型仿真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17876" y="1160145"/>
            <a:ext cx="1550670" cy="351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7555865" y="724535"/>
            <a:ext cx="0" cy="504000"/>
          </a:xfrm>
          <a:prstGeom prst="straightConnector1">
            <a:avLst/>
          </a:prstGeom>
          <a:ln w="28575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226050" y="178435"/>
            <a:ext cx="3750310" cy="539750"/>
          </a:xfrm>
          <a:prstGeom prst="rect">
            <a:avLst/>
          </a:prstGeom>
          <a:solidFill>
            <a:srgbClr val="0000FF">
              <a:alpha val="20000"/>
            </a:srgbClr>
          </a:solidFill>
          <a:ln w="28575"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dam.factor: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晶格损伤模型的调节参数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1620" y="2309495"/>
            <a:ext cx="85426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缺陷的含义：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通常把晶体点阵结构中周期性势场的畸变成为晶体的缺陷。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2" name="TextBox 2061"/>
          <p:cNvSpPr txBox="1"/>
          <p:nvPr/>
        </p:nvSpPr>
        <p:spPr>
          <a:xfrm>
            <a:off x="4599305" y="4212590"/>
            <a:ext cx="376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Interstitial(</a:t>
            </a:r>
            <a:r>
              <a:rPr lang="zh-CN" altLang="en-US" b="1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填隙原子，点缺陷的一种</a:t>
            </a:r>
            <a:r>
              <a:rPr lang="zh-CN" altLang="en-US" sz="2400" b="1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0" y="2740025"/>
            <a:ext cx="4394835" cy="35217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836930"/>
            <a:ext cx="36937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）扩散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diffuse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0235" y="1366520"/>
            <a:ext cx="4284980" cy="4338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退火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）减少晶格损伤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）激活掺杂物质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）密集化沉积的氧化膜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）阻挡层退火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）硅化物形成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）形成接触合金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）硼磷硅玻璃（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BPSG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）回流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）预淀积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。。。。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1845310"/>
            <a:ext cx="4394835" cy="3599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12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implant </a:t>
            </a:r>
            <a:r>
              <a:rPr lang="en-US" altLang="zh-CN" dirty="0" smtClean="0">
                <a:latin typeface="Times New Roman" panose="02020603050405020304" charset="0"/>
                <a:cs typeface="Times New Roman" panose="02020603050405020304" charset="0"/>
              </a:rPr>
              <a:t>boron</a:t>
            </a:r>
            <a:r>
              <a:rPr lang="zh-CN" altLang="en-US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dose = 1e1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 energy = 100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diffuse time = 30 temperature = 1000</a:t>
            </a:r>
            <a:endParaRPr lang="zh-CN" altLang="en-US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structure outfile =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diffuse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_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tuihuo01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tonyplot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diffuse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_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tuihuo01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836930"/>
            <a:ext cx="36937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）扩散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diffuse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1294765"/>
            <a:ext cx="35610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退火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96055" y="3932555"/>
            <a:ext cx="4627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扩散时间是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30min</a:t>
            </a:r>
            <a:r>
              <a:rPr lang="zh-CN" altLang="en-US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，扩散氛围的温度是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1000K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5605" y="3932555"/>
            <a:ext cx="3542030" cy="357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3215" y="5661025"/>
            <a:ext cx="8549005" cy="645160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</a:t>
            </a:r>
            <a:r>
              <a:rPr lang="en-US" altLang="zh-CN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：把退火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掺杂</a:t>
            </a:r>
            <a:r>
              <a:rPr lang="zh-CN" altLang="en-US" dirty="0" smtClean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浓度的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分布对比画在一张图上，并观察退火前后掺杂分布的变化。</a:t>
            </a:r>
            <a:endParaRPr lang="zh-CN" altLang="en-US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1845310"/>
            <a:ext cx="795337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12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diffuse time = 60 temperature = 1100 </a:t>
            </a:r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c.boron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1e</a:t>
            </a:r>
            <a:r>
              <a:rPr lang="en-US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20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zh-CN" altLang="en-US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structure outfile =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diffuse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_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prede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tonyplot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diffuse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_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836930"/>
            <a:ext cx="36937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）扩散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diffuse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15" y="1412875"/>
            <a:ext cx="35610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预淀积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2627784" y="1417977"/>
            <a:ext cx="612068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00000"/>
              </a:lnSpc>
              <a:spcBef>
                <a:spcPts val="1200"/>
              </a:spcBef>
              <a:buClrTx/>
              <a:buSzTx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淀积作用：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恒定表面源扩散，扩散过程中表面浓度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不变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，有利于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掺杂杂质的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总量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48890" y="2997200"/>
            <a:ext cx="35013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淀积得到的表面浓度为</a:t>
            </a:r>
            <a:r>
              <a:rPr lang="en-US" altLang="zh-CN" sz="14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1e12cm</a:t>
            </a:r>
            <a:r>
              <a:rPr lang="en-US" altLang="zh-CN" sz="1400" b="1" baseline="300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-2</a:t>
            </a:r>
            <a:r>
              <a:rPr lang="zh-CN" altLang="en-US" sz="14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</a:t>
            </a:r>
            <a:r>
              <a:rPr lang="en-US" altLang="zh-CN" sz="14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14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分布</a:t>
            </a:r>
            <a:endParaRPr lang="zh-CN" altLang="en-US" sz="1400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605" y="3356610"/>
            <a:ext cx="4908550" cy="452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235" y="3501390"/>
            <a:ext cx="3486150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995" y="2068830"/>
            <a:ext cx="8576310" cy="35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200"/>
              </a:spcBef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一般指对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硅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的氧化，在硅的表面产生一层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二氧化硅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（多晶）。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0" fontAlgn="auto">
              <a:spcBef>
                <a:spcPts val="1200"/>
              </a:spcBef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二氧化硅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膜的作用：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7700" indent="0" fontAlgn="auto"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氧化膜保护器件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划伤和沾污（因为二氧化硅坚硬、致密）；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7700" indent="0" fontAlgn="auto"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表面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钝化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器件电性能退化；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7700" indent="0" fontAlgn="auto"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用作栅氧或存储单元结构中的介质材料（因为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二氧化硅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介电强度高达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en-US" altLang="zh-CN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V/cm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、电阻率高达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en-US" altLang="zh-CN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Ω*cm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工艺中常用的栅氧结构就是一层很薄的二氧化硅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7700" indent="0" fontAlgn="auto"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用作掺杂中的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掩蔽层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7700" indent="0" fontAlgn="auto"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金属导电层之间的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介质层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（因为二氧化硅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是绝缘体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908685"/>
            <a:ext cx="8744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）扩散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diffuse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730" y="1557020"/>
            <a:ext cx="9937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360" y="2061210"/>
            <a:ext cx="8576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200"/>
              </a:spcBef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氧化原理：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908685"/>
            <a:ext cx="8744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）扩散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diffuse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730" y="1557020"/>
            <a:ext cx="9937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24114"/>
          <a:stretch>
            <a:fillRect/>
          </a:stretch>
        </p:blipFill>
        <p:spPr>
          <a:xfrm>
            <a:off x="539750" y="2429510"/>
            <a:ext cx="4726305" cy="201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68220" y="1125220"/>
            <a:ext cx="4565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硅的氧化温度范围：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750℃~1100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℃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885" y="2429510"/>
            <a:ext cx="3295650" cy="20535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07100" y="2061210"/>
            <a:ext cx="2647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三种氧化工艺特点对比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75" y="4652645"/>
            <a:ext cx="4775835" cy="20326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705" y="1925320"/>
            <a:ext cx="4394835" cy="38779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12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diffuse time = 30 temperature = 1000 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dryo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structure outfile = diffuse_oxide.str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extract name = "tox1" thickness oxide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\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mat.occno = 1 x.val = 0.1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tonyplot diffuse_oxide.str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908685"/>
            <a:ext cx="8744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）扩散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diffuse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950" y="1412875"/>
            <a:ext cx="18669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干氧氧化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5"/>
          <p:cNvSpPr txBox="1"/>
          <p:nvPr/>
        </p:nvSpPr>
        <p:spPr>
          <a:xfrm>
            <a:off x="4548144" y="1921361"/>
            <a:ext cx="4394835" cy="38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12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diffuse time = 30 temperature = 1000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wet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o2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structure outfile = diffuse_oxide.str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extract name = "tox1" thickness oxide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\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mat.occno = 1 x.val = 0.1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tonyplot diffuse_oxide.str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"/>
          <p:cNvSpPr txBox="1"/>
          <p:nvPr/>
        </p:nvSpPr>
        <p:spPr>
          <a:xfrm>
            <a:off x="4476389" y="1408916"/>
            <a:ext cx="188545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湿氧氧化</a:t>
            </a:r>
            <a:r>
              <a:rPr lang="en-US" altLang="zh-CN" sz="1600" b="1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4"/>
          <p:cNvSpPr txBox="1"/>
          <p:nvPr/>
        </p:nvSpPr>
        <p:spPr>
          <a:xfrm>
            <a:off x="361703" y="5949280"/>
            <a:ext cx="8324215" cy="645160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zh-CN" b="1" dirty="0">
                <a:solidFill>
                  <a:srgbClr val="FFFF00"/>
                </a:solidFill>
              </a:rPr>
              <a:t>问题</a:t>
            </a:r>
            <a:r>
              <a:rPr lang="en-US" altLang="zh-CN" b="1" dirty="0">
                <a:solidFill>
                  <a:srgbClr val="FFFF00"/>
                </a:solidFill>
              </a:rPr>
              <a:t>1</a:t>
            </a:r>
            <a:r>
              <a:rPr lang="zh-CN" altLang="en-US" b="1" dirty="0">
                <a:solidFill>
                  <a:srgbClr val="FFFF00"/>
                </a:solidFill>
              </a:rPr>
              <a:t>：画出干氧氧化和湿氧氧化工艺下氧化层的厚度随时间变化的曲线，并阐述各自的变化规律和对比二者的变化规律。（时间范围</a:t>
            </a:r>
            <a:r>
              <a:rPr lang="en-US" altLang="zh-CN" b="1" dirty="0" smtClean="0">
                <a:solidFill>
                  <a:srgbClr val="FFFF00"/>
                </a:solidFill>
              </a:rPr>
              <a:t>0—360</a:t>
            </a:r>
            <a:r>
              <a:rPr lang="zh-CN" altLang="en-US" b="1" dirty="0" smtClean="0">
                <a:solidFill>
                  <a:srgbClr val="FFFF00"/>
                </a:solidFill>
              </a:rPr>
              <a:t>分钟</a:t>
            </a:r>
            <a:r>
              <a:rPr lang="zh-CN" altLang="en-US" b="1" dirty="0">
                <a:solidFill>
                  <a:srgbClr val="FFFF00"/>
                </a:solidFill>
              </a:rPr>
              <a:t>。）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4390" y="908685"/>
            <a:ext cx="4296410" cy="24422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975" y="2717562"/>
            <a:ext cx="439483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12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init infile = init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eposit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material = BPSG thickness = 0.1 \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div = 6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structure outfile =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eposit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_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BPSG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tonyplot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eposit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_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BPSG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zh-CN" altLang="en-US" smtClean="0">
                <a:latin typeface="Times New Roman" panose="02020603050405020304" charset="0"/>
                <a:cs typeface="Times New Roman" panose="02020603050405020304" charset="0"/>
              </a:rPr>
              <a:t>st</a:t>
            </a:r>
            <a:r>
              <a:rPr lang="en-US" altLang="zh-CN" smtClean="0"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15" y="765175"/>
            <a:ext cx="8744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）淀积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deposit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195" y="2276872"/>
            <a:ext cx="45732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</a:rPr>
              <a:t>淀积硼磷硅玻璃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3850" y="5897245"/>
            <a:ext cx="78066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如果淀积材料中需要掺杂，只需直接定义掺杂参数即可，如：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eposit material = BPSG thickness = 0.1 div = 6 c.boron = 5e19 c.phos = 1e20</a:t>
            </a:r>
            <a:endParaRPr lang="en-US" altLang="zh-CN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44390" y="3501390"/>
            <a:ext cx="3068320" cy="2245360"/>
          </a:xfrm>
          <a:prstGeom prst="rect">
            <a:avLst/>
          </a:prstGeom>
          <a:gradFill>
            <a:gsLst>
              <a:gs pos="29000">
                <a:srgbClr val="007BD3">
                  <a:alpha val="0"/>
                </a:srgbClr>
              </a:gs>
              <a:gs pos="98000">
                <a:srgbClr val="034373">
                  <a:alpha val="29000"/>
                </a:srgbClr>
              </a:gs>
            </a:gsLst>
            <a:lin ang="5400000" scaled="0"/>
          </a:gradFill>
          <a:ln w="25400"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 fontAlgn="auto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init1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结构的代码：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athena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 x loc = 0.0 spacing = 0.1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 x loc = 1.0 spacing = 0.1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 y loc = 0.0 spacing = 0.02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 y loc = 2.0 spacing = 0.2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init silicon c.phos = 1e14 two.d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structure outfile = init1.str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tonyplot init1.str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quit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85940" y="4816475"/>
            <a:ext cx="562610" cy="25209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1887609" y="3357642"/>
            <a:ext cx="2748972" cy="1261745"/>
            <a:chOff x="2980" y="4266"/>
            <a:chExt cx="4261" cy="1987"/>
          </a:xfrm>
        </p:grpSpPr>
        <p:sp>
          <p:nvSpPr>
            <p:cNvPr id="17" name="矩形 16"/>
            <p:cNvSpPr/>
            <p:nvPr/>
          </p:nvSpPr>
          <p:spPr>
            <a:xfrm>
              <a:off x="6293" y="5741"/>
              <a:ext cx="579" cy="512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 flipV="1">
              <a:off x="6556" y="4854"/>
              <a:ext cx="0" cy="8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2980" y="4266"/>
              <a:ext cx="4261" cy="58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换行标识，</a:t>
              </a:r>
              <a:r>
                <a:rPr lang="en-US" altLang="zh-CN"/>
                <a:t>\</a:t>
              </a:r>
              <a:r>
                <a:rPr lang="zh-CN" altLang="en-US"/>
                <a:t>前需加空格</a:t>
              </a:r>
              <a:endParaRPr lang="zh-CN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80975" y="1376131"/>
            <a:ext cx="3943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mtClean="0">
                <a:solidFill>
                  <a:srgbClr val="002060"/>
                </a:solidFill>
              </a:rPr>
              <a:t>金属层，绝缘介质层、多晶硅栅等都是采用淀积工艺形成的。</a:t>
            </a:r>
            <a:endParaRPr lang="zh-CN" altLang="en-US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705" y="1845310"/>
            <a:ext cx="3683000" cy="3599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12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init infile = init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eposit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oxide thickness = 0.3 div = 6 \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dy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= 0.01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ydy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= 0.1</a:t>
            </a:r>
            <a:endParaRPr lang="en-US" altLang="zh-CN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structure outfile =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eposit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_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oxide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tonyplot 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eposit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_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oxide</a:t>
            </a:r>
            <a:r>
              <a:rPr lang="zh-CN" altLang="en-US" dirty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15" y="836930"/>
            <a:ext cx="874458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）淀积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deposit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9705" y="1454907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</a:rPr>
              <a:t>淀积二氧化硅</a:t>
            </a:r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692785"/>
            <a:ext cx="4926965" cy="280289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923665" y="968375"/>
            <a:ext cx="4944110" cy="5646420"/>
            <a:chOff x="6179" y="1525"/>
            <a:chExt cx="7786" cy="889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9" y="5967"/>
              <a:ext cx="7787" cy="4450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6634" y="1525"/>
              <a:ext cx="7151" cy="667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8221" y="2192"/>
              <a:ext cx="0" cy="434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37667" y="5460744"/>
            <a:ext cx="321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en-US" altLang="zh-CN" b="1" dirty="0" err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垫积层的网格间隔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en-US" altLang="zh-CN" b="1" dirty="0" err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dy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en-US" altLang="zh-CN" dirty="0" err="1" smtClean="0">
                <a:latin typeface="微软雅黑" panose="020B0503020204020204" charset="-122"/>
                <a:ea typeface="微软雅黑" panose="020B0503020204020204" charset="-122"/>
              </a:rPr>
              <a:t>dy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的位置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15" y="836930"/>
            <a:ext cx="874458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）淀积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deposit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7995" y="1412875"/>
            <a:ext cx="473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热生长氧化层与沉积氧化层的区别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5605" y="1845310"/>
            <a:ext cx="834263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热生长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的氧化层比淀积的结构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致密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，质量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）热生长的氧化层比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积成膜的温度高，因此，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淀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积氧化层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可在第一层金属布线形成完进行，作为金属间的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层间介质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顶层钝化层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热生长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的氧化层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消耗硅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热生长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的氧化层的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界面态、固定电荷、可动电荷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等表面电荷密度比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21665"/>
            <a:ext cx="219138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）外延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epitaxy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1459865"/>
            <a:ext cx="8576310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1200"/>
              </a:spcBef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一般指对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硅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的外延。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0" fontAlgn="auto">
              <a:spcBef>
                <a:spcPts val="1200"/>
              </a:spcBef>
              <a:buFont typeface="Wingdings" panose="05000000000000000000" charset="0"/>
              <a:buChar char="p"/>
            </a:pP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外延的重要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7700" indent="0" fontAlgn="auto">
              <a:spcBef>
                <a:spcPts val="1200"/>
              </a:spcBef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外延层中的杂质浓度可以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的控制，而不依赖于衬底中的杂质种类和掺杂水平，以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不同器件的需求。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4495" y="3033395"/>
            <a:ext cx="4685030" cy="27336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3215" y="2998470"/>
            <a:ext cx="3844290" cy="2768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init infile = init1.str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epitaxy thickness = 5 time = 10 temperature = 1050 c.phos = 5e15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\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div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= 20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structure outfile = epitaxy.str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tonyplot epitaxy.str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195" y="5877560"/>
            <a:ext cx="8896985" cy="660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也可设置外延层的网格，如：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epitaxy thickness = 5 time = 10 temperature = 1050 c.phos = 5e15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dy = 0.01 ydy = 0.1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div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= 20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705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335" y="765175"/>
            <a:ext cx="8863330" cy="5739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刻蚀工艺是加工制造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集成电路微图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工艺技术，其工艺过程是通过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的方法将下层材料中没有被上层掩蔽膜掩蔽的部分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去掉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，从而在下层材料上获得与掩蔽膜图形完全对应的图形。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just" fontAlgn="auto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刻蚀工艺分类：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干法刻蚀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优点：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各向异性好、选择比高、均匀性好、可控、灵活、重复性好、自动化程度高、无化学废液、不引入污染、清洁度高等。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缺点：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成本高、设备复杂。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分类：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物理性刻蚀、化学性刻蚀、物理化学性刻蚀。</a:t>
            </a:r>
            <a:endParaRPr lang="zh-CN" altLang="en-US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9930" y="2132965"/>
            <a:ext cx="5944870" cy="1676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22195" y="3860800"/>
            <a:ext cx="2322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各向异性刻蚀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92090" y="3860800"/>
            <a:ext cx="23228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各向同性刻蚀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705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335" y="765175"/>
            <a:ext cx="5835015" cy="5892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干法刻蚀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适用范围尺寸亚微米量级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物理性刻蚀（离子铣）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l" fontAlgn="auto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辉光放电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将惰性气体（如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）解离成带正电的离子，再利用偏压将离子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加速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轰击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被刻蚀物的表面，使得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被刻蚀物材料的原子挣脱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结合能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并将其带走。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化学性刻蚀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l" fontAlgn="auto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又称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等离子刻蚀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。利用等离子体将刻蚀气体电离并形成带电离子、分子及反应性（氧化性）很强的自由基，他们扩散到被刻蚀膜的表面，并与被刻蚀膜的原子发生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化学反应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，生成具有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挥发性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的反应产物被真空设备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抽离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反应腔。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-28575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物理化学性刻蚀（反应离子刻蚀法/RIE）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60045" indent="0" algn="l" fontAlgn="auto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物理性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的轰击和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化学反应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相结合实现刻蚀。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RIE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已成为目前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超大规模集成电路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VLSI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）工艺中应用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最为广泛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主流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刻蚀技术。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190" y="423545"/>
            <a:ext cx="2712085" cy="1797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835" y="2485390"/>
            <a:ext cx="2653030" cy="17151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525" y="4536440"/>
            <a:ext cx="2534285" cy="19596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89700" y="2150745"/>
            <a:ext cx="189420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045" indent="0" algn="ctr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物理性刻蚀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65570" y="4157980"/>
            <a:ext cx="19716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045" lvl="0" algn="ctr">
              <a:spcBef>
                <a:spcPts val="1200"/>
              </a:spcBef>
              <a:buClrTx/>
              <a:buSzTx/>
              <a:buFont typeface="Wingdings" panose="05000000000000000000" charset="0"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化学性刻蚀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09385" y="6428105"/>
            <a:ext cx="222948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045" lvl="0" algn="ctr">
              <a:spcBef>
                <a:spcPts val="1200"/>
              </a:spcBef>
              <a:buClrTx/>
              <a:buSzTx/>
              <a:buFont typeface="Wingdings" panose="05000000000000000000" charset="0"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物理化学性刻蚀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705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" y="765175"/>
            <a:ext cx="861441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-285750" algn="just" fontAlgn="auto">
              <a:lnSpc>
                <a:spcPct val="10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湿法刻蚀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特征尺寸大于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微米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是在具有高选择比掩蔽膜的保护下对使用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液态化学试剂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对介质膜或半导体材料进行进行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化学反应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可溶性物体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挥发性物体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从而得到所需图案的工艺技术。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优点：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高的选择比，对器件无等离子体损伤，纯化学反应过程、成本低。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45795" indent="0" algn="just" fontAlgn="auto">
              <a:lnSpc>
                <a:spcPct val="150000"/>
              </a:lnSpc>
              <a:spcBef>
                <a:spcPts val="120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缺点：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各项异性差、保真性差（易产生钻蚀）、均匀性不好、腐蚀过程有放热放气现象、二次污染、化学试剂有毒、污染环境等。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920" y="4584065"/>
            <a:ext cx="3038475" cy="1743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5480" y="6327775"/>
            <a:ext cx="18967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045" lvl="0" algn="ctr">
              <a:spcBef>
                <a:spcPts val="1200"/>
              </a:spcBef>
              <a:buClrTx/>
              <a:buSzTx/>
              <a:buFont typeface="Wingdings" panose="05000000000000000000" charset="0"/>
            </a:pPr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湿法刻蚀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621030"/>
            <a:ext cx="8280975" cy="606898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9750" y="188595"/>
            <a:ext cx="25609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etch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命令的参数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70" y="494030"/>
            <a:ext cx="5179060" cy="41478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470" y="4598670"/>
            <a:ext cx="5246370" cy="2133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9750" y="126365"/>
            <a:ext cx="25609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etch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命令的参数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27305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21665"/>
            <a:ext cx="79819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765" y="1412875"/>
            <a:ext cx="6338570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Tx/>
              <a:buFont typeface="+mj-ea"/>
              <a:buNone/>
            </a:pPr>
            <a:r>
              <a:rPr lang="zh-CN" altLang="en-US" b="1" u="sng" dirty="0" smtClean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定义初始结构：</a:t>
            </a:r>
            <a:endParaRPr lang="zh-CN" altLang="en-US" b="1" u="sng" dirty="0" smtClean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</a:t>
            </a: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启动工艺仿真器</a:t>
            </a:r>
            <a:r>
              <a:rPr lang="en-US" altLang="zh-CN" sz="1200" b="1" cap="all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athena</a:t>
            </a:r>
            <a:endParaRPr lang="en-US" altLang="zh-CN" sz="1200" b="1" cap="all" dirty="0" smtClean="0">
              <a:solidFill>
                <a:schemeClr val="tx1">
                  <a:lumMod val="65000"/>
                  <a:lumOff val="35000"/>
                </a:schemeClr>
              </a:solidFill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go athena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sz="1600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#网格初始化</a:t>
            </a:r>
            <a:endParaRPr lang="zh-CN" altLang="en-US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x loc = 0.0 spacing = 0.1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x loc = 1.0 spacing = 0.1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y loc = 0.0 spacing = 0.02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line y loc = 2.0 spacing = 0.2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zh-CN" altLang="en-US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#衬底初始化</a:t>
            </a:r>
            <a:endParaRPr lang="zh-CN" altLang="en-US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init silicon c.boron = 1e14 two.d</a:t>
            </a:r>
            <a:endParaRPr lang="en-US" altLang="zh-CN" b="1" dirty="0" smtClean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#保存仿真结构</a:t>
            </a:r>
            <a:endParaRPr lang="zh-CN" altLang="en-US" sz="1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structure outfile = init.str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#显示仿真结构</a:t>
            </a:r>
            <a:endParaRPr lang="en-US" altLang="zh-CN" sz="1200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tonyplot init.str</a:t>
            </a:r>
            <a:endParaRPr lang="en-US" altLang="zh-CN" b="1" dirty="0" smtClean="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+mj-ea"/>
              <a:buNone/>
            </a:pPr>
            <a:r>
              <a:rPr lang="en-US" altLang="zh-CN" b="1" dirty="0" smtClean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quit</a:t>
            </a:r>
            <a:endParaRPr lang="en-US" altLang="zh-CN" b="1" dirty="0" smtClean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915" y="836930"/>
            <a:ext cx="5918200" cy="3428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命令：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etch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b="1" dirty="0">
              <a:solidFill>
                <a:srgbClr val="0000FF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1383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几何刻蚀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995" y="1557655"/>
            <a:ext cx="6982460" cy="252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deposit oxide thickness = 0.3 div = 6 dy = 0.01 ydy = 0.1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oxide left p1.x = 0.5</a:t>
            </a:r>
            <a:endParaRPr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structure outfile =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etch1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tonyplot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etch1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965" y="3285490"/>
            <a:ext cx="5666740" cy="3300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1383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几何刻蚀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3375" y="1580386"/>
            <a:ext cx="6250940" cy="5000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deposit oxide thickness = 0.3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div = 6 dy = 0.01 ydy = 0.1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0.2 y = 0</a:t>
            </a:r>
            <a:endParaRPr lang="zh-CN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0</a:t>
            </a:r>
            <a:endParaRPr lang="zh-CN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-0.3</a:t>
            </a:r>
            <a:endParaRPr lang="zh-CN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0.2 y = -0.3</a:t>
            </a:r>
            <a:endParaRPr lang="zh-CN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0.6 y = 0</a:t>
            </a:r>
            <a:endParaRPr lang="zh-CN" altLang="en-US" b="1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etch cont x = 0.8 y = 0</a:t>
            </a:r>
            <a:endParaRPr lang="zh-CN" altLang="en-US" b="1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etch cont x = 0.8 y = -0.3</a:t>
            </a:r>
            <a:endParaRPr lang="zh-CN" altLang="en-US" b="1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b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0.6 y = -0.3</a:t>
            </a:r>
            <a:endParaRPr lang="zh-CN" altLang="en-US" b="1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structure outfile = etch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any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tonyplot etch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any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3357245"/>
            <a:ext cx="5260975" cy="307149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3346450" y="1125220"/>
            <a:ext cx="5556250" cy="2204720"/>
            <a:chOff x="5270" y="1772"/>
            <a:chExt cx="8750" cy="3472"/>
          </a:xfrm>
        </p:grpSpPr>
        <p:grpSp>
          <p:nvGrpSpPr>
            <p:cNvPr id="12" name="组合 11"/>
            <p:cNvGrpSpPr/>
            <p:nvPr/>
          </p:nvGrpSpPr>
          <p:grpSpPr>
            <a:xfrm>
              <a:off x="10829" y="2237"/>
              <a:ext cx="1460" cy="902"/>
              <a:chOff x="10149" y="1304"/>
              <a:chExt cx="1460" cy="902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10149" y="1318"/>
                <a:ext cx="1457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 flipV="1">
                <a:off x="10149" y="2199"/>
                <a:ext cx="1457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0151" y="1318"/>
                <a:ext cx="0" cy="889"/>
              </a:xfrm>
              <a:prstGeom prst="line">
                <a:avLst/>
              </a:prstGeom>
              <a:ln w="38100">
                <a:solidFill>
                  <a:srgbClr val="C00000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1609" y="1304"/>
                <a:ext cx="0" cy="889"/>
              </a:xfrm>
              <a:prstGeom prst="line">
                <a:avLst/>
              </a:prstGeom>
              <a:ln w="38100">
                <a:solidFill>
                  <a:srgbClr val="C00000"/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12"/>
            <p:cNvSpPr txBox="1"/>
            <p:nvPr/>
          </p:nvSpPr>
          <p:spPr>
            <a:xfrm>
              <a:off x="9356" y="2906"/>
              <a:ext cx="133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fontAlgn="auto">
                <a:spcBef>
                  <a:spcPts val="6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0.2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,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0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</a:t>
              </a:r>
              <a:endPara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130" y="1772"/>
              <a:ext cx="172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fontAlgn="auto">
                <a:spcBef>
                  <a:spcPts val="6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0.2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,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-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0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.3)</a:t>
              </a:r>
              <a:endPara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292" y="1772"/>
              <a:ext cx="172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fontAlgn="auto">
                <a:spcBef>
                  <a:spcPts val="6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0.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4,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-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0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.3)</a:t>
              </a:r>
              <a:endPara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421" y="2906"/>
              <a:ext cx="133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fontAlgn="auto">
                <a:spcBef>
                  <a:spcPts val="600"/>
                </a:spcBef>
              </a:pP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0.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4,</a:t>
              </a:r>
              <a:r>
                <a:rPr lang="zh-CN" altLang="en-US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0</a:t>
              </a:r>
              <a:r>
                <a:rPr lang="en-US" altLang="zh-CN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</a:t>
              </a:r>
              <a:endParaRPr lang="en-US" altLang="zh-C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131" y="3740"/>
              <a:ext cx="48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顺时针，或逆时针定义窗口！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5270" y="2792"/>
              <a:ext cx="4085" cy="2452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82562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干法刻蚀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975" y="1557655"/>
            <a:ext cx="6722745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deposit oxide thickness = 0.3 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div = 10</a:t>
            </a:r>
            <a:r>
              <a:rPr lang="zh-CN" altLang="en-US" sz="16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 dy = 0.0</a:t>
            </a:r>
            <a:r>
              <a:rPr lang="en-US" altLang="zh-CN" sz="16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01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ydy = 0.1</a:t>
            </a:r>
            <a:endParaRPr lang="zh-CN" altLang="en-US" sz="1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0.2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0.2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0.6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 x = 0.8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 x = 0.8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0.6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dry thickness = 0.1</a:t>
            </a:r>
            <a:endParaRPr lang="zh-CN" altLang="en-US" sz="1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structure outfile = etchdry.str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tonyplot etchdry.str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04210" y="1607820"/>
            <a:ext cx="5337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结果：将所有裸露在表面的材料都刻蚀一定厚度！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34970" y="2997200"/>
            <a:ext cx="5876925" cy="343725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067810" y="3141345"/>
            <a:ext cx="3890010" cy="494030"/>
            <a:chOff x="6406" y="4947"/>
            <a:chExt cx="6126" cy="778"/>
          </a:xfrm>
        </p:grpSpPr>
        <p:sp>
          <p:nvSpPr>
            <p:cNvPr id="7" name="椭圆 6"/>
            <p:cNvSpPr/>
            <p:nvPr/>
          </p:nvSpPr>
          <p:spPr>
            <a:xfrm>
              <a:off x="6406" y="4947"/>
              <a:ext cx="797" cy="7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8334" y="4947"/>
              <a:ext cx="797" cy="7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9808" y="4947"/>
              <a:ext cx="797" cy="7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1736" y="4947"/>
              <a:ext cx="797" cy="7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1383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干法刻蚀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975" y="1557655"/>
            <a:ext cx="6722745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deposit oxide thickness = 0.3 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div = 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1600"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 dy = 0.001 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ydy = 0.1</a:t>
            </a:r>
            <a:endParaRPr lang="zh-CN" altLang="en-US" sz="1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0.2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0.2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0.6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 x = 0.8 y = 0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 x = 0.8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0.6 y = -0.3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dry thickness = 0.1</a:t>
            </a:r>
            <a:endParaRPr lang="zh-CN" altLang="en-US" sz="16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structure outfile = etchdry.str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tonyplot etchdry.str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11955" y="1628775"/>
            <a:ext cx="4147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网格设置对仿真结果有重要影响！！！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865" y="2997200"/>
            <a:ext cx="5519420" cy="3186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1383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干法刻蚀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0975" y="1557655"/>
            <a:ext cx="6722745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solidFill>
                <a:srgbClr val="D869E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deposit oxide thickness = 0.3 div = </a:t>
            </a:r>
            <a:r>
              <a:rPr lang="en-US" altLang="zh-CN" sz="16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sz="16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0 dy = 0.001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ydy =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0.2 y = 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0.4 y = -0.3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0.2 y = -0.3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0.6 y = 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0.8 y = 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0.8 y = -0.3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0.6 y = -0.3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dry thickness = 0.1</a:t>
            </a:r>
            <a:endParaRPr lang="zh-CN" altLang="en-US" sz="16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structure outfile = etchdry.str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tonyplot etchdry.str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37075" y="1722120"/>
            <a:ext cx="415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网格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设置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对仿真结果有重要影响！！！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2925445"/>
            <a:ext cx="6014085" cy="352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12928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RIE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2730" y="1557655"/>
            <a:ext cx="8639750" cy="49705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Code:</a:t>
            </a:r>
            <a:endParaRPr lang="zh-CN" altLang="en-US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 dirty="0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init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infile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=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init.str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deposit oxide thickness = 0.5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\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div = 10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dy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= 0.01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ydy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= 0.5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etch oxide start x =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0.3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y = 0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etch continue x =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0.7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y = 0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etch continue x =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0.7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y = -1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etch done x =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0.3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y = -1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rate.etch</a:t>
            </a:r>
            <a:r>
              <a:rPr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machine = plasma1 silicon </a:t>
            </a:r>
            <a:r>
              <a:rPr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rie</a:t>
            </a:r>
            <a:r>
              <a:rPr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u.m</a:t>
            </a:r>
            <a:r>
              <a:rPr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isotropic = 0 direct = </a:t>
            </a:r>
            <a:r>
              <a:rPr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dirty="0" smtClean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//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direct 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刻蚀速率；</a:t>
            </a: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isotropic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：各向同性的刻蚀速率（可导致钻蚀）；</a:t>
            </a:r>
            <a:r>
              <a:rPr lang="en-US" sz="1600" dirty="0" err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u.m</a:t>
            </a:r>
            <a:r>
              <a:rPr 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微米</a:t>
            </a: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分钟</a:t>
            </a:r>
            <a:endParaRPr sz="16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machine = plasma1 time = 1 minutes</a:t>
            </a:r>
            <a:endParaRPr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structure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outfile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= </a:t>
            </a:r>
            <a:r>
              <a:rPr dirty="0" err="1" smtClean="0">
                <a:latin typeface="Times New Roman" panose="02020603050405020304" charset="0"/>
                <a:cs typeface="Times New Roman" panose="02020603050405020304" charset="0"/>
              </a:rPr>
              <a:t>etch</a:t>
            </a:r>
            <a:r>
              <a:rPr lang="en-US" altLang="zh-CN" dirty="0" err="1" smtClean="0">
                <a:latin typeface="Times New Roman" panose="02020603050405020304" charset="0"/>
                <a:cs typeface="Times New Roman" panose="02020603050405020304" charset="0"/>
              </a:rPr>
              <a:t>dry</a:t>
            </a:r>
            <a:r>
              <a:rPr dirty="0" err="1" smtClean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tonyplot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 err="1" smtClean="0">
                <a:latin typeface="Times New Roman" panose="02020603050405020304" charset="0"/>
                <a:cs typeface="Times New Roman" panose="02020603050405020304" charset="0"/>
              </a:rPr>
              <a:t>etch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</a:rPr>
              <a:t>dry</a:t>
            </a:r>
            <a:r>
              <a:rPr dirty="0" err="1" smtClean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4210" y="1198245"/>
            <a:ext cx="5814695" cy="3348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）刻蚀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360" y="1234440"/>
            <a:ext cx="84239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ClrTx/>
              <a:buSzTx/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湿法刻蚀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1628775"/>
            <a:ext cx="3642995" cy="4923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en-US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code</a:t>
            </a:r>
            <a:r>
              <a:rPr lang="en-US" altLang="zh-CN" sz="20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zh-CN" altLang="en-US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init infile = init.str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deposit oxide thickness = 0.5 div </a:t>
            </a:r>
            <a:r>
              <a:rPr smtClean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lang="en-US" smtClean="0">
                <a:latin typeface="Times New Roman" panose="02020603050405020304" charset="0"/>
                <a:cs typeface="Times New Roman" panose="02020603050405020304" charset="0"/>
              </a:rPr>
              <a:t> \ </a:t>
            </a:r>
            <a:r>
              <a:rPr smtClean="0">
                <a:latin typeface="Times New Roman" panose="02020603050405020304" charset="0"/>
                <a:cs typeface="Times New Roman" panose="02020603050405020304" charset="0"/>
              </a:rPr>
              <a:t>10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dy = 0.001 ydy = 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etch oxide start x = 0.6 y = 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etch continue x = 1.4 y = 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etch continue x = 1.4 y = -2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etch done x = 0.6 y = -2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rate.etch</a:t>
            </a: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machine = </a:t>
            </a:r>
            <a:r>
              <a:rPr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wet </a:t>
            </a: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silicon</a:t>
            </a:r>
            <a:r>
              <a:rPr 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\</a:t>
            </a:r>
            <a:endParaRPr lang="en-US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</a:t>
            </a: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et.etch</a:t>
            </a:r>
            <a:r>
              <a:rPr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isotropic = 0.5 u.m</a:t>
            </a:r>
            <a:endParaRPr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etch machine = wet time = 1 minutes</a:t>
            </a:r>
            <a:endParaRPr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structure outfile = etchwet.str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tonyplot etchwet.str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7904" y="2276872"/>
            <a:ext cx="5229225" cy="2989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765175"/>
            <a:ext cx="88633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）抛光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一般指化学机械抛光（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CMP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），也可看成是广义刻蚀的一部分，广泛用于集成电路制造各个阶段的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表面平坦化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过程，集成电路的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技术之一。</a:t>
            </a:r>
            <a:endParaRPr lang="zh-CN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1460" y="1628140"/>
            <a:ext cx="4704715" cy="2261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化学机械抛光（</a:t>
            </a:r>
            <a:r>
              <a:rPr lang="en-US" alt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CMP</a:t>
            </a:r>
            <a:r>
              <a:rPr lang="zh-CN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）的原理：</a:t>
            </a:r>
            <a:endParaRPr lang="zh-CN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化学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机械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的综合作用，在一定压力及抛光浆料（</a:t>
            </a:r>
            <a:r>
              <a:rPr 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抛光液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磨粒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）的作用下，</a:t>
            </a:r>
            <a:r>
              <a:rPr 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抛光液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腐蚀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工件表面，产生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易溶物质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或产生一层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软化层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，抛光液中的</a:t>
            </a:r>
            <a:r>
              <a:rPr 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磨粒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对工件表面化学反应产物进行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磨削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，从而得到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光洁</a:t>
            </a:r>
            <a:r>
              <a:rPr lang="zh-CN" sz="16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表面。</a:t>
            </a:r>
            <a:endParaRPr lang="zh-CN" altLang="zh-CN" sz="1600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70" r="2392" b="2018"/>
          <a:stretch>
            <a:fillRect/>
          </a:stretch>
        </p:blipFill>
        <p:spPr>
          <a:xfrm>
            <a:off x="5220335" y="1462405"/>
            <a:ext cx="3600450" cy="27063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9705" y="4364355"/>
            <a:ext cx="87884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研磨垫：</a:t>
            </a:r>
            <a:r>
              <a:rPr lang="zh-CN" sz="1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一种多孔材料，类似海绵的机械性和多孔性</a:t>
            </a:r>
            <a:endParaRPr lang="zh-CN" sz="1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硬垫：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抛光液固体颗粒大，抛光速度快，平整度和平行度好，但表面粗糙且损伤严重；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软垫：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抛光液固体颗粒小，光洁度高，速度慢；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软硬结合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可保持好的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平整度和平行度，又可去除表面损伤，提高光洁度。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60290" y="4220845"/>
            <a:ext cx="4286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CMP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示意图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93420"/>
            <a:ext cx="88633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）抛光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一般指化学机械抛光（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CMP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），也可看成是广义刻蚀的一部分，广泛用于集成电路制造各个阶段的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表面平坦化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过程，集成电路的</a:t>
            </a:r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技术之一。</a:t>
            </a:r>
            <a:endParaRPr lang="zh-CN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2621" t="2411" r="11228" b="24652"/>
          <a:stretch>
            <a:fillRect/>
          </a:stretch>
        </p:blipFill>
        <p:spPr>
          <a:xfrm>
            <a:off x="549275" y="1775460"/>
            <a:ext cx="7948930" cy="29698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2140" y="4831715"/>
            <a:ext cx="4286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未经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CMP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工艺抛光的芯片每层表面形貌。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16145" y="4871720"/>
            <a:ext cx="4286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</a:t>
            </a:r>
            <a:r>
              <a:rPr lang="en-US" altLang="zh-CN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CMP</a:t>
            </a:r>
            <a:r>
              <a:rPr lang="zh-CN" altLang="en-US" sz="14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工艺抛光后的芯片每层表面形貌。</a:t>
            </a:r>
            <a:endParaRPr lang="zh-CN" altLang="en-US" sz="14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017665"/>
            <a:ext cx="8209096" cy="461028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7360" y="476885"/>
            <a:ext cx="276796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抛光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polish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命令的参数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21665"/>
            <a:ext cx="886333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）抛光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一般指化学机械抛光（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CMP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），也可看成是广义刻蚀的一部分，广泛用于集成电路制造各个阶段的表面平坦化过程。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（命令:polish）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endParaRPr lang="zh-CN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5269" y="1274474"/>
            <a:ext cx="7273121" cy="54938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定义</a:t>
            </a:r>
            <a:r>
              <a:rPr 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初始结构</a:t>
            </a:r>
            <a:r>
              <a:rPr lang="en-US" alt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zh-CN" altLang="en-US" sz="1600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 x loc = 0.0 spacing = 0.025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 x loc = 3.0 spacing = 0.025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 y loc = 0.0 spacing = 0.02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 y loc = 2.0 spacing = 0.1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init silicon c.boron = 1e14 two.d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deposit oxide thickness = 0.5 div = 20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etch oxide start x = 1 y = 0</a:t>
            </a:r>
            <a:endParaRPr b="1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1 y = -6</a:t>
            </a:r>
            <a:endParaRPr b="1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etch continue x = 2 y = -6</a:t>
            </a:r>
            <a:endParaRPr b="1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 b="1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etch done x = 2 y = 0</a:t>
            </a:r>
            <a:endParaRPr b="1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en-US" altLang="zh-CN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#</a:t>
            </a:r>
            <a:r>
              <a:rPr lang="zh-CN" altLang="en-US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淀积一层</a:t>
            </a:r>
            <a:r>
              <a:rPr lang="en-US" altLang="zh-CN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0.5</a:t>
            </a:r>
            <a:r>
              <a:rPr lang="zh-CN" altLang="en-US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微米厚的多晶硅</a:t>
            </a:r>
            <a:r>
              <a:rPr lang="en-US" altLang="zh-CN" sz="1400"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poly</a:t>
            </a:r>
            <a:endParaRPr lang="en-US" sz="1400" b="1" smtClean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deposit </a:t>
            </a:r>
            <a:r>
              <a:rPr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poly thickness = 0.5 div = </a:t>
            </a:r>
            <a:r>
              <a:rPr b="1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50</a:t>
            </a:r>
            <a:endParaRPr lang="en-US" b="1" smtClean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smtClean="0">
                <a:latin typeface="Times New Roman" panose="02020603050405020304" charset="0"/>
                <a:cs typeface="Times New Roman" panose="02020603050405020304" charset="0"/>
              </a:rPr>
              <a:t>structure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outfile =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prepolish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tonyplot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prepolish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quit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5730" y="2160905"/>
            <a:ext cx="4846320" cy="2753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21665"/>
            <a:ext cx="88633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）抛光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一般指化学机械抛光（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CMP</a:t>
            </a:r>
            <a:r>
              <a:rPr lang="zh-CN" sz="16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），也可看成是广义刻蚀的一部分，广泛用于集成电路制造各个阶段的表面平坦化过程。</a:t>
            </a:r>
            <a:endParaRPr lang="zh-CN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1340485"/>
            <a:ext cx="9015730" cy="2846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抛光</a:t>
            </a:r>
            <a:r>
              <a:rPr lang="en-US" alt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</a:t>
            </a:r>
            <a:r>
              <a:rPr lang="en-US" altLang="zh-CN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zh-CN" altLang="en-US" sz="1600" u="sng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zh-CN" altLang="en-US">
                <a:solidFill>
                  <a:srgbClr val="D869EC"/>
                </a:solidFill>
                <a:latin typeface="Times New Roman" panose="02020603050405020304" charset="0"/>
                <a:cs typeface="Times New Roman" panose="02020603050405020304" charset="0"/>
              </a:rPr>
              <a:t>go athena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init infile =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prepolish</a:t>
            </a:r>
            <a:r>
              <a:rPr smtClean="0">
                <a:latin typeface="Times New Roman" panose="02020603050405020304" charset="0"/>
                <a:cs typeface="Times New Roman" panose="02020603050405020304" charset="0"/>
              </a:rPr>
              <a:t>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rate.polish</a:t>
            </a: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poly machine = CMP u.m soft.rate = 0.1 height.fac = 0.00</a:t>
            </a:r>
            <a:r>
              <a:rPr 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length.fac = 0.0</a:t>
            </a:r>
            <a:r>
              <a:rPr 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polish machine = CMP time = 4.5 minutes</a:t>
            </a:r>
            <a:endParaRPr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structure outfile = polish.str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tonyplot polish.str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quit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965" y="3357245"/>
            <a:ext cx="5611495" cy="3268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77165" y="1511935"/>
            <a:ext cx="241109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1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2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3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4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5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6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7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8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9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  <a:sym typeface="+mn-ea"/>
              </a:rPr>
              <a:t>10</a:t>
            </a:r>
            <a:endParaRPr lang="en-US" altLang="zh-CN" b="1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</a:rPr>
              <a:t>11</a:t>
            </a:r>
            <a:endParaRPr lang="en-US" altLang="zh-CN" b="1">
              <a:solidFill>
                <a:srgbClr val="FF0000"/>
              </a:solidFill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</a:rPr>
              <a:t>12</a:t>
            </a:r>
            <a:endParaRPr lang="en-US" altLang="zh-CN" b="1">
              <a:solidFill>
                <a:srgbClr val="FF0000"/>
              </a:solidFill>
            </a:endParaRP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b="1">
                <a:solidFill>
                  <a:srgbClr val="FF0000"/>
                </a:solidFill>
              </a:rPr>
              <a:t>13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-99060"/>
            <a:ext cx="329184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 algn="l">
              <a:lnSpc>
                <a:spcPct val="200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半导体工艺仿真介绍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93420"/>
            <a:ext cx="88633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）电极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（命令:electrode）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zh-CN" sz="16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8480" y="1163955"/>
            <a:ext cx="4077335" cy="4969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spcBef>
                <a:spcPts val="600"/>
              </a:spcBef>
            </a:pPr>
            <a:r>
              <a:rPr lang="zh-CN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电极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zh-CN" altLang="en-US" sz="1600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go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athena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init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infile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 = </a:t>
            </a:r>
            <a:r>
              <a:rPr lang="en-US" dirty="0" err="1">
                <a:latin typeface="Times New Roman" panose="02020603050405020304" charset="0"/>
                <a:cs typeface="Times New Roman" panose="02020603050405020304" charset="0"/>
              </a:rPr>
              <a:t>init.srt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deposit aluminum thick = 0.1 div = 5</a:t>
            </a:r>
            <a:endParaRPr dirty="0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etch aluminum p1.x = 0.1 right</a:t>
            </a:r>
            <a:endParaRPr dirty="0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structure mirror right</a:t>
            </a:r>
            <a:endParaRPr dirty="0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structure </a:t>
            </a:r>
            <a:r>
              <a:rPr dirty="0" err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flip.y</a:t>
            </a:r>
            <a:endParaRPr dirty="0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deposit aluminum thick = 0.1 div = 5</a:t>
            </a:r>
            <a:endParaRPr dirty="0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structure </a:t>
            </a:r>
            <a:r>
              <a:rPr dirty="0" err="1">
                <a:solidFill>
                  <a:srgbClr val="1D41D5"/>
                </a:solidFill>
                <a:latin typeface="Times New Roman" panose="02020603050405020304" charset="0"/>
                <a:cs typeface="Times New Roman" panose="02020603050405020304" charset="0"/>
              </a:rPr>
              <a:t>flip.y</a:t>
            </a:r>
            <a:endParaRPr dirty="0">
              <a:solidFill>
                <a:srgbClr val="1D41D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electrode x = 0.05 name = gate</a:t>
            </a:r>
            <a:endParaRPr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electrode x =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b="1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.95 </a:t>
            </a:r>
            <a:r>
              <a:rPr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name = source</a:t>
            </a:r>
            <a:endParaRPr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electrode x = 0.05 y =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b="1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b="1" dirty="0" smtClean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5 </a:t>
            </a:r>
            <a:r>
              <a:rPr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name = drain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structure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outfile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=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electrode.str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  <a:p>
            <a:pPr fontAlgn="auto">
              <a:spcBef>
                <a:spcPts val="600"/>
              </a:spcBef>
            </a:pP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tonyplot</a:t>
            </a:r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dirty="0" err="1">
                <a:latin typeface="Times New Roman" panose="02020603050405020304" charset="0"/>
                <a:cs typeface="Times New Roman" panose="02020603050405020304" charset="0"/>
              </a:rPr>
              <a:t>electrode.str</a:t>
            </a:r>
            <a:endParaRPr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3"/>
          <a:stretch>
            <a:fillRect/>
          </a:stretch>
        </p:blipFill>
        <p:spPr bwMode="auto">
          <a:xfrm>
            <a:off x="4159408" y="1511935"/>
            <a:ext cx="4868964" cy="245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973710" y="4383642"/>
            <a:ext cx="3774754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注意：</a:t>
            </a:r>
            <a:endParaRPr lang="en-US" altLang="zh-CN" smtClean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1.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（</a:t>
            </a:r>
            <a:r>
              <a:rPr lang="en-US" altLang="zh-CN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x,y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）坐标落在金属内，相应的那一块金属膜就被定义为相应的电极；</a:t>
            </a:r>
            <a:endParaRPr lang="en-US" altLang="zh-CN" smtClean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mtClean="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没指定</a:t>
            </a:r>
            <a:r>
              <a:rPr lang="en-US" altLang="zh-CN" smtClean="0"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的值时，</a:t>
            </a:r>
            <a:r>
              <a:rPr lang="en-US" altLang="zh-CN" smtClean="0"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默认是</a:t>
            </a:r>
            <a:r>
              <a:rPr lang="en-US" altLang="zh-CN" smtClean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605" y="-26670"/>
            <a:ext cx="29768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自我练习</a:t>
            </a:r>
            <a:endParaRPr lang="zh-CN" altLang="en-US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705" y="1270000"/>
            <a:ext cx="852551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）练习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电极定义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中的第</a:t>
            </a:r>
            <a:r>
              <a:rPr lang="en-US" altLang="zh-CN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lang="zh-CN" altLang="en-US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的仿真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，练习</a:t>
            </a:r>
            <a:r>
              <a:rPr lang="zh-CN" altLang="en-US" sz="20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定义电极。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练习中体会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5,6,8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行代码的作用。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）网格设置对仿真结果的影响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要求：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中的第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页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的仿真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，给出网格设置（即改变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div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的值）对刻蚀效果的影响，给出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变化过程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注意：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刻蚀区域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中的相同。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460" y="692785"/>
            <a:ext cx="30118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>
              <a:lnSpc>
                <a:spcPct val="200000"/>
              </a:lnSpc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实验二</a:t>
            </a:r>
            <a:endParaRPr lang="zh-CN" altLang="en-US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132965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20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氧化工艺仿真</a:t>
            </a:r>
            <a:endParaRPr lang="zh-CN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>
              <a:lnSpc>
                <a:spcPct val="20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完成前面所述的问题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，将结果整理在实验报告中。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95830" y="2277110"/>
            <a:ext cx="47739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欢迎交流！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045,&quot;width&quot;:10800}"/>
</p:tagLst>
</file>

<file path=ppt/tags/tag2.xml><?xml version="1.0" encoding="utf-8"?>
<p:tagLst xmlns:p="http://schemas.openxmlformats.org/presentationml/2006/main">
  <p:tag name="KSO_WM_UNIT_PLACING_PICTURE_USER_VIEWPORT" val="{&quot;height&quot;:8985,&quot;width&quot;:15360}"/>
</p:tagLst>
</file>

<file path=ppt/tags/tag3.xml><?xml version="1.0" encoding="utf-8"?>
<p:tagLst xmlns:p="http://schemas.openxmlformats.org/presentationml/2006/main">
  <p:tag name="COMMONDATA" val="eyJoZGlkIjoiZWIyNzc2MjMzNzRkNWUyZGE3ZDc5M2U5NWFlODgxYWQifQ=="/>
  <p:tag name="KSO_WPP_MARK_KEY" val="ffc59bcc-8569-42f5-a67c-83f4c410bc9c"/>
  <p:tag name="commondata" val="eyJoZGlkIjoiOWY0MjcyYTk3ZTNmZDEyODJkNzk2M2Q2MDU5YWY4Mz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10351</Words>
  <Application>WPS 演示</Application>
  <PresentationFormat>全屏显示(4:3)</PresentationFormat>
  <Paragraphs>676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Wingdings 2</vt:lpstr>
      <vt:lpstr>Wingdings</vt:lpstr>
      <vt:lpstr>微软雅黑</vt:lpstr>
      <vt:lpstr>Times New Roman</vt:lpstr>
      <vt:lpstr>Perpetua</vt:lpstr>
      <vt:lpstr>Arial Unicode MS</vt:lpstr>
      <vt:lpstr>Franklin Gothic Book</vt:lpstr>
      <vt:lpstr>幼圆</vt:lpstr>
      <vt:lpstr>Calibri</vt:lpstr>
      <vt:lpstr>平衡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徐琳琳</cp:lastModifiedBy>
  <cp:revision>925</cp:revision>
  <dcterms:created xsi:type="dcterms:W3CDTF">2020-03-29T10:36:00Z</dcterms:created>
  <dcterms:modified xsi:type="dcterms:W3CDTF">2025-10-11T02:10:19Z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319B22EE123B473EB5A32AF43C1586E2</vt:lpwstr>
  </property>
  <property fmtid="{D5CDD505-2E9C-101B-9397-08002B2CF9AE}" pid="3" name="KSOProductBuildVer">
    <vt:lpwstr>2052-12.1.0.22529</vt:lpwstr>
  </property>
</Properties>
</file>