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350" r:id="rId2"/>
    <p:sldId id="340" r:id="rId3"/>
    <p:sldId id="388" r:id="rId4"/>
    <p:sldId id="387" r:id="rId5"/>
    <p:sldId id="389" r:id="rId6"/>
    <p:sldId id="392" r:id="rId7"/>
    <p:sldId id="391" r:id="rId8"/>
    <p:sldId id="395" r:id="rId9"/>
    <p:sldId id="393" r:id="rId10"/>
    <p:sldId id="394" r:id="rId11"/>
    <p:sldId id="376" r:id="rId12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49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46" userDrawn="1">
          <p15:clr>
            <a:srgbClr val="A4A3A4"/>
          </p15:clr>
        </p15:guide>
        <p15:guide id="4" orient="horz" pos="2500" userDrawn="1">
          <p15:clr>
            <a:srgbClr val="A4A3A4"/>
          </p15:clr>
        </p15:guide>
        <p15:guide id="5" pos="325" userDrawn="1">
          <p15:clr>
            <a:srgbClr val="A4A3A4"/>
          </p15:clr>
        </p15:guide>
        <p15:guide id="6" pos="73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383C"/>
    <a:srgbClr val="000000"/>
    <a:srgbClr val="FFE07D"/>
    <a:srgbClr val="80A43E"/>
    <a:srgbClr val="2D37C6"/>
    <a:srgbClr val="003F43"/>
    <a:srgbClr val="ED6C00"/>
    <a:srgbClr val="54D1E6"/>
    <a:srgbClr val="B3EAF4"/>
    <a:srgbClr val="2990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001" autoAdjust="0"/>
    <p:restoredTop sz="96238" autoAdjust="0"/>
  </p:normalViewPr>
  <p:slideViewPr>
    <p:cSldViewPr snapToGrid="0" showGuides="1">
      <p:cViewPr varScale="1">
        <p:scale>
          <a:sx n="88" d="100"/>
          <a:sy n="88" d="100"/>
        </p:scale>
        <p:origin x="375" y="78"/>
      </p:cViewPr>
      <p:guideLst>
        <p:guide orient="horz" pos="1049"/>
        <p:guide pos="3840"/>
        <p:guide orient="horz" pos="346"/>
        <p:guide orient="horz" pos="2500"/>
        <p:guide pos="325"/>
        <p:guide pos="73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880292-D0AB-4893-8458-232C2A1610C1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EE592D-1E90-4118-BBB3-226543EB4D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688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校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14596" y="-152400"/>
            <a:ext cx="7162808" cy="716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学校建筑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4307887"/>
            <a:ext cx="12191999" cy="25433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（进阶设计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F73B5B6-FF8F-85A8-F4D3-F851C7FD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98B9D-C61E-4DBB-A3F1-F4E3594D7594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9659B0E-1F79-5F88-3879-8D31E72F7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D3755A-C885-7C3C-AC8C-FA4D6972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F93A1-78AD-4550-B14C-5DBF6475D1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355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9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8.jpe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38/nature08438" TargetMode="External"/><Relationship Id="rId3" Type="http://schemas.openxmlformats.org/officeDocument/2006/relationships/image" Target="../media/image7.png"/><Relationship Id="rId7" Type="http://schemas.openxmlformats.org/officeDocument/2006/relationships/hyperlink" Target="https://doi.org/10.1021/jp103608d" TargetMode="Externa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Relationship Id="rId6" Type="http://schemas.openxmlformats.org/officeDocument/2006/relationships/hyperlink" Target="https://doi.org/doi:10.1126/science.1957169" TargetMode="External"/><Relationship Id="rId11" Type="http://schemas.openxmlformats.org/officeDocument/2006/relationships/hyperlink" Target="https://doi.org/10.3390/photonics11050440" TargetMode="External"/><Relationship Id="rId5" Type="http://schemas.openxmlformats.org/officeDocument/2006/relationships/hyperlink" Target="https://doi.org/10.1021/jp001460h" TargetMode="External"/><Relationship Id="rId10" Type="http://schemas.openxmlformats.org/officeDocument/2006/relationships/hyperlink" Target="https://doi.org/10.1088/0953-4075/49/18/182003" TargetMode="External"/><Relationship Id="rId4" Type="http://schemas.openxmlformats.org/officeDocument/2006/relationships/hyperlink" Target="https://doi.org/10.1109/2944.902165" TargetMode="External"/><Relationship Id="rId9" Type="http://schemas.openxmlformats.org/officeDocument/2006/relationships/hyperlink" Target="https://doi.org/10.1126/scitranslmed.3001604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形 2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390390"/>
            <a:ext cx="12191365" cy="2467610"/>
          </a:xfrm>
          <a:prstGeom prst="rect">
            <a:avLst/>
          </a:prstGeom>
        </p:spPr>
      </p:pic>
      <p:pic>
        <p:nvPicPr>
          <p:cNvPr id="5" name="图片 4" descr="EEE logo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335" y="151765"/>
            <a:ext cx="2076450" cy="540385"/>
          </a:xfrm>
          <a:prstGeom prst="rect">
            <a:avLst/>
          </a:prstGeom>
        </p:spPr>
      </p:pic>
      <p:pic>
        <p:nvPicPr>
          <p:cNvPr id="6" name="图片 5" descr="校徽+中英文校名-左右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0145" y="27305"/>
            <a:ext cx="2168525" cy="709930"/>
          </a:xfrm>
          <a:prstGeom prst="rect">
            <a:avLst/>
          </a:prstGeom>
        </p:spPr>
      </p:pic>
      <p:pic>
        <p:nvPicPr>
          <p:cNvPr id="7" name="图片 6" descr="OIL_logo_orange_L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0450" y="177800"/>
            <a:ext cx="2080895" cy="40894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5CE2468-13BC-0036-FF90-4C8C5F1017F4}"/>
              </a:ext>
            </a:extLst>
          </p:cNvPr>
          <p:cNvSpPr txBox="1"/>
          <p:nvPr/>
        </p:nvSpPr>
        <p:spPr>
          <a:xfrm>
            <a:off x="4415769" y="5993368"/>
            <a:ext cx="3360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2025.10.11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99A76F9-C25E-EF77-D06F-583A9B2652DB}"/>
              </a:ext>
            </a:extLst>
          </p:cNvPr>
          <p:cNvSpPr txBox="1"/>
          <p:nvPr/>
        </p:nvSpPr>
        <p:spPr>
          <a:xfrm>
            <a:off x="4415451" y="5165447"/>
            <a:ext cx="3360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Sixiang Ran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8F0BC2-6D17-F86B-ADEE-A2597B678111}"/>
              </a:ext>
            </a:extLst>
          </p:cNvPr>
          <p:cNvGrpSpPr/>
          <p:nvPr/>
        </p:nvGrpSpPr>
        <p:grpSpPr>
          <a:xfrm>
            <a:off x="0" y="1953853"/>
            <a:ext cx="12296775" cy="2741972"/>
            <a:chOff x="0" y="1953853"/>
            <a:chExt cx="12296775" cy="2741972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0881CB42-B81E-A842-884D-5D97AF1897CC}"/>
                </a:ext>
              </a:extLst>
            </p:cNvPr>
            <p:cNvSpPr/>
            <p:nvPr/>
          </p:nvSpPr>
          <p:spPr>
            <a:xfrm>
              <a:off x="0" y="1953853"/>
              <a:ext cx="12192000" cy="274197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EBEB2C6A-C93B-DF25-0FEF-42727716F682}"/>
                </a:ext>
              </a:extLst>
            </p:cNvPr>
            <p:cNvSpPr txBox="1"/>
            <p:nvPr/>
          </p:nvSpPr>
          <p:spPr>
            <a:xfrm>
              <a:off x="104775" y="2040932"/>
              <a:ext cx="12192000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0"/>
              <a:r>
                <a:rPr lang="en-US" altLang="zh-CN" sz="5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Specialty Fiber </a:t>
              </a:r>
            </a:p>
            <a:p>
              <a:pPr algn="ctr" eaLnBrk="0"/>
              <a:r>
                <a:rPr lang="en-US" altLang="zh-CN" sz="5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Photothermal Spectroscopy </a:t>
              </a:r>
            </a:p>
            <a:p>
              <a:pPr algn="ctr" eaLnBrk="0"/>
              <a:r>
                <a:rPr lang="en-US" altLang="zh-CN" sz="5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for Trace Gas Detection</a:t>
              </a:r>
              <a:endPara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8" name="图片 7" descr="色条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3" name="矩形 2"/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7" name="图片 6" descr="OIL_logo_orange_LR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4902" y="159057"/>
            <a:ext cx="2612390" cy="51371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C48BF34-A859-CF9F-F5D2-68B51A956623}"/>
              </a:ext>
            </a:extLst>
          </p:cNvPr>
          <p:cNvSpPr txBox="1"/>
          <p:nvPr/>
        </p:nvSpPr>
        <p:spPr>
          <a:xfrm>
            <a:off x="4266883" y="417"/>
            <a:ext cx="36582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Content</a:t>
            </a:r>
            <a:endParaRPr lang="zh-CN" altLang="en-US" sz="48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D7EADC3-E83A-41AD-20A9-E076CBEF0BBD}"/>
              </a:ext>
            </a:extLst>
          </p:cNvPr>
          <p:cNvSpPr txBox="1"/>
          <p:nvPr/>
        </p:nvSpPr>
        <p:spPr>
          <a:xfrm>
            <a:off x="6334003" y="2137605"/>
            <a:ext cx="5392329" cy="2959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Background</a:t>
            </a:r>
          </a:p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Methodology</a:t>
            </a:r>
          </a:p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Recent progress</a:t>
            </a:r>
          </a:p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B27AADF-28B7-7607-3275-2BD3B5CF8DA3}"/>
              </a:ext>
            </a:extLst>
          </p:cNvPr>
          <p:cNvSpPr/>
          <p:nvPr/>
        </p:nvSpPr>
        <p:spPr>
          <a:xfrm>
            <a:off x="5644166" y="2327697"/>
            <a:ext cx="511759" cy="532567"/>
          </a:xfrm>
          <a:prstGeom prst="rect">
            <a:avLst/>
          </a:prstGeom>
          <a:solidFill>
            <a:srgbClr val="1038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AFAECF4-1532-42E8-F357-4BAC13BF5E25}"/>
              </a:ext>
            </a:extLst>
          </p:cNvPr>
          <p:cNvSpPr/>
          <p:nvPr/>
        </p:nvSpPr>
        <p:spPr>
          <a:xfrm>
            <a:off x="5644166" y="3060195"/>
            <a:ext cx="511759" cy="532567"/>
          </a:xfrm>
          <a:prstGeom prst="rect">
            <a:avLst/>
          </a:prstGeom>
          <a:solidFill>
            <a:srgbClr val="1038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CB29DC5-4BCE-ACA3-ACE7-888043CE84A8}"/>
              </a:ext>
            </a:extLst>
          </p:cNvPr>
          <p:cNvSpPr/>
          <p:nvPr/>
        </p:nvSpPr>
        <p:spPr>
          <a:xfrm>
            <a:off x="5637873" y="3792694"/>
            <a:ext cx="511758" cy="532567"/>
          </a:xfrm>
          <a:prstGeom prst="rect">
            <a:avLst/>
          </a:prstGeom>
          <a:solidFill>
            <a:srgbClr val="1038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F61526B-E889-0C8E-CAAA-2254065DDB20}"/>
              </a:ext>
            </a:extLst>
          </p:cNvPr>
          <p:cNvSpPr/>
          <p:nvPr/>
        </p:nvSpPr>
        <p:spPr>
          <a:xfrm>
            <a:off x="5637873" y="4493845"/>
            <a:ext cx="511758" cy="532567"/>
          </a:xfrm>
          <a:prstGeom prst="rect">
            <a:avLst/>
          </a:prstGeom>
          <a:solidFill>
            <a:srgbClr val="1038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灯片编号占位符 8">
            <a:extLst>
              <a:ext uri="{FF2B5EF4-FFF2-40B4-BE49-F238E27FC236}">
                <a16:creationId xmlns:a16="http://schemas.microsoft.com/office/drawing/2014/main" id="{2C60763D-21E5-B8CE-41E5-A374D39C77D3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2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08B0CDF9-5489-2A56-146C-0F894796CFCD}"/>
              </a:ext>
            </a:extLst>
          </p:cNvPr>
          <p:cNvGrpSpPr/>
          <p:nvPr/>
        </p:nvGrpSpPr>
        <p:grpSpPr>
          <a:xfrm>
            <a:off x="-1200322" y="835224"/>
            <a:ext cx="6602468" cy="6053955"/>
            <a:chOff x="-1891173" y="1273949"/>
            <a:chExt cx="6602468" cy="6084335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28E6CF88-4422-3C32-4669-A07895338AA9}"/>
                </a:ext>
              </a:extLst>
            </p:cNvPr>
            <p:cNvSpPr/>
            <p:nvPr/>
          </p:nvSpPr>
          <p:spPr bwMode="auto">
            <a:xfrm>
              <a:off x="-776856" y="1313402"/>
              <a:ext cx="3738239" cy="6010062"/>
            </a:xfrm>
            <a:prstGeom prst="rect">
              <a:avLst/>
            </a:prstGeom>
            <a:solidFill>
              <a:srgbClr val="1447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6B984C6A-0558-476D-5E6A-B02AE2D8E571}"/>
                </a:ext>
              </a:extLst>
            </p:cNvPr>
            <p:cNvSpPr/>
            <p:nvPr/>
          </p:nvSpPr>
          <p:spPr bwMode="auto">
            <a:xfrm rot="5400000" flipV="1">
              <a:off x="609794" y="-68302"/>
              <a:ext cx="964938" cy="3738234"/>
            </a:xfrm>
            <a:prstGeom prst="rect">
              <a:avLst/>
            </a:prstGeom>
            <a:solidFill>
              <a:srgbClr val="003F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DED4E7BF-A69D-4313-40D8-7F1DA6FF47C4}"/>
                </a:ext>
              </a:extLst>
            </p:cNvPr>
            <p:cNvSpPr/>
            <p:nvPr/>
          </p:nvSpPr>
          <p:spPr bwMode="auto">
            <a:xfrm rot="5400000">
              <a:off x="272770" y="4658660"/>
              <a:ext cx="1624987" cy="3738238"/>
            </a:xfrm>
            <a:prstGeom prst="rect">
              <a:avLst/>
            </a:prstGeom>
            <a:solidFill>
              <a:srgbClr val="003F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514AE721-B98A-0A14-B9EA-D51A822F911A}"/>
                </a:ext>
              </a:extLst>
            </p:cNvPr>
            <p:cNvGrpSpPr/>
            <p:nvPr/>
          </p:nvGrpSpPr>
          <p:grpSpPr>
            <a:xfrm>
              <a:off x="-1891173" y="1526125"/>
              <a:ext cx="2754050" cy="4646991"/>
              <a:chOff x="0" y="1111187"/>
              <a:chExt cx="2754050" cy="4646991"/>
            </a:xfrm>
          </p:grpSpPr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FC51389A-C98B-00EE-20DE-AB07F38175A6}"/>
                  </a:ext>
                </a:extLst>
              </p:cNvPr>
              <p:cNvSpPr/>
              <p:nvPr/>
            </p:nvSpPr>
            <p:spPr>
              <a:xfrm>
                <a:off x="2450246" y="4863799"/>
                <a:ext cx="200570" cy="200570"/>
              </a:xfrm>
              <a:prstGeom prst="ellipse">
                <a:avLst/>
              </a:prstGeom>
              <a:solidFill>
                <a:schemeClr val="bg1">
                  <a:alpha val="2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E7FF44F8-D65A-BA6E-1994-F2C697867D6A}"/>
                  </a:ext>
                </a:extLst>
              </p:cNvPr>
              <p:cNvSpPr/>
              <p:nvPr/>
            </p:nvSpPr>
            <p:spPr>
              <a:xfrm>
                <a:off x="0" y="1111187"/>
                <a:ext cx="312134" cy="312134"/>
              </a:xfrm>
              <a:prstGeom prst="ellipse">
                <a:avLst/>
              </a:prstGeom>
              <a:solidFill>
                <a:schemeClr val="bg1">
                  <a:alpha val="1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CD7F0E67-6245-76AC-2617-112059EBCCE0}"/>
                  </a:ext>
                </a:extLst>
              </p:cNvPr>
              <p:cNvSpPr/>
              <p:nvPr/>
            </p:nvSpPr>
            <p:spPr>
              <a:xfrm>
                <a:off x="1114320" y="1611397"/>
                <a:ext cx="904679" cy="904679"/>
              </a:xfrm>
              <a:prstGeom prst="ellipse">
                <a:avLst/>
              </a:prstGeom>
              <a:solidFill>
                <a:schemeClr val="bg1">
                  <a:alpha val="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54C13DFC-030B-20BB-E860-E7B10248885A}"/>
                  </a:ext>
                </a:extLst>
              </p:cNvPr>
              <p:cNvSpPr/>
              <p:nvPr/>
            </p:nvSpPr>
            <p:spPr>
              <a:xfrm>
                <a:off x="854236" y="5460064"/>
                <a:ext cx="298114" cy="298114"/>
              </a:xfrm>
              <a:prstGeom prst="ellipse">
                <a:avLst/>
              </a:prstGeom>
              <a:solidFill>
                <a:schemeClr val="bg1">
                  <a:alpha val="2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27975823-761D-B1C4-7888-371FD1683267}"/>
                  </a:ext>
                </a:extLst>
              </p:cNvPr>
              <p:cNvSpPr/>
              <p:nvPr/>
            </p:nvSpPr>
            <p:spPr>
              <a:xfrm>
                <a:off x="2313236" y="1194804"/>
                <a:ext cx="440814" cy="440814"/>
              </a:xfrm>
              <a:prstGeom prst="ellipse">
                <a:avLst/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C6D3DE16-37E3-6849-D1A5-94B23DFEA9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888" r="2150"/>
            <a:stretch/>
          </p:blipFill>
          <p:spPr>
            <a:xfrm>
              <a:off x="-776857" y="2688561"/>
              <a:ext cx="4205077" cy="2667001"/>
            </a:xfrm>
            <a:prstGeom prst="rect">
              <a:avLst/>
            </a:prstGeom>
          </p:spPr>
        </p:pic>
        <p:sp>
          <p:nvSpPr>
            <p:cNvPr id="23" name="任意多边形 38">
              <a:extLst>
                <a:ext uri="{FF2B5EF4-FFF2-40B4-BE49-F238E27FC236}">
                  <a16:creationId xmlns:a16="http://schemas.microsoft.com/office/drawing/2014/main" id="{47E34913-D79A-0981-3803-7E7AFEE15678}"/>
                </a:ext>
              </a:extLst>
            </p:cNvPr>
            <p:cNvSpPr/>
            <p:nvPr/>
          </p:nvSpPr>
          <p:spPr>
            <a:xfrm rot="16200000">
              <a:off x="150555" y="2807160"/>
              <a:ext cx="6010061" cy="3017914"/>
            </a:xfrm>
            <a:custGeom>
              <a:avLst/>
              <a:gdLst>
                <a:gd name="connsiteX0" fmla="*/ 9143999 w 9143999"/>
                <a:gd name="connsiteY0" fmla="*/ 0 h 2051818"/>
                <a:gd name="connsiteX1" fmla="*/ 9143999 w 9143999"/>
                <a:gd name="connsiteY1" fmla="*/ 2051818 h 2051818"/>
                <a:gd name="connsiteX2" fmla="*/ 0 w 9143999"/>
                <a:gd name="connsiteY2" fmla="*/ 2051818 h 2051818"/>
                <a:gd name="connsiteX3" fmla="*/ 0 w 9143999"/>
                <a:gd name="connsiteY3" fmla="*/ 1204077 h 2051818"/>
                <a:gd name="connsiteX4" fmla="*/ 6027 w 9143999"/>
                <a:gd name="connsiteY4" fmla="*/ 1207403 h 2051818"/>
                <a:gd name="connsiteX5" fmla="*/ 7674511 w 9143999"/>
                <a:gd name="connsiteY5" fmla="*/ 718908 h 2051818"/>
                <a:gd name="connsiteX6" fmla="*/ 9044856 w 9143999"/>
                <a:gd name="connsiteY6" fmla="*/ 57555 h 2051818"/>
                <a:gd name="connsiteX7" fmla="*/ 9143999 w 9143999"/>
                <a:gd name="connsiteY7" fmla="*/ 0 h 2051818"/>
                <a:gd name="connsiteX0-1" fmla="*/ 9143999 w 9143999"/>
                <a:gd name="connsiteY0-2" fmla="*/ 0 h 2051818"/>
                <a:gd name="connsiteX1-3" fmla="*/ 9143999 w 9143999"/>
                <a:gd name="connsiteY1-4" fmla="*/ 2051818 h 2051818"/>
                <a:gd name="connsiteX2-5" fmla="*/ 0 w 9143999"/>
                <a:gd name="connsiteY2-6" fmla="*/ 2051818 h 2051818"/>
                <a:gd name="connsiteX3-7" fmla="*/ 0 w 9143999"/>
                <a:gd name="connsiteY3-8" fmla="*/ 1204077 h 2051818"/>
                <a:gd name="connsiteX4-9" fmla="*/ 6027 w 9143999"/>
                <a:gd name="connsiteY4-10" fmla="*/ 1207403 h 2051818"/>
                <a:gd name="connsiteX5-11" fmla="*/ 9044856 w 9143999"/>
                <a:gd name="connsiteY5-12" fmla="*/ 57555 h 2051818"/>
                <a:gd name="connsiteX6-13" fmla="*/ 9143999 w 9143999"/>
                <a:gd name="connsiteY6-14" fmla="*/ 0 h 2051818"/>
                <a:gd name="connsiteX0-15" fmla="*/ 9143999 w 9143999"/>
                <a:gd name="connsiteY0-16" fmla="*/ 0 h 2051818"/>
                <a:gd name="connsiteX1-17" fmla="*/ 9143999 w 9143999"/>
                <a:gd name="connsiteY1-18" fmla="*/ 2051818 h 2051818"/>
                <a:gd name="connsiteX2-19" fmla="*/ 0 w 9143999"/>
                <a:gd name="connsiteY2-20" fmla="*/ 2051818 h 2051818"/>
                <a:gd name="connsiteX3-21" fmla="*/ 0 w 9143999"/>
                <a:gd name="connsiteY3-22" fmla="*/ 1204077 h 2051818"/>
                <a:gd name="connsiteX4-23" fmla="*/ 6027 w 9143999"/>
                <a:gd name="connsiteY4-24" fmla="*/ 1207403 h 2051818"/>
                <a:gd name="connsiteX5-25" fmla="*/ 9143999 w 9143999"/>
                <a:gd name="connsiteY5-26" fmla="*/ 0 h 2051818"/>
                <a:gd name="connsiteX0-27" fmla="*/ 9143999 w 9143999"/>
                <a:gd name="connsiteY0-28" fmla="*/ 0 h 2051818"/>
                <a:gd name="connsiteX1-29" fmla="*/ 9143999 w 9143999"/>
                <a:gd name="connsiteY1-30" fmla="*/ 2051818 h 2051818"/>
                <a:gd name="connsiteX2-31" fmla="*/ 0 w 9143999"/>
                <a:gd name="connsiteY2-32" fmla="*/ 2051818 h 2051818"/>
                <a:gd name="connsiteX3-33" fmla="*/ 0 w 9143999"/>
                <a:gd name="connsiteY3-34" fmla="*/ 1204077 h 2051818"/>
                <a:gd name="connsiteX4-35" fmla="*/ 6027 w 9143999"/>
                <a:gd name="connsiteY4-36" fmla="*/ 1207403 h 2051818"/>
                <a:gd name="connsiteX5-37" fmla="*/ 9143999 w 9143999"/>
                <a:gd name="connsiteY5-38" fmla="*/ 0 h 2051818"/>
                <a:gd name="connsiteX0-39" fmla="*/ 9143999 w 9143999"/>
                <a:gd name="connsiteY0-40" fmla="*/ 0 h 2051818"/>
                <a:gd name="connsiteX1-41" fmla="*/ 9143999 w 9143999"/>
                <a:gd name="connsiteY1-42" fmla="*/ 2051818 h 2051818"/>
                <a:gd name="connsiteX2-43" fmla="*/ 0 w 9143999"/>
                <a:gd name="connsiteY2-44" fmla="*/ 2051818 h 2051818"/>
                <a:gd name="connsiteX3-45" fmla="*/ 0 w 9143999"/>
                <a:gd name="connsiteY3-46" fmla="*/ 1204077 h 2051818"/>
                <a:gd name="connsiteX4-47" fmla="*/ 6027 w 9143999"/>
                <a:gd name="connsiteY4-48" fmla="*/ 1207403 h 2051818"/>
                <a:gd name="connsiteX5-49" fmla="*/ 9143999 w 9143999"/>
                <a:gd name="connsiteY5-50" fmla="*/ 0 h 2051818"/>
                <a:gd name="connsiteX0-51" fmla="*/ 9143999 w 9143999"/>
                <a:gd name="connsiteY0-52" fmla="*/ 0 h 2051818"/>
                <a:gd name="connsiteX1-53" fmla="*/ 9143999 w 9143999"/>
                <a:gd name="connsiteY1-54" fmla="*/ 2051818 h 2051818"/>
                <a:gd name="connsiteX2-55" fmla="*/ 0 w 9143999"/>
                <a:gd name="connsiteY2-56" fmla="*/ 2051818 h 2051818"/>
                <a:gd name="connsiteX3-57" fmla="*/ 0 w 9143999"/>
                <a:gd name="connsiteY3-58" fmla="*/ 1204077 h 2051818"/>
                <a:gd name="connsiteX4-59" fmla="*/ 6027 w 9143999"/>
                <a:gd name="connsiteY4-60" fmla="*/ 1207403 h 2051818"/>
                <a:gd name="connsiteX5-61" fmla="*/ 9143999 w 9143999"/>
                <a:gd name="connsiteY5-62" fmla="*/ 0 h 2051818"/>
                <a:gd name="connsiteX0-63" fmla="*/ 9143999 w 9143999"/>
                <a:gd name="connsiteY0-64" fmla="*/ 130228 h 2182046"/>
                <a:gd name="connsiteX1-65" fmla="*/ 9143999 w 9143999"/>
                <a:gd name="connsiteY1-66" fmla="*/ 2182046 h 2182046"/>
                <a:gd name="connsiteX2-67" fmla="*/ 0 w 9143999"/>
                <a:gd name="connsiteY2-68" fmla="*/ 2182046 h 2182046"/>
                <a:gd name="connsiteX3-69" fmla="*/ 0 w 9143999"/>
                <a:gd name="connsiteY3-70" fmla="*/ 1334305 h 2182046"/>
                <a:gd name="connsiteX4-71" fmla="*/ 6027 w 9143999"/>
                <a:gd name="connsiteY4-72" fmla="*/ 0 h 2182046"/>
                <a:gd name="connsiteX5-73" fmla="*/ 9143999 w 9143999"/>
                <a:gd name="connsiteY5-74" fmla="*/ 130228 h 2182046"/>
                <a:gd name="connsiteX0-75" fmla="*/ 9143999 w 9143999"/>
                <a:gd name="connsiteY0-76" fmla="*/ 0 h 2051818"/>
                <a:gd name="connsiteX1-77" fmla="*/ 9143999 w 9143999"/>
                <a:gd name="connsiteY1-78" fmla="*/ 2051818 h 2051818"/>
                <a:gd name="connsiteX2-79" fmla="*/ 0 w 9143999"/>
                <a:gd name="connsiteY2-80" fmla="*/ 2051818 h 2051818"/>
                <a:gd name="connsiteX3-81" fmla="*/ 0 w 9143999"/>
                <a:gd name="connsiteY3-82" fmla="*/ 1204077 h 2051818"/>
                <a:gd name="connsiteX4-83" fmla="*/ 25380 w 9143999"/>
                <a:gd name="connsiteY4-84" fmla="*/ 54648 h 2051818"/>
                <a:gd name="connsiteX5-85" fmla="*/ 9143999 w 9143999"/>
                <a:gd name="connsiteY5-86" fmla="*/ 0 h 2051818"/>
                <a:gd name="connsiteX0-87" fmla="*/ 9143999 w 9143999"/>
                <a:gd name="connsiteY0-88" fmla="*/ 0 h 2051818"/>
                <a:gd name="connsiteX1-89" fmla="*/ 9143999 w 9143999"/>
                <a:gd name="connsiteY1-90" fmla="*/ 2051818 h 2051818"/>
                <a:gd name="connsiteX2-91" fmla="*/ 0 w 9143999"/>
                <a:gd name="connsiteY2-92" fmla="*/ 2051818 h 2051818"/>
                <a:gd name="connsiteX3-93" fmla="*/ 0 w 9143999"/>
                <a:gd name="connsiteY3-94" fmla="*/ 1204077 h 2051818"/>
                <a:gd name="connsiteX4-95" fmla="*/ 25380 w 9143999"/>
                <a:gd name="connsiteY4-96" fmla="*/ 54648 h 2051818"/>
                <a:gd name="connsiteX5-97" fmla="*/ 9143999 w 9143999"/>
                <a:gd name="connsiteY5-98" fmla="*/ 0 h 2051818"/>
                <a:gd name="connsiteX0-99" fmla="*/ 9143999 w 9143999"/>
                <a:gd name="connsiteY0-100" fmla="*/ 0 h 2051818"/>
                <a:gd name="connsiteX1-101" fmla="*/ 9143999 w 9143999"/>
                <a:gd name="connsiteY1-102" fmla="*/ 2051818 h 2051818"/>
                <a:gd name="connsiteX2-103" fmla="*/ 0 w 9143999"/>
                <a:gd name="connsiteY2-104" fmla="*/ 2051818 h 2051818"/>
                <a:gd name="connsiteX3-105" fmla="*/ 0 w 9143999"/>
                <a:gd name="connsiteY3-106" fmla="*/ 1204077 h 2051818"/>
                <a:gd name="connsiteX4-107" fmla="*/ 25380 w 9143999"/>
                <a:gd name="connsiteY4-108" fmla="*/ 54648 h 2051818"/>
                <a:gd name="connsiteX5-109" fmla="*/ 9143999 w 9143999"/>
                <a:gd name="connsiteY5-110" fmla="*/ 0 h 2051818"/>
                <a:gd name="connsiteX0-111" fmla="*/ 9143999 w 9143999"/>
                <a:gd name="connsiteY0-112" fmla="*/ 0 h 2051818"/>
                <a:gd name="connsiteX1-113" fmla="*/ 9143999 w 9143999"/>
                <a:gd name="connsiteY1-114" fmla="*/ 2051818 h 2051818"/>
                <a:gd name="connsiteX2-115" fmla="*/ 0 w 9143999"/>
                <a:gd name="connsiteY2-116" fmla="*/ 2051818 h 2051818"/>
                <a:gd name="connsiteX3-117" fmla="*/ 0 w 9143999"/>
                <a:gd name="connsiteY3-118" fmla="*/ 1204077 h 2051818"/>
                <a:gd name="connsiteX4-119" fmla="*/ 25380 w 9143999"/>
                <a:gd name="connsiteY4-120" fmla="*/ 54648 h 2051818"/>
                <a:gd name="connsiteX5-121" fmla="*/ 9143999 w 9143999"/>
                <a:gd name="connsiteY5-122" fmla="*/ 0 h 2051818"/>
                <a:gd name="connsiteX0-123" fmla="*/ 9124647 w 9143999"/>
                <a:gd name="connsiteY0-124" fmla="*/ 0 h 2127943"/>
                <a:gd name="connsiteX1-125" fmla="*/ 9143999 w 9143999"/>
                <a:gd name="connsiteY1-126" fmla="*/ 2127943 h 2127943"/>
                <a:gd name="connsiteX2-127" fmla="*/ 0 w 9143999"/>
                <a:gd name="connsiteY2-128" fmla="*/ 2127943 h 2127943"/>
                <a:gd name="connsiteX3-129" fmla="*/ 0 w 9143999"/>
                <a:gd name="connsiteY3-130" fmla="*/ 1280202 h 2127943"/>
                <a:gd name="connsiteX4-131" fmla="*/ 25380 w 9143999"/>
                <a:gd name="connsiteY4-132" fmla="*/ 130773 h 2127943"/>
                <a:gd name="connsiteX5-133" fmla="*/ 9124647 w 9143999"/>
                <a:gd name="connsiteY5-134" fmla="*/ 0 h 2127943"/>
                <a:gd name="connsiteX0-135" fmla="*/ 9124647 w 9143999"/>
                <a:gd name="connsiteY0-136" fmla="*/ 0 h 2127943"/>
                <a:gd name="connsiteX1-137" fmla="*/ 9143999 w 9143999"/>
                <a:gd name="connsiteY1-138" fmla="*/ 2127943 h 2127943"/>
                <a:gd name="connsiteX2-139" fmla="*/ 0 w 9143999"/>
                <a:gd name="connsiteY2-140" fmla="*/ 2127943 h 2127943"/>
                <a:gd name="connsiteX3-141" fmla="*/ 0 w 9143999"/>
                <a:gd name="connsiteY3-142" fmla="*/ 1280202 h 2127943"/>
                <a:gd name="connsiteX4-143" fmla="*/ 25380 w 9143999"/>
                <a:gd name="connsiteY4-144" fmla="*/ 130773 h 2127943"/>
                <a:gd name="connsiteX5-145" fmla="*/ 9124647 w 9143999"/>
                <a:gd name="connsiteY5-146" fmla="*/ 0 h 2127943"/>
                <a:gd name="connsiteX0-147" fmla="*/ 9124647 w 9143999"/>
                <a:gd name="connsiteY0-148" fmla="*/ 0 h 2127943"/>
                <a:gd name="connsiteX1-149" fmla="*/ 9143999 w 9143999"/>
                <a:gd name="connsiteY1-150" fmla="*/ 2127943 h 2127943"/>
                <a:gd name="connsiteX2-151" fmla="*/ 0 w 9143999"/>
                <a:gd name="connsiteY2-152" fmla="*/ 2127943 h 2127943"/>
                <a:gd name="connsiteX3-153" fmla="*/ 0 w 9143999"/>
                <a:gd name="connsiteY3-154" fmla="*/ 1280202 h 2127943"/>
                <a:gd name="connsiteX4-155" fmla="*/ 6028 w 9143999"/>
                <a:gd name="connsiteY4-156" fmla="*/ 11147 h 2127943"/>
                <a:gd name="connsiteX5-157" fmla="*/ 9124647 w 9143999"/>
                <a:gd name="connsiteY5-158" fmla="*/ 0 h 2127943"/>
                <a:gd name="connsiteX0-159" fmla="*/ 9138134 w 9157486"/>
                <a:gd name="connsiteY0-160" fmla="*/ 0 h 2127943"/>
                <a:gd name="connsiteX1-161" fmla="*/ 9157486 w 9157486"/>
                <a:gd name="connsiteY1-162" fmla="*/ 2127943 h 2127943"/>
                <a:gd name="connsiteX2-163" fmla="*/ 13487 w 9157486"/>
                <a:gd name="connsiteY2-164" fmla="*/ 2127943 h 2127943"/>
                <a:gd name="connsiteX3-165" fmla="*/ 13487 w 9157486"/>
                <a:gd name="connsiteY3-166" fmla="*/ 1280202 h 2127943"/>
                <a:gd name="connsiteX4-167" fmla="*/ 163 w 9157486"/>
                <a:gd name="connsiteY4-168" fmla="*/ 141648 h 2127943"/>
                <a:gd name="connsiteX5-169" fmla="*/ 9138134 w 9157486"/>
                <a:gd name="connsiteY5-170" fmla="*/ 0 h 212794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9157486" h="2127943">
                  <a:moveTo>
                    <a:pt x="9138134" y="0"/>
                  </a:moveTo>
                  <a:lnTo>
                    <a:pt x="9157486" y="2127943"/>
                  </a:lnTo>
                  <a:lnTo>
                    <a:pt x="13487" y="2127943"/>
                  </a:lnTo>
                  <a:lnTo>
                    <a:pt x="13487" y="1280202"/>
                  </a:lnTo>
                  <a:cubicBezTo>
                    <a:pt x="15496" y="857184"/>
                    <a:pt x="-1846" y="564666"/>
                    <a:pt x="163" y="141648"/>
                  </a:cubicBezTo>
                  <a:cubicBezTo>
                    <a:pt x="3568670" y="1577063"/>
                    <a:pt x="7137176" y="1131097"/>
                    <a:pt x="9138134" y="0"/>
                  </a:cubicBezTo>
                  <a:close/>
                </a:path>
              </a:pathLst>
            </a:custGeom>
            <a:solidFill>
              <a:srgbClr val="00596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91843D01-9858-97AF-EE6C-D078CBF52D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4064"/>
            <a:stretch/>
          </p:blipFill>
          <p:spPr>
            <a:xfrm>
              <a:off x="2445830" y="1273949"/>
              <a:ext cx="2265465" cy="608433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09F89-6491-DB83-0A64-766ECF86E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537C3DF-0C19-2C3D-1FD5-03617B429DA2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0DFBF5D6-BDB6-C657-67D8-607068116CC0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06079EB-85D6-496B-BB4B-B0DCA20B0838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933A6668-B4E9-F74E-D76E-2AB692BAEE0A}"/>
              </a:ext>
            </a:extLst>
          </p:cNvPr>
          <p:cNvSpPr txBox="1"/>
          <p:nvPr/>
        </p:nvSpPr>
        <p:spPr>
          <a:xfrm>
            <a:off x="2737200" y="-2123"/>
            <a:ext cx="67175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b="1" dirty="0">
                <a:latin typeface="Arial" panose="020B0604020202020204" pitchFamily="34" charset="0"/>
                <a:cs typeface="Arial" panose="020B0604020202020204" pitchFamily="34" charset="0"/>
              </a:rPr>
              <a:t>Spatial Resolution</a:t>
            </a:r>
            <a:endParaRPr lang="zh-CN" altLang="en-US" sz="48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灯片编号占位符 8">
            <a:extLst>
              <a:ext uri="{FF2B5EF4-FFF2-40B4-BE49-F238E27FC236}">
                <a16:creationId xmlns:a16="http://schemas.microsoft.com/office/drawing/2014/main" id="{5E27AFC0-3413-9E1B-D97A-1E7082E90E17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3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D83603D-1E75-201F-AA28-BC9CD4DBF7D9}"/>
              </a:ext>
            </a:extLst>
          </p:cNvPr>
          <p:cNvSpPr txBox="1"/>
          <p:nvPr/>
        </p:nvSpPr>
        <p:spPr>
          <a:xfrm>
            <a:off x="431086" y="995322"/>
            <a:ext cx="11401459" cy="400110"/>
          </a:xfrm>
          <a:prstGeom prst="rect">
            <a:avLst/>
          </a:prstGeom>
          <a:solidFill>
            <a:srgbClr val="FBEDE3"/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OCT(Optical Coherence Tomography) vs. Ultrasound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6298F61C-087E-E83B-923D-7CF234209E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4371672"/>
                  </p:ext>
                </p:extLst>
              </p:nvPr>
            </p:nvGraphicFramePr>
            <p:xfrm>
              <a:off x="6095999" y="2963842"/>
              <a:ext cx="5616048" cy="2295012"/>
            </p:xfrm>
            <a:graphic>
              <a:graphicData uri="http://schemas.openxmlformats.org/drawingml/2006/table">
                <a:tbl>
                  <a:tblPr firstRow="1" bandRow="1">
                    <a:tableStyleId>{91EBBBCC-DAD2-459C-BE2E-F6DE35CF9A28}</a:tableStyleId>
                  </a:tblPr>
                  <a:tblGrid>
                    <a:gridCol w="1872016">
                      <a:extLst>
                        <a:ext uri="{9D8B030D-6E8A-4147-A177-3AD203B41FA5}">
                          <a16:colId xmlns:a16="http://schemas.microsoft.com/office/drawing/2014/main" val="4114353640"/>
                        </a:ext>
                      </a:extLst>
                    </a:gridCol>
                    <a:gridCol w="1986258">
                      <a:extLst>
                        <a:ext uri="{9D8B030D-6E8A-4147-A177-3AD203B41FA5}">
                          <a16:colId xmlns:a16="http://schemas.microsoft.com/office/drawing/2014/main" val="1222008717"/>
                        </a:ext>
                      </a:extLst>
                    </a:gridCol>
                    <a:gridCol w="1757774">
                      <a:extLst>
                        <a:ext uri="{9D8B030D-6E8A-4147-A177-3AD203B41FA5}">
                          <a16:colId xmlns:a16="http://schemas.microsoft.com/office/drawing/2014/main" val="3573236045"/>
                        </a:ext>
                      </a:extLst>
                    </a:gridCol>
                  </a:tblGrid>
                  <a:tr h="45370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CN" sz="1600" dirty="0"/>
                            <a:t>Performance Indicator</a:t>
                          </a:r>
                          <a:endParaRPr lang="zh-CN" altLang="en-US" sz="1700" dirty="0"/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CN" sz="1600" dirty="0"/>
                            <a:t>OCT </a:t>
                          </a:r>
                          <a:endParaRPr lang="zh-CN" altLang="en-US" sz="1700" dirty="0"/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Clinical </a:t>
                          </a:r>
                        </a:p>
                        <a:p>
                          <a:pPr algn="ctr"/>
                          <a:r>
                            <a:rPr lang="en-US" altLang="zh-C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High-Frequency Ultrasound</a:t>
                          </a:r>
                          <a:endParaRPr lang="zh-CN" altLang="en-US" sz="17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84199" marR="84199" marT="42099" marB="42099" anchor="ctr"/>
                    </a:tc>
                    <a:extLst>
                      <a:ext uri="{0D108BD9-81ED-4DB2-BD59-A6C34878D82A}">
                        <a16:rowId xmlns:a16="http://schemas.microsoft.com/office/drawing/2014/main" val="1257398794"/>
                      </a:ext>
                    </a:extLst>
                  </a:tr>
                  <a:tr h="45370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CN" sz="1600" b="1" dirty="0">
                              <a:solidFill>
                                <a:srgbClr val="10383C"/>
                              </a:solidFill>
                            </a:rPr>
                            <a:t>Detection Medium</a:t>
                          </a:r>
                          <a:endParaRPr lang="zh-CN" altLang="en-US" sz="1700" b="1" dirty="0">
                            <a:solidFill>
                              <a:srgbClr val="10383C"/>
                            </a:solidFill>
                          </a:endParaRPr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marL="0" algn="ctr" defTabSz="914400" rtl="0" eaLnBrk="1" latinLnBrk="0" hangingPunct="1"/>
                          <a:r>
                            <a:rPr lang="en-US" altLang="zh-CN" sz="1600" b="0" dirty="0">
                              <a:solidFill>
                                <a:srgbClr val="10383C"/>
                              </a:solidFill>
                            </a:rPr>
                            <a:t>Near-Infrared </a:t>
                          </a:r>
                        </a:p>
                        <a:p>
                          <a:pPr marL="0" algn="ctr" defTabSz="914400" rtl="0" eaLnBrk="1" latinLnBrk="0" hangingPunct="1"/>
                          <a:r>
                            <a:rPr lang="en-US" altLang="zh-CN" sz="1600" b="0" dirty="0">
                              <a:solidFill>
                                <a:srgbClr val="10383C"/>
                              </a:solidFill>
                            </a:rPr>
                            <a:t>(Low Coherence)</a:t>
                          </a:r>
                          <a:endParaRPr lang="zh-CN" altLang="en-US" sz="1700" b="0" kern="1200" dirty="0">
                            <a:solidFill>
                              <a:srgbClr val="10383C"/>
                            </a:solidFill>
                            <a:latin typeface="Arial" panose="020B0604020202020204" pitchFamily="34" charset="0"/>
                            <a:ea typeface="微软雅黑"/>
                            <a:cs typeface="Arial" panose="020B0604020202020204" pitchFamily="34" charset="0"/>
                          </a:endParaRPr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600" dirty="0">
                              <a:solidFill>
                                <a:srgbClr val="10383C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Sound Waves (10-50 MHz)</a:t>
                          </a:r>
                          <a:endParaRPr lang="zh-CN" altLang="en-US" sz="1700" b="0" kern="1200" dirty="0">
                            <a:solidFill>
                              <a:srgbClr val="10383C"/>
                            </a:solidFill>
                            <a:latin typeface="Arial" panose="020B0604020202020204" pitchFamily="34" charset="0"/>
                            <a:ea typeface="微软雅黑"/>
                            <a:cs typeface="Arial" panose="020B0604020202020204" pitchFamily="34" charset="0"/>
                          </a:endParaRPr>
                        </a:p>
                      </a:txBody>
                      <a:tcPr marL="84199" marR="84199" marT="42099" marB="42099" anchor="ctr"/>
                    </a:tc>
                    <a:extLst>
                      <a:ext uri="{0D108BD9-81ED-4DB2-BD59-A6C34878D82A}">
                        <a16:rowId xmlns:a16="http://schemas.microsoft.com/office/drawing/2014/main" val="3192227226"/>
                      </a:ext>
                    </a:extLst>
                  </a:tr>
                  <a:tr h="45370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marL="0" algn="ctr" defTabSz="914400" rtl="0" eaLnBrk="1" latinLnBrk="0" hangingPunct="1"/>
                          <a:r>
                            <a:rPr lang="en-US" altLang="zh-CN" sz="1600" b="1" dirty="0">
                              <a:solidFill>
                                <a:srgbClr val="10383C"/>
                              </a:solidFill>
                            </a:rPr>
                            <a:t>Axial Resolution</a:t>
                          </a:r>
                          <a:endParaRPr lang="zh-CN" altLang="en-US" sz="1700" b="1" kern="1200" dirty="0">
                            <a:solidFill>
                              <a:srgbClr val="10383C"/>
                            </a:solidFill>
                            <a:latin typeface="Arial"/>
                            <a:ea typeface="微软雅黑"/>
                            <a:cs typeface="+mn-cs"/>
                          </a:endParaRPr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CN" sz="1600" b="0" smtClean="0">
                                    <a:solidFill>
                                      <a:srgbClr val="10383C"/>
                                    </a:solidFill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1 ~ 15 </m:t>
                                </m:r>
                                <m:r>
                                  <a:rPr lang="en-US" altLang="zh-CN" sz="1800" b="0" i="1" kern="1200" dirty="0" smtClean="0">
                                    <a:solidFill>
                                      <a:srgbClr val="10383C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微软雅黑"/>
                                    <a:cs typeface="+mn-cs"/>
                                  </a:rPr>
                                  <m:t>𝜇</m:t>
                                </m:r>
                                <m:r>
                                  <a:rPr lang="en-US" altLang="zh-CN" sz="1800" b="0" i="1" kern="1200" dirty="0" smtClean="0">
                                    <a:solidFill>
                                      <a:srgbClr val="10383C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微软雅黑"/>
                                    <a:cs typeface="+mn-cs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US" altLang="zh-CN" sz="1700" b="0" kern="1200" dirty="0">
                            <a:solidFill>
                              <a:srgbClr val="10383C"/>
                            </a:solidFill>
                            <a:latin typeface="Arial" panose="020B0604020202020204" pitchFamily="34" charset="0"/>
                            <a:ea typeface="微软雅黑"/>
                            <a:cs typeface="Arial" panose="020B0604020202020204" pitchFamily="34" charset="0"/>
                          </a:endParaRPr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600" dirty="0">
                              <a:solidFill>
                                <a:srgbClr val="10383C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~100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800" i="1" kern="1200" dirty="0" smtClean="0">
                                  <a:solidFill>
                                    <a:srgbClr val="10383C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Arial" panose="020B0604020202020204" pitchFamily="34" charset="0"/>
                                </a:rPr>
                                <m:t>𝜇</m:t>
                              </m:r>
                              <m:r>
                                <a:rPr lang="en-US" altLang="zh-CN" sz="1800" i="1" kern="1200" dirty="0" smtClean="0">
                                  <a:solidFill>
                                    <a:srgbClr val="10383C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Arial" panose="020B0604020202020204" pitchFamily="34" charset="0"/>
                                </a:rPr>
                                <m:t>𝑚</m:t>
                              </m:r>
                            </m:oMath>
                          </a14:m>
                          <a:endParaRPr lang="zh-CN" altLang="en-US" sz="1700" b="0" kern="1200" dirty="0">
                            <a:solidFill>
                              <a:srgbClr val="10383C"/>
                            </a:solidFill>
                            <a:latin typeface="Arial" panose="020B0604020202020204" pitchFamily="34" charset="0"/>
                            <a:ea typeface="微软雅黑"/>
                            <a:cs typeface="Arial" panose="020B0604020202020204" pitchFamily="34" charset="0"/>
                          </a:endParaRPr>
                        </a:p>
                      </a:txBody>
                      <a:tcPr marL="84199" marR="84199" marT="42099" marB="42099" anchor="ctr"/>
                    </a:tc>
                    <a:extLst>
                      <a:ext uri="{0D108BD9-81ED-4DB2-BD59-A6C34878D82A}">
                        <a16:rowId xmlns:a16="http://schemas.microsoft.com/office/drawing/2014/main" val="2136048494"/>
                      </a:ext>
                    </a:extLst>
                  </a:tr>
                  <a:tr h="45370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marL="0" algn="ctr" defTabSz="914400" rtl="0" eaLnBrk="1" latinLnBrk="0" hangingPunct="1"/>
                          <a:r>
                            <a:rPr lang="en-US" altLang="zh-CN" sz="1600" b="1" dirty="0">
                              <a:solidFill>
                                <a:srgbClr val="10383C"/>
                              </a:solidFill>
                            </a:rPr>
                            <a:t>Imaging Depth</a:t>
                          </a:r>
                          <a:endParaRPr lang="zh-CN" altLang="en-US" sz="1700" b="1" kern="1200" dirty="0">
                            <a:solidFill>
                              <a:srgbClr val="10383C"/>
                            </a:solidFill>
                            <a:latin typeface="Arial"/>
                            <a:ea typeface="微软雅黑"/>
                            <a:cs typeface="+mn-cs"/>
                          </a:endParaRPr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marL="0" algn="ctr" defTabSz="914400" rtl="0" eaLnBrk="1" latinLnBrk="0" hangingPunct="1"/>
                          <a:r>
                            <a:rPr lang="en-US" altLang="zh-CN" sz="1700" b="1" kern="1200" dirty="0">
                              <a:solidFill>
                                <a:srgbClr val="10383C"/>
                              </a:solidFill>
                              <a:latin typeface="Arial" panose="020B0604020202020204" pitchFamily="34" charset="0"/>
                              <a:ea typeface="微软雅黑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en-US" altLang="zh-CN" sz="1600" b="0" dirty="0">
                              <a:solidFill>
                                <a:srgbClr val="10383C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 ~ 3 mm</a:t>
                          </a:r>
                          <a:endParaRPr lang="zh-CN" altLang="en-US" sz="1700" b="0" kern="1200" dirty="0">
                            <a:solidFill>
                              <a:srgbClr val="10383C"/>
                            </a:solidFill>
                            <a:latin typeface="Arial" panose="020B0604020202020204" pitchFamily="34" charset="0"/>
                            <a:ea typeface="微软雅黑"/>
                            <a:cs typeface="Arial" panose="020B0604020202020204" pitchFamily="34" charset="0"/>
                          </a:endParaRPr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600" dirty="0">
                              <a:solidFill>
                                <a:srgbClr val="10383C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30 ~ 100 mm</a:t>
                          </a:r>
                          <a:endParaRPr lang="zh-CN" altLang="en-US" sz="1700" b="0" kern="1200" dirty="0">
                            <a:solidFill>
                              <a:srgbClr val="10383C"/>
                            </a:solidFill>
                            <a:latin typeface="Arial" panose="020B0604020202020204" pitchFamily="34" charset="0"/>
                            <a:ea typeface="微软雅黑"/>
                            <a:cs typeface="Arial" panose="020B0604020202020204" pitchFamily="34" charset="0"/>
                          </a:endParaRPr>
                        </a:p>
                      </a:txBody>
                      <a:tcPr marL="84199" marR="84199" marT="42099" marB="42099" anchor="ctr"/>
                    </a:tc>
                    <a:extLst>
                      <a:ext uri="{0D108BD9-81ED-4DB2-BD59-A6C34878D82A}">
                        <a16:rowId xmlns:a16="http://schemas.microsoft.com/office/drawing/2014/main" val="193019298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6298F61C-087E-E83B-923D-7CF234209E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4371672"/>
                  </p:ext>
                </p:extLst>
              </p:nvPr>
            </p:nvGraphicFramePr>
            <p:xfrm>
              <a:off x="6095999" y="2963842"/>
              <a:ext cx="5616048" cy="2295012"/>
            </p:xfrm>
            <a:graphic>
              <a:graphicData uri="http://schemas.openxmlformats.org/drawingml/2006/table">
                <a:tbl>
                  <a:tblPr firstRow="1" bandRow="1">
                    <a:tableStyleId>{91EBBBCC-DAD2-459C-BE2E-F6DE35CF9A28}</a:tableStyleId>
                  </a:tblPr>
                  <a:tblGrid>
                    <a:gridCol w="1872016">
                      <a:extLst>
                        <a:ext uri="{9D8B030D-6E8A-4147-A177-3AD203B41FA5}">
                          <a16:colId xmlns:a16="http://schemas.microsoft.com/office/drawing/2014/main" val="4114353640"/>
                        </a:ext>
                      </a:extLst>
                    </a:gridCol>
                    <a:gridCol w="1986258">
                      <a:extLst>
                        <a:ext uri="{9D8B030D-6E8A-4147-A177-3AD203B41FA5}">
                          <a16:colId xmlns:a16="http://schemas.microsoft.com/office/drawing/2014/main" val="1222008717"/>
                        </a:ext>
                      </a:extLst>
                    </a:gridCol>
                    <a:gridCol w="1757774">
                      <a:extLst>
                        <a:ext uri="{9D8B030D-6E8A-4147-A177-3AD203B41FA5}">
                          <a16:colId xmlns:a16="http://schemas.microsoft.com/office/drawing/2014/main" val="3573236045"/>
                        </a:ext>
                      </a:extLst>
                    </a:gridCol>
                  </a:tblGrid>
                  <a:tr h="81571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CN" sz="1600" dirty="0"/>
                            <a:t>Performance Indicator</a:t>
                          </a:r>
                          <a:endParaRPr lang="zh-CN" altLang="en-US" sz="1700" dirty="0"/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CN" sz="1600" dirty="0"/>
                            <a:t>OCT </a:t>
                          </a:r>
                          <a:endParaRPr lang="zh-CN" altLang="en-US" sz="1700" dirty="0"/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Clinical </a:t>
                          </a:r>
                        </a:p>
                        <a:p>
                          <a:pPr algn="ctr"/>
                          <a:r>
                            <a:rPr lang="en-US" altLang="zh-CN" sz="1600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High-Frequency Ultrasound</a:t>
                          </a:r>
                          <a:endParaRPr lang="zh-CN" altLang="en-US" sz="170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84199" marR="84199" marT="42099" marB="42099" anchor="ctr"/>
                    </a:tc>
                    <a:extLst>
                      <a:ext uri="{0D108BD9-81ED-4DB2-BD59-A6C34878D82A}">
                        <a16:rowId xmlns:a16="http://schemas.microsoft.com/office/drawing/2014/main" val="1257398794"/>
                      </a:ext>
                    </a:extLst>
                  </a:tr>
                  <a:tr h="57187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CN" sz="1600" b="1" dirty="0">
                              <a:solidFill>
                                <a:srgbClr val="10383C"/>
                              </a:solidFill>
                            </a:rPr>
                            <a:t>Detection Medium</a:t>
                          </a:r>
                          <a:endParaRPr lang="zh-CN" altLang="en-US" sz="1700" b="1" dirty="0">
                            <a:solidFill>
                              <a:srgbClr val="10383C"/>
                            </a:solidFill>
                          </a:endParaRPr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marL="0" algn="ctr" defTabSz="914400" rtl="0" eaLnBrk="1" latinLnBrk="0" hangingPunct="1"/>
                          <a:r>
                            <a:rPr lang="en-US" altLang="zh-CN" sz="1600" b="0" dirty="0">
                              <a:solidFill>
                                <a:srgbClr val="10383C"/>
                              </a:solidFill>
                            </a:rPr>
                            <a:t>Near-Infrared </a:t>
                          </a:r>
                        </a:p>
                        <a:p>
                          <a:pPr marL="0" algn="ctr" defTabSz="914400" rtl="0" eaLnBrk="1" latinLnBrk="0" hangingPunct="1"/>
                          <a:r>
                            <a:rPr lang="en-US" altLang="zh-CN" sz="1600" b="0" dirty="0">
                              <a:solidFill>
                                <a:srgbClr val="10383C"/>
                              </a:solidFill>
                            </a:rPr>
                            <a:t>(Low Coherence)</a:t>
                          </a:r>
                          <a:endParaRPr lang="zh-CN" altLang="en-US" sz="1700" b="0" kern="1200" dirty="0">
                            <a:solidFill>
                              <a:srgbClr val="10383C"/>
                            </a:solidFill>
                            <a:latin typeface="Arial" panose="020B0604020202020204" pitchFamily="34" charset="0"/>
                            <a:ea typeface="微软雅黑"/>
                            <a:cs typeface="Arial" panose="020B0604020202020204" pitchFamily="34" charset="0"/>
                          </a:endParaRPr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600" dirty="0">
                              <a:solidFill>
                                <a:srgbClr val="10383C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Sound Waves (10-50 MHz)</a:t>
                          </a:r>
                          <a:endParaRPr lang="zh-CN" altLang="en-US" sz="1700" b="0" kern="1200" dirty="0">
                            <a:solidFill>
                              <a:srgbClr val="10383C"/>
                            </a:solidFill>
                            <a:latin typeface="Arial" panose="020B0604020202020204" pitchFamily="34" charset="0"/>
                            <a:ea typeface="微软雅黑"/>
                            <a:cs typeface="Arial" panose="020B0604020202020204" pitchFamily="34" charset="0"/>
                          </a:endParaRPr>
                        </a:p>
                      </a:txBody>
                      <a:tcPr marL="84199" marR="84199" marT="42099" marB="42099" anchor="ctr"/>
                    </a:tc>
                    <a:extLst>
                      <a:ext uri="{0D108BD9-81ED-4DB2-BD59-A6C34878D82A}">
                        <a16:rowId xmlns:a16="http://schemas.microsoft.com/office/drawing/2014/main" val="3192227226"/>
                      </a:ext>
                    </a:extLst>
                  </a:tr>
                  <a:tr h="45370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marL="0" algn="ctr" defTabSz="914400" rtl="0" eaLnBrk="1" latinLnBrk="0" hangingPunct="1"/>
                          <a:r>
                            <a:rPr lang="en-US" altLang="zh-CN" sz="1600" b="1" dirty="0">
                              <a:solidFill>
                                <a:srgbClr val="10383C"/>
                              </a:solidFill>
                            </a:rPr>
                            <a:t>Axial Resolution</a:t>
                          </a:r>
                          <a:endParaRPr lang="zh-CN" altLang="en-US" sz="1700" b="1" kern="1200" dirty="0">
                            <a:solidFill>
                              <a:srgbClr val="10383C"/>
                            </a:solidFill>
                            <a:latin typeface="Arial"/>
                            <a:ea typeface="微软雅黑"/>
                            <a:cs typeface="+mn-cs"/>
                          </a:endParaRPr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84199" marR="84199" marT="42099" marB="42099" anchor="ctr">
                        <a:blipFill>
                          <a:blip r:embed="rId4"/>
                          <a:stretch>
                            <a:fillRect l="-94172" t="-312162" r="-88650" b="-1067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84199" marR="84199" marT="42099" marB="42099" anchor="ctr">
                        <a:blipFill>
                          <a:blip r:embed="rId4"/>
                          <a:stretch>
                            <a:fillRect l="-219031" t="-312162" b="-1067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6048494"/>
                      </a:ext>
                    </a:extLst>
                  </a:tr>
                  <a:tr h="45370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marL="0" algn="ctr" defTabSz="914400" rtl="0" eaLnBrk="1" latinLnBrk="0" hangingPunct="1"/>
                          <a:r>
                            <a:rPr lang="en-US" altLang="zh-CN" sz="1600" b="1" dirty="0">
                              <a:solidFill>
                                <a:srgbClr val="10383C"/>
                              </a:solidFill>
                            </a:rPr>
                            <a:t>Imaging Depth</a:t>
                          </a:r>
                          <a:endParaRPr lang="zh-CN" altLang="en-US" sz="1700" b="1" kern="1200" dirty="0">
                            <a:solidFill>
                              <a:srgbClr val="10383C"/>
                            </a:solidFill>
                            <a:latin typeface="Arial"/>
                            <a:ea typeface="微软雅黑"/>
                            <a:cs typeface="+mn-cs"/>
                          </a:endParaRPr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marL="0" algn="ctr" defTabSz="914400" rtl="0" eaLnBrk="1" latinLnBrk="0" hangingPunct="1"/>
                          <a:r>
                            <a:rPr lang="en-US" altLang="zh-CN" sz="1700" b="1" kern="1200" dirty="0">
                              <a:solidFill>
                                <a:srgbClr val="10383C"/>
                              </a:solidFill>
                              <a:latin typeface="Arial" panose="020B0604020202020204" pitchFamily="34" charset="0"/>
                              <a:ea typeface="微软雅黑"/>
                              <a:cs typeface="Arial" panose="020B0604020202020204" pitchFamily="34" charset="0"/>
                            </a:rPr>
                            <a:t> </a:t>
                          </a:r>
                          <a:r>
                            <a:rPr lang="en-US" altLang="zh-CN" sz="1600" b="0" dirty="0">
                              <a:solidFill>
                                <a:srgbClr val="10383C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1 ~ 3 mm</a:t>
                          </a:r>
                          <a:endParaRPr lang="zh-CN" altLang="en-US" sz="1700" b="0" kern="1200" dirty="0">
                            <a:solidFill>
                              <a:srgbClr val="10383C"/>
                            </a:solidFill>
                            <a:latin typeface="Arial" panose="020B0604020202020204" pitchFamily="34" charset="0"/>
                            <a:ea typeface="微软雅黑"/>
                            <a:cs typeface="Arial" panose="020B0604020202020204" pitchFamily="34" charset="0"/>
                          </a:endParaRPr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600" dirty="0">
                              <a:solidFill>
                                <a:srgbClr val="10383C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30 ~ 100 mm</a:t>
                          </a:r>
                          <a:endParaRPr lang="zh-CN" altLang="en-US" sz="1700" b="0" kern="1200" dirty="0">
                            <a:solidFill>
                              <a:srgbClr val="10383C"/>
                            </a:solidFill>
                            <a:latin typeface="Arial" panose="020B0604020202020204" pitchFamily="34" charset="0"/>
                            <a:ea typeface="微软雅黑"/>
                            <a:cs typeface="Arial" panose="020B0604020202020204" pitchFamily="34" charset="0"/>
                          </a:endParaRPr>
                        </a:p>
                      </a:txBody>
                      <a:tcPr marL="84199" marR="84199" marT="42099" marB="42099" anchor="ctr"/>
                    </a:tc>
                    <a:extLst>
                      <a:ext uri="{0D108BD9-81ED-4DB2-BD59-A6C34878D82A}">
                        <a16:rowId xmlns:a16="http://schemas.microsoft.com/office/drawing/2014/main" val="193019298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1B5AA235-6EBD-CD12-1FEB-04820B6A097E}"/>
              </a:ext>
            </a:extLst>
          </p:cNvPr>
          <p:cNvSpPr txBox="1"/>
          <p:nvPr/>
        </p:nvSpPr>
        <p:spPr>
          <a:xfrm>
            <a:off x="431086" y="1516161"/>
            <a:ext cx="74414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OCT, often referred to as "optical ultrasound“, strikes a perfect balance between resolution and depth of penetration.</a:t>
            </a:r>
          </a:p>
          <a:p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9362D1A-2531-071F-6E8D-7D68110AE8F1}"/>
              </a:ext>
            </a:extLst>
          </p:cNvPr>
          <p:cNvSpPr txBox="1"/>
          <p:nvPr/>
        </p:nvSpPr>
        <p:spPr>
          <a:xfrm>
            <a:off x="6131815" y="6371015"/>
            <a:ext cx="5616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i="1" dirty="0">
                <a:solidFill>
                  <a:schemeClr val="bg2">
                    <a:lumMod val="10000"/>
                  </a:schemeClr>
                </a:solidFill>
              </a:rPr>
              <a:t>High Resolution Imaging in Microscopy and Ophthalmology: New Frontiers in Biomedical Optics</a:t>
            </a:r>
            <a:r>
              <a:rPr lang="en-US" altLang="zh-CN" sz="1000" dirty="0">
                <a:solidFill>
                  <a:schemeClr val="bg2">
                    <a:lumMod val="10000"/>
                  </a:schemeClr>
                </a:solidFill>
              </a:rPr>
              <a:t>, edited by J. Roland, J. P. Rolland, and J. Jannick (Springer Nature, 2014).</a:t>
            </a:r>
            <a:endParaRPr lang="zh-CN" altLang="en-US" sz="100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63C55DF-48B4-9476-B2E1-5AFE0A2E2A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086" y="2292667"/>
            <a:ext cx="5216967" cy="363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371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92F24-D274-FF73-1F73-5082CE2E7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4436295-4B53-B45B-2276-DE7A06C0E7CA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9B2A9097-1AC9-FD89-D1FF-849472E19118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0DAFA56-58C6-1914-87F7-5C0C3FA27CB5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1AE9F36B-45A7-FE03-331C-F723C8860FE7}"/>
              </a:ext>
            </a:extLst>
          </p:cNvPr>
          <p:cNvSpPr txBox="1"/>
          <p:nvPr/>
        </p:nvSpPr>
        <p:spPr>
          <a:xfrm>
            <a:off x="2737201" y="0"/>
            <a:ext cx="67175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b="1" dirty="0">
                <a:latin typeface="Arial" panose="020B0604020202020204" pitchFamily="34" charset="0"/>
                <a:cs typeface="Arial" panose="020B0604020202020204" pitchFamily="34" charset="0"/>
              </a:rPr>
              <a:t>Spatial Resolution</a:t>
            </a:r>
            <a:endParaRPr lang="zh-CN" altLang="en-US" sz="48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灯片编号占位符 8">
            <a:extLst>
              <a:ext uri="{FF2B5EF4-FFF2-40B4-BE49-F238E27FC236}">
                <a16:creationId xmlns:a16="http://schemas.microsoft.com/office/drawing/2014/main" id="{07BEB2BE-2F60-3C86-673C-0BDBD5F5D635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4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C5AB2053-8721-E880-A7A4-E47DAA697542}"/>
              </a:ext>
            </a:extLst>
          </p:cNvPr>
          <p:cNvGrpSpPr/>
          <p:nvPr/>
        </p:nvGrpSpPr>
        <p:grpSpPr>
          <a:xfrm>
            <a:off x="431085" y="1501229"/>
            <a:ext cx="5908755" cy="3624046"/>
            <a:chOff x="431085" y="1501229"/>
            <a:chExt cx="6996781" cy="3624046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1AD0BD1-5ADE-1438-42EE-FD318410A9E3}"/>
                </a:ext>
              </a:extLst>
            </p:cNvPr>
            <p:cNvSpPr/>
            <p:nvPr/>
          </p:nvSpPr>
          <p:spPr>
            <a:xfrm>
              <a:off x="468265" y="1948997"/>
              <a:ext cx="6959601" cy="3176278"/>
            </a:xfrm>
            <a:prstGeom prst="rect">
              <a:avLst/>
            </a:prstGeom>
            <a:noFill/>
            <a:ln w="38100" cap="flat" cmpd="sng" algn="ctr">
              <a:solidFill>
                <a:srgbClr val="10383C"/>
              </a:solidFill>
              <a:prstDash val="lg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" name="Text Box 71">
              <a:extLst>
                <a:ext uri="{FF2B5EF4-FFF2-40B4-BE49-F238E27FC236}">
                  <a16:creationId xmlns:a16="http://schemas.microsoft.com/office/drawing/2014/main" id="{D76037A4-BF7D-B1DB-81D3-DD8F3D991F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085" y="1501229"/>
              <a:ext cx="6996781" cy="399133"/>
            </a:xfrm>
            <a:prstGeom prst="rect">
              <a:avLst/>
            </a:prstGeom>
            <a:solidFill>
              <a:srgbClr val="10383C"/>
            </a:solidFill>
            <a:ln w="9525" cap="flat" cmpd="sng" algn="ctr">
              <a:solidFill>
                <a:srgbClr val="10383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>
              <a:defPPr>
                <a:defRPr lang="en-US"/>
              </a:defPPr>
              <a:lvl1pPr algn="ctr" eaLnBrk="1" hangingPunct="1">
                <a:defRPr sz="2400" b="1" u="sng">
                  <a:solidFill>
                    <a:schemeClr val="bg1"/>
                  </a:solidFill>
                  <a:latin typeface="黑体" pitchFamily="49" charset="-122"/>
                  <a:ea typeface="黑体" pitchFamily="49" charset="-122"/>
                </a:defRPr>
              </a:lvl1pPr>
            </a:lstStyle>
            <a:p>
              <a:pPr marR="0" lvl="0" algn="ctr" defTabSz="91440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zh-CN" u="none" kern="0" dirty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b="0" u="none" kern="0" dirty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Low-Coherence Interferometry</a:t>
              </a:r>
              <a:endPara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93B97C35-E43B-EFD8-0F45-B8A21B38F9E0}"/>
              </a:ext>
            </a:extLst>
          </p:cNvPr>
          <p:cNvSpPr txBox="1"/>
          <p:nvPr/>
        </p:nvSpPr>
        <p:spPr>
          <a:xfrm>
            <a:off x="431086" y="995322"/>
            <a:ext cx="11401459" cy="400110"/>
          </a:xfrm>
          <a:prstGeom prst="rect">
            <a:avLst/>
          </a:prstGeom>
          <a:solidFill>
            <a:srgbClr val="FBEDE3"/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OCT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Core Principle</a:t>
            </a: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1912FACB-E3FF-1A73-6F42-B09A337CEBAB}"/>
              </a:ext>
            </a:extLst>
          </p:cNvPr>
          <p:cNvGrpSpPr/>
          <p:nvPr/>
        </p:nvGrpSpPr>
        <p:grpSpPr>
          <a:xfrm>
            <a:off x="431085" y="5378756"/>
            <a:ext cx="9966051" cy="992145"/>
            <a:chOff x="301355" y="5378756"/>
            <a:chExt cx="9966050" cy="992145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9920B4E2-ABA7-C921-23D6-84BF950ECC92}"/>
                </a:ext>
              </a:extLst>
            </p:cNvPr>
            <p:cNvSpPr txBox="1"/>
            <p:nvPr/>
          </p:nvSpPr>
          <p:spPr>
            <a:xfrm>
              <a:off x="301355" y="5378756"/>
              <a:ext cx="84943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10383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Low-coherence interferometry via a 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Michelson interferometer </a:t>
              </a:r>
              <a:r>
                <a:rPr lang="en-US" altLang="zh-CN" dirty="0">
                  <a:solidFill>
                    <a:srgbClr val="10383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geometry</a:t>
              </a:r>
              <a:endParaRPr lang="zh-CN" altLang="en-US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5D1A6130-E168-01BC-8A4E-F152EB5F06D5}"/>
                </a:ext>
              </a:extLst>
            </p:cNvPr>
            <p:cNvSpPr txBox="1"/>
            <p:nvPr/>
          </p:nvSpPr>
          <p:spPr>
            <a:xfrm>
              <a:off x="301355" y="6001569"/>
              <a:ext cx="99660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10383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Interference occurs only when the optical path difference is strictly within the 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coherence length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F2FD1E20-BF8C-2177-1F9E-923007D1D3F1}"/>
              </a:ext>
            </a:extLst>
          </p:cNvPr>
          <p:cNvGrpSpPr/>
          <p:nvPr/>
        </p:nvGrpSpPr>
        <p:grpSpPr>
          <a:xfrm>
            <a:off x="6837419" y="1598458"/>
            <a:ext cx="4341362" cy="1473097"/>
            <a:chOff x="7535927" y="1573652"/>
            <a:chExt cx="4341362" cy="14730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4">
                  <a:extLst>
                    <a:ext uri="{FF2B5EF4-FFF2-40B4-BE49-F238E27FC236}">
                      <a16:creationId xmlns:a16="http://schemas.microsoft.com/office/drawing/2014/main" id="{68F67666-BEDD-40DD-3967-73CB4FFB44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80672" y="1573652"/>
                  <a:ext cx="4251873" cy="116038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zh-CN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Axial Resolution</a:t>
                  </a:r>
                </a:p>
                <a:p>
                  <a:pPr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i="0" dirty="0" smtClean="0">
                            <a:solidFill>
                              <a:srgbClr val="10383C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i="1" dirty="0" smtClean="0">
                            <a:solidFill>
                              <a:srgbClr val="10383C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i="1" dirty="0" smtClean="0">
                            <a:solidFill>
                              <a:srgbClr val="10383C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i="1" dirty="0" smtClean="0">
                                <a:solidFill>
                                  <a:srgbClr val="10383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 dirty="0" smtClean="0">
                                <a:solidFill>
                                  <a:srgbClr val="10383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func>
                              <m:funcPr>
                                <m:ctrlPr>
                                  <a:rPr lang="en-US" altLang="zh-CN" i="1" dirty="0" smtClean="0">
                                    <a:solidFill>
                                      <a:srgbClr val="10383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i="0" dirty="0" smtClean="0">
                                    <a:solidFill>
                                      <a:srgbClr val="10383C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en-US" altLang="zh-CN" i="1" dirty="0" smtClean="0">
                                    <a:solidFill>
                                      <a:srgbClr val="10383C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func>
                          </m:num>
                          <m:den>
                            <m:r>
                              <a:rPr lang="en-US" altLang="zh-CN" i="1" dirty="0" smtClean="0">
                                <a:solidFill>
                                  <a:srgbClr val="10383C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den>
                        </m:f>
                        <m:f>
                          <m:fPr>
                            <m:ctrlPr>
                              <a:rPr lang="en-US" altLang="zh-CN" i="1" dirty="0" smtClean="0">
                                <a:solidFill>
                                  <a:srgbClr val="10383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i="1" dirty="0" smtClean="0">
                                    <a:solidFill>
                                      <a:srgbClr val="10383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 dirty="0" smtClean="0">
                                    <a:solidFill>
                                      <a:srgbClr val="10383C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US" altLang="zh-CN" i="1" dirty="0" smtClean="0">
                                    <a:solidFill>
                                      <a:srgbClr val="10383C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i="1" dirty="0" smtClean="0">
                                    <a:solidFill>
                                      <a:srgbClr val="10383C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zh-CN" i="0" dirty="0" smtClean="0">
                                <a:solidFill>
                                  <a:srgbClr val="10383C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altLang="zh-CN" i="1" dirty="0" smtClean="0">
                                <a:solidFill>
                                  <a:srgbClr val="10383C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den>
                        </m:f>
                      </m:oMath>
                    </m:oMathPara>
                  </a14:m>
                  <a:endParaRPr lang="en-US" altLang="zh-CN" i="1" dirty="0">
                    <a:latin typeface="Cambria Math" panose="02040503050406030204" pitchFamily="18" charset="0"/>
                  </a:endParaRPr>
                </a:p>
                <a:p>
                  <a:pPr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altLang="zh-CN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5" name="Rectangle 4">
                  <a:extLst>
                    <a:ext uri="{FF2B5EF4-FFF2-40B4-BE49-F238E27FC236}">
                      <a16:creationId xmlns:a16="http://schemas.microsoft.com/office/drawing/2014/main" id="{68F67666-BEDD-40DD-3967-73CB4FFB44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80672" y="1573652"/>
                  <a:ext cx="4251873" cy="1160382"/>
                </a:xfrm>
                <a:prstGeom prst="rect">
                  <a:avLst/>
                </a:prstGeom>
                <a:blipFill>
                  <a:blip r:embed="rId7"/>
                  <a:stretch>
                    <a:fillRect l="-1291" t="-6316" b="-7368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0851022C-C1A6-2662-517F-1FD6BEAB3A78}"/>
                    </a:ext>
                  </a:extLst>
                </p:cNvPr>
                <p:cNvSpPr txBox="1"/>
                <p:nvPr/>
              </p:nvSpPr>
              <p:spPr>
                <a:xfrm>
                  <a:off x="7535927" y="2677417"/>
                  <a:ext cx="434136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solidFill>
                        <a:srgbClr val="10383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(Wider bandwidth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dirty="0" smtClean="0">
                          <a:solidFill>
                            <a:srgbClr val="10383C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b="0" i="1" dirty="0" smtClean="0">
                          <a:solidFill>
                            <a:srgbClr val="10383C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b="0" i="1" dirty="0" smtClean="0">
                          <a:solidFill>
                            <a:srgbClr val="10383C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altLang="zh-CN" i="1" dirty="0">
                      <a:solidFill>
                        <a:srgbClr val="10383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en-US" altLang="zh-CN" dirty="0">
                      <a:solidFill>
                        <a:srgbClr val="10383C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Higher resolution)</a:t>
                  </a:r>
                  <a:endParaRPr lang="zh-CN" altLang="en-US" dirty="0">
                    <a:solidFill>
                      <a:srgbClr val="10383C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0851022C-C1A6-2662-517F-1FD6BEAB3A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5927" y="2677417"/>
                  <a:ext cx="4341362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1264" t="-10000" r="-2809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35BA0AAB-DFF9-4499-8DD6-946386C7F7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5119" y="2197294"/>
            <a:ext cx="4373469" cy="2909767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86F7C5FE-D9CB-78AF-5411-F9D9185ACDC5}"/>
              </a:ext>
            </a:extLst>
          </p:cNvPr>
          <p:cNvSpPr txBox="1"/>
          <p:nvPr/>
        </p:nvSpPr>
        <p:spPr>
          <a:xfrm>
            <a:off x="6837419" y="3786445"/>
            <a:ext cx="44924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Advantages of Ultrafast Lasers: </a:t>
            </a:r>
          </a:p>
          <a:p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According to the Fourier transform limit, a femtosecond pulse inherently possesses an extremely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broad spectral bandwidth</a:t>
            </a:r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9400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463AC-BF09-43CA-D33D-5D1025A85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E0E85D69-E0CA-E184-6CEB-22F2EF390217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A2A11C22-BFC5-F119-DC40-BEABD35AB6AD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CC591D0-E401-37DE-11FB-3BD9B665ED21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灯片编号占位符 8">
            <a:extLst>
              <a:ext uri="{FF2B5EF4-FFF2-40B4-BE49-F238E27FC236}">
                <a16:creationId xmlns:a16="http://schemas.microsoft.com/office/drawing/2014/main" id="{460AE51A-21FD-6664-0BC7-0B09ACAE7DB9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5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06AAFDE-81E2-AAF0-D889-C33302C7F14C}"/>
              </a:ext>
            </a:extLst>
          </p:cNvPr>
          <p:cNvSpPr txBox="1"/>
          <p:nvPr/>
        </p:nvSpPr>
        <p:spPr>
          <a:xfrm>
            <a:off x="431086" y="995322"/>
            <a:ext cx="11401459" cy="400110"/>
          </a:xfrm>
          <a:prstGeom prst="rect">
            <a:avLst/>
          </a:prstGeom>
          <a:solidFill>
            <a:srgbClr val="FBEDE3"/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OCT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Evolution</a:t>
            </a:r>
            <a:endParaRPr lang="en-US" altLang="zh-CN" sz="20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D536717-CEEC-575A-3008-4F59EEE38E59}"/>
              </a:ext>
            </a:extLst>
          </p:cNvPr>
          <p:cNvGrpSpPr/>
          <p:nvPr/>
        </p:nvGrpSpPr>
        <p:grpSpPr>
          <a:xfrm>
            <a:off x="431085" y="1501229"/>
            <a:ext cx="8077189" cy="4526914"/>
            <a:chOff x="431085" y="1501229"/>
            <a:chExt cx="6996781" cy="452691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9A95538-A55C-83D4-9FFC-0F36C3241019}"/>
                </a:ext>
              </a:extLst>
            </p:cNvPr>
            <p:cNvSpPr/>
            <p:nvPr/>
          </p:nvSpPr>
          <p:spPr>
            <a:xfrm>
              <a:off x="468265" y="1948997"/>
              <a:ext cx="6959601" cy="4079146"/>
            </a:xfrm>
            <a:prstGeom prst="rect">
              <a:avLst/>
            </a:prstGeom>
            <a:noFill/>
            <a:ln w="38100" cap="flat" cmpd="sng" algn="ctr">
              <a:solidFill>
                <a:srgbClr val="10383C"/>
              </a:solidFill>
              <a:prstDash val="lg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" name="Text Box 71">
              <a:extLst>
                <a:ext uri="{FF2B5EF4-FFF2-40B4-BE49-F238E27FC236}">
                  <a16:creationId xmlns:a16="http://schemas.microsoft.com/office/drawing/2014/main" id="{69D2C97D-BDD9-ADAE-E621-88F4CA92DC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085" y="1501229"/>
              <a:ext cx="6996781" cy="399133"/>
            </a:xfrm>
            <a:prstGeom prst="rect">
              <a:avLst/>
            </a:prstGeom>
            <a:solidFill>
              <a:srgbClr val="10383C"/>
            </a:solidFill>
            <a:ln w="9525" cap="flat" cmpd="sng" algn="ctr">
              <a:solidFill>
                <a:srgbClr val="10383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>
              <a:defPPr>
                <a:defRPr lang="en-US"/>
              </a:defPPr>
              <a:lvl1pPr algn="ctr" eaLnBrk="1" hangingPunct="1">
                <a:defRPr sz="2400" b="1" u="sng">
                  <a:solidFill>
                    <a:schemeClr val="bg1"/>
                  </a:solidFill>
                  <a:latin typeface="黑体" pitchFamily="49" charset="-122"/>
                  <a:ea typeface="黑体" pitchFamily="49" charset="-122"/>
                </a:defRPr>
              </a:lvl1pPr>
            </a:lstStyle>
            <a:p>
              <a:pPr lvl="0">
                <a:spcBef>
                  <a:spcPts val="1200"/>
                </a:spcBef>
                <a:defRPr/>
              </a:pPr>
              <a:r>
                <a:rPr lang="en-US" altLang="zh-CN" b="0" u="none" kern="0" dirty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SD-OCT</a:t>
              </a:r>
              <a:r>
                <a:rPr lang="zh-CN" altLang="en-US" b="0" u="none" kern="0" dirty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：</a:t>
              </a:r>
              <a:r>
                <a:rPr lang="en-US" altLang="zh-CN" b="0" u="none" kern="0" dirty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Spectral-Domain OCT</a:t>
              </a:r>
              <a:endPara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C7383210-BC77-A0A4-4A8F-8EC0F062E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18" y="2022068"/>
            <a:ext cx="6313714" cy="395496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37CA4E2D-6357-CEEB-D300-5891E85654AB}"/>
              </a:ext>
            </a:extLst>
          </p:cNvPr>
          <p:cNvSpPr txBox="1"/>
          <p:nvPr/>
        </p:nvSpPr>
        <p:spPr>
          <a:xfrm>
            <a:off x="8803456" y="3429000"/>
            <a:ext cx="2615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Eliminates</a:t>
            </a:r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mechanical reference arm scanning</a:t>
            </a:r>
            <a:endParaRPr lang="zh-CN" altLang="en-US" dirty="0">
              <a:solidFill>
                <a:srgbClr val="1038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66EDB91-6BD0-4F7A-CBD2-424C8845C5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7787" y="4438582"/>
            <a:ext cx="3940378" cy="1477328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EE3261DF-BFE1-A65E-F7BE-A537ACCFBDFE}"/>
              </a:ext>
            </a:extLst>
          </p:cNvPr>
          <p:cNvSpPr txBox="1"/>
          <p:nvPr/>
        </p:nvSpPr>
        <p:spPr>
          <a:xfrm>
            <a:off x="6131815" y="6371015"/>
            <a:ext cx="5616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i="1" dirty="0">
                <a:solidFill>
                  <a:schemeClr val="bg2">
                    <a:lumMod val="10000"/>
                  </a:schemeClr>
                </a:solidFill>
              </a:rPr>
              <a:t>High Resolution Imaging in Microscopy and Ophthalmology: New Frontiers in Biomedical Optics</a:t>
            </a:r>
            <a:r>
              <a:rPr lang="en-US" altLang="zh-CN" sz="1000" dirty="0">
                <a:solidFill>
                  <a:schemeClr val="bg2">
                    <a:lumMod val="10000"/>
                  </a:schemeClr>
                </a:solidFill>
              </a:rPr>
              <a:t>, edited by J. Roland, J. P. Rolland, and J. Jannick (Springer Nature, 2014).</a:t>
            </a:r>
            <a:endParaRPr lang="zh-CN" altLang="en-US" sz="1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FA388CC-531D-95D1-F4C5-940F8DE31FB5}"/>
              </a:ext>
            </a:extLst>
          </p:cNvPr>
          <p:cNvSpPr txBox="1"/>
          <p:nvPr/>
        </p:nvSpPr>
        <p:spPr>
          <a:xfrm>
            <a:off x="8803456" y="1481499"/>
            <a:ext cx="29145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Coherent information from all depths is acquired in the frequency domain using a spectrometer</a:t>
            </a:r>
          </a:p>
        </p:txBody>
      </p:sp>
      <p:sp>
        <p:nvSpPr>
          <p:cNvPr id="24" name="箭头: 圆角右 23">
            <a:extLst>
              <a:ext uri="{FF2B5EF4-FFF2-40B4-BE49-F238E27FC236}">
                <a16:creationId xmlns:a16="http://schemas.microsoft.com/office/drawing/2014/main" id="{406C7F7A-0A66-C5B7-B7E6-0ADDEFCFF602}"/>
              </a:ext>
            </a:extLst>
          </p:cNvPr>
          <p:cNvSpPr/>
          <p:nvPr/>
        </p:nvSpPr>
        <p:spPr>
          <a:xfrm>
            <a:off x="3750105" y="4955177"/>
            <a:ext cx="657682" cy="296092"/>
          </a:xfrm>
          <a:prstGeom prst="ben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579775B-685F-62E6-B548-41211433CFDA}"/>
              </a:ext>
            </a:extLst>
          </p:cNvPr>
          <p:cNvSpPr txBox="1"/>
          <p:nvPr/>
        </p:nvSpPr>
        <p:spPr>
          <a:xfrm>
            <a:off x="9166539" y="4807914"/>
            <a:ext cx="1889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Phase Stability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箭头: 下 25">
            <a:extLst>
              <a:ext uri="{FF2B5EF4-FFF2-40B4-BE49-F238E27FC236}">
                <a16:creationId xmlns:a16="http://schemas.microsoft.com/office/drawing/2014/main" id="{BD1CDF9D-CBF6-747F-28FF-C0643379F139}"/>
              </a:ext>
            </a:extLst>
          </p:cNvPr>
          <p:cNvSpPr/>
          <p:nvPr/>
        </p:nvSpPr>
        <p:spPr>
          <a:xfrm>
            <a:off x="10049691" y="4095037"/>
            <a:ext cx="104503" cy="64633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3A711A7-C14D-F595-AEDF-A119C0892314}"/>
              </a:ext>
            </a:extLst>
          </p:cNvPr>
          <p:cNvSpPr txBox="1"/>
          <p:nvPr/>
        </p:nvSpPr>
        <p:spPr>
          <a:xfrm>
            <a:off x="2737200" y="-2123"/>
            <a:ext cx="67175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b="1" dirty="0">
                <a:latin typeface="Arial" panose="020B0604020202020204" pitchFamily="34" charset="0"/>
                <a:cs typeface="Arial" panose="020B0604020202020204" pitchFamily="34" charset="0"/>
              </a:rPr>
              <a:t>Spatial Resolution</a:t>
            </a:r>
            <a:endParaRPr lang="zh-CN" altLang="en-US" sz="48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012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02E8E-FE2E-21D0-8A86-30EA7B5EA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21C9C4C7-D8BD-13C3-B62B-337253C05F7E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5B39C724-131A-C578-0989-B287D5425614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CECCB1A-CAAE-2FA3-4BA4-92E25C06C530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灯片编号占位符 8">
            <a:extLst>
              <a:ext uri="{FF2B5EF4-FFF2-40B4-BE49-F238E27FC236}">
                <a16:creationId xmlns:a16="http://schemas.microsoft.com/office/drawing/2014/main" id="{EEAB8070-C048-B054-8BE4-845180AE4F99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6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5FDE75A-D681-9046-33A9-2B15543C51C3}"/>
              </a:ext>
            </a:extLst>
          </p:cNvPr>
          <p:cNvSpPr txBox="1"/>
          <p:nvPr/>
        </p:nvSpPr>
        <p:spPr>
          <a:xfrm>
            <a:off x="431086" y="995322"/>
            <a:ext cx="11401459" cy="400110"/>
          </a:xfrm>
          <a:prstGeom prst="rect">
            <a:avLst/>
          </a:prstGeom>
          <a:solidFill>
            <a:srgbClr val="FBEDE3"/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OCT Applications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Structural imaging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2188675-6D59-041F-634A-74CB45B090E6}"/>
              </a:ext>
            </a:extLst>
          </p:cNvPr>
          <p:cNvGrpSpPr/>
          <p:nvPr/>
        </p:nvGrpSpPr>
        <p:grpSpPr>
          <a:xfrm>
            <a:off x="431085" y="1501229"/>
            <a:ext cx="11401460" cy="3624046"/>
            <a:chOff x="431085" y="1501229"/>
            <a:chExt cx="11401460" cy="3624046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1E4CDD44-75AB-17A6-99FB-4EB4FE792E49}"/>
                </a:ext>
              </a:extLst>
            </p:cNvPr>
            <p:cNvSpPr/>
            <p:nvPr/>
          </p:nvSpPr>
          <p:spPr>
            <a:xfrm>
              <a:off x="468265" y="1948997"/>
              <a:ext cx="11364280" cy="3176278"/>
            </a:xfrm>
            <a:prstGeom prst="rect">
              <a:avLst/>
            </a:prstGeom>
            <a:noFill/>
            <a:ln w="38100" cap="flat" cmpd="sng" algn="ctr">
              <a:solidFill>
                <a:srgbClr val="10383C"/>
              </a:solidFill>
              <a:prstDash val="lg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1" name="Text Box 71">
              <a:extLst>
                <a:ext uri="{FF2B5EF4-FFF2-40B4-BE49-F238E27FC236}">
                  <a16:creationId xmlns:a16="http://schemas.microsoft.com/office/drawing/2014/main" id="{3CED6FF0-6218-1BE4-545E-B5EE2B956E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085" y="1501229"/>
              <a:ext cx="11401459" cy="399133"/>
            </a:xfrm>
            <a:prstGeom prst="rect">
              <a:avLst/>
            </a:prstGeom>
            <a:solidFill>
              <a:srgbClr val="10383C"/>
            </a:solidFill>
            <a:ln w="9525" cap="flat" cmpd="sng" algn="ctr">
              <a:solidFill>
                <a:srgbClr val="10383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>
              <a:defPPr>
                <a:defRPr lang="en-US"/>
              </a:defPPr>
              <a:lvl1pPr algn="ctr" eaLnBrk="1" hangingPunct="1">
                <a:defRPr sz="2400" b="1" u="sng">
                  <a:solidFill>
                    <a:schemeClr val="bg1"/>
                  </a:solidFill>
                  <a:latin typeface="黑体" pitchFamily="49" charset="-122"/>
                  <a:ea typeface="黑体" pitchFamily="49" charset="-122"/>
                </a:defRPr>
              </a:lvl1pPr>
            </a:lstStyle>
            <a:p>
              <a:pPr>
                <a:spcBef>
                  <a:spcPts val="1200"/>
                </a:spcBef>
                <a:defRPr/>
              </a:pPr>
              <a:r>
                <a:rPr lang="en-US" altLang="zh-CN" u="none" kern="0" dirty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u="none" dirty="0">
                  <a:latin typeface="Arial" panose="020B0604020202020204" pitchFamily="34" charset="0"/>
                  <a:cs typeface="Arial" panose="020B0604020202020204" pitchFamily="34" charset="0"/>
                </a:rPr>
                <a:t>Optical Biopsy of Retinal Layers</a:t>
              </a:r>
              <a:r>
                <a:rPr lang="en-US" altLang="zh-CN" u="none" kern="0" dirty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endParaRPr lang="zh-CN" altLang="en-US" u="none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937387EB-F089-CEE0-F051-D3A7BD539F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58602" y="2006159"/>
              <a:ext cx="8874795" cy="2962924"/>
            </a:xfrm>
            <a:prstGeom prst="rect">
              <a:avLst/>
            </a:prstGeom>
          </p:spPr>
        </p:pic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9592667A-7818-9EDB-676E-5CED25B02F8A}"/>
              </a:ext>
            </a:extLst>
          </p:cNvPr>
          <p:cNvSpPr txBox="1"/>
          <p:nvPr/>
        </p:nvSpPr>
        <p:spPr>
          <a:xfrm>
            <a:off x="3082834" y="5590903"/>
            <a:ext cx="2651216" cy="557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8406A72-557C-19FC-B6B7-A8714F7D9918}"/>
              </a:ext>
            </a:extLst>
          </p:cNvPr>
          <p:cNvSpPr txBox="1"/>
          <p:nvPr/>
        </p:nvSpPr>
        <p:spPr>
          <a:xfrm>
            <a:off x="2283550" y="5590903"/>
            <a:ext cx="7624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High-sensitivity resolution of stratified microstructures of the retina </a:t>
            </a:r>
          </a:p>
          <a:p>
            <a:r>
              <a:rPr lang="en-US" altLang="zh-CN" b="1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the ultra-broad spectrum of ultrafast lasers.</a:t>
            </a:r>
            <a:endParaRPr lang="zh-CN" altLang="en-US" b="1" dirty="0">
              <a:solidFill>
                <a:srgbClr val="1038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1CE5C78-190A-2128-E0D1-32E6378F0273}"/>
              </a:ext>
            </a:extLst>
          </p:cNvPr>
          <p:cNvSpPr txBox="1"/>
          <p:nvPr/>
        </p:nvSpPr>
        <p:spPr>
          <a:xfrm>
            <a:off x="2737200" y="-2123"/>
            <a:ext cx="67175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b="1" dirty="0">
                <a:latin typeface="Arial" panose="020B0604020202020204" pitchFamily="34" charset="0"/>
                <a:cs typeface="Arial" panose="020B0604020202020204" pitchFamily="34" charset="0"/>
              </a:rPr>
              <a:t>Spatial Resolution</a:t>
            </a:r>
            <a:endParaRPr lang="zh-CN" altLang="en-US" sz="48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826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EDDA2-8766-55C4-B7F5-1AD59494D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3F1F556D-637E-0087-B6D2-A3A1160DC7FB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9581AB7E-ABA7-6F96-60FF-DE332705C507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3166D0F-899B-D07E-575D-EB14F12B1629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灯片编号占位符 8">
            <a:extLst>
              <a:ext uri="{FF2B5EF4-FFF2-40B4-BE49-F238E27FC236}">
                <a16:creationId xmlns:a16="http://schemas.microsoft.com/office/drawing/2014/main" id="{CD7857A3-1255-5F25-C436-2B51736DEF6D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7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0FB662C-C61B-5A41-1589-D7CB42AB6389}"/>
              </a:ext>
            </a:extLst>
          </p:cNvPr>
          <p:cNvSpPr/>
          <p:nvPr/>
        </p:nvSpPr>
        <p:spPr>
          <a:xfrm>
            <a:off x="458032" y="1948997"/>
            <a:ext cx="6674287" cy="4382134"/>
          </a:xfrm>
          <a:prstGeom prst="rect">
            <a:avLst/>
          </a:prstGeom>
          <a:noFill/>
          <a:ln w="38100" cap="flat" cmpd="sng" algn="ctr">
            <a:solidFill>
              <a:srgbClr val="10383C"/>
            </a:solidFill>
            <a:prstDash val="lg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1" name="Text Box 71">
            <a:extLst>
              <a:ext uri="{FF2B5EF4-FFF2-40B4-BE49-F238E27FC236}">
                <a16:creationId xmlns:a16="http://schemas.microsoft.com/office/drawing/2014/main" id="{A2BB44C4-F63F-9097-F3FA-34D4A4B13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85" y="1501229"/>
            <a:ext cx="6709943" cy="550662"/>
          </a:xfrm>
          <a:prstGeom prst="rect">
            <a:avLst/>
          </a:prstGeom>
          <a:solidFill>
            <a:srgbClr val="10383C"/>
          </a:solidFill>
          <a:ln w="9525" cap="flat" cmpd="sng" algn="ctr">
            <a:solidFill>
              <a:srgbClr val="10383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>
            <a:defPPr>
              <a:defRPr lang="en-US"/>
            </a:defPPr>
            <a:lvl1pPr algn="ctr" eaLnBrk="1" hangingPunct="1">
              <a:defRPr sz="2400" b="1" u="sng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pPr lvl="0">
              <a:spcBef>
                <a:spcPts val="1200"/>
              </a:spcBef>
              <a:defRPr/>
            </a:pPr>
            <a:r>
              <a:rPr lang="en-US" altLang="zh-CN" u="none" dirty="0">
                <a:latin typeface="Arial" panose="020B0604020202020204" pitchFamily="34" charset="0"/>
                <a:cs typeface="Arial" panose="020B0604020202020204" pitchFamily="34" charset="0"/>
              </a:rPr>
              <a:t>Optical Biopsy of Retinal Layers</a:t>
            </a:r>
            <a:r>
              <a:rPr lang="en-US" altLang="zh-CN" u="none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kumimoji="0" lang="zh-CN" altLang="en-US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FA18644-F5BC-D4B7-8B8A-CB6B0703F1E9}"/>
              </a:ext>
            </a:extLst>
          </p:cNvPr>
          <p:cNvSpPr txBox="1"/>
          <p:nvPr/>
        </p:nvSpPr>
        <p:spPr>
          <a:xfrm>
            <a:off x="431086" y="995322"/>
            <a:ext cx="11401459" cy="400110"/>
          </a:xfrm>
          <a:prstGeom prst="rect">
            <a:avLst/>
          </a:prstGeom>
          <a:solidFill>
            <a:srgbClr val="FBEDE3"/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OCT Applications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Structural imaging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4520D660-FFB7-3DF5-0A4D-6329B907B0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749" y="2096885"/>
            <a:ext cx="2376116" cy="4086358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4ADDF59D-2EBF-E332-3EAE-BBA706478032}"/>
              </a:ext>
            </a:extLst>
          </p:cNvPr>
          <p:cNvSpPr txBox="1"/>
          <p:nvPr/>
        </p:nvSpPr>
        <p:spPr>
          <a:xfrm>
            <a:off x="3121479" y="2498174"/>
            <a:ext cx="2612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patient with </a:t>
            </a:r>
          </a:p>
          <a:p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diabetic macular edema</a:t>
            </a:r>
            <a:endParaRPr lang="zh-CN" altLang="en-US" dirty="0">
              <a:solidFill>
                <a:srgbClr val="1038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C9CA196-A851-A9B1-CBFA-A0EB01584D24}"/>
              </a:ext>
            </a:extLst>
          </p:cNvPr>
          <p:cNvSpPr txBox="1"/>
          <p:nvPr/>
        </p:nvSpPr>
        <p:spPr>
          <a:xfrm>
            <a:off x="3121479" y="3638881"/>
            <a:ext cx="41953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patient with choroidal neovascularization resulting from age-related macular degeneration (AMD)</a:t>
            </a:r>
            <a:endParaRPr lang="zh-CN" altLang="en-US" dirty="0">
              <a:solidFill>
                <a:srgbClr val="1038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8532001-51E9-D6C4-F8BC-914C2B2A9ED5}"/>
              </a:ext>
            </a:extLst>
          </p:cNvPr>
          <p:cNvSpPr txBox="1"/>
          <p:nvPr/>
        </p:nvSpPr>
        <p:spPr>
          <a:xfrm>
            <a:off x="3121479" y="5056587"/>
            <a:ext cx="37011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patient with neovascular </a:t>
            </a:r>
          </a:p>
          <a:p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AMD with extensive subretinal hyperreflective material</a:t>
            </a:r>
            <a:endParaRPr lang="zh-CN" altLang="en-US" dirty="0">
              <a:solidFill>
                <a:srgbClr val="1038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6B1C97B-3517-AFEA-8340-5F3EBB0D73BA}"/>
              </a:ext>
            </a:extLst>
          </p:cNvPr>
          <p:cNvSpPr txBox="1"/>
          <p:nvPr/>
        </p:nvSpPr>
        <p:spPr>
          <a:xfrm>
            <a:off x="2737200" y="-2123"/>
            <a:ext cx="67175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b="1" dirty="0">
                <a:latin typeface="Arial" panose="020B0604020202020204" pitchFamily="34" charset="0"/>
                <a:cs typeface="Arial" panose="020B0604020202020204" pitchFamily="34" charset="0"/>
              </a:rPr>
              <a:t>Spatial Resolution</a:t>
            </a:r>
            <a:endParaRPr lang="zh-CN" altLang="en-US" sz="48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2BF1416-2FA6-C290-D6E1-EF57B3040633}"/>
              </a:ext>
            </a:extLst>
          </p:cNvPr>
          <p:cNvSpPr txBox="1"/>
          <p:nvPr/>
        </p:nvSpPr>
        <p:spPr>
          <a:xfrm>
            <a:off x="7406790" y="2006000"/>
            <a:ext cx="46545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DME diagnosis</a:t>
            </a:r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Real-time assessment of tissue fluid accumulation and cystic edema in areas such as the inner nuclear layer.</a:t>
            </a:r>
            <a:endParaRPr lang="zh-CN" altLang="en-US" dirty="0">
              <a:solidFill>
                <a:srgbClr val="1038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D642E87-06CC-706D-CF5A-E2B20C260553}"/>
              </a:ext>
            </a:extLst>
          </p:cNvPr>
          <p:cNvSpPr txBox="1"/>
          <p:nvPr/>
        </p:nvSpPr>
        <p:spPr>
          <a:xfrm>
            <a:off x="7406790" y="3361882"/>
            <a:ext cx="40059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Drusen Identification</a:t>
            </a:r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Precisely captures the minute bumps caused by the glass film light spot (Drusen) beneath the RPE layer.</a:t>
            </a:r>
            <a:endParaRPr lang="zh-CN" altLang="en-US" dirty="0">
              <a:solidFill>
                <a:srgbClr val="1038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3015CC1-543B-F6E7-DB9E-45CD693396C3}"/>
              </a:ext>
            </a:extLst>
          </p:cNvPr>
          <p:cNvSpPr txBox="1"/>
          <p:nvPr/>
        </p:nvSpPr>
        <p:spPr>
          <a:xfrm>
            <a:off x="7406790" y="4779588"/>
            <a:ext cx="43629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Leakage monitoring</a:t>
            </a:r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Observe the accumulation of subretinal high reflectivity material (SHRM), which is usually an important marker of choroidal neovascularization (CNV) and its activity.</a:t>
            </a:r>
            <a:endParaRPr lang="zh-CN" altLang="en-US" dirty="0">
              <a:solidFill>
                <a:srgbClr val="1038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792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21489-0BE9-37FC-D728-1F7247268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596E424A-28FA-BBFF-75F6-D2FF69283EC6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8054C09E-5A05-E13B-B466-0174A0FAF7A0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F64F547-58BC-A40D-AE58-AFB45464C308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灯片编号占位符 8">
            <a:extLst>
              <a:ext uri="{FF2B5EF4-FFF2-40B4-BE49-F238E27FC236}">
                <a16:creationId xmlns:a16="http://schemas.microsoft.com/office/drawing/2014/main" id="{1A5FB8CB-7AB0-268F-71E4-326276FDF5A0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8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6805A4B-CA7B-DE0E-4CEE-67F9E6658764}"/>
              </a:ext>
            </a:extLst>
          </p:cNvPr>
          <p:cNvSpPr/>
          <p:nvPr/>
        </p:nvSpPr>
        <p:spPr>
          <a:xfrm>
            <a:off x="458032" y="1948997"/>
            <a:ext cx="6674287" cy="4382134"/>
          </a:xfrm>
          <a:prstGeom prst="rect">
            <a:avLst/>
          </a:prstGeom>
          <a:noFill/>
          <a:ln w="38100" cap="flat" cmpd="sng" algn="ctr">
            <a:solidFill>
              <a:srgbClr val="10383C"/>
            </a:solidFill>
            <a:prstDash val="lg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1" name="Text Box 71">
            <a:extLst>
              <a:ext uri="{FF2B5EF4-FFF2-40B4-BE49-F238E27FC236}">
                <a16:creationId xmlns:a16="http://schemas.microsoft.com/office/drawing/2014/main" id="{6439CE95-30CE-E392-2F43-56140FF18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085" y="1501229"/>
            <a:ext cx="6709943" cy="550662"/>
          </a:xfrm>
          <a:prstGeom prst="rect">
            <a:avLst/>
          </a:prstGeom>
          <a:solidFill>
            <a:srgbClr val="10383C"/>
          </a:solidFill>
          <a:ln w="9525" cap="flat" cmpd="sng" algn="ctr">
            <a:solidFill>
              <a:srgbClr val="10383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>
            <a:defPPr>
              <a:defRPr lang="en-US"/>
            </a:defPPr>
            <a:lvl1pPr algn="ctr" eaLnBrk="1" hangingPunct="1">
              <a:defRPr sz="2400" b="1" u="sng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pPr lvl="0">
              <a:spcBef>
                <a:spcPts val="1200"/>
              </a:spcBef>
              <a:defRPr/>
            </a:pPr>
            <a:r>
              <a:rPr lang="en-US" altLang="zh-CN" u="none" dirty="0">
                <a:latin typeface="Arial" panose="020B0604020202020204" pitchFamily="34" charset="0"/>
                <a:cs typeface="Arial" panose="020B0604020202020204" pitchFamily="34" charset="0"/>
              </a:rPr>
              <a:t>Optical Biopsy of Retinal Layers</a:t>
            </a:r>
            <a:r>
              <a:rPr lang="en-US" altLang="zh-CN" u="none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kumimoji="0" lang="zh-CN" altLang="en-US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0A57AB1-BF0A-8B76-C068-C47B1F114D32}"/>
              </a:ext>
            </a:extLst>
          </p:cNvPr>
          <p:cNvSpPr txBox="1"/>
          <p:nvPr/>
        </p:nvSpPr>
        <p:spPr>
          <a:xfrm>
            <a:off x="431086" y="995322"/>
            <a:ext cx="11401459" cy="400110"/>
          </a:xfrm>
          <a:prstGeom prst="rect">
            <a:avLst/>
          </a:prstGeom>
          <a:solidFill>
            <a:srgbClr val="FBEDE3"/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OCT Applications</a:t>
            </a:r>
            <a:r>
              <a:rPr lang="zh-CN" altLang="en-US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Structural imaging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8479F089-E3DA-0E91-1F94-5C614E3C0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749" y="2096885"/>
            <a:ext cx="2376116" cy="4086358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BBF89E08-C188-3796-D9FB-07D5E699FBE6}"/>
              </a:ext>
            </a:extLst>
          </p:cNvPr>
          <p:cNvSpPr txBox="1"/>
          <p:nvPr/>
        </p:nvSpPr>
        <p:spPr>
          <a:xfrm>
            <a:off x="3121479" y="2498174"/>
            <a:ext cx="2612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patient with </a:t>
            </a:r>
          </a:p>
          <a:p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diabetic macular edema</a:t>
            </a:r>
            <a:endParaRPr lang="zh-CN" altLang="en-US" dirty="0">
              <a:solidFill>
                <a:srgbClr val="1038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116165E-A408-A317-B39E-6E5159445891}"/>
              </a:ext>
            </a:extLst>
          </p:cNvPr>
          <p:cNvSpPr txBox="1"/>
          <p:nvPr/>
        </p:nvSpPr>
        <p:spPr>
          <a:xfrm>
            <a:off x="3121479" y="3638881"/>
            <a:ext cx="41953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patient with choroidal neovascularization resulting from age-related macular degeneration (AMD)</a:t>
            </a:r>
            <a:endParaRPr lang="zh-CN" altLang="en-US" dirty="0">
              <a:solidFill>
                <a:srgbClr val="1038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0587090-F36F-08E3-C8B1-3973F22F4F64}"/>
              </a:ext>
            </a:extLst>
          </p:cNvPr>
          <p:cNvSpPr txBox="1"/>
          <p:nvPr/>
        </p:nvSpPr>
        <p:spPr>
          <a:xfrm>
            <a:off x="3121479" y="5056587"/>
            <a:ext cx="37011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patient with neovascular </a:t>
            </a:r>
          </a:p>
          <a:p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AMD with extensive subretinal hyperreflective material</a:t>
            </a:r>
            <a:endParaRPr lang="zh-CN" altLang="en-US" dirty="0">
              <a:solidFill>
                <a:srgbClr val="1038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39A092B-420A-8A97-483B-0B2677D51F48}"/>
              </a:ext>
            </a:extLst>
          </p:cNvPr>
          <p:cNvSpPr txBox="1"/>
          <p:nvPr/>
        </p:nvSpPr>
        <p:spPr>
          <a:xfrm>
            <a:off x="2737200" y="-2123"/>
            <a:ext cx="67175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b="1" dirty="0">
                <a:latin typeface="Arial" panose="020B0604020202020204" pitchFamily="34" charset="0"/>
                <a:cs typeface="Arial" panose="020B0604020202020204" pitchFamily="34" charset="0"/>
              </a:rPr>
              <a:t>Spatial Resolution</a:t>
            </a:r>
            <a:endParaRPr lang="zh-CN" altLang="en-US" sz="48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E097D03-BA25-5122-F4A0-442A0F5A5657}"/>
              </a:ext>
            </a:extLst>
          </p:cNvPr>
          <p:cNvSpPr txBox="1"/>
          <p:nvPr/>
        </p:nvSpPr>
        <p:spPr>
          <a:xfrm>
            <a:off x="7406790" y="2006000"/>
            <a:ext cx="46545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DME diagnosis</a:t>
            </a:r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Real-time assessment of tissue fluid accumulation and cystic edema in areas such as the inner nuclear layer.</a:t>
            </a:r>
            <a:endParaRPr lang="zh-CN" altLang="en-US" dirty="0">
              <a:solidFill>
                <a:srgbClr val="1038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2EE2380-5219-F1FC-ACB6-F1C1D8A8EFC3}"/>
              </a:ext>
            </a:extLst>
          </p:cNvPr>
          <p:cNvSpPr txBox="1"/>
          <p:nvPr/>
        </p:nvSpPr>
        <p:spPr>
          <a:xfrm>
            <a:off x="7406790" y="3361882"/>
            <a:ext cx="40059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Drusen Identification</a:t>
            </a:r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Precisely captures the minute bumps caused by the glass film light spot (Drusen) beneath the RPE layer.</a:t>
            </a:r>
            <a:endParaRPr lang="zh-CN" altLang="en-US" dirty="0">
              <a:solidFill>
                <a:srgbClr val="1038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D69982D-4C83-2A3A-88E2-DE75932DC404}"/>
              </a:ext>
            </a:extLst>
          </p:cNvPr>
          <p:cNvSpPr txBox="1"/>
          <p:nvPr/>
        </p:nvSpPr>
        <p:spPr>
          <a:xfrm>
            <a:off x="7406790" y="4779588"/>
            <a:ext cx="43629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Leakage monitoring</a:t>
            </a:r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Observe the accumulation of subretinal high reflectivity material (SHRM), which is usually an important marker of choroidal neovascularization (CNV) and its activity.</a:t>
            </a:r>
            <a:endParaRPr lang="zh-CN" altLang="en-US" dirty="0">
              <a:solidFill>
                <a:srgbClr val="1038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661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136D8-6520-5352-12E7-C4B5E7776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EC711980-AFAB-8E25-5D62-6187CA0B260A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35457EAE-5C5F-4D7C-0B5D-0AA46620505D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B5857A7-5B75-9279-86BF-A64390569E26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灯片编号占位符 8">
            <a:extLst>
              <a:ext uri="{FF2B5EF4-FFF2-40B4-BE49-F238E27FC236}">
                <a16:creationId xmlns:a16="http://schemas.microsoft.com/office/drawing/2014/main" id="{9108DFEA-A556-98A8-C92F-39D6128848D2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9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B1DB5B-9CFB-1CE2-48D9-419723AFDDF4}"/>
              </a:ext>
            </a:extLst>
          </p:cNvPr>
          <p:cNvSpPr txBox="1"/>
          <p:nvPr/>
        </p:nvSpPr>
        <p:spPr>
          <a:xfrm>
            <a:off x="431086" y="995322"/>
            <a:ext cx="11401459" cy="400110"/>
          </a:xfrm>
          <a:prstGeom prst="rect">
            <a:avLst/>
          </a:prstGeom>
          <a:solidFill>
            <a:srgbClr val="FBEDE3"/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Diagnostic Science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A81C6ED-DB86-4811-08FC-1E1D6ADFA350}"/>
              </a:ext>
            </a:extLst>
          </p:cNvPr>
          <p:cNvSpPr txBox="1"/>
          <p:nvPr/>
        </p:nvSpPr>
        <p:spPr>
          <a:xfrm>
            <a:off x="2737200" y="-2123"/>
            <a:ext cx="67175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b="1" dirty="0"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  <a:endParaRPr lang="zh-CN" altLang="en-US" sz="48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4C03BD8-3362-ED1E-E5FB-2618513C5FB4}"/>
              </a:ext>
            </a:extLst>
          </p:cNvPr>
          <p:cNvSpPr txBox="1"/>
          <p:nvPr/>
        </p:nvSpPr>
        <p:spPr>
          <a:xfrm>
            <a:off x="431086" y="1519449"/>
            <a:ext cx="9300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Ultrafast laser technology is an important tool of modern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label-free</a:t>
            </a:r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biomedical diagnostics.</a:t>
            </a:r>
            <a:endParaRPr lang="zh-CN" altLang="en-US" dirty="0">
              <a:solidFill>
                <a:srgbClr val="1038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9C0295E-FDA6-ED5F-B3CF-CCDA2ABFDC9D}"/>
              </a:ext>
            </a:extLst>
          </p:cNvPr>
          <p:cNvSpPr txBox="1"/>
          <p:nvPr/>
        </p:nvSpPr>
        <p:spPr>
          <a:xfrm>
            <a:off x="431086" y="1933173"/>
            <a:ext cx="52381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Temporal Domain: Transient Dynamics</a:t>
            </a:r>
          </a:p>
          <a:p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Pump-Probe method turns spatial distance into high time resolution. It helps us capture the fast process of heat loss at the molecular level.</a:t>
            </a:r>
            <a:endParaRPr lang="zh-CN" altLang="en-US" dirty="0">
              <a:solidFill>
                <a:srgbClr val="1038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1C76C39-88FD-EF69-2B07-E27CDFC58446}"/>
              </a:ext>
            </a:extLst>
          </p:cNvPr>
          <p:cNvSpPr txBox="1"/>
          <p:nvPr/>
        </p:nvSpPr>
        <p:spPr>
          <a:xfrm>
            <a:off x="431085" y="3255813"/>
            <a:ext cx="48811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Spatial Domain: 3D Anatomy</a:t>
            </a:r>
          </a:p>
          <a:p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OCT uses the features of ultrafast lasers to produce 3D images with extremely high resolution. Unlike traditional tools, it can show deep details clearly without touching the body. </a:t>
            </a:r>
            <a:endParaRPr lang="zh-CN" altLang="en-US" b="1" dirty="0">
              <a:solidFill>
                <a:srgbClr val="1038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0D23D5C-30C7-0D5E-AAFA-C5B0755661C6}"/>
              </a:ext>
            </a:extLst>
          </p:cNvPr>
          <p:cNvSpPr txBox="1"/>
          <p:nvPr/>
        </p:nvSpPr>
        <p:spPr>
          <a:xfrm>
            <a:off x="431084" y="4993883"/>
            <a:ext cx="108116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Future</a:t>
            </a:r>
          </a:p>
          <a:p>
            <a:r>
              <a:rPr lang="en-US" altLang="zh-CN" dirty="0">
                <a:solidFill>
                  <a:srgbClr val="1038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combination of deep learning and functional OCT/Pump-Probe will provide a new imaging tool. It will further improve the quality of medical pictures and offer more help in clinical medicine.</a:t>
            </a:r>
            <a:endParaRPr lang="zh-CN" altLang="en-US" dirty="0">
              <a:solidFill>
                <a:srgbClr val="10383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146" name="Picture 2" descr="诊断| Pantai医院">
            <a:extLst>
              <a:ext uri="{FF2B5EF4-FFF2-40B4-BE49-F238E27FC236}">
                <a16:creationId xmlns:a16="http://schemas.microsoft.com/office/drawing/2014/main" id="{63A4A0FF-A2A2-0A1D-D6EB-6FA849927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2685" y="2316480"/>
            <a:ext cx="4450080" cy="2225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2200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61FB9-4A38-6477-9DB0-7FAA57E25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058A801-3944-E3D2-F8D6-FB2A9EC3F06E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8777ADA9-0D73-273D-B610-75C096B5D573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9D38310-FF61-6645-3FB5-BC23993A50BC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灯片编号占位符 8">
            <a:extLst>
              <a:ext uri="{FF2B5EF4-FFF2-40B4-BE49-F238E27FC236}">
                <a16:creationId xmlns:a16="http://schemas.microsoft.com/office/drawing/2014/main" id="{92381EB3-0B97-7D31-9544-61860A58CD6B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10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0FC1724-126F-A731-849D-18EF6270BA6B}"/>
              </a:ext>
            </a:extLst>
          </p:cNvPr>
          <p:cNvSpPr txBox="1"/>
          <p:nvPr/>
        </p:nvSpPr>
        <p:spPr>
          <a:xfrm>
            <a:off x="2737200" y="-2123"/>
            <a:ext cx="67175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  <a:endParaRPr lang="zh-CN" altLang="en-US" sz="48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5D75E9-B317-E880-8E05-879B24A67385}"/>
              </a:ext>
            </a:extLst>
          </p:cNvPr>
          <p:cNvSpPr txBox="1"/>
          <p:nvPr/>
        </p:nvSpPr>
        <p:spPr>
          <a:xfrm>
            <a:off x="304798" y="883386"/>
            <a:ext cx="11582400" cy="5796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altLang="zh-CN" sz="1400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[1] H.A. Haus, Mode-locking of lasers, IEEE Journal of Selected Topics in Quantum Electronics 6(6) (2000) 1173-1185.</a:t>
            </a:r>
            <a:r>
              <a:rPr lang="en-US" altLang="zh-CN" sz="1400" u="sng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https://doi.org/10.1109/2944.902165</a:t>
            </a:r>
            <a:endParaRPr lang="zh-CN" altLang="zh-CN" sz="1400" dirty="0">
              <a:solidFill>
                <a:srgbClr val="10383C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" panose="02020603050405020304" pitchFamily="18" charset="0"/>
            </a:endParaRPr>
          </a:p>
          <a:p>
            <a:pPr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altLang="zh-CN" sz="1400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[2] A.H. Zewail, </a:t>
            </a:r>
            <a:r>
              <a:rPr lang="en-US" altLang="zh-CN" sz="1400" dirty="0" err="1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Femtochemistry</a:t>
            </a:r>
            <a:r>
              <a:rPr lang="en-US" altLang="zh-CN" sz="1400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:  Atomic-Scale Dynamics of the Chemical Bond, The Journal of Physical Chemistry A 104(24) (2000) 5660-5694.</a:t>
            </a:r>
            <a:r>
              <a:rPr lang="en-US" altLang="zh-CN" sz="1400" u="sng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https://doi.org/10.1021/jp001460h</a:t>
            </a:r>
            <a:endParaRPr lang="zh-CN" altLang="zh-CN" sz="1400" dirty="0">
              <a:solidFill>
                <a:srgbClr val="10383C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" panose="02020603050405020304" pitchFamily="18" charset="0"/>
            </a:endParaRPr>
          </a:p>
          <a:p>
            <a:pPr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altLang="zh-CN" sz="1400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[3] D. Huang, E.A. Swanson, C.P. Lin, J.S. Schuman, W.G. Stinson, W. Chang, M.R. </a:t>
            </a:r>
            <a:r>
              <a:rPr lang="en-US" altLang="zh-CN" sz="1400" dirty="0" err="1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Hee</a:t>
            </a:r>
            <a:r>
              <a:rPr lang="en-US" altLang="zh-CN" sz="1400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, T. Flotte, K. Gregory, C.A. </a:t>
            </a:r>
            <a:r>
              <a:rPr lang="en-US" altLang="zh-CN" sz="1400" dirty="0" err="1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Puliafito</a:t>
            </a:r>
            <a:r>
              <a:rPr lang="en-US" altLang="zh-CN" sz="1400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, J.G. Fujimoto, Optical Coherence Tomography, Science 254(5035) (1991) 1178-1181.</a:t>
            </a:r>
            <a:r>
              <a:rPr lang="en-US" altLang="zh-CN" sz="1400" u="sng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https://doi.org/doi:10.1126/science.1957169</a:t>
            </a:r>
            <a:endParaRPr lang="zh-CN" altLang="zh-CN" sz="1400" dirty="0">
              <a:solidFill>
                <a:srgbClr val="10383C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" panose="02020603050405020304" pitchFamily="18" charset="0"/>
            </a:endParaRPr>
          </a:p>
          <a:p>
            <a:pPr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altLang="zh-CN" sz="1400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[4] I.R. </a:t>
            </a:r>
            <a:r>
              <a:rPr lang="en-US" altLang="zh-CN" sz="1400" dirty="0" err="1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Piletic</a:t>
            </a:r>
            <a:r>
              <a:rPr lang="en-US" altLang="zh-CN" sz="1400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, T.E. Matthews, W.S. Warren, Probing Near-Infrared </a:t>
            </a:r>
            <a:r>
              <a:rPr lang="en-US" altLang="zh-CN" sz="1400" dirty="0" err="1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Photorelaxation</a:t>
            </a:r>
            <a:r>
              <a:rPr lang="en-US" altLang="zh-CN" sz="1400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 Pathways in </a:t>
            </a:r>
            <a:r>
              <a:rPr lang="en-US" altLang="zh-CN" sz="1400" dirty="0" err="1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Eumelanins</a:t>
            </a:r>
            <a:r>
              <a:rPr lang="en-US" altLang="zh-CN" sz="1400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 and </a:t>
            </a:r>
            <a:r>
              <a:rPr lang="en-US" altLang="zh-CN" sz="1400" dirty="0" err="1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Pheomelanins</a:t>
            </a:r>
            <a:r>
              <a:rPr lang="en-US" altLang="zh-CN" sz="1400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, The Journal of Physical Chemistry A 114(43) (2010) 11483-11491.</a:t>
            </a:r>
            <a:r>
              <a:rPr lang="en-US" altLang="zh-CN" sz="1400" u="sng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https://doi.org/10.1021/jp103608d</a:t>
            </a:r>
            <a:endParaRPr lang="zh-CN" altLang="zh-CN" sz="1400" dirty="0">
              <a:solidFill>
                <a:srgbClr val="10383C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" panose="02020603050405020304" pitchFamily="18" charset="0"/>
            </a:endParaRPr>
          </a:p>
          <a:p>
            <a:pPr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altLang="zh-CN" sz="1400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[5] W. Min, S. Lu, S. Chong, R. Roy, G.R. Holtom, X.S. Xie, Imaging chromophores with undetectable fluorescence by stimulated emission microscopy, Nature 461(7267) (2009) 1105-1109.</a:t>
            </a:r>
            <a:r>
              <a:rPr lang="en-US" altLang="zh-CN" sz="1400" u="sng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https://doi.org/10.1038/nature08438</a:t>
            </a:r>
            <a:endParaRPr lang="zh-CN" altLang="zh-CN" sz="1400" dirty="0">
              <a:solidFill>
                <a:srgbClr val="10383C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" panose="02020603050405020304" pitchFamily="18" charset="0"/>
            </a:endParaRPr>
          </a:p>
          <a:p>
            <a:pPr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altLang="zh-CN" sz="1400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[6] T.E. Matthews, I.R. </a:t>
            </a:r>
            <a:r>
              <a:rPr lang="en-US" altLang="zh-CN" sz="1400" dirty="0" err="1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Piletic</a:t>
            </a:r>
            <a:r>
              <a:rPr lang="en-US" altLang="zh-CN" sz="1400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, M.A. Selim, M.J. Simpson, W.S. Warren, Pump-probe imaging differentiates melanoma from melanocytic nevi, Sci </a:t>
            </a:r>
            <a:r>
              <a:rPr lang="en-US" altLang="zh-CN" sz="1400" dirty="0" err="1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Transl</a:t>
            </a:r>
            <a:r>
              <a:rPr lang="en-US" altLang="zh-CN" sz="1400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 Med 3(71) (2011) 71ra15.</a:t>
            </a:r>
            <a:r>
              <a:rPr lang="en-US" altLang="zh-CN" sz="1400" u="sng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https://doi.org/10.1126/scitranslmed.3001604</a:t>
            </a:r>
            <a:endParaRPr lang="zh-CN" altLang="zh-CN" sz="1400" dirty="0">
              <a:solidFill>
                <a:srgbClr val="10383C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" panose="02020603050405020304" pitchFamily="18" charset="0"/>
            </a:endParaRPr>
          </a:p>
          <a:p>
            <a:pPr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altLang="zh-CN" sz="1400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[7] N. Nishizawa, Wideband ultrafast fiber laser sources for OCT and metrology, Journal of Physics B: Atomic, Molecular and Optical Physics 49(18) (2016) 182003.</a:t>
            </a:r>
            <a:r>
              <a:rPr lang="en-US" altLang="zh-CN" sz="1400" u="sng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https://doi.org/10.1088/0953-4075/49/18/182003</a:t>
            </a:r>
            <a:endParaRPr lang="zh-CN" altLang="zh-CN" sz="1400" dirty="0">
              <a:solidFill>
                <a:srgbClr val="10383C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" panose="02020603050405020304" pitchFamily="18" charset="0"/>
            </a:endParaRPr>
          </a:p>
          <a:p>
            <a:pPr algn="l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altLang="zh-CN" sz="1400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</a:rPr>
              <a:t>[8] P. Chen, Z. Long, Q. Cheng, M. Song, W. Wang, R. Liu, Z. Zhang, K. Xia, Z. Yang, L. Qian, S. Bai, X. Wang, P. Yang, P. Xu, E.S. Yousef, R. Wang, On-Chip Supercontinuum Generation Pumped by Short Wavelength Fiber Lasers, Photonics, 2024, p. 440.</a:t>
            </a:r>
            <a:r>
              <a:rPr lang="en-US" altLang="zh-CN" sz="1400" u="sng" dirty="0">
                <a:solidFill>
                  <a:srgbClr val="10383C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" panose="02020603050405020304" pitchFamily="18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10.3390/photonics11050440.</a:t>
            </a:r>
            <a:endParaRPr lang="zh-CN" altLang="zh-CN" sz="1400" dirty="0">
              <a:solidFill>
                <a:srgbClr val="10383C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738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1500767" y="2650336"/>
            <a:ext cx="91904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THANKS FOR ATTENTION</a:t>
            </a:r>
            <a:r>
              <a:rPr kumimoji="0" lang="zh-CN" altLang="en-US" sz="48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！</a:t>
            </a:r>
            <a:endParaRPr kumimoji="0" lang="en-US" altLang="zh-CN" sz="4800" b="0" i="0" u="none" strike="noStrike" kern="1200" cap="none" spc="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</p:txBody>
      </p:sp>
      <p:pic>
        <p:nvPicPr>
          <p:cNvPr id="2" name="图片 1" descr="OIL_logo_white_L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1135" y="5851525"/>
            <a:ext cx="2741930" cy="539115"/>
          </a:xfrm>
          <a:prstGeom prst="rect">
            <a:avLst/>
          </a:prstGeom>
        </p:spPr>
      </p:pic>
      <p:pic>
        <p:nvPicPr>
          <p:cNvPr id="4" name="图片 3" descr="03 南科大与电子系（左右反白）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7855" y="5851525"/>
            <a:ext cx="5452745" cy="59372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67bac95e-b4c4-4236-a94f-860ed59cb660"/>
  <p:tag name="COMMONDATA" val="eyJoZGlkIjoiNzgxN2FmZTI0OTI0NTg5MjgzNjRkMDZhZWRmZTliMz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基础母版样式">
  <a:themeElements>
    <a:clrScheme name="南方科技大学专属配色方案 01">
      <a:dk1>
        <a:srgbClr val="ED6C00"/>
      </a:dk1>
      <a:lt1>
        <a:srgbClr val="FFFFFF"/>
      </a:lt1>
      <a:dk2>
        <a:srgbClr val="01605A"/>
      </a:dk2>
      <a:lt2>
        <a:srgbClr val="F2F2F2"/>
      </a:lt2>
      <a:accent1>
        <a:srgbClr val="003F43"/>
      </a:accent1>
      <a:accent2>
        <a:srgbClr val="ED6C00"/>
      </a:accent2>
      <a:accent3>
        <a:srgbClr val="2BB7B3"/>
      </a:accent3>
      <a:accent4>
        <a:srgbClr val="01605A"/>
      </a:accent4>
      <a:accent5>
        <a:srgbClr val="77D3D2"/>
      </a:accent5>
      <a:accent6>
        <a:srgbClr val="DBF6EF"/>
      </a:accent6>
      <a:hlink>
        <a:srgbClr val="2BB7B3"/>
      </a:hlink>
      <a:folHlink>
        <a:srgbClr val="01605A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19833</TotalTime>
  <Words>1119</Words>
  <Application>Microsoft Office PowerPoint</Application>
  <PresentationFormat>宽屏</PresentationFormat>
  <Paragraphs>104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等线</vt:lpstr>
      <vt:lpstr>思源黑体 CN Bold</vt:lpstr>
      <vt:lpstr>宋体</vt:lpstr>
      <vt:lpstr>微软雅黑</vt:lpstr>
      <vt:lpstr>Arial</vt:lpstr>
      <vt:lpstr>Cambria Math</vt:lpstr>
      <vt:lpstr>Times New Roman</vt:lpstr>
      <vt:lpstr>Wingdings</vt:lpstr>
      <vt:lpstr>基础母版样式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Yaojia Zhang</dc:creator>
  <cp:lastModifiedBy>衍宁 何</cp:lastModifiedBy>
  <cp:revision>90</cp:revision>
  <dcterms:created xsi:type="dcterms:W3CDTF">2019-12-17T11:56:00Z</dcterms:created>
  <dcterms:modified xsi:type="dcterms:W3CDTF">2026-04-15T09:24:31Z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8E12E5B840D04B47B81BBD3139E68710_13</vt:lpwstr>
  </property>
</Properties>
</file>