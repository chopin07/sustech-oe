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50" r:id="rId2"/>
    <p:sldId id="340" r:id="rId3"/>
    <p:sldId id="325" r:id="rId4"/>
    <p:sldId id="383" r:id="rId5"/>
    <p:sldId id="388" r:id="rId6"/>
    <p:sldId id="387" r:id="rId7"/>
    <p:sldId id="389" r:id="rId8"/>
    <p:sldId id="392" r:id="rId9"/>
    <p:sldId id="390" r:id="rId10"/>
    <p:sldId id="393" r:id="rId11"/>
    <p:sldId id="394" r:id="rId12"/>
    <p:sldId id="395" r:id="rId13"/>
    <p:sldId id="396" r:id="rId14"/>
    <p:sldId id="397" r:id="rId15"/>
    <p:sldId id="391" r:id="rId16"/>
    <p:sldId id="400" r:id="rId17"/>
    <p:sldId id="398" r:id="rId18"/>
    <p:sldId id="399" r:id="rId19"/>
    <p:sldId id="37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2500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83C"/>
    <a:srgbClr val="ED6C00"/>
    <a:srgbClr val="000000"/>
    <a:srgbClr val="FFE07D"/>
    <a:srgbClr val="80A43E"/>
    <a:srgbClr val="2D37C6"/>
    <a:srgbClr val="003F43"/>
    <a:srgbClr val="54D1E6"/>
    <a:srgbClr val="B3EAF4"/>
    <a:srgbClr val="29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44" autoAdjust="0"/>
    <p:restoredTop sz="96238" autoAdjust="0"/>
  </p:normalViewPr>
  <p:slideViewPr>
    <p:cSldViewPr snapToGrid="0" showGuides="1">
      <p:cViewPr varScale="1">
        <p:scale>
          <a:sx n="110" d="100"/>
          <a:sy n="110" d="100"/>
        </p:scale>
        <p:origin x="960" y="138"/>
      </p:cViewPr>
      <p:guideLst>
        <p:guide orient="horz" pos="1049"/>
        <p:guide pos="3840"/>
        <p:guide orient="horz" pos="346"/>
        <p:guide orient="horz" pos="2500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0292-D0AB-4893-8458-232C2A1610C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E592D-1E90-4118-BBB3-226543EB4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8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E592D-1E90-4118-BBB3-226543EB4D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3B5B6-FF8F-85A8-F4D3-F851C7F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8B9D-C61E-4DBB-A3F1-F4E3594D7594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659B0E-1F79-5F88-3879-8D31E72F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3755A-C885-7C3C-AC8C-FA4D6972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93A1-78AD-4550-B14C-5DBF6475D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5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6.png"/><Relationship Id="rId7" Type="http://schemas.openxmlformats.org/officeDocument/2006/relationships/image" Target="../media/image1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nature08438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doi.org/10.1021/jp103608d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6" Type="http://schemas.openxmlformats.org/officeDocument/2006/relationships/hyperlink" Target="https://doi.org/doi:10.1126/science.1957169" TargetMode="External"/><Relationship Id="rId11" Type="http://schemas.openxmlformats.org/officeDocument/2006/relationships/hyperlink" Target="https://doi.org/10.3390/photonics11050440" TargetMode="External"/><Relationship Id="rId5" Type="http://schemas.openxmlformats.org/officeDocument/2006/relationships/hyperlink" Target="https://doi.org/10.1021/jp001460h" TargetMode="External"/><Relationship Id="rId10" Type="http://schemas.openxmlformats.org/officeDocument/2006/relationships/hyperlink" Target="https://doi.org/10.1088/0953-4075/49/18/182003" TargetMode="External"/><Relationship Id="rId4" Type="http://schemas.openxmlformats.org/officeDocument/2006/relationships/hyperlink" Target="https://doi.org/10.1109/2944.902165" TargetMode="External"/><Relationship Id="rId9" Type="http://schemas.openxmlformats.org/officeDocument/2006/relationships/hyperlink" Target="https://doi.org/10.1126/scitranslmed.300160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EE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69" y="151765"/>
            <a:ext cx="2076450" cy="540385"/>
          </a:xfrm>
          <a:prstGeom prst="rect">
            <a:avLst/>
          </a:prstGeom>
        </p:spPr>
      </p:pic>
      <p:pic>
        <p:nvPicPr>
          <p:cNvPr id="6" name="图片 5" descr="校徽+中英文校名-左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79" y="27305"/>
            <a:ext cx="2168525" cy="7099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CE2468-13BC-0036-FF90-4C8C5F1017F4}"/>
              </a:ext>
            </a:extLst>
          </p:cNvPr>
          <p:cNvSpPr txBox="1"/>
          <p:nvPr/>
        </p:nvSpPr>
        <p:spPr>
          <a:xfrm>
            <a:off x="8412023" y="5993367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2026.4.21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9A76F9-C25E-EF77-D06F-583A9B2652DB}"/>
              </a:ext>
            </a:extLst>
          </p:cNvPr>
          <p:cNvSpPr txBox="1"/>
          <p:nvPr/>
        </p:nvSpPr>
        <p:spPr>
          <a:xfrm>
            <a:off x="8315602" y="5328067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陈信均 何衍宁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0BC2-6D17-F86B-ADEE-A2597B678111}"/>
              </a:ext>
            </a:extLst>
          </p:cNvPr>
          <p:cNvGrpSpPr/>
          <p:nvPr/>
        </p:nvGrpSpPr>
        <p:grpSpPr>
          <a:xfrm>
            <a:off x="0" y="1230887"/>
            <a:ext cx="12296775" cy="2248341"/>
            <a:chOff x="0" y="1953853"/>
            <a:chExt cx="12296775" cy="274197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881CB42-B81E-A842-884D-5D97AF1897CC}"/>
                </a:ext>
              </a:extLst>
            </p:cNvPr>
            <p:cNvSpPr/>
            <p:nvPr/>
          </p:nvSpPr>
          <p:spPr>
            <a:xfrm>
              <a:off x="0" y="1953853"/>
              <a:ext cx="12192000" cy="27419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BEB2C6A-C93B-DF25-0FEF-42727716F682}"/>
                </a:ext>
              </a:extLst>
            </p:cNvPr>
            <p:cNvSpPr txBox="1"/>
            <p:nvPr/>
          </p:nvSpPr>
          <p:spPr>
            <a:xfrm>
              <a:off x="104775" y="2040932"/>
              <a:ext cx="12192000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Freezing Time and Slicing Space</a:t>
              </a:r>
            </a:p>
            <a:p>
              <a:pPr algn="ctr" eaLnBrk="0"/>
              <a:endPara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0"/>
              <a:r>
                <a:rPr lang="en-US" altLang="zh-CN" sz="4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Ultrafast Laser For </a:t>
              </a:r>
              <a:r>
                <a:rPr lang="en-US" altLang="zh-CN" sz="40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Bioimagine</a:t>
              </a:r>
              <a:endPara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05B7F79F-353A-3F12-D5F0-6237F886EC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36" t="17945" r="5681" b="14755"/>
          <a:stretch>
            <a:fillRect/>
          </a:stretch>
        </p:blipFill>
        <p:spPr>
          <a:xfrm>
            <a:off x="2009235" y="3479229"/>
            <a:ext cx="6815451" cy="3159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8" name="图片 7" descr="色条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C48BF34-A859-CF9F-F5D2-68B51A956623}"/>
              </a:ext>
            </a:extLst>
          </p:cNvPr>
          <p:cNvSpPr txBox="1"/>
          <p:nvPr/>
        </p:nvSpPr>
        <p:spPr>
          <a:xfrm>
            <a:off x="4266883" y="417"/>
            <a:ext cx="36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7EADC3-E83A-41AD-20A9-E076CBEF0BBD}"/>
              </a:ext>
            </a:extLst>
          </p:cNvPr>
          <p:cNvSpPr txBox="1"/>
          <p:nvPr/>
        </p:nvSpPr>
        <p:spPr>
          <a:xfrm>
            <a:off x="6334003" y="2137605"/>
            <a:ext cx="5392329" cy="295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Spatial Resolution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27AADF-28B7-7607-3275-2BD3B5CF8DA3}"/>
              </a:ext>
            </a:extLst>
          </p:cNvPr>
          <p:cNvSpPr/>
          <p:nvPr/>
        </p:nvSpPr>
        <p:spPr>
          <a:xfrm>
            <a:off x="5644166" y="2327697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FAECF4-1532-42E8-F357-4BAC13BF5E25}"/>
              </a:ext>
            </a:extLst>
          </p:cNvPr>
          <p:cNvSpPr/>
          <p:nvPr/>
        </p:nvSpPr>
        <p:spPr>
          <a:xfrm>
            <a:off x="5644166" y="3060195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B29DC5-4BCE-ACA3-ACE7-888043CE84A8}"/>
              </a:ext>
            </a:extLst>
          </p:cNvPr>
          <p:cNvSpPr/>
          <p:nvPr/>
        </p:nvSpPr>
        <p:spPr>
          <a:xfrm>
            <a:off x="5637873" y="3792694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61526B-E889-0C8E-CAAA-2254065DDB20}"/>
              </a:ext>
            </a:extLst>
          </p:cNvPr>
          <p:cNvSpPr/>
          <p:nvPr/>
        </p:nvSpPr>
        <p:spPr>
          <a:xfrm>
            <a:off x="5637873" y="4493845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灯片编号占位符 8">
            <a:extLst>
              <a:ext uri="{FF2B5EF4-FFF2-40B4-BE49-F238E27FC236}">
                <a16:creationId xmlns:a16="http://schemas.microsoft.com/office/drawing/2014/main" id="{2C60763D-21E5-B8CE-41E5-A374D39C77D3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B0CDF9-5489-2A56-146C-0F894796CFCD}"/>
              </a:ext>
            </a:extLst>
          </p:cNvPr>
          <p:cNvGrpSpPr/>
          <p:nvPr/>
        </p:nvGrpSpPr>
        <p:grpSpPr>
          <a:xfrm>
            <a:off x="-1136380" y="828874"/>
            <a:ext cx="6602468" cy="6053955"/>
            <a:chOff x="-1891173" y="1273949"/>
            <a:chExt cx="6602468" cy="608433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8E6CF88-4422-3C32-4669-A07895338AA9}"/>
                </a:ext>
              </a:extLst>
            </p:cNvPr>
            <p:cNvSpPr/>
            <p:nvPr/>
          </p:nvSpPr>
          <p:spPr bwMode="auto">
            <a:xfrm>
              <a:off x="-776856" y="1313402"/>
              <a:ext cx="3738239" cy="6010062"/>
            </a:xfrm>
            <a:prstGeom prst="rect">
              <a:avLst/>
            </a:prstGeom>
            <a:solidFill>
              <a:srgbClr val="1447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B984C6A-0558-476D-5E6A-B02AE2D8E571}"/>
                </a:ext>
              </a:extLst>
            </p:cNvPr>
            <p:cNvSpPr/>
            <p:nvPr/>
          </p:nvSpPr>
          <p:spPr bwMode="auto">
            <a:xfrm rot="5400000" flipV="1">
              <a:off x="609794" y="-68302"/>
              <a:ext cx="964938" cy="3738234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ED4E7BF-A69D-4313-40D8-7F1DA6FF47C4}"/>
                </a:ext>
              </a:extLst>
            </p:cNvPr>
            <p:cNvSpPr/>
            <p:nvPr/>
          </p:nvSpPr>
          <p:spPr bwMode="auto">
            <a:xfrm rot="5400000">
              <a:off x="272770" y="4658660"/>
              <a:ext cx="1624987" cy="3738238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14AE721-B98A-0A14-B9EA-D51A822F911A}"/>
                </a:ext>
              </a:extLst>
            </p:cNvPr>
            <p:cNvGrpSpPr/>
            <p:nvPr/>
          </p:nvGrpSpPr>
          <p:grpSpPr>
            <a:xfrm>
              <a:off x="-1891173" y="1526125"/>
              <a:ext cx="2754050" cy="4646991"/>
              <a:chOff x="0" y="1111187"/>
              <a:chExt cx="2754050" cy="464699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FC51389A-C98B-00EE-20DE-AB07F38175A6}"/>
                  </a:ext>
                </a:extLst>
              </p:cNvPr>
              <p:cNvSpPr/>
              <p:nvPr/>
            </p:nvSpPr>
            <p:spPr>
              <a:xfrm>
                <a:off x="2450246" y="4863799"/>
                <a:ext cx="200570" cy="200570"/>
              </a:xfrm>
              <a:prstGeom prst="ellipse">
                <a:avLst/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7FF44F8-D65A-BA6E-1994-F2C697867D6A}"/>
                  </a:ext>
                </a:extLst>
              </p:cNvPr>
              <p:cNvSpPr/>
              <p:nvPr/>
            </p:nvSpPr>
            <p:spPr>
              <a:xfrm>
                <a:off x="0" y="1111187"/>
                <a:ext cx="312134" cy="312134"/>
              </a:xfrm>
              <a:prstGeom prst="ellipse">
                <a:avLst/>
              </a:prstGeom>
              <a:solidFill>
                <a:schemeClr val="bg1">
                  <a:alpha val="1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D7F0E67-6245-76AC-2617-112059EBCCE0}"/>
                  </a:ext>
                </a:extLst>
              </p:cNvPr>
              <p:cNvSpPr/>
              <p:nvPr/>
            </p:nvSpPr>
            <p:spPr>
              <a:xfrm>
                <a:off x="1114320" y="1611397"/>
                <a:ext cx="904679" cy="904679"/>
              </a:xfrm>
              <a:prstGeom prst="ellipse">
                <a:avLst/>
              </a:prstGeom>
              <a:solidFill>
                <a:schemeClr val="bg1">
                  <a:alpha val="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4C13DFC-030B-20BB-E860-E7B10248885A}"/>
                  </a:ext>
                </a:extLst>
              </p:cNvPr>
              <p:cNvSpPr/>
              <p:nvPr/>
            </p:nvSpPr>
            <p:spPr>
              <a:xfrm>
                <a:off x="854236" y="5460064"/>
                <a:ext cx="298114" cy="298114"/>
              </a:xfrm>
              <a:prstGeom prst="ellipse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27975823-761D-B1C4-7888-371FD1683267}"/>
                  </a:ext>
                </a:extLst>
              </p:cNvPr>
              <p:cNvSpPr/>
              <p:nvPr/>
            </p:nvSpPr>
            <p:spPr>
              <a:xfrm>
                <a:off x="2313236" y="1194804"/>
                <a:ext cx="440814" cy="44081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D3DE16-37E3-6849-D1A5-94B23DFEA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88" r="2150"/>
            <a:stretch/>
          </p:blipFill>
          <p:spPr>
            <a:xfrm>
              <a:off x="-776857" y="2688561"/>
              <a:ext cx="4205077" cy="2667001"/>
            </a:xfrm>
            <a:prstGeom prst="rect">
              <a:avLst/>
            </a:prstGeom>
          </p:spPr>
        </p:pic>
        <p:sp>
          <p:nvSpPr>
            <p:cNvPr id="23" name="任意多边形 38">
              <a:extLst>
                <a:ext uri="{FF2B5EF4-FFF2-40B4-BE49-F238E27FC236}">
                  <a16:creationId xmlns:a16="http://schemas.microsoft.com/office/drawing/2014/main" id="{47E34913-D79A-0981-3803-7E7AFEE15678}"/>
                </a:ext>
              </a:extLst>
            </p:cNvPr>
            <p:cNvSpPr/>
            <p:nvPr/>
          </p:nvSpPr>
          <p:spPr>
            <a:xfrm rot="16200000">
              <a:off x="150555" y="2807160"/>
              <a:ext cx="6010061" cy="3017914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  <a:gd name="connsiteX0-1" fmla="*/ 9143999 w 9143999"/>
                <a:gd name="connsiteY0-2" fmla="*/ 0 h 2051818"/>
                <a:gd name="connsiteX1-3" fmla="*/ 9143999 w 9143999"/>
                <a:gd name="connsiteY1-4" fmla="*/ 2051818 h 2051818"/>
                <a:gd name="connsiteX2-5" fmla="*/ 0 w 9143999"/>
                <a:gd name="connsiteY2-6" fmla="*/ 2051818 h 2051818"/>
                <a:gd name="connsiteX3-7" fmla="*/ 0 w 9143999"/>
                <a:gd name="connsiteY3-8" fmla="*/ 1204077 h 2051818"/>
                <a:gd name="connsiteX4-9" fmla="*/ 6027 w 9143999"/>
                <a:gd name="connsiteY4-10" fmla="*/ 1207403 h 2051818"/>
                <a:gd name="connsiteX5-11" fmla="*/ 9044856 w 9143999"/>
                <a:gd name="connsiteY5-12" fmla="*/ 57555 h 2051818"/>
                <a:gd name="connsiteX6-13" fmla="*/ 9143999 w 9143999"/>
                <a:gd name="connsiteY6-14" fmla="*/ 0 h 2051818"/>
                <a:gd name="connsiteX0-15" fmla="*/ 9143999 w 9143999"/>
                <a:gd name="connsiteY0-16" fmla="*/ 0 h 2051818"/>
                <a:gd name="connsiteX1-17" fmla="*/ 9143999 w 9143999"/>
                <a:gd name="connsiteY1-18" fmla="*/ 2051818 h 2051818"/>
                <a:gd name="connsiteX2-19" fmla="*/ 0 w 9143999"/>
                <a:gd name="connsiteY2-20" fmla="*/ 2051818 h 2051818"/>
                <a:gd name="connsiteX3-21" fmla="*/ 0 w 9143999"/>
                <a:gd name="connsiteY3-22" fmla="*/ 1204077 h 2051818"/>
                <a:gd name="connsiteX4-23" fmla="*/ 6027 w 9143999"/>
                <a:gd name="connsiteY4-24" fmla="*/ 1207403 h 2051818"/>
                <a:gd name="connsiteX5-25" fmla="*/ 9143999 w 9143999"/>
                <a:gd name="connsiteY5-26" fmla="*/ 0 h 2051818"/>
                <a:gd name="connsiteX0-27" fmla="*/ 9143999 w 9143999"/>
                <a:gd name="connsiteY0-28" fmla="*/ 0 h 2051818"/>
                <a:gd name="connsiteX1-29" fmla="*/ 9143999 w 9143999"/>
                <a:gd name="connsiteY1-30" fmla="*/ 2051818 h 2051818"/>
                <a:gd name="connsiteX2-31" fmla="*/ 0 w 9143999"/>
                <a:gd name="connsiteY2-32" fmla="*/ 2051818 h 2051818"/>
                <a:gd name="connsiteX3-33" fmla="*/ 0 w 9143999"/>
                <a:gd name="connsiteY3-34" fmla="*/ 1204077 h 2051818"/>
                <a:gd name="connsiteX4-35" fmla="*/ 6027 w 9143999"/>
                <a:gd name="connsiteY4-36" fmla="*/ 1207403 h 2051818"/>
                <a:gd name="connsiteX5-37" fmla="*/ 9143999 w 9143999"/>
                <a:gd name="connsiteY5-38" fmla="*/ 0 h 2051818"/>
                <a:gd name="connsiteX0-39" fmla="*/ 9143999 w 9143999"/>
                <a:gd name="connsiteY0-40" fmla="*/ 0 h 2051818"/>
                <a:gd name="connsiteX1-41" fmla="*/ 9143999 w 9143999"/>
                <a:gd name="connsiteY1-42" fmla="*/ 2051818 h 2051818"/>
                <a:gd name="connsiteX2-43" fmla="*/ 0 w 9143999"/>
                <a:gd name="connsiteY2-44" fmla="*/ 2051818 h 2051818"/>
                <a:gd name="connsiteX3-45" fmla="*/ 0 w 9143999"/>
                <a:gd name="connsiteY3-46" fmla="*/ 1204077 h 2051818"/>
                <a:gd name="connsiteX4-47" fmla="*/ 6027 w 9143999"/>
                <a:gd name="connsiteY4-48" fmla="*/ 1207403 h 2051818"/>
                <a:gd name="connsiteX5-49" fmla="*/ 9143999 w 9143999"/>
                <a:gd name="connsiteY5-50" fmla="*/ 0 h 2051818"/>
                <a:gd name="connsiteX0-51" fmla="*/ 9143999 w 9143999"/>
                <a:gd name="connsiteY0-52" fmla="*/ 0 h 2051818"/>
                <a:gd name="connsiteX1-53" fmla="*/ 9143999 w 9143999"/>
                <a:gd name="connsiteY1-54" fmla="*/ 2051818 h 2051818"/>
                <a:gd name="connsiteX2-55" fmla="*/ 0 w 9143999"/>
                <a:gd name="connsiteY2-56" fmla="*/ 2051818 h 2051818"/>
                <a:gd name="connsiteX3-57" fmla="*/ 0 w 9143999"/>
                <a:gd name="connsiteY3-58" fmla="*/ 1204077 h 2051818"/>
                <a:gd name="connsiteX4-59" fmla="*/ 6027 w 9143999"/>
                <a:gd name="connsiteY4-60" fmla="*/ 1207403 h 2051818"/>
                <a:gd name="connsiteX5-61" fmla="*/ 9143999 w 9143999"/>
                <a:gd name="connsiteY5-62" fmla="*/ 0 h 2051818"/>
                <a:gd name="connsiteX0-63" fmla="*/ 9143999 w 9143999"/>
                <a:gd name="connsiteY0-64" fmla="*/ 130228 h 2182046"/>
                <a:gd name="connsiteX1-65" fmla="*/ 9143999 w 9143999"/>
                <a:gd name="connsiteY1-66" fmla="*/ 2182046 h 2182046"/>
                <a:gd name="connsiteX2-67" fmla="*/ 0 w 9143999"/>
                <a:gd name="connsiteY2-68" fmla="*/ 2182046 h 2182046"/>
                <a:gd name="connsiteX3-69" fmla="*/ 0 w 9143999"/>
                <a:gd name="connsiteY3-70" fmla="*/ 1334305 h 2182046"/>
                <a:gd name="connsiteX4-71" fmla="*/ 6027 w 9143999"/>
                <a:gd name="connsiteY4-72" fmla="*/ 0 h 2182046"/>
                <a:gd name="connsiteX5-73" fmla="*/ 9143999 w 9143999"/>
                <a:gd name="connsiteY5-74" fmla="*/ 130228 h 2182046"/>
                <a:gd name="connsiteX0-75" fmla="*/ 9143999 w 9143999"/>
                <a:gd name="connsiteY0-76" fmla="*/ 0 h 2051818"/>
                <a:gd name="connsiteX1-77" fmla="*/ 9143999 w 9143999"/>
                <a:gd name="connsiteY1-78" fmla="*/ 2051818 h 2051818"/>
                <a:gd name="connsiteX2-79" fmla="*/ 0 w 9143999"/>
                <a:gd name="connsiteY2-80" fmla="*/ 2051818 h 2051818"/>
                <a:gd name="connsiteX3-81" fmla="*/ 0 w 9143999"/>
                <a:gd name="connsiteY3-82" fmla="*/ 1204077 h 2051818"/>
                <a:gd name="connsiteX4-83" fmla="*/ 25380 w 9143999"/>
                <a:gd name="connsiteY4-84" fmla="*/ 54648 h 2051818"/>
                <a:gd name="connsiteX5-85" fmla="*/ 9143999 w 9143999"/>
                <a:gd name="connsiteY5-86" fmla="*/ 0 h 2051818"/>
                <a:gd name="connsiteX0-87" fmla="*/ 9143999 w 9143999"/>
                <a:gd name="connsiteY0-88" fmla="*/ 0 h 2051818"/>
                <a:gd name="connsiteX1-89" fmla="*/ 9143999 w 9143999"/>
                <a:gd name="connsiteY1-90" fmla="*/ 2051818 h 2051818"/>
                <a:gd name="connsiteX2-91" fmla="*/ 0 w 9143999"/>
                <a:gd name="connsiteY2-92" fmla="*/ 2051818 h 2051818"/>
                <a:gd name="connsiteX3-93" fmla="*/ 0 w 9143999"/>
                <a:gd name="connsiteY3-94" fmla="*/ 1204077 h 2051818"/>
                <a:gd name="connsiteX4-95" fmla="*/ 25380 w 9143999"/>
                <a:gd name="connsiteY4-96" fmla="*/ 54648 h 2051818"/>
                <a:gd name="connsiteX5-97" fmla="*/ 9143999 w 9143999"/>
                <a:gd name="connsiteY5-98" fmla="*/ 0 h 2051818"/>
                <a:gd name="connsiteX0-99" fmla="*/ 9143999 w 9143999"/>
                <a:gd name="connsiteY0-100" fmla="*/ 0 h 2051818"/>
                <a:gd name="connsiteX1-101" fmla="*/ 9143999 w 9143999"/>
                <a:gd name="connsiteY1-102" fmla="*/ 2051818 h 2051818"/>
                <a:gd name="connsiteX2-103" fmla="*/ 0 w 9143999"/>
                <a:gd name="connsiteY2-104" fmla="*/ 2051818 h 2051818"/>
                <a:gd name="connsiteX3-105" fmla="*/ 0 w 9143999"/>
                <a:gd name="connsiteY3-106" fmla="*/ 1204077 h 2051818"/>
                <a:gd name="connsiteX4-107" fmla="*/ 25380 w 9143999"/>
                <a:gd name="connsiteY4-108" fmla="*/ 54648 h 2051818"/>
                <a:gd name="connsiteX5-109" fmla="*/ 9143999 w 9143999"/>
                <a:gd name="connsiteY5-110" fmla="*/ 0 h 2051818"/>
                <a:gd name="connsiteX0-111" fmla="*/ 9143999 w 9143999"/>
                <a:gd name="connsiteY0-112" fmla="*/ 0 h 2051818"/>
                <a:gd name="connsiteX1-113" fmla="*/ 9143999 w 9143999"/>
                <a:gd name="connsiteY1-114" fmla="*/ 2051818 h 2051818"/>
                <a:gd name="connsiteX2-115" fmla="*/ 0 w 9143999"/>
                <a:gd name="connsiteY2-116" fmla="*/ 2051818 h 2051818"/>
                <a:gd name="connsiteX3-117" fmla="*/ 0 w 9143999"/>
                <a:gd name="connsiteY3-118" fmla="*/ 1204077 h 2051818"/>
                <a:gd name="connsiteX4-119" fmla="*/ 25380 w 9143999"/>
                <a:gd name="connsiteY4-120" fmla="*/ 54648 h 2051818"/>
                <a:gd name="connsiteX5-121" fmla="*/ 9143999 w 9143999"/>
                <a:gd name="connsiteY5-122" fmla="*/ 0 h 2051818"/>
                <a:gd name="connsiteX0-123" fmla="*/ 9124647 w 9143999"/>
                <a:gd name="connsiteY0-124" fmla="*/ 0 h 2127943"/>
                <a:gd name="connsiteX1-125" fmla="*/ 9143999 w 9143999"/>
                <a:gd name="connsiteY1-126" fmla="*/ 2127943 h 2127943"/>
                <a:gd name="connsiteX2-127" fmla="*/ 0 w 9143999"/>
                <a:gd name="connsiteY2-128" fmla="*/ 2127943 h 2127943"/>
                <a:gd name="connsiteX3-129" fmla="*/ 0 w 9143999"/>
                <a:gd name="connsiteY3-130" fmla="*/ 1280202 h 2127943"/>
                <a:gd name="connsiteX4-131" fmla="*/ 25380 w 9143999"/>
                <a:gd name="connsiteY4-132" fmla="*/ 130773 h 2127943"/>
                <a:gd name="connsiteX5-133" fmla="*/ 9124647 w 9143999"/>
                <a:gd name="connsiteY5-134" fmla="*/ 0 h 2127943"/>
                <a:gd name="connsiteX0-135" fmla="*/ 9124647 w 9143999"/>
                <a:gd name="connsiteY0-136" fmla="*/ 0 h 2127943"/>
                <a:gd name="connsiteX1-137" fmla="*/ 9143999 w 9143999"/>
                <a:gd name="connsiteY1-138" fmla="*/ 2127943 h 2127943"/>
                <a:gd name="connsiteX2-139" fmla="*/ 0 w 9143999"/>
                <a:gd name="connsiteY2-140" fmla="*/ 2127943 h 2127943"/>
                <a:gd name="connsiteX3-141" fmla="*/ 0 w 9143999"/>
                <a:gd name="connsiteY3-142" fmla="*/ 1280202 h 2127943"/>
                <a:gd name="connsiteX4-143" fmla="*/ 25380 w 9143999"/>
                <a:gd name="connsiteY4-144" fmla="*/ 130773 h 2127943"/>
                <a:gd name="connsiteX5-145" fmla="*/ 9124647 w 9143999"/>
                <a:gd name="connsiteY5-146" fmla="*/ 0 h 2127943"/>
                <a:gd name="connsiteX0-147" fmla="*/ 9124647 w 9143999"/>
                <a:gd name="connsiteY0-148" fmla="*/ 0 h 2127943"/>
                <a:gd name="connsiteX1-149" fmla="*/ 9143999 w 9143999"/>
                <a:gd name="connsiteY1-150" fmla="*/ 2127943 h 2127943"/>
                <a:gd name="connsiteX2-151" fmla="*/ 0 w 9143999"/>
                <a:gd name="connsiteY2-152" fmla="*/ 2127943 h 2127943"/>
                <a:gd name="connsiteX3-153" fmla="*/ 0 w 9143999"/>
                <a:gd name="connsiteY3-154" fmla="*/ 1280202 h 2127943"/>
                <a:gd name="connsiteX4-155" fmla="*/ 6028 w 9143999"/>
                <a:gd name="connsiteY4-156" fmla="*/ 11147 h 2127943"/>
                <a:gd name="connsiteX5-157" fmla="*/ 9124647 w 9143999"/>
                <a:gd name="connsiteY5-158" fmla="*/ 0 h 2127943"/>
                <a:gd name="connsiteX0-159" fmla="*/ 9138134 w 9157486"/>
                <a:gd name="connsiteY0-160" fmla="*/ 0 h 2127943"/>
                <a:gd name="connsiteX1-161" fmla="*/ 9157486 w 9157486"/>
                <a:gd name="connsiteY1-162" fmla="*/ 2127943 h 2127943"/>
                <a:gd name="connsiteX2-163" fmla="*/ 13487 w 9157486"/>
                <a:gd name="connsiteY2-164" fmla="*/ 2127943 h 2127943"/>
                <a:gd name="connsiteX3-165" fmla="*/ 13487 w 9157486"/>
                <a:gd name="connsiteY3-166" fmla="*/ 1280202 h 2127943"/>
                <a:gd name="connsiteX4-167" fmla="*/ 163 w 9157486"/>
                <a:gd name="connsiteY4-168" fmla="*/ 141648 h 2127943"/>
                <a:gd name="connsiteX5-169" fmla="*/ 9138134 w 9157486"/>
                <a:gd name="connsiteY5-170" fmla="*/ 0 h 2127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9157486" h="2127943">
                  <a:moveTo>
                    <a:pt x="9138134" y="0"/>
                  </a:moveTo>
                  <a:lnTo>
                    <a:pt x="9157486" y="2127943"/>
                  </a:lnTo>
                  <a:lnTo>
                    <a:pt x="13487" y="2127943"/>
                  </a:lnTo>
                  <a:lnTo>
                    <a:pt x="13487" y="1280202"/>
                  </a:lnTo>
                  <a:cubicBezTo>
                    <a:pt x="15496" y="857184"/>
                    <a:pt x="-1846" y="564666"/>
                    <a:pt x="163" y="141648"/>
                  </a:cubicBezTo>
                  <a:cubicBezTo>
                    <a:pt x="3568670" y="1577063"/>
                    <a:pt x="7137176" y="1131097"/>
                    <a:pt x="9138134" y="0"/>
                  </a:cubicBezTo>
                  <a:close/>
                </a:path>
              </a:pathLst>
            </a:custGeom>
            <a:solidFill>
              <a:srgbClr val="00596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1843D01-9858-97AF-EE6C-D078CBF52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064"/>
            <a:stretch/>
          </p:blipFill>
          <p:spPr>
            <a:xfrm>
              <a:off x="2445830" y="1273949"/>
              <a:ext cx="2265465" cy="6084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AC9981D-F2ED-8613-3BA5-3DCF681474F6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371ED3B-CE36-1E63-0A57-E15AAD910F3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F89120-DB85-DD4F-0DFA-EB48D06C190A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DD70CC5-85D9-C919-A1C1-8039A5E25800}"/>
              </a:ext>
            </a:extLst>
          </p:cNvPr>
          <p:cNvSpPr txBox="1"/>
          <p:nvPr/>
        </p:nvSpPr>
        <p:spPr>
          <a:xfrm>
            <a:off x="2564289" y="417"/>
            <a:ext cx="800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601DC6B-C92A-510B-958A-136AF1827378}"/>
              </a:ext>
            </a:extLst>
          </p:cNvPr>
          <p:cNvGrpSpPr/>
          <p:nvPr/>
        </p:nvGrpSpPr>
        <p:grpSpPr>
          <a:xfrm>
            <a:off x="766634" y="1455641"/>
            <a:ext cx="5130431" cy="3348912"/>
            <a:chOff x="461356" y="1465750"/>
            <a:chExt cx="4996581" cy="3261541"/>
          </a:xfrm>
          <a:noFill/>
        </p:grpSpPr>
        <p:sp>
          <p:nvSpPr>
            <p:cNvPr id="44" name="Text Box 71">
              <a:extLst>
                <a:ext uri="{FF2B5EF4-FFF2-40B4-BE49-F238E27FC236}">
                  <a16:creationId xmlns:a16="http://schemas.microsoft.com/office/drawing/2014/main" id="{76F261E5-B981-52E2-C927-33FC14A0A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56" y="1465750"/>
              <a:ext cx="4996581" cy="393048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Time: Ca</a:t>
              </a:r>
              <a:r>
                <a:rPr lang="en-US" altLang="zh-CN" sz="2000" u="none" kern="0" dirty="0" err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pturing</a:t>
              </a:r>
              <a:r>
                <a:rPr lang="zh-CN" altLang="en-US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Molecular</a:t>
              </a:r>
              <a:r>
                <a:rPr lang="zh-CN" altLang="en-US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Dynamics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3521FB-9E62-C06E-82CF-CCD95BD1AB19}"/>
                </a:ext>
              </a:extLst>
            </p:cNvPr>
            <p:cNvSpPr/>
            <p:nvPr/>
          </p:nvSpPr>
          <p:spPr>
            <a:xfrm>
              <a:off x="488900" y="1812001"/>
              <a:ext cx="4946247" cy="2915290"/>
            </a:xfrm>
            <a:prstGeom prst="rect">
              <a:avLst/>
            </a:prstGeom>
            <a:grp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sp>
        <p:nvSpPr>
          <p:cNvPr id="50" name="Text Box 71">
            <a:extLst>
              <a:ext uri="{FF2B5EF4-FFF2-40B4-BE49-F238E27FC236}">
                <a16:creationId xmlns:a16="http://schemas.microsoft.com/office/drawing/2014/main" id="{D8C82297-B948-21F1-8FAB-D042DB91F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4671" y="1455641"/>
            <a:ext cx="5130431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u="none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Space: Macroscopic 3D Imagine</a:t>
            </a:r>
            <a:endParaRPr lang="zh-CN" altLang="en-US" sz="2000" u="none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62FF140-80CC-C1F4-4890-268A0E3FB57D}"/>
              </a:ext>
            </a:extLst>
          </p:cNvPr>
          <p:cNvSpPr/>
          <p:nvPr/>
        </p:nvSpPr>
        <p:spPr>
          <a:xfrm>
            <a:off x="6442953" y="1811167"/>
            <a:ext cx="5078749" cy="2993386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EAD1C509-B140-06BE-D953-8515ED79C870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3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0E652-33A8-CEAE-5295-67E000C33D62}"/>
              </a:ext>
            </a:extLst>
          </p:cNvPr>
          <p:cNvSpPr txBox="1"/>
          <p:nvPr/>
        </p:nvSpPr>
        <p:spPr>
          <a:xfrm>
            <a:off x="766635" y="966840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Bottlenecks in Traditional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8C62A91-B4FB-FBC6-D398-2A596FBE92AF}"/>
                  </a:ext>
                </a:extLst>
              </p:cNvPr>
              <p:cNvSpPr txBox="1"/>
              <p:nvPr/>
            </p:nvSpPr>
            <p:spPr>
              <a:xfrm>
                <a:off x="515938" y="4804553"/>
                <a:ext cx="507874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Standard detectors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pPr>
                          <m:e>
                            <m:r>
                              <a:rPr lang="en-US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−9</m:t>
                            </m:r>
                          </m:sup>
                        </m:sSup>
                        <m:r>
                          <a:rPr lang="en-US" altLang="zh-CN" i="0" dirty="0">
                            <a:latin typeface="Cambria Math" panose="02040503050406030204" pitchFamily="18" charset="0"/>
                            <a:ea typeface="Google Sans Text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  <a:ea typeface="Google Sans Text"/>
                          </a:rPr>
                          <m:t>s</m:t>
                        </m:r>
                      </m:e>
                    </m:d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are </a:t>
                </a:r>
                <a14:m>
                  <m:oMath xmlns:m="http://schemas.openxmlformats.org/officeDocument/2006/math">
                    <m:r>
                      <a:rPr lang="en-US" altLang="zh-CN" i="0" dirty="0">
                        <a:latin typeface="Cambria Math" panose="02040503050406030204" pitchFamily="18" charset="0"/>
                        <a:ea typeface="Google Sans Text"/>
                      </a:rPr>
                      <m:t>1000×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 slower than molecular relaxation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pPr>
                          <m:e>
                            <m:r>
                              <a:rPr lang="en-US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−12</m:t>
                            </m:r>
                            <m:r>
                              <m:rPr>
                                <m:nor/>
                              </m:rPr>
                              <a:rPr lang="en-US" altLang="zh-CN" dirty="0">
                                <a:latin typeface="Arial" panose="020B0604020202020204" pitchFamily="34" charset="0"/>
                                <a:ea typeface="Google Sans Text"/>
                                <a:cs typeface="Arial" panose="020B0604020202020204" pitchFamily="34" charset="0"/>
                              </a:rPr>
                              <m:t> 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  <a:ea typeface="Google Sans Text"/>
                          </a:rPr>
                          <m:t>s</m:t>
                        </m:r>
                      </m:e>
                    </m:d>
                  </m:oMath>
                </a14:m>
                <a:endParaRPr lang="en-US" altLang="zh-CN" dirty="0">
                  <a:latin typeface="Arial" panose="020B0604020202020204" pitchFamily="34" charset="0"/>
                  <a:ea typeface="Google Sans Text"/>
                  <a:cs typeface="Arial" panose="020B0604020202020204" pitchFamily="34" charset="0"/>
                </a:endParaRPr>
              </a:p>
              <a:p>
                <a:endParaRPr lang="en-US" altLang="zh-CN" dirty="0">
                  <a:latin typeface="Arial" panose="020B0604020202020204" pitchFamily="34" charset="0"/>
                  <a:ea typeface="Google Sans Text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Clinical markers like Melanin are non-fluorescent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r>
                          <a:rPr lang="zh-CN" altLang="zh-CN" i="0" dirty="0">
                            <a:latin typeface="Cambria Math" panose="02040503050406030204" pitchFamily="18" charset="0"/>
                            <a:ea typeface="Google Sans Text"/>
                          </a:rPr>
                          <m:t>&lt;</m:t>
                        </m:r>
                        <m:sSup>
                          <m:sSupPr>
                            <m:ctrlPr>
                              <a:rPr lang="zh-CN" altLang="zh-CN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pPr>
                          <m:e>
                            <m:r>
                              <a:rPr lang="zh-CN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10</m:t>
                            </m:r>
                          </m:e>
                          <m:sup>
                            <m:r>
                              <a:rPr lang="zh-CN" altLang="zh-CN" i="0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−3</m:t>
                            </m:r>
                          </m:sup>
                        </m:sSup>
                      </m:e>
                    </m:d>
                  </m:oMath>
                </a14:m>
                <a:endParaRPr lang="zh-CN" altLang="zh-CN" dirty="0">
                  <a:latin typeface="Arial" panose="020B0604020202020204" pitchFamily="34" charset="0"/>
                  <a:ea typeface="Google Sans Text"/>
                  <a:cs typeface="Arial" panose="020B0604020202020204" pitchFamily="34" charset="0"/>
                </a:endParaRPr>
              </a:p>
              <a:p>
                <a:endParaRPr lang="en-US" altLang="zh-CN" dirty="0">
                  <a:latin typeface="Arial" panose="020B0604020202020204" pitchFamily="34" charset="0"/>
                  <a:ea typeface="Google Sans Text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Distinguishing between substances is difficult.</a:t>
                </a:r>
                <a:endParaRPr lang="zh-CN" altLang="en-US" dirty="0">
                  <a:latin typeface="Arial" panose="020B0604020202020204" pitchFamily="34" charset="0"/>
                  <a:ea typeface="Google Sans Tex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8C62A91-B4FB-FBC6-D398-2A596FBE9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8" y="4804553"/>
                <a:ext cx="5078749" cy="2031325"/>
              </a:xfrm>
              <a:prstGeom prst="rect">
                <a:avLst/>
              </a:prstGeom>
              <a:blipFill>
                <a:blip r:embed="rId4"/>
                <a:stretch>
                  <a:fillRect l="-840" t="-1502" r="-1441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650E577D-5803-2891-60D2-72D5C3C22E7C}"/>
              </a:ext>
            </a:extLst>
          </p:cNvPr>
          <p:cNvSpPr txBox="1"/>
          <p:nvPr/>
        </p:nvSpPr>
        <p:spPr>
          <a:xfrm>
            <a:off x="6335612" y="4804553"/>
            <a:ext cx="57083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Traditional fundus cameras provide only 2D surface observation</a:t>
            </a:r>
            <a:endParaRPr lang="en-US" altLang="zh-CN" dirty="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High-NA lenses have a very shallow focal depth</a:t>
            </a:r>
            <a:endParaRPr lang="zh-CN" altLang="zh-CN" dirty="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Deep anatomical layers remain blurred under conventional optical methods</a:t>
            </a:r>
            <a:endParaRPr lang="zh-CN" altLang="en-US" dirty="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154006D-9A4C-4869-DAE9-12A4D71A16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94" t="6945" r="5066" b="14429"/>
          <a:stretch>
            <a:fillRect/>
          </a:stretch>
        </p:blipFill>
        <p:spPr>
          <a:xfrm>
            <a:off x="1320980" y="1947909"/>
            <a:ext cx="3796937" cy="2676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E78065F-1B19-1293-CBA6-C03E7E6A5917}"/>
              </a:ext>
            </a:extLst>
          </p:cNvPr>
          <p:cNvSpPr/>
          <p:nvPr/>
        </p:nvSpPr>
        <p:spPr>
          <a:xfrm>
            <a:off x="224902" y="2011680"/>
            <a:ext cx="6730188" cy="4845903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13A084-4FD8-CFB6-459B-F99E194422A5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3" name="图片 2" descr="色条">
              <a:extLst>
                <a:ext uri="{FF2B5EF4-FFF2-40B4-BE49-F238E27FC236}">
                  <a16:creationId xmlns:a16="http://schemas.microsoft.com/office/drawing/2014/main" id="{35B162EC-CB2D-662D-D518-5522D64B7A1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B6D3226-BE88-1857-FD5D-8E94CF8975A3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2529D41-BD92-FAAE-EC55-805E0548AC04}"/>
              </a:ext>
            </a:extLst>
          </p:cNvPr>
          <p:cNvSpPr txBox="1"/>
          <p:nvPr/>
        </p:nvSpPr>
        <p:spPr>
          <a:xfrm>
            <a:off x="3589996" y="-60538"/>
            <a:ext cx="50128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Box 71">
            <a:extLst>
              <a:ext uri="{FF2B5EF4-FFF2-40B4-BE49-F238E27FC236}">
                <a16:creationId xmlns:a16="http://schemas.microsoft.com/office/drawing/2014/main" id="{00933F5F-2AC6-4403-BDF7-DBECC81EC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58" y="1540637"/>
            <a:ext cx="6744476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u="none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and Frequency Differences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A69ADC-19D6-EE1C-66A3-AECE9415A468}"/>
              </a:ext>
            </a:extLst>
          </p:cNvPr>
          <p:cNvSpPr txBox="1"/>
          <p:nvPr/>
        </p:nvSpPr>
        <p:spPr>
          <a:xfrm>
            <a:off x="4251825" y="989947"/>
            <a:ext cx="3881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Ultrafast Laser vs CW</a:t>
            </a:r>
            <a:endParaRPr lang="zh-CN" altLang="en-US" sz="2800" b="1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8106D67-3541-26DB-EB99-3BC6CB8D17E9}"/>
              </a:ext>
            </a:extLst>
          </p:cNvPr>
          <p:cNvGrpSpPr/>
          <p:nvPr/>
        </p:nvGrpSpPr>
        <p:grpSpPr>
          <a:xfrm>
            <a:off x="413531" y="2181448"/>
            <a:ext cx="6265943" cy="4497316"/>
            <a:chOff x="1247629" y="1635667"/>
            <a:chExt cx="5841148" cy="4192424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010789C8-2C79-BDC1-2D94-9E2531132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7629" y="1635667"/>
              <a:ext cx="5841148" cy="2791552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A824FDA6-94AE-098D-56E0-E2431D73D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2193"/>
            <a:stretch>
              <a:fillRect/>
            </a:stretch>
          </p:blipFill>
          <p:spPr>
            <a:xfrm>
              <a:off x="1247629" y="4409072"/>
              <a:ext cx="5841148" cy="141901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6751FF07-DCC5-11F4-D4CF-B9978D7CE439}"/>
                  </a:ext>
                </a:extLst>
              </p:cNvPr>
              <p:cNvSpPr txBox="1"/>
              <p:nvPr/>
            </p:nvSpPr>
            <p:spPr>
              <a:xfrm>
                <a:off x="7131329" y="1667239"/>
                <a:ext cx="5226133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</a:lstStyle>
              <a:p>
                <a:r>
                  <a:rPr lang="sv-SE" altLang="zh-CN" sz="24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Fourier Transform Limit: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𝚫𝛎</m:t>
                      </m:r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sv-SE" altLang="zh-CN" sz="2400" dirty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𝐊</m:t>
                      </m:r>
                    </m:oMath>
                  </m:oMathPara>
                </a14:m>
                <a:endParaRPr lang="en-US" altLang="zh-CN" sz="2400" dirty="0">
                  <a:solidFill>
                    <a:srgbClr val="10383C"/>
                  </a:solidFill>
                  <a:latin typeface="Arial" panose="020B0604020202020204" pitchFamily="34" charset="0"/>
                </a:endParaRPr>
              </a:p>
              <a:p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latin typeface="Arial" panose="020B0604020202020204" pitchFamily="34" charset="0"/>
                  </a:rPr>
                  <a:t>Ultra-short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2400" i="0" dirty="0" smtClean="0">
                        <a:latin typeface="Cambria Math" panose="02040503050406030204" pitchFamily="18" charset="0"/>
                        <a:ea typeface="Google Sans Text"/>
                      </a:rPr>
                      <m:t>Δ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𝑡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</a:rPr>
                  <a:t>:</a:t>
                </a:r>
              </a:p>
              <a:p>
                <a:r>
                  <a:rPr lang="en-US" altLang="zh-CN" sz="2400" dirty="0">
                    <a:solidFill>
                      <a:srgbClr val="10383C"/>
                    </a:solidFill>
                    <a:latin typeface="Arial" panose="020B0604020202020204" pitchFamily="34" charset="0"/>
                  </a:rPr>
                  <a:t>Breaking the bottleneck of electronic  shutter technology: Pump-Probe </a:t>
                </a:r>
              </a:p>
              <a:p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latin typeface="Arial" panose="020B0604020202020204" pitchFamily="34" charset="0"/>
                  </a:rPr>
                  <a:t>Ultra-broad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Δ</m:t>
                    </m:r>
                    <m:r>
                      <a:rPr lang="sv-SE" altLang="zh-CN" sz="24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𝜈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rgbClr val="10383C"/>
                    </a:solidFill>
                    <a:latin typeface="Arial" panose="020B0604020202020204" pitchFamily="34" charset="0"/>
                  </a:rPr>
                  <a:t>Extremely short spatial coherence length: OCT</a:t>
                </a:r>
              </a:p>
              <a:p>
                <a:endParaRPr lang="en-US" altLang="zh-CN" sz="2400" dirty="0">
                  <a:solidFill>
                    <a:srgbClr val="10383C"/>
                  </a:solidFill>
                  <a:latin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Huge instantaneous power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zh-CN" sz="2400" dirty="0">
                  <a:latin typeface="Arial" panose="020B0604020202020204" pitchFamily="34" charset="0"/>
                </a:endParaRPr>
              </a:p>
              <a:p>
                <a:endParaRPr lang="en-US" altLang="zh-CN" sz="24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zh-CN" altLang="en-US" sz="24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6751FF07-DCC5-11F4-D4CF-B9978D7C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329" y="1667239"/>
                <a:ext cx="5226133" cy="6001643"/>
              </a:xfrm>
              <a:prstGeom prst="rect">
                <a:avLst/>
              </a:prstGeom>
              <a:blipFill>
                <a:blip r:embed="rId7"/>
                <a:stretch>
                  <a:fillRect l="-1867" t="-711" r="-2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14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0ADF-633E-6902-D2E5-105A0340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DD39DB5-1E7F-4FFE-7678-A506709AE42C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DFE5BA59-FD28-1D05-1E34-9E41130A80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0C4CE56-6DBC-5E0D-EFFF-29FD8C2DD006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C7AD0D0-052A-1058-A618-FD3F1F019F5D}"/>
              </a:ext>
            </a:extLst>
          </p:cNvPr>
          <p:cNvSpPr txBox="1"/>
          <p:nvPr/>
        </p:nvSpPr>
        <p:spPr>
          <a:xfrm>
            <a:off x="2333445" y="-29709"/>
            <a:ext cx="80043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  <a:p>
            <a:pPr algn="ctr"/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462A6F49-77F4-0C70-9DEC-3B74E954C155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5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9F5C46-82F0-C430-22ED-914046CC6D05}"/>
              </a:ext>
            </a:extLst>
          </p:cNvPr>
          <p:cNvSpPr txBox="1"/>
          <p:nvPr/>
        </p:nvSpPr>
        <p:spPr>
          <a:xfrm>
            <a:off x="766635" y="966840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Technical Principle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A6E6C70-33C2-0ECF-CFF1-55A5D70FE72A}"/>
              </a:ext>
            </a:extLst>
          </p:cNvPr>
          <p:cNvGrpSpPr/>
          <p:nvPr/>
        </p:nvGrpSpPr>
        <p:grpSpPr>
          <a:xfrm>
            <a:off x="725958" y="1413526"/>
            <a:ext cx="5130431" cy="5285417"/>
            <a:chOff x="603619" y="1491374"/>
            <a:chExt cx="5130431" cy="5285417"/>
          </a:xfrm>
        </p:grpSpPr>
        <p:sp>
          <p:nvSpPr>
            <p:cNvPr id="44" name="Text Box 71">
              <a:extLst>
                <a:ext uri="{FF2B5EF4-FFF2-40B4-BE49-F238E27FC236}">
                  <a16:creationId xmlns:a16="http://schemas.microsoft.com/office/drawing/2014/main" id="{180E9B25-BA55-EC1B-9E84-E1FB50C56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619" y="1491374"/>
              <a:ext cx="5130431" cy="403577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Time: Ca</a:t>
              </a:r>
              <a:r>
                <a:rPr lang="en-US" altLang="zh-CN" sz="2000" u="none" kern="0" dirty="0" err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pturing</a:t>
              </a:r>
              <a:r>
                <a:rPr lang="zh-CN" altLang="en-US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Molecular</a:t>
              </a:r>
              <a:r>
                <a:rPr lang="zh-CN" altLang="en-US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Dynamics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16E4477-E806-3ADD-AE4E-3032EBC10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8136" y="2042816"/>
              <a:ext cx="4787285" cy="4733975"/>
            </a:xfrm>
            <a:prstGeom prst="rect">
              <a:avLst/>
            </a:prstGeom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1DD59A9-7978-F1E9-9C56-78A9C4616A82}"/>
                </a:ext>
              </a:extLst>
            </p:cNvPr>
            <p:cNvSpPr/>
            <p:nvPr/>
          </p:nvSpPr>
          <p:spPr>
            <a:xfrm>
              <a:off x="655301" y="1983732"/>
              <a:ext cx="5078749" cy="4787394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3E78926-7217-960F-85F7-53A00CF68A0E}"/>
              </a:ext>
            </a:extLst>
          </p:cNvPr>
          <p:cNvSpPr txBox="1"/>
          <p:nvPr/>
        </p:nvSpPr>
        <p:spPr>
          <a:xfrm>
            <a:off x="6109224" y="1460200"/>
            <a:ext cx="56519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r>
              <a:rPr lang="sv-SE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Pump Pules</a:t>
            </a:r>
            <a:r>
              <a:rPr lang="sv-SE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Using strong pulses to instantaneously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induce excited states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molecules</a:t>
            </a:r>
            <a:endParaRPr lang="sv-SE" altLang="zh-CN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Probe Pulse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The weak pulse arrives after a delay, and is responsible for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"reading"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transient absorption change</a:t>
            </a:r>
          </a:p>
          <a:p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4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503B-AED0-33D5-9F3A-39F3A843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DA92AAE-3DCE-F851-B32A-ABE7BCBDBF2C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521783F7-A791-9849-3E36-D8995CEE203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2534146-B2CC-6C0C-3EE5-DF35C9F7A7B2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87E9F83-E13B-2FA8-1A1E-C575A250C510}"/>
              </a:ext>
            </a:extLst>
          </p:cNvPr>
          <p:cNvSpPr txBox="1"/>
          <p:nvPr/>
        </p:nvSpPr>
        <p:spPr>
          <a:xfrm>
            <a:off x="2333445" y="-29709"/>
            <a:ext cx="80043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  <a:p>
            <a:pPr algn="ctr"/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3659F0C7-955A-6F0B-A7E1-C8EEF06A61E7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6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E4AFBE-B86F-FC47-3E0C-AAB39B85566A}"/>
              </a:ext>
            </a:extLst>
          </p:cNvPr>
          <p:cNvSpPr txBox="1"/>
          <p:nvPr/>
        </p:nvSpPr>
        <p:spPr>
          <a:xfrm>
            <a:off x="766635" y="966840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Technical Principle in One Single Molecule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F28E22C-06B2-7686-06CA-0967ABA31681}"/>
              </a:ext>
            </a:extLst>
          </p:cNvPr>
          <p:cNvGrpSpPr/>
          <p:nvPr/>
        </p:nvGrpSpPr>
        <p:grpSpPr>
          <a:xfrm>
            <a:off x="699322" y="1377451"/>
            <a:ext cx="6387277" cy="5279752"/>
            <a:chOff x="603619" y="1491374"/>
            <a:chExt cx="5130431" cy="5279752"/>
          </a:xfrm>
        </p:grpSpPr>
        <p:sp>
          <p:nvSpPr>
            <p:cNvPr id="44" name="Text Box 71">
              <a:extLst>
                <a:ext uri="{FF2B5EF4-FFF2-40B4-BE49-F238E27FC236}">
                  <a16:creationId xmlns:a16="http://schemas.microsoft.com/office/drawing/2014/main" id="{BF66062F-CE5F-AA05-DB77-3FC568561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619" y="1491374"/>
              <a:ext cx="5130431" cy="403577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altLang="zh-CN" sz="200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The transition of TTT and TTC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84B5FEB-3CFE-DBE1-0227-13E96DA97FFB}"/>
                </a:ext>
              </a:extLst>
            </p:cNvPr>
            <p:cNvSpPr/>
            <p:nvPr/>
          </p:nvSpPr>
          <p:spPr>
            <a:xfrm>
              <a:off x="655301" y="1983732"/>
              <a:ext cx="5078749" cy="4787394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8488298F-5104-C3AB-8814-FAF47E24F9A7}"/>
              </a:ext>
            </a:extLst>
          </p:cNvPr>
          <p:cNvSpPr txBox="1"/>
          <p:nvPr/>
        </p:nvSpPr>
        <p:spPr>
          <a:xfrm>
            <a:off x="7104612" y="1377451"/>
            <a:ext cx="490850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Ultrafast Transition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the TTT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TTC conversion within </a:t>
            </a: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200 fs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coherent vibrational dynamics.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Relaxation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Tracks the final decay of the product back to the ground state over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 ps.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of absorption Peak and Time information could be recorded by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Probe.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EE9BDE3-A821-E9F5-4C11-1FBF9EA33A11}"/>
              </a:ext>
            </a:extLst>
          </p:cNvPr>
          <p:cNvGrpSpPr/>
          <p:nvPr/>
        </p:nvGrpSpPr>
        <p:grpSpPr>
          <a:xfrm>
            <a:off x="993833" y="1869808"/>
            <a:ext cx="5243471" cy="4363191"/>
            <a:chOff x="993833" y="1869808"/>
            <a:chExt cx="5243471" cy="436319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5F62871-DB2D-2E02-F317-9A466900E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1438"/>
            <a:stretch>
              <a:fillRect/>
            </a:stretch>
          </p:blipFill>
          <p:spPr>
            <a:xfrm>
              <a:off x="1612959" y="1869808"/>
              <a:ext cx="4624345" cy="4363191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202DEE7-13D9-EE19-91E3-E7ECC572B82F}"/>
                </a:ext>
              </a:extLst>
            </p:cNvPr>
            <p:cNvSpPr txBox="1"/>
            <p:nvPr/>
          </p:nvSpPr>
          <p:spPr>
            <a:xfrm>
              <a:off x="993833" y="3968750"/>
              <a:ext cx="2133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1038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Pump</a:t>
              </a:r>
              <a:endParaRPr lang="zh-CN" altLang="en-US" sz="2000" b="1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DBC59AC-87DF-3719-51E0-7014487BDFE3}"/>
              </a:ext>
            </a:extLst>
          </p:cNvPr>
          <p:cNvSpPr txBox="1"/>
          <p:nvPr/>
        </p:nvSpPr>
        <p:spPr>
          <a:xfrm>
            <a:off x="7375525" y="6386391"/>
            <a:ext cx="481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sz="2000" i="1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Chem. Phys</a:t>
            </a:r>
            <a:r>
              <a:rPr lang="de-DE" altLang="zh-CN" sz="2000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140, 244301 (2014)</a:t>
            </a:r>
            <a:endParaRPr lang="zh-CN" altLang="en-US" sz="2000" dirty="0">
              <a:solidFill>
                <a:srgbClr val="1038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5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D9A5-9541-E8EC-CFD6-4FEEFC51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593C043-500C-56FA-BBC6-18E342EDA2D1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4A994F2B-2409-A46A-6458-3283A3CEB61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C23797-9E0A-1033-D4C0-FFD1591C56D6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C3915CD-D648-0E00-1125-C6678526B724}"/>
              </a:ext>
            </a:extLst>
          </p:cNvPr>
          <p:cNvSpPr txBox="1"/>
          <p:nvPr/>
        </p:nvSpPr>
        <p:spPr>
          <a:xfrm>
            <a:off x="2333445" y="-29709"/>
            <a:ext cx="80043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  <a:p>
            <a:pPr algn="ctr"/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35304AE3-49B1-057A-656E-C6B603A6CF36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7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F65CD1-37E5-980E-92CE-4D6AE6E210C3}"/>
              </a:ext>
            </a:extLst>
          </p:cNvPr>
          <p:cNvSpPr txBox="1"/>
          <p:nvPr/>
        </p:nvSpPr>
        <p:spPr>
          <a:xfrm>
            <a:off x="766635" y="966840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Technical Principle in the Whole System</a:t>
            </a:r>
          </a:p>
        </p:txBody>
      </p:sp>
      <p:sp>
        <p:nvSpPr>
          <p:cNvPr id="44" name="Text Box 71">
            <a:extLst>
              <a:ext uri="{FF2B5EF4-FFF2-40B4-BE49-F238E27FC236}">
                <a16:creationId xmlns:a16="http://schemas.microsoft.com/office/drawing/2014/main" id="{3BCA0896-F571-65D4-37FE-C77655F57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958" y="1413526"/>
            <a:ext cx="6335242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Changing The Time Delay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852574-5D84-4FA9-E09C-7B1578AB6F73}"/>
              </a:ext>
            </a:extLst>
          </p:cNvPr>
          <p:cNvSpPr/>
          <p:nvPr/>
        </p:nvSpPr>
        <p:spPr>
          <a:xfrm>
            <a:off x="777640" y="1905884"/>
            <a:ext cx="6283560" cy="4240916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EB5D56-DA84-79C4-845F-9608ED0863CB}"/>
                  </a:ext>
                </a:extLst>
              </p:cNvPr>
              <p:cNvSpPr txBox="1"/>
              <p:nvPr/>
            </p:nvSpPr>
            <p:spPr>
              <a:xfrm>
                <a:off x="7939468" y="1602690"/>
                <a:ext cx="3749587" cy="4240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</a:lstStyle>
              <a:p>
                <a:r>
                  <a:rPr lang="en-US" altLang="zh-CN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Electronic timing circuits cannot resolve femtosecond-scale events.</a:t>
                </a:r>
              </a:p>
              <a:p>
                <a:endParaRPr lang="en-US" altLang="zh-CN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The Optical Solution: Modulating the travel distance of the Probe pulse via a motorized translation stage.</a:t>
                </a:r>
              </a:p>
              <a:p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Δ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00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Stage displacement, </a:t>
                </a:r>
              </a:p>
              <a:p>
                <a:r>
                  <a:rPr lang="en-US" altLang="zh-CN" sz="20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en-US" altLang="zh-CN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: Speed of light )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EB5D56-DA84-79C4-845F-9608ED08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468" y="1602690"/>
                <a:ext cx="3749587" cy="4240905"/>
              </a:xfrm>
              <a:prstGeom prst="rect">
                <a:avLst/>
              </a:prstGeom>
              <a:blipFill>
                <a:blip r:embed="rId4"/>
                <a:stretch>
                  <a:fillRect l="-1626" t="-862" r="-2602" b="-1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B81CA23-DF7B-2F23-E095-DFB1E28D1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08" y="2056126"/>
            <a:ext cx="6076601" cy="3582674"/>
          </a:xfrm>
          <a:prstGeom prst="rect">
            <a:avLst/>
          </a:prstGeom>
        </p:spPr>
      </p:pic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0120662B-5A9A-4609-FC0C-E6526E346C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81743" y="2463875"/>
            <a:ext cx="4657725" cy="2767175"/>
          </a:xfrm>
          <a:prstGeom prst="bentConnector3">
            <a:avLst/>
          </a:prstGeom>
          <a:ln w="57150">
            <a:solidFill>
              <a:srgbClr val="ED6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970BA6B-613E-E7B3-DA95-F7CA5CE50D6C}"/>
              </a:ext>
            </a:extLst>
          </p:cNvPr>
          <p:cNvCxnSpPr>
            <a:cxnSpLocks/>
          </p:cNvCxnSpPr>
          <p:nvPr/>
        </p:nvCxnSpPr>
        <p:spPr>
          <a:xfrm>
            <a:off x="2901859" y="4432663"/>
            <a:ext cx="0" cy="714103"/>
          </a:xfrm>
          <a:prstGeom prst="straightConnector1">
            <a:avLst/>
          </a:prstGeom>
          <a:ln w="57150">
            <a:solidFill>
              <a:srgbClr val="ED6C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2224C64-DFCE-60EB-946D-A701304FBA81}"/>
              </a:ext>
            </a:extLst>
          </p:cNvPr>
          <p:cNvSpPr txBox="1"/>
          <p:nvPr/>
        </p:nvSpPr>
        <p:spPr>
          <a:xfrm>
            <a:off x="3043890" y="4562674"/>
            <a:ext cx="2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97962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E0FB-0667-F6D1-7ECB-8FD9C25F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7578CAF-A58A-60D2-132E-4B2CF2A2DEE1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F25A433A-85D3-FFF2-FF41-871D0A33258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A85B02E-7236-D82D-CCB0-71699031FD2F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CF27E86A-4745-08D5-6411-7CDD0BC2B9AB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8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54ACB0-D845-ABA3-772F-038ADB98FEC3}"/>
              </a:ext>
            </a:extLst>
          </p:cNvPr>
          <p:cNvSpPr txBox="1"/>
          <p:nvPr/>
        </p:nvSpPr>
        <p:spPr>
          <a:xfrm>
            <a:off x="738753" y="990802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Diagnostic Dilemma of Traditional Histopathology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7E3BFE-9202-44CF-8FCF-203ABD32F7DC}"/>
              </a:ext>
            </a:extLst>
          </p:cNvPr>
          <p:cNvSpPr txBox="1"/>
          <p:nvPr/>
        </p:nvSpPr>
        <p:spPr>
          <a:xfrm>
            <a:off x="794916" y="4929052"/>
            <a:ext cx="9670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Both malignant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benign lesions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 exhibit dermal melanocytes (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真皮黑素细胞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Lacking chemical contrast, pathologists must rely on subjective architectural evaluation, leading to high false-positive rates and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14% diagnostic discordance.</a:t>
            </a:r>
            <a:endParaRPr lang="zh-CN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CFA0C6-5E91-CE42-063F-FF45F2A67A76}"/>
              </a:ext>
            </a:extLst>
          </p:cNvPr>
          <p:cNvSpPr txBox="1"/>
          <p:nvPr/>
        </p:nvSpPr>
        <p:spPr>
          <a:xfrm>
            <a:off x="8690322" y="6530500"/>
            <a:ext cx="561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i="1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Sci. Transl. Med. </a:t>
            </a:r>
            <a:r>
              <a:rPr lang="nn-NO" altLang="zh-CN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71ra15 (2011)</a:t>
            </a:r>
            <a:endParaRPr lang="zh-CN" altLang="en-US" dirty="0">
              <a:solidFill>
                <a:srgbClr val="1038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0E9CE1-32ED-E4F7-B8F4-0981B2595B5B}"/>
              </a:ext>
            </a:extLst>
          </p:cNvPr>
          <p:cNvSpPr txBox="1"/>
          <p:nvPr/>
        </p:nvSpPr>
        <p:spPr>
          <a:xfrm>
            <a:off x="2333445" y="-29709"/>
            <a:ext cx="800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1887AC1-3497-09A3-1008-796275D1B21F}"/>
              </a:ext>
            </a:extLst>
          </p:cNvPr>
          <p:cNvGrpSpPr/>
          <p:nvPr/>
        </p:nvGrpSpPr>
        <p:grpSpPr>
          <a:xfrm>
            <a:off x="766634" y="1455641"/>
            <a:ext cx="5130431" cy="3348911"/>
            <a:chOff x="461356" y="1465751"/>
            <a:chExt cx="4996581" cy="3261540"/>
          </a:xfrm>
          <a:noFill/>
        </p:grpSpPr>
        <p:sp>
          <p:nvSpPr>
            <p:cNvPr id="7" name="Text Box 71">
              <a:extLst>
                <a:ext uri="{FF2B5EF4-FFF2-40B4-BE49-F238E27FC236}">
                  <a16:creationId xmlns:a16="http://schemas.microsoft.com/office/drawing/2014/main" id="{AF3FFB7B-B2D4-A0F1-E158-E6B5FB8CF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56" y="1465751"/>
              <a:ext cx="4996581" cy="630468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L="342900" lvl="0" indent="-342900">
                <a:spcBef>
                  <a:spcPts val="1200"/>
                </a:spcBef>
                <a:buFont typeface="Wingdings" panose="05000000000000000000" pitchFamily="2" charset="2"/>
                <a:buChar char="Ø"/>
                <a:defRPr/>
              </a:pPr>
              <a:r>
                <a:rPr lang="en-US" altLang="zh-CN" sz="2000" u="none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Malignant Melanoma (</a:t>
              </a:r>
              <a:r>
                <a:rPr lang="zh-CN" altLang="en-US" sz="2000" u="none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黑色素瘤</a:t>
              </a:r>
              <a:r>
                <a:rPr lang="en-US" altLang="zh-CN" sz="2000" u="none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 (Dermal melanocytes present)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4610AC-C118-F6DB-7E72-1FB6BE673DD4}"/>
                </a:ext>
              </a:extLst>
            </p:cNvPr>
            <p:cNvSpPr/>
            <p:nvPr/>
          </p:nvSpPr>
          <p:spPr>
            <a:xfrm>
              <a:off x="488900" y="1812001"/>
              <a:ext cx="4946247" cy="2915290"/>
            </a:xfrm>
            <a:prstGeom prst="rect">
              <a:avLst/>
            </a:prstGeom>
            <a:grp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sp>
        <p:nvSpPr>
          <p:cNvPr id="9" name="Text Box 71">
            <a:extLst>
              <a:ext uri="{FF2B5EF4-FFF2-40B4-BE49-F238E27FC236}">
                <a16:creationId xmlns:a16="http://schemas.microsoft.com/office/drawing/2014/main" id="{A457BE87-677C-8A0A-D423-45595509F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4671" y="1455641"/>
            <a:ext cx="5130431" cy="681100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u="none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Benign Nevus (</a:t>
            </a:r>
            <a:r>
              <a:rPr lang="zh-CN" altLang="en-US" sz="2000" u="none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黑色素痔</a:t>
            </a:r>
            <a:r>
              <a:rPr lang="en-US" altLang="zh-CN" sz="2000" u="none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(Dermal melanocytes also present)</a:t>
            </a:r>
            <a:endParaRPr lang="zh-CN" altLang="en-US" sz="2000" u="none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DBBF17-0230-A00E-6CE5-89E01950A9E7}"/>
              </a:ext>
            </a:extLst>
          </p:cNvPr>
          <p:cNvSpPr/>
          <p:nvPr/>
        </p:nvSpPr>
        <p:spPr>
          <a:xfrm>
            <a:off x="6442953" y="1811167"/>
            <a:ext cx="5078749" cy="2993386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4FA626F-82C3-F771-066F-89C17D128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070" y="2136741"/>
            <a:ext cx="2564197" cy="26182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C30AB61-D344-498B-8FE4-82F6B6004F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25"/>
          <a:stretch>
            <a:fillRect/>
          </a:stretch>
        </p:blipFill>
        <p:spPr>
          <a:xfrm>
            <a:off x="7600004" y="2154195"/>
            <a:ext cx="3138474" cy="26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53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551F-8C0A-3F72-4B0E-8BBC7969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77E89BC-CE8B-DB19-ECC6-BC32377BB786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4AB4BC25-43CB-76DD-43F1-86B5FF8FFA3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C582D24-FDA8-FC2A-42C7-292B6FA44610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8D7279DC-70DD-EB20-63F4-87695649311A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9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F80500-E4D9-7B63-DDA3-8C6D0E233BE1}"/>
              </a:ext>
            </a:extLst>
          </p:cNvPr>
          <p:cNvSpPr txBox="1"/>
          <p:nvPr/>
        </p:nvSpPr>
        <p:spPr>
          <a:xfrm>
            <a:off x="738753" y="990802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Differentiating Melanoma 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黑色素瘤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from Melanocytic Nevi 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黑色素痔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97F592-59E6-6CFA-C4A5-C24C7CF44EF4}"/>
              </a:ext>
            </a:extLst>
          </p:cNvPr>
          <p:cNvSpPr txBox="1"/>
          <p:nvPr/>
        </p:nvSpPr>
        <p:spPr>
          <a:xfrm>
            <a:off x="1146391" y="4826675"/>
            <a:ext cx="8285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The Baseline (0 fs)</a:t>
            </a:r>
            <a:r>
              <a:rPr lang="zh-CN" altLang="zh-CN" dirty="0">
                <a:latin typeface="Arial" panose="020B0604020202020204" pitchFamily="34" charset="0"/>
              </a:rPr>
              <a:t>: At zero delay, both melanins exhibit a negative signal (Ground-state depletion).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The Contrast Window (&gt;300 fs)</a:t>
            </a:r>
            <a:r>
              <a:rPr lang="zh-CN" altLang="zh-CN" dirty="0">
                <a:latin typeface="Arial" panose="020B0604020202020204" pitchFamily="34" charset="0"/>
              </a:rPr>
              <a:t>: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Pheomelanin (褐黑素)</a:t>
            </a:r>
            <a:r>
              <a:rPr lang="zh-CN" altLang="zh-CN" dirty="0">
                <a:latin typeface="Arial" panose="020B0604020202020204" pitchFamily="34" charset="0"/>
              </a:rPr>
              <a:t>: Negative, extremely short-lived decay.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Eumelanin (真黑色素)</a:t>
            </a:r>
            <a:r>
              <a:rPr lang="zh-CN" altLang="zh-CN" dirty="0">
                <a:latin typeface="Arial" panose="020B0604020202020204" pitchFamily="34" charset="0"/>
              </a:rPr>
              <a:t>: Positive, long-lived excited-state absorption (ESA).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BC3232-D74F-3357-6A52-825EDC691EEA}"/>
              </a:ext>
            </a:extLst>
          </p:cNvPr>
          <p:cNvSpPr txBox="1"/>
          <p:nvPr/>
        </p:nvSpPr>
        <p:spPr>
          <a:xfrm>
            <a:off x="8690322" y="6530500"/>
            <a:ext cx="561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i="1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Sci. Transl. Med. </a:t>
            </a:r>
            <a:r>
              <a:rPr lang="nn-NO" altLang="zh-CN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71ra15 (2011)</a:t>
            </a:r>
            <a:endParaRPr lang="zh-CN" altLang="en-US" dirty="0">
              <a:solidFill>
                <a:srgbClr val="1038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11CCC1-01C8-48DE-4480-92C7CE662F52}"/>
              </a:ext>
            </a:extLst>
          </p:cNvPr>
          <p:cNvSpPr txBox="1"/>
          <p:nvPr/>
        </p:nvSpPr>
        <p:spPr>
          <a:xfrm>
            <a:off x="2333445" y="-29709"/>
            <a:ext cx="800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B6DAF07-DDDF-DD98-5C24-CA01610CE402}"/>
              </a:ext>
            </a:extLst>
          </p:cNvPr>
          <p:cNvGrpSpPr/>
          <p:nvPr/>
        </p:nvGrpSpPr>
        <p:grpSpPr>
          <a:xfrm>
            <a:off x="291453" y="1441185"/>
            <a:ext cx="11609093" cy="3181322"/>
            <a:chOff x="144049" y="1396941"/>
            <a:chExt cx="11217303" cy="3073957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DC08771-D142-DA13-A594-43992B748DAD}"/>
                </a:ext>
              </a:extLst>
            </p:cNvPr>
            <p:cNvGrpSpPr/>
            <p:nvPr/>
          </p:nvGrpSpPr>
          <p:grpSpPr>
            <a:xfrm>
              <a:off x="144049" y="1396941"/>
              <a:ext cx="11217303" cy="3073957"/>
              <a:chOff x="488351" y="1465750"/>
              <a:chExt cx="4946796" cy="3261541"/>
            </a:xfrm>
            <a:noFill/>
          </p:grpSpPr>
          <p:sp>
            <p:nvSpPr>
              <p:cNvPr id="44" name="Text Box 71">
                <a:extLst>
                  <a:ext uri="{FF2B5EF4-FFF2-40B4-BE49-F238E27FC236}">
                    <a16:creationId xmlns:a16="http://schemas.microsoft.com/office/drawing/2014/main" id="{687E9579-E732-5A0A-6903-6A0D07BB0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51" y="1465750"/>
                <a:ext cx="4946247" cy="393048"/>
              </a:xfrm>
              <a:prstGeom prst="rect">
                <a:avLst/>
              </a:prstGeom>
              <a:solidFill>
                <a:srgbClr val="10383C"/>
              </a:solidFill>
              <a:ln w="9525" cap="flat" cmpd="sng" algn="ctr">
                <a:solidFill>
                  <a:srgbClr val="10383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>
                <a:defPPr>
                  <a:defRPr lang="en-US"/>
                </a:defPPr>
                <a:lvl1pPr algn="ctr" eaLnBrk="1" hangingPunct="1">
                  <a:defRPr sz="2400" b="1" u="sng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defRPr>
                </a:lvl1pPr>
              </a:lstStyle>
              <a:p>
                <a:pPr marL="342900" lvl="0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000" u="none" kern="0" dirty="0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Pump-Probe Signals </a:t>
                </a: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BE5DC0F-8113-26BB-F584-1C0BAF261378}"/>
                  </a:ext>
                </a:extLst>
              </p:cNvPr>
              <p:cNvSpPr/>
              <p:nvPr/>
            </p:nvSpPr>
            <p:spPr>
              <a:xfrm>
                <a:off x="488900" y="1812001"/>
                <a:ext cx="4946247" cy="2915290"/>
              </a:xfrm>
              <a:prstGeom prst="rect">
                <a:avLst/>
              </a:prstGeom>
              <a:grpFill/>
              <a:ln w="38100" cap="flat" cmpd="sng" algn="ctr">
                <a:solidFill>
                  <a:srgbClr val="10383C"/>
                </a:solidFill>
                <a:prstDash val="lg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939E215-5CAD-C32C-6F95-44167AB9D8D2}"/>
                </a:ext>
              </a:extLst>
            </p:cNvPr>
            <p:cNvGrpSpPr/>
            <p:nvPr/>
          </p:nvGrpSpPr>
          <p:grpSpPr>
            <a:xfrm>
              <a:off x="254206" y="1830625"/>
              <a:ext cx="11107146" cy="2593766"/>
              <a:chOff x="1394074" y="2296399"/>
              <a:chExt cx="11107146" cy="2593766"/>
            </a:xfrm>
          </p:grpSpPr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69898FA1-CBB4-04AD-2CFC-461ED6538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4074" y="2296399"/>
                <a:ext cx="7868923" cy="2593766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7FEA1458-7478-3950-272B-EC54F708E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08288" y="2302765"/>
                <a:ext cx="3192932" cy="254908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4353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BD3D-52B1-70D7-6C28-E7C9C8B8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2A7CFFE-F546-4608-17F8-114551DD3300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A716D0C0-A6C8-5F25-76A7-45E3B4FA435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3C32D8F-C9BC-0465-CAC1-4390DD2A6793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DEE20683-666C-E991-6ECB-519693068F45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10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940F72-A392-6369-6FC5-2AEA3815C806}"/>
              </a:ext>
            </a:extLst>
          </p:cNvPr>
          <p:cNvSpPr txBox="1"/>
          <p:nvPr/>
        </p:nvSpPr>
        <p:spPr>
          <a:xfrm>
            <a:off x="738753" y="990802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Differentiating Melanoma 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黑色素瘤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from Melanocytic Nevi 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黑色素痔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CA48E3-FB7C-957D-5C7F-A17CA981ED09}"/>
              </a:ext>
            </a:extLst>
          </p:cNvPr>
          <p:cNvSpPr txBox="1"/>
          <p:nvPr/>
        </p:nvSpPr>
        <p:spPr>
          <a:xfrm>
            <a:off x="8690322" y="6530500"/>
            <a:ext cx="561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i="1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Sci. Transl. Med. </a:t>
            </a:r>
            <a:r>
              <a:rPr lang="nn-NO" altLang="zh-CN" dirty="0">
                <a:solidFill>
                  <a:srgbClr val="1038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71ra15 (2011)</a:t>
            </a:r>
            <a:endParaRPr lang="zh-CN" altLang="en-US" dirty="0">
              <a:solidFill>
                <a:srgbClr val="1038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5AAEC3-FFA2-7E46-7C9E-02C850DE586D}"/>
              </a:ext>
            </a:extLst>
          </p:cNvPr>
          <p:cNvSpPr txBox="1"/>
          <p:nvPr/>
        </p:nvSpPr>
        <p:spPr>
          <a:xfrm>
            <a:off x="2333445" y="-29709"/>
            <a:ext cx="800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Resolution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257DA55-DF09-EDD3-9563-2080900DD5FB}"/>
              </a:ext>
            </a:extLst>
          </p:cNvPr>
          <p:cNvGrpSpPr/>
          <p:nvPr/>
        </p:nvGrpSpPr>
        <p:grpSpPr>
          <a:xfrm>
            <a:off x="1315866" y="1441016"/>
            <a:ext cx="9560268" cy="3181322"/>
            <a:chOff x="291454" y="1441185"/>
            <a:chExt cx="9560268" cy="3181322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008E18A2-6999-2933-A67B-2153AC248FC3}"/>
                </a:ext>
              </a:extLst>
            </p:cNvPr>
            <p:cNvGrpSpPr/>
            <p:nvPr/>
          </p:nvGrpSpPr>
          <p:grpSpPr>
            <a:xfrm>
              <a:off x="291454" y="1441185"/>
              <a:ext cx="9560268" cy="3181322"/>
              <a:chOff x="488351" y="1465750"/>
              <a:chExt cx="4946796" cy="3261541"/>
            </a:xfrm>
            <a:noFill/>
          </p:grpSpPr>
          <p:sp>
            <p:nvSpPr>
              <p:cNvPr id="44" name="Text Box 71">
                <a:extLst>
                  <a:ext uri="{FF2B5EF4-FFF2-40B4-BE49-F238E27FC236}">
                    <a16:creationId xmlns:a16="http://schemas.microsoft.com/office/drawing/2014/main" id="{728C894E-9A60-A4E9-6C20-94E4CAA3A4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51" y="1465750"/>
                <a:ext cx="4946247" cy="393048"/>
              </a:xfrm>
              <a:prstGeom prst="rect">
                <a:avLst/>
              </a:prstGeom>
              <a:solidFill>
                <a:srgbClr val="10383C"/>
              </a:solidFill>
              <a:ln w="9525" cap="flat" cmpd="sng" algn="ctr">
                <a:solidFill>
                  <a:srgbClr val="10383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>
                <a:defPPr>
                  <a:defRPr lang="en-US"/>
                </a:defPPr>
                <a:lvl1pPr algn="ctr" eaLnBrk="1" hangingPunct="1">
                  <a:defRPr sz="2400" b="1" u="sng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defRPr>
                </a:lvl1pPr>
              </a:lstStyle>
              <a:p>
                <a:pPr marL="342900" lvl="0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000" u="none" kern="0" dirty="0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Pump-Probe Signals </a:t>
                </a: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568599D-10D3-151C-2669-A4136EDA14AC}"/>
                  </a:ext>
                </a:extLst>
              </p:cNvPr>
              <p:cNvSpPr/>
              <p:nvPr/>
            </p:nvSpPr>
            <p:spPr>
              <a:xfrm>
                <a:off x="488900" y="1812001"/>
                <a:ext cx="4946247" cy="2915290"/>
              </a:xfrm>
              <a:prstGeom prst="rect">
                <a:avLst/>
              </a:prstGeom>
              <a:grpFill/>
              <a:ln w="38100" cap="flat" cmpd="sng" algn="ctr">
                <a:solidFill>
                  <a:srgbClr val="10383C"/>
                </a:solidFill>
                <a:prstDash val="lg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268E56C-4417-5230-411C-621E433D4662}"/>
                </a:ext>
              </a:extLst>
            </p:cNvPr>
            <p:cNvGrpSpPr/>
            <p:nvPr/>
          </p:nvGrpSpPr>
          <p:grpSpPr>
            <a:xfrm>
              <a:off x="401402" y="1859338"/>
              <a:ext cx="9339310" cy="2682749"/>
              <a:chOff x="412201" y="1849965"/>
              <a:chExt cx="9339310" cy="2682749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EB0498DA-9E96-550A-095D-4AB16C037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201" y="1874838"/>
                <a:ext cx="6231829" cy="2633005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55ACB46D-D34A-0BAC-83C0-47938507C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8762" y="1849965"/>
                <a:ext cx="2682749" cy="2682749"/>
              </a:xfrm>
              <a:prstGeom prst="rect">
                <a:avLst/>
              </a:prstGeom>
            </p:spPr>
          </p:pic>
        </p:grp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36BEF417-683D-DC46-11A7-25C15BE8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602" y="4834236"/>
            <a:ext cx="1054001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Malignant Melanoma (恶性黑色素瘤)</a:t>
            </a:r>
            <a:r>
              <a:rPr lang="zh-CN" altLang="zh-CN" dirty="0">
                <a:latin typeface="Arial" panose="020B0604020202020204" pitchFamily="34" charset="0"/>
              </a:rPr>
              <a:t>: Demonstrates intense positive signals at 300 fs, indicating a high concentration of </a:t>
            </a:r>
            <a:r>
              <a:rPr lang="zh-CN" altLang="zh-CN" b="1" dirty="0">
                <a:latin typeface="Arial" panose="020B0604020202020204" pitchFamily="34" charset="0"/>
              </a:rPr>
              <a:t>Eumelanin (真黑色素)</a:t>
            </a:r>
            <a:r>
              <a:rPr lang="zh-CN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latin typeface="Arial" panose="020B0604020202020204" pitchFamily="34" charset="0"/>
              </a:rPr>
              <a:t>Benign Nevus (良性痣)</a:t>
            </a:r>
            <a:r>
              <a:rPr lang="zh-CN" altLang="zh-CN" dirty="0">
                <a:latin typeface="Arial" panose="020B0604020202020204" pitchFamily="34" charset="0"/>
              </a:rPr>
              <a:t>: Exhibits an absence of signal at 300 fs, confirming the lesion is almost entirely composed of </a:t>
            </a:r>
            <a:r>
              <a:rPr lang="zh-CN" altLang="zh-CN" b="1" dirty="0">
                <a:latin typeface="Arial" panose="020B0604020202020204" pitchFamily="34" charset="0"/>
              </a:rPr>
              <a:t>Pheomelanin (褐黑素)</a:t>
            </a:r>
            <a:r>
              <a:rPr lang="zh-CN" altLang="zh-CN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60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9F89-6491-DB83-0A64-766ECF86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537C3DF-0C19-2C3D-1FD5-03617B429DA2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DFBF5D6-BDB6-C657-67D8-607068116CC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6079EB-85D6-496B-BB4B-B0DCA20B0838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33A6668-B4E9-F74E-D76E-2AB692BAEE0A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5E27AFC0-3413-9E1B-D97A-1E7082E90E17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11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83603D-1E75-201F-AA28-BC9CD4DBF7D9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OCT(Optical Coherence Tomography) vs. Ultrasound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6298F61C-087E-E83B-923D-7CF234209EE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5999" y="2963842"/>
              <a:ext cx="5616048" cy="229501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1872016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1986258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  <a:gridCol w="1757774">
                      <a:extLst>
                        <a:ext uri="{9D8B030D-6E8A-4147-A177-3AD203B41FA5}">
                          <a16:colId xmlns:a16="http://schemas.microsoft.com/office/drawing/2014/main" val="3573236045"/>
                        </a:ext>
                      </a:extLst>
                    </a:gridCol>
                  </a:tblGrid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Performance Indicator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OCT 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Clinical </a:t>
                          </a:r>
                        </a:p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High-Frequency Ultrasound</a:t>
                          </a:r>
                          <a:endParaRPr lang="zh-CN" altLang="en-US" sz="17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Detection Medium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Near-Infrared 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(Low Coherence)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Sound Waves (10-50 MHz)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Axial Resolution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600" b="0" smtClean="0">
                                    <a:solidFill>
                                      <a:srgbClr val="10383C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1 ~ 15 </m:t>
                                </m:r>
                                <m:r>
                                  <a:rPr lang="en-US" altLang="zh-CN" sz="1800" b="0" i="1" kern="1200" dirty="0" smtClean="0">
                                    <a:solidFill>
                                      <a:srgbClr val="10383C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微软雅黑"/>
                                    <a:cs typeface="+mn-cs"/>
                                  </a:rPr>
                                  <m:t>𝜇</m:t>
                                </m:r>
                                <m:r>
                                  <a:rPr lang="en-US" altLang="zh-CN" sz="1800" b="0" i="1" kern="1200" dirty="0" smtClean="0">
                                    <a:solidFill>
                                      <a:srgbClr val="10383C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微软雅黑"/>
                                    <a:cs typeface="+mn-cs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altLang="zh-CN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~100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kern="1200" dirty="0" smtClean="0">
                                  <a:solidFill>
                                    <a:srgbClr val="1038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altLang="zh-CN" sz="1800" i="1" kern="1200" dirty="0" smtClean="0">
                                  <a:solidFill>
                                    <a:srgbClr val="1038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oMath>
                          </a14:m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Imaging Depth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ea typeface="微软雅黑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~ 3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 ~ 100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6298F61C-087E-E83B-923D-7CF234209EE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5999" y="2963842"/>
              <a:ext cx="5616048" cy="229501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1872016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1986258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  <a:gridCol w="1757774">
                      <a:extLst>
                        <a:ext uri="{9D8B030D-6E8A-4147-A177-3AD203B41FA5}">
                          <a16:colId xmlns:a16="http://schemas.microsoft.com/office/drawing/2014/main" val="3573236045"/>
                        </a:ext>
                      </a:extLst>
                    </a:gridCol>
                  </a:tblGrid>
                  <a:tr h="81571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Performance Indicator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OCT 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Clinical </a:t>
                          </a:r>
                        </a:p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High-Frequency Ultrasound</a:t>
                          </a:r>
                          <a:endParaRPr lang="zh-CN" altLang="en-US" sz="17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5718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Detection Medium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Near-Infrared 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(Low Coherence)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Sound Waves (10-50 MHz)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Axial Resolution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4"/>
                          <a:stretch>
                            <a:fillRect l="-94172" t="-312162" r="-88650" b="-106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4"/>
                          <a:stretch>
                            <a:fillRect l="-219031" t="-312162" b="-106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Imaging Depth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ea typeface="微软雅黑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~ 3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 ~ 100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B5AA235-6EBD-CD12-1FEB-04820B6A097E}"/>
              </a:ext>
            </a:extLst>
          </p:cNvPr>
          <p:cNvSpPr txBox="1"/>
          <p:nvPr/>
        </p:nvSpPr>
        <p:spPr>
          <a:xfrm>
            <a:off x="431086" y="1516161"/>
            <a:ext cx="7441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OCT, often referred to as "optical ultrasound“, strikes a perfect balance between resolution and depth of penetration.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362D1A-2531-071F-6E8D-7D68110AE8F1}"/>
              </a:ext>
            </a:extLst>
          </p:cNvPr>
          <p:cNvSpPr txBox="1"/>
          <p:nvPr/>
        </p:nvSpPr>
        <p:spPr>
          <a:xfrm>
            <a:off x="6131815" y="6371015"/>
            <a:ext cx="5616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i="1" dirty="0">
                <a:solidFill>
                  <a:schemeClr val="bg2">
                    <a:lumMod val="10000"/>
                  </a:schemeClr>
                </a:solidFill>
              </a:rPr>
              <a:t>High Resolution Imaging in Microscopy and Ophthalmology: New Frontiers in Biomedical Optics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</a:rPr>
              <a:t>, edited by J. Roland, J. P. Rolland, and J. Jannick (Springer Nature, 2014).</a:t>
            </a:r>
            <a:endParaRPr lang="zh-CN" alt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63C55DF-48B4-9476-B2E1-5AFE0A2E2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6" y="2292667"/>
            <a:ext cx="5216967" cy="363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7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2F24-D274-FF73-1F73-5082CE2E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436295-4B53-B45B-2276-DE7A06C0E7C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9B2A9097-1AC9-FD89-D1FF-849472E1911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0DAFA56-58C6-1914-87F7-5C0C3FA27CB5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AE9F36B-45A7-FE03-331C-F723C8860FE7}"/>
              </a:ext>
            </a:extLst>
          </p:cNvPr>
          <p:cNvSpPr txBox="1"/>
          <p:nvPr/>
        </p:nvSpPr>
        <p:spPr>
          <a:xfrm>
            <a:off x="2737201" y="0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07BEB2BE-2F60-3C86-673C-0BDBD5F5D635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5AB2053-8721-E880-A7A4-E47DAA697542}"/>
              </a:ext>
            </a:extLst>
          </p:cNvPr>
          <p:cNvGrpSpPr/>
          <p:nvPr/>
        </p:nvGrpSpPr>
        <p:grpSpPr>
          <a:xfrm>
            <a:off x="431085" y="1501229"/>
            <a:ext cx="5908755" cy="3624046"/>
            <a:chOff x="431085" y="1501229"/>
            <a:chExt cx="6996781" cy="3624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1AD0BD1-5ADE-1438-42EE-FD318410A9E3}"/>
                </a:ext>
              </a:extLst>
            </p:cNvPr>
            <p:cNvSpPr/>
            <p:nvPr/>
          </p:nvSpPr>
          <p:spPr>
            <a:xfrm>
              <a:off x="468265" y="1948997"/>
              <a:ext cx="6959601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D76037A4-BF7D-B1DB-81D3-DD8F3D991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6996781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Low-Coherence Interferometry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97C35-E43B-EFD8-0F45-B8A21B38F9E0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 Principle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912FACB-E3FF-1A73-6F42-B09A337CEBAB}"/>
              </a:ext>
            </a:extLst>
          </p:cNvPr>
          <p:cNvGrpSpPr/>
          <p:nvPr/>
        </p:nvGrpSpPr>
        <p:grpSpPr>
          <a:xfrm>
            <a:off x="431085" y="5378756"/>
            <a:ext cx="9966051" cy="992145"/>
            <a:chOff x="301355" y="5378756"/>
            <a:chExt cx="9966050" cy="99214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920B4E2-ABA7-C921-23D6-84BF950ECC92}"/>
                </a:ext>
              </a:extLst>
            </p:cNvPr>
            <p:cNvSpPr txBox="1"/>
            <p:nvPr/>
          </p:nvSpPr>
          <p:spPr>
            <a:xfrm>
              <a:off x="301355" y="5378756"/>
              <a:ext cx="8494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Low-coherence interferometry via a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Michelson interferometer </a:t>
              </a:r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geometry</a:t>
              </a:r>
              <a:endParaRPr lang="zh-CN" altLang="en-US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D1A6130-E168-01BC-8A4E-F152EB5F06D5}"/>
                </a:ext>
              </a:extLst>
            </p:cNvPr>
            <p:cNvSpPr txBox="1"/>
            <p:nvPr/>
          </p:nvSpPr>
          <p:spPr>
            <a:xfrm>
              <a:off x="301355" y="6001569"/>
              <a:ext cx="9966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Interference occurs only when the optical path difference is strictly within the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coherence length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2FD1E20-BF8C-2177-1F9E-923007D1D3F1}"/>
              </a:ext>
            </a:extLst>
          </p:cNvPr>
          <p:cNvGrpSpPr/>
          <p:nvPr/>
        </p:nvGrpSpPr>
        <p:grpSpPr>
          <a:xfrm>
            <a:off x="6837419" y="1598458"/>
            <a:ext cx="4341362" cy="1473097"/>
            <a:chOff x="7535927" y="1573652"/>
            <a:chExt cx="4341362" cy="14730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4">
                  <a:extLst>
                    <a:ext uri="{FF2B5EF4-FFF2-40B4-BE49-F238E27FC236}">
                      <a16:creationId xmlns:a16="http://schemas.microsoft.com/office/drawing/2014/main" id="{68F67666-BEDD-40DD-3967-73CB4FFB4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80672" y="1573652"/>
                  <a:ext cx="4251873" cy="11603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Axial Resolution</a:t>
                  </a:r>
                </a:p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i="1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i="1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den>
                        </m:f>
                        <m:f>
                          <m:fPr>
                            <m:ctrlP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oMath>
                    </m:oMathPara>
                  </a14:m>
                  <a:endParaRPr lang="en-US" altLang="zh-CN" i="1" dirty="0">
                    <a:latin typeface="Cambria Math" panose="02040503050406030204" pitchFamily="18" charset="0"/>
                  </a:endParaRPr>
                </a:p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zh-CN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Rectangle 4">
                  <a:extLst>
                    <a:ext uri="{FF2B5EF4-FFF2-40B4-BE49-F238E27FC236}">
                      <a16:creationId xmlns:a16="http://schemas.microsoft.com/office/drawing/2014/main" id="{68F67666-BEDD-40DD-3967-73CB4FFB4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80672" y="1573652"/>
                  <a:ext cx="4251873" cy="1160382"/>
                </a:xfrm>
                <a:prstGeom prst="rect">
                  <a:avLst/>
                </a:prstGeom>
                <a:blipFill>
                  <a:blip r:embed="rId7"/>
                  <a:stretch>
                    <a:fillRect l="-1291" t="-6316" b="-736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851022C-C1A6-2662-517F-1FD6BEAB3A78}"/>
                    </a:ext>
                  </a:extLst>
                </p:cNvPr>
                <p:cNvSpPr txBox="1"/>
                <p:nvPr/>
              </p:nvSpPr>
              <p:spPr>
                <a:xfrm>
                  <a:off x="7535927" y="2677417"/>
                  <a:ext cx="43413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(Wider bandwidth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altLang="zh-CN" i="1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zh-CN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Higher resolution)</a:t>
                  </a:r>
                  <a:endParaRPr lang="zh-CN" altLang="en-US" dirty="0">
                    <a:solidFill>
                      <a:srgbClr val="10383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851022C-C1A6-2662-517F-1FD6BEAB3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927" y="2677417"/>
                  <a:ext cx="434136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264" t="-10000" r="-2809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5BA0AAB-DFF9-4499-8DD6-946386C7F7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119" y="2197294"/>
            <a:ext cx="4373469" cy="290976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6F7C5FE-D9CB-78AF-5411-F9D9185ACDC5}"/>
              </a:ext>
            </a:extLst>
          </p:cNvPr>
          <p:cNvSpPr txBox="1"/>
          <p:nvPr/>
        </p:nvSpPr>
        <p:spPr>
          <a:xfrm>
            <a:off x="6837419" y="3786445"/>
            <a:ext cx="4492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Ultrafast Lasers: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According to the Fourier transform limit, a femtosecond pulse inherently possesses an extremely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broad spectral bandwidth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40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463AC-BF09-43CA-D33D-5D1025A8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0E85D69-E0CA-E184-6CEB-22F2EF390217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A2A11C22-BFC5-F119-DC40-BEABD35AB6A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CC591D0-E401-37DE-11FB-3BD9B665ED2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460AE51A-21FD-6664-0BC7-0B09ACAE7DB9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13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6AAFDE-81E2-AAF0-D889-C33302C7F14C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Evolution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536717-CEEC-575A-3008-4F59EEE38E59}"/>
              </a:ext>
            </a:extLst>
          </p:cNvPr>
          <p:cNvGrpSpPr/>
          <p:nvPr/>
        </p:nvGrpSpPr>
        <p:grpSpPr>
          <a:xfrm>
            <a:off x="431085" y="1501229"/>
            <a:ext cx="8077189" cy="4526914"/>
            <a:chOff x="431085" y="1501229"/>
            <a:chExt cx="6996781" cy="452691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9A95538-A55C-83D4-9FFC-0F36C3241019}"/>
                </a:ext>
              </a:extLst>
            </p:cNvPr>
            <p:cNvSpPr/>
            <p:nvPr/>
          </p:nvSpPr>
          <p:spPr>
            <a:xfrm>
              <a:off x="468265" y="1948997"/>
              <a:ext cx="6959601" cy="4079146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69D2C97D-BDD9-ADAE-E621-88F4CA92D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6996781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lvl="0">
                <a:spcBef>
                  <a:spcPts val="1200"/>
                </a:spcBef>
                <a:defRPr/>
              </a:pP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SD-OCT</a:t>
              </a:r>
              <a:r>
                <a:rPr lang="zh-CN" altLang="en-US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Spectral-Domain OCT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C7383210-BC77-A0A4-4A8F-8EC0F062E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18" y="2022068"/>
            <a:ext cx="6313714" cy="39549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7CA4E2D-6357-CEEB-D300-5891E85654AB}"/>
              </a:ext>
            </a:extLst>
          </p:cNvPr>
          <p:cNvSpPr txBox="1"/>
          <p:nvPr/>
        </p:nvSpPr>
        <p:spPr>
          <a:xfrm>
            <a:off x="8803456" y="3429000"/>
            <a:ext cx="2615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Eliminates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mechanical reference arm scanning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66EDB91-6BD0-4F7A-CBD2-424C8845C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787" y="4438582"/>
            <a:ext cx="3940378" cy="147732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E3261DF-BFE1-A65E-F7BE-A537ACCFBDFE}"/>
              </a:ext>
            </a:extLst>
          </p:cNvPr>
          <p:cNvSpPr txBox="1"/>
          <p:nvPr/>
        </p:nvSpPr>
        <p:spPr>
          <a:xfrm>
            <a:off x="6131815" y="6371015"/>
            <a:ext cx="5616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i="1" dirty="0">
                <a:solidFill>
                  <a:schemeClr val="bg2">
                    <a:lumMod val="10000"/>
                  </a:schemeClr>
                </a:solidFill>
              </a:rPr>
              <a:t>High Resolution Imaging in Microscopy and Ophthalmology: New Frontiers in Biomedical Optics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</a:rPr>
              <a:t>, edited by J. Roland, J. P. Rolland, and J. Jannick (Springer Nature, 2014).</a:t>
            </a:r>
            <a:endParaRPr lang="zh-CN" alt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A388CC-531D-95D1-F4C5-940F8DE31FB5}"/>
              </a:ext>
            </a:extLst>
          </p:cNvPr>
          <p:cNvSpPr txBox="1"/>
          <p:nvPr/>
        </p:nvSpPr>
        <p:spPr>
          <a:xfrm>
            <a:off x="8803456" y="1481499"/>
            <a:ext cx="2914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information from all depths is acquired in the frequency domain using a spectrometer</a:t>
            </a:r>
          </a:p>
        </p:txBody>
      </p:sp>
      <p:sp>
        <p:nvSpPr>
          <p:cNvPr id="24" name="箭头: 圆角右 23">
            <a:extLst>
              <a:ext uri="{FF2B5EF4-FFF2-40B4-BE49-F238E27FC236}">
                <a16:creationId xmlns:a16="http://schemas.microsoft.com/office/drawing/2014/main" id="{406C7F7A-0A66-C5B7-B7E6-0ADDEFCFF602}"/>
              </a:ext>
            </a:extLst>
          </p:cNvPr>
          <p:cNvSpPr/>
          <p:nvPr/>
        </p:nvSpPr>
        <p:spPr>
          <a:xfrm>
            <a:off x="3750105" y="4955177"/>
            <a:ext cx="657682" cy="296092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579775B-685F-62E6-B548-41211433CFDA}"/>
              </a:ext>
            </a:extLst>
          </p:cNvPr>
          <p:cNvSpPr txBox="1"/>
          <p:nvPr/>
        </p:nvSpPr>
        <p:spPr>
          <a:xfrm>
            <a:off x="9166539" y="4807914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Phase Stability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BD1CDF9D-CBF6-747F-28FF-C0643379F139}"/>
              </a:ext>
            </a:extLst>
          </p:cNvPr>
          <p:cNvSpPr/>
          <p:nvPr/>
        </p:nvSpPr>
        <p:spPr>
          <a:xfrm>
            <a:off x="10049691" y="4095037"/>
            <a:ext cx="104503" cy="64633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A711A7-C14D-F595-AEDF-A119C0892314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1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2E8E-FE2E-21D0-8A86-30EA7B5E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1C9C4C7-D8BD-13C3-B62B-337253C05F7E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5B39C724-131A-C578-0989-B287D542561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CECCB1A-CAAE-2FA3-4BA4-92E25C06C530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EEAB8070-C048-B054-8BE4-845180AE4F99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14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FDE75A-D681-9046-33A9-2B15543C51C3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Structural imaging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2188675-6D59-041F-634A-74CB45B090E6}"/>
              </a:ext>
            </a:extLst>
          </p:cNvPr>
          <p:cNvGrpSpPr/>
          <p:nvPr/>
        </p:nvGrpSpPr>
        <p:grpSpPr>
          <a:xfrm>
            <a:off x="431085" y="1501229"/>
            <a:ext cx="11401460" cy="3624046"/>
            <a:chOff x="431085" y="1501229"/>
            <a:chExt cx="11401460" cy="3624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4CDD44-75AB-17A6-99FB-4EB4FE792E49}"/>
                </a:ext>
              </a:extLst>
            </p:cNvPr>
            <p:cNvSpPr/>
            <p:nvPr/>
          </p:nvSpPr>
          <p:spPr>
            <a:xfrm>
              <a:off x="468265" y="1948997"/>
              <a:ext cx="11364280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3CED6FF0-6218-1BE4-545E-B5EE2B956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11401459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>
                <a:spcBef>
                  <a:spcPts val="1200"/>
                </a:spcBef>
                <a:defRPr/>
              </a:pP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u="none" dirty="0">
                  <a:latin typeface="Arial" panose="020B0604020202020204" pitchFamily="34" charset="0"/>
                  <a:cs typeface="Arial" panose="020B0604020202020204" pitchFamily="34" charset="0"/>
                </a:rPr>
                <a:t>Optical Biopsy of Retinal Layers</a:t>
              </a: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lang="zh-CN" altLang="en-US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37387EB-F089-CEE0-F051-D3A7BD539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8602" y="2006159"/>
              <a:ext cx="8874795" cy="2962924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592667A-7818-9EDB-676E-5CED25B02F8A}"/>
              </a:ext>
            </a:extLst>
          </p:cNvPr>
          <p:cNvSpPr txBox="1"/>
          <p:nvPr/>
        </p:nvSpPr>
        <p:spPr>
          <a:xfrm>
            <a:off x="3082834" y="5590903"/>
            <a:ext cx="2651216" cy="55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406A72-557C-19FC-B6B7-A8714F7D9918}"/>
              </a:ext>
            </a:extLst>
          </p:cNvPr>
          <p:cNvSpPr txBox="1"/>
          <p:nvPr/>
        </p:nvSpPr>
        <p:spPr>
          <a:xfrm>
            <a:off x="2283550" y="5590903"/>
            <a:ext cx="76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High-sensitivity resolution of stratified microstructures of the retina </a:t>
            </a:r>
          </a:p>
          <a:p>
            <a:r>
              <a:rPr lang="en-US" altLang="zh-CN" b="1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the ultra-broad spectrum of ultrafast lasers.</a:t>
            </a:r>
            <a:endParaRPr lang="zh-CN" altLang="en-US" b="1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CE5C78-190A-2128-E0D1-32E6378F0273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2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DDA2-8766-55C4-B7F5-1AD59494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F1F556D-637E-0087-B6D2-A3A1160DC7FB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9581AB7E-ABA7-6F96-60FF-DE332705C50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166D0F-899B-D07E-575D-EB14F12B1629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CD7857A3-1255-5F25-C436-2B51736DEF6D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15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FB662C-C61B-5A41-1589-D7CB42AB6389}"/>
              </a:ext>
            </a:extLst>
          </p:cNvPr>
          <p:cNvSpPr/>
          <p:nvPr/>
        </p:nvSpPr>
        <p:spPr>
          <a:xfrm>
            <a:off x="458032" y="1948997"/>
            <a:ext cx="6674287" cy="4382134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Text Box 71">
            <a:extLst>
              <a:ext uri="{FF2B5EF4-FFF2-40B4-BE49-F238E27FC236}">
                <a16:creationId xmlns:a16="http://schemas.microsoft.com/office/drawing/2014/main" id="{A2BB44C4-F63F-9097-F3FA-34D4A4B13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85" y="1501229"/>
            <a:ext cx="6709943" cy="550662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>
              <a:spcBef>
                <a:spcPts val="1200"/>
              </a:spcBef>
              <a:defRPr/>
            </a:pPr>
            <a:r>
              <a:rPr lang="en-US" altLang="zh-CN" u="none" dirty="0">
                <a:latin typeface="Arial" panose="020B0604020202020204" pitchFamily="34" charset="0"/>
                <a:cs typeface="Arial" panose="020B0604020202020204" pitchFamily="34" charset="0"/>
              </a:rPr>
              <a:t>Optical Biopsy of Retinal Layers</a:t>
            </a:r>
            <a:r>
              <a:rPr lang="en-US" altLang="zh-CN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18644-F5BC-D4B7-8B8A-CB6B0703F1E9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Structural imaging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520D660-FFB7-3DF5-0A4D-6329B907B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49" y="2096885"/>
            <a:ext cx="2376116" cy="40863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ADDF59D-2EBF-E332-3EAE-BBA706478032}"/>
              </a:ext>
            </a:extLst>
          </p:cNvPr>
          <p:cNvSpPr txBox="1"/>
          <p:nvPr/>
        </p:nvSpPr>
        <p:spPr>
          <a:xfrm>
            <a:off x="3121479" y="2498174"/>
            <a:ext cx="261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 macular edema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9CA196-A851-A9B1-CBFA-A0EB01584D24}"/>
              </a:ext>
            </a:extLst>
          </p:cNvPr>
          <p:cNvSpPr txBox="1"/>
          <p:nvPr/>
        </p:nvSpPr>
        <p:spPr>
          <a:xfrm>
            <a:off x="3121479" y="3638881"/>
            <a:ext cx="419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choroidal neovascularization resulting from age-related macular degeneration (AMD)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532001-51E9-D6C4-F8BC-914C2B2A9ED5}"/>
              </a:ext>
            </a:extLst>
          </p:cNvPr>
          <p:cNvSpPr txBox="1"/>
          <p:nvPr/>
        </p:nvSpPr>
        <p:spPr>
          <a:xfrm>
            <a:off x="3121479" y="5056587"/>
            <a:ext cx="3701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neovascular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 with extensive subretinal hyperreflective material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B1C97B-3517-AFEA-8340-5F3EBB0D73BA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2BF1416-2FA6-C290-D6E1-EF57B3040633}"/>
              </a:ext>
            </a:extLst>
          </p:cNvPr>
          <p:cNvSpPr txBox="1"/>
          <p:nvPr/>
        </p:nvSpPr>
        <p:spPr>
          <a:xfrm>
            <a:off x="7406790" y="2006000"/>
            <a:ext cx="4654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DME diagnosis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Real-time assessment of tissue fluid accumulation and cystic edema in areas such as the inner nuclear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642E87-06CC-706D-CF5A-E2B20C260553}"/>
              </a:ext>
            </a:extLst>
          </p:cNvPr>
          <p:cNvSpPr txBox="1"/>
          <p:nvPr/>
        </p:nvSpPr>
        <p:spPr>
          <a:xfrm>
            <a:off x="7406790" y="3361882"/>
            <a:ext cx="400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Drusen Identification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Precisely captures the minute bumps caused by the glass film light spot (Drusen) beneath the RPE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015CC1-543B-F6E7-DB9E-45CD693396C3}"/>
              </a:ext>
            </a:extLst>
          </p:cNvPr>
          <p:cNvSpPr txBox="1"/>
          <p:nvPr/>
        </p:nvSpPr>
        <p:spPr>
          <a:xfrm>
            <a:off x="7406790" y="4779588"/>
            <a:ext cx="4362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Leakage monitoring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Observe the accumulation of subretinal high reflectivity material (SHRM), which is usually an important marker of choroidal neovascularization (CNV) and its activity.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41CCA0-0834-E4E0-15AE-E9AC0EFECDE9}"/>
              </a:ext>
            </a:extLst>
          </p:cNvPr>
          <p:cNvSpPr txBox="1"/>
          <p:nvPr/>
        </p:nvSpPr>
        <p:spPr>
          <a:xfrm>
            <a:off x="8669623" y="6457757"/>
            <a:ext cx="3056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zh-CN" sz="11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De Fauw </a:t>
            </a:r>
            <a:r>
              <a:rPr lang="da-DK" altLang="zh-CN" sz="1100" i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da-DK" altLang="zh-CN" sz="11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Nat. Med. </a:t>
            </a:r>
            <a:r>
              <a:rPr lang="da-DK" altLang="zh-CN" sz="11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da-DK" altLang="zh-CN" sz="11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1342 (2018)</a:t>
            </a:r>
            <a:endParaRPr lang="zh-CN" altLang="en-US" sz="11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92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ADFA-BB25-0334-3559-EA70774D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84DC77C-56BC-59DF-14F9-9C5D6FEDC959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4264537E-B6B9-C34D-3FA2-87624DE1991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94857A-08FE-9B45-0C0D-FA730BAD7AF4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995112F8-EA73-B2EC-A525-D9678756F4C1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16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AF97B3-5E53-7075-2077-4E2FEDD97D5B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Commercialization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99A35E4-219A-E49F-BC42-12A4732C1345}"/>
              </a:ext>
            </a:extLst>
          </p:cNvPr>
          <p:cNvGrpSpPr/>
          <p:nvPr/>
        </p:nvGrpSpPr>
        <p:grpSpPr>
          <a:xfrm>
            <a:off x="431085" y="1501229"/>
            <a:ext cx="3465698" cy="3624046"/>
            <a:chOff x="431085" y="1501229"/>
            <a:chExt cx="11401460" cy="3624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3BC49D-6459-5283-16D9-9B8622A6FAB2}"/>
                </a:ext>
              </a:extLst>
            </p:cNvPr>
            <p:cNvSpPr/>
            <p:nvPr/>
          </p:nvSpPr>
          <p:spPr>
            <a:xfrm>
              <a:off x="468265" y="1948997"/>
              <a:ext cx="11364280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4E3DFCDA-5E6F-CCFD-B604-A457A2682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11401459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>
                <a:spcBef>
                  <a:spcPts val="1200"/>
                </a:spcBef>
                <a:defRPr/>
              </a:pPr>
              <a:r>
                <a:rPr lang="en-US" altLang="zh-CN" u="none" dirty="0">
                  <a:latin typeface="Arial" panose="020B0604020202020204" pitchFamily="34" charset="0"/>
                  <a:cs typeface="Arial" panose="020B0604020202020204" pitchFamily="34" charset="0"/>
                </a:rPr>
                <a:t>Zeiss Cirrus 5000</a:t>
              </a:r>
              <a:endParaRPr lang="zh-CN" altLang="en-US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5D8367D-E89C-7EB5-EACF-DC60F799FB47}"/>
              </a:ext>
            </a:extLst>
          </p:cNvPr>
          <p:cNvSpPr txBox="1"/>
          <p:nvPr/>
        </p:nvSpPr>
        <p:spPr>
          <a:xfrm>
            <a:off x="3082834" y="5584004"/>
            <a:ext cx="2651216" cy="55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122586-1E2B-B0BA-041A-2A986700150F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55E17A-4664-54C9-23DF-3AB968F74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63" y="2286637"/>
            <a:ext cx="3004141" cy="2500997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5441DDEA-736D-663B-57D0-F016DB7904B8}"/>
              </a:ext>
            </a:extLst>
          </p:cNvPr>
          <p:cNvGrpSpPr/>
          <p:nvPr/>
        </p:nvGrpSpPr>
        <p:grpSpPr>
          <a:xfrm>
            <a:off x="4404617" y="1501229"/>
            <a:ext cx="3465698" cy="3624046"/>
            <a:chOff x="431084" y="1501229"/>
            <a:chExt cx="11401461" cy="362404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4D723AC-F0A0-A881-CA1F-98D19F60DF31}"/>
                </a:ext>
              </a:extLst>
            </p:cNvPr>
            <p:cNvSpPr/>
            <p:nvPr/>
          </p:nvSpPr>
          <p:spPr>
            <a:xfrm>
              <a:off x="468265" y="1948997"/>
              <a:ext cx="11364280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4" name="Text Box 71">
              <a:extLst>
                <a:ext uri="{FF2B5EF4-FFF2-40B4-BE49-F238E27FC236}">
                  <a16:creationId xmlns:a16="http://schemas.microsoft.com/office/drawing/2014/main" id="{8B75E7FE-44F8-CFFB-8D7F-29C168F44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4" y="1501229"/>
              <a:ext cx="11401461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>
                <a:spcBef>
                  <a:spcPts val="1200"/>
                </a:spcBef>
                <a:defRPr/>
              </a:pPr>
              <a:r>
                <a:rPr lang="en-US" altLang="zh-CN" u="none" dirty="0">
                  <a:latin typeface="Arial" panose="020B0604020202020204" pitchFamily="34" charset="0"/>
                  <a:cs typeface="Arial" panose="020B0604020202020204" pitchFamily="34" charset="0"/>
                </a:rPr>
                <a:t>Heidelberg </a:t>
              </a:r>
              <a:r>
                <a:rPr lang="en-US" altLang="zh-CN" u="none" dirty="0" err="1">
                  <a:latin typeface="Arial" panose="020B0604020202020204" pitchFamily="34" charset="0"/>
                  <a:cs typeface="Arial" panose="020B0604020202020204" pitchFamily="34" charset="0"/>
                </a:rPr>
                <a:t>Spectralis</a:t>
              </a:r>
              <a:endParaRPr lang="zh-CN" altLang="en-US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7A6FCDE-81FD-78BD-FF0C-FEC7CC8466B2}"/>
              </a:ext>
            </a:extLst>
          </p:cNvPr>
          <p:cNvGrpSpPr/>
          <p:nvPr/>
        </p:nvGrpSpPr>
        <p:grpSpPr>
          <a:xfrm>
            <a:off x="8366847" y="1501229"/>
            <a:ext cx="3465698" cy="3624046"/>
            <a:chOff x="431085" y="1501229"/>
            <a:chExt cx="11401460" cy="3624046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DCAB1D7-2DEB-006F-F6C1-39964A87D7E3}"/>
                </a:ext>
              </a:extLst>
            </p:cNvPr>
            <p:cNvSpPr/>
            <p:nvPr/>
          </p:nvSpPr>
          <p:spPr>
            <a:xfrm>
              <a:off x="468265" y="1948997"/>
              <a:ext cx="11364280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Text Box 71">
              <a:extLst>
                <a:ext uri="{FF2B5EF4-FFF2-40B4-BE49-F238E27FC236}">
                  <a16:creationId xmlns:a16="http://schemas.microsoft.com/office/drawing/2014/main" id="{80E680A7-6DA6-42A9-EA08-32DB7F10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11401459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>
                <a:spcBef>
                  <a:spcPts val="1200"/>
                </a:spcBef>
                <a:defRPr/>
              </a:pPr>
              <a:r>
                <a:rPr lang="en-US" altLang="zh-CN" u="none" dirty="0" err="1">
                  <a:latin typeface="Arial" panose="020B0604020202020204" pitchFamily="34" charset="0"/>
                  <a:cs typeface="Arial" panose="020B0604020202020204" pitchFamily="34" charset="0"/>
                </a:rPr>
                <a:t>Mocean</a:t>
              </a:r>
              <a:r>
                <a:rPr lang="en-US" altLang="zh-CN" u="none" dirty="0">
                  <a:latin typeface="Arial" panose="020B0604020202020204" pitchFamily="34" charset="0"/>
                  <a:cs typeface="Arial" panose="020B0604020202020204" pitchFamily="34" charset="0"/>
                </a:rPr>
                <a:t> 4000</a:t>
              </a:r>
              <a:endParaRPr lang="zh-CN" altLang="en-US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A82A6FFE-579D-B94E-C115-761D58866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439" y="2088798"/>
            <a:ext cx="2538514" cy="3013033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77701CB-AF41-3FA6-BFA2-F5F2B550F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463" y="2388105"/>
            <a:ext cx="2909079" cy="2081789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3AA8C617-1940-8894-79E3-B7552E5DDEFD}"/>
              </a:ext>
            </a:extLst>
          </p:cNvPr>
          <p:cNvSpPr txBox="1"/>
          <p:nvPr/>
        </p:nvSpPr>
        <p:spPr>
          <a:xfrm>
            <a:off x="3827991" y="5396305"/>
            <a:ext cx="46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Successful market entry of OCT devices.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91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36D8-6520-5352-12E7-C4B5E777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C711980-AFAB-8E25-5D62-6187CA0B260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35457EAE-5C5F-4D7C-0B5D-0AA46620505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B5857A7-5B75-9279-86BF-A64390569E26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9108DFEA-A556-98A8-C92F-39D6128848D2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17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B1DB5B-9CFB-1CE2-48D9-419723AFDDF4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Diagnostic Science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81C6ED-DB86-4811-08FC-1E1D6ADFA350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C03BD8-3362-ED1E-E5FB-2618513C5FB4}"/>
              </a:ext>
            </a:extLst>
          </p:cNvPr>
          <p:cNvSpPr txBox="1"/>
          <p:nvPr/>
        </p:nvSpPr>
        <p:spPr>
          <a:xfrm>
            <a:off x="431086" y="1519449"/>
            <a:ext cx="930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Ultrafast laser technology is an important tool of modern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label-free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biomedical diagnostics.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C0295E-FDA6-ED5F-B3CF-CCDA2ABFDC9D}"/>
              </a:ext>
            </a:extLst>
          </p:cNvPr>
          <p:cNvSpPr txBox="1"/>
          <p:nvPr/>
        </p:nvSpPr>
        <p:spPr>
          <a:xfrm>
            <a:off x="431086" y="1933173"/>
            <a:ext cx="5238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Temporal Domain: Transient Dynamics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Pump-Probe method turns spatial distance into high time resolution. It helps us capture the fast process of heat loss at the molecular level.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C76C39-88FD-EF69-2B07-E27CDFC58446}"/>
              </a:ext>
            </a:extLst>
          </p:cNvPr>
          <p:cNvSpPr txBox="1"/>
          <p:nvPr/>
        </p:nvSpPr>
        <p:spPr>
          <a:xfrm>
            <a:off x="431085" y="3255813"/>
            <a:ext cx="4881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Spatial Domain: 3D Anatomy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 uses the features of ultrafast lasers to produce 3D images with extremely high resolution. Unlike traditional tools, it can show deep details clearly without touching the body. </a:t>
            </a:r>
            <a:endParaRPr lang="zh-CN" altLang="en-US" b="1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D23D5C-30C7-0D5E-AAFA-C5B0755661C6}"/>
              </a:ext>
            </a:extLst>
          </p:cNvPr>
          <p:cNvSpPr txBox="1"/>
          <p:nvPr/>
        </p:nvSpPr>
        <p:spPr>
          <a:xfrm>
            <a:off x="431084" y="4993883"/>
            <a:ext cx="10811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combination of deep learning and functional OCT/Pump-Probe will provide a new imaging tool. It will further improve the quality of medical pictures and offer more help in clinical medicine.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诊断| Pantai医院">
            <a:extLst>
              <a:ext uri="{FF2B5EF4-FFF2-40B4-BE49-F238E27FC236}">
                <a16:creationId xmlns:a16="http://schemas.microsoft.com/office/drawing/2014/main" id="{63A4A0FF-A2A2-0A1D-D6EB-6FA849927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85" y="2316480"/>
            <a:ext cx="4450080" cy="222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20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1FB9-4A38-6477-9DB0-7FAA57E2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058A801-3944-E3D2-F8D6-FB2A9EC3F06E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8777ADA9-0D73-273D-B610-75C096B5D5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9D38310-FF61-6645-3FB5-BC23993A50BC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92381EB3-0B97-7D31-9544-61860A58CD6B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18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FC1724-126F-A731-849D-18EF6270BA6B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5D75E9-B317-E880-8E05-879B24A67385}"/>
              </a:ext>
            </a:extLst>
          </p:cNvPr>
          <p:cNvSpPr txBox="1"/>
          <p:nvPr/>
        </p:nvSpPr>
        <p:spPr>
          <a:xfrm>
            <a:off x="304798" y="883386"/>
            <a:ext cx="11582400" cy="5796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[1] H.A. Haus, Mode-locking of lasers, IEEE Journal of Selected Topics in Quantum Electronics 6(6) (2000) 1173-1185.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https://doi.org/10.1109/2944.902165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[2] A.H. Zewail,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Femtochemistry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:  Atomic-Scale Dynamics of the Chemical Bond, The Journal of Physical Chemistry A 104(24) (2000) 5660-5694.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https://doi.org/10.1021/jp001460h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[3] D. Huang, E.A. Swanson, C.P. Lin, J.S. Schuman, W.G. Stinson, W. Chang, M.R.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Hee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T. Flotte, K. Gregory, C.A.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Puliafito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J.G. Fujimoto, Optical Coherence Tomography, Science 254(5035) (1991) 1178-1181.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https://doi.org/doi:10.1126/science.1957169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[4] I.R.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Piletic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T.E. Matthews, W.S. Warren, Probing Near-Infrared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Photorelaxation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Pathways in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Eumelanins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and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Pheomelanins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The Journal of Physical Chemistry A 114(43) (2010) 11483-11491.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https://doi.org/10.1021/jp103608d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[5] W. Min, S. Lu, S. Chong, R. Roy, G.R. Holtom, X.S. Xie, Imaging chromophores with undetectable fluorescence by stimulated emission microscopy, Nature 461(7267) (2009) 1105-1109.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https://doi.org/10.1038/nature08438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[6] T.E. Matthews, I.R.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Piletic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M.A. Selim, M.J. Simpson, W.S. Warren, Pump-probe imaging differentiates melanoma from melanocytic nevi, Sci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Transl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Med 3(71) (2011) 71ra15.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https://doi.org/10.1126/scitranslmed.3001604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[7] N. Nishizawa, Wideband ultrafast fiber laser sources for OCT and metrology, Journal of Physics B: Atomic, Molecular and Optical Physics 49(18) (2016) 182003.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https://doi.org/10.1088/0953-4075/49/18/182003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[8] P. Chen, Z. Long, Q. Cheng, M. Song, W. Wang, R. Liu, Z. Zhang, K. Xia, Z. Yang, L. Qian, S. Bai, X. Wang, P. Yang, P. Xu, E.S. Yousef, R. Wang, On-Chip Supercontinuum Generation Pumped by Short Wavelength Fiber Lasers, Photonics, 2024, p. 440.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10.3390/photonics11050440.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3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500767" y="2650336"/>
            <a:ext cx="9190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THANKS FOR ATTENTION</a:t>
            </a:r>
            <a:r>
              <a:rPr kumimoji="0" lang="zh-CN" altLang="en-US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！</a:t>
            </a:r>
            <a:endParaRPr kumimoji="0" lang="en-US" altLang="zh-CN" sz="48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pic>
        <p:nvPicPr>
          <p:cNvPr id="2" name="图片 1" descr="OIL_logo_white_L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35" y="5851525"/>
            <a:ext cx="2741930" cy="539115"/>
          </a:xfrm>
          <a:prstGeom prst="rect">
            <a:avLst/>
          </a:prstGeom>
        </p:spPr>
      </p:pic>
      <p:pic>
        <p:nvPicPr>
          <p:cNvPr id="4" name="图片 3" descr="03 南科大与电子系（左右反白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855" y="5851525"/>
            <a:ext cx="5452745" cy="593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7bac95e-b4c4-4236-a94f-860ed59cb660"/>
  <p:tag name="COMMONDATA" val="eyJoZGlkIjoiNzgxN2FmZTI0OTI0NTg5MjgzNjRkMDZhZWRmZTli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20506</TotalTime>
  <Words>1596</Words>
  <Application>Microsoft Office PowerPoint</Application>
  <PresentationFormat>宽屏</PresentationFormat>
  <Paragraphs>191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思源黑体 CN Bold</vt:lpstr>
      <vt:lpstr>宋体</vt:lpstr>
      <vt:lpstr>微软雅黑</vt:lpstr>
      <vt:lpstr>Arial</vt:lpstr>
      <vt:lpstr>Cambria Math</vt:lpstr>
      <vt:lpstr>Times New Roman</vt:lpstr>
      <vt:lpstr>Wingdings</vt:lpstr>
      <vt:lpstr>基础母版样式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衍宁 何</cp:lastModifiedBy>
  <cp:revision>122</cp:revision>
  <dcterms:created xsi:type="dcterms:W3CDTF">2019-12-17T11:56:00Z</dcterms:created>
  <dcterms:modified xsi:type="dcterms:W3CDTF">2026-04-15T09:23:43Z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8E12E5B840D04B47B81BBD3139E68710_13</vt:lpwstr>
  </property>
</Properties>
</file>