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58" r:id="rId16"/>
    <p:sldId id="302" r:id="rId17"/>
    <p:sldId id="299" r:id="rId18"/>
    <p:sldId id="303" r:id="rId19"/>
    <p:sldId id="300" r:id="rId20"/>
    <p:sldId id="304" r:id="rId21"/>
    <p:sldId id="305" r:id="rId22"/>
  </p:sldIdLst>
  <p:sldSz cx="12192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1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14:cpLocks xmlns:a14="http://schemas.microsoft.com/office/drawing/2010/main"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14:cpLocks xmlns:a14="http://schemas.microsoft.com/office/drawing/2010/main"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14:cpLocks xmlns:a14="http://schemas.microsoft.com/office/drawing/2010/main"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14:cpLocks xmlns:a14="http://schemas.microsoft.com/office/drawing/2010/main"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14:cpLocks xmlns:a14="http://schemas.microsoft.com/office/drawing/2010/main"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14:cpLocks xmlns:a14="http://schemas.microsoft.com/office/drawing/2010/main"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14:cpLocks xmlns:a14="http://schemas.microsoft.com/office/drawing/2010/main"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14:cpLocks xmlns:a14="http://schemas.microsoft.com/office/drawing/2010/main"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14:cpLocks xmlns:a14="http://schemas.microsoft.com/office/drawing/2010/main"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14:cpLocks xmlns:a14="http://schemas.microsoft.com/office/drawing/2010/main"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14:cpLocks xmlns:a14="http://schemas.microsoft.com/office/drawing/2010/main"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14:cpLocks xmlns:a14="http://schemas.microsoft.com/office/drawing/2010/main"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14:cpLocks xmlns:a14="http://schemas.microsoft.com/office/drawing/2010/main"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14:cpLocks xmlns:a14="http://schemas.microsoft.com/office/drawing/2010/main"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10"/>
          <p:cNvCxnSpPr/>
          <p:nvPr userDrawn="1"/>
        </p:nvCxnSpPr>
        <p:spPr>
          <a:xfrm flipV="1">
            <a:off x="0" y="454996"/>
            <a:ext cx="12192000" cy="2689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9"/>
          <p:cNvSpPr txBox="1"/>
          <p:nvPr userDrawn="1"/>
        </p:nvSpPr>
        <p:spPr>
          <a:xfrm>
            <a:off x="6878595" y="130660"/>
            <a:ext cx="5313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en-US" sz="1600" dirty="0">
                <a:solidFill>
                  <a:schemeClr val="accent2"/>
                </a:solidFill>
                <a:latin typeface="Tw Cen MT" pitchFamily="34" charset="0"/>
                <a:cs typeface="Arial" charset="0"/>
              </a:rPr>
              <a:t>Shihang Lu, Department of Electrical and Electronic Engineering</a:t>
            </a:r>
            <a:endParaRPr lang="en-US" sz="1600" dirty="0">
              <a:solidFill>
                <a:schemeClr val="accent2"/>
              </a:solidFill>
              <a:latin typeface="Tw Cen MT" pitchFamily="34" charset="0"/>
              <a:cs typeface="Arial" charset="0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524004" y="33537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kumimoji="1" lang="zh-CN" altLang="en-US">
              <a:solidFill>
                <a:prstClr val="black"/>
              </a:solidFill>
              <a:latin typeface="Calibri"/>
              <a:ea typeface="宋体" charset="-122"/>
            </a:endParaRPr>
          </a:p>
        </p:txBody>
      </p:sp>
      <p:cxnSp>
        <p:nvCxnSpPr>
          <p:cNvPr id="13" name="Straight Connector 10"/>
          <p:cNvCxnSpPr/>
          <p:nvPr userDrawn="1"/>
        </p:nvCxnSpPr>
        <p:spPr>
          <a:xfrm flipV="1">
            <a:off x="0" y="6362650"/>
            <a:ext cx="12192000" cy="2689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480" y="6402220"/>
            <a:ext cx="2108886" cy="455780"/>
          </a:xfrm>
          <a:prstGeom prst="rect">
            <a:avLst/>
          </a:prstGeom>
        </p:spPr>
      </p:pic>
      <p:sp>
        <p:nvSpPr>
          <p:cNvPr id="14" name="灯片编号占位符 5"/>
          <p:cNvSpPr>
            <a14:cpLocks xmlns:a14="http://schemas.microsoft.com/office/drawing/2010/main" noGrp="1"/>
          </p:cNvSpPr>
          <p:nvPr>
            <p:ph type="sldNum" sz="quarter" idx="4"/>
          </p:nvPr>
        </p:nvSpPr>
        <p:spPr>
          <a:xfrm>
            <a:off x="9286103" y="64106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accent1">
                    <a:lumMod val="50000"/>
                  </a:schemeClr>
                </a:solidFill>
                <a:latin typeface="Tw Cen MT" pitchFamily="34" charset="0"/>
              </a:defRPr>
            </a:lvl1pPr>
          </a:lstStyle>
          <a:p>
            <a:fld id="{213C3116-A92F-4AA3-9AD3-C9E52936524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14:cpLocks xmlns:a14="http://schemas.microsoft.com/office/drawing/2010/main"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14:cpLocks xmlns:a14="http://schemas.microsoft.com/office/drawing/2010/main"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14:cpLocks xmlns:a14="http://schemas.microsoft.com/office/drawing/2010/main"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14:cpLocks xmlns:a14="http://schemas.microsoft.com/office/drawing/2010/main"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mailto:lush2021@mail.sustech.edu.cn\shhlu@mail.ustc.edu.cn" TargetMode="Externa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oleObject" Target="../embeddings/oleObject4.bin"/><Relationship Id="rId7" Type="http://schemas.openxmlformats.org/officeDocument/2006/relationships/image" Target="../media/image8.w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5" Type="http://schemas.openxmlformats.org/officeDocument/2006/relationships/vmlDrawing" Target="../drawings/vmlDrawing1.v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11.wmf"/><Relationship Id="rId12" Type="http://schemas.openxmlformats.org/officeDocument/2006/relationships/oleObject" Target="../embeddings/oleObject6.bin"/><Relationship Id="rId11" Type="http://schemas.openxmlformats.org/officeDocument/2006/relationships/image" Target="../media/image10.wmf"/><Relationship Id="rId10" Type="http://schemas.openxmlformats.org/officeDocument/2006/relationships/oleObject" Target="../embeddings/oleObject5.bin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wmf"/><Relationship Id="rId1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6.wmf"/><Relationship Id="rId1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emf"/><Relationship Id="rId1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4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21.wmf"/><Relationship Id="rId10" Type="http://schemas.openxmlformats.org/officeDocument/2006/relationships/vmlDrawing" Target="../drawings/vmlDrawing5.vml"/><Relationship Id="rId1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2"/>
          <p:cNvSpPr txBox="1"/>
          <p:nvPr/>
        </p:nvSpPr>
        <p:spPr>
          <a:xfrm>
            <a:off x="1168854" y="2260625"/>
            <a:ext cx="9854292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zh-CN" sz="3600" b="1" dirty="0">
                <a:solidFill>
                  <a:schemeClr val="accent2"/>
                </a:solidFill>
                <a:latin typeface="Tw Cen MT" pitchFamily="34" charset="0"/>
                <a:ea typeface="Verdana" pitchFamily="34" charset="0"/>
                <a:cs typeface="Arial" charset="0"/>
              </a:rPr>
              <a:t>Tutorial Questions </a:t>
            </a:r>
            <a:r>
              <a:rPr lang="zh-CN" altLang="en-US" sz="3600" b="1" dirty="0">
                <a:solidFill>
                  <a:schemeClr val="accent2"/>
                </a:solidFill>
                <a:latin typeface="Tw Cen MT" pitchFamily="34" charset="0"/>
                <a:ea typeface="Verdana" pitchFamily="34" charset="0"/>
                <a:cs typeface="Arial" charset="0"/>
              </a:rPr>
              <a:t>（</a:t>
            </a:r>
            <a:r>
              <a:rPr lang="en-US" altLang="zh-CN" sz="3600" b="1" dirty="0">
                <a:solidFill>
                  <a:schemeClr val="accent2"/>
                </a:solidFill>
                <a:latin typeface="Tw Cen MT" pitchFamily="34" charset="0"/>
                <a:ea typeface="Verdana" pitchFamily="34" charset="0"/>
                <a:cs typeface="Arial" charset="0"/>
              </a:rPr>
              <a:t>Week 7</a:t>
            </a:r>
            <a:r>
              <a:rPr lang="zh-CN" altLang="en-US" sz="3600" b="1" dirty="0">
                <a:solidFill>
                  <a:schemeClr val="accent2"/>
                </a:solidFill>
                <a:latin typeface="Tw Cen MT" pitchFamily="34" charset="0"/>
                <a:ea typeface="Verdana" pitchFamily="34" charset="0"/>
                <a:cs typeface="Arial" charset="0"/>
              </a:rPr>
              <a:t>）</a:t>
            </a:r>
            <a:endParaRPr lang="en-US" altLang="zh-CN" sz="3600" b="1" dirty="0">
              <a:solidFill>
                <a:schemeClr val="accent2"/>
              </a:solidFill>
              <a:latin typeface="Tw Cen MT" pitchFamily="34" charset="0"/>
              <a:ea typeface="Verdana" pitchFamily="34" charset="0"/>
              <a:cs typeface="Arial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b="66695"/>
          <a:stretch>
            <a:fillRect/>
          </a:stretch>
        </p:blipFill>
        <p:spPr>
          <a:xfrm>
            <a:off x="2882848" y="612001"/>
            <a:ext cx="5396179" cy="1479319"/>
          </a:xfrm>
          <a:prstGeom prst="rect">
            <a:avLst/>
          </a:prstGeom>
        </p:spPr>
      </p:pic>
      <p:sp>
        <p:nvSpPr>
          <p:cNvPr id="2" name="TextBox 8"/>
          <p:cNvSpPr txBox="1"/>
          <p:nvPr/>
        </p:nvSpPr>
        <p:spPr>
          <a:xfrm>
            <a:off x="1575992" y="3429000"/>
            <a:ext cx="8001000" cy="16541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endParaRPr lang="en-US" sz="2400" baseline="30000" dirty="0">
              <a:solidFill>
                <a:srgbClr val="FF0000"/>
              </a:solidFill>
              <a:latin typeface="Tw Cen MT" pitchFamily="34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dirty="0">
                <a:latin typeface="Tw Cen MT" pitchFamily="34" charset="0"/>
                <a:cs typeface="Arial" charset="0"/>
              </a:rPr>
              <a:t>Haohao Li (</a:t>
            </a:r>
            <a:r>
              <a:rPr lang="zh-CN" altLang="en-US" sz="2400" dirty="0">
                <a:latin typeface="Tw Cen MT" pitchFamily="34" charset="0"/>
                <a:cs typeface="Arial" charset="0"/>
              </a:rPr>
              <a:t>李好好</a:t>
            </a:r>
            <a:r>
              <a:rPr lang="en-US" sz="2400" dirty="0">
                <a:latin typeface="Tw Cen MT" pitchFamily="34" charset="0"/>
                <a:cs typeface="Arial" charset="0"/>
              </a:rPr>
              <a:t>)</a:t>
            </a:r>
            <a:endParaRPr lang="en-US" sz="2000" dirty="0">
              <a:latin typeface="Tw Cen MT" pitchFamily="34" charset="0"/>
              <a:cs typeface="Arial" charset="0"/>
            </a:endParaRPr>
          </a:p>
          <a:p>
            <a:pPr algn="ctr"/>
            <a:r>
              <a:rPr lang="en-US" sz="2000" dirty="0">
                <a:latin typeface="Tw Cen MT" pitchFamily="34" charset="0"/>
                <a:cs typeface="Arial" charset="0"/>
              </a:rPr>
              <a:t>Southern University of Science and Technology</a:t>
            </a:r>
            <a:endParaRPr lang="en-US" sz="2000" dirty="0">
              <a:latin typeface="Tw Cen MT" pitchFamily="34" charset="0"/>
              <a:cs typeface="Arial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dirty="0">
                <a:latin typeface="Tw Cen MT" pitchFamily="34" charset="0"/>
                <a:cs typeface="Arial" charset="0"/>
              </a:rPr>
              <a:t>Email: </a:t>
            </a:r>
            <a:r>
              <a:rPr lang="en-US" altLang="zh-CN" sz="2000" dirty="0">
                <a:latin typeface="Tw Cen MT" pitchFamily="34" charset="0"/>
                <a:cs typeface="Arial" charset="0"/>
                <a:hlinkClick r:id="rId2"/>
              </a:rPr>
              <a:t>12432581</a:t>
            </a:r>
            <a:r>
              <a:rPr lang="en-US" sz="2000" dirty="0">
                <a:latin typeface="Tw Cen MT" pitchFamily="34" charset="0"/>
                <a:cs typeface="Arial" charset="0"/>
                <a:hlinkClick r:id="rId2"/>
              </a:rPr>
              <a:t>@mail.sustech.edu.cn </a:t>
            </a:r>
            <a:endParaRPr lang="en-US" sz="2000" dirty="0">
              <a:latin typeface="Tw Cen MT" pitchFamily="34" charset="0"/>
              <a:cs typeface="Arial" charset="0"/>
              <a:hlinkClick r:id="rId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9288" y="64988"/>
            <a:ext cx="642551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 dirty="0">
                <a:solidFill>
                  <a:schemeClr val="tx2">
                    <a:lumMod val="75000"/>
                  </a:schemeClr>
                </a:solidFill>
                <a:latin typeface="Tw Cen MT" pitchFamily="34" charset="0"/>
                <a:ea typeface="宋体" charset="-122"/>
              </a:rPr>
              <a:t>Basic knowledge Review on Chap 3a</a:t>
            </a:r>
            <a:endParaRPr lang="en-US" altLang="zh-CN" sz="2600" b="1" dirty="0">
              <a:solidFill>
                <a:schemeClr val="tx2">
                  <a:lumMod val="75000"/>
                </a:schemeClr>
              </a:solidFill>
              <a:latin typeface="Tw Cen MT" pitchFamily="34" charset="0"/>
              <a:ea typeface="宋体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2600" y="1003218"/>
            <a:ext cx="11099800" cy="359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zh-CN" sz="2200" dirty="0">
                <a:latin typeface="Tw Cen MT" pitchFamily="34" charset="0"/>
              </a:rPr>
              <a:t>Fourier Analysis</a:t>
            </a:r>
            <a:endParaRPr lang="en-US" altLang="zh-CN" sz="2200" dirty="0">
              <a:latin typeface="Tw Cen MT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200" dirty="0">
                <a:latin typeface="Tw Cen MT" pitchFamily="34" charset="0"/>
              </a:rPr>
              <a:t>Response for Complex Exponentials</a:t>
            </a:r>
            <a:endParaRPr lang="en-US" altLang="zh-CN" sz="2200" dirty="0">
              <a:latin typeface="Tw Cen MT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200" dirty="0">
                <a:solidFill>
                  <a:schemeClr val="bg2">
                    <a:lumMod val="90000"/>
                  </a:schemeClr>
                </a:solidFill>
                <a:latin typeface="Tw Cen MT" pitchFamily="34" charset="0"/>
              </a:rPr>
              <a:t>Fourier Series: Synthesis Equation &amp; Analysis Equation</a:t>
            </a:r>
            <a:endParaRPr lang="en-US" altLang="zh-CN" sz="2200" dirty="0">
              <a:solidFill>
                <a:schemeClr val="bg2">
                  <a:lumMod val="90000"/>
                </a:schemeClr>
              </a:solidFill>
              <a:latin typeface="Tw Cen MT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200" dirty="0">
                <a:solidFill>
                  <a:schemeClr val="bg2">
                    <a:lumMod val="90000"/>
                  </a:schemeClr>
                </a:solidFill>
                <a:latin typeface="Tw Cen MT" pitchFamily="34" charset="0"/>
              </a:rPr>
              <a:t>Properties</a:t>
            </a:r>
            <a:endParaRPr lang="en-US" altLang="zh-CN" sz="2200" dirty="0">
              <a:solidFill>
                <a:schemeClr val="bg2">
                  <a:lumMod val="90000"/>
                </a:schemeClr>
              </a:solidFill>
              <a:latin typeface="Tw Cen MT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200" dirty="0">
                <a:solidFill>
                  <a:schemeClr val="bg2">
                    <a:lumMod val="90000"/>
                  </a:schemeClr>
                </a:solidFill>
                <a:latin typeface="Tw Cen MT" pitchFamily="34" charset="0"/>
              </a:rPr>
              <a:t>Computation on </a:t>
            </a:r>
            <a:r>
              <a:rPr lang="en-US" altLang="zh-CN" sz="2200" dirty="0" err="1">
                <a:solidFill>
                  <a:schemeClr val="bg2">
                    <a:lumMod val="90000"/>
                  </a:schemeClr>
                </a:solidFill>
                <a:latin typeface="Tw Cen MT" pitchFamily="34" charset="0"/>
              </a:rPr>
              <a:t>ak</a:t>
            </a:r>
            <a:endParaRPr lang="en-US" altLang="zh-CN" sz="2200" dirty="0">
              <a:latin typeface="Tw Cen MT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endParaRPr lang="en-US" altLang="zh-CN" sz="2200" dirty="0">
              <a:latin typeface="Tw Cen MT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latin typeface="Tw Cen MT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406" y="923925"/>
            <a:ext cx="7410450" cy="25050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26" y="3759245"/>
            <a:ext cx="7534275" cy="24098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76494" y="536903"/>
            <a:ext cx="6112474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zh-CN" sz="1800" b="1" dirty="0">
                <a:solidFill>
                  <a:schemeClr val="accent2"/>
                </a:solidFill>
                <a:latin typeface="Tw Cen MT" pitchFamily="34" charset="0"/>
              </a:rPr>
              <a:t>CT </a:t>
            </a:r>
            <a:r>
              <a:rPr lang="en-US" altLang="zh-CN" sz="1800" b="1" dirty="0">
                <a:solidFill>
                  <a:srgbClr val="FF0000"/>
                </a:solidFill>
                <a:latin typeface="Tw Cen MT" pitchFamily="34" charset="0"/>
              </a:rPr>
              <a:t>LTI</a:t>
            </a:r>
            <a:r>
              <a:rPr lang="en-US" altLang="zh-CN" sz="1800" b="1" dirty="0">
                <a:solidFill>
                  <a:schemeClr val="accent2"/>
                </a:solidFill>
                <a:latin typeface="Tw Cen MT" pitchFamily="34" charset="0"/>
              </a:rPr>
              <a:t> systems</a:t>
            </a:r>
            <a:endParaRPr lang="en-US" altLang="zh-CN" sz="1800" b="1" dirty="0">
              <a:solidFill>
                <a:schemeClr val="accent2"/>
              </a:solidFill>
              <a:latin typeface="Tw Cen MT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6494" y="3527643"/>
            <a:ext cx="6112474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zh-CN" b="1" dirty="0">
                <a:solidFill>
                  <a:schemeClr val="accent2"/>
                </a:solidFill>
                <a:latin typeface="Tw Cen MT" pitchFamily="34" charset="0"/>
              </a:rPr>
              <a:t>DT </a:t>
            </a:r>
            <a:r>
              <a:rPr lang="en-US" altLang="zh-CN" b="1" dirty="0">
                <a:solidFill>
                  <a:srgbClr val="FF0000"/>
                </a:solidFill>
                <a:latin typeface="Tw Cen MT" pitchFamily="34" charset="0"/>
              </a:rPr>
              <a:t>LTI</a:t>
            </a:r>
            <a:r>
              <a:rPr lang="en-US" altLang="zh-CN" b="1" dirty="0">
                <a:solidFill>
                  <a:schemeClr val="accent2"/>
                </a:solidFill>
                <a:latin typeface="Tw Cen MT" pitchFamily="34" charset="0"/>
              </a:rPr>
              <a:t> systems</a:t>
            </a:r>
            <a:endParaRPr lang="en-US" altLang="zh-CN" sz="1800" b="1" dirty="0">
              <a:solidFill>
                <a:schemeClr val="accent2"/>
              </a:solidFill>
              <a:latin typeface="Tw Cen MT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85404"/>
            <a:ext cx="7166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2">
                    <a:lumMod val="75000"/>
                  </a:schemeClr>
                </a:solidFill>
                <a:latin typeface="Tw Cen MT" pitchFamily="34" charset="0"/>
                <a:ea typeface="宋体" charset="-122"/>
              </a:rPr>
              <a:t>Complex Exponentials - The Only Eigenfunctions of Any LTI Systems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9288" y="64988"/>
            <a:ext cx="642551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 dirty="0">
                <a:solidFill>
                  <a:schemeClr val="tx2">
                    <a:lumMod val="75000"/>
                  </a:schemeClr>
                </a:solidFill>
                <a:latin typeface="Tw Cen MT" pitchFamily="34" charset="0"/>
                <a:ea typeface="宋体" charset="-122"/>
              </a:rPr>
              <a:t>Basic knowledge Review on Chap 3a</a:t>
            </a:r>
            <a:endParaRPr lang="en-US" altLang="zh-CN" sz="2600" b="1" dirty="0">
              <a:solidFill>
                <a:schemeClr val="tx2">
                  <a:lumMod val="75000"/>
                </a:schemeClr>
              </a:solidFill>
              <a:latin typeface="Tw Cen MT" pitchFamily="34" charset="0"/>
              <a:ea typeface="宋体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2600" y="1003218"/>
            <a:ext cx="11099800" cy="4100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zh-CN" sz="2200" dirty="0">
                <a:solidFill>
                  <a:schemeClr val="bg2">
                    <a:lumMod val="90000"/>
                  </a:schemeClr>
                </a:solidFill>
                <a:latin typeface="Tw Cen MT" pitchFamily="34" charset="0"/>
              </a:rPr>
              <a:t>Fourier Analysis</a:t>
            </a:r>
            <a:endParaRPr lang="en-US" altLang="zh-CN" sz="2200" dirty="0">
              <a:solidFill>
                <a:schemeClr val="bg2">
                  <a:lumMod val="90000"/>
                </a:schemeClr>
              </a:solidFill>
              <a:latin typeface="Tw Cen MT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200" dirty="0">
                <a:solidFill>
                  <a:schemeClr val="bg2">
                    <a:lumMod val="90000"/>
                  </a:schemeClr>
                </a:solidFill>
                <a:latin typeface="Tw Cen MT" pitchFamily="34" charset="0"/>
              </a:rPr>
              <a:t>Response for Complex Exponentials</a:t>
            </a:r>
            <a:endParaRPr lang="en-US" altLang="zh-CN" sz="2200" dirty="0">
              <a:solidFill>
                <a:schemeClr val="bg2">
                  <a:lumMod val="90000"/>
                </a:schemeClr>
              </a:solidFill>
              <a:latin typeface="Tw Cen MT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200" dirty="0">
                <a:latin typeface="Tw Cen MT" pitchFamily="34" charset="0"/>
              </a:rPr>
              <a:t>Fourier Series: Synthesis Equation &amp; Analysis Equation</a:t>
            </a:r>
            <a:endParaRPr lang="en-US" altLang="zh-CN" sz="2200" dirty="0">
              <a:latin typeface="Tw Cen MT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200" dirty="0">
                <a:solidFill>
                  <a:schemeClr val="bg2">
                    <a:lumMod val="90000"/>
                  </a:schemeClr>
                </a:solidFill>
                <a:latin typeface="Tw Cen MT" pitchFamily="34" charset="0"/>
              </a:rPr>
              <a:t>Properties</a:t>
            </a:r>
            <a:endParaRPr lang="en-US" altLang="zh-CN" sz="2200" dirty="0">
              <a:solidFill>
                <a:schemeClr val="bg2">
                  <a:lumMod val="90000"/>
                </a:schemeClr>
              </a:solidFill>
              <a:latin typeface="Tw Cen MT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200" dirty="0">
                <a:solidFill>
                  <a:schemeClr val="bg2">
                    <a:lumMod val="90000"/>
                  </a:schemeClr>
                </a:solidFill>
                <a:latin typeface="Tw Cen MT" pitchFamily="34" charset="0"/>
              </a:rPr>
              <a:t>Computation on </a:t>
            </a:r>
            <a:r>
              <a:rPr lang="en-US" altLang="zh-CN" sz="2200" dirty="0" err="1">
                <a:solidFill>
                  <a:schemeClr val="bg2">
                    <a:lumMod val="90000"/>
                  </a:schemeClr>
                </a:solidFill>
                <a:latin typeface="Tw Cen MT" pitchFamily="34" charset="0"/>
              </a:rPr>
              <a:t>ak</a:t>
            </a:r>
            <a:endParaRPr lang="en-US" altLang="zh-CN" sz="2200" dirty="0">
              <a:solidFill>
                <a:schemeClr val="bg2">
                  <a:lumMod val="90000"/>
                </a:schemeClr>
              </a:solidFill>
              <a:latin typeface="Tw Cen MT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zh-CN" sz="2200" dirty="0">
              <a:latin typeface="Tw Cen MT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endParaRPr lang="en-US" altLang="zh-CN" sz="2200" dirty="0">
              <a:latin typeface="Tw Cen MT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latin typeface="Tw Cen MT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2759678" y="584886"/>
            <a:ext cx="5585254" cy="2209800"/>
            <a:chOff x="576" y="240"/>
            <a:chExt cx="4992" cy="2112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"/>
            <a:srcRect t="52856"/>
            <a:stretch>
              <a:fillRect/>
            </a:stretch>
          </p:blipFill>
          <p:spPr>
            <a:xfrm>
              <a:off x="672" y="751"/>
              <a:ext cx="4896" cy="1601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" name="Picture 2"/>
            <p:cNvPicPr>
              <a:picLocks noChangeAspect="1"/>
            </p:cNvPicPr>
            <p:nvPr/>
          </p:nvPicPr>
          <p:blipFill>
            <a:blip r:embed="rId1"/>
            <a:srcRect t="30241" b="49971"/>
            <a:stretch>
              <a:fillRect/>
            </a:stretch>
          </p:blipFill>
          <p:spPr>
            <a:xfrm>
              <a:off x="576" y="240"/>
              <a:ext cx="4896" cy="672"/>
            </a:xfrm>
            <a:prstGeom prst="rect">
              <a:avLst/>
            </a:prstGeom>
            <a:noFill/>
            <a:ln w="9525">
              <a:noFill/>
            </a:ln>
          </p:spPr>
        </p:pic>
      </p:grp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274092" y="4231164"/>
          <a:ext cx="2887642" cy="79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2" imgW="0" imgH="0" progId="Equation.DSMT4">
                  <p:embed/>
                </p:oleObj>
              </mc:Choice>
              <mc:Fallback>
                <p:oleObj name="Equation" r:id="rId2" imgW="0" imgH="0" progId="Equation.DSMT4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74092" y="4231164"/>
                        <a:ext cx="2887642" cy="799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15010" y="3059098"/>
          <a:ext cx="1997847" cy="799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4" imgW="0" imgH="0" progId="Equation.DSMT4">
                  <p:embed/>
                </p:oleObj>
              </mc:Choice>
              <mc:Fallback>
                <p:oleObj name="Equation" r:id="rId4" imgW="0" imgH="0" progId="Equation.DSMT4">
                  <p:embed/>
                  <p:pic>
                    <p:nvPicPr>
                      <p:cNvPr id="0" name="对象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5010" y="3059098"/>
                        <a:ext cx="1997847" cy="7991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340342" y="3087956"/>
          <a:ext cx="3267063" cy="79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6" imgW="0" imgH="0" progId="Equation.DSMT4">
                  <p:embed/>
                </p:oleObj>
              </mc:Choice>
              <mc:Fallback>
                <p:oleObj name="Equation" r:id="rId6" imgW="0" imgH="0" progId="Equation.DSMT4">
                  <p:embed/>
                  <p:pic>
                    <p:nvPicPr>
                      <p:cNvPr id="0" name="对象 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340342" y="3087956"/>
                        <a:ext cx="3267063" cy="799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7876228" y="3112658"/>
          <a:ext cx="3662363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8" imgW="0" imgH="0" progId="Equation.DSMT4">
                  <p:embed/>
                </p:oleObj>
              </mc:Choice>
              <mc:Fallback>
                <p:oleObj name="Equation" r:id="rId8" imgW="0" imgH="0" progId="Equation.DSMT4">
                  <p:embed/>
                  <p:pic>
                    <p:nvPicPr>
                      <p:cNvPr id="0" name="对象 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876228" y="3112658"/>
                        <a:ext cx="3662363" cy="1352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502782" y="5448305"/>
          <a:ext cx="32035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0" imgW="0" imgH="0" progId="Equation.DSMT4">
                  <p:embed/>
                </p:oleObj>
              </mc:Choice>
              <mc:Fallback>
                <p:oleObj name="Equation" r:id="rId10" imgW="0" imgH="0" progId="Equation.DSMT4">
                  <p:embed/>
                  <p:pic>
                    <p:nvPicPr>
                      <p:cNvPr id="0" name="对象 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502782" y="5448305"/>
                        <a:ext cx="3203575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箭头: 右 9"/>
          <p:cNvSpPr/>
          <p:nvPr/>
        </p:nvSpPr>
        <p:spPr>
          <a:xfrm>
            <a:off x="2274092" y="3403168"/>
            <a:ext cx="1005017" cy="179202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398500" y="3059098"/>
          <a:ext cx="91122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2" imgW="0" imgH="0" progId="Equation.DSMT4">
                  <p:embed/>
                </p:oleObj>
              </mc:Choice>
              <mc:Fallback>
                <p:oleObj name="Equation" r:id="rId12" imgW="0" imgH="0" progId="Equation.DSMT4">
                  <p:embed/>
                  <p:pic>
                    <p:nvPicPr>
                      <p:cNvPr id="0" name="对象 1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398500" y="3059098"/>
                        <a:ext cx="911225" cy="404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箭头: 右 11"/>
          <p:cNvSpPr/>
          <p:nvPr/>
        </p:nvSpPr>
        <p:spPr>
          <a:xfrm>
            <a:off x="6739308" y="3403168"/>
            <a:ext cx="1005017" cy="179202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2"/>
          <p:cNvSpPr/>
          <p:nvPr/>
        </p:nvSpPr>
        <p:spPr>
          <a:xfrm>
            <a:off x="2257169" y="5707954"/>
            <a:ext cx="1005017" cy="179202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710045" y="2966085"/>
            <a:ext cx="113792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Tw Cen MT" pitchFamily="34" charset="0"/>
              </a:rPr>
              <a:t>Integral</a:t>
            </a:r>
            <a:endParaRPr lang="en-US" altLang="zh-CN" sz="1800" b="1" dirty="0">
              <a:solidFill>
                <a:schemeClr val="accent2"/>
              </a:solidFill>
              <a:latin typeface="Tw Cen MT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11720" y="4304287"/>
            <a:ext cx="1033740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Tw Cen MT" pitchFamily="34" charset="0"/>
              </a:rPr>
              <a:t>Since</a:t>
            </a:r>
            <a:endParaRPr lang="en-US" altLang="zh-CN" sz="1800" b="1" dirty="0">
              <a:solidFill>
                <a:schemeClr val="accent2"/>
              </a:solidFill>
              <a:latin typeface="Tw Cen MT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854638" y="5448305"/>
            <a:ext cx="3846313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Tw Cen MT" pitchFamily="34" charset="0"/>
              </a:rPr>
              <a:t>Please note that (0,T) can be replaced by any interval of length T</a:t>
            </a:r>
            <a:endParaRPr lang="en-US" altLang="zh-CN" sz="1800" b="1" dirty="0">
              <a:solidFill>
                <a:schemeClr val="accent2"/>
              </a:solidFill>
              <a:latin typeface="Tw Cen MT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9288" y="64988"/>
            <a:ext cx="642551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 dirty="0">
                <a:solidFill>
                  <a:schemeClr val="tx2">
                    <a:lumMod val="75000"/>
                  </a:schemeClr>
                </a:solidFill>
                <a:latin typeface="Tw Cen MT" pitchFamily="34" charset="0"/>
                <a:ea typeface="宋体" charset="-122"/>
              </a:rPr>
              <a:t>Basic knowledge Review on Chap 3a</a:t>
            </a:r>
            <a:endParaRPr lang="en-US" altLang="zh-CN" sz="2600" b="1" dirty="0">
              <a:solidFill>
                <a:schemeClr val="tx2">
                  <a:lumMod val="75000"/>
                </a:schemeClr>
              </a:solidFill>
              <a:latin typeface="Tw Cen MT" pitchFamily="34" charset="0"/>
              <a:ea typeface="宋体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2600" y="1003218"/>
            <a:ext cx="11099800" cy="308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zh-CN" sz="2200" dirty="0">
                <a:solidFill>
                  <a:schemeClr val="bg2">
                    <a:lumMod val="90000"/>
                  </a:schemeClr>
                </a:solidFill>
                <a:latin typeface="Tw Cen MT" pitchFamily="34" charset="0"/>
              </a:rPr>
              <a:t>Fourier Analysis</a:t>
            </a:r>
            <a:endParaRPr lang="en-US" altLang="zh-CN" sz="2200" dirty="0">
              <a:solidFill>
                <a:schemeClr val="bg2">
                  <a:lumMod val="90000"/>
                </a:schemeClr>
              </a:solidFill>
              <a:latin typeface="Tw Cen MT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200" dirty="0">
                <a:solidFill>
                  <a:schemeClr val="bg2">
                    <a:lumMod val="90000"/>
                  </a:schemeClr>
                </a:solidFill>
                <a:latin typeface="Tw Cen MT" pitchFamily="34" charset="0"/>
              </a:rPr>
              <a:t>Response for Complex Exponentials</a:t>
            </a:r>
            <a:endParaRPr lang="en-US" altLang="zh-CN" sz="2200" dirty="0">
              <a:solidFill>
                <a:schemeClr val="bg2">
                  <a:lumMod val="90000"/>
                </a:schemeClr>
              </a:solidFill>
              <a:latin typeface="Tw Cen MT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200" dirty="0">
                <a:solidFill>
                  <a:schemeClr val="bg2">
                    <a:lumMod val="90000"/>
                  </a:schemeClr>
                </a:solidFill>
                <a:latin typeface="Tw Cen MT" pitchFamily="34" charset="0"/>
              </a:rPr>
              <a:t>Fourier Series: Synthesis Equation &amp; Analysis Equation</a:t>
            </a:r>
            <a:endParaRPr lang="en-US" altLang="zh-CN" sz="2200" dirty="0">
              <a:solidFill>
                <a:schemeClr val="bg2">
                  <a:lumMod val="90000"/>
                </a:schemeClr>
              </a:solidFill>
              <a:latin typeface="Tw Cen MT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200" dirty="0">
                <a:latin typeface="Tw Cen MT" pitchFamily="34" charset="0"/>
              </a:rPr>
              <a:t>Properties</a:t>
            </a:r>
            <a:endParaRPr lang="en-US" altLang="zh-CN" sz="2200" dirty="0">
              <a:latin typeface="Tw Cen MT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200" dirty="0">
                <a:solidFill>
                  <a:schemeClr val="bg2">
                    <a:lumMod val="90000"/>
                  </a:schemeClr>
                </a:solidFill>
                <a:latin typeface="Tw Cen MT" pitchFamily="34" charset="0"/>
              </a:rPr>
              <a:t>Computation on </a:t>
            </a:r>
            <a:r>
              <a:rPr lang="en-US" altLang="zh-CN" sz="2200" dirty="0" err="1">
                <a:solidFill>
                  <a:schemeClr val="bg2">
                    <a:lumMod val="90000"/>
                  </a:schemeClr>
                </a:solidFill>
                <a:latin typeface="Tw Cen MT" pitchFamily="34" charset="0"/>
              </a:rPr>
              <a:t>ak</a:t>
            </a:r>
            <a:endParaRPr lang="en-US" altLang="zh-CN" sz="2200" dirty="0">
              <a:latin typeface="Tw Cen MT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latin typeface="Tw Cen MT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04" y="721347"/>
            <a:ext cx="8431213" cy="5580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8814435" y="598805"/>
            <a:ext cx="2464435" cy="143764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Tw Cen MT" pitchFamily="34" charset="0"/>
              </a:rPr>
              <a:t>Based on the same period among x and y!</a:t>
            </a:r>
            <a:endParaRPr lang="en-US" altLang="zh-CN" sz="1800" b="1" dirty="0">
              <a:solidFill>
                <a:schemeClr val="accent2"/>
              </a:solidFill>
              <a:latin typeface="Tw Cen MT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676" y="949540"/>
            <a:ext cx="6397968" cy="47466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942585" y="2961846"/>
          <a:ext cx="5981700" cy="323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0" imgH="0" progId="Equation.DSMT4">
                  <p:embed/>
                </p:oleObj>
              </mc:Choice>
              <mc:Fallback>
                <p:oleObj name="Equation" r:id="rId1" imgW="0" imgH="0" progId="Equation.DSMT4">
                  <p:embed/>
                  <p:pic>
                    <p:nvPicPr>
                      <p:cNvPr id="0" name="对象 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42585" y="2961846"/>
                        <a:ext cx="5981700" cy="323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5312"/>
            <a:ext cx="7981950" cy="21526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08845" y="3068611"/>
            <a:ext cx="1033740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Tw Cen MT" pitchFamily="34" charset="0"/>
              </a:rPr>
              <a:t>Proof</a:t>
            </a:r>
            <a:endParaRPr lang="en-US" altLang="zh-CN" sz="1800" b="1" dirty="0">
              <a:solidFill>
                <a:schemeClr val="accent2"/>
              </a:solidFill>
              <a:latin typeface="Tw Cen MT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7708" y="684425"/>
            <a:ext cx="61124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altLang="zh-CN" sz="2200" b="0" dirty="0">
                <a:latin typeface="Times New Roman" pitchFamily="18" charset="0"/>
                <a:cs typeface="Times New Roman" pitchFamily="18" charset="0"/>
              </a:rPr>
              <a:t>Parseval Relation</a:t>
            </a:r>
            <a:endParaRPr lang="en-US" altLang="zh-CN" sz="2200" b="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793960" y="2636380"/>
          <a:ext cx="7308849" cy="3599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1" imgW="0" imgH="0" progId="Equation.DSMT4">
                  <p:embed/>
                </p:oleObj>
              </mc:Choice>
              <mc:Fallback>
                <p:oleObj name="Equation" r:id="rId1" imgW="0" imgH="0" progId="Equation.DSMT4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93960" y="2636380"/>
                        <a:ext cx="7308849" cy="35993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253945" y="857206"/>
          <a:ext cx="3040621" cy="914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3" imgW="0" imgH="0" progId="Equation.DSMT4">
                  <p:embed/>
                </p:oleObj>
              </mc:Choice>
              <mc:Fallback>
                <p:oleObj name="Equation" r:id="rId3" imgW="0" imgH="0" progId="Equation.DSMT4">
                  <p:embed/>
                  <p:pic>
                    <p:nvPicPr>
                      <p:cNvPr id="0" name="对象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53945" y="857206"/>
                        <a:ext cx="3040621" cy="9148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-222423" y="2052600"/>
            <a:ext cx="10346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eaLnBrk="1" hangingPunct="1">
              <a:buNone/>
            </a:pPr>
            <a:r>
              <a:rPr lang="en-US" altLang="zh-CN" sz="1800" b="0" dirty="0">
                <a:solidFill>
                  <a:srgbClr val="C00000"/>
                </a:solidFill>
                <a:latin typeface="Times New Roman" pitchFamily="18" charset="0"/>
              </a:rPr>
              <a:t>Observation: </a:t>
            </a:r>
            <a:r>
              <a:rPr lang="en-US" altLang="zh-CN" sz="1800" b="0" dirty="0">
                <a:latin typeface="Times New Roman" pitchFamily="18" charset="0"/>
              </a:rPr>
              <a:t>power is the same whether measured in the time-domain or the frequency-domain</a:t>
            </a:r>
            <a:endParaRPr lang="en-US" altLang="zh-CN" sz="1800" b="0" dirty="0">
              <a:latin typeface="Times New Roman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73385" y="2574197"/>
            <a:ext cx="1033740" cy="545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Tw Cen MT" pitchFamily="34" charset="0"/>
              </a:rPr>
              <a:t>Proof</a:t>
            </a:r>
            <a:endParaRPr lang="en-US" altLang="zh-CN" sz="2200" b="1" dirty="0">
              <a:solidFill>
                <a:schemeClr val="accent2"/>
              </a:solidFill>
              <a:latin typeface="Tw Cen MT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9288" y="64988"/>
            <a:ext cx="642551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 dirty="0">
                <a:solidFill>
                  <a:schemeClr val="tx2">
                    <a:lumMod val="75000"/>
                  </a:schemeClr>
                </a:solidFill>
                <a:latin typeface="Tw Cen MT" pitchFamily="34" charset="0"/>
                <a:ea typeface="宋体" charset="-122"/>
              </a:rPr>
              <a:t>Basic knowledge Review on Chap 3a</a:t>
            </a:r>
            <a:endParaRPr lang="en-US" altLang="zh-CN" sz="2600" b="1" dirty="0">
              <a:solidFill>
                <a:schemeClr val="tx2">
                  <a:lumMod val="75000"/>
                </a:schemeClr>
              </a:solidFill>
              <a:latin typeface="Tw Cen MT" pitchFamily="34" charset="0"/>
              <a:ea typeface="宋体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>
                <a14:cpLocks xmlns:a14="http://schemas.microsoft.com/office/drawing/2010/main" noRot="1" noChangeAspect="1" noMove="1" noResize="1" noEditPoints="1" noAdjustHandles="1" noChangeArrowheads="1" noChangeShapeType="1"/>
              </p:cNvSpPr>
              <p:nvPr/>
            </p:nvSpPr>
            <p:spPr>
              <a:xfrm>
                <a:off x="482600" y="1003218"/>
                <a:ext cx="11099800" cy="3646170"/>
              </a:xfrm>
              <a:prstGeom prst="rect">
                <a:avLst/>
              </a:prstGeom>
              <a:blipFill rotWithShape="1">
                <a:blip r:embed="rId1"/>
                <a:stretch>
                  <a:fillRect t="-15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14:cpLocks xmlns:a14="http://schemas.microsoft.com/office/drawing/2010/main" noRot="1" noChangeAspect="1" noMove="1" noResize="1" noEditPoints="1" noAdjustHandles="1" noChangeArrowheads="1" noChangeShapeType="1"/>
              </p:cNvSpPr>
              <p:nvPr/>
            </p:nvSpPr>
            <p:spPr>
              <a:xfrm>
                <a:off x="482600" y="1003218"/>
                <a:ext cx="11099800" cy="3646170"/>
              </a:xfrm>
              <a:prstGeom prst="rect">
                <a:avLst/>
              </a:prstGeom>
              <a:blipFill rotWithShape="1">
                <a:blip r:embed="rId1"/>
                <a:stretch>
                  <a:fillRect t="-15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017387" y="1565275"/>
          <a:ext cx="4879975" cy="186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0" imgH="0" progId="Equation.DSMT4">
                  <p:embed/>
                </p:oleObj>
              </mc:Choice>
              <mc:Fallback>
                <p:oleObj name="Equation" r:id="rId1" imgW="0" imgH="0" progId="Equation.DSMT4">
                  <p:embed/>
                  <p:pic>
                    <p:nvPicPr>
                      <p:cNvPr id="0" name="对象 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17387" y="1565275"/>
                        <a:ext cx="4879975" cy="1863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29288" y="64988"/>
            <a:ext cx="642551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 dirty="0">
                <a:solidFill>
                  <a:schemeClr val="tx2">
                    <a:lumMod val="75000"/>
                  </a:schemeClr>
                </a:solidFill>
                <a:latin typeface="Tw Cen MT" pitchFamily="34" charset="0"/>
                <a:ea typeface="宋体" charset="-122"/>
              </a:rPr>
              <a:t>Example 1</a:t>
            </a:r>
            <a:endParaRPr lang="en-US" altLang="zh-CN" sz="2600" b="1" dirty="0">
              <a:solidFill>
                <a:schemeClr val="tx2">
                  <a:lumMod val="75000"/>
                </a:schemeClr>
              </a:solidFill>
              <a:latin typeface="Tw Cen MT" pitchFamily="34" charset="0"/>
              <a:ea typeface="宋体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3428" y="3616505"/>
            <a:ext cx="3407783" cy="545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Tw Cen MT" pitchFamily="34" charset="0"/>
              </a:rPr>
              <a:t>Conjugate Symmetry</a:t>
            </a:r>
            <a:endParaRPr lang="en-US" altLang="zh-CN" sz="2200" b="1" dirty="0">
              <a:solidFill>
                <a:schemeClr val="accent2"/>
              </a:solidFill>
              <a:latin typeface="Tw Cen MT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245" y="1471295"/>
            <a:ext cx="5836285" cy="25546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9288" y="64988"/>
            <a:ext cx="642551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 dirty="0">
                <a:solidFill>
                  <a:schemeClr val="tx2">
                    <a:lumMod val="75000"/>
                  </a:schemeClr>
                </a:solidFill>
                <a:latin typeface="Tw Cen MT" pitchFamily="34" charset="0"/>
                <a:ea typeface="宋体" charset="-122"/>
              </a:rPr>
              <a:t>Example 2</a:t>
            </a:r>
            <a:endParaRPr lang="en-US" altLang="zh-CN" sz="2600" b="1" dirty="0">
              <a:solidFill>
                <a:schemeClr val="tx2">
                  <a:lumMod val="75000"/>
                </a:schemeClr>
              </a:solidFill>
              <a:latin typeface="Tw Cen MT" pitchFamily="34" charset="0"/>
              <a:ea typeface="宋体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29288" y="569672"/>
          <a:ext cx="8155489" cy="2758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1" imgW="0" imgH="0" progId="Equation.DSMT4">
                  <p:embed/>
                </p:oleObj>
              </mc:Choice>
              <mc:Fallback>
                <p:oleObj name="Equation" r:id="rId1" imgW="0" imgH="0" progId="Equation.DSMT4">
                  <p:embed/>
                  <p:pic>
                    <p:nvPicPr>
                      <p:cNvPr id="0" name="对象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288" y="569672"/>
                        <a:ext cx="8155489" cy="27584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27284" y="3340387"/>
          <a:ext cx="7129105" cy="8191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3" imgW="0" imgH="0" progId="Equation.DSMT4">
                  <p:embed/>
                </p:oleObj>
              </mc:Choice>
              <mc:Fallback>
                <p:oleObj name="Equation" r:id="rId3" imgW="0" imgH="0" progId="Equation.DSMT4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7284" y="3340387"/>
                        <a:ext cx="7129105" cy="8191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227284" y="4176582"/>
            <a:ext cx="9221516" cy="156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r>
              <a:rPr lang="en-US" altLang="zh-CN" sz="2200" b="1" dirty="0">
                <a:solidFill>
                  <a:schemeClr val="accent2"/>
                </a:solidFill>
                <a:latin typeface="Tw Cen MT" pitchFamily="34" charset="0"/>
              </a:rPr>
              <a:t>Conjugate Symmetry</a:t>
            </a:r>
            <a:endParaRPr lang="en-US" altLang="zh-CN" sz="2200" b="1" dirty="0">
              <a:solidFill>
                <a:schemeClr val="accent2"/>
              </a:solidFill>
              <a:latin typeface="Tw Cen MT" pitchFamily="34" charset="0"/>
            </a:endParaRP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r>
              <a:rPr lang="en-US" altLang="zh-CN" sz="2200" b="1" dirty="0">
                <a:solidFill>
                  <a:schemeClr val="accent2"/>
                </a:solidFill>
                <a:latin typeface="Tw Cen MT" pitchFamily="34" charset="0"/>
              </a:rPr>
              <a:t>Please think about</a:t>
            </a:r>
            <a:endParaRPr lang="en-US" altLang="zh-CN" sz="2200" b="1" dirty="0">
              <a:solidFill>
                <a:schemeClr val="accent2"/>
              </a:solidFill>
              <a:latin typeface="Tw Cen MT" pitchFamily="34" charset="0"/>
            </a:endParaRP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r>
              <a:rPr lang="en-US" altLang="zh-CN" sz="2200" b="1" dirty="0">
                <a:solidFill>
                  <a:schemeClr val="accent2"/>
                </a:solidFill>
                <a:latin typeface="Tw Cen MT" pitchFamily="34" charset="0"/>
              </a:rPr>
              <a:t>Hint: You should find the period and the fundamental frequency! </a:t>
            </a:r>
            <a:endParaRPr lang="en-US" altLang="zh-CN" sz="2200" b="1" dirty="0">
              <a:solidFill>
                <a:schemeClr val="accent2"/>
              </a:solidFill>
              <a:latin typeface="Tw Cen MT" pitchFamily="34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9449073" y="4452687"/>
          <a:ext cx="1725054" cy="693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5" imgW="0" imgH="0" progId="Equation.DSMT4">
                  <p:embed/>
                </p:oleObj>
              </mc:Choice>
              <mc:Fallback>
                <p:oleObj name="Equation" r:id="rId5" imgW="0" imgH="0" progId="Equation.DSMT4">
                  <p:embed/>
                  <p:pic>
                    <p:nvPicPr>
                      <p:cNvPr id="0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449073" y="4452687"/>
                        <a:ext cx="1725054" cy="6939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838270" y="6023524"/>
          <a:ext cx="5496355" cy="631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7" imgW="0" imgH="0" progId="Equation.DSMT4">
                  <p:embed/>
                </p:oleObj>
              </mc:Choice>
              <mc:Fallback>
                <p:oleObj name="Equation" r:id="rId7" imgW="0" imgH="0" progId="Equation.DSMT4">
                  <p:embed/>
                  <p:pic>
                    <p:nvPicPr>
                      <p:cNvPr id="0" name="对象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38270" y="6023524"/>
                        <a:ext cx="5496355" cy="6316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88" y="639205"/>
            <a:ext cx="11024744" cy="333833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245" y="287020"/>
            <a:ext cx="11581765" cy="61029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88" y="557431"/>
            <a:ext cx="11519015" cy="58074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775" y="301625"/>
            <a:ext cx="9958705" cy="64052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88" y="658255"/>
            <a:ext cx="11762770" cy="31393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745" y="278130"/>
            <a:ext cx="9556115" cy="36760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445" y="3550920"/>
            <a:ext cx="8890000" cy="24784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30" y="3134995"/>
            <a:ext cx="9548495" cy="32759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415" y="258445"/>
            <a:ext cx="8235950" cy="2663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宽屏</PresentationFormat>
  <Paragraphs>85</Paragraphs>
  <Slides>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宋体</vt:lpstr>
      <vt:lpstr>Wingdings</vt:lpstr>
      <vt:lpstr>Tw Cen MT</vt:lpstr>
      <vt:lpstr>Calibri</vt:lpstr>
      <vt:lpstr>Verdana</vt:lpstr>
      <vt:lpstr>Times New Roman</vt:lpstr>
      <vt:lpstr>微软雅黑</vt:lpstr>
      <vt:lpstr>Office 主题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我叫郑同学</dc:creator>
  <cp:lastModifiedBy>iPad</cp:lastModifiedBy>
  <cp:revision>11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E72728648D8C4C9FB16CACB5692DDE47</vt:lpwstr>
  </property>
  <property fmtid="{D5CDD505-2E9C-101B-9397-08002B2CF9AE}" pid="3" name="KSOProductBuildVer">
    <vt:lpwstr>2052-12.15.2</vt:lpwstr>
  </property>
</Properties>
</file>