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1" r:id="rId1"/>
  </p:sldMasterIdLst>
  <p:notesMasterIdLst>
    <p:notesMasterId r:id="rId46"/>
  </p:notesMasterIdLst>
  <p:handoutMasterIdLst>
    <p:handoutMasterId r:id="rId47"/>
  </p:handoutMasterIdLst>
  <p:sldIdLst>
    <p:sldId id="1139" r:id="rId2"/>
    <p:sldId id="1140" r:id="rId3"/>
    <p:sldId id="1143" r:id="rId4"/>
    <p:sldId id="1145" r:id="rId5"/>
    <p:sldId id="1146" r:id="rId6"/>
    <p:sldId id="1147" r:id="rId7"/>
    <p:sldId id="1149" r:id="rId8"/>
    <p:sldId id="1095" r:id="rId9"/>
    <p:sldId id="1096" r:id="rId10"/>
    <p:sldId id="1125" r:id="rId11"/>
    <p:sldId id="1098" r:id="rId12"/>
    <p:sldId id="1148" r:id="rId13"/>
    <p:sldId id="1060" r:id="rId14"/>
    <p:sldId id="1113" r:id="rId15"/>
    <p:sldId id="1099" r:id="rId16"/>
    <p:sldId id="1065" r:id="rId17"/>
    <p:sldId id="1100" r:id="rId18"/>
    <p:sldId id="1066" r:id="rId19"/>
    <p:sldId id="1101" r:id="rId20"/>
    <p:sldId id="1102" r:id="rId21"/>
    <p:sldId id="1103" r:id="rId22"/>
    <p:sldId id="1068" r:id="rId23"/>
    <p:sldId id="1069" r:id="rId24"/>
    <p:sldId id="1127" r:id="rId25"/>
    <p:sldId id="1070" r:id="rId26"/>
    <p:sldId id="1128" r:id="rId27"/>
    <p:sldId id="1136" r:id="rId28"/>
    <p:sldId id="1129" r:id="rId29"/>
    <p:sldId id="1135" r:id="rId30"/>
    <p:sldId id="1071" r:id="rId31"/>
    <p:sldId id="1126" r:id="rId32"/>
    <p:sldId id="1132" r:id="rId33"/>
    <p:sldId id="1133" r:id="rId34"/>
    <p:sldId id="1138" r:id="rId35"/>
    <p:sldId id="1072" r:id="rId36"/>
    <p:sldId id="1137" r:id="rId37"/>
    <p:sldId id="1073" r:id="rId38"/>
    <p:sldId id="1074" r:id="rId39"/>
    <p:sldId id="1075" r:id="rId40"/>
    <p:sldId id="1076" r:id="rId41"/>
    <p:sldId id="1077" r:id="rId42"/>
    <p:sldId id="1078" r:id="rId43"/>
    <p:sldId id="1079" r:id="rId44"/>
    <p:sldId id="1150" r:id="rId45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Gulim" pitchFamily="34" charset="-127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Gulim" pitchFamily="34" charset="-127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Gulim" pitchFamily="34" charset="-127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Gulim" pitchFamily="34" charset="-127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Gulim" pitchFamily="34" charset="-127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charset="0"/>
        <a:ea typeface="Gulim" pitchFamily="34" charset="-127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charset="0"/>
        <a:ea typeface="Gulim" pitchFamily="34" charset="-127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charset="0"/>
        <a:ea typeface="Gulim" pitchFamily="34" charset="-127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charset="0"/>
        <a:ea typeface="Gulim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000066"/>
    <a:srgbClr val="990000"/>
    <a:srgbClr val="660066"/>
    <a:srgbClr val="003366"/>
    <a:srgbClr val="003300"/>
    <a:srgbClr val="0066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12" autoAdjust="0"/>
    <p:restoredTop sz="94605" autoAdjust="0"/>
  </p:normalViewPr>
  <p:slideViewPr>
    <p:cSldViewPr snapToGrid="0">
      <p:cViewPr varScale="1">
        <p:scale>
          <a:sx n="106" d="100"/>
          <a:sy n="106" d="100"/>
        </p:scale>
        <p:origin x="966" y="108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064"/>
    </p:cViewPr>
  </p:sorterViewPr>
  <p:notesViewPr>
    <p:cSldViewPr snapToGrid="0">
      <p:cViewPr varScale="1">
        <p:scale>
          <a:sx n="48" d="100"/>
          <a:sy n="48" d="100"/>
        </p:scale>
        <p:origin x="-1518" y="-108"/>
      </p:cViewPr>
      <p:guideLst>
        <p:guide orient="horz" pos="322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29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4" tIns="47476" rIns="94954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6850" y="0"/>
            <a:ext cx="30829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4" tIns="47476" rIns="94954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61538"/>
            <a:ext cx="308292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4" tIns="47476" rIns="94954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06850" y="9761538"/>
            <a:ext cx="308292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4" tIns="47476" rIns="94954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75DFF26B-3203-4480-A0C5-8325B29BCE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28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940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52" tIns="47526" rIns="95052" bIns="47526" numCol="1" anchor="t" anchorCtr="0" compatLnSpc="1">
            <a:prstTxWarp prst="textNoShape">
              <a:avLst/>
            </a:prstTxWarp>
          </a:bodyPr>
          <a:lstStyle>
            <a:lvl1pPr defTabSz="950913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924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52" tIns="47526" rIns="95052" bIns="47526" numCol="1" anchor="t" anchorCtr="0" compatLnSpc="1">
            <a:prstTxWarp prst="textNoShape">
              <a:avLst/>
            </a:prstTxWarp>
          </a:bodyPr>
          <a:lstStyle>
            <a:lvl1pPr algn="r" defTabSz="950913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1075" y="755650"/>
            <a:ext cx="5156200" cy="3867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688" y="4875213"/>
            <a:ext cx="5257800" cy="462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52" tIns="47526" rIns="95052" bIns="475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48838"/>
            <a:ext cx="309403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52" tIns="47526" rIns="95052" bIns="47526" numCol="1" anchor="b" anchorCtr="0" compatLnSpc="1">
            <a:prstTxWarp prst="textNoShape">
              <a:avLst/>
            </a:prstTxWarp>
          </a:bodyPr>
          <a:lstStyle>
            <a:lvl1pPr defTabSz="950913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48838"/>
            <a:ext cx="30924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52" tIns="47526" rIns="95052" bIns="47526" numCol="1" anchor="b" anchorCtr="0" compatLnSpc="1">
            <a:prstTxWarp prst="textNoShape">
              <a:avLst/>
            </a:prstTxWarp>
          </a:bodyPr>
          <a:lstStyle>
            <a:lvl1pPr algn="r" defTabSz="950913" eaLnBrk="0" hangingPunct="0">
              <a:defRPr sz="12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862042EF-64BA-472D-9D93-DCA9B90F70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986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pic>
        <p:nvPicPr>
          <p:cNvPr id="6" name="Picture 1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0"/>
            <a:ext cx="5084763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E0A0D-5804-47B9-A971-15BD9001A7C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12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pic>
        <p:nvPicPr>
          <p:cNvPr id="6" name="Picture 1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0" y="6537325"/>
            <a:ext cx="22352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A899B5-0640-4D22-8DC5-C18CF98B4A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44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5CBA35-05C0-473E-BF00-91CE82259C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1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025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0259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114FD-8D66-45B8-A1CC-FAEFC80823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66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F576CD-CB2E-4162-8466-2B7A5904D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11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70B57D-32DC-4D3D-A7EB-C835B1111F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61017-7D5B-4723-8E0B-491ACD7FE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5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DBCA1-7F72-4888-A6CC-AD65FE21C6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64A1C8-B93E-46EF-BD5F-C4941CCB22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59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2117E-890E-4F6D-9431-A03727357A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5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397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397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1FB1A-AD5E-4DA1-BC9A-9ED34FEF8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01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02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02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5D3CA-793B-4E42-A062-D73223F43B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92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36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070350"/>
            <a:ext cx="7772400" cy="1936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7B83C2-E55C-45D0-98A5-4A1474C491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14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02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025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28574-4C5C-4F6F-B525-1365DB7665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9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700428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C0775247-F504-4831-8CA9-4753B65F20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ext Box 11"/>
          <p:cNvSpPr txBox="1">
            <a:spLocks noChangeArrowheads="1"/>
          </p:cNvSpPr>
          <p:nvPr userDrawn="1"/>
        </p:nvSpPr>
        <p:spPr bwMode="auto">
          <a:xfrm>
            <a:off x="38100" y="6583363"/>
            <a:ext cx="2884488" cy="2746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GB" altLang="zh-CN" sz="1200" dirty="0">
                <a:solidFill>
                  <a:srgbClr val="800000"/>
                </a:solidFill>
                <a:ea typeface="宋体" pitchFamily="2" charset="-122"/>
                <a:cs typeface="Arial" charset="0"/>
              </a:rPr>
              <a:t>Linear Time-Invariant Systems</a:t>
            </a:r>
            <a:endParaRPr lang="en-AU" sz="1200" dirty="0">
              <a:solidFill>
                <a:srgbClr val="800000"/>
              </a:solidFill>
              <a:ea typeface="宋体" pitchFamily="2" charset="-122"/>
              <a:cs typeface="Arial" charset="0"/>
            </a:endParaRPr>
          </a:p>
        </p:txBody>
      </p:sp>
      <p:sp>
        <p:nvSpPr>
          <p:cNvPr id="6" name="Text Box 9"/>
          <p:cNvSpPr txBox="1">
            <a:spLocks noChangeArrowheads="1"/>
          </p:cNvSpPr>
          <p:nvPr userDrawn="1"/>
        </p:nvSpPr>
        <p:spPr bwMode="auto">
          <a:xfrm>
            <a:off x="3646488" y="6583363"/>
            <a:ext cx="1725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200" dirty="0">
                <a:cs typeface="Arial" charset="0"/>
              </a:rPr>
              <a:t>Signals and Systems</a:t>
            </a:r>
            <a:endParaRPr lang="en-AU" sz="1200" dirty="0">
              <a:cs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00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Blip>
          <a:blip r:embed="rId16"/>
        </a:buBlip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16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16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16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16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16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2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7.wmf"/><Relationship Id="rId4" Type="http://schemas.openxmlformats.org/officeDocument/2006/relationships/oleObject" Target="../embeddings/oleObject6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4.wmf"/><Relationship Id="rId7" Type="http://schemas.openxmlformats.org/officeDocument/2006/relationships/oleObject" Target="../embeddings/oleObject11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wmf"/><Relationship Id="rId10" Type="http://schemas.openxmlformats.org/officeDocument/2006/relationships/image" Target="../media/image48.wmf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2.wmf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13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oleObject" Target="../embeddings/oleObject15.bin"/><Relationship Id="rId7" Type="http://schemas.openxmlformats.org/officeDocument/2006/relationships/image" Target="../media/image57.wm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56.png"/><Relationship Id="rId10" Type="http://schemas.openxmlformats.org/officeDocument/2006/relationships/image" Target="../media/image59.png"/><Relationship Id="rId4" Type="http://schemas.openxmlformats.org/officeDocument/2006/relationships/image" Target="../media/image55.wmf"/><Relationship Id="rId9" Type="http://schemas.openxmlformats.org/officeDocument/2006/relationships/image" Target="../media/image58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4300"/>
            <a:ext cx="7772400" cy="1143000"/>
          </a:xfrm>
        </p:spPr>
        <p:txBody>
          <a:bodyPr/>
          <a:lstStyle/>
          <a:p>
            <a:r>
              <a:rPr lang="en-US" altLang="zh-TW" dirty="0"/>
              <a:t>Notes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1028700"/>
            <a:ext cx="8331200" cy="4025900"/>
          </a:xfrm>
        </p:spPr>
        <p:txBody>
          <a:bodyPr/>
          <a:lstStyle/>
          <a:p>
            <a:r>
              <a:rPr lang="en-US" altLang="zh-TW" dirty="0"/>
              <a:t>Assignment</a:t>
            </a:r>
          </a:p>
          <a:p>
            <a:pPr lvl="1"/>
            <a:r>
              <a:rPr lang="en-US" altLang="zh-TW" dirty="0"/>
              <a:t>2.10</a:t>
            </a:r>
          </a:p>
          <a:p>
            <a:pPr lvl="1"/>
            <a:r>
              <a:rPr lang="en-US" altLang="zh-TW" dirty="0"/>
              <a:t>2.11</a:t>
            </a:r>
          </a:p>
          <a:p>
            <a:pPr lvl="1"/>
            <a:r>
              <a:rPr lang="en-US" altLang="zh-TW" dirty="0"/>
              <a:t>2.22 (b) (e)</a:t>
            </a:r>
          </a:p>
          <a:p>
            <a:pPr lvl="1"/>
            <a:r>
              <a:rPr lang="en-US" altLang="zh-TW" dirty="0"/>
              <a:t>2.25</a:t>
            </a:r>
          </a:p>
          <a:p>
            <a:pPr lvl="1"/>
            <a:r>
              <a:rPr lang="en-US" altLang="zh-TW" dirty="0"/>
              <a:t>2.28 (a) (c) (e) (g)</a:t>
            </a:r>
          </a:p>
          <a:p>
            <a:pPr marL="457200" lvl="1" indent="0">
              <a:buNone/>
            </a:pPr>
            <a:endParaRPr lang="en-US" altLang="zh-TW" dirty="0"/>
          </a:p>
          <a:p>
            <a:r>
              <a:rPr lang="en-US" altLang="zh-TW" dirty="0"/>
              <a:t>Tutorial questions (Week 6)</a:t>
            </a:r>
          </a:p>
          <a:p>
            <a:pPr lvl="1"/>
            <a:r>
              <a:rPr lang="en-US" altLang="zh-TW" dirty="0"/>
              <a:t>Basic Problems with Answers 2.20</a:t>
            </a:r>
          </a:p>
          <a:p>
            <a:pPr lvl="1"/>
            <a:r>
              <a:rPr lang="en-US" altLang="zh-TW" dirty="0"/>
              <a:t>Basic Problems 2.29</a:t>
            </a:r>
          </a:p>
          <a:p>
            <a:pPr lvl="1"/>
            <a:r>
              <a:rPr lang="en-US" altLang="zh-TW" dirty="0"/>
              <a:t>Advanced Problems 2.40, 2.43, 2.47</a:t>
            </a:r>
            <a:endParaRPr lang="en-GB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42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-14288" y="0"/>
            <a:ext cx="3509963" cy="5508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dirty="0"/>
              <a:t>Chapter 2 Review</a:t>
            </a:r>
            <a:endParaRPr lang="zh-CN" alt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25438" y="488950"/>
            <a:ext cx="7772400" cy="785813"/>
          </a:xfrm>
        </p:spPr>
        <p:txBody>
          <a:bodyPr/>
          <a:lstStyle/>
          <a:p>
            <a:pPr algn="l"/>
            <a:r>
              <a:rPr lang="en-GB" altLang="zh-CN" sz="2800" dirty="0">
                <a:ea typeface="宋体" charset="-122"/>
              </a:rPr>
              <a:t>That is 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12" b="20718"/>
          <a:stretch>
            <a:fillRect/>
          </a:stretch>
        </p:blipFill>
        <p:spPr bwMode="auto">
          <a:xfrm>
            <a:off x="41275" y="1863725"/>
            <a:ext cx="8858250" cy="333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383"/>
          <a:stretch>
            <a:fillRect/>
          </a:stretch>
        </p:blipFill>
        <p:spPr bwMode="auto">
          <a:xfrm>
            <a:off x="142875" y="1109663"/>
            <a:ext cx="8858250" cy="62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384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244475" y="584200"/>
            <a:ext cx="8629650" cy="1143000"/>
          </a:xfrm>
        </p:spPr>
        <p:txBody>
          <a:bodyPr/>
          <a:lstStyle/>
          <a:p>
            <a:r>
              <a:rPr lang="en-GB" altLang="zh-CN" sz="2800" dirty="0">
                <a:ea typeface="宋体" charset="-122"/>
              </a:rPr>
              <a:t>Unit Impulse Response</a:t>
            </a: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fld id="{2633CD51-EB8C-43F1-B9E0-ED204D4E22F6}" type="slidenum">
              <a:rPr lang="en-US" altLang="zh-CN" sz="1400" smtClean="0">
                <a:latin typeface="Times New Roman" pitchFamily="18" charset="0"/>
              </a:rPr>
              <a:pPr eaLnBrk="1" hangingPunct="1"/>
              <a:t>3</a:t>
            </a:fld>
            <a:endParaRPr lang="en-US" altLang="zh-CN" sz="1400">
              <a:latin typeface="Times New Roman" pitchFamily="18" charset="0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3" y="2555875"/>
            <a:ext cx="8702675" cy="288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-14288" y="0"/>
            <a:ext cx="3509963" cy="5508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dirty="0"/>
              <a:t>Chapter 2 Review</a:t>
            </a:r>
            <a:endParaRPr lang="zh-CN" altLang="en-US" dirty="0"/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1038225" y="5443538"/>
            <a:ext cx="7164388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Example: 	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]+2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-1]+4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-2]</a:t>
            </a: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		What is unit impulse response?</a:t>
            </a:r>
          </a:p>
        </p:txBody>
      </p:sp>
    </p:spTree>
    <p:extLst>
      <p:ext uri="{BB962C8B-B14F-4D97-AF65-F5344CB8AC3E}">
        <p14:creationId xmlns:p14="http://schemas.microsoft.com/office/powerpoint/2010/main" val="341175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685800" y="407988"/>
            <a:ext cx="7772400" cy="566737"/>
          </a:xfrm>
        </p:spPr>
        <p:txBody>
          <a:bodyPr/>
          <a:lstStyle/>
          <a:p>
            <a:r>
              <a:rPr lang="en-GB" altLang="zh-CN" sz="2800" dirty="0">
                <a:ea typeface="宋体" charset="-122"/>
              </a:rPr>
              <a:t>Response of DT LTI Systems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fld id="{C023D9F8-121C-46B9-9820-630D1840A954}" type="slidenum">
              <a:rPr lang="en-US" altLang="zh-CN" sz="1400" smtClean="0">
                <a:latin typeface="Times New Roman" pitchFamily="18" charset="0"/>
              </a:rPr>
              <a:pPr eaLnBrk="1" hangingPunct="1"/>
              <a:t>4</a:t>
            </a:fld>
            <a:endParaRPr lang="en-US" altLang="zh-CN" sz="1400">
              <a:latin typeface="Times New Roman" pitchFamily="18" charset="0"/>
            </a:endParaRPr>
          </a:p>
        </p:txBody>
      </p:sp>
      <p:pic>
        <p:nvPicPr>
          <p:cNvPr id="163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971550"/>
            <a:ext cx="5192713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902"/>
          <a:stretch>
            <a:fillRect/>
          </a:stretch>
        </p:blipFill>
        <p:spPr bwMode="auto">
          <a:xfrm>
            <a:off x="161925" y="1787525"/>
            <a:ext cx="8780463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90" name="TextBox 1"/>
          <p:cNvSpPr txBox="1">
            <a:spLocks noChangeArrowheads="1"/>
          </p:cNvSpPr>
          <p:nvPr/>
        </p:nvSpPr>
        <p:spPr bwMode="auto">
          <a:xfrm>
            <a:off x="7851775" y="1735138"/>
            <a:ext cx="1220788" cy="493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sz="2600" i="1">
                <a:latin typeface="Times New Roman" pitchFamily="18" charset="0"/>
                <a:cs typeface="Times New Roman" pitchFamily="18" charset="0"/>
              </a:rPr>
              <a:t>impulse</a:t>
            </a:r>
            <a:endParaRPr lang="zh-CN" altLang="en-US" sz="2600" i="1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92" r="10216" b="39911"/>
          <a:stretch>
            <a:fillRect/>
          </a:stretch>
        </p:blipFill>
        <p:spPr bwMode="auto">
          <a:xfrm>
            <a:off x="427038" y="2717800"/>
            <a:ext cx="7883525" cy="151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610" r="1677" b="9969"/>
          <a:stretch>
            <a:fillRect/>
          </a:stretch>
        </p:blipFill>
        <p:spPr bwMode="auto">
          <a:xfrm>
            <a:off x="439738" y="4187825"/>
            <a:ext cx="8632825" cy="142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97" name="矩形 4"/>
          <p:cNvSpPr>
            <a:spLocks noChangeArrowheads="1"/>
          </p:cNvSpPr>
          <p:nvPr/>
        </p:nvSpPr>
        <p:spPr bwMode="auto">
          <a:xfrm>
            <a:off x="0" y="5965825"/>
            <a:ext cx="9144000" cy="893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0" anchor="ctr">
            <a:spAutoFit/>
          </a:bodyPr>
          <a:lstStyle>
            <a:lvl1pPr marL="342900" indent="-3429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793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lvl="2" eaLnBrk="1" hangingPunct="1">
              <a:spcBef>
                <a:spcPts val="600"/>
              </a:spcBef>
            </a:pPr>
            <a:r>
              <a:rPr lang="en-US" altLang="zh-TW" sz="26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output for an input signal is the superposition of a series of “shifted, scaled unit impulse response”</a:t>
            </a:r>
          </a:p>
        </p:txBody>
      </p:sp>
      <p:pic>
        <p:nvPicPr>
          <p:cNvPr id="1639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90" t="20448" r="36086" b="69398"/>
          <a:stretch>
            <a:fillRect/>
          </a:stretch>
        </p:blipFill>
        <p:spPr bwMode="auto">
          <a:xfrm>
            <a:off x="3552825" y="2265363"/>
            <a:ext cx="2373313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89000" r="18773" b="1738"/>
          <a:stretch>
            <a:fillRect/>
          </a:stretch>
        </p:blipFill>
        <p:spPr bwMode="auto">
          <a:xfrm>
            <a:off x="4827588" y="5572125"/>
            <a:ext cx="2741612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-14288" y="0"/>
            <a:ext cx="3509963" cy="5508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dirty="0"/>
              <a:t>Chapter 2 Review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909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矩形 3"/>
          <p:cNvSpPr>
            <a:spLocks noChangeArrowheads="1"/>
          </p:cNvSpPr>
          <p:nvPr/>
        </p:nvSpPr>
        <p:spPr bwMode="auto">
          <a:xfrm>
            <a:off x="0" y="0"/>
            <a:ext cx="9144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200000"/>
              </a:lnSpc>
              <a:defRPr/>
            </a:pPr>
            <a:r>
              <a:rPr lang="en-US" altLang="zh-TW" sz="2800" b="1" dirty="0" err="1">
                <a:solidFill>
                  <a:srgbClr val="000066"/>
                </a:solidFill>
                <a:latin typeface="+mj-lt"/>
                <a:cs typeface="Times New Roman" pitchFamily="18" charset="0"/>
              </a:rPr>
              <a:t>Input/Output</a:t>
            </a:r>
            <a:r>
              <a:rPr lang="en-US" altLang="zh-TW" sz="2800" b="1" dirty="0">
                <a:solidFill>
                  <a:srgbClr val="000066"/>
                </a:solidFill>
                <a:latin typeface="+mj-lt"/>
                <a:cs typeface="Times New Roman" pitchFamily="18" charset="0"/>
              </a:rPr>
              <a:t> Relation</a:t>
            </a: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49388"/>
            <a:ext cx="8448675" cy="4859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412" name="TextBox 1"/>
          <p:cNvSpPr txBox="1">
            <a:spLocks noChangeArrowheads="1"/>
          </p:cNvSpPr>
          <p:nvPr/>
        </p:nvSpPr>
        <p:spPr bwMode="auto">
          <a:xfrm>
            <a:off x="3090863" y="2244725"/>
            <a:ext cx="11795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sz="2400"/>
              <a:t>DT LTI </a:t>
            </a:r>
          </a:p>
          <a:p>
            <a:pPr eaLnBrk="1" hangingPunct="1"/>
            <a:r>
              <a:rPr lang="en-US" altLang="zh-CN" sz="2400"/>
              <a:t>system</a:t>
            </a:r>
            <a:endParaRPr lang="zh-CN" altLang="en-US" sz="2400"/>
          </a:p>
        </p:txBody>
      </p:sp>
      <p:sp>
        <p:nvSpPr>
          <p:cNvPr id="1741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fld id="{093A194E-0899-490E-B81E-FBB672717588}" type="slidenum">
              <a:rPr lang="en-US" altLang="zh-CN" sz="1400" smtClean="0">
                <a:latin typeface="Times New Roman" pitchFamily="18" charset="0"/>
              </a:rPr>
              <a:pPr eaLnBrk="1" hangingPunct="1"/>
              <a:t>5</a:t>
            </a:fld>
            <a:endParaRPr lang="en-US" altLang="zh-CN" sz="1400">
              <a:latin typeface="Times New Roman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-14288" y="0"/>
            <a:ext cx="3509963" cy="5508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dirty="0"/>
              <a:t>Chapter 2 Review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013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fld id="{D99297AA-56E4-4BB4-AB2B-B3537B7195DB}" type="slidenum">
              <a:rPr lang="en-US" altLang="zh-CN" sz="1400" smtClean="0">
                <a:latin typeface="Times New Roman" pitchFamily="18" charset="0"/>
              </a:rPr>
              <a:pPr eaLnBrk="1" hangingPunct="1"/>
              <a:t>6</a:t>
            </a:fld>
            <a:endParaRPr lang="en-US" altLang="zh-CN" sz="1400">
              <a:latin typeface="Times New Roman" pitchFamily="18" charset="0"/>
            </a:endParaRPr>
          </a:p>
        </p:txBody>
      </p:sp>
      <p:sp>
        <p:nvSpPr>
          <p:cNvPr id="17411" name="矩形 3"/>
          <p:cNvSpPr>
            <a:spLocks noChangeArrowheads="1"/>
          </p:cNvSpPr>
          <p:nvPr/>
        </p:nvSpPr>
        <p:spPr bwMode="auto">
          <a:xfrm>
            <a:off x="0" y="350475"/>
            <a:ext cx="9144000" cy="404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0" anchor="ctr">
            <a:spAutoFit/>
          </a:bodyPr>
          <a:lstStyle>
            <a:lvl1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07950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lnSpc>
                <a:spcPct val="150000"/>
              </a:lnSpc>
              <a:buSzPct val="70000"/>
              <a:buFont typeface="Wingdings" pitchFamily="2" charset="2"/>
              <a:buChar char="l"/>
            </a:pPr>
            <a:r>
              <a:rPr lang="en-US" altLang="zh-TW" sz="3000" dirty="0">
                <a:solidFill>
                  <a:srgbClr val="000000"/>
                </a:solidFill>
                <a:latin typeface="Times New Roman" pitchFamily="18" charset="0"/>
                <a:ea typeface="新細明體" pitchFamily="18" charset="-120"/>
                <a:cs typeface="Times New Roman" pitchFamily="18" charset="0"/>
              </a:rPr>
              <a:t>A different way to visualize the convolution sum</a:t>
            </a:r>
          </a:p>
          <a:p>
            <a:pPr lvl="2" eaLnBrk="1" hangingPunct="1">
              <a:buFont typeface="Arial" charset="0"/>
              <a:buChar char="–"/>
            </a:pPr>
            <a:r>
              <a:rPr lang="en-US" altLang="zh-TW" sz="2600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looked at on the index </a:t>
            </a:r>
            <a:r>
              <a:rPr lang="en-US" altLang="zh-TW" sz="2600" i="1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k</a:t>
            </a:r>
          </a:p>
          <a:p>
            <a:pPr lvl="2" eaLnBrk="1" hangingPunct="1">
              <a:spcBef>
                <a:spcPts val="600"/>
              </a:spcBef>
              <a:buFont typeface="Arial" charset="0"/>
              <a:buChar char="–"/>
            </a:pPr>
            <a:endParaRPr lang="en-US" altLang="zh-TW" sz="2600" dirty="0">
              <a:solidFill>
                <a:srgbClr val="00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2" eaLnBrk="1" hangingPunct="1">
              <a:spcBef>
                <a:spcPts val="600"/>
              </a:spcBef>
              <a:buFont typeface="Arial" charset="0"/>
              <a:buChar char="–"/>
            </a:pPr>
            <a:endParaRPr lang="en-US" altLang="zh-TW" sz="2600" dirty="0">
              <a:solidFill>
                <a:srgbClr val="00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2" eaLnBrk="1" hangingPunct="1">
              <a:spcBef>
                <a:spcPts val="600"/>
              </a:spcBef>
              <a:buFont typeface="Arial" charset="0"/>
              <a:buChar char="–"/>
            </a:pPr>
            <a:endParaRPr lang="en-US" altLang="zh-TW" sz="2600" dirty="0">
              <a:solidFill>
                <a:srgbClr val="00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2" eaLnBrk="1" hangingPunct="1">
              <a:spcBef>
                <a:spcPts val="600"/>
              </a:spcBef>
              <a:buFont typeface="Arial" charset="0"/>
              <a:buChar char="–"/>
            </a:pPr>
            <a:endParaRPr lang="en-US" altLang="zh-TW" sz="2600" dirty="0">
              <a:solidFill>
                <a:srgbClr val="00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2" eaLnBrk="1" hangingPunct="1">
              <a:spcBef>
                <a:spcPts val="600"/>
              </a:spcBef>
              <a:buFont typeface="Arial" charset="0"/>
              <a:buChar char="–"/>
            </a:pPr>
            <a:endParaRPr lang="en-US" altLang="zh-TW" sz="2600" dirty="0">
              <a:solidFill>
                <a:srgbClr val="00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  <a:p>
            <a:pPr lvl="2" eaLnBrk="1" hangingPunct="1">
              <a:spcBef>
                <a:spcPts val="600"/>
              </a:spcBef>
              <a:buFont typeface="Arial" charset="0"/>
              <a:buChar char="–"/>
            </a:pPr>
            <a:endParaRPr lang="en-US" altLang="zh-TW" sz="2600" dirty="0">
              <a:solidFill>
                <a:srgbClr val="00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  <p:graphicFrame>
        <p:nvGraphicFramePr>
          <p:cNvPr id="2150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226285"/>
              </p:ext>
            </p:extLst>
          </p:nvPr>
        </p:nvGraphicFramePr>
        <p:xfrm>
          <a:off x="2168525" y="1371600"/>
          <a:ext cx="3281363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409088" imgH="431613" progId="Equation.3">
                  <p:embed/>
                </p:oleObj>
              </mc:Choice>
              <mc:Fallback>
                <p:oleObj name="方程式" r:id="rId2" imgW="140908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1371600"/>
                        <a:ext cx="3281363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Line 4"/>
          <p:cNvSpPr>
            <a:spLocks noChangeShapeType="1"/>
          </p:cNvSpPr>
          <p:nvPr/>
        </p:nvSpPr>
        <p:spPr bwMode="auto">
          <a:xfrm flipV="1">
            <a:off x="2616200" y="2249488"/>
            <a:ext cx="0" cy="838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kern="0">
              <a:solidFill>
                <a:sysClr val="windowText" lastClr="00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231900" y="2998788"/>
            <a:ext cx="26463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TW" sz="200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Contribution to the output signal at time </a:t>
            </a:r>
            <a:r>
              <a:rPr lang="en-US" altLang="zh-TW" sz="2000" i="1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  <a:r>
              <a:rPr lang="en-US" altLang="zh-TW" sz="200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 flipV="1">
            <a:off x="4040188" y="2195513"/>
            <a:ext cx="0" cy="5032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kern="0">
              <a:solidFill>
                <a:sysClr val="windowText" lastClr="00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 flipV="1">
            <a:off x="4918075" y="2270125"/>
            <a:ext cx="0" cy="9842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TW" altLang="en-US" kern="0">
              <a:solidFill>
                <a:sysClr val="windowText" lastClr="00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3302000" y="2627313"/>
            <a:ext cx="15652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input signal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4589463" y="3214688"/>
            <a:ext cx="4241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TW" sz="200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flipped version of </a:t>
            </a:r>
            <a:r>
              <a:rPr lang="en-US" altLang="zh-TW" sz="2000" i="1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h</a:t>
            </a:r>
            <a:r>
              <a:rPr lang="en-US" altLang="zh-TW" sz="200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[</a:t>
            </a:r>
            <a:r>
              <a:rPr lang="en-US" altLang="zh-TW" sz="2000" i="1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en-US" altLang="zh-TW" sz="200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] located at </a:t>
            </a:r>
            <a:r>
              <a:rPr lang="en-US" altLang="zh-TW" sz="2000" i="1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k</a:t>
            </a:r>
            <a:r>
              <a:rPr lang="en-US" altLang="zh-TW" sz="2000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 = </a:t>
            </a:r>
            <a:r>
              <a:rPr lang="en-US" altLang="zh-TW" sz="2000" i="1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-14288" y="0"/>
            <a:ext cx="3509963" cy="5508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dirty="0"/>
              <a:t>Chapter 2 Review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231775" y="4059238"/>
            <a:ext cx="8740775" cy="2289175"/>
            <a:chOff x="231775" y="4059238"/>
            <a:chExt cx="8740775" cy="2289175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948"/>
            <a:stretch>
              <a:fillRect/>
            </a:stretch>
          </p:blipFill>
          <p:spPr bwMode="auto">
            <a:xfrm>
              <a:off x="231775" y="4059238"/>
              <a:ext cx="8740775" cy="2289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3275013" y="5649913"/>
              <a:ext cx="1665287" cy="584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3200">
                  <a:solidFill>
                    <a:schemeClr val="tx1"/>
                  </a:solidFill>
                  <a:latin typeface="Arial" charset="0"/>
                  <a:ea typeface="Gulim" pitchFamily="34" charset="-127"/>
                </a:defRPr>
              </a:lvl1pPr>
              <a:lvl2pPr marL="742950" indent="-285750" eaLnBrk="0" hangingPunct="0">
                <a:defRPr sz="3200">
                  <a:solidFill>
                    <a:schemeClr val="tx1"/>
                  </a:solidFill>
                  <a:latin typeface="Arial" charset="0"/>
                  <a:ea typeface="Gulim" pitchFamily="34" charset="-127"/>
                </a:defRPr>
              </a:lvl2pPr>
              <a:lvl3pPr marL="11430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Gulim" pitchFamily="34" charset="-127"/>
                </a:defRPr>
              </a:lvl3pPr>
              <a:lvl4pPr marL="16002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Gulim" pitchFamily="34" charset="-127"/>
                </a:defRPr>
              </a:lvl4pPr>
              <a:lvl5pPr marL="2057400" indent="-228600" eaLnBrk="0" hangingPunct="0">
                <a:defRPr sz="3200">
                  <a:solidFill>
                    <a:schemeClr val="tx1"/>
                  </a:solidFill>
                  <a:latin typeface="Arial" charset="0"/>
                  <a:ea typeface="Gulim" pitchFamily="34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Gulim" pitchFamily="34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Gulim" pitchFamily="34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Gulim" pitchFamily="34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chemeClr val="tx1"/>
                  </a:solidFill>
                  <a:latin typeface="Arial" charset="0"/>
                  <a:ea typeface="Gulim" pitchFamily="34" charset="-127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rgbClr val="FF0000"/>
                  </a:solidFill>
                </a:rPr>
                <a:t>F S M 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7455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685800" y="395288"/>
            <a:ext cx="7772400" cy="941387"/>
          </a:xfrm>
        </p:spPr>
        <p:txBody>
          <a:bodyPr/>
          <a:lstStyle/>
          <a:p>
            <a:r>
              <a:rPr lang="en-GB" altLang="zh-CN" sz="2800">
                <a:ea typeface="宋体" panose="02010600030101010101" pitchFamily="2" charset="-122"/>
              </a:rPr>
              <a:t>Calculating Successive Values: </a:t>
            </a:r>
            <a:r>
              <a:rPr lang="en-GB" altLang="zh-CN" sz="2800">
                <a:solidFill>
                  <a:srgbClr val="FF0000"/>
                </a:solidFill>
                <a:ea typeface="宋体" panose="02010600030101010101" pitchFamily="2" charset="-122"/>
              </a:rPr>
              <a:t>Shift, Multiply, Sum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zh-CN">
              <a:ea typeface="宋体" panose="02010600030101010101" pitchFamily="2" charset="-122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9pPr>
          </a:lstStyle>
          <a:p>
            <a:pPr eaLnBrk="1" hangingPunct="1"/>
            <a:fld id="{802920E4-D48D-4063-AC69-2DAA440C946D}" type="slidenum">
              <a:rPr lang="en-US" altLang="zh-CN" sz="1400">
                <a:latin typeface="Times New Roman" panose="02020603050405020304" pitchFamily="18" charset="0"/>
              </a:rPr>
              <a:pPr eaLnBrk="1" hangingPunct="1"/>
              <a:t>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pic>
        <p:nvPicPr>
          <p:cNvPr id="2048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273175"/>
            <a:ext cx="7856537" cy="537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486" name="TextBox 5"/>
          <p:cNvSpPr txBox="1">
            <a:spLocks noChangeArrowheads="1"/>
          </p:cNvSpPr>
          <p:nvPr/>
        </p:nvSpPr>
        <p:spPr bwMode="auto">
          <a:xfrm>
            <a:off x="0" y="0"/>
            <a:ext cx="2119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anose="020B0604020202020204" pitchFamily="34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FF"/>
                </a:solidFill>
              </a:rPr>
              <a:t>Class practice</a:t>
            </a:r>
            <a:endParaRPr lang="zh-CN" altLang="en-US" sz="2400">
              <a:solidFill>
                <a:srgbClr val="FF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8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>
          <a:xfrm>
            <a:off x="685800" y="347663"/>
            <a:ext cx="7772400" cy="631825"/>
          </a:xfrm>
        </p:spPr>
        <p:txBody>
          <a:bodyPr/>
          <a:lstStyle/>
          <a:p>
            <a:r>
              <a:rPr lang="en-GB" sz="2800" dirty="0"/>
              <a:t>The Unit-impulse function </a:t>
            </a:r>
            <a:r>
              <a:rPr lang="el-GR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597B7A3B-3042-4E3A-9D40-01794E321C99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8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3994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44"/>
          <a:stretch>
            <a:fillRect/>
          </a:stretch>
        </p:blipFill>
        <p:spPr bwMode="auto">
          <a:xfrm>
            <a:off x="306388" y="1663700"/>
            <a:ext cx="8504237" cy="377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412750" y="223838"/>
            <a:ext cx="8226425" cy="677862"/>
          </a:xfrm>
        </p:spPr>
        <p:txBody>
          <a:bodyPr/>
          <a:lstStyle/>
          <a:p>
            <a:r>
              <a:rPr lang="en-GB" sz="2800"/>
              <a:t>Construction of the Unit-impulse function </a:t>
            </a:r>
            <a:r>
              <a:rPr lang="en-GB" sz="2800" b="0"/>
              <a:t>δ</a:t>
            </a:r>
            <a:r>
              <a:rPr lang="en-GB" sz="2800"/>
              <a:t>(</a:t>
            </a:r>
            <a:r>
              <a:rPr lang="en-GB" sz="2800" i="1"/>
              <a:t>t</a:t>
            </a:r>
            <a:r>
              <a:rPr lang="en-GB" sz="2800"/>
              <a:t>)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B08DD0F3-017A-4BC7-9D8F-E39E31DDF3EE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9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4096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858838"/>
            <a:ext cx="8523287" cy="562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74"/>
          <a:stretch>
            <a:fillRect/>
          </a:stretch>
        </p:blipFill>
        <p:spPr bwMode="auto">
          <a:xfrm>
            <a:off x="2171700" y="1514475"/>
            <a:ext cx="4561612" cy="2996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/>
          <p:nvPr/>
        </p:nvSpPr>
        <p:spPr bwMode="auto">
          <a:xfrm rot="2094120">
            <a:off x="4816567" y="2491377"/>
            <a:ext cx="402771" cy="522514"/>
          </a:xfrm>
          <a:custGeom>
            <a:avLst/>
            <a:gdLst>
              <a:gd name="connsiteX0" fmla="*/ 23948 w 402771"/>
              <a:gd name="connsiteY0" fmla="*/ 522514 h 522514"/>
              <a:gd name="connsiteX1" fmla="*/ 63137 w 402771"/>
              <a:gd name="connsiteY1" fmla="*/ 169817 h 522514"/>
              <a:gd name="connsiteX2" fmla="*/ 402771 w 402771"/>
              <a:gd name="connsiteY2" fmla="*/ 0 h 522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771" h="522514">
                <a:moveTo>
                  <a:pt x="23948" y="522514"/>
                </a:moveTo>
                <a:cubicBezTo>
                  <a:pt x="11974" y="389708"/>
                  <a:pt x="0" y="256903"/>
                  <a:pt x="63137" y="169817"/>
                </a:cubicBezTo>
                <a:cubicBezTo>
                  <a:pt x="126274" y="82731"/>
                  <a:pt x="264522" y="41365"/>
                  <a:pt x="402771" y="0"/>
                </a:cubicBezTo>
              </a:path>
            </a:pathLst>
          </a:custGeom>
          <a:noFill/>
          <a:ln w="222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70500" y="2400300"/>
            <a:ext cx="1186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chemeClr val="accent5">
                    <a:lumMod val="75000"/>
                  </a:schemeClr>
                </a:solidFill>
              </a:rPr>
              <a:t>Area=1</a:t>
            </a:r>
            <a:endParaRPr lang="zh-TW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-88900" y="0"/>
            <a:ext cx="4324350" cy="2840308"/>
            <a:chOff x="-92622" y="-152401"/>
            <a:chExt cx="4324350" cy="2840308"/>
          </a:xfrm>
        </p:grpSpPr>
        <p:pic>
          <p:nvPicPr>
            <p:cNvPr id="1026" name="Picture 2" descr="http://hyperphysics.phy-astr.gsu.edu/hbase/math/immath/gauds.gif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-92622" y="-36244"/>
              <a:ext cx="4324350" cy="2724151"/>
            </a:xfrm>
            <a:prstGeom prst="rect">
              <a:avLst/>
            </a:prstGeom>
            <a:noFill/>
          </p:spPr>
        </p:pic>
        <p:cxnSp>
          <p:nvCxnSpPr>
            <p:cNvPr id="7" name="Straight Connector 6"/>
            <p:cNvCxnSpPr/>
            <p:nvPr/>
          </p:nvCxnSpPr>
          <p:spPr bwMode="auto">
            <a:xfrm>
              <a:off x="2076450" y="-152401"/>
              <a:ext cx="546" cy="2466000"/>
            </a:xfrm>
            <a:prstGeom prst="line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032" name="Picture 8" descr="http://paulbourke.net/miscellaneous/functions/sinc1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3489324"/>
            <a:ext cx="4495800" cy="2847976"/>
          </a:xfrm>
          <a:prstGeom prst="rect">
            <a:avLst/>
          </a:prstGeom>
          <a:noFill/>
        </p:spPr>
      </p:pic>
      <p:pic>
        <p:nvPicPr>
          <p:cNvPr id="1028" name="Picture 4" descr="http://cnx.org/resources/91351390b1e2e4ab0842068ea90120cf/triangl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683000"/>
            <a:ext cx="3467100" cy="2552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>
          <a:xfrm>
            <a:off x="685800" y="541338"/>
            <a:ext cx="7772400" cy="695325"/>
          </a:xfrm>
        </p:spPr>
        <p:txBody>
          <a:bodyPr/>
          <a:lstStyle/>
          <a:p>
            <a:r>
              <a:rPr lang="en-GB" sz="2800"/>
              <a:t>Representation of CT Signals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4C59A4AF-A3E2-42D3-86C7-3A5A60C9C85C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11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4198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593850"/>
            <a:ext cx="8523287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7E26E5DC-2771-4E6E-95ED-0530F8D21147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12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10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5" y="0"/>
            <a:ext cx="5470525" cy="6857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9822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>
          <a:xfrm>
            <a:off x="685800" y="103188"/>
            <a:ext cx="7772400" cy="641350"/>
          </a:xfrm>
        </p:spPr>
        <p:txBody>
          <a:bodyPr/>
          <a:lstStyle/>
          <a:p>
            <a:r>
              <a:rPr lang="en-GB" sz="2800"/>
              <a:t>Representation of CT Signals (cont.)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6A63976C-8E19-423D-8387-D630BACD079B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13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43013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260475" y="744538"/>
            <a:ext cx="6613525" cy="257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3949700" y="2311400"/>
            <a:ext cx="2324100" cy="736600"/>
            <a:chOff x="3949700" y="2311400"/>
            <a:chExt cx="2324100" cy="736600"/>
          </a:xfrm>
        </p:grpSpPr>
        <p:sp>
          <p:nvSpPr>
            <p:cNvPr id="7" name="Rectangle 6"/>
            <p:cNvSpPr/>
            <p:nvPr/>
          </p:nvSpPr>
          <p:spPr bwMode="auto">
            <a:xfrm>
              <a:off x="3949700" y="2374900"/>
              <a:ext cx="2324100" cy="6731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38700" y="2311400"/>
              <a:ext cx="5461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rgbClr val="FF0000"/>
                  </a:solidFill>
                </a:rPr>
                <a:t>?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1412875" y="3474244"/>
            <a:ext cx="6613525" cy="257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8"/>
          <p:cNvSpPr/>
          <p:nvPr/>
        </p:nvSpPr>
        <p:spPr bwMode="auto">
          <a:xfrm>
            <a:off x="2616200" y="5359400"/>
            <a:ext cx="3670300" cy="812800"/>
          </a:xfrm>
          <a:prstGeom prst="rect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pSp>
        <p:nvGrpSpPr>
          <p:cNvPr id="10" name="Group 9"/>
          <p:cNvGrpSpPr/>
          <p:nvPr/>
        </p:nvGrpSpPr>
        <p:grpSpPr>
          <a:xfrm>
            <a:off x="1447799" y="354012"/>
            <a:ext cx="7179749" cy="5640388"/>
            <a:chOff x="1152525" y="1331912"/>
            <a:chExt cx="7563924" cy="5767388"/>
          </a:xfrm>
        </p:grpSpPr>
        <p:pic>
          <p:nvPicPr>
            <p:cNvPr id="45058" name="圖片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1331912"/>
              <a:ext cx="6246813" cy="5767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Freeform 4"/>
            <p:cNvSpPr/>
            <p:nvPr/>
          </p:nvSpPr>
          <p:spPr bwMode="auto">
            <a:xfrm rot="1845537">
              <a:off x="4829267" y="2300877"/>
              <a:ext cx="402771" cy="522514"/>
            </a:xfrm>
            <a:custGeom>
              <a:avLst/>
              <a:gdLst>
                <a:gd name="connsiteX0" fmla="*/ 23948 w 402771"/>
                <a:gd name="connsiteY0" fmla="*/ 522514 h 522514"/>
                <a:gd name="connsiteX1" fmla="*/ 63137 w 402771"/>
                <a:gd name="connsiteY1" fmla="*/ 169817 h 522514"/>
                <a:gd name="connsiteX2" fmla="*/ 402771 w 402771"/>
                <a:gd name="connsiteY2" fmla="*/ 0 h 52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2771" h="522514">
                  <a:moveTo>
                    <a:pt x="23948" y="522514"/>
                  </a:moveTo>
                  <a:cubicBezTo>
                    <a:pt x="11974" y="389708"/>
                    <a:pt x="0" y="256903"/>
                    <a:pt x="63137" y="169817"/>
                  </a:cubicBezTo>
                  <a:cubicBezTo>
                    <a:pt x="126274" y="82731"/>
                    <a:pt x="264522" y="41365"/>
                    <a:pt x="402771" y="0"/>
                  </a:cubicBezTo>
                </a:path>
              </a:pathLst>
            </a:custGeom>
            <a:noFill/>
            <a:ln w="22225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arrow" w="lg" len="lg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092700" y="2489200"/>
              <a:ext cx="36237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latin typeface="Times New Roman" pitchFamily="18" charset="0"/>
                  <a:cs typeface="Times New Roman" pitchFamily="18" charset="0"/>
                </a:rPr>
                <a:t>A function of </a:t>
              </a:r>
              <a:r>
                <a:rPr lang="el-GR" altLang="zh-TW" sz="2400" dirty="0">
                  <a:latin typeface="Times New Roman" pitchFamily="18" charset="0"/>
                  <a:cs typeface="Times New Roman" pitchFamily="18" charset="0"/>
                </a:rPr>
                <a:t>τ</a:t>
              </a:r>
              <a:r>
                <a:rPr lang="en-US" altLang="zh-TW" sz="2400" dirty="0">
                  <a:latin typeface="Times New Roman" pitchFamily="18" charset="0"/>
                  <a:cs typeface="Times New Roman" pitchFamily="18" charset="0"/>
                </a:rPr>
                <a:t> with </a:t>
              </a:r>
              <a:r>
                <a:rPr lang="en-US" altLang="zh-TW" sz="2400" i="1" dirty="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altLang="zh-TW" sz="2400" dirty="0">
                  <a:latin typeface="Times New Roman" pitchFamily="18" charset="0"/>
                  <a:cs typeface="Times New Roman" pitchFamily="18" charset="0"/>
                </a:rPr>
                <a:t> fixed</a:t>
              </a:r>
              <a:endParaRPr lang="zh-TW" altLang="en-US" sz="2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286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846094"/>
              </p:ext>
            </p:extLst>
          </p:nvPr>
        </p:nvGraphicFramePr>
        <p:xfrm>
          <a:off x="2003108" y="38100"/>
          <a:ext cx="35655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00200" imgH="203040" progId="Equation.DSMT4">
                  <p:embed/>
                </p:oleObj>
              </mc:Choice>
              <mc:Fallback>
                <p:oleObj name="Equation" r:id="rId3" imgW="160020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108" y="38100"/>
                        <a:ext cx="3565525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0"/>
            <a:ext cx="2215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Recall, we have</a:t>
            </a:r>
            <a:endParaRPr lang="zh-TW" alt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76302" y="0"/>
            <a:ext cx="40142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, as a function of </a:t>
            </a:r>
            <a:r>
              <a:rPr lang="el-GR" altLang="zh-TW" sz="2400" dirty="0"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with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fixed.</a:t>
            </a:r>
            <a:endParaRPr lang="zh-TW" altLang="en-US" sz="2400" dirty="0"/>
          </a:p>
        </p:txBody>
      </p:sp>
      <p:graphicFrame>
        <p:nvGraphicFramePr>
          <p:cNvPr id="28673" name="Object 1"/>
          <p:cNvGraphicFramePr>
            <a:graphicFrameLocks noChangeAspect="1"/>
          </p:cNvGraphicFramePr>
          <p:nvPr/>
        </p:nvGraphicFramePr>
        <p:xfrm>
          <a:off x="228600" y="5888713"/>
          <a:ext cx="8547100" cy="72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35400" imgH="330200" progId="Equation.DSMT4">
                  <p:embed/>
                </p:oleObj>
              </mc:Choice>
              <mc:Fallback>
                <p:oleObj name="Equation" r:id="rId5" imgW="3835400" imgH="3302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5888713"/>
                        <a:ext cx="8547100" cy="7279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/>
              <a:t>Unit Impulse Response</a:t>
            </a:r>
          </a:p>
        </p:txBody>
      </p:sp>
      <p:sp>
        <p:nvSpPr>
          <p:cNvPr id="40964" name="Slide Number Placeholder 1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5FB883D7-DB08-4CC0-8BA0-6F8609C889A7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15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4710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2171700"/>
            <a:ext cx="887412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685800" y="296863"/>
            <a:ext cx="7772400" cy="720725"/>
          </a:xfrm>
        </p:spPr>
        <p:txBody>
          <a:bodyPr/>
          <a:lstStyle/>
          <a:p>
            <a:r>
              <a:rPr lang="en-GB" sz="2800" dirty="0"/>
              <a:t>Response of a CT LTI System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3CD34D79-13E3-4756-8B26-62026D80E879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16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4813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1084263"/>
            <a:ext cx="9037637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325" y="1247775"/>
            <a:ext cx="8137525" cy="523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9267" name="矩形 5"/>
          <p:cNvSpPr>
            <a:spLocks noChangeArrowheads="1"/>
          </p:cNvSpPr>
          <p:nvPr/>
        </p:nvSpPr>
        <p:spPr bwMode="auto">
          <a:xfrm>
            <a:off x="0" y="244475"/>
            <a:ext cx="9144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200000"/>
              </a:lnSpc>
              <a:defRPr/>
            </a:pPr>
            <a:r>
              <a:rPr lang="en-US" altLang="zh-TW" sz="2800" b="1" dirty="0">
                <a:solidFill>
                  <a:srgbClr val="000066"/>
                </a:solidFill>
                <a:latin typeface="+mj-lt"/>
                <a:cs typeface="Times New Roman" pitchFamily="18" charset="0"/>
              </a:rPr>
              <a:t>Response of a CT LTI System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4200" y="1371600"/>
            <a:ext cx="553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x(t)</a:t>
            </a:r>
            <a:endParaRPr lang="zh-TW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6235700" y="1320800"/>
            <a:ext cx="553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y(t)</a:t>
            </a:r>
            <a:endParaRPr lang="zh-TW" altLang="en-US" sz="2000" dirty="0"/>
          </a:p>
        </p:txBody>
      </p:sp>
      <p:sp>
        <p:nvSpPr>
          <p:cNvPr id="7" name="Rounded Rectangle 6"/>
          <p:cNvSpPr/>
          <p:nvPr/>
        </p:nvSpPr>
        <p:spPr bwMode="auto">
          <a:xfrm>
            <a:off x="469900" y="4622800"/>
            <a:ext cx="3416300" cy="1905000"/>
          </a:xfrm>
          <a:prstGeom prst="roundRect">
            <a:avLst/>
          </a:prstGeom>
          <a:noFill/>
          <a:ln w="222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8" name="Right Arrow 7"/>
          <p:cNvSpPr/>
          <p:nvPr/>
        </p:nvSpPr>
        <p:spPr bwMode="auto">
          <a:xfrm>
            <a:off x="4229100" y="2603500"/>
            <a:ext cx="1104900" cy="4064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9" name="Right Arrow 8"/>
          <p:cNvSpPr/>
          <p:nvPr/>
        </p:nvSpPr>
        <p:spPr bwMode="auto">
          <a:xfrm>
            <a:off x="4229100" y="3594100"/>
            <a:ext cx="1104900" cy="4064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10" name="Right Arrow 9"/>
          <p:cNvSpPr/>
          <p:nvPr/>
        </p:nvSpPr>
        <p:spPr bwMode="auto">
          <a:xfrm>
            <a:off x="4229100" y="5359400"/>
            <a:ext cx="1104900" cy="4064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5562600" y="4622800"/>
            <a:ext cx="3416300" cy="1905000"/>
          </a:xfrm>
          <a:prstGeom prst="roundRect">
            <a:avLst/>
          </a:prstGeom>
          <a:noFill/>
          <a:ln w="222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21380" y="1515170"/>
            <a:ext cx="13987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CT LTI</a:t>
            </a:r>
            <a:endParaRPr lang="zh-CN" alt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239000" y="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71CF6FE9-E248-4DCD-A191-E640722F01E4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17</a:t>
            </a:fld>
            <a:endParaRPr lang="en-US" sz="14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685800" y="823913"/>
            <a:ext cx="7772400" cy="619125"/>
          </a:xfrm>
        </p:spPr>
        <p:txBody>
          <a:bodyPr/>
          <a:lstStyle/>
          <a:p>
            <a:r>
              <a:rPr lang="en-GB" sz="2800" dirty="0"/>
              <a:t>Operation of CT Convolution</a:t>
            </a:r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07CF520B-5C0B-4A22-ACEF-D20E75E43B91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18</a:t>
            </a:fld>
            <a:endParaRPr lang="en-US" sz="1400">
              <a:latin typeface="Times New Roman" pitchFamily="18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20663" y="4978400"/>
            <a:ext cx="8694737" cy="1935163"/>
            <a:chOff x="220663" y="4622800"/>
            <a:chExt cx="8694737" cy="1935163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198"/>
            <a:stretch>
              <a:fillRect/>
            </a:stretch>
          </p:blipFill>
          <p:spPr bwMode="auto">
            <a:xfrm>
              <a:off x="220663" y="4673600"/>
              <a:ext cx="8694737" cy="1884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ounded Rectangle 5"/>
            <p:cNvSpPr/>
            <p:nvPr/>
          </p:nvSpPr>
          <p:spPr bwMode="auto">
            <a:xfrm>
              <a:off x="241300" y="4622800"/>
              <a:ext cx="8623300" cy="1905000"/>
            </a:xfrm>
            <a:prstGeom prst="roundRect">
              <a:avLst/>
            </a:prstGeom>
            <a:noFill/>
            <a:ln w="22225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25500" y="4025900"/>
            <a:ext cx="713086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6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TW" sz="2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sz="26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2600" b="1" dirty="0">
                <a:latin typeface="Times New Roman" pitchFamily="18" charset="0"/>
                <a:cs typeface="Times New Roman" pitchFamily="18" charset="0"/>
              </a:rPr>
              <a:t>) is a weighted integral of the input, where the </a:t>
            </a:r>
          </a:p>
          <a:p>
            <a:r>
              <a:rPr lang="en-US" altLang="zh-TW" sz="2600" b="1" dirty="0">
                <a:latin typeface="Times New Roman" pitchFamily="18" charset="0"/>
                <a:cs typeface="Times New Roman" pitchFamily="18" charset="0"/>
              </a:rPr>
              <a:t>weight on </a:t>
            </a:r>
            <a:r>
              <a:rPr lang="en-US" altLang="zh-TW" sz="26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sz="2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l-GR" altLang="zh-TW" sz="2600" b="1" i="1" dirty="0"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altLang="zh-TW" sz="2600" b="1" dirty="0">
                <a:latin typeface="Times New Roman" pitchFamily="18" charset="0"/>
                <a:cs typeface="Times New Roman" pitchFamily="18" charset="0"/>
              </a:rPr>
              <a:t>) is </a:t>
            </a:r>
            <a:r>
              <a:rPr lang="en-US" altLang="zh-TW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6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TW" sz="2600" b="1" i="1" dirty="0"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US" altLang="zh-TW" sz="2600" b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l-GR" altLang="zh-TW" sz="2600" b="1" i="1" dirty="0">
                <a:latin typeface="Times New Roman" pitchFamily="18" charset="0"/>
                <a:cs typeface="Times New Roman" pitchFamily="18" charset="0"/>
              </a:rPr>
              <a:t> τ</a:t>
            </a:r>
            <a:r>
              <a:rPr lang="en-US" altLang="zh-TW" sz="26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sz="2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-779462" y="1502229"/>
            <a:ext cx="8694737" cy="1964871"/>
            <a:chOff x="223838" y="1502229"/>
            <a:chExt cx="8694737" cy="1964871"/>
          </a:xfrm>
        </p:grpSpPr>
        <p:pic>
          <p:nvPicPr>
            <p:cNvPr id="4915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5143"/>
            <a:stretch>
              <a:fillRect/>
            </a:stretch>
          </p:blipFill>
          <p:spPr bwMode="auto">
            <a:xfrm>
              <a:off x="223838" y="1633538"/>
              <a:ext cx="8694737" cy="1198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Rectangle 8"/>
            <p:cNvSpPr/>
            <p:nvPr/>
          </p:nvSpPr>
          <p:spPr bwMode="auto">
            <a:xfrm>
              <a:off x="1136469" y="1502229"/>
              <a:ext cx="7014754" cy="1964871"/>
            </a:xfrm>
            <a:prstGeom prst="rect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endParaRPr>
            </a:p>
          </p:txBody>
        </p:sp>
        <p:graphicFrame>
          <p:nvGraphicFramePr>
            <p:cNvPr id="24579" name="Object 3"/>
            <p:cNvGraphicFramePr>
              <a:graphicFrameLocks noChangeAspect="1"/>
            </p:cNvGraphicFramePr>
            <p:nvPr/>
          </p:nvGraphicFramePr>
          <p:xfrm>
            <a:off x="1295400" y="2438400"/>
            <a:ext cx="5196115" cy="1016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71700" imgH="431800" progId="Equation.DSMT4">
                    <p:embed/>
                  </p:oleObj>
                </mc:Choice>
                <mc:Fallback>
                  <p:oleObj name="Equation" r:id="rId3" imgW="2171700" imgH="43180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5400" y="2438400"/>
                          <a:ext cx="5196115" cy="1016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4578" name="Picture 2" descr="https://encrypted-tbn3.gstatic.com/images?q=tbn:ANd9GcQxbMN1KAVbi9TGHAzrbsr2Ns_whXPTclJwrYthzGfH68Wfi0yw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93160"/>
            <a:ext cx="2043249" cy="1433325"/>
          </a:xfrm>
          <a:prstGeom prst="rect">
            <a:avLst/>
          </a:prstGeom>
          <a:noFill/>
        </p:spPr>
      </p:pic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110413" y="1919288"/>
            <a:ext cx="202811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Convolution Integral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110413" y="2732088"/>
            <a:ext cx="177644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TW" sz="1600" b="1" kern="0" dirty="0">
                <a:solidFill>
                  <a:sysClr val="windowText" lastClr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Convolution Sum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304800" y="3461688"/>
            <a:ext cx="93218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lnSpc>
                <a:spcPct val="150000"/>
              </a:lnSpc>
              <a:buSzPct val="70000"/>
              <a:buFont typeface="Wingdings" pitchFamily="2" charset="2"/>
              <a:buChar char="l"/>
            </a:pPr>
            <a:r>
              <a:rPr lang="en-US" altLang="zh-TW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different way to understand the convolution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圖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099"/>
          <a:stretch/>
        </p:blipFill>
        <p:spPr bwMode="auto">
          <a:xfrm>
            <a:off x="3971925" y="326073"/>
            <a:ext cx="5092700" cy="771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3" name="圖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588" y="-50800"/>
            <a:ext cx="1524000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1193800"/>
            <a:ext cx="822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flip,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8576" y="1193800"/>
            <a:ext cx="10278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slide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4100" y="2882900"/>
            <a:ext cx="677108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……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7" name="群組 1"/>
          <p:cNvGrpSpPr/>
          <p:nvPr/>
        </p:nvGrpSpPr>
        <p:grpSpPr>
          <a:xfrm>
            <a:off x="1466528" y="1358528"/>
            <a:ext cx="1649752" cy="874548"/>
            <a:chOff x="484478" y="3217333"/>
            <a:chExt cx="1649752" cy="874548"/>
          </a:xfrm>
        </p:grpSpPr>
        <p:pic>
          <p:nvPicPr>
            <p:cNvPr id="8" name="圖片 2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706" r="20934" b="22331"/>
            <a:stretch/>
          </p:blipFill>
          <p:spPr bwMode="auto">
            <a:xfrm flipH="1">
              <a:off x="702730" y="3217333"/>
              <a:ext cx="1431500" cy="653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矩形 4"/>
            <p:cNvSpPr/>
            <p:nvPr/>
          </p:nvSpPr>
          <p:spPr>
            <a:xfrm>
              <a:off x="1538120" y="3753327"/>
              <a:ext cx="2984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0</a:t>
              </a:r>
              <a:endParaRPr lang="zh-TW" alt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5"/>
                <p:cNvSpPr/>
                <p:nvPr/>
              </p:nvSpPr>
              <p:spPr>
                <a:xfrm>
                  <a:off x="484478" y="3753327"/>
                  <a:ext cx="636393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00" b="0" i="1" smtClean="0">
                            <a:latin typeface="Cambria Math"/>
                            <a:ea typeface="Cambria Math"/>
                          </a:rPr>
                          <m:t>−2</m:t>
                        </m:r>
                        <m:r>
                          <a:rPr lang="en-US" altLang="zh-TW" sz="1600" b="0" i="1" smtClean="0">
                            <a:latin typeface="Cambria Math"/>
                            <a:ea typeface="Cambria Math"/>
                          </a:rPr>
                          <m:t>𝑇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2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478" y="3753327"/>
                  <a:ext cx="636393" cy="338554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/>
          <p:cNvSpPr txBox="1"/>
          <p:nvPr/>
        </p:nvSpPr>
        <p:spPr>
          <a:xfrm>
            <a:off x="1892300" y="2082800"/>
            <a:ext cx="652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zh-TW" sz="2000" b="1" dirty="0">
                <a:latin typeface="Times New Roman" pitchFamily="18" charset="0"/>
                <a:cs typeface="Times New Roman" pitchFamily="18" charset="0"/>
              </a:rPr>
              <a:t>(-</a:t>
            </a:r>
            <a:r>
              <a:rPr lang="en-US" altLang="zh-TW" sz="20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sz="20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zh-TW" alt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下箭头 9"/>
          <p:cNvSpPr/>
          <p:nvPr/>
        </p:nvSpPr>
        <p:spPr bwMode="auto">
          <a:xfrm>
            <a:off x="2218671" y="1036320"/>
            <a:ext cx="181859" cy="35718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pic>
        <p:nvPicPr>
          <p:cNvPr id="14" name="圖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93" b="1"/>
          <a:stretch/>
        </p:blipFill>
        <p:spPr bwMode="auto">
          <a:xfrm>
            <a:off x="3971925" y="2233076"/>
            <a:ext cx="5092700" cy="458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圖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01" b="71284"/>
          <a:stretch/>
        </p:blipFill>
        <p:spPr bwMode="auto">
          <a:xfrm>
            <a:off x="3964305" y="1127760"/>
            <a:ext cx="5092700" cy="108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右箭头 2"/>
          <p:cNvSpPr/>
          <p:nvPr/>
        </p:nvSpPr>
        <p:spPr bwMode="auto">
          <a:xfrm>
            <a:off x="3746555" y="1478853"/>
            <a:ext cx="450739" cy="18536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239000" y="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71CF6FE9-E248-4DCD-A191-E640722F01E4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19</a:t>
            </a:fld>
            <a:endParaRPr lang="en-US" sz="140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80" y="38484"/>
            <a:ext cx="6159500" cy="6826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88576" y="1193800"/>
            <a:ext cx="15744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multiply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3" t="69797" r="68622" b="7156"/>
          <a:stretch/>
        </p:blipFill>
        <p:spPr bwMode="auto">
          <a:xfrm>
            <a:off x="122766" y="1844041"/>
            <a:ext cx="2240280" cy="792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239000" y="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71CF6FE9-E248-4DCD-A191-E640722F01E4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20</a:t>
            </a:fld>
            <a:endParaRPr lang="en-US" sz="14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圖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1484313"/>
            <a:ext cx="5919787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788576" y="1193800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integrate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69" t="69797" r="4558" b="6270"/>
          <a:stretch/>
        </p:blipFill>
        <p:spPr bwMode="auto">
          <a:xfrm>
            <a:off x="99060" y="1778575"/>
            <a:ext cx="3345180" cy="822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261938" cy="2619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endParaRPr lang="zh-TW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239000" y="0"/>
            <a:ext cx="1905000" cy="457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71CF6FE9-E248-4DCD-A191-E640722F01E4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21</a:t>
            </a:fld>
            <a:endParaRPr lang="en-US" sz="14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685800" y="544513"/>
            <a:ext cx="7772400" cy="498475"/>
          </a:xfrm>
        </p:spPr>
        <p:txBody>
          <a:bodyPr/>
          <a:lstStyle/>
          <a:p>
            <a:r>
              <a:rPr lang="en-GB" dirty="0"/>
              <a:t>Property: Commutative</a:t>
            </a:r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2" indent="-342900">
              <a:buClr>
                <a:schemeClr val="hlink"/>
              </a:buClr>
              <a:buSzPct val="80000"/>
            </a:pPr>
            <a:r>
              <a:rPr lang="en-US" altLang="zh-TW" sz="2600" b="0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role of input signal and unit impulse response is </a:t>
            </a:r>
            <a:r>
              <a:rPr lang="en-US" altLang="zh-TW" sz="2600" b="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interchangeable</a:t>
            </a:r>
            <a:r>
              <a:rPr lang="en-US" altLang="zh-TW" sz="2600" b="0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, giving the same output signal</a:t>
            </a: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71CF6FE9-E248-4DCD-A191-E640722F01E4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22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5427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23" t="-246" r="24048" b="89323"/>
          <a:stretch>
            <a:fillRect/>
          </a:stretch>
        </p:blipFill>
        <p:spPr bwMode="auto">
          <a:xfrm>
            <a:off x="2913016" y="1293223"/>
            <a:ext cx="4072711" cy="796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/>
          <p:nvPr/>
        </p:nvGrpSpPr>
        <p:grpSpPr>
          <a:xfrm>
            <a:off x="3130730" y="3468551"/>
            <a:ext cx="3095921" cy="1654628"/>
            <a:chOff x="1615439" y="3997234"/>
            <a:chExt cx="3095921" cy="1654628"/>
          </a:xfrm>
        </p:grpSpPr>
        <p:sp>
          <p:nvSpPr>
            <p:cNvPr id="6" name="Rectangle 5"/>
            <p:cNvSpPr/>
            <p:nvPr/>
          </p:nvSpPr>
          <p:spPr bwMode="auto">
            <a:xfrm>
              <a:off x="2429691" y="4180114"/>
              <a:ext cx="1502229" cy="548640"/>
            </a:xfrm>
            <a:prstGeom prst="rect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TW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      </a:t>
              </a:r>
              <a:r>
                <a:rPr kumimoji="0" lang="en-US" altLang="zh-TW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h</a:t>
              </a:r>
              <a:r>
                <a:rPr kumimoji="0" lang="en-US" altLang="zh-TW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(</a:t>
              </a:r>
              <a:r>
                <a:rPr kumimoji="0" lang="en-US" altLang="zh-TW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t</a:t>
              </a:r>
              <a:r>
                <a:rPr kumimoji="0" lang="en-US" altLang="zh-TW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)</a:t>
              </a:r>
              <a:endParaRPr kumimoji="0" lang="zh-TW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endParaRPr>
            </a:p>
          </p:txBody>
        </p:sp>
        <p:cxnSp>
          <p:nvCxnSpPr>
            <p:cNvPr id="8" name="Straight Arrow Connector 7"/>
            <p:cNvCxnSpPr>
              <a:endCxn id="6" idx="1"/>
            </p:cNvCxnSpPr>
            <p:nvPr/>
          </p:nvCxnSpPr>
          <p:spPr bwMode="auto">
            <a:xfrm>
              <a:off x="1658983" y="4454434"/>
              <a:ext cx="770708" cy="0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" name="Straight Arrow Connector 8"/>
            <p:cNvCxnSpPr/>
            <p:nvPr/>
          </p:nvCxnSpPr>
          <p:spPr bwMode="auto">
            <a:xfrm>
              <a:off x="3940652" y="4450078"/>
              <a:ext cx="770708" cy="0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1619794" y="3997234"/>
              <a:ext cx="628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i="1" dirty="0"/>
                <a:t>x</a:t>
              </a:r>
              <a:r>
                <a:rPr lang="en-US" altLang="zh-TW" sz="2400" dirty="0"/>
                <a:t>(</a:t>
              </a:r>
              <a:r>
                <a:rPr lang="en-US" altLang="zh-TW" sz="2400" i="1" dirty="0"/>
                <a:t>t</a:t>
              </a:r>
              <a:r>
                <a:rPr lang="en-US" altLang="zh-TW" sz="2400" dirty="0"/>
                <a:t>)</a:t>
              </a:r>
              <a:endParaRPr lang="zh-TW" altLang="en-US" sz="2400" dirty="0"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425336" y="5103222"/>
              <a:ext cx="1502229" cy="548640"/>
            </a:xfrm>
            <a:prstGeom prst="rect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TW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      </a:t>
              </a:r>
              <a:r>
                <a:rPr kumimoji="0" lang="en-US" altLang="zh-TW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x</a:t>
              </a:r>
              <a:r>
                <a:rPr kumimoji="0" lang="en-US" altLang="zh-TW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(</a:t>
              </a:r>
              <a:r>
                <a:rPr kumimoji="0" lang="en-US" altLang="zh-TW" sz="24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t</a:t>
              </a:r>
              <a:r>
                <a:rPr kumimoji="0" lang="en-US" altLang="zh-TW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Gulim" pitchFamily="34" charset="-127"/>
                </a:rPr>
                <a:t>)</a:t>
              </a:r>
              <a:endParaRPr kumimoji="0" lang="zh-TW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endParaRPr>
            </a:p>
          </p:txBody>
        </p:sp>
        <p:cxnSp>
          <p:nvCxnSpPr>
            <p:cNvPr id="12" name="Straight Arrow Connector 11"/>
            <p:cNvCxnSpPr>
              <a:endCxn id="11" idx="1"/>
            </p:cNvCxnSpPr>
            <p:nvPr/>
          </p:nvCxnSpPr>
          <p:spPr bwMode="auto">
            <a:xfrm>
              <a:off x="1654628" y="5377542"/>
              <a:ext cx="770708" cy="0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" name="Straight Arrow Connector 12"/>
            <p:cNvCxnSpPr/>
            <p:nvPr/>
          </p:nvCxnSpPr>
          <p:spPr bwMode="auto">
            <a:xfrm>
              <a:off x="3936297" y="5373186"/>
              <a:ext cx="770708" cy="0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4" name="TextBox 13"/>
            <p:cNvSpPr txBox="1"/>
            <p:nvPr/>
          </p:nvSpPr>
          <p:spPr>
            <a:xfrm>
              <a:off x="1615439" y="4920342"/>
              <a:ext cx="6463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i="1" dirty="0"/>
                <a:t>h</a:t>
              </a:r>
              <a:r>
                <a:rPr lang="en-US" altLang="zh-TW" sz="2400" dirty="0"/>
                <a:t>(</a:t>
              </a:r>
              <a:r>
                <a:rPr lang="en-US" altLang="zh-TW" sz="2400" i="1" dirty="0"/>
                <a:t>t</a:t>
              </a:r>
              <a:r>
                <a:rPr lang="en-US" altLang="zh-TW" sz="2400" dirty="0"/>
                <a:t>)</a:t>
              </a:r>
              <a:endParaRPr lang="zh-TW" altLang="en-US" sz="2400" dirty="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Property: </a:t>
            </a:r>
            <a:r>
              <a:rPr lang="en-GB" dirty="0"/>
              <a:t>Distributive</a:t>
            </a: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73AE1B8F-844B-4D41-8181-D0DCC621CAA7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23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5530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463172"/>
            <a:ext cx="8894763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Property: Distributive (</a:t>
            </a:r>
            <a:r>
              <a:rPr lang="en-US" altLang="zh-TW" dirty="0"/>
              <a:t>Cont.)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aphicFrame>
        <p:nvGraphicFramePr>
          <p:cNvPr id="68610" name="Object 2"/>
          <p:cNvGraphicFramePr>
            <a:graphicFrameLocks noChangeAspect="1"/>
          </p:cNvGraphicFramePr>
          <p:nvPr/>
        </p:nvGraphicFramePr>
        <p:xfrm>
          <a:off x="1527946" y="1919514"/>
          <a:ext cx="587851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228600" progId="Equation.DSMT4">
                  <p:embed/>
                </p:oleObj>
              </mc:Choice>
              <mc:Fallback>
                <p:oleObj name="Equation" r:id="rId2" imgW="2717800" imgH="228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946" y="1919514"/>
                        <a:ext cx="5878512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391885" y="3030583"/>
            <a:ext cx="8216538" cy="1815737"/>
            <a:chOff x="391885" y="3030583"/>
            <a:chExt cx="8216538" cy="1815737"/>
          </a:xfrm>
        </p:grpSpPr>
        <p:sp>
          <p:nvSpPr>
            <p:cNvPr id="7" name="TextBox 6"/>
            <p:cNvSpPr txBox="1"/>
            <p:nvPr/>
          </p:nvSpPr>
          <p:spPr>
            <a:xfrm>
              <a:off x="391885" y="3082838"/>
              <a:ext cx="32351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Problem 2.22 (b)</a:t>
              </a:r>
              <a:endParaRPr lang="zh-TW" altLang="en-US" dirty="0"/>
            </a:p>
          </p:txBody>
        </p:sp>
        <p:graphicFrame>
          <p:nvGraphicFramePr>
            <p:cNvPr id="68612" name="Object 4"/>
            <p:cNvGraphicFramePr>
              <a:graphicFrameLocks noChangeAspect="1"/>
            </p:cNvGraphicFramePr>
            <p:nvPr/>
          </p:nvGraphicFramePr>
          <p:xfrm>
            <a:off x="1463040" y="3631474"/>
            <a:ext cx="4794844" cy="522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892300" imgH="203200" progId="Equation.DSMT4">
                    <p:embed/>
                  </p:oleObj>
                </mc:Choice>
                <mc:Fallback>
                  <p:oleObj name="Equation" r:id="rId4" imgW="1892300" imgH="20320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3040" y="3631474"/>
                          <a:ext cx="4794844" cy="5225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14" name="Object 6"/>
            <p:cNvGraphicFramePr>
              <a:graphicFrameLocks noChangeAspect="1"/>
            </p:cNvGraphicFramePr>
            <p:nvPr/>
          </p:nvGraphicFramePr>
          <p:xfrm>
            <a:off x="1476103" y="4271553"/>
            <a:ext cx="2339626" cy="535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02865" imgH="228501" progId="Equation.DSMT4">
                    <p:embed/>
                  </p:oleObj>
                </mc:Choice>
                <mc:Fallback>
                  <p:oleObj name="Equation" r:id="rId6" imgW="1002865" imgH="228501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6103" y="4271553"/>
                          <a:ext cx="2339626" cy="5355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11"/>
            <p:cNvSpPr/>
            <p:nvPr/>
          </p:nvSpPr>
          <p:spPr bwMode="auto">
            <a:xfrm>
              <a:off x="391886" y="3030583"/>
              <a:ext cx="8216537" cy="1815737"/>
            </a:xfrm>
            <a:prstGeom prst="rect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TW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222500" y="5257800"/>
            <a:ext cx="3606800" cy="787400"/>
            <a:chOff x="2222500" y="5257800"/>
            <a:chExt cx="3606800" cy="787400"/>
          </a:xfrm>
        </p:grpSpPr>
        <p:cxnSp>
          <p:nvCxnSpPr>
            <p:cNvPr id="8" name="直接箭头连接符 7"/>
            <p:cNvCxnSpPr/>
            <p:nvPr/>
          </p:nvCxnSpPr>
          <p:spPr bwMode="auto">
            <a:xfrm flipV="1">
              <a:off x="2222500" y="5683250"/>
              <a:ext cx="3606800" cy="635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 flipH="1">
              <a:off x="2400300" y="5257800"/>
              <a:ext cx="19050" cy="7874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直接连接符 13"/>
            <p:cNvCxnSpPr/>
            <p:nvPr/>
          </p:nvCxnSpPr>
          <p:spPr bwMode="auto">
            <a:xfrm>
              <a:off x="2409825" y="5410200"/>
              <a:ext cx="612775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直接连接符 19"/>
            <p:cNvCxnSpPr/>
            <p:nvPr/>
          </p:nvCxnSpPr>
          <p:spPr bwMode="auto">
            <a:xfrm>
              <a:off x="3019424" y="5975350"/>
              <a:ext cx="91800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>
              <a:off x="3019424" y="5410200"/>
              <a:ext cx="0" cy="56515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17"/>
            <p:cNvCxnSpPr/>
            <p:nvPr/>
          </p:nvCxnSpPr>
          <p:spPr bwMode="auto">
            <a:xfrm>
              <a:off x="3937424" y="5683250"/>
              <a:ext cx="0" cy="29210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2279650" y="563776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0</a:t>
              </a:r>
              <a:endParaRPr lang="zh-CN" altLang="en-US" sz="1200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889250" y="564411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2</a:t>
              </a:r>
              <a:endParaRPr lang="zh-CN" altLang="en-US" sz="1200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797300" y="5650468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5</a:t>
              </a:r>
              <a:endParaRPr lang="zh-CN" altLang="en-US" sz="1200" b="1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848295" y="5057745"/>
            <a:ext cx="700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685800" y="476250"/>
            <a:ext cx="7772400" cy="566738"/>
          </a:xfrm>
        </p:spPr>
        <p:txBody>
          <a:bodyPr/>
          <a:lstStyle/>
          <a:p>
            <a:r>
              <a:rPr lang="en-GB" altLang="zh-TW" dirty="0"/>
              <a:t>Properties: </a:t>
            </a:r>
            <a:r>
              <a:rPr lang="en-GB" dirty="0"/>
              <a:t>Associative</a:t>
            </a: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619B0F7C-EB88-4B02-9939-D13BB4D3511B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25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" y="1112212"/>
            <a:ext cx="6323013" cy="3667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-558800" y="4674909"/>
            <a:ext cx="9144000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180000" anchor="ctr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07950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lvl="2" eaLnBrk="1" hangingPunct="1">
              <a:spcBef>
                <a:spcPts val="600"/>
              </a:spcBef>
              <a:buFont typeface="Arial" charset="0"/>
              <a:buChar char="–"/>
            </a:pPr>
            <a:r>
              <a:rPr kumimoji="0" lang="en-US" altLang="zh-TW" sz="2400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Cascade of two systems gives an unit impulse response which is the </a:t>
            </a:r>
            <a:r>
              <a:rPr kumimoji="0"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convolution of the unit impulse responses </a:t>
            </a:r>
            <a:r>
              <a:rPr kumimoji="0" lang="en-US" altLang="zh-TW" sz="2400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of the two individual systems</a:t>
            </a:r>
          </a:p>
          <a:p>
            <a:pPr lvl="2" eaLnBrk="1" hangingPunct="1">
              <a:spcBef>
                <a:spcPts val="1200"/>
              </a:spcBef>
              <a:buFont typeface="Arial" charset="0"/>
              <a:buChar char="–"/>
            </a:pPr>
            <a:r>
              <a:rPr kumimoji="0" lang="en-US" altLang="zh-TW" sz="2400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The behavior of a cascade of two systems is </a:t>
            </a:r>
            <a:r>
              <a:rPr kumimoji="0" lang="en-US" altLang="zh-TW" sz="2400" dirty="0">
                <a:solidFill>
                  <a:srgbClr val="FF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independent</a:t>
            </a:r>
            <a:r>
              <a:rPr kumimoji="0" lang="en-US" altLang="zh-TW" sz="2400" dirty="0">
                <a:solidFill>
                  <a:srgbClr val="000000"/>
                </a:solidFill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of the order in which the two systems are cascaded</a:t>
            </a:r>
            <a:endParaRPr kumimoji="0" lang="zh-TW" altLang="en-US" sz="2400" dirty="0">
              <a:solidFill>
                <a:srgbClr val="000000"/>
              </a:solidFill>
              <a:latin typeface="Times New Roman" pitchFamily="18" charset="0"/>
              <a:ea typeface="標楷體" pitchFamily="65" charset="-12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/>
              <a:t>Properties: Associative (</a:t>
            </a:r>
            <a:r>
              <a:rPr lang="en-US" altLang="zh-TW" dirty="0"/>
              <a:t>Cont.)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0" dirty="0"/>
              <a:t>The order in which non-linear systems are cascaded cannot be changed.</a:t>
            </a:r>
          </a:p>
          <a:p>
            <a:r>
              <a:rPr lang="en-US" altLang="zh-TW" b="0" dirty="0"/>
              <a:t>e.g. 	</a:t>
            </a:r>
            <a:endParaRPr lang="zh-TW" altLang="en-US" b="0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312126" y="3788229"/>
            <a:ext cx="1371600" cy="574765"/>
          </a:xfrm>
          <a:prstGeom prst="rect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rPr>
              <a:t>    y=2x</a:t>
            </a:r>
            <a:endParaRPr kumimoji="0" lang="zh-TW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359479" y="3783873"/>
            <a:ext cx="1371600" cy="574765"/>
          </a:xfrm>
          <a:prstGeom prst="rect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rPr>
              <a:t>    y=x</a:t>
            </a:r>
            <a:r>
              <a:rPr kumimoji="0" lang="en-US" altLang="zh-TW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rPr>
              <a:t>2</a:t>
            </a:r>
            <a:endParaRPr kumimoji="0" lang="zh-TW" altLang="en-US" sz="2400" b="0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2294709" y="4763589"/>
            <a:ext cx="1371600" cy="574765"/>
          </a:xfrm>
          <a:prstGeom prst="rect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rPr>
              <a:t>    y=x</a:t>
            </a:r>
            <a:r>
              <a:rPr kumimoji="0" lang="en-US" altLang="zh-TW" sz="2400" b="0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rPr>
              <a:t>2</a:t>
            </a:r>
            <a:endParaRPr kumimoji="0" lang="zh-TW" altLang="en-US" sz="2400" b="0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4342062" y="4759233"/>
            <a:ext cx="1371600" cy="574765"/>
          </a:xfrm>
          <a:prstGeom prst="rect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Gulim" pitchFamily="34" charset="-127"/>
              </a:rPr>
              <a:t>    y=2x</a:t>
            </a:r>
            <a:endParaRPr kumimoji="0" lang="zh-TW" altLang="en-US" sz="2400" b="0" i="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1647825" y="4057650"/>
            <a:ext cx="666750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3686175" y="4057650"/>
            <a:ext cx="666750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5724525" y="4076700"/>
            <a:ext cx="666750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>
            <a:off x="1619250" y="5038725"/>
            <a:ext cx="666750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3657600" y="5038725"/>
            <a:ext cx="666750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/>
          <p:nvPr/>
        </p:nvCxnSpPr>
        <p:spPr bwMode="auto">
          <a:xfrm>
            <a:off x="5695950" y="5057775"/>
            <a:ext cx="666750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Property: Memory/</a:t>
            </a:r>
            <a:r>
              <a:rPr lang="en-US" altLang="zh-TW" dirty="0" err="1"/>
              <a:t>Memoryless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26" b="14389"/>
          <a:stretch/>
        </p:blipFill>
        <p:spPr bwMode="auto">
          <a:xfrm>
            <a:off x="556034" y="1632859"/>
            <a:ext cx="7750175" cy="4103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Property: </a:t>
            </a:r>
            <a:r>
              <a:rPr lang="en-US" altLang="zh-TW" dirty="0" err="1"/>
              <a:t>Invertibility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9584" y="1776549"/>
            <a:ext cx="8686221" cy="321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Property: Causality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400" b="0" dirty="0"/>
          </a:p>
          <a:p>
            <a:r>
              <a:rPr lang="en-US" altLang="zh-TW" sz="2400" b="0" dirty="0">
                <a:latin typeface="Times New Roman" pitchFamily="18" charset="0"/>
                <a:cs typeface="Times New Roman" pitchFamily="18" charset="0"/>
              </a:rPr>
              <a:t>This is because that the input unit impulse function </a:t>
            </a:r>
            <a:r>
              <a:rPr lang="el-GR" altLang="zh-TW" sz="2400" b="0" dirty="0">
                <a:latin typeface="Times New Roman" pitchFamily="18" charset="0"/>
                <a:cs typeface="Times New Roman" pitchFamily="18" charset="0"/>
              </a:rPr>
              <a:t>δ</a:t>
            </a:r>
            <a:r>
              <a:rPr lang="en-US" altLang="zh-TW" sz="2400" b="0" dirty="0">
                <a:latin typeface="Times New Roman" pitchFamily="18" charset="0"/>
                <a:cs typeface="Times New Roman" pitchFamily="18" charset="0"/>
              </a:rPr>
              <a:t>(t)=0 at t&lt;0</a:t>
            </a:r>
            <a:endParaRPr lang="zh-TW" altLang="en-US" sz="24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39"/>
          <a:stretch>
            <a:fillRect/>
          </a:stretch>
        </p:blipFill>
        <p:spPr bwMode="auto">
          <a:xfrm>
            <a:off x="378398" y="1825217"/>
            <a:ext cx="8765602" cy="539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5" b="63982"/>
          <a:stretch>
            <a:fillRect/>
          </a:stretch>
        </p:blipFill>
        <p:spPr bwMode="auto">
          <a:xfrm>
            <a:off x="378398" y="3931924"/>
            <a:ext cx="8765602" cy="1641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413863" y="3435531"/>
            <a:ext cx="2194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t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l-GR" altLang="zh-TW" sz="2400" dirty="0"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≥ 0, or </a:t>
            </a:r>
            <a:r>
              <a:rPr lang="el-GR" altLang="zh-TW" sz="2400" dirty="0"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altLang="zh-TW" sz="2400" dirty="0">
                <a:latin typeface="Times New Roman" pitchFamily="18" charset="0"/>
                <a:cs typeface="Times New Roman" pitchFamily="18" charset="0"/>
              </a:rPr>
              <a:t>≤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i="1" dirty="0">
                <a:latin typeface="Times New Roman" pitchFamily="18" charset="0"/>
                <a:cs typeface="Times New Roman" pitchFamily="18" charset="0"/>
              </a:rPr>
              <a:t>t</a:t>
            </a:r>
            <a:endParaRPr lang="zh-TW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Freeform 9"/>
          <p:cNvSpPr/>
          <p:nvPr/>
        </p:nvSpPr>
        <p:spPr bwMode="auto">
          <a:xfrm>
            <a:off x="5984966" y="3735977"/>
            <a:ext cx="402771" cy="522514"/>
          </a:xfrm>
          <a:custGeom>
            <a:avLst/>
            <a:gdLst>
              <a:gd name="connsiteX0" fmla="*/ 23948 w 402771"/>
              <a:gd name="connsiteY0" fmla="*/ 522514 h 522514"/>
              <a:gd name="connsiteX1" fmla="*/ 63137 w 402771"/>
              <a:gd name="connsiteY1" fmla="*/ 169817 h 522514"/>
              <a:gd name="connsiteX2" fmla="*/ 402771 w 402771"/>
              <a:gd name="connsiteY2" fmla="*/ 0 h 522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2771" h="522514">
                <a:moveTo>
                  <a:pt x="23948" y="522514"/>
                </a:moveTo>
                <a:cubicBezTo>
                  <a:pt x="11974" y="389708"/>
                  <a:pt x="0" y="256903"/>
                  <a:pt x="63137" y="169817"/>
                </a:cubicBezTo>
                <a:cubicBezTo>
                  <a:pt x="126274" y="82731"/>
                  <a:pt x="264522" y="41365"/>
                  <a:pt x="402771" y="0"/>
                </a:cubicBezTo>
              </a:path>
            </a:pathLst>
          </a:custGeom>
          <a:noFill/>
          <a:ln w="22225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none" w="med" len="med"/>
            <a:tailEnd type="arrow" w="lg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Property: Stability</a:t>
            </a:r>
            <a:endParaRPr lang="en-GB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13AC7687-66AB-4560-9842-69F990EA00AB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30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5734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66"/>
          <a:stretch>
            <a:fillRect/>
          </a:stretch>
        </p:blipFill>
        <p:spPr bwMode="auto">
          <a:xfrm>
            <a:off x="524200" y="2120900"/>
            <a:ext cx="8494081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箭头连接符 2"/>
          <p:cNvCxnSpPr/>
          <p:nvPr/>
        </p:nvCxnSpPr>
        <p:spPr bwMode="auto">
          <a:xfrm>
            <a:off x="86264" y="2820838"/>
            <a:ext cx="363600" cy="0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" name="直接箭头连接符 6"/>
          <p:cNvCxnSpPr/>
          <p:nvPr/>
        </p:nvCxnSpPr>
        <p:spPr bwMode="auto">
          <a:xfrm>
            <a:off x="66144" y="4103244"/>
            <a:ext cx="363600" cy="0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Property: Unit Step Response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7" t="79882" r="19785"/>
          <a:stretch>
            <a:fillRect/>
          </a:stretch>
        </p:blipFill>
        <p:spPr bwMode="auto">
          <a:xfrm>
            <a:off x="622300" y="2159000"/>
            <a:ext cx="6273800" cy="108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98500" y="1778000"/>
            <a:ext cx="63930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unit step function </a:t>
            </a:r>
            <a:r>
              <a:rPr lang="en-US" altLang="zh-TW" sz="2800" dirty="0">
                <a:sym typeface="Wingdings" pitchFamily="2" charset="2"/>
              </a:rPr>
              <a:t> unit step response</a:t>
            </a:r>
            <a:endParaRPr lang="zh-TW" alt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431800" y="5237480"/>
            <a:ext cx="74927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The </a:t>
            </a:r>
            <a:r>
              <a:rPr lang="en-US" altLang="zh-TW" sz="2000" dirty="0">
                <a:solidFill>
                  <a:srgbClr val="FF0000"/>
                </a:solidFill>
              </a:rPr>
              <a:t>relation</a:t>
            </a:r>
            <a:r>
              <a:rPr lang="en-US" altLang="zh-TW" sz="2000" dirty="0"/>
              <a:t> between unit step function and unit impulse function</a:t>
            </a:r>
            <a:endParaRPr lang="zh-TW" altLang="en-US" sz="2000" dirty="0"/>
          </a:p>
        </p:txBody>
      </p:sp>
      <p:sp>
        <p:nvSpPr>
          <p:cNvPr id="11" name="Rounded Rectangle 10"/>
          <p:cNvSpPr/>
          <p:nvPr/>
        </p:nvSpPr>
        <p:spPr bwMode="auto">
          <a:xfrm>
            <a:off x="520700" y="1803400"/>
            <a:ext cx="7277100" cy="1422400"/>
          </a:xfrm>
          <a:prstGeom prst="roundRect">
            <a:avLst/>
          </a:prstGeom>
          <a:noFill/>
          <a:ln w="22225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675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6758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267625"/>
              </p:ext>
            </p:extLst>
          </p:nvPr>
        </p:nvGraphicFramePr>
        <p:xfrm>
          <a:off x="3251199" y="5681979"/>
          <a:ext cx="2209139" cy="77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400" imgH="419100" progId="Equation.DSMT4">
                  <p:embed/>
                </p:oleObj>
              </mc:Choice>
              <mc:Fallback>
                <p:oleObj name="Equation" r:id="rId3" imgW="1168400" imgH="41910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199" y="5681979"/>
                        <a:ext cx="2209139" cy="77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3538098" y="3581400"/>
            <a:ext cx="1280160" cy="5334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3519170" y="4351020"/>
            <a:ext cx="1280160" cy="5334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78869" y="3520440"/>
            <a:ext cx="798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71249" y="4282440"/>
            <a:ext cx="798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/>
          <p:cNvCxnSpPr>
            <a:endCxn id="3" idx="1"/>
          </p:cNvCxnSpPr>
          <p:nvPr/>
        </p:nvCxnSpPr>
        <p:spPr bwMode="auto">
          <a:xfrm>
            <a:off x="2933700" y="3848100"/>
            <a:ext cx="604398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直接箭头连接符 15"/>
          <p:cNvCxnSpPr/>
          <p:nvPr/>
        </p:nvCxnSpPr>
        <p:spPr bwMode="auto">
          <a:xfrm>
            <a:off x="2910840" y="4625340"/>
            <a:ext cx="604398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>
            <a:off x="4818258" y="3848100"/>
            <a:ext cx="604398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直接箭头连接符 17"/>
          <p:cNvCxnSpPr/>
          <p:nvPr/>
        </p:nvCxnSpPr>
        <p:spPr bwMode="auto">
          <a:xfrm>
            <a:off x="4841118" y="4610100"/>
            <a:ext cx="604398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2026920" y="3439447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l-GR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04060" y="4163347"/>
            <a:ext cx="122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44992" y="3548687"/>
            <a:ext cx="3472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unit impulse response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44992" y="4257347"/>
            <a:ext cx="3012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unit step response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animBg="1"/>
      <p:bldP spid="12" grpId="0" animBg="1"/>
      <p:bldP spid="5" grpId="0"/>
      <p:bldP spid="13" grpId="0"/>
      <p:bldP spid="14" grpId="0"/>
      <p:bldP spid="20" grpId="0"/>
      <p:bldP spid="15" grpId="0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Block diagram representation of 1-st order system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449535" y="2066838"/>
            <a:ext cx="2621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Problem 2.38</a:t>
            </a:r>
            <a:endParaRPr lang="zh-TW" altLang="en-US" dirty="0"/>
          </a:p>
        </p:txBody>
      </p:sp>
      <p:graphicFrame>
        <p:nvGraphicFramePr>
          <p:cNvPr id="14" name="Object 4"/>
          <p:cNvGraphicFramePr>
            <a:graphicFrameLocks noChangeAspect="1"/>
          </p:cNvGraphicFramePr>
          <p:nvPr/>
        </p:nvGraphicFramePr>
        <p:xfrm>
          <a:off x="4965700" y="2544763"/>
          <a:ext cx="32686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393480" progId="Equation.DSMT4">
                  <p:embed/>
                </p:oleObj>
              </mc:Choice>
              <mc:Fallback>
                <p:oleObj name="Equation" r:id="rId2" imgW="151128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5700" y="2544763"/>
                        <a:ext cx="326866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/>
          <p:cNvGraphicFramePr>
            <a:graphicFrameLocks noChangeAspect="1"/>
          </p:cNvGraphicFramePr>
          <p:nvPr/>
        </p:nvGraphicFramePr>
        <p:xfrm>
          <a:off x="4927600" y="3271559"/>
          <a:ext cx="3594100" cy="903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393480" progId="Equation.DSMT4">
                  <p:embed/>
                </p:oleObj>
              </mc:Choice>
              <mc:Fallback>
                <p:oleObj name="Equation" r:id="rId4" imgW="1574640" imgH="393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00" y="3271559"/>
                        <a:ext cx="3594100" cy="9035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63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17488" y="2016125"/>
            <a:ext cx="3705225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Rectangle 21"/>
          <p:cNvSpPr/>
          <p:nvPr/>
        </p:nvSpPr>
        <p:spPr bwMode="auto">
          <a:xfrm>
            <a:off x="4381500" y="2103483"/>
            <a:ext cx="4762500" cy="2176417"/>
          </a:xfrm>
          <a:prstGeom prst="rect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graphicFrame>
        <p:nvGraphicFramePr>
          <p:cNvPr id="70666" name="Object 10"/>
          <p:cNvGraphicFramePr>
            <a:graphicFrameLocks noChangeAspect="1"/>
          </p:cNvGraphicFramePr>
          <p:nvPr/>
        </p:nvGraphicFramePr>
        <p:xfrm>
          <a:off x="4135437" y="5108721"/>
          <a:ext cx="5008563" cy="681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08080" imgH="393480" progId="Equation.DSMT4">
                  <p:embed/>
                </p:oleObj>
              </mc:Choice>
              <mc:Fallback>
                <p:oleObj name="Equation" r:id="rId7" imgW="2908080" imgH="3934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437" y="5108721"/>
                        <a:ext cx="5008563" cy="6814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354285" y="4647837"/>
            <a:ext cx="1904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How about</a:t>
            </a:r>
            <a:endParaRPr lang="zh-TW" altLang="en-US" sz="2800" dirty="0"/>
          </a:p>
        </p:txBody>
      </p:sp>
      <p:graphicFrame>
        <p:nvGraphicFramePr>
          <p:cNvPr id="70667" name="Object 11"/>
          <p:cNvGraphicFramePr>
            <a:graphicFrameLocks noChangeAspect="1"/>
          </p:cNvGraphicFramePr>
          <p:nvPr/>
        </p:nvGraphicFramePr>
        <p:xfrm>
          <a:off x="5140325" y="5839871"/>
          <a:ext cx="29972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39880" imgH="431640" progId="Equation.DSMT4">
                  <p:embed/>
                </p:oleObj>
              </mc:Choice>
              <mc:Fallback>
                <p:oleObj name="Equation" r:id="rId9" imgW="1739880" imgH="43164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325" y="5839871"/>
                        <a:ext cx="2997200" cy="747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634490" y="2689713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+</a:t>
            </a:r>
            <a:endParaRPr lang="zh-CN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484120" y="2466947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y[n]=</a:t>
            </a:r>
            <a:endParaRPr lang="zh-CN" altLang="en-US" sz="1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2484120" y="3663287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y[n]=</a:t>
            </a:r>
            <a:endParaRPr lang="zh-CN" altLang="en-US" sz="12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2514600" y="4890107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y[n]=</a:t>
            </a:r>
            <a:endParaRPr lang="zh-CN" altLang="en-US" sz="12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53975" y="1074738"/>
            <a:ext cx="3598863" cy="5286375"/>
            <a:chOff x="53975" y="1074738"/>
            <a:chExt cx="3598863" cy="5286375"/>
          </a:xfrm>
        </p:grpSpPr>
        <p:pic>
          <p:nvPicPr>
            <p:cNvPr id="7168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975" y="1074738"/>
              <a:ext cx="3371850" cy="4429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68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3363" y="5551488"/>
              <a:ext cx="3419475" cy="809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2819400" y="5616575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400" b="1" dirty="0"/>
                <a:t>t</a:t>
              </a:r>
              <a:endParaRPr lang="zh-TW" altLang="en-US" sz="1400" b="1" dirty="0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820885" y="1203238"/>
            <a:ext cx="2621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Problem 2.39</a:t>
            </a:r>
            <a:endParaRPr lang="zh-TW" altLang="en-US" dirty="0"/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4702175" y="1635125"/>
          <a:ext cx="4183063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393480" progId="Equation.DSMT4">
                  <p:embed/>
                </p:oleObj>
              </mc:Choice>
              <mc:Fallback>
                <p:oleObj name="Equation" r:id="rId4" imgW="165096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5" y="1635125"/>
                        <a:ext cx="4183063" cy="1011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4699000" y="2562478"/>
          <a:ext cx="4053102" cy="587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09400" imgH="203040" progId="Equation.DSMT4">
                  <p:embed/>
                </p:oleObj>
              </mc:Choice>
              <mc:Fallback>
                <p:oleObj name="Equation" r:id="rId6" imgW="140940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9000" y="2562478"/>
                        <a:ext cx="4053102" cy="5871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 bwMode="auto">
          <a:xfrm>
            <a:off x="3820887" y="1150983"/>
            <a:ext cx="5158013" cy="2176417"/>
          </a:xfrm>
          <a:prstGeom prst="rect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0" y="0"/>
            <a:ext cx="2119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FF00FF"/>
                </a:solidFill>
              </a:rPr>
              <a:t>Class practice</a:t>
            </a:r>
            <a:endParaRPr lang="zh-CN" altLang="en-US" sz="24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609600"/>
            <a:ext cx="8636000" cy="1143000"/>
          </a:xfrm>
        </p:spPr>
        <p:txBody>
          <a:bodyPr/>
          <a:lstStyle/>
          <a:p>
            <a:r>
              <a:rPr lang="en-US" altLang="zh-TW" dirty="0"/>
              <a:t>From block diagram to difference equation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90114" name="Picture 2" descr="http://s3.amazonaws.com/answer-board-image/8591c184-1a7e-41ea-ae8d-1bddb1c7c4ce.jpeg"/>
          <p:cNvPicPr>
            <a:picLocks noChangeAspect="1" noChangeArrowheads="1"/>
          </p:cNvPicPr>
          <p:nvPr/>
        </p:nvPicPr>
        <p:blipFill>
          <a:blip r:embed="rId2" cstate="print"/>
          <a:srcRect t="21152"/>
          <a:stretch>
            <a:fillRect/>
          </a:stretch>
        </p:blipFill>
        <p:spPr bwMode="auto">
          <a:xfrm>
            <a:off x="866775" y="1854200"/>
            <a:ext cx="7686064" cy="33909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117600" y="2032000"/>
            <a:ext cx="84510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i="1" dirty="0"/>
              <a:t>x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</a:t>
            </a:r>
            <a:endParaRPr lang="zh-TW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337300" y="1993900"/>
            <a:ext cx="84510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 i="1" dirty="0"/>
              <a:t>y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</a:t>
            </a:r>
            <a:endParaRPr lang="zh-TW" altLang="en-US" dirty="0"/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0" y="0"/>
            <a:ext cx="2119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FF00FF"/>
                </a:solidFill>
              </a:rPr>
              <a:t>Class practice</a:t>
            </a:r>
            <a:endParaRPr lang="zh-CN" altLang="en-US" sz="2400" dirty="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317500" y="403225"/>
            <a:ext cx="8140700" cy="1143000"/>
          </a:xfrm>
        </p:spPr>
        <p:txBody>
          <a:bodyPr/>
          <a:lstStyle/>
          <a:p>
            <a:r>
              <a:rPr lang="en-GB" sz="2800" dirty="0"/>
              <a:t>More about </a:t>
            </a:r>
            <a:r>
              <a:rPr lang="el-GR" sz="2800" b="0" dirty="0"/>
              <a:t>δ</a:t>
            </a:r>
            <a:r>
              <a:rPr lang="el-GR" sz="2800" dirty="0"/>
              <a:t>(</a:t>
            </a:r>
            <a:r>
              <a:rPr lang="en-GB" sz="2800" i="1" dirty="0"/>
              <a:t>t</a:t>
            </a:r>
            <a:r>
              <a:rPr lang="en-GB" sz="2800" dirty="0"/>
              <a:t>): </a:t>
            </a:r>
            <a:r>
              <a:rPr lang="en-GB" sz="2800" dirty="0">
                <a:solidFill>
                  <a:srgbClr val="FF0000"/>
                </a:solidFill>
              </a:rPr>
              <a:t>Operational Definition</a:t>
            </a:r>
            <a:endParaRPr lang="en-GB" sz="2800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C6FB98B4-C893-49EF-8222-DA24E95A3983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35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6" name="矩形 1"/>
          <p:cNvSpPr/>
          <p:nvPr/>
        </p:nvSpPr>
        <p:spPr>
          <a:xfrm>
            <a:off x="0" y="1676794"/>
            <a:ext cx="9145588" cy="3016210"/>
          </a:xfrm>
          <a:prstGeom prst="rect">
            <a:avLst/>
          </a:prstGeom>
        </p:spPr>
        <p:txBody>
          <a:bodyPr rIns="180000" anchor="ctr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kumimoji="0" lang="en-US" altLang="zh-TW" sz="3000" dirty="0">
                <a:solidFill>
                  <a:srgbClr val="0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A function can be defined by</a:t>
            </a:r>
          </a:p>
          <a:p>
            <a:pPr marL="1194300" indent="-4572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–"/>
              <a:tabLst>
                <a:tab pos="803275" algn="l"/>
              </a:tabLst>
              <a:defRPr/>
            </a:pPr>
            <a:r>
              <a:rPr lang="en-US" altLang="zh-TW" sz="2600" kern="100" dirty="0">
                <a:solidFill>
                  <a:srgbClr val="000000"/>
                </a:solidFill>
                <a:latin typeface="Times New Roman"/>
                <a:ea typeface="標楷體"/>
              </a:rPr>
              <a:t>what it is at each </a:t>
            </a:r>
            <a:r>
              <a:rPr lang="en-US" altLang="zh-TW" sz="2600" kern="100" dirty="0">
                <a:solidFill>
                  <a:srgbClr val="FF0000"/>
                </a:solidFill>
                <a:latin typeface="Times New Roman"/>
                <a:ea typeface="標楷體"/>
              </a:rPr>
              <a:t>value</a:t>
            </a:r>
            <a:r>
              <a:rPr lang="en-US" altLang="zh-TW" sz="2600" kern="100" dirty="0">
                <a:solidFill>
                  <a:srgbClr val="000000"/>
                </a:solidFill>
                <a:latin typeface="Times New Roman"/>
                <a:ea typeface="標楷體"/>
              </a:rPr>
              <a:t> of the </a:t>
            </a:r>
            <a:r>
              <a:rPr lang="en-US" altLang="zh-TW" sz="2600" kern="100">
                <a:solidFill>
                  <a:srgbClr val="000000"/>
                </a:solidFill>
                <a:latin typeface="Times New Roman"/>
                <a:ea typeface="標楷體"/>
              </a:rPr>
              <a:t>independent variable, or</a:t>
            </a:r>
            <a:endParaRPr lang="en-US" altLang="zh-TW" sz="2600" kern="100" dirty="0">
              <a:solidFill>
                <a:srgbClr val="000000"/>
              </a:solidFill>
              <a:latin typeface="Times New Roman"/>
              <a:ea typeface="標楷體"/>
            </a:endParaRPr>
          </a:p>
          <a:p>
            <a:pPr marL="1194300" indent="-457200">
              <a:spcBef>
                <a:spcPts val="1800"/>
              </a:spcBef>
              <a:spcAft>
                <a:spcPts val="0"/>
              </a:spcAft>
              <a:buFont typeface="Arial" pitchFamily="34" charset="0"/>
              <a:buChar char="–"/>
              <a:tabLst>
                <a:tab pos="803275" algn="l"/>
              </a:tabLst>
              <a:defRPr/>
            </a:pPr>
            <a:r>
              <a:rPr lang="en-US" altLang="zh-TW" sz="2600" kern="100" dirty="0">
                <a:solidFill>
                  <a:srgbClr val="000000"/>
                </a:solidFill>
                <a:latin typeface="Times New Roman"/>
                <a:ea typeface="標楷體"/>
              </a:rPr>
              <a:t>what it does under some mathematical </a:t>
            </a:r>
            <a:r>
              <a:rPr lang="en-US" altLang="zh-TW" sz="2600" kern="100" dirty="0">
                <a:solidFill>
                  <a:srgbClr val="FF0000"/>
                </a:solidFill>
                <a:latin typeface="Times New Roman"/>
                <a:ea typeface="標楷體"/>
              </a:rPr>
              <a:t>operation</a:t>
            </a:r>
            <a:r>
              <a:rPr lang="en-US" altLang="zh-TW" sz="2600" kern="100" dirty="0">
                <a:solidFill>
                  <a:srgbClr val="000000"/>
                </a:solidFill>
                <a:latin typeface="Times New Roman"/>
                <a:ea typeface="標楷體"/>
              </a:rPr>
              <a:t> (such as an integral or a convolution), or how it behaves with a system, or some mathematical constraints: </a:t>
            </a:r>
            <a:r>
              <a:rPr lang="en-US" altLang="zh-TW" sz="2600" kern="100" dirty="0">
                <a:solidFill>
                  <a:srgbClr val="FF0000"/>
                </a:solidFill>
                <a:latin typeface="Times New Roman"/>
                <a:ea typeface="標楷體"/>
              </a:rPr>
              <a:t>Singularity Function</a:t>
            </a:r>
            <a:endParaRPr lang="zh-TW" altLang="zh-TW" sz="2400" i="1" kern="100" dirty="0">
              <a:solidFill>
                <a:srgbClr val="FF0000"/>
              </a:solidFill>
              <a:latin typeface="Times New Roman"/>
              <a:ea typeface="標楷體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6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9145588" cy="4093428"/>
          </a:xfrm>
          <a:prstGeom prst="rect">
            <a:avLst/>
          </a:prstGeom>
          <a:blipFill rotWithShape="1">
            <a:blip r:embed="rId2" cstate="print"/>
            <a:stretch>
              <a:fillRect b="-3279"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 dirty="0">
                <a:noFill/>
                <a:ea typeface="新細明體" charset="-120"/>
              </a:rPr>
              <a:t> </a:t>
            </a:r>
          </a:p>
        </p:txBody>
      </p:sp>
      <p:graphicFrame>
        <p:nvGraphicFramePr>
          <p:cNvPr id="7" name="物件 3"/>
          <p:cNvGraphicFramePr>
            <a:graphicFrameLocks noChangeAspect="1"/>
          </p:cNvGraphicFramePr>
          <p:nvPr/>
        </p:nvGraphicFramePr>
        <p:xfrm>
          <a:off x="3995738" y="3635375"/>
          <a:ext cx="3503612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384300" imgH="660400" progId="Equation.3">
                  <p:embed/>
                </p:oleObj>
              </mc:Choice>
              <mc:Fallback>
                <p:oleObj name="方程式" r:id="rId3" imgW="1384300" imgH="660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635375"/>
                        <a:ext cx="3503612" cy="161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5373216"/>
            <a:ext cx="9144000" cy="1328569"/>
          </a:xfrm>
          <a:prstGeom prst="rect">
            <a:avLst/>
          </a:prstGeom>
          <a:blipFill rotWithShape="1">
            <a:blip r:embed="rId5" cstate="print"/>
            <a:stretch>
              <a:fillRect t="-11927"/>
            </a:stretch>
          </a:blipFill>
        </p:spPr>
        <p:txBody>
          <a:bodyPr/>
          <a:lstStyle/>
          <a:p>
            <a:pPr>
              <a:defRPr/>
            </a:pPr>
            <a:r>
              <a:rPr lang="zh-TW" altLang="en-US">
                <a:noFill/>
                <a:ea typeface="新細明體" charset="-120"/>
              </a:rPr>
              <a:t> </a:t>
            </a:r>
          </a:p>
        </p:txBody>
      </p:sp>
      <p:graphicFrame>
        <p:nvGraphicFramePr>
          <p:cNvPr id="9" name="物件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536617"/>
              </p:ext>
            </p:extLst>
          </p:nvPr>
        </p:nvGraphicFramePr>
        <p:xfrm>
          <a:off x="1162050" y="1736725"/>
          <a:ext cx="380047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777680" imgH="215640" progId="Equation.3">
                  <p:embed/>
                </p:oleObj>
              </mc:Choice>
              <mc:Fallback>
                <p:oleObj name="方程式" r:id="rId6" imgW="17776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1736725"/>
                        <a:ext cx="3800475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物件 5"/>
          <p:cNvGraphicFramePr>
            <a:graphicFrameLocks noChangeAspect="1"/>
          </p:cNvGraphicFramePr>
          <p:nvPr/>
        </p:nvGraphicFramePr>
        <p:xfrm>
          <a:off x="3625850" y="2689225"/>
          <a:ext cx="21161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990170" imgH="215806" progId="Equation.3">
                  <p:embed/>
                </p:oleObj>
              </mc:Choice>
              <mc:Fallback>
                <p:oleObj name="方程式" r:id="rId8" imgW="990170" imgH="215806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850" y="2689225"/>
                        <a:ext cx="2116138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字方塊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91309" y="1482176"/>
            <a:ext cx="4032448" cy="955646"/>
          </a:xfrm>
          <a:prstGeom prst="rect">
            <a:avLst/>
          </a:prstGeom>
          <a:blipFill rotWithShape="1">
            <a:blip r:embed="rId10" cstate="print"/>
            <a:stretch>
              <a:fillRect/>
            </a:stretch>
          </a:blipFill>
        </p:spPr>
        <p:txBody>
          <a:bodyPr/>
          <a:lstStyle/>
          <a:p>
            <a:r>
              <a:rPr lang="zh-TW" alt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730250"/>
          </a:xfrm>
        </p:spPr>
        <p:txBody>
          <a:bodyPr/>
          <a:lstStyle/>
          <a:p>
            <a:r>
              <a:rPr lang="en-GB" dirty="0"/>
              <a:t>The Unit Doublet — Differentiator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CC53D1F4-53FB-4F95-8B79-DFC42D957FB3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37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6349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336675"/>
            <a:ext cx="8485187" cy="508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2446020" y="3474720"/>
            <a:ext cx="2247900" cy="86868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685800" y="360363"/>
            <a:ext cx="7772400" cy="785812"/>
          </a:xfrm>
        </p:spPr>
        <p:txBody>
          <a:bodyPr/>
          <a:lstStyle/>
          <a:p>
            <a:r>
              <a:rPr lang="en-GB" dirty="0"/>
              <a:t>Triplets and beyond!</a:t>
            </a: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A5D7CCDB-8216-4443-8664-3754483B9064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38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6451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241425"/>
            <a:ext cx="7775575" cy="488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685800" y="390525"/>
            <a:ext cx="7772400" cy="690563"/>
          </a:xfrm>
        </p:spPr>
        <p:txBody>
          <a:bodyPr/>
          <a:lstStyle/>
          <a:p>
            <a:r>
              <a:rPr lang="en-GB" dirty="0"/>
              <a:t>Integrators</a:t>
            </a: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19FE1E96-7BF2-4E11-9829-28BFE3636906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39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6554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1085850"/>
            <a:ext cx="7761287" cy="545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3703320" y="2438400"/>
            <a:ext cx="2247900" cy="86868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01663"/>
          </a:xfrm>
        </p:spPr>
        <p:txBody>
          <a:bodyPr/>
          <a:lstStyle/>
          <a:p>
            <a:r>
              <a:rPr lang="en-GB" dirty="0"/>
              <a:t>Integrators (Cont.)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5A8C04BB-722B-4E4D-BA95-26300A0B4AF2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40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6656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339850"/>
            <a:ext cx="8675687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23875"/>
          </a:xfrm>
        </p:spPr>
        <p:txBody>
          <a:bodyPr/>
          <a:lstStyle/>
          <a:p>
            <a:r>
              <a:rPr lang="en-GB" dirty="0"/>
              <a:t>Notation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94653AC4-3D26-4B4E-B6CC-A578C838AA16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41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6758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166813"/>
            <a:ext cx="7756525" cy="529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3296904" y="1176817"/>
            <a:ext cx="2247900" cy="550383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Gulim" pitchFamily="34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685800" y="339725"/>
            <a:ext cx="7772400" cy="509588"/>
          </a:xfrm>
        </p:spPr>
        <p:txBody>
          <a:bodyPr/>
          <a:lstStyle/>
          <a:p>
            <a:pPr algn="l"/>
            <a:r>
              <a:rPr lang="en-GB" dirty="0"/>
              <a:t>Example: Calculating </a:t>
            </a:r>
            <a:r>
              <a:rPr lang="en-GB" i="1" dirty="0"/>
              <a:t>x</a:t>
            </a:r>
            <a:r>
              <a:rPr lang="en-GB" dirty="0"/>
              <a:t>(</a:t>
            </a:r>
            <a:r>
              <a:rPr lang="en-GB" i="1" dirty="0"/>
              <a:t>t</a:t>
            </a:r>
            <a:r>
              <a:rPr lang="en-GB" dirty="0"/>
              <a:t>)∗</a:t>
            </a:r>
            <a:r>
              <a:rPr lang="en-GB" i="1" dirty="0" err="1"/>
              <a:t>h</a:t>
            </a:r>
            <a:r>
              <a:rPr lang="en-GB" dirty="0"/>
              <a:t>(</a:t>
            </a:r>
            <a:r>
              <a:rPr lang="en-GB" i="1" dirty="0"/>
              <a:t>t</a:t>
            </a:r>
            <a:r>
              <a:rPr lang="en-GB" dirty="0"/>
              <a:t>)</a:t>
            </a: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40EF6851-315E-4CDB-9372-866046E5F0A0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42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686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613" y="941388"/>
            <a:ext cx="6200775" cy="561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685800" y="158750"/>
            <a:ext cx="7772400" cy="561975"/>
          </a:xfrm>
        </p:spPr>
        <p:txBody>
          <a:bodyPr/>
          <a:lstStyle/>
          <a:p>
            <a:pPr algn="l"/>
            <a:r>
              <a:rPr lang="en-GB" dirty="0"/>
              <a:t>Example (Cont.)</a:t>
            </a:r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charset="0"/>
                <a:ea typeface="Gulim" pitchFamily="34" charset="-127"/>
              </a:defRPr>
            </a:lvl9pPr>
          </a:lstStyle>
          <a:p>
            <a:pPr eaLnBrk="1" hangingPunct="1">
              <a:defRPr/>
            </a:pPr>
            <a:fld id="{828ADF1B-91E6-4C5F-BD0D-CB78DE79E318}" type="slidenum">
              <a:rPr lang="en-US" sz="1400" smtClean="0">
                <a:latin typeface="Times New Roman" pitchFamily="18" charset="0"/>
              </a:rPr>
              <a:pPr eaLnBrk="1" hangingPunct="1">
                <a:defRPr/>
              </a:pPr>
              <a:t>43</a:t>
            </a:fld>
            <a:endParaRPr lang="en-US" sz="1400">
              <a:latin typeface="Times New Roman" pitchFamily="18" charset="0"/>
            </a:endParaRPr>
          </a:p>
        </p:txBody>
      </p:sp>
      <p:pic>
        <p:nvPicPr>
          <p:cNvPr id="696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814388"/>
            <a:ext cx="9104313" cy="566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How to represent a CT signal with approximation of DT signals</a:t>
            </a:r>
          </a:p>
          <a:p>
            <a:r>
              <a:rPr lang="en-GB" altLang="zh-CN" dirty="0"/>
              <a:t>Calculation of CT convolution</a:t>
            </a:r>
          </a:p>
          <a:p>
            <a:r>
              <a:rPr lang="en-US" altLang="zh-TW" dirty="0"/>
              <a:t>Block diagram representation of a LTI system</a:t>
            </a:r>
            <a:endParaRPr lang="en-GB" altLang="zh-CN" dirty="0"/>
          </a:p>
          <a:p>
            <a:r>
              <a:rPr lang="en-GB" altLang="zh-CN" dirty="0"/>
              <a:t>Operational definition of unit impulse function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9A899B5-0640-4D22-8DC5-C18CF98B4A43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94459"/>
      </p:ext>
    </p:extLst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Soaring 2">
      <a:dk1>
        <a:srgbClr val="000000"/>
      </a:dk1>
      <a:lt1>
        <a:srgbClr val="FFFFFF"/>
      </a:lt1>
      <a:dk2>
        <a:srgbClr val="000000"/>
      </a:dk2>
      <a:lt2>
        <a:srgbClr val="CCECFF"/>
      </a:lt2>
      <a:accent1>
        <a:srgbClr val="6699FF"/>
      </a:accent1>
      <a:accent2>
        <a:srgbClr val="66CCFF"/>
      </a:accent2>
      <a:accent3>
        <a:srgbClr val="FFFFFF"/>
      </a:accent3>
      <a:accent4>
        <a:srgbClr val="000000"/>
      </a:accent4>
      <a:accent5>
        <a:srgbClr val="B8CAFF"/>
      </a:accent5>
      <a:accent6>
        <a:srgbClr val="5CB9E7"/>
      </a:accent6>
      <a:hlink>
        <a:srgbClr val="CC99FF"/>
      </a:hlink>
      <a:folHlink>
        <a:srgbClr val="00CCCC"/>
      </a:folHlink>
    </a:clrScheme>
    <a:fontScheme name="Soarin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Gulim" pitchFamily="34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Gulim" pitchFamily="34" charset="-127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28829</TotalTime>
  <Words>770</Words>
  <Application>Microsoft Office PowerPoint</Application>
  <PresentationFormat>全屏显示(4:3)</PresentationFormat>
  <Paragraphs>183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53" baseType="lpstr">
      <vt:lpstr>新細明體</vt:lpstr>
      <vt:lpstr>宋体</vt:lpstr>
      <vt:lpstr>Arial</vt:lpstr>
      <vt:lpstr>Cambria Math</vt:lpstr>
      <vt:lpstr>Times New Roman</vt:lpstr>
      <vt:lpstr>Wingdings</vt:lpstr>
      <vt:lpstr>Soaring</vt:lpstr>
      <vt:lpstr>方程式</vt:lpstr>
      <vt:lpstr>Equation</vt:lpstr>
      <vt:lpstr>Notes</vt:lpstr>
      <vt:lpstr>That is ...</vt:lpstr>
      <vt:lpstr>Unit Impulse Response</vt:lpstr>
      <vt:lpstr>Response of DT LTI Systems</vt:lpstr>
      <vt:lpstr>PowerPoint 演示文稿</vt:lpstr>
      <vt:lpstr>PowerPoint 演示文稿</vt:lpstr>
      <vt:lpstr>Calculating Successive Values: Shift, Multiply, Sum</vt:lpstr>
      <vt:lpstr>The Unit-impulse function δ(t)</vt:lpstr>
      <vt:lpstr>Construction of the Unit-impulse function δ(t)</vt:lpstr>
      <vt:lpstr>PowerPoint 演示文稿</vt:lpstr>
      <vt:lpstr>Representation of CT Signals</vt:lpstr>
      <vt:lpstr>PowerPoint 演示文稿</vt:lpstr>
      <vt:lpstr>Representation of CT Signals (cont.)</vt:lpstr>
      <vt:lpstr>PowerPoint 演示文稿</vt:lpstr>
      <vt:lpstr>Unit Impulse Response</vt:lpstr>
      <vt:lpstr>Response of a CT LTI System</vt:lpstr>
      <vt:lpstr>PowerPoint 演示文稿</vt:lpstr>
      <vt:lpstr>Operation of CT Convolution</vt:lpstr>
      <vt:lpstr>PowerPoint 演示文稿</vt:lpstr>
      <vt:lpstr>PowerPoint 演示文稿</vt:lpstr>
      <vt:lpstr>PowerPoint 演示文稿</vt:lpstr>
      <vt:lpstr>Property: Commutative</vt:lpstr>
      <vt:lpstr>Property: Distributive</vt:lpstr>
      <vt:lpstr>Property: Distributive (Cont.)</vt:lpstr>
      <vt:lpstr>Properties: Associative</vt:lpstr>
      <vt:lpstr>Properties: Associative (Cont.)</vt:lpstr>
      <vt:lpstr>Property: Memory/Memoryless</vt:lpstr>
      <vt:lpstr>Property: Invertibility</vt:lpstr>
      <vt:lpstr>Property: Causality</vt:lpstr>
      <vt:lpstr>Property: Stability</vt:lpstr>
      <vt:lpstr>Property: Unit Step Response</vt:lpstr>
      <vt:lpstr>Block diagram representation of 1-st order system</vt:lpstr>
      <vt:lpstr>PowerPoint 演示文稿</vt:lpstr>
      <vt:lpstr>From block diagram to difference equation</vt:lpstr>
      <vt:lpstr>More about δ(t): Operational Definition</vt:lpstr>
      <vt:lpstr>PowerPoint 演示文稿</vt:lpstr>
      <vt:lpstr>The Unit Doublet — Differentiator</vt:lpstr>
      <vt:lpstr>Triplets and beyond!</vt:lpstr>
      <vt:lpstr>Integrators</vt:lpstr>
      <vt:lpstr>Integrators (Cont.)</vt:lpstr>
      <vt:lpstr>Notation</vt:lpstr>
      <vt:lpstr>Example: Calculating x(t)∗h(t)</vt:lpstr>
      <vt:lpstr>Example (Cont.)</vt:lpstr>
      <vt:lpstr>Summary</vt:lpstr>
    </vt:vector>
  </TitlesOfParts>
  <Company>UW Bioengineering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SUWA_D2H2_E-medicine</dc:title>
  <dc:creator>E-medicine Team @ NTU</dc:creator>
  <cp:lastModifiedBy>FelixChen</cp:lastModifiedBy>
  <cp:revision>1859</cp:revision>
  <cp:lastPrinted>2001-09-26T18:51:48Z</cp:lastPrinted>
  <dcterms:created xsi:type="dcterms:W3CDTF">1999-06-19T12:47:55Z</dcterms:created>
  <dcterms:modified xsi:type="dcterms:W3CDTF">2024-10-03T03:05:45Z</dcterms:modified>
</cp:coreProperties>
</file>