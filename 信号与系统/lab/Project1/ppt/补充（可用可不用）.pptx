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321" r:id="rId3"/>
    <p:sldId id="329" r:id="rId4"/>
    <p:sldId id="334" r:id="rId5"/>
    <p:sldId id="33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C5F46-540B-438E-9B81-A898C35A9944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CE8D4-9CF7-4A63-8496-CEBF0F6E5F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14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3BE6-B75B-29AE-1BE9-0E324A53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1FCF8A-B4F3-A573-646C-C9C55D9F9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890B4F-5A7C-318C-470E-FB6220B27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3DD4BE-CB5C-E983-7FCC-8A4DEDFEE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D7FF5-371F-42D4-B9F3-5E233BFAA0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62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EBCD-3BFD-7EE9-9038-65ABA72E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283D92-4410-813C-0326-FF5CA1CD5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5AA9FA-6FD3-1797-1230-75C46ACA7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BAF89B-B546-75EC-5AC4-87ED8DAFD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D7FF5-371F-42D4-B9F3-5E233BFAA0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35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FF463-AEDF-B2D0-A9CE-A0AD1A4F6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DC4D77-1E14-6D82-E255-C6F3AABA4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8BF692-6F48-B6C9-4EEE-4AF3D6CB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7C09D1-24AE-BBB7-E126-E10A3E10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68792-5E64-59CB-E7A6-8C00A9D7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81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1BEFE-B8A4-6B9F-79F0-0A24E37E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E9DC45-F77E-34BA-5429-E88818B2B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295004-51DA-8F8F-92F2-2A9A1834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9BD6ED-3BAA-F437-D46D-F6AF04DE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DDBF6-54EB-E1E7-23DF-CD5CAC2D8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01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3D231-82C5-FAD2-E6FE-22598088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735622-C1EB-1320-36C1-DE6409BFA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D94E0-1EAE-1922-32E4-3AEAE87B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DD893-F2B9-C73D-7C11-09BF69B6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628E42-DAC1-AD52-B03D-DB074977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17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5402A-26D0-70E6-71C1-926B8BDF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79DF9F-7CF8-1326-3744-7F1235337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E4EEF3-B9FF-037D-E360-518A3D9E5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56E451-1515-160E-7D7B-2AAA0CE8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C538F5-93EA-9980-3292-77B9E2D5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4741A3-BB5E-B018-1324-BBC8C5F4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3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B6A5C-9B14-50D2-7071-20D4F2F7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4BEA2B-A20A-45DA-18BD-638C9EF18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F68478-B788-3972-DD24-5FCF3401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FA9D75-1EA5-AF89-B5F7-1F22AFE6C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8E2EC3-B9AA-C521-5D0A-2D3102A4A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5121F3-304A-2B4F-0B43-14EC2A87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333628-11FC-DB1F-9D5C-0BFA53C2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8F61D8-424B-3041-8049-3F5BC545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720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B7096-B84A-44DF-C71E-7C9CC385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56C61B-BFFD-31C1-9EFC-CA24B0DC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75E50F-AF89-7F63-E7BA-FA7D83A6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5367DF-5047-D8BC-553C-D6CB31B8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35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5FA201-23B8-F537-6E35-130BE2F2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4AD295-0D77-07E4-CD28-99A8397F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AC873D-2412-6682-477B-9E2F5247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28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7730B-7E3D-D7C4-FFD2-3A65136B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C2D10-A395-8954-CBDE-08B48633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F77643-EC8A-7852-05E9-561728C5F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CBC12B-09D8-F90A-AE3A-901913B1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59874-2EC3-86B7-2CBF-20CE9047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7C90A4-EDA9-0AC2-D364-211D25BB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515F8-1CBF-F698-FAE2-725C98DC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91EB9B-9B48-D5BC-8175-7599D939B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C163CB-02DB-3360-0684-F18569722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424DC9-40D5-732A-40C9-D0DA28BD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9A2CF-C157-F2C5-37BB-82DACD87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1FB94C-B53A-47AF-6BB9-28439A68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33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8C687-E583-1242-AD60-24FB8292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F1E368-3090-4381-2C29-9AEDC8F75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54FE7C-7890-2E75-AC60-609CFDFF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4D877-C625-4136-C00D-5C147D9C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48089-2941-C876-7C88-99367646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85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EB495B-403B-1868-3928-31DF908FA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C550DF-4B99-CF43-6B2B-56402D468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2A9EAF-3C22-069D-E7DD-3A1A9B397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EBBB3-9BE6-7762-1285-2AA3C66C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08410-1A6C-745F-B666-AB33368C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538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4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CC72E6-3400-88B2-C810-8107C174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02B6B0-16D8-687D-125A-E78F903F6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894772-2769-8084-03AB-0D0F16B91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CB613-EF61-4D56-B5B2-69750F6E596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D2B25-9460-0C77-1EB0-1664DE524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18375C-3B90-1A6A-5051-497A077F6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EB8FB-903F-4F88-A272-9B6DEA11ED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3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 flipH="1">
            <a:off x="0" y="0"/>
            <a:ext cx="12191999" cy="6858000"/>
          </a:xfrm>
          <a:prstGeom prst="rect">
            <a:avLst/>
          </a:prstGeom>
          <a:gradFill>
            <a:gsLst>
              <a:gs pos="20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26246" y="465410"/>
            <a:ext cx="1038226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OPPOSans H"/>
              </a:rPr>
              <a:t>X</a:t>
            </a:r>
            <a:endParaRPr kumimoji="1"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 flipV="1">
            <a:off x="4482073" y="5351862"/>
            <a:ext cx="537244" cy="230550"/>
          </a:xfrm>
          <a:custGeom>
            <a:avLst/>
            <a:gdLst>
              <a:gd name="connsiteX0" fmla="*/ 478289 w 1555248"/>
              <a:gd name="connsiteY0" fmla="*/ 54610 h 332740"/>
              <a:gd name="connsiteX1" fmla="*/ 414004 w 1555248"/>
              <a:gd name="connsiteY1" fmla="*/ 118109 h 332740"/>
              <a:gd name="connsiteX2" fmla="*/ 472893 w 1555248"/>
              <a:gd name="connsiteY2" fmla="*/ 118109 h 332740"/>
              <a:gd name="connsiteX3" fmla="*/ 537178 w 1555248"/>
              <a:gd name="connsiteY3" fmla="*/ 54610 h 332740"/>
              <a:gd name="connsiteX4" fmla="*/ 355115 w 1555248"/>
              <a:gd name="connsiteY4" fmla="*/ 54610 h 332740"/>
              <a:gd name="connsiteX5" fmla="*/ 290830 w 1555248"/>
              <a:gd name="connsiteY5" fmla="*/ 118109 h 332740"/>
              <a:gd name="connsiteX6" fmla="*/ 349719 w 1555248"/>
              <a:gd name="connsiteY6" fmla="*/ 118109 h 332740"/>
              <a:gd name="connsiteX7" fmla="*/ 414004 w 1555248"/>
              <a:gd name="connsiteY7" fmla="*/ 54610 h 332740"/>
              <a:gd name="connsiteX8" fmla="*/ 231941 w 1555248"/>
              <a:gd name="connsiteY8" fmla="*/ 54610 h 332740"/>
              <a:gd name="connsiteX9" fmla="*/ 167656 w 1555248"/>
              <a:gd name="connsiteY9" fmla="*/ 118109 h 332740"/>
              <a:gd name="connsiteX10" fmla="*/ 226545 w 1555248"/>
              <a:gd name="connsiteY10" fmla="*/ 118109 h 332740"/>
              <a:gd name="connsiteX11" fmla="*/ 290830 w 1555248"/>
              <a:gd name="connsiteY11" fmla="*/ 54610 h 332740"/>
              <a:gd name="connsiteX12" fmla="*/ 167640 w 1555248"/>
              <a:gd name="connsiteY12" fmla="*/ 0 h 332740"/>
              <a:gd name="connsiteX13" fmla="*/ 1203960 w 1555248"/>
              <a:gd name="connsiteY13" fmla="*/ 0 h 332740"/>
              <a:gd name="connsiteX14" fmla="*/ 1554480 w 1555248"/>
              <a:gd name="connsiteY14" fmla="*/ 152400 h 332740"/>
              <a:gd name="connsiteX15" fmla="*/ 1555248 w 1555248"/>
              <a:gd name="connsiteY15" fmla="*/ 179665 h 332740"/>
              <a:gd name="connsiteX16" fmla="*/ 228600 w 1555248"/>
              <a:gd name="connsiteY16" fmla="*/ 179665 h 332740"/>
              <a:gd name="connsiteX17" fmla="*/ 93188 w 1555248"/>
              <a:gd name="connsiteY17" fmla="*/ 332740 h 332740"/>
              <a:gd name="connsiteX18" fmla="*/ 5080 w 1555248"/>
              <a:gd name="connsiteY18" fmla="*/ 332740 h 332740"/>
              <a:gd name="connsiteX19" fmla="*/ 0 w 1555248"/>
              <a:gd name="connsiteY19" fmla="*/ 162560 h 332740"/>
            </a:gdLst>
            <a:ahLst/>
            <a:cxnLst/>
            <a:rect l="l" t="t" r="r" b="b"/>
            <a:pathLst>
              <a:path w="1555248" h="332740">
                <a:moveTo>
                  <a:pt x="478289" y="54610"/>
                </a:moveTo>
                <a:lnTo>
                  <a:pt x="414004" y="118109"/>
                </a:lnTo>
                <a:lnTo>
                  <a:pt x="472893" y="118109"/>
                </a:lnTo>
                <a:lnTo>
                  <a:pt x="537178" y="54610"/>
                </a:lnTo>
                <a:close/>
                <a:moveTo>
                  <a:pt x="355115" y="54610"/>
                </a:moveTo>
                <a:lnTo>
                  <a:pt x="290830" y="118109"/>
                </a:lnTo>
                <a:lnTo>
                  <a:pt x="349719" y="118109"/>
                </a:lnTo>
                <a:lnTo>
                  <a:pt x="414004" y="54610"/>
                </a:lnTo>
                <a:close/>
                <a:moveTo>
                  <a:pt x="231941" y="54610"/>
                </a:moveTo>
                <a:lnTo>
                  <a:pt x="167656" y="118109"/>
                </a:lnTo>
                <a:lnTo>
                  <a:pt x="226545" y="118109"/>
                </a:lnTo>
                <a:lnTo>
                  <a:pt x="290830" y="54610"/>
                </a:lnTo>
                <a:close/>
                <a:moveTo>
                  <a:pt x="167640" y="0"/>
                </a:moveTo>
                <a:lnTo>
                  <a:pt x="1203960" y="0"/>
                </a:lnTo>
                <a:lnTo>
                  <a:pt x="1554480" y="152400"/>
                </a:lnTo>
                <a:lnTo>
                  <a:pt x="1555248" y="179665"/>
                </a:lnTo>
                <a:lnTo>
                  <a:pt x="228600" y="179665"/>
                </a:lnTo>
                <a:lnTo>
                  <a:pt x="93188" y="332740"/>
                </a:lnTo>
                <a:lnTo>
                  <a:pt x="5080" y="332740"/>
                </a:lnTo>
                <a:lnTo>
                  <a:pt x="0" y="16256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 flipV="1">
            <a:off x="4737962" y="5459077"/>
            <a:ext cx="6501256" cy="17882"/>
          </a:xfrm>
          <a:prstGeom prst="rect">
            <a:avLst/>
          </a:pr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10910668" y="1434396"/>
            <a:ext cx="555270" cy="178234"/>
          </a:xfrm>
          <a:custGeom>
            <a:avLst/>
            <a:gdLst>
              <a:gd name="connsiteX0" fmla="*/ 478289 w 1555248"/>
              <a:gd name="connsiteY0" fmla="*/ 54610 h 332740"/>
              <a:gd name="connsiteX1" fmla="*/ 414004 w 1555248"/>
              <a:gd name="connsiteY1" fmla="*/ 118109 h 332740"/>
              <a:gd name="connsiteX2" fmla="*/ 472893 w 1555248"/>
              <a:gd name="connsiteY2" fmla="*/ 118109 h 332740"/>
              <a:gd name="connsiteX3" fmla="*/ 537178 w 1555248"/>
              <a:gd name="connsiteY3" fmla="*/ 54610 h 332740"/>
              <a:gd name="connsiteX4" fmla="*/ 355115 w 1555248"/>
              <a:gd name="connsiteY4" fmla="*/ 54610 h 332740"/>
              <a:gd name="connsiteX5" fmla="*/ 290830 w 1555248"/>
              <a:gd name="connsiteY5" fmla="*/ 118109 h 332740"/>
              <a:gd name="connsiteX6" fmla="*/ 349719 w 1555248"/>
              <a:gd name="connsiteY6" fmla="*/ 118109 h 332740"/>
              <a:gd name="connsiteX7" fmla="*/ 414004 w 1555248"/>
              <a:gd name="connsiteY7" fmla="*/ 54610 h 332740"/>
              <a:gd name="connsiteX8" fmla="*/ 231941 w 1555248"/>
              <a:gd name="connsiteY8" fmla="*/ 54610 h 332740"/>
              <a:gd name="connsiteX9" fmla="*/ 167656 w 1555248"/>
              <a:gd name="connsiteY9" fmla="*/ 118109 h 332740"/>
              <a:gd name="connsiteX10" fmla="*/ 226545 w 1555248"/>
              <a:gd name="connsiteY10" fmla="*/ 118109 h 332740"/>
              <a:gd name="connsiteX11" fmla="*/ 290830 w 1555248"/>
              <a:gd name="connsiteY11" fmla="*/ 54610 h 332740"/>
              <a:gd name="connsiteX12" fmla="*/ 167640 w 1555248"/>
              <a:gd name="connsiteY12" fmla="*/ 0 h 332740"/>
              <a:gd name="connsiteX13" fmla="*/ 1203960 w 1555248"/>
              <a:gd name="connsiteY13" fmla="*/ 0 h 332740"/>
              <a:gd name="connsiteX14" fmla="*/ 1554480 w 1555248"/>
              <a:gd name="connsiteY14" fmla="*/ 152400 h 332740"/>
              <a:gd name="connsiteX15" fmla="*/ 1555248 w 1555248"/>
              <a:gd name="connsiteY15" fmla="*/ 179665 h 332740"/>
              <a:gd name="connsiteX16" fmla="*/ 228600 w 1555248"/>
              <a:gd name="connsiteY16" fmla="*/ 179665 h 332740"/>
              <a:gd name="connsiteX17" fmla="*/ 93188 w 1555248"/>
              <a:gd name="connsiteY17" fmla="*/ 332740 h 332740"/>
              <a:gd name="connsiteX18" fmla="*/ 5080 w 1555248"/>
              <a:gd name="connsiteY18" fmla="*/ 332740 h 332740"/>
              <a:gd name="connsiteX19" fmla="*/ 0 w 1555248"/>
              <a:gd name="connsiteY19" fmla="*/ 162560 h 332740"/>
            </a:gdLst>
            <a:ahLst/>
            <a:cxnLst/>
            <a:rect l="l" t="t" r="r" b="b"/>
            <a:pathLst>
              <a:path w="1555248" h="332740">
                <a:moveTo>
                  <a:pt x="478289" y="54610"/>
                </a:moveTo>
                <a:lnTo>
                  <a:pt x="414004" y="118109"/>
                </a:lnTo>
                <a:lnTo>
                  <a:pt x="472893" y="118109"/>
                </a:lnTo>
                <a:lnTo>
                  <a:pt x="537178" y="54610"/>
                </a:lnTo>
                <a:close/>
                <a:moveTo>
                  <a:pt x="355115" y="54610"/>
                </a:moveTo>
                <a:lnTo>
                  <a:pt x="290830" y="118109"/>
                </a:lnTo>
                <a:lnTo>
                  <a:pt x="349719" y="118109"/>
                </a:lnTo>
                <a:lnTo>
                  <a:pt x="414004" y="54610"/>
                </a:lnTo>
                <a:close/>
                <a:moveTo>
                  <a:pt x="231941" y="54610"/>
                </a:moveTo>
                <a:lnTo>
                  <a:pt x="167656" y="118109"/>
                </a:lnTo>
                <a:lnTo>
                  <a:pt x="226545" y="118109"/>
                </a:lnTo>
                <a:lnTo>
                  <a:pt x="290830" y="54610"/>
                </a:lnTo>
                <a:close/>
                <a:moveTo>
                  <a:pt x="167640" y="0"/>
                </a:moveTo>
                <a:lnTo>
                  <a:pt x="1203960" y="0"/>
                </a:lnTo>
                <a:lnTo>
                  <a:pt x="1554480" y="152400"/>
                </a:lnTo>
                <a:lnTo>
                  <a:pt x="1555248" y="179665"/>
                </a:lnTo>
                <a:lnTo>
                  <a:pt x="228600" y="179665"/>
                </a:lnTo>
                <a:lnTo>
                  <a:pt x="93188" y="332740"/>
                </a:lnTo>
                <a:lnTo>
                  <a:pt x="5080" y="332740"/>
                </a:lnTo>
                <a:lnTo>
                  <a:pt x="0" y="16256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482074" y="1515920"/>
            <a:ext cx="6719389" cy="13824"/>
          </a:xfrm>
          <a:prstGeom prst="rect">
            <a:avLst/>
          </a:pr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745477" y="1627680"/>
            <a:ext cx="3825242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9600">
                <a:ln w="19050">
                  <a:noFill/>
                </a:ln>
                <a:gradFill>
                  <a:gsLst>
                    <a:gs pos="26000">
                      <a:srgbClr val="00A295">
                        <a:alpha val="100000"/>
                      </a:srgbClr>
                    </a:gs>
                    <a:gs pos="100000">
                      <a:srgbClr val="2EFFEE">
                        <a:alpha val="100000"/>
                      </a:srgbClr>
                    </a:gs>
                  </a:gsLst>
                  <a:lin ang="13500000" scaled="0"/>
                </a:gradFill>
                <a:latin typeface="Segoe UI Light" panose="020B0502040204020203" pitchFamily="34" charset="0"/>
                <a:ea typeface="微软雅黑 Light" panose="020B0502040204020203" pitchFamily="34" charset="-122"/>
                <a:cs typeface="OPPOSans H"/>
              </a:rPr>
              <a:t>Part</a:t>
            </a:r>
            <a:endParaRPr kumimoji="1" lang="zh-CN" altLang="en-US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4382500" y="3105302"/>
            <a:ext cx="7083437" cy="22465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r">
              <a:lnSpc>
                <a:spcPct val="130000"/>
              </a:lnSpc>
            </a:pPr>
            <a:r>
              <a:rPr kumimoji="1" lang="zh-CN" altLang="en-US" sz="5400" b="1" dirty="0">
                <a:ln w="19050">
                  <a:noFill/>
                </a:ln>
                <a:solidFill>
                  <a:schemeClr val="bg1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OPPOSans H"/>
              </a:rPr>
              <a:t>项目背景</a:t>
            </a:r>
            <a:endParaRPr kumimoji="1" lang="zh-CN" altLang="en-US" b="1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37820" y="646520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-1172201" y="747543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0468936" y="34888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 flipH="1" flipV="1">
            <a:off x="9940935" y="-29593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flipH="1">
            <a:off x="8745873" y="646520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9931096" y="747543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-1723063" y="34888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 flipH="1" flipV="1">
            <a:off x="-1169073" y="-29593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781171" y="1905946"/>
            <a:ext cx="1564413" cy="999741"/>
          </a:xfrm>
          <a:custGeom>
            <a:avLst/>
            <a:gdLst>
              <a:gd name="connsiteX0" fmla="*/ 985393 w 1564413"/>
              <a:gd name="connsiteY0" fmla="*/ 0 h 999741"/>
              <a:gd name="connsiteX1" fmla="*/ 1274903 w 1564413"/>
              <a:gd name="connsiteY1" fmla="*/ 0 h 999741"/>
              <a:gd name="connsiteX2" fmla="*/ 1564413 w 1564413"/>
              <a:gd name="connsiteY2" fmla="*/ 499871 h 999741"/>
              <a:gd name="connsiteX3" fmla="*/ 1274903 w 1564413"/>
              <a:gd name="connsiteY3" fmla="*/ 999741 h 999741"/>
              <a:gd name="connsiteX4" fmla="*/ 985393 w 1564413"/>
              <a:gd name="connsiteY4" fmla="*/ 999741 h 999741"/>
              <a:gd name="connsiteX5" fmla="*/ 1274903 w 1564413"/>
              <a:gd name="connsiteY5" fmla="*/ 499871 h 999741"/>
              <a:gd name="connsiteX6" fmla="*/ 510627 w 1564413"/>
              <a:gd name="connsiteY6" fmla="*/ 0 h 999741"/>
              <a:gd name="connsiteX7" fmla="*/ 800137 w 1564413"/>
              <a:gd name="connsiteY7" fmla="*/ 0 h 999741"/>
              <a:gd name="connsiteX8" fmla="*/ 1089647 w 1564413"/>
              <a:gd name="connsiteY8" fmla="*/ 499871 h 999741"/>
              <a:gd name="connsiteX9" fmla="*/ 800137 w 1564413"/>
              <a:gd name="connsiteY9" fmla="*/ 999741 h 999741"/>
              <a:gd name="connsiteX10" fmla="*/ 510627 w 1564413"/>
              <a:gd name="connsiteY10" fmla="*/ 999741 h 999741"/>
              <a:gd name="connsiteX11" fmla="*/ 800137 w 1564413"/>
              <a:gd name="connsiteY11" fmla="*/ 499871 h 999741"/>
              <a:gd name="connsiteX12" fmla="*/ 0 w 1564413"/>
              <a:gd name="connsiteY12" fmla="*/ 0 h 999741"/>
              <a:gd name="connsiteX13" fmla="*/ 289510 w 1564413"/>
              <a:gd name="connsiteY13" fmla="*/ 0 h 999741"/>
              <a:gd name="connsiteX14" fmla="*/ 579020 w 1564413"/>
              <a:gd name="connsiteY14" fmla="*/ 499871 h 999741"/>
              <a:gd name="connsiteX15" fmla="*/ 289510 w 1564413"/>
              <a:gd name="connsiteY15" fmla="*/ 999741 h 999741"/>
              <a:gd name="connsiteX16" fmla="*/ 0 w 1564413"/>
              <a:gd name="connsiteY16" fmla="*/ 999741 h 999741"/>
              <a:gd name="connsiteX17" fmla="*/ 289510 w 1564413"/>
              <a:gd name="connsiteY17" fmla="*/ 499871 h 999741"/>
            </a:gdLst>
            <a:ahLst/>
            <a:cxnLst/>
            <a:rect l="l" t="t" r="r" b="b"/>
            <a:pathLst>
              <a:path w="1564413" h="999741">
                <a:moveTo>
                  <a:pt x="985393" y="0"/>
                </a:moveTo>
                <a:lnTo>
                  <a:pt x="1274903" y="0"/>
                </a:lnTo>
                <a:lnTo>
                  <a:pt x="1564413" y="499871"/>
                </a:lnTo>
                <a:lnTo>
                  <a:pt x="1274903" y="999741"/>
                </a:lnTo>
                <a:lnTo>
                  <a:pt x="985393" y="999741"/>
                </a:lnTo>
                <a:lnTo>
                  <a:pt x="1274903" y="499871"/>
                </a:lnTo>
                <a:close/>
                <a:moveTo>
                  <a:pt x="510627" y="0"/>
                </a:moveTo>
                <a:lnTo>
                  <a:pt x="800137" y="0"/>
                </a:lnTo>
                <a:lnTo>
                  <a:pt x="1089647" y="499871"/>
                </a:lnTo>
                <a:lnTo>
                  <a:pt x="800137" y="999741"/>
                </a:lnTo>
                <a:lnTo>
                  <a:pt x="510627" y="999741"/>
                </a:lnTo>
                <a:lnTo>
                  <a:pt x="800137" y="499871"/>
                </a:lnTo>
                <a:close/>
                <a:moveTo>
                  <a:pt x="0" y="0"/>
                </a:moveTo>
                <a:lnTo>
                  <a:pt x="289510" y="0"/>
                </a:lnTo>
                <a:lnTo>
                  <a:pt x="579020" y="499871"/>
                </a:lnTo>
                <a:lnTo>
                  <a:pt x="289510" y="999741"/>
                </a:lnTo>
                <a:lnTo>
                  <a:pt x="0" y="999741"/>
                </a:lnTo>
                <a:lnTo>
                  <a:pt x="289510" y="499871"/>
                </a:lnTo>
                <a:close/>
              </a:path>
            </a:pathLst>
          </a:custGeom>
          <a:solidFill>
            <a:schemeClr val="accent1">
              <a:alpha val="29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069049" y="1448220"/>
            <a:ext cx="2326424" cy="17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9600" dirty="0">
                <a:ln w="19050">
                  <a:noFill/>
                </a:ln>
                <a:gradFill>
                  <a:gsLst>
                    <a:gs pos="26000">
                      <a:srgbClr val="00A295">
                        <a:alpha val="100000"/>
                      </a:srgbClr>
                    </a:gs>
                    <a:gs pos="100000">
                      <a:srgbClr val="2EFFEE">
                        <a:alpha val="100000"/>
                      </a:srgbClr>
                    </a:gs>
                  </a:gsLst>
                  <a:lin ang="13500000" scaled="0"/>
                </a:gradFill>
                <a:latin typeface="Segoe UI Light" panose="020B0502040204020203" pitchFamily="34" charset="0"/>
                <a:ea typeface="微软雅黑 Light" panose="020B0502040204020203" pitchFamily="34" charset="-122"/>
                <a:cs typeface="OPPOSans H"/>
              </a:rPr>
              <a:t>01</a:t>
            </a:r>
            <a:endParaRPr kumimoji="1"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23" name="标题 1"/>
          <p:cNvSpPr txBox="1"/>
          <p:nvPr/>
        </p:nvSpPr>
        <p:spPr>
          <a:xfrm>
            <a:off x="1767698" y="673384"/>
            <a:ext cx="6965164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24232B-CFEA-BE56-75E0-A5BEF900F03B}"/>
              </a:ext>
            </a:extLst>
          </p:cNvPr>
          <p:cNvSpPr txBox="1"/>
          <p:nvPr/>
        </p:nvSpPr>
        <p:spPr>
          <a:xfrm>
            <a:off x="477077" y="405517"/>
            <a:ext cx="5502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基本原理与基本模型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232D39-4267-9290-4ADC-7A734C5C413B}"/>
              </a:ext>
            </a:extLst>
          </p:cNvPr>
          <p:cNvSpPr txBox="1"/>
          <p:nvPr/>
        </p:nvSpPr>
        <p:spPr>
          <a:xfrm>
            <a:off x="1105231" y="1248110"/>
            <a:ext cx="5072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雷达与传播路径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C710F7-6738-C238-ED8E-3F1F9028E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1" y="2296696"/>
            <a:ext cx="5725202" cy="36460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B7EF1A-2FF0-2BBD-2E7A-7B4AC55B4DCB}"/>
              </a:ext>
            </a:extLst>
          </p:cNvPr>
          <p:cNvSpPr txBox="1"/>
          <p:nvPr/>
        </p:nvSpPr>
        <p:spPr>
          <a:xfrm>
            <a:off x="6432868" y="1248110"/>
            <a:ext cx="4102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多路径传播信号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BF4E1E-89A5-1C3B-E474-ECAE42F59346}"/>
              </a:ext>
            </a:extLst>
          </p:cNvPr>
          <p:cNvSpPr txBox="1"/>
          <p:nvPr/>
        </p:nvSpPr>
        <p:spPr>
          <a:xfrm>
            <a:off x="6432868" y="1709775"/>
            <a:ext cx="4412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两个路径到达接收雷达：</a:t>
            </a:r>
            <a:endParaRPr lang="en-US" altLang="zh-CN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直射路（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reference channel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）</a:t>
            </a:r>
            <a:endParaRPr lang="en-US" altLang="zh-CN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监视信道（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surveillance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）</a:t>
            </a:r>
            <a:r>
              <a:rPr lang="en-US" altLang="zh-CN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:</a:t>
            </a:r>
            <a:r>
              <a:rPr lang="zh-CN" altLang="en-US" dirty="0">
                <a:latin typeface="Segoe UI Light" panose="020B0502040204020203" pitchFamily="34" charset="0"/>
                <a:ea typeface="微软雅黑 Light" panose="020B0502040204020203" pitchFamily="34" charset="-122"/>
              </a:rPr>
              <a:t>经过被监测对象折射后再到达接收雷达的折射路径</a:t>
            </a:r>
            <a:endParaRPr lang="en-US" altLang="zh-CN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  <a:p>
            <a:r>
              <a:rPr lang="zh-CN" altLang="en-US" dirty="0"/>
              <a:t>，这种信号的叠加可能会出现相位差异，从而导致干涉现象。</a:t>
            </a:r>
            <a:endParaRPr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F99961-4614-C987-39C7-EFB3D45E9A91}"/>
              </a:ext>
            </a:extLst>
          </p:cNvPr>
          <p:cNvSpPr txBox="1"/>
          <p:nvPr/>
        </p:nvSpPr>
        <p:spPr>
          <a:xfrm>
            <a:off x="6432868" y="4119720"/>
            <a:ext cx="44129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无源雷达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dirty="0"/>
              <a:t>反射信号会与参考信号之间存在一定的时间差和频率差。</a:t>
            </a:r>
          </a:p>
        </p:txBody>
      </p:sp>
    </p:spTree>
    <p:extLst>
      <p:ext uri="{BB962C8B-B14F-4D97-AF65-F5344CB8AC3E}">
        <p14:creationId xmlns:p14="http://schemas.microsoft.com/office/powerpoint/2010/main" val="46157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E3B2-DE89-A0CD-1AEB-8818C9C7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40F4B16-F0A9-1347-D725-8A3614ACA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25" y="2798323"/>
            <a:ext cx="3841737" cy="685065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2134F891-B506-ABFB-89A9-FA749F546B4F}"/>
              </a:ext>
            </a:extLst>
          </p:cNvPr>
          <p:cNvSpPr txBox="1"/>
          <p:nvPr/>
        </p:nvSpPr>
        <p:spPr>
          <a:xfrm>
            <a:off x="172720" y="247319"/>
            <a:ext cx="11442700" cy="5430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Source Han Sans CN Bold" panose="020B0800000000000000" charset="-122"/>
              </a:rPr>
              <a:t>数学模型</a:t>
            </a:r>
            <a:endParaRPr kumimoji="1"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cxnSp>
        <p:nvCxnSpPr>
          <p:cNvPr id="14" name="标题 1">
            <a:extLst>
              <a:ext uri="{FF2B5EF4-FFF2-40B4-BE49-F238E27FC236}">
                <a16:creationId xmlns:a16="http://schemas.microsoft.com/office/drawing/2014/main" id="{1E130B60-3EE4-4328-6D5F-BC7C375B6727}"/>
              </a:ext>
            </a:extLst>
          </p:cNvPr>
          <p:cNvCxnSpPr/>
          <p:nvPr/>
        </p:nvCxnSpPr>
        <p:spPr>
          <a:xfrm>
            <a:off x="312738" y="770539"/>
            <a:ext cx="11307762" cy="0"/>
          </a:xfrm>
          <a:prstGeom prst="line">
            <a:avLst/>
          </a:prstGeom>
          <a:noFill/>
          <a:ln w="6350" cap="rnd">
            <a:solidFill>
              <a:schemeClr val="bg1">
                <a:lumMod val="65000"/>
              </a:schemeClr>
            </a:solidFill>
            <a:round/>
          </a:ln>
        </p:spPr>
      </p:cxnSp>
      <p:cxnSp>
        <p:nvCxnSpPr>
          <p:cNvPr id="15" name="标题 1">
            <a:extLst>
              <a:ext uri="{FF2B5EF4-FFF2-40B4-BE49-F238E27FC236}">
                <a16:creationId xmlns:a16="http://schemas.microsoft.com/office/drawing/2014/main" id="{05EFB0C3-7017-16B2-56E5-AB36B8016FCF}"/>
              </a:ext>
            </a:extLst>
          </p:cNvPr>
          <p:cNvCxnSpPr/>
          <p:nvPr/>
        </p:nvCxnSpPr>
        <p:spPr>
          <a:xfrm>
            <a:off x="312738" y="770539"/>
            <a:ext cx="652463" cy="0"/>
          </a:xfrm>
          <a:prstGeom prst="line">
            <a:avLst/>
          </a:prstGeom>
          <a:noFill/>
          <a:ln w="44450" cap="sq">
            <a:solidFill>
              <a:schemeClr val="accent1"/>
            </a:solidFill>
            <a:round/>
          </a:ln>
        </p:spPr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3627D01E-D50B-09BB-94E7-78253CE2D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38" y="953201"/>
            <a:ext cx="4382112" cy="14480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202630-50A4-5BCD-C981-9852DD5FB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25" y="2475321"/>
            <a:ext cx="2114310" cy="50615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7AD0C63-A285-6A5B-7C9E-E412D2F0F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22" y="3936517"/>
            <a:ext cx="4160625" cy="43891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126C84D-A695-3D43-E3A2-5C0494BE9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822" y="4449392"/>
            <a:ext cx="2791215" cy="65169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42446E7-B35E-E267-786D-634632CEC6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06" r="-8406" b="-166"/>
          <a:stretch/>
        </p:blipFill>
        <p:spPr>
          <a:xfrm>
            <a:off x="3075526" y="4449392"/>
            <a:ext cx="1914014" cy="54309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E523809-D32B-3CD0-144E-31762532B3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825" y="3300387"/>
            <a:ext cx="2650701" cy="70733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1D39C6B-73D2-355B-5A72-E78A0B9B7EF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702" r="-6702"/>
          <a:stretch/>
        </p:blipFill>
        <p:spPr>
          <a:xfrm>
            <a:off x="2856420" y="3293242"/>
            <a:ext cx="1729029" cy="72161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5B53F62-69A0-76F4-5945-D351589193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190" y="1381668"/>
            <a:ext cx="5972854" cy="420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3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72598-E4C1-6478-B419-99B1C0A3F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9F60205-27AA-394A-40E0-6A314E1556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D849E94-8609-98C2-0138-2E07B8F867E4}"/>
              </a:ext>
            </a:extLst>
          </p:cNvPr>
          <p:cNvSpPr txBox="1"/>
          <p:nvPr/>
        </p:nvSpPr>
        <p:spPr>
          <a:xfrm flipH="1">
            <a:off x="0" y="0"/>
            <a:ext cx="12191999" cy="6858000"/>
          </a:xfrm>
          <a:prstGeom prst="rect">
            <a:avLst/>
          </a:prstGeom>
          <a:gradFill>
            <a:gsLst>
              <a:gs pos="20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060ACFB-E6F4-4AC3-737A-B2D769B4CFAE}"/>
              </a:ext>
            </a:extLst>
          </p:cNvPr>
          <p:cNvSpPr txBox="1"/>
          <p:nvPr/>
        </p:nvSpPr>
        <p:spPr>
          <a:xfrm>
            <a:off x="826246" y="465410"/>
            <a:ext cx="1038226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OPPOSans H"/>
              </a:rPr>
              <a:t>X</a:t>
            </a:r>
            <a:endParaRPr kumimoji="1"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6D46F0E-76BE-57DE-C8F9-76339D2055FC}"/>
              </a:ext>
            </a:extLst>
          </p:cNvPr>
          <p:cNvSpPr txBox="1"/>
          <p:nvPr/>
        </p:nvSpPr>
        <p:spPr>
          <a:xfrm flipV="1">
            <a:off x="4482073" y="5351862"/>
            <a:ext cx="537244" cy="230550"/>
          </a:xfrm>
          <a:custGeom>
            <a:avLst/>
            <a:gdLst>
              <a:gd name="connsiteX0" fmla="*/ 478289 w 1555248"/>
              <a:gd name="connsiteY0" fmla="*/ 54610 h 332740"/>
              <a:gd name="connsiteX1" fmla="*/ 414004 w 1555248"/>
              <a:gd name="connsiteY1" fmla="*/ 118109 h 332740"/>
              <a:gd name="connsiteX2" fmla="*/ 472893 w 1555248"/>
              <a:gd name="connsiteY2" fmla="*/ 118109 h 332740"/>
              <a:gd name="connsiteX3" fmla="*/ 537178 w 1555248"/>
              <a:gd name="connsiteY3" fmla="*/ 54610 h 332740"/>
              <a:gd name="connsiteX4" fmla="*/ 355115 w 1555248"/>
              <a:gd name="connsiteY4" fmla="*/ 54610 h 332740"/>
              <a:gd name="connsiteX5" fmla="*/ 290830 w 1555248"/>
              <a:gd name="connsiteY5" fmla="*/ 118109 h 332740"/>
              <a:gd name="connsiteX6" fmla="*/ 349719 w 1555248"/>
              <a:gd name="connsiteY6" fmla="*/ 118109 h 332740"/>
              <a:gd name="connsiteX7" fmla="*/ 414004 w 1555248"/>
              <a:gd name="connsiteY7" fmla="*/ 54610 h 332740"/>
              <a:gd name="connsiteX8" fmla="*/ 231941 w 1555248"/>
              <a:gd name="connsiteY8" fmla="*/ 54610 h 332740"/>
              <a:gd name="connsiteX9" fmla="*/ 167656 w 1555248"/>
              <a:gd name="connsiteY9" fmla="*/ 118109 h 332740"/>
              <a:gd name="connsiteX10" fmla="*/ 226545 w 1555248"/>
              <a:gd name="connsiteY10" fmla="*/ 118109 h 332740"/>
              <a:gd name="connsiteX11" fmla="*/ 290830 w 1555248"/>
              <a:gd name="connsiteY11" fmla="*/ 54610 h 332740"/>
              <a:gd name="connsiteX12" fmla="*/ 167640 w 1555248"/>
              <a:gd name="connsiteY12" fmla="*/ 0 h 332740"/>
              <a:gd name="connsiteX13" fmla="*/ 1203960 w 1555248"/>
              <a:gd name="connsiteY13" fmla="*/ 0 h 332740"/>
              <a:gd name="connsiteX14" fmla="*/ 1554480 w 1555248"/>
              <a:gd name="connsiteY14" fmla="*/ 152400 h 332740"/>
              <a:gd name="connsiteX15" fmla="*/ 1555248 w 1555248"/>
              <a:gd name="connsiteY15" fmla="*/ 179665 h 332740"/>
              <a:gd name="connsiteX16" fmla="*/ 228600 w 1555248"/>
              <a:gd name="connsiteY16" fmla="*/ 179665 h 332740"/>
              <a:gd name="connsiteX17" fmla="*/ 93188 w 1555248"/>
              <a:gd name="connsiteY17" fmla="*/ 332740 h 332740"/>
              <a:gd name="connsiteX18" fmla="*/ 5080 w 1555248"/>
              <a:gd name="connsiteY18" fmla="*/ 332740 h 332740"/>
              <a:gd name="connsiteX19" fmla="*/ 0 w 1555248"/>
              <a:gd name="connsiteY19" fmla="*/ 162560 h 332740"/>
            </a:gdLst>
            <a:ahLst/>
            <a:cxnLst/>
            <a:rect l="l" t="t" r="r" b="b"/>
            <a:pathLst>
              <a:path w="1555248" h="332740">
                <a:moveTo>
                  <a:pt x="478289" y="54610"/>
                </a:moveTo>
                <a:lnTo>
                  <a:pt x="414004" y="118109"/>
                </a:lnTo>
                <a:lnTo>
                  <a:pt x="472893" y="118109"/>
                </a:lnTo>
                <a:lnTo>
                  <a:pt x="537178" y="54610"/>
                </a:lnTo>
                <a:close/>
                <a:moveTo>
                  <a:pt x="355115" y="54610"/>
                </a:moveTo>
                <a:lnTo>
                  <a:pt x="290830" y="118109"/>
                </a:lnTo>
                <a:lnTo>
                  <a:pt x="349719" y="118109"/>
                </a:lnTo>
                <a:lnTo>
                  <a:pt x="414004" y="54610"/>
                </a:lnTo>
                <a:close/>
                <a:moveTo>
                  <a:pt x="231941" y="54610"/>
                </a:moveTo>
                <a:lnTo>
                  <a:pt x="167656" y="118109"/>
                </a:lnTo>
                <a:lnTo>
                  <a:pt x="226545" y="118109"/>
                </a:lnTo>
                <a:lnTo>
                  <a:pt x="290830" y="54610"/>
                </a:lnTo>
                <a:close/>
                <a:moveTo>
                  <a:pt x="167640" y="0"/>
                </a:moveTo>
                <a:lnTo>
                  <a:pt x="1203960" y="0"/>
                </a:lnTo>
                <a:lnTo>
                  <a:pt x="1554480" y="152400"/>
                </a:lnTo>
                <a:lnTo>
                  <a:pt x="1555248" y="179665"/>
                </a:lnTo>
                <a:lnTo>
                  <a:pt x="228600" y="179665"/>
                </a:lnTo>
                <a:lnTo>
                  <a:pt x="93188" y="332740"/>
                </a:lnTo>
                <a:lnTo>
                  <a:pt x="5080" y="332740"/>
                </a:lnTo>
                <a:lnTo>
                  <a:pt x="0" y="16256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1B9E109-6B1C-8C99-99DF-2B14F797C174}"/>
              </a:ext>
            </a:extLst>
          </p:cNvPr>
          <p:cNvSpPr txBox="1"/>
          <p:nvPr/>
        </p:nvSpPr>
        <p:spPr>
          <a:xfrm flipH="1" flipV="1">
            <a:off x="4737962" y="5459077"/>
            <a:ext cx="6501256" cy="17882"/>
          </a:xfrm>
          <a:prstGeom prst="rect">
            <a:avLst/>
          </a:pr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36301AC-9C68-04D2-022A-B6078AA67A11}"/>
              </a:ext>
            </a:extLst>
          </p:cNvPr>
          <p:cNvSpPr txBox="1"/>
          <p:nvPr/>
        </p:nvSpPr>
        <p:spPr>
          <a:xfrm flipH="1">
            <a:off x="10910668" y="1434396"/>
            <a:ext cx="555270" cy="178234"/>
          </a:xfrm>
          <a:custGeom>
            <a:avLst/>
            <a:gdLst>
              <a:gd name="connsiteX0" fmla="*/ 478289 w 1555248"/>
              <a:gd name="connsiteY0" fmla="*/ 54610 h 332740"/>
              <a:gd name="connsiteX1" fmla="*/ 414004 w 1555248"/>
              <a:gd name="connsiteY1" fmla="*/ 118109 h 332740"/>
              <a:gd name="connsiteX2" fmla="*/ 472893 w 1555248"/>
              <a:gd name="connsiteY2" fmla="*/ 118109 h 332740"/>
              <a:gd name="connsiteX3" fmla="*/ 537178 w 1555248"/>
              <a:gd name="connsiteY3" fmla="*/ 54610 h 332740"/>
              <a:gd name="connsiteX4" fmla="*/ 355115 w 1555248"/>
              <a:gd name="connsiteY4" fmla="*/ 54610 h 332740"/>
              <a:gd name="connsiteX5" fmla="*/ 290830 w 1555248"/>
              <a:gd name="connsiteY5" fmla="*/ 118109 h 332740"/>
              <a:gd name="connsiteX6" fmla="*/ 349719 w 1555248"/>
              <a:gd name="connsiteY6" fmla="*/ 118109 h 332740"/>
              <a:gd name="connsiteX7" fmla="*/ 414004 w 1555248"/>
              <a:gd name="connsiteY7" fmla="*/ 54610 h 332740"/>
              <a:gd name="connsiteX8" fmla="*/ 231941 w 1555248"/>
              <a:gd name="connsiteY8" fmla="*/ 54610 h 332740"/>
              <a:gd name="connsiteX9" fmla="*/ 167656 w 1555248"/>
              <a:gd name="connsiteY9" fmla="*/ 118109 h 332740"/>
              <a:gd name="connsiteX10" fmla="*/ 226545 w 1555248"/>
              <a:gd name="connsiteY10" fmla="*/ 118109 h 332740"/>
              <a:gd name="connsiteX11" fmla="*/ 290830 w 1555248"/>
              <a:gd name="connsiteY11" fmla="*/ 54610 h 332740"/>
              <a:gd name="connsiteX12" fmla="*/ 167640 w 1555248"/>
              <a:gd name="connsiteY12" fmla="*/ 0 h 332740"/>
              <a:gd name="connsiteX13" fmla="*/ 1203960 w 1555248"/>
              <a:gd name="connsiteY13" fmla="*/ 0 h 332740"/>
              <a:gd name="connsiteX14" fmla="*/ 1554480 w 1555248"/>
              <a:gd name="connsiteY14" fmla="*/ 152400 h 332740"/>
              <a:gd name="connsiteX15" fmla="*/ 1555248 w 1555248"/>
              <a:gd name="connsiteY15" fmla="*/ 179665 h 332740"/>
              <a:gd name="connsiteX16" fmla="*/ 228600 w 1555248"/>
              <a:gd name="connsiteY16" fmla="*/ 179665 h 332740"/>
              <a:gd name="connsiteX17" fmla="*/ 93188 w 1555248"/>
              <a:gd name="connsiteY17" fmla="*/ 332740 h 332740"/>
              <a:gd name="connsiteX18" fmla="*/ 5080 w 1555248"/>
              <a:gd name="connsiteY18" fmla="*/ 332740 h 332740"/>
              <a:gd name="connsiteX19" fmla="*/ 0 w 1555248"/>
              <a:gd name="connsiteY19" fmla="*/ 162560 h 332740"/>
            </a:gdLst>
            <a:ahLst/>
            <a:cxnLst/>
            <a:rect l="l" t="t" r="r" b="b"/>
            <a:pathLst>
              <a:path w="1555248" h="332740">
                <a:moveTo>
                  <a:pt x="478289" y="54610"/>
                </a:moveTo>
                <a:lnTo>
                  <a:pt x="414004" y="118109"/>
                </a:lnTo>
                <a:lnTo>
                  <a:pt x="472893" y="118109"/>
                </a:lnTo>
                <a:lnTo>
                  <a:pt x="537178" y="54610"/>
                </a:lnTo>
                <a:close/>
                <a:moveTo>
                  <a:pt x="355115" y="54610"/>
                </a:moveTo>
                <a:lnTo>
                  <a:pt x="290830" y="118109"/>
                </a:lnTo>
                <a:lnTo>
                  <a:pt x="349719" y="118109"/>
                </a:lnTo>
                <a:lnTo>
                  <a:pt x="414004" y="54610"/>
                </a:lnTo>
                <a:close/>
                <a:moveTo>
                  <a:pt x="231941" y="54610"/>
                </a:moveTo>
                <a:lnTo>
                  <a:pt x="167656" y="118109"/>
                </a:lnTo>
                <a:lnTo>
                  <a:pt x="226545" y="118109"/>
                </a:lnTo>
                <a:lnTo>
                  <a:pt x="290830" y="54610"/>
                </a:lnTo>
                <a:close/>
                <a:moveTo>
                  <a:pt x="167640" y="0"/>
                </a:moveTo>
                <a:lnTo>
                  <a:pt x="1203960" y="0"/>
                </a:lnTo>
                <a:lnTo>
                  <a:pt x="1554480" y="152400"/>
                </a:lnTo>
                <a:lnTo>
                  <a:pt x="1555248" y="179665"/>
                </a:lnTo>
                <a:lnTo>
                  <a:pt x="228600" y="179665"/>
                </a:lnTo>
                <a:lnTo>
                  <a:pt x="93188" y="332740"/>
                </a:lnTo>
                <a:lnTo>
                  <a:pt x="5080" y="332740"/>
                </a:lnTo>
                <a:lnTo>
                  <a:pt x="0" y="16256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A7B64D6-02E9-58DF-3F9B-C65624CDBAB0}"/>
              </a:ext>
            </a:extLst>
          </p:cNvPr>
          <p:cNvSpPr txBox="1"/>
          <p:nvPr/>
        </p:nvSpPr>
        <p:spPr>
          <a:xfrm>
            <a:off x="4482074" y="1515920"/>
            <a:ext cx="6719389" cy="13824"/>
          </a:xfrm>
          <a:prstGeom prst="rect">
            <a:avLst/>
          </a:prstGeom>
          <a:solidFill>
            <a:schemeClr val="accent1"/>
          </a:solidFill>
          <a:ln w="1905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3F724AA-3AE5-48F9-202C-6DA505A76A8A}"/>
              </a:ext>
            </a:extLst>
          </p:cNvPr>
          <p:cNvSpPr txBox="1"/>
          <p:nvPr/>
        </p:nvSpPr>
        <p:spPr>
          <a:xfrm>
            <a:off x="5745477" y="1627680"/>
            <a:ext cx="3825242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9600">
                <a:ln w="19050">
                  <a:noFill/>
                </a:ln>
                <a:gradFill>
                  <a:gsLst>
                    <a:gs pos="26000">
                      <a:srgbClr val="00A295">
                        <a:alpha val="100000"/>
                      </a:srgbClr>
                    </a:gs>
                    <a:gs pos="100000">
                      <a:srgbClr val="2EFFEE">
                        <a:alpha val="100000"/>
                      </a:srgbClr>
                    </a:gs>
                  </a:gsLst>
                  <a:lin ang="13500000" scaled="0"/>
                </a:gradFill>
                <a:latin typeface="Segoe UI Light" panose="020B0502040204020203" pitchFamily="34" charset="0"/>
                <a:ea typeface="微软雅黑 Light" panose="020B0502040204020203" pitchFamily="34" charset="-122"/>
                <a:cs typeface="OPPOSans H"/>
              </a:rPr>
              <a:t>Part</a:t>
            </a:r>
            <a:endParaRPr kumimoji="1" lang="zh-CN" altLang="en-US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5AA51F4-4E8A-D30A-4EB0-9F7EAC96BE1D}"/>
              </a:ext>
            </a:extLst>
          </p:cNvPr>
          <p:cNvSpPr txBox="1"/>
          <p:nvPr/>
        </p:nvSpPr>
        <p:spPr>
          <a:xfrm>
            <a:off x="4382500" y="3105302"/>
            <a:ext cx="7083437" cy="22465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r">
              <a:lnSpc>
                <a:spcPct val="130000"/>
              </a:lnSpc>
            </a:pPr>
            <a:r>
              <a:rPr kumimoji="1" lang="zh-CN" altLang="en-US" sz="5400" b="1" dirty="0">
                <a:ln w="19050">
                  <a:noFill/>
                </a:ln>
                <a:solidFill>
                  <a:schemeClr val="bg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rPr>
              <a:t>关键概念</a:t>
            </a:r>
            <a:endParaRPr kumimoji="1" lang="zh-CN" altLang="en-US" b="1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54485A2D-1D35-BC09-1ED9-0B6276F59089}"/>
              </a:ext>
            </a:extLst>
          </p:cNvPr>
          <p:cNvSpPr txBox="1"/>
          <p:nvPr/>
        </p:nvSpPr>
        <p:spPr>
          <a:xfrm>
            <a:off x="237820" y="646520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49BDE23-5F2D-57D4-1C75-DF708E3CD3C4}"/>
              </a:ext>
            </a:extLst>
          </p:cNvPr>
          <p:cNvSpPr txBox="1"/>
          <p:nvPr/>
        </p:nvSpPr>
        <p:spPr>
          <a:xfrm rot="5400000">
            <a:off x="-1172201" y="747543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62DA4238-9314-F7D7-F380-24E8C688DDDA}"/>
              </a:ext>
            </a:extLst>
          </p:cNvPr>
          <p:cNvSpPr txBox="1"/>
          <p:nvPr/>
        </p:nvSpPr>
        <p:spPr>
          <a:xfrm>
            <a:off x="10468936" y="34888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1A39BE91-11ED-CE67-4E91-AFB6F70E4E16}"/>
              </a:ext>
            </a:extLst>
          </p:cNvPr>
          <p:cNvSpPr txBox="1"/>
          <p:nvPr/>
        </p:nvSpPr>
        <p:spPr>
          <a:xfrm rot="5400000" flipH="1" flipV="1">
            <a:off x="9940935" y="-29593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19FBB47D-F4E1-C750-7FEF-127284B9E94D}"/>
              </a:ext>
            </a:extLst>
          </p:cNvPr>
          <p:cNvSpPr txBox="1"/>
          <p:nvPr/>
        </p:nvSpPr>
        <p:spPr>
          <a:xfrm flipH="1">
            <a:off x="8745873" y="646520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ABEF5838-5570-1E10-CB4A-EB23AADE9A09}"/>
              </a:ext>
            </a:extLst>
          </p:cNvPr>
          <p:cNvSpPr txBox="1"/>
          <p:nvPr/>
        </p:nvSpPr>
        <p:spPr>
          <a:xfrm rot="5400000">
            <a:off x="9931096" y="747543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4F2A695E-BC5E-B9ED-17B5-03818EFB9590}"/>
              </a:ext>
            </a:extLst>
          </p:cNvPr>
          <p:cNvSpPr txBox="1"/>
          <p:nvPr/>
        </p:nvSpPr>
        <p:spPr>
          <a:xfrm flipH="1">
            <a:off x="-1723063" y="348887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DC7E5DE4-FC04-71EB-EFBC-0EC8B7DC194C}"/>
              </a:ext>
            </a:extLst>
          </p:cNvPr>
          <p:cNvSpPr txBox="1"/>
          <p:nvPr/>
        </p:nvSpPr>
        <p:spPr>
          <a:xfrm rot="5400000" flipH="1" flipV="1">
            <a:off x="-1169073" y="-295936"/>
            <a:ext cx="3446126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9EFABBF-5832-8546-857A-FD601050DB01}"/>
              </a:ext>
            </a:extLst>
          </p:cNvPr>
          <p:cNvSpPr txBox="1"/>
          <p:nvPr/>
        </p:nvSpPr>
        <p:spPr>
          <a:xfrm>
            <a:off x="4781171" y="1905946"/>
            <a:ext cx="1564413" cy="999741"/>
          </a:xfrm>
          <a:custGeom>
            <a:avLst/>
            <a:gdLst>
              <a:gd name="connsiteX0" fmla="*/ 985393 w 1564413"/>
              <a:gd name="connsiteY0" fmla="*/ 0 h 999741"/>
              <a:gd name="connsiteX1" fmla="*/ 1274903 w 1564413"/>
              <a:gd name="connsiteY1" fmla="*/ 0 h 999741"/>
              <a:gd name="connsiteX2" fmla="*/ 1564413 w 1564413"/>
              <a:gd name="connsiteY2" fmla="*/ 499871 h 999741"/>
              <a:gd name="connsiteX3" fmla="*/ 1274903 w 1564413"/>
              <a:gd name="connsiteY3" fmla="*/ 999741 h 999741"/>
              <a:gd name="connsiteX4" fmla="*/ 985393 w 1564413"/>
              <a:gd name="connsiteY4" fmla="*/ 999741 h 999741"/>
              <a:gd name="connsiteX5" fmla="*/ 1274903 w 1564413"/>
              <a:gd name="connsiteY5" fmla="*/ 499871 h 999741"/>
              <a:gd name="connsiteX6" fmla="*/ 510627 w 1564413"/>
              <a:gd name="connsiteY6" fmla="*/ 0 h 999741"/>
              <a:gd name="connsiteX7" fmla="*/ 800137 w 1564413"/>
              <a:gd name="connsiteY7" fmla="*/ 0 h 999741"/>
              <a:gd name="connsiteX8" fmla="*/ 1089647 w 1564413"/>
              <a:gd name="connsiteY8" fmla="*/ 499871 h 999741"/>
              <a:gd name="connsiteX9" fmla="*/ 800137 w 1564413"/>
              <a:gd name="connsiteY9" fmla="*/ 999741 h 999741"/>
              <a:gd name="connsiteX10" fmla="*/ 510627 w 1564413"/>
              <a:gd name="connsiteY10" fmla="*/ 999741 h 999741"/>
              <a:gd name="connsiteX11" fmla="*/ 800137 w 1564413"/>
              <a:gd name="connsiteY11" fmla="*/ 499871 h 999741"/>
              <a:gd name="connsiteX12" fmla="*/ 0 w 1564413"/>
              <a:gd name="connsiteY12" fmla="*/ 0 h 999741"/>
              <a:gd name="connsiteX13" fmla="*/ 289510 w 1564413"/>
              <a:gd name="connsiteY13" fmla="*/ 0 h 999741"/>
              <a:gd name="connsiteX14" fmla="*/ 579020 w 1564413"/>
              <a:gd name="connsiteY14" fmla="*/ 499871 h 999741"/>
              <a:gd name="connsiteX15" fmla="*/ 289510 w 1564413"/>
              <a:gd name="connsiteY15" fmla="*/ 999741 h 999741"/>
              <a:gd name="connsiteX16" fmla="*/ 0 w 1564413"/>
              <a:gd name="connsiteY16" fmla="*/ 999741 h 999741"/>
              <a:gd name="connsiteX17" fmla="*/ 289510 w 1564413"/>
              <a:gd name="connsiteY17" fmla="*/ 499871 h 999741"/>
            </a:gdLst>
            <a:ahLst/>
            <a:cxnLst/>
            <a:rect l="l" t="t" r="r" b="b"/>
            <a:pathLst>
              <a:path w="1564413" h="999741">
                <a:moveTo>
                  <a:pt x="985393" y="0"/>
                </a:moveTo>
                <a:lnTo>
                  <a:pt x="1274903" y="0"/>
                </a:lnTo>
                <a:lnTo>
                  <a:pt x="1564413" y="499871"/>
                </a:lnTo>
                <a:lnTo>
                  <a:pt x="1274903" y="999741"/>
                </a:lnTo>
                <a:lnTo>
                  <a:pt x="985393" y="999741"/>
                </a:lnTo>
                <a:lnTo>
                  <a:pt x="1274903" y="499871"/>
                </a:lnTo>
                <a:close/>
                <a:moveTo>
                  <a:pt x="510627" y="0"/>
                </a:moveTo>
                <a:lnTo>
                  <a:pt x="800137" y="0"/>
                </a:lnTo>
                <a:lnTo>
                  <a:pt x="1089647" y="499871"/>
                </a:lnTo>
                <a:lnTo>
                  <a:pt x="800137" y="999741"/>
                </a:lnTo>
                <a:lnTo>
                  <a:pt x="510627" y="999741"/>
                </a:lnTo>
                <a:lnTo>
                  <a:pt x="800137" y="499871"/>
                </a:lnTo>
                <a:close/>
                <a:moveTo>
                  <a:pt x="0" y="0"/>
                </a:moveTo>
                <a:lnTo>
                  <a:pt x="289510" y="0"/>
                </a:lnTo>
                <a:lnTo>
                  <a:pt x="579020" y="499871"/>
                </a:lnTo>
                <a:lnTo>
                  <a:pt x="289510" y="999741"/>
                </a:lnTo>
                <a:lnTo>
                  <a:pt x="0" y="999741"/>
                </a:lnTo>
                <a:lnTo>
                  <a:pt x="289510" y="499871"/>
                </a:lnTo>
                <a:close/>
              </a:path>
            </a:pathLst>
          </a:custGeom>
          <a:solidFill>
            <a:schemeClr val="accent1">
              <a:alpha val="29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2A9642B-CED9-6637-8861-75F17DA597BF}"/>
              </a:ext>
            </a:extLst>
          </p:cNvPr>
          <p:cNvSpPr txBox="1"/>
          <p:nvPr/>
        </p:nvSpPr>
        <p:spPr>
          <a:xfrm>
            <a:off x="9069049" y="1448220"/>
            <a:ext cx="2326424" cy="17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9600" dirty="0">
                <a:ln w="19050">
                  <a:noFill/>
                </a:ln>
                <a:gradFill>
                  <a:gsLst>
                    <a:gs pos="26000">
                      <a:srgbClr val="00A295">
                        <a:alpha val="100000"/>
                      </a:srgbClr>
                    </a:gs>
                    <a:gs pos="100000">
                      <a:srgbClr val="2EFFEE">
                        <a:alpha val="100000"/>
                      </a:srgbClr>
                    </a:gs>
                  </a:gsLst>
                  <a:lin ang="13500000" scaled="0"/>
                </a:gradFill>
                <a:latin typeface="Segoe UI Light" panose="020B0502040204020203" pitchFamily="34" charset="0"/>
                <a:ea typeface="微软雅黑 Light" panose="020B0502040204020203" pitchFamily="34" charset="-122"/>
                <a:cs typeface="OPPOSans H"/>
              </a:rPr>
              <a:t>02</a:t>
            </a:r>
            <a:endParaRPr kumimoji="1"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6590609F-7CAF-081F-2566-58C5B3851124}"/>
              </a:ext>
            </a:extLst>
          </p:cNvPr>
          <p:cNvSpPr txBox="1"/>
          <p:nvPr/>
        </p:nvSpPr>
        <p:spPr>
          <a:xfrm>
            <a:off x="1767698" y="673384"/>
            <a:ext cx="6965164" cy="4571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357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F68C-B1D8-FB7C-3460-E0AAD6A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F0ACF2D3-90CF-BE3D-C29C-9064FBCF472E}"/>
              </a:ext>
            </a:extLst>
          </p:cNvPr>
          <p:cNvSpPr txBox="1"/>
          <p:nvPr/>
        </p:nvSpPr>
        <p:spPr>
          <a:xfrm>
            <a:off x="172720" y="247319"/>
            <a:ext cx="11442700" cy="5430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Source Han Sans CN Bold" panose="020B0800000000000000" charset="-122"/>
              </a:rPr>
              <a:t>模糊函数</a:t>
            </a:r>
            <a:endParaRPr kumimoji="1" lang="zh-CN" altLang="en-US" dirty="0">
              <a:latin typeface="Segoe UI Light" panose="020B0502040204020203" pitchFamily="34" charset="0"/>
              <a:ea typeface="微软雅黑 Light" panose="020B0502040204020203" pitchFamily="34" charset="-122"/>
            </a:endParaRPr>
          </a:p>
        </p:txBody>
      </p:sp>
      <p:cxnSp>
        <p:nvCxnSpPr>
          <p:cNvPr id="14" name="标题 1">
            <a:extLst>
              <a:ext uri="{FF2B5EF4-FFF2-40B4-BE49-F238E27FC236}">
                <a16:creationId xmlns:a16="http://schemas.microsoft.com/office/drawing/2014/main" id="{A1284574-7AEF-8349-3F35-311C0B1CC4F7}"/>
              </a:ext>
            </a:extLst>
          </p:cNvPr>
          <p:cNvCxnSpPr/>
          <p:nvPr/>
        </p:nvCxnSpPr>
        <p:spPr>
          <a:xfrm>
            <a:off x="312738" y="770539"/>
            <a:ext cx="11307762" cy="0"/>
          </a:xfrm>
          <a:prstGeom prst="line">
            <a:avLst/>
          </a:prstGeom>
          <a:noFill/>
          <a:ln w="6350" cap="rnd">
            <a:solidFill>
              <a:schemeClr val="bg1">
                <a:lumMod val="65000"/>
              </a:schemeClr>
            </a:solidFill>
            <a:round/>
          </a:ln>
        </p:spPr>
      </p:cxnSp>
      <p:cxnSp>
        <p:nvCxnSpPr>
          <p:cNvPr id="15" name="标题 1">
            <a:extLst>
              <a:ext uri="{FF2B5EF4-FFF2-40B4-BE49-F238E27FC236}">
                <a16:creationId xmlns:a16="http://schemas.microsoft.com/office/drawing/2014/main" id="{37872913-6E4E-7543-35B3-A3F500F3FA5A}"/>
              </a:ext>
            </a:extLst>
          </p:cNvPr>
          <p:cNvCxnSpPr/>
          <p:nvPr/>
        </p:nvCxnSpPr>
        <p:spPr>
          <a:xfrm>
            <a:off x="312738" y="770539"/>
            <a:ext cx="652463" cy="0"/>
          </a:xfrm>
          <a:prstGeom prst="line">
            <a:avLst/>
          </a:prstGeom>
          <a:noFill/>
          <a:ln w="44450" cap="sq">
            <a:solidFill>
              <a:schemeClr val="accent1"/>
            </a:solidFill>
            <a:round/>
          </a:ln>
        </p:spPr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BE2AD9C2-7F0C-2B13-0A26-3CAE4F2F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1002457"/>
            <a:ext cx="7667501" cy="135204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DC7B846-62D7-2E07-BC72-54E8C34C77AD}"/>
              </a:ext>
            </a:extLst>
          </p:cNvPr>
          <p:cNvSpPr txBox="1"/>
          <p:nvPr/>
        </p:nvSpPr>
        <p:spPr>
          <a:xfrm>
            <a:off x="638969" y="3584737"/>
            <a:ext cx="47026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b="0" i="0" dirty="0">
                <a:solidFill>
                  <a:srgbClr val="111111"/>
                </a:solidFill>
                <a:effectLst/>
                <a:latin typeface="-apple-system"/>
              </a:rPr>
              <a:t>τ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取值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-apple-system"/>
              </a:rPr>
              <a:t>1-6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，</a:t>
            </a:r>
            <a:r>
              <a:rPr lang="en-US" altLang="zh-CN" b="0" i="0" dirty="0" err="1">
                <a:solidFill>
                  <a:srgbClr val="111111"/>
                </a:solidFill>
                <a:effectLst/>
                <a:latin typeface="-apple-system"/>
              </a:rPr>
              <a:t>fd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取值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-apple-system"/>
              </a:rPr>
              <a:t>-40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-apple-system"/>
              </a:rPr>
              <a:t>40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（步长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）的情况下计算所有的</a:t>
            </a:r>
            <a:r>
              <a:rPr lang="en-US" altLang="zh-CN" dirty="0">
                <a:solidFill>
                  <a:srgbClr val="111111"/>
                </a:solidFill>
                <a:latin typeface="-apple-system"/>
              </a:rPr>
              <a:t>Cor</a:t>
            </a:r>
            <a:r>
              <a:rPr lang="zh-CN" altLang="en-US" dirty="0">
                <a:solidFill>
                  <a:srgbClr val="111111"/>
                </a:solidFill>
                <a:latin typeface="-apple-system"/>
              </a:rPr>
              <a:t>，计算得出</a:t>
            </a:r>
            <a:r>
              <a:rPr lang="en-US" altLang="zh-CN" dirty="0">
                <a:solidFill>
                  <a:srgbClr val="111111"/>
                </a:solidFill>
                <a:latin typeface="-apple-system"/>
              </a:rPr>
              <a:t>Cor</a:t>
            </a:r>
            <a:r>
              <a:rPr lang="zh-CN" altLang="en-US" dirty="0">
                <a:solidFill>
                  <a:srgbClr val="111111"/>
                </a:solidFill>
                <a:latin typeface="-apple-system"/>
              </a:rPr>
              <a:t>得最大值，即可获得对距离和多普勒频移的最优估计。</a:t>
            </a:r>
            <a:endParaRPr lang="en-US" altLang="zh-CN" dirty="0">
              <a:solidFill>
                <a:srgbClr val="111111"/>
              </a:solidFill>
              <a:latin typeface="-apple-system"/>
            </a:endParaRPr>
          </a:p>
          <a:p>
            <a:endParaRPr lang="en-US" altLang="zh-CN" dirty="0">
              <a:solidFill>
                <a:srgbClr val="111111"/>
              </a:solidFill>
              <a:latin typeface="-apple-system"/>
            </a:endParaRPr>
          </a:p>
          <a:p>
            <a:r>
              <a:rPr lang="zh-CN" altLang="en-US" dirty="0">
                <a:solidFill>
                  <a:srgbClr val="111111"/>
                </a:solidFill>
                <a:latin typeface="-apple-system"/>
              </a:rPr>
              <a:t>选取最大值对应的（</a:t>
            </a:r>
            <a:r>
              <a:rPr lang="el-GR" altLang="zh-CN" b="0" i="0" dirty="0">
                <a:solidFill>
                  <a:srgbClr val="111111"/>
                </a:solidFill>
                <a:effectLst/>
                <a:latin typeface="-apple-system"/>
              </a:rPr>
              <a:t>τ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，</a:t>
            </a:r>
            <a:r>
              <a:rPr lang="en-US" altLang="zh-CN" b="0" i="0" dirty="0" err="1">
                <a:solidFill>
                  <a:srgbClr val="111111"/>
                </a:solidFill>
                <a:effectLst/>
                <a:latin typeface="-apple-system"/>
              </a:rPr>
              <a:t>fd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）作为估计值，由此绘制距离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-apple-system"/>
              </a:rPr>
              <a:t>/</a:t>
            </a:r>
            <a:r>
              <a:rPr lang="zh-CN" altLang="en-US" dirty="0">
                <a:solidFill>
                  <a:srgbClr val="111111"/>
                </a:solidFill>
                <a:latin typeface="-apple-system"/>
              </a:rPr>
              <a:t>时间</a:t>
            </a:r>
            <a:r>
              <a:rPr lang="en-US" altLang="zh-CN" dirty="0">
                <a:solidFill>
                  <a:srgbClr val="111111"/>
                </a:solidFill>
                <a:latin typeface="-apple-system"/>
              </a:rPr>
              <a:t>-</a:t>
            </a:r>
            <a:r>
              <a:rPr lang="zh-CN" altLang="en-US" dirty="0">
                <a:solidFill>
                  <a:srgbClr val="111111"/>
                </a:solidFill>
                <a:latin typeface="-apple-system"/>
              </a:rPr>
              <a:t>多普勒谱，判断运动轨迹。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3FD42B1-C164-3E2D-6C03-21E532365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878" y="2566540"/>
            <a:ext cx="6173542" cy="296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67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155</Words>
  <Application>Microsoft Office PowerPoint</Application>
  <PresentationFormat>宽屏</PresentationFormat>
  <Paragraphs>27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-apple-system</vt:lpstr>
      <vt:lpstr>等线 Light</vt:lpstr>
      <vt:lpstr>Arial</vt:lpstr>
      <vt:lpstr>Segoe UI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衍宁 何</dc:creator>
  <cp:lastModifiedBy>衍宁 何</cp:lastModifiedBy>
  <cp:revision>2</cp:revision>
  <dcterms:created xsi:type="dcterms:W3CDTF">2024-12-24T16:13:02Z</dcterms:created>
  <dcterms:modified xsi:type="dcterms:W3CDTF">2024-12-24T16:29:57Z</dcterms:modified>
</cp:coreProperties>
</file>