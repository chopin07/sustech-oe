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29" r:id="rId2"/>
    <p:sldId id="330" r:id="rId3"/>
    <p:sldId id="267" r:id="rId4"/>
    <p:sldId id="319" r:id="rId5"/>
    <p:sldId id="320" r:id="rId6"/>
    <p:sldId id="321" r:id="rId7"/>
    <p:sldId id="318" r:id="rId8"/>
    <p:sldId id="322" r:id="rId9"/>
    <p:sldId id="323" r:id="rId10"/>
    <p:sldId id="324" r:id="rId11"/>
    <p:sldId id="327"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5" d="100"/>
          <a:sy n="55" d="100"/>
        </p:scale>
        <p:origin x="1830" y="1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02E83-4E0C-45C1-B60C-717CCE98CA4B}" type="datetimeFigureOut">
              <a:rPr lang="zh-CN" altLang="en-US" smtClean="0"/>
              <a:t>2024/12/24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8FCD6-AEE5-4A0B-9040-D580BDF07812}" type="slidenum">
              <a:rPr lang="zh-CN" altLang="en-US" smtClean="0"/>
              <a:t>‹#›</a:t>
            </a:fld>
            <a:endParaRPr lang="zh-CN" altLang="en-US"/>
          </a:p>
        </p:txBody>
      </p:sp>
    </p:spTree>
    <p:extLst>
      <p:ext uri="{BB962C8B-B14F-4D97-AF65-F5344CB8AC3E}">
        <p14:creationId xmlns:p14="http://schemas.microsoft.com/office/powerpoint/2010/main" val="861839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3BE6-B75B-29AE-1BE9-0E324A5356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1FCF8A-B4F3-A573-646C-C9C55D9F99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890B4F-5A7C-318C-470E-FB6220B27FA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3DD4BE-CB5C-E983-7FCC-8A4DEDFEE404}"/>
              </a:ext>
            </a:extLst>
          </p:cNvPr>
          <p:cNvSpPr>
            <a:spLocks noGrp="1"/>
          </p:cNvSpPr>
          <p:nvPr>
            <p:ph type="sldNum" sz="quarter" idx="5"/>
          </p:nvPr>
        </p:nvSpPr>
        <p:spPr/>
        <p:txBody>
          <a:bodyPr/>
          <a:lstStyle/>
          <a:p>
            <a:fld id="{875D7FF5-371F-42D4-B9F3-5E233BFAA047}" type="slidenum">
              <a:rPr lang="zh-CN" altLang="en-US" smtClean="0"/>
              <a:t>1</a:t>
            </a:fld>
            <a:endParaRPr lang="zh-CN" altLang="en-US"/>
          </a:p>
        </p:txBody>
      </p:sp>
    </p:spTree>
    <p:extLst>
      <p:ext uri="{BB962C8B-B14F-4D97-AF65-F5344CB8AC3E}">
        <p14:creationId xmlns:p14="http://schemas.microsoft.com/office/powerpoint/2010/main" val="308562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4EBCD-3BFD-7EE9-9038-65ABA72EB3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283D92-4410-813C-0326-FF5CA1CD5B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5AA9FA-6FD3-1797-1230-75C46ACA7F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CBAF89B-B546-75EC-5AC4-87ED8DAFDB2D}"/>
              </a:ext>
            </a:extLst>
          </p:cNvPr>
          <p:cNvSpPr>
            <a:spLocks noGrp="1"/>
          </p:cNvSpPr>
          <p:nvPr>
            <p:ph type="sldNum" sz="quarter" idx="5"/>
          </p:nvPr>
        </p:nvSpPr>
        <p:spPr/>
        <p:txBody>
          <a:bodyPr/>
          <a:lstStyle/>
          <a:p>
            <a:fld id="{875D7FF5-371F-42D4-B9F3-5E233BFAA047}" type="slidenum">
              <a:rPr lang="zh-CN" altLang="en-US" smtClean="0"/>
              <a:t>2</a:t>
            </a:fld>
            <a:endParaRPr lang="zh-CN" altLang="en-US"/>
          </a:p>
        </p:txBody>
      </p:sp>
    </p:spTree>
    <p:extLst>
      <p:ext uri="{BB962C8B-B14F-4D97-AF65-F5344CB8AC3E}">
        <p14:creationId xmlns:p14="http://schemas.microsoft.com/office/powerpoint/2010/main" val="1259359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37150-7836-E7C6-7BA6-C9F9A0FA2D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5FBC6E-1D9E-65DF-EEF2-7D86CC5D14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0D0663-D965-0A1C-904C-C86BD2C0DBA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8B40E27-EF17-3F5D-F235-AF226EF7696D}"/>
              </a:ext>
            </a:extLst>
          </p:cNvPr>
          <p:cNvSpPr>
            <a:spLocks noGrp="1"/>
          </p:cNvSpPr>
          <p:nvPr>
            <p:ph type="sldNum" sz="quarter" idx="5"/>
          </p:nvPr>
        </p:nvSpPr>
        <p:spPr/>
        <p:txBody>
          <a:bodyPr/>
          <a:lstStyle/>
          <a:p>
            <a:fld id="{875D7FF5-371F-42D4-B9F3-5E233BFAA047}" type="slidenum">
              <a:rPr lang="zh-CN" altLang="en-US" smtClean="0"/>
              <a:t>4</a:t>
            </a:fld>
            <a:endParaRPr lang="zh-CN" altLang="en-US"/>
          </a:p>
        </p:txBody>
      </p:sp>
    </p:spTree>
    <p:extLst>
      <p:ext uri="{BB962C8B-B14F-4D97-AF65-F5344CB8AC3E}">
        <p14:creationId xmlns:p14="http://schemas.microsoft.com/office/powerpoint/2010/main" val="276891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94793-5D50-A001-F980-BFB85E9C45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D5EE7B-B72E-F385-8635-2718EC75E7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7B8BC7-A2EE-F742-C2A7-15A21C6598C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27877ED-15B8-AD93-BDDD-CACF1879FC09}"/>
              </a:ext>
            </a:extLst>
          </p:cNvPr>
          <p:cNvSpPr>
            <a:spLocks noGrp="1"/>
          </p:cNvSpPr>
          <p:nvPr>
            <p:ph type="sldNum" sz="quarter" idx="5"/>
          </p:nvPr>
        </p:nvSpPr>
        <p:spPr/>
        <p:txBody>
          <a:bodyPr/>
          <a:lstStyle/>
          <a:p>
            <a:fld id="{875D7FF5-371F-42D4-B9F3-5E233BFAA047}" type="slidenum">
              <a:rPr lang="zh-CN" altLang="en-US" smtClean="0"/>
              <a:t>8</a:t>
            </a:fld>
            <a:endParaRPr lang="zh-CN" altLang="en-US"/>
          </a:p>
        </p:txBody>
      </p:sp>
    </p:spTree>
    <p:extLst>
      <p:ext uri="{BB962C8B-B14F-4D97-AF65-F5344CB8AC3E}">
        <p14:creationId xmlns:p14="http://schemas.microsoft.com/office/powerpoint/2010/main" val="1184006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93A1A-0414-090E-86D1-1642265869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ECBF3E-9861-B0DC-19D6-D453F79F3F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24BF31-983F-3710-2CBF-6D64BBD078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39B85C5-A298-0D62-9B6D-404AB2C0FF1B}"/>
              </a:ext>
            </a:extLst>
          </p:cNvPr>
          <p:cNvSpPr>
            <a:spLocks noGrp="1"/>
          </p:cNvSpPr>
          <p:nvPr>
            <p:ph type="sldNum" sz="quarter" idx="5"/>
          </p:nvPr>
        </p:nvSpPr>
        <p:spPr/>
        <p:txBody>
          <a:bodyPr/>
          <a:lstStyle/>
          <a:p>
            <a:fld id="{875D7FF5-371F-42D4-B9F3-5E233BFAA047}" type="slidenum">
              <a:rPr lang="zh-CN" altLang="en-US" smtClean="0"/>
              <a:t>9</a:t>
            </a:fld>
            <a:endParaRPr lang="zh-CN" altLang="en-US"/>
          </a:p>
        </p:txBody>
      </p:sp>
    </p:spTree>
    <p:extLst>
      <p:ext uri="{BB962C8B-B14F-4D97-AF65-F5344CB8AC3E}">
        <p14:creationId xmlns:p14="http://schemas.microsoft.com/office/powerpoint/2010/main" val="2229417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EA7FB9-3C78-8E7A-5BBC-68AD86FAA9C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B5920D2-3941-E4D4-70CE-8F05499E5E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CFAD283-F253-5543-5370-23D5578DF171}"/>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5" name="页脚占位符 4">
            <a:extLst>
              <a:ext uri="{FF2B5EF4-FFF2-40B4-BE49-F238E27FC236}">
                <a16:creationId xmlns:a16="http://schemas.microsoft.com/office/drawing/2014/main" id="{A2A223E2-A2D6-1CBF-EB6B-25DA288FA4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C378A8-7348-1700-874A-FAC2DF60952C}"/>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2609298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7271A5-9949-F74A-34EB-7937E3B0B57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DDD5784-064F-52A7-1ED2-6F6FE61BFA7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EADBA3-878F-8618-ACC0-D1A6AB2E924F}"/>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5" name="页脚占位符 4">
            <a:extLst>
              <a:ext uri="{FF2B5EF4-FFF2-40B4-BE49-F238E27FC236}">
                <a16:creationId xmlns:a16="http://schemas.microsoft.com/office/drawing/2014/main" id="{EB1C4722-2661-480B-43AF-CE9DDF2B0E6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110FC4E-A831-14F7-2049-7A3FDB76E95F}"/>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1308384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45D0C-E092-4906-7EE1-85B092A1A82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A3401C6-5E68-1723-F482-7C6411F5A7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D5C9F58-2186-11AD-BE67-CCD6305F5439}"/>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5" name="页脚占位符 4">
            <a:extLst>
              <a:ext uri="{FF2B5EF4-FFF2-40B4-BE49-F238E27FC236}">
                <a16:creationId xmlns:a16="http://schemas.microsoft.com/office/drawing/2014/main" id="{C97A9599-4D2D-9008-93C1-5FEF6E2E6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F43D38-F69A-EE2A-BCBA-26A2B3CBDBE3}"/>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3867102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F5622B-C38D-873E-1F26-378C33BFE9C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2A49F6-10A2-D582-98A1-028EB6FEEB6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0CEC320-8C12-BE46-F343-E960C83797E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6605919-0EB6-C606-3E35-1509F3391C61}"/>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6" name="页脚占位符 5">
            <a:extLst>
              <a:ext uri="{FF2B5EF4-FFF2-40B4-BE49-F238E27FC236}">
                <a16:creationId xmlns:a16="http://schemas.microsoft.com/office/drawing/2014/main" id="{AB3E9DAA-A749-F457-4588-67020FF1578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50D6BD-E485-1249-B18A-1ED7FAD4E947}"/>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244539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53725F-99ED-2CCB-CE95-AB0DE2185F9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323920F-3AE1-4CED-FD98-BE0659961D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4C5927F-87C0-70A8-56AC-E70B844E62F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1695796-6BB6-FA16-943F-D357497528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54D0065-4BF0-3D02-9661-C2B2103CACE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701FB43-08EA-2965-1743-419D12D84D41}"/>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8" name="页脚占位符 7">
            <a:extLst>
              <a:ext uri="{FF2B5EF4-FFF2-40B4-BE49-F238E27FC236}">
                <a16:creationId xmlns:a16="http://schemas.microsoft.com/office/drawing/2014/main" id="{148D5313-8330-8DC6-3D52-63D71900A61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7C7D521-592A-6E7D-2CAE-45A9EBA43A56}"/>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2503222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28D93-52BC-E826-979A-4B3512FB364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4A15797-7C11-6AE9-6DFD-8ABD6DEDD566}"/>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4" name="页脚占位符 3">
            <a:extLst>
              <a:ext uri="{FF2B5EF4-FFF2-40B4-BE49-F238E27FC236}">
                <a16:creationId xmlns:a16="http://schemas.microsoft.com/office/drawing/2014/main" id="{B012BFD9-D37B-478A-2B17-E2F45C57C85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0A5F600-0EF1-8867-6B0A-EA1924CDE970}"/>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3060572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5B5E7D1-C545-6D56-AA6E-B78A962A536C}"/>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3" name="页脚占位符 2">
            <a:extLst>
              <a:ext uri="{FF2B5EF4-FFF2-40B4-BE49-F238E27FC236}">
                <a16:creationId xmlns:a16="http://schemas.microsoft.com/office/drawing/2014/main" id="{06B04D7C-6728-E965-8652-7359E04FD3B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67BD111-D591-C041-CA93-72D7D6B539FD}"/>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336913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707083-640B-81C7-41B1-CD7D93FCBBD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09AA623-FAA3-966F-C11E-DC75C837C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E672BA9-93A5-D576-9D5E-A489AE7649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AC2720-1070-BFB8-DC7B-67F85AEF842A}"/>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6" name="页脚占位符 5">
            <a:extLst>
              <a:ext uri="{FF2B5EF4-FFF2-40B4-BE49-F238E27FC236}">
                <a16:creationId xmlns:a16="http://schemas.microsoft.com/office/drawing/2014/main" id="{CCC7E37C-745E-FA7D-6EBA-D55DCADF630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61C8F7-6987-5BAE-5A0A-D667E11196D6}"/>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4271863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99F590-5C9A-0BB4-F021-3503A6D0135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0733A26-C690-E616-FDE3-9B5FCB37E7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ACC24CB-0073-3B22-A13A-04BF170137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91A1D3E-D3D4-1AC2-AB68-EB9E7A5707F5}"/>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6" name="页脚占位符 5">
            <a:extLst>
              <a:ext uri="{FF2B5EF4-FFF2-40B4-BE49-F238E27FC236}">
                <a16:creationId xmlns:a16="http://schemas.microsoft.com/office/drawing/2014/main" id="{5B840B5B-3C5A-7AA2-B387-AD8C3DB94FA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C03A72-CB9E-4D44-D841-04A7C57E3A53}"/>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1333066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6A397D-C126-C3C7-4184-B7877A626C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2960C4-D43A-9E81-4AC6-E3B7D75A251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E63901-263D-9237-EE16-74DB6333A7CF}"/>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5" name="页脚占位符 4">
            <a:extLst>
              <a:ext uri="{FF2B5EF4-FFF2-40B4-BE49-F238E27FC236}">
                <a16:creationId xmlns:a16="http://schemas.microsoft.com/office/drawing/2014/main" id="{CAAA164E-2251-A7B2-1345-502AD60A72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8DFC2B3-7690-6445-4E3D-90414E9A3779}"/>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3707818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6FB3BCE-52B8-2D9C-B9B2-A2E7CB39892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BD3C06F-8693-856D-85F5-B78831659B5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92076B-9EDE-E7A0-0F65-BF82A8D14E5B}"/>
              </a:ext>
            </a:extLst>
          </p:cNvPr>
          <p:cNvSpPr>
            <a:spLocks noGrp="1"/>
          </p:cNvSpPr>
          <p:nvPr>
            <p:ph type="dt" sz="half" idx="10"/>
          </p:nvPr>
        </p:nvSpPr>
        <p:spPr/>
        <p:txBody>
          <a:bodyPr/>
          <a:lstStyle/>
          <a:p>
            <a:fld id="{F314E41F-7418-498F-97F0-C9C60FBD8828}" type="datetimeFigureOut">
              <a:rPr lang="zh-CN" altLang="en-US" smtClean="0"/>
              <a:t>2024/12/24</a:t>
            </a:fld>
            <a:endParaRPr lang="zh-CN" altLang="en-US"/>
          </a:p>
        </p:txBody>
      </p:sp>
      <p:sp>
        <p:nvSpPr>
          <p:cNvPr id="5" name="页脚占位符 4">
            <a:extLst>
              <a:ext uri="{FF2B5EF4-FFF2-40B4-BE49-F238E27FC236}">
                <a16:creationId xmlns:a16="http://schemas.microsoft.com/office/drawing/2014/main" id="{5444857F-CB6B-2E14-94A2-9360FC21B01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E6DE1C-CFBA-6080-839C-F8596B763E0B}"/>
              </a:ext>
            </a:extLst>
          </p:cNvPr>
          <p:cNvSpPr>
            <a:spLocks noGrp="1"/>
          </p:cNvSpPr>
          <p:nvPr>
            <p:ph type="sldNum" sz="quarter" idx="12"/>
          </p:nvPr>
        </p:nvSpPr>
        <p:spPr/>
        <p:txBody>
          <a:body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2603790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1295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D03C59E-D3BC-A114-4FAA-DEB124CE0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970C452-F126-6757-0931-FA49084158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094C94-9784-7EFF-CF6C-61BE17A6E6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14E41F-7418-498F-97F0-C9C60FBD8828}" type="datetimeFigureOut">
              <a:rPr lang="zh-CN" altLang="en-US" smtClean="0"/>
              <a:t>2024/12/24</a:t>
            </a:fld>
            <a:endParaRPr lang="zh-CN" altLang="en-US"/>
          </a:p>
        </p:txBody>
      </p:sp>
      <p:sp>
        <p:nvSpPr>
          <p:cNvPr id="5" name="页脚占位符 4">
            <a:extLst>
              <a:ext uri="{FF2B5EF4-FFF2-40B4-BE49-F238E27FC236}">
                <a16:creationId xmlns:a16="http://schemas.microsoft.com/office/drawing/2014/main" id="{7D9A3218-DE9C-C41B-9491-2CD6BFDFB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153415C-3E9F-E46B-C3CF-EFB0365FDD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A06D5-F49A-4592-8665-D646EF544F53}" type="slidenum">
              <a:rPr lang="zh-CN" altLang="en-US" smtClean="0"/>
              <a:t>‹#›</a:t>
            </a:fld>
            <a:endParaRPr lang="zh-CN" altLang="en-US"/>
          </a:p>
        </p:txBody>
      </p:sp>
    </p:spTree>
    <p:extLst>
      <p:ext uri="{BB962C8B-B14F-4D97-AF65-F5344CB8AC3E}">
        <p14:creationId xmlns:p14="http://schemas.microsoft.com/office/powerpoint/2010/main" val="1597111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4E3B2-DE89-A0CD-1AEB-8818C9C78EF8}"/>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2134F891-B506-ABFB-89A9-FA749F546B4F}"/>
              </a:ext>
            </a:extLst>
          </p:cNvPr>
          <p:cNvSpPr txBox="1"/>
          <p:nvPr/>
        </p:nvSpPr>
        <p:spPr>
          <a:xfrm>
            <a:off x="172720" y="247319"/>
            <a:ext cx="11442700" cy="543097"/>
          </a:xfrm>
          <a:prstGeom prst="rect">
            <a:avLst/>
          </a:prstGeom>
          <a:noFill/>
          <a:ln>
            <a:noFill/>
          </a:ln>
        </p:spPr>
        <p:txBody>
          <a:bodyPr vert="horz" wrap="square" lIns="91440" tIns="45720" rIns="91440" bIns="45720" rtlCol="0" anchor="t">
            <a:spAutoFit/>
          </a:bodyP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数字下变频</a:t>
            </a:r>
            <a:endParaRPr kumimoji="1" lang="zh-CN" altLang="en-US" dirty="0"/>
          </a:p>
        </p:txBody>
      </p:sp>
      <p:cxnSp>
        <p:nvCxnSpPr>
          <p:cNvPr id="14" name="标题 1">
            <a:extLst>
              <a:ext uri="{FF2B5EF4-FFF2-40B4-BE49-F238E27FC236}">
                <a16:creationId xmlns:a16="http://schemas.microsoft.com/office/drawing/2014/main" id="{1E130B60-3EE4-4328-6D5F-BC7C375B6727}"/>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5" name="标题 1">
            <a:extLst>
              <a:ext uri="{FF2B5EF4-FFF2-40B4-BE49-F238E27FC236}">
                <a16:creationId xmlns:a16="http://schemas.microsoft.com/office/drawing/2014/main" id="{05EFB0C3-7017-16B2-56E5-AB36B8016FCF}"/>
              </a:ext>
            </a:extLst>
          </p:cNvPr>
          <p:cNvCxnSpPr/>
          <p:nvPr/>
        </p:nvCxnSpPr>
        <p:spPr>
          <a:xfrm>
            <a:off x="312738" y="770539"/>
            <a:ext cx="652463" cy="0"/>
          </a:xfrm>
          <a:prstGeom prst="line">
            <a:avLst/>
          </a:prstGeom>
          <a:noFill/>
          <a:ln w="44450" cap="sq">
            <a:solidFill>
              <a:schemeClr val="accent1"/>
            </a:solidFill>
            <a:round/>
          </a:ln>
        </p:spPr>
      </p:cxnSp>
      <p:pic>
        <p:nvPicPr>
          <p:cNvPr id="5" name="图片 4">
            <a:extLst>
              <a:ext uri="{FF2B5EF4-FFF2-40B4-BE49-F238E27FC236}">
                <a16:creationId xmlns:a16="http://schemas.microsoft.com/office/drawing/2014/main" id="{5C134FEB-219F-9F4E-C2B9-633338EA8F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34572" y="1130699"/>
            <a:ext cx="4080848" cy="1919496"/>
          </a:xfrm>
          <a:prstGeom prst="rect">
            <a:avLst/>
          </a:prstGeom>
        </p:spPr>
      </p:pic>
      <p:pic>
        <p:nvPicPr>
          <p:cNvPr id="7" name="图片 6">
            <a:extLst>
              <a:ext uri="{FF2B5EF4-FFF2-40B4-BE49-F238E27FC236}">
                <a16:creationId xmlns:a16="http://schemas.microsoft.com/office/drawing/2014/main" id="{F6EFC49B-1251-8654-AF04-6EDA35313D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0006" y="4064001"/>
            <a:ext cx="6556897" cy="1963796"/>
          </a:xfrm>
          <a:prstGeom prst="rect">
            <a:avLst/>
          </a:prstGeom>
        </p:spPr>
      </p:pic>
      <p:sp>
        <p:nvSpPr>
          <p:cNvPr id="8" name="文本框 7">
            <a:extLst>
              <a:ext uri="{FF2B5EF4-FFF2-40B4-BE49-F238E27FC236}">
                <a16:creationId xmlns:a16="http://schemas.microsoft.com/office/drawing/2014/main" id="{F49F9557-D28A-155E-7BB3-239F17F40FF0}"/>
              </a:ext>
            </a:extLst>
          </p:cNvPr>
          <p:cNvSpPr txBox="1"/>
          <p:nvPr/>
        </p:nvSpPr>
        <p:spPr>
          <a:xfrm>
            <a:off x="172720" y="970594"/>
            <a:ext cx="6627223" cy="646331"/>
          </a:xfrm>
          <a:prstGeom prst="rect">
            <a:avLst/>
          </a:prstGeom>
          <a:noFill/>
        </p:spPr>
        <p:txBody>
          <a:bodyPr wrap="square" rtlCol="0">
            <a:spAutoFit/>
          </a:bodyPr>
          <a:lstStyle/>
          <a:p>
            <a:r>
              <a:rPr lang="zh-CN" altLang="en-US" dirty="0"/>
              <a:t>数字下变频指的是将高频信号转换为基带信号的过程。</a:t>
            </a:r>
            <a:endParaRPr lang="en-US" altLang="zh-CN" dirty="0"/>
          </a:p>
          <a:p>
            <a:r>
              <a:rPr lang="zh-CN" altLang="en-US" dirty="0"/>
              <a:t>本项目中，对采集的信号需要进行</a:t>
            </a:r>
            <a:r>
              <a:rPr lang="en-US" altLang="zh-CN" dirty="0" err="1"/>
              <a:t>f</a:t>
            </a:r>
            <a:r>
              <a:rPr lang="en-US" altLang="zh-CN" baseline="-25000" dirty="0" err="1"/>
              <a:t>o</a:t>
            </a:r>
            <a:r>
              <a:rPr lang="en-US" altLang="zh-CN" dirty="0"/>
              <a:t>=-3MHz</a:t>
            </a:r>
            <a:r>
              <a:rPr lang="zh-CN" altLang="en-US" dirty="0"/>
              <a:t>的数字下变频处理。</a:t>
            </a:r>
            <a:endParaRPr lang="zh-CN" altLang="en-US" baseline="-25000" dirty="0"/>
          </a:p>
        </p:txBody>
      </p:sp>
      <p:pic>
        <p:nvPicPr>
          <p:cNvPr id="10" name="图片 9">
            <a:extLst>
              <a:ext uri="{FF2B5EF4-FFF2-40B4-BE49-F238E27FC236}">
                <a16:creationId xmlns:a16="http://schemas.microsoft.com/office/drawing/2014/main" id="{16D166B7-CC8D-41F9-57CD-B68AA31062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720" y="1605595"/>
            <a:ext cx="6863622" cy="1823405"/>
          </a:xfrm>
          <a:prstGeom prst="rect">
            <a:avLst/>
          </a:prstGeom>
        </p:spPr>
      </p:pic>
      <p:sp>
        <p:nvSpPr>
          <p:cNvPr id="11" name="文本框 10">
            <a:extLst>
              <a:ext uri="{FF2B5EF4-FFF2-40B4-BE49-F238E27FC236}">
                <a16:creationId xmlns:a16="http://schemas.microsoft.com/office/drawing/2014/main" id="{E66579F8-57AB-8B35-6FCE-7C43DD1DC6D3}"/>
              </a:ext>
            </a:extLst>
          </p:cNvPr>
          <p:cNvSpPr txBox="1"/>
          <p:nvPr/>
        </p:nvSpPr>
        <p:spPr>
          <a:xfrm>
            <a:off x="505097" y="4064001"/>
            <a:ext cx="4058194" cy="646331"/>
          </a:xfrm>
          <a:prstGeom prst="rect">
            <a:avLst/>
          </a:prstGeom>
          <a:noFill/>
        </p:spPr>
        <p:txBody>
          <a:bodyPr wrap="square" rtlCol="0">
            <a:spAutoFit/>
          </a:bodyPr>
          <a:lstStyle/>
          <a:p>
            <a:r>
              <a:rPr lang="zh-CN" altLang="en-US" dirty="0"/>
              <a:t>经过数字下变频处理，其信号频谱的实际变化为</a:t>
            </a:r>
            <a:r>
              <a:rPr lang="zh-CN" altLang="en-US" b="1" dirty="0"/>
              <a:t>向右平移</a:t>
            </a:r>
            <a:r>
              <a:rPr lang="en-US" altLang="zh-CN" b="1" dirty="0"/>
              <a:t>3MHz</a:t>
            </a:r>
            <a:r>
              <a:rPr lang="zh-CN" altLang="en-US" dirty="0"/>
              <a:t>。</a:t>
            </a:r>
          </a:p>
        </p:txBody>
      </p:sp>
      <p:sp>
        <p:nvSpPr>
          <p:cNvPr id="12" name="文本框 11">
            <a:extLst>
              <a:ext uri="{FF2B5EF4-FFF2-40B4-BE49-F238E27FC236}">
                <a16:creationId xmlns:a16="http://schemas.microsoft.com/office/drawing/2014/main" id="{743EDD85-72D5-6E29-D8C8-E4961121004C}"/>
              </a:ext>
            </a:extLst>
          </p:cNvPr>
          <p:cNvSpPr txBox="1"/>
          <p:nvPr/>
        </p:nvSpPr>
        <p:spPr>
          <a:xfrm>
            <a:off x="5130006" y="3518263"/>
            <a:ext cx="2838337" cy="369332"/>
          </a:xfrm>
          <a:prstGeom prst="rect">
            <a:avLst/>
          </a:prstGeom>
          <a:noFill/>
        </p:spPr>
        <p:txBody>
          <a:bodyPr wrap="square" rtlCol="0">
            <a:spAutoFit/>
          </a:bodyPr>
          <a:lstStyle/>
          <a:p>
            <a:r>
              <a:rPr lang="zh-CN" altLang="en-US" b="1" dirty="0"/>
              <a:t>具体代码如下：</a:t>
            </a:r>
          </a:p>
        </p:txBody>
      </p:sp>
      <p:sp>
        <p:nvSpPr>
          <p:cNvPr id="16" name="文本框 15">
            <a:extLst>
              <a:ext uri="{FF2B5EF4-FFF2-40B4-BE49-F238E27FC236}">
                <a16:creationId xmlns:a16="http://schemas.microsoft.com/office/drawing/2014/main" id="{3A56E30F-6754-325C-C69D-9EA57551F4EE}"/>
              </a:ext>
            </a:extLst>
          </p:cNvPr>
          <p:cNvSpPr txBox="1"/>
          <p:nvPr/>
        </p:nvSpPr>
        <p:spPr>
          <a:xfrm>
            <a:off x="505097" y="5381466"/>
            <a:ext cx="4058194" cy="646331"/>
          </a:xfrm>
          <a:prstGeom prst="rect">
            <a:avLst/>
          </a:prstGeom>
          <a:noFill/>
        </p:spPr>
        <p:txBody>
          <a:bodyPr wrap="square" rtlCol="0">
            <a:spAutoFit/>
          </a:bodyPr>
          <a:lstStyle/>
          <a:p>
            <a:r>
              <a:rPr lang="zh-CN" altLang="en-US" dirty="0"/>
              <a:t>变频后可以将信号所需要部分移动到低频区域，便于后续处理。</a:t>
            </a:r>
          </a:p>
        </p:txBody>
      </p:sp>
    </p:spTree>
    <p:extLst>
      <p:ext uri="{BB962C8B-B14F-4D97-AF65-F5344CB8AC3E}">
        <p14:creationId xmlns:p14="http://schemas.microsoft.com/office/powerpoint/2010/main" val="1603632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5F68C-B1D8-FB7C-3460-E0AAD6AD6EAD}"/>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F0ACF2D3-90CF-BE3D-C29C-9064FBCF472E}"/>
              </a:ext>
            </a:extLst>
          </p:cNvPr>
          <p:cNvSpPr txBox="1"/>
          <p:nvPr/>
        </p:nvSpPr>
        <p:spPr>
          <a:xfrm>
            <a:off x="172720" y="247319"/>
            <a:ext cx="11442700" cy="543097"/>
          </a:xfrm>
          <a:prstGeom prst="rect">
            <a:avLst/>
          </a:prstGeom>
          <a:noFill/>
          <a:ln>
            <a:noFill/>
          </a:ln>
        </p:spPr>
        <p:txBody>
          <a:bodyPr vert="horz" wrap="square" lIns="91440" tIns="45720" rIns="91440" bIns="45720" rtlCol="0" anchor="t">
            <a:spAutoFit/>
          </a:bodyP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低通滤波器</a:t>
            </a:r>
            <a:endParaRPr kumimoji="1" lang="zh-CN" altLang="en-US" dirty="0"/>
          </a:p>
        </p:txBody>
      </p:sp>
      <p:cxnSp>
        <p:nvCxnSpPr>
          <p:cNvPr id="14" name="标题 1">
            <a:extLst>
              <a:ext uri="{FF2B5EF4-FFF2-40B4-BE49-F238E27FC236}">
                <a16:creationId xmlns:a16="http://schemas.microsoft.com/office/drawing/2014/main" id="{A1284574-7AEF-8349-3F35-311C0B1CC4F7}"/>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5" name="标题 1">
            <a:extLst>
              <a:ext uri="{FF2B5EF4-FFF2-40B4-BE49-F238E27FC236}">
                <a16:creationId xmlns:a16="http://schemas.microsoft.com/office/drawing/2014/main" id="{37872913-6E4E-7543-35B3-A3F500F3FA5A}"/>
              </a:ext>
            </a:extLst>
          </p:cNvPr>
          <p:cNvCxnSpPr/>
          <p:nvPr/>
        </p:nvCxnSpPr>
        <p:spPr>
          <a:xfrm>
            <a:off x="312738" y="770539"/>
            <a:ext cx="652463" cy="0"/>
          </a:xfrm>
          <a:prstGeom prst="line">
            <a:avLst/>
          </a:prstGeom>
          <a:noFill/>
          <a:ln w="44450" cap="sq">
            <a:solidFill>
              <a:schemeClr val="accent1"/>
            </a:solidFill>
            <a:round/>
          </a:ln>
        </p:spPr>
      </p:cxnSp>
      <p:sp>
        <p:nvSpPr>
          <p:cNvPr id="2" name="文本框 1">
            <a:extLst>
              <a:ext uri="{FF2B5EF4-FFF2-40B4-BE49-F238E27FC236}">
                <a16:creationId xmlns:a16="http://schemas.microsoft.com/office/drawing/2014/main" id="{51C22FD1-2E76-47E6-9322-B912E508F53A}"/>
              </a:ext>
            </a:extLst>
          </p:cNvPr>
          <p:cNvSpPr txBox="1"/>
          <p:nvPr/>
        </p:nvSpPr>
        <p:spPr>
          <a:xfrm>
            <a:off x="312738" y="949234"/>
            <a:ext cx="6532199" cy="646331"/>
          </a:xfrm>
          <a:prstGeom prst="rect">
            <a:avLst/>
          </a:prstGeom>
          <a:noFill/>
        </p:spPr>
        <p:txBody>
          <a:bodyPr wrap="square" rtlCol="0">
            <a:spAutoFit/>
          </a:bodyPr>
          <a:lstStyle/>
          <a:p>
            <a:r>
              <a:rPr lang="zh-CN" altLang="en-US" dirty="0"/>
              <a:t>低通滤波器对信号中低于某一频率</a:t>
            </a:r>
            <a:r>
              <a:rPr lang="en-US" altLang="zh-CN" dirty="0" err="1"/>
              <a:t>f</a:t>
            </a:r>
            <a:r>
              <a:rPr lang="en-US" altLang="zh-CN" baseline="-25000" dirty="0" err="1"/>
              <a:t>cut</a:t>
            </a:r>
            <a:r>
              <a:rPr lang="zh-CN" altLang="en-US" dirty="0"/>
              <a:t>（低通滤波器的截止频率）的成分均能以常值增益通过，去掉高频部分。</a:t>
            </a:r>
          </a:p>
        </p:txBody>
      </p:sp>
      <p:sp>
        <p:nvSpPr>
          <p:cNvPr id="3" name="文本框 2">
            <a:extLst>
              <a:ext uri="{FF2B5EF4-FFF2-40B4-BE49-F238E27FC236}">
                <a16:creationId xmlns:a16="http://schemas.microsoft.com/office/drawing/2014/main" id="{56A431EC-FDD0-6576-76C4-80AF54E8467E}"/>
              </a:ext>
            </a:extLst>
          </p:cNvPr>
          <p:cNvSpPr txBox="1"/>
          <p:nvPr/>
        </p:nvSpPr>
        <p:spPr>
          <a:xfrm>
            <a:off x="312738" y="1595565"/>
            <a:ext cx="6532199" cy="646331"/>
          </a:xfrm>
          <a:prstGeom prst="rect">
            <a:avLst/>
          </a:prstGeom>
          <a:noFill/>
        </p:spPr>
        <p:txBody>
          <a:bodyPr wrap="square" rtlCol="0">
            <a:spAutoFit/>
          </a:bodyPr>
          <a:lstStyle/>
          <a:p>
            <a:r>
              <a:rPr lang="zh-CN" altLang="en-US" dirty="0"/>
              <a:t>本项目中，我们采用</a:t>
            </a:r>
            <a:r>
              <a:rPr lang="en-US" altLang="zh-CN" dirty="0"/>
              <a:t>butter</a:t>
            </a:r>
            <a:r>
              <a:rPr lang="zh-CN" altLang="en-US" dirty="0"/>
              <a:t>函数编写</a:t>
            </a:r>
            <a:r>
              <a:rPr lang="en-US" altLang="zh-CN" dirty="0"/>
              <a:t>LPF</a:t>
            </a:r>
            <a:r>
              <a:rPr lang="zh-CN" altLang="en-US" dirty="0"/>
              <a:t>，并通过</a:t>
            </a:r>
            <a:r>
              <a:rPr lang="en-US" altLang="zh-CN" dirty="0"/>
              <a:t>filter</a:t>
            </a:r>
            <a:r>
              <a:rPr lang="zh-CN" altLang="en-US" dirty="0"/>
              <a:t>函数对信号进行滤波处理。</a:t>
            </a:r>
          </a:p>
        </p:txBody>
      </p:sp>
      <p:pic>
        <p:nvPicPr>
          <p:cNvPr id="5" name="图片 4">
            <a:extLst>
              <a:ext uri="{FF2B5EF4-FFF2-40B4-BE49-F238E27FC236}">
                <a16:creationId xmlns:a16="http://schemas.microsoft.com/office/drawing/2014/main" id="{055FF6A0-9779-EAE9-A07B-F3FC362ECF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50627" y="811896"/>
            <a:ext cx="3233689" cy="1258265"/>
          </a:xfrm>
          <a:prstGeom prst="rect">
            <a:avLst/>
          </a:prstGeom>
        </p:spPr>
      </p:pic>
      <p:pic>
        <p:nvPicPr>
          <p:cNvPr id="7" name="图片 6">
            <a:extLst>
              <a:ext uri="{FF2B5EF4-FFF2-40B4-BE49-F238E27FC236}">
                <a16:creationId xmlns:a16="http://schemas.microsoft.com/office/drawing/2014/main" id="{9C7B5D7E-42A8-7F6D-E40C-936B77E044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94058" y="2218818"/>
            <a:ext cx="4146828" cy="2202765"/>
          </a:xfrm>
          <a:prstGeom prst="rect">
            <a:avLst/>
          </a:prstGeom>
        </p:spPr>
      </p:pic>
      <p:sp>
        <p:nvSpPr>
          <p:cNvPr id="8" name="文本框 7">
            <a:extLst>
              <a:ext uri="{FF2B5EF4-FFF2-40B4-BE49-F238E27FC236}">
                <a16:creationId xmlns:a16="http://schemas.microsoft.com/office/drawing/2014/main" id="{6857C534-29C1-2B41-E801-674F07DC5572}"/>
              </a:ext>
            </a:extLst>
          </p:cNvPr>
          <p:cNvSpPr txBox="1"/>
          <p:nvPr/>
        </p:nvSpPr>
        <p:spPr>
          <a:xfrm>
            <a:off x="7294058" y="4608171"/>
            <a:ext cx="4619268" cy="1754326"/>
          </a:xfrm>
          <a:prstGeom prst="rect">
            <a:avLst/>
          </a:prstGeom>
          <a:noFill/>
        </p:spPr>
        <p:txBody>
          <a:bodyPr wrap="square" rtlCol="0">
            <a:spAutoFit/>
          </a:bodyPr>
          <a:lstStyle/>
          <a:p>
            <a:r>
              <a:rPr lang="zh-CN" altLang="en-US" dirty="0"/>
              <a:t>巴特沃斯低通滤波器阶数</a:t>
            </a:r>
            <a:r>
              <a:rPr lang="en-US" altLang="zh-CN" dirty="0"/>
              <a:t>n</a:t>
            </a:r>
            <a:r>
              <a:rPr lang="zh-CN" altLang="en-US" dirty="0"/>
              <a:t>越高，滤波器过渡带越陡峭，期中过渡带的陡峭成都正比于滤波器的阶数。</a:t>
            </a:r>
            <a:endParaRPr lang="en-US" altLang="zh-CN" dirty="0"/>
          </a:p>
          <a:p>
            <a:r>
              <a:rPr lang="zh-CN" altLang="en-US" dirty="0"/>
              <a:t>随着阶数</a:t>
            </a:r>
            <a:r>
              <a:rPr lang="en-US" altLang="zh-CN" dirty="0"/>
              <a:t>n</a:t>
            </a:r>
            <a:r>
              <a:rPr lang="zh-CN" altLang="en-US" dirty="0"/>
              <a:t>越高，响应越接近矩形，过渡带越窄，所以高阶巴特沃斯低通滤波器的幅频响应特性就越近于理想低通滤波器</a:t>
            </a:r>
          </a:p>
        </p:txBody>
      </p:sp>
      <p:sp>
        <p:nvSpPr>
          <p:cNvPr id="9" name="文本框 8">
            <a:extLst>
              <a:ext uri="{FF2B5EF4-FFF2-40B4-BE49-F238E27FC236}">
                <a16:creationId xmlns:a16="http://schemas.microsoft.com/office/drawing/2014/main" id="{5A5D62ED-FC0F-3B2B-EDE0-BC2A72A204E4}"/>
              </a:ext>
            </a:extLst>
          </p:cNvPr>
          <p:cNvSpPr txBox="1"/>
          <p:nvPr/>
        </p:nvSpPr>
        <p:spPr>
          <a:xfrm>
            <a:off x="374469" y="2329961"/>
            <a:ext cx="1933302" cy="369332"/>
          </a:xfrm>
          <a:prstGeom prst="rect">
            <a:avLst/>
          </a:prstGeom>
          <a:noFill/>
        </p:spPr>
        <p:txBody>
          <a:bodyPr wrap="square" rtlCol="0">
            <a:spAutoFit/>
          </a:bodyPr>
          <a:lstStyle/>
          <a:p>
            <a:r>
              <a:rPr lang="zh-CN" altLang="en-US" dirty="0"/>
              <a:t>具体代码如下：</a:t>
            </a:r>
          </a:p>
        </p:txBody>
      </p:sp>
      <p:pic>
        <p:nvPicPr>
          <p:cNvPr id="16" name="图片 15">
            <a:extLst>
              <a:ext uri="{FF2B5EF4-FFF2-40B4-BE49-F238E27FC236}">
                <a16:creationId xmlns:a16="http://schemas.microsoft.com/office/drawing/2014/main" id="{7F5FEE81-9636-3A20-23A9-23F056EB45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469" y="3454009"/>
            <a:ext cx="6733674" cy="2031325"/>
          </a:xfrm>
          <a:prstGeom prst="rect">
            <a:avLst/>
          </a:prstGeom>
        </p:spPr>
      </p:pic>
    </p:spTree>
    <p:extLst>
      <p:ext uri="{BB962C8B-B14F-4D97-AF65-F5344CB8AC3E}">
        <p14:creationId xmlns:p14="http://schemas.microsoft.com/office/powerpoint/2010/main" val="3896367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 y="1"/>
            <a:ext cx="12192000" cy="6858000"/>
          </a:xfrm>
          <a:prstGeom prst="rect">
            <a:avLst/>
          </a:prstGeom>
          <a:gradFill>
            <a:gsLst>
              <a:gs pos="14000">
                <a:schemeClr val="accent1">
                  <a:lumMod val="20000"/>
                  <a:lumOff val="80000"/>
                  <a:alpha val="0"/>
                </a:schemeClr>
              </a:gs>
              <a:gs pos="100000">
                <a:schemeClr val="accent1">
                  <a:lumMod val="40000"/>
                  <a:lumOff val="60000"/>
                  <a:alpha val="1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22412" y="5804149"/>
            <a:ext cx="12248030" cy="1053851"/>
          </a:xfrm>
          <a:custGeom>
            <a:avLst/>
            <a:gdLst>
              <a:gd name="connsiteX0" fmla="*/ 0 w 12191999"/>
              <a:gd name="connsiteY0" fmla="*/ 0 h 1053835"/>
              <a:gd name="connsiteX1" fmla="*/ 84912 w 12191999"/>
              <a:gd name="connsiteY1" fmla="*/ 44439 h 1053835"/>
              <a:gd name="connsiteX2" fmla="*/ 6096001 w 12191999"/>
              <a:gd name="connsiteY2" fmla="*/ 918960 h 1053835"/>
              <a:gd name="connsiteX3" fmla="*/ 12107089 w 12191999"/>
              <a:gd name="connsiteY3" fmla="*/ 44439 h 1053835"/>
              <a:gd name="connsiteX4" fmla="*/ 12191999 w 12191999"/>
              <a:gd name="connsiteY4" fmla="*/ 1 h 1053835"/>
              <a:gd name="connsiteX5" fmla="*/ 12191999 w 12191999"/>
              <a:gd name="connsiteY5" fmla="*/ 1053835 h 1053835"/>
              <a:gd name="connsiteX6" fmla="*/ 0 w 12191999"/>
              <a:gd name="connsiteY6" fmla="*/ 1053835 h 1053835"/>
            </a:gdLst>
            <a:ahLst/>
            <a:cxnLst/>
            <a:rect l="l" t="t" r="r" b="b"/>
            <a:pathLst>
              <a:path w="12191999" h="1053835">
                <a:moveTo>
                  <a:pt x="0" y="0"/>
                </a:moveTo>
                <a:lnTo>
                  <a:pt x="84912" y="44439"/>
                </a:lnTo>
                <a:cubicBezTo>
                  <a:pt x="1182612" y="562756"/>
                  <a:pt x="3462028" y="918960"/>
                  <a:pt x="6096001" y="918960"/>
                </a:cubicBezTo>
                <a:cubicBezTo>
                  <a:pt x="8729972" y="918960"/>
                  <a:pt x="11009388" y="562756"/>
                  <a:pt x="12107089" y="44439"/>
                </a:cubicBezTo>
                <a:lnTo>
                  <a:pt x="12191999" y="1"/>
                </a:lnTo>
                <a:lnTo>
                  <a:pt x="12191999" y="1053835"/>
                </a:lnTo>
                <a:lnTo>
                  <a:pt x="0" y="1053835"/>
                </a:lnTo>
                <a:close/>
              </a:path>
            </a:pathLst>
          </a:custGeom>
          <a:solidFill>
            <a:srgbClr val="FFFFFF">
              <a:alpha val="100000"/>
            </a:srgbClr>
          </a:solidFill>
          <a:ln w="254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4" name="标题 1"/>
          <p:cNvSpPr txBox="1"/>
          <p:nvPr/>
        </p:nvSpPr>
        <p:spPr>
          <a:xfrm>
            <a:off x="-10055" y="5826078"/>
            <a:ext cx="12248030" cy="1031922"/>
          </a:xfrm>
          <a:custGeom>
            <a:avLst/>
            <a:gdLst>
              <a:gd name="connsiteX0" fmla="*/ 0 w 12191999"/>
              <a:gd name="connsiteY0" fmla="*/ 0 h 1031906"/>
              <a:gd name="connsiteX1" fmla="*/ 97612 w 12191999"/>
              <a:gd name="connsiteY1" fmla="*/ 51085 h 1031906"/>
              <a:gd name="connsiteX2" fmla="*/ 6108700 w 12191999"/>
              <a:gd name="connsiteY2" fmla="*/ 925606 h 1031906"/>
              <a:gd name="connsiteX3" fmla="*/ 12119789 w 12191999"/>
              <a:gd name="connsiteY3" fmla="*/ 51085 h 1031906"/>
              <a:gd name="connsiteX4" fmla="*/ 12191999 w 12191999"/>
              <a:gd name="connsiteY4" fmla="*/ 13293 h 1031906"/>
              <a:gd name="connsiteX5" fmla="*/ 12191999 w 12191999"/>
              <a:gd name="connsiteY5" fmla="*/ 1031906 h 1031906"/>
              <a:gd name="connsiteX6" fmla="*/ 0 w 12191999"/>
              <a:gd name="connsiteY6" fmla="*/ 1031906 h 1031906"/>
            </a:gdLst>
            <a:ahLst/>
            <a:cxnLst/>
            <a:rect l="l" t="t" r="r" b="b"/>
            <a:pathLst>
              <a:path w="12191999" h="1031906">
                <a:moveTo>
                  <a:pt x="0" y="0"/>
                </a:moveTo>
                <a:lnTo>
                  <a:pt x="97612" y="51085"/>
                </a:lnTo>
                <a:cubicBezTo>
                  <a:pt x="1195312" y="569402"/>
                  <a:pt x="3474728" y="925606"/>
                  <a:pt x="6108700" y="925606"/>
                </a:cubicBezTo>
                <a:cubicBezTo>
                  <a:pt x="8742672" y="925606"/>
                  <a:pt x="11022088" y="569402"/>
                  <a:pt x="12119789" y="51085"/>
                </a:cubicBezTo>
                <a:lnTo>
                  <a:pt x="12191999" y="13293"/>
                </a:lnTo>
                <a:lnTo>
                  <a:pt x="12191999" y="1031906"/>
                </a:lnTo>
                <a:lnTo>
                  <a:pt x="0" y="1031906"/>
                </a:lnTo>
                <a:close/>
              </a:path>
            </a:pathLst>
          </a:custGeom>
          <a:solidFill>
            <a:schemeClr val="accent1"/>
          </a:solidFill>
          <a:ln w="254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5" name="标题 1"/>
          <p:cNvSpPr txBox="1"/>
          <p:nvPr/>
        </p:nvSpPr>
        <p:spPr>
          <a:xfrm>
            <a:off x="895183" y="2902219"/>
            <a:ext cx="5344984" cy="1477122"/>
          </a:xfrm>
          <a:prstGeom prst="roundRect">
            <a:avLst>
              <a:gd name="adj" fmla="val 6926"/>
            </a:avLst>
          </a:prstGeom>
          <a:solidFill>
            <a:schemeClr val="bg1"/>
          </a:solidFill>
          <a:ln w="12700" cap="flat">
            <a:no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sp>
        <p:nvSpPr>
          <p:cNvPr id="6" name="标题 1"/>
          <p:cNvSpPr txBox="1"/>
          <p:nvPr/>
        </p:nvSpPr>
        <p:spPr>
          <a:xfrm>
            <a:off x="1903611" y="3002821"/>
            <a:ext cx="4102340" cy="1291101"/>
          </a:xfrm>
          <a:prstGeom prst="rect">
            <a:avLst/>
          </a:prstGeom>
          <a:noFill/>
          <a:ln>
            <a:noFill/>
          </a:ln>
        </p:spPr>
        <p:txBody>
          <a:bodyPr vert="horz" wrap="square" lIns="0" tIns="0" rIns="0" bIns="0" rtlCol="0" anchor="ctr"/>
          <a:lstStyle/>
          <a:p>
            <a:pPr algn="l">
              <a:lnSpc>
                <a:spcPct val="150000"/>
              </a:lnSpc>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数字下变频输出频谱的分析，展示信号的频率分布。</a:t>
            </a:r>
            <a:endParaRPr kumimoji="1" lang="zh-CN" altLang="en-US"/>
          </a:p>
        </p:txBody>
      </p:sp>
      <p:grpSp>
        <p:nvGrpSpPr>
          <p:cNvPr id="7" name="组合 6"/>
          <p:cNvGrpSpPr/>
          <p:nvPr/>
        </p:nvGrpSpPr>
        <p:grpSpPr>
          <a:xfrm>
            <a:off x="5830917" y="4149618"/>
            <a:ext cx="304513" cy="144304"/>
            <a:chOff x="5830917" y="4149618"/>
            <a:chExt cx="304513" cy="144304"/>
          </a:xfrm>
        </p:grpSpPr>
        <p:sp>
          <p:nvSpPr>
            <p:cNvPr id="8" name="标题 1"/>
            <p:cNvSpPr txBox="1"/>
            <p:nvPr/>
          </p:nvSpPr>
          <p:spPr>
            <a:xfrm>
              <a:off x="6005951" y="4149618"/>
              <a:ext cx="129479" cy="144304"/>
            </a:xfrm>
            <a:custGeom>
              <a:avLst/>
              <a:gdLst>
                <a:gd name="connsiteX0" fmla="*/ 353819 w 357131"/>
                <a:gd name="connsiteY0" fmla="*/ 233684 h 477250"/>
                <a:gd name="connsiteX1" fmla="*/ 194262 w 357131"/>
                <a:gd name="connsiteY1" fmla="*/ 6628 h 477250"/>
                <a:gd name="connsiteX2" fmla="*/ 184470 w 357131"/>
                <a:gd name="connsiteY2" fmla="*/ 1808 h 477250"/>
                <a:gd name="connsiteX3" fmla="*/ 2160 w 357131"/>
                <a:gd name="connsiteY3" fmla="*/ 1808 h 477250"/>
                <a:gd name="connsiteX4" fmla="*/ 164597 w 357131"/>
                <a:gd name="connsiteY4" fmla="*/ 233202 h 477250"/>
                <a:gd name="connsiteX5" fmla="*/ 164597 w 357131"/>
                <a:gd name="connsiteY5" fmla="*/ 243566 h 477250"/>
                <a:gd name="connsiteX6" fmla="*/ 5616 w 357131"/>
                <a:gd name="connsiteY6" fmla="*/ 476648 h 477250"/>
                <a:gd name="connsiteX7" fmla="*/ 187926 w 357131"/>
                <a:gd name="connsiteY7" fmla="*/ 476648 h 477250"/>
                <a:gd name="connsiteX8" fmla="*/ 198006 w 357131"/>
                <a:gd name="connsiteY8" fmla="*/ 471827 h 477250"/>
                <a:gd name="connsiteX9" fmla="*/ 353531 w 357131"/>
                <a:gd name="connsiteY9" fmla="*/ 243325 h 477250"/>
                <a:gd name="connsiteX10" fmla="*/ 353819 w 357131"/>
                <a:gd name="connsiteY10" fmla="*/ 233684 h 477250"/>
              </a:gdLst>
              <a:ahLst/>
              <a:cxnLst/>
              <a:rect l="l" t="t" r="r" b="b"/>
              <a:pathLst>
                <a:path w="357131" h="477250">
                  <a:moveTo>
                    <a:pt x="353819" y="233684"/>
                  </a:moveTo>
                  <a:lnTo>
                    <a:pt x="194262" y="6628"/>
                  </a:lnTo>
                  <a:cubicBezTo>
                    <a:pt x="192246" y="3736"/>
                    <a:pt x="188502" y="1808"/>
                    <a:pt x="184470" y="1808"/>
                  </a:cubicBezTo>
                  <a:lnTo>
                    <a:pt x="2160" y="1808"/>
                  </a:lnTo>
                  <a:lnTo>
                    <a:pt x="164597" y="233202"/>
                  </a:lnTo>
                  <a:cubicBezTo>
                    <a:pt x="166901" y="236335"/>
                    <a:pt x="166901" y="240433"/>
                    <a:pt x="164597" y="243566"/>
                  </a:cubicBezTo>
                  <a:lnTo>
                    <a:pt x="5616" y="476648"/>
                  </a:lnTo>
                  <a:lnTo>
                    <a:pt x="187926" y="476648"/>
                  </a:lnTo>
                  <a:cubicBezTo>
                    <a:pt x="191958" y="476648"/>
                    <a:pt x="195990" y="474719"/>
                    <a:pt x="198006" y="471827"/>
                  </a:cubicBezTo>
                  <a:lnTo>
                    <a:pt x="353531" y="243325"/>
                  </a:lnTo>
                  <a:cubicBezTo>
                    <a:pt x="355835" y="240192"/>
                    <a:pt x="355835" y="236576"/>
                    <a:pt x="353819" y="233684"/>
                  </a:cubicBezTo>
                  <a:close/>
                </a:path>
              </a:pathLst>
            </a:custGeom>
            <a:solidFill>
              <a:schemeClr val="accent1"/>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5905329" y="4149618"/>
              <a:ext cx="114860" cy="144304"/>
            </a:xfrm>
            <a:custGeom>
              <a:avLst/>
              <a:gdLst>
                <a:gd name="connsiteX0" fmla="*/ 314362 w 316810"/>
                <a:gd name="connsiteY0" fmla="*/ 233684 h 477250"/>
                <a:gd name="connsiteX1" fmla="*/ 154805 w 316810"/>
                <a:gd name="connsiteY1" fmla="*/ 6628 h 477250"/>
                <a:gd name="connsiteX2" fmla="*/ 145013 w 316810"/>
                <a:gd name="connsiteY2" fmla="*/ 1808 h 477250"/>
                <a:gd name="connsiteX3" fmla="*/ 2160 w 316810"/>
                <a:gd name="connsiteY3" fmla="*/ 1808 h 477250"/>
                <a:gd name="connsiteX4" fmla="*/ 164597 w 316810"/>
                <a:gd name="connsiteY4" fmla="*/ 233443 h 477250"/>
                <a:gd name="connsiteX5" fmla="*/ 164597 w 316810"/>
                <a:gd name="connsiteY5" fmla="*/ 243566 h 477250"/>
                <a:gd name="connsiteX6" fmla="*/ 5904 w 316810"/>
                <a:gd name="connsiteY6" fmla="*/ 476648 h 477250"/>
                <a:gd name="connsiteX7" fmla="*/ 148757 w 316810"/>
                <a:gd name="connsiteY7" fmla="*/ 476648 h 477250"/>
                <a:gd name="connsiteX8" fmla="*/ 158837 w 316810"/>
                <a:gd name="connsiteY8" fmla="*/ 471827 h 477250"/>
                <a:gd name="connsiteX9" fmla="*/ 314362 w 316810"/>
                <a:gd name="connsiteY9" fmla="*/ 243325 h 477250"/>
                <a:gd name="connsiteX10" fmla="*/ 314362 w 316810"/>
                <a:gd name="connsiteY10" fmla="*/ 233684 h 477250"/>
              </a:gdLst>
              <a:ahLst/>
              <a:cxnLst/>
              <a:rect l="l" t="t" r="r" b="b"/>
              <a:pathLst>
                <a:path w="316810" h="477250">
                  <a:moveTo>
                    <a:pt x="314362" y="233684"/>
                  </a:moveTo>
                  <a:lnTo>
                    <a:pt x="154805" y="6628"/>
                  </a:lnTo>
                  <a:cubicBezTo>
                    <a:pt x="152789" y="3736"/>
                    <a:pt x="149045" y="1808"/>
                    <a:pt x="145013" y="1808"/>
                  </a:cubicBezTo>
                  <a:lnTo>
                    <a:pt x="2160" y="1808"/>
                  </a:lnTo>
                  <a:lnTo>
                    <a:pt x="164597" y="233443"/>
                  </a:lnTo>
                  <a:cubicBezTo>
                    <a:pt x="166901" y="236576"/>
                    <a:pt x="166901" y="240433"/>
                    <a:pt x="164597" y="243566"/>
                  </a:cubicBezTo>
                  <a:lnTo>
                    <a:pt x="5904" y="476648"/>
                  </a:lnTo>
                  <a:lnTo>
                    <a:pt x="148757" y="476648"/>
                  </a:lnTo>
                  <a:cubicBezTo>
                    <a:pt x="152789" y="476648"/>
                    <a:pt x="156821" y="474719"/>
                    <a:pt x="158837" y="471827"/>
                  </a:cubicBezTo>
                  <a:lnTo>
                    <a:pt x="314362" y="243325"/>
                  </a:lnTo>
                  <a:cubicBezTo>
                    <a:pt x="316378" y="240192"/>
                    <a:pt x="316378" y="236576"/>
                    <a:pt x="314362" y="233684"/>
                  </a:cubicBezTo>
                  <a:close/>
                </a:path>
              </a:pathLst>
            </a:custGeom>
            <a:solidFill>
              <a:schemeClr val="accent1">
                <a:alpha val="7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5830917" y="4149618"/>
              <a:ext cx="86668" cy="144304"/>
            </a:xfrm>
            <a:custGeom>
              <a:avLst/>
              <a:gdLst>
                <a:gd name="connsiteX0" fmla="*/ 237463 w 239047"/>
                <a:gd name="connsiteY0" fmla="*/ 233684 h 477250"/>
                <a:gd name="connsiteX1" fmla="*/ 77906 w 239047"/>
                <a:gd name="connsiteY1" fmla="*/ 6628 h 477250"/>
                <a:gd name="connsiteX2" fmla="*/ 68114 w 239047"/>
                <a:gd name="connsiteY2" fmla="*/ 1808 h 477250"/>
                <a:gd name="connsiteX3" fmla="*/ 2160 w 239047"/>
                <a:gd name="connsiteY3" fmla="*/ 1808 h 477250"/>
                <a:gd name="connsiteX4" fmla="*/ 164597 w 239047"/>
                <a:gd name="connsiteY4" fmla="*/ 233443 h 477250"/>
                <a:gd name="connsiteX5" fmla="*/ 164597 w 239047"/>
                <a:gd name="connsiteY5" fmla="*/ 243566 h 477250"/>
                <a:gd name="connsiteX6" fmla="*/ 5904 w 239047"/>
                <a:gd name="connsiteY6" fmla="*/ 476648 h 477250"/>
                <a:gd name="connsiteX7" fmla="*/ 71858 w 239047"/>
                <a:gd name="connsiteY7" fmla="*/ 476648 h 477250"/>
                <a:gd name="connsiteX8" fmla="*/ 81939 w 239047"/>
                <a:gd name="connsiteY8" fmla="*/ 471827 h 477250"/>
                <a:gd name="connsiteX9" fmla="*/ 237463 w 239047"/>
                <a:gd name="connsiteY9" fmla="*/ 243325 h 477250"/>
                <a:gd name="connsiteX10" fmla="*/ 237463 w 239047"/>
                <a:gd name="connsiteY10" fmla="*/ 233684 h 477250"/>
              </a:gdLst>
              <a:ahLst/>
              <a:cxnLst/>
              <a:rect l="l" t="t" r="r" b="b"/>
              <a:pathLst>
                <a:path w="239047" h="477250">
                  <a:moveTo>
                    <a:pt x="237463" y="233684"/>
                  </a:moveTo>
                  <a:lnTo>
                    <a:pt x="77906" y="6628"/>
                  </a:lnTo>
                  <a:cubicBezTo>
                    <a:pt x="75890" y="3736"/>
                    <a:pt x="72146" y="1808"/>
                    <a:pt x="68114" y="1808"/>
                  </a:cubicBezTo>
                  <a:lnTo>
                    <a:pt x="2160" y="1808"/>
                  </a:lnTo>
                  <a:lnTo>
                    <a:pt x="164597" y="233443"/>
                  </a:lnTo>
                  <a:cubicBezTo>
                    <a:pt x="166901" y="236576"/>
                    <a:pt x="166901" y="240433"/>
                    <a:pt x="164597" y="243566"/>
                  </a:cubicBezTo>
                  <a:lnTo>
                    <a:pt x="5904" y="476648"/>
                  </a:lnTo>
                  <a:lnTo>
                    <a:pt x="71858" y="476648"/>
                  </a:lnTo>
                  <a:cubicBezTo>
                    <a:pt x="75890" y="476648"/>
                    <a:pt x="79923" y="474719"/>
                    <a:pt x="81939" y="471827"/>
                  </a:cubicBezTo>
                  <a:lnTo>
                    <a:pt x="237463" y="243325"/>
                  </a:lnTo>
                  <a:cubicBezTo>
                    <a:pt x="239480" y="240192"/>
                    <a:pt x="239480" y="236576"/>
                    <a:pt x="237463" y="233684"/>
                  </a:cubicBezTo>
                  <a:close/>
                </a:path>
              </a:pathLst>
            </a:custGeom>
            <a:solidFill>
              <a:schemeClr val="accent1">
                <a:alpha val="3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grpSp>
      <p:sp>
        <p:nvSpPr>
          <p:cNvPr id="11" name="标题 1"/>
          <p:cNvSpPr txBox="1"/>
          <p:nvPr/>
        </p:nvSpPr>
        <p:spPr>
          <a:xfrm>
            <a:off x="895184" y="2902219"/>
            <a:ext cx="92910" cy="1477122"/>
          </a:xfrm>
          <a:prstGeom prst="rect">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072571" y="3274358"/>
            <a:ext cx="694805" cy="708475"/>
          </a:xfrm>
          <a:prstGeom prst="rect">
            <a:avLst/>
          </a:prstGeom>
          <a:noFill/>
          <a:ln>
            <a:noFill/>
          </a:ln>
        </p:spPr>
        <p:txBody>
          <a:bodyPr vert="horz" wrap="square" lIns="0" tIns="0" rIns="0" bIns="0" rtlCol="0" anchor="ctr"/>
          <a:lstStyle/>
          <a:p>
            <a:pPr algn="ctr">
              <a:lnSpc>
                <a:spcPct val="110000"/>
              </a:lnSpc>
            </a:pPr>
            <a:r>
              <a:rPr kumimoji="1" lang="en-US" altLang="zh-CN" sz="2400">
                <a:ln w="12700">
                  <a:noFill/>
                </a:ln>
                <a:gradFill>
                  <a:gsLst>
                    <a:gs pos="0">
                      <a:srgbClr val="353363">
                        <a:alpha val="100000"/>
                      </a:srgbClr>
                    </a:gs>
                    <a:gs pos="93000">
                      <a:srgbClr val="28264A">
                        <a:alpha val="100000"/>
                      </a:srgbClr>
                    </a:gs>
                  </a:gsLst>
                  <a:lin ang="2700000" scaled="0"/>
                </a:gradFill>
                <a:latin typeface="OPPOSans H" panose="00020600040101010101" charset="-122"/>
                <a:ea typeface="OPPOSans H" panose="00020600040101010101" charset="-122"/>
                <a:cs typeface="OPPOSans H" panose="00020600040101010101" charset="-122"/>
              </a:rPr>
              <a:t>02</a:t>
            </a:r>
            <a:endParaRPr kumimoji="1" lang="zh-CN" altLang="en-US"/>
          </a:p>
        </p:txBody>
      </p:sp>
      <p:sp>
        <p:nvSpPr>
          <p:cNvPr id="13" name="标题 1"/>
          <p:cNvSpPr txBox="1"/>
          <p:nvPr/>
        </p:nvSpPr>
        <p:spPr>
          <a:xfrm>
            <a:off x="895183" y="4493260"/>
            <a:ext cx="5344984" cy="1477122"/>
          </a:xfrm>
          <a:prstGeom prst="roundRect">
            <a:avLst>
              <a:gd name="adj" fmla="val 6926"/>
            </a:avLst>
          </a:prstGeom>
          <a:solidFill>
            <a:schemeClr val="bg1"/>
          </a:solidFill>
          <a:ln w="12700" cap="flat">
            <a:no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sp>
        <p:nvSpPr>
          <p:cNvPr id="14" name="标题 1"/>
          <p:cNvSpPr txBox="1"/>
          <p:nvPr/>
        </p:nvSpPr>
        <p:spPr>
          <a:xfrm>
            <a:off x="1903611" y="4593862"/>
            <a:ext cx="4102340" cy="1291101"/>
          </a:xfrm>
          <a:prstGeom prst="rect">
            <a:avLst/>
          </a:prstGeom>
          <a:noFill/>
          <a:ln>
            <a:noFill/>
          </a:ln>
        </p:spPr>
        <p:txBody>
          <a:bodyPr vert="horz" wrap="square" lIns="0" tIns="0" rIns="0" bIns="0" rtlCol="0" anchor="ctr"/>
          <a:lstStyle/>
          <a:p>
            <a:pPr algn="l">
              <a:lnSpc>
                <a:spcPct val="150000"/>
              </a:lnSpc>
            </a:pPr>
            <a:r>
              <a:rPr kumimoji="1" lang="en-US" altLang="zh-CN" sz="1400" dirty="0" err="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实验数据与理论预测的对比，验证数字下变频的准确性</a:t>
            </a:r>
            <a:r>
              <a:rPr kumimoji="1" lang="en-US" altLang="zh-CN"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a:t>
            </a:r>
            <a:endParaRPr kumimoji="1" lang="zh-CN" altLang="en-US" dirty="0"/>
          </a:p>
        </p:txBody>
      </p:sp>
      <p:grpSp>
        <p:nvGrpSpPr>
          <p:cNvPr id="15" name="组合 14"/>
          <p:cNvGrpSpPr/>
          <p:nvPr/>
        </p:nvGrpSpPr>
        <p:grpSpPr>
          <a:xfrm>
            <a:off x="5830917" y="5740659"/>
            <a:ext cx="304513" cy="144304"/>
            <a:chOff x="5830917" y="5740659"/>
            <a:chExt cx="304513" cy="144304"/>
          </a:xfrm>
        </p:grpSpPr>
        <p:sp>
          <p:nvSpPr>
            <p:cNvPr id="16" name="标题 1"/>
            <p:cNvSpPr txBox="1"/>
            <p:nvPr/>
          </p:nvSpPr>
          <p:spPr>
            <a:xfrm>
              <a:off x="6005951" y="5740659"/>
              <a:ext cx="129479" cy="144304"/>
            </a:xfrm>
            <a:custGeom>
              <a:avLst/>
              <a:gdLst>
                <a:gd name="connsiteX0" fmla="*/ 353819 w 357131"/>
                <a:gd name="connsiteY0" fmla="*/ 233684 h 477250"/>
                <a:gd name="connsiteX1" fmla="*/ 194262 w 357131"/>
                <a:gd name="connsiteY1" fmla="*/ 6628 h 477250"/>
                <a:gd name="connsiteX2" fmla="*/ 184470 w 357131"/>
                <a:gd name="connsiteY2" fmla="*/ 1808 h 477250"/>
                <a:gd name="connsiteX3" fmla="*/ 2160 w 357131"/>
                <a:gd name="connsiteY3" fmla="*/ 1808 h 477250"/>
                <a:gd name="connsiteX4" fmla="*/ 164597 w 357131"/>
                <a:gd name="connsiteY4" fmla="*/ 233202 h 477250"/>
                <a:gd name="connsiteX5" fmla="*/ 164597 w 357131"/>
                <a:gd name="connsiteY5" fmla="*/ 243566 h 477250"/>
                <a:gd name="connsiteX6" fmla="*/ 5616 w 357131"/>
                <a:gd name="connsiteY6" fmla="*/ 476648 h 477250"/>
                <a:gd name="connsiteX7" fmla="*/ 187926 w 357131"/>
                <a:gd name="connsiteY7" fmla="*/ 476648 h 477250"/>
                <a:gd name="connsiteX8" fmla="*/ 198006 w 357131"/>
                <a:gd name="connsiteY8" fmla="*/ 471827 h 477250"/>
                <a:gd name="connsiteX9" fmla="*/ 353531 w 357131"/>
                <a:gd name="connsiteY9" fmla="*/ 243325 h 477250"/>
                <a:gd name="connsiteX10" fmla="*/ 353819 w 357131"/>
                <a:gd name="connsiteY10" fmla="*/ 233684 h 477250"/>
              </a:gdLst>
              <a:ahLst/>
              <a:cxnLst/>
              <a:rect l="l" t="t" r="r" b="b"/>
              <a:pathLst>
                <a:path w="357131" h="477250">
                  <a:moveTo>
                    <a:pt x="353819" y="233684"/>
                  </a:moveTo>
                  <a:lnTo>
                    <a:pt x="194262" y="6628"/>
                  </a:lnTo>
                  <a:cubicBezTo>
                    <a:pt x="192246" y="3736"/>
                    <a:pt x="188502" y="1808"/>
                    <a:pt x="184470" y="1808"/>
                  </a:cubicBezTo>
                  <a:lnTo>
                    <a:pt x="2160" y="1808"/>
                  </a:lnTo>
                  <a:lnTo>
                    <a:pt x="164597" y="233202"/>
                  </a:lnTo>
                  <a:cubicBezTo>
                    <a:pt x="166901" y="236335"/>
                    <a:pt x="166901" y="240433"/>
                    <a:pt x="164597" y="243566"/>
                  </a:cubicBezTo>
                  <a:lnTo>
                    <a:pt x="5616" y="476648"/>
                  </a:lnTo>
                  <a:lnTo>
                    <a:pt x="187926" y="476648"/>
                  </a:lnTo>
                  <a:cubicBezTo>
                    <a:pt x="191958" y="476648"/>
                    <a:pt x="195990" y="474719"/>
                    <a:pt x="198006" y="471827"/>
                  </a:cubicBezTo>
                  <a:lnTo>
                    <a:pt x="353531" y="243325"/>
                  </a:lnTo>
                  <a:cubicBezTo>
                    <a:pt x="355835" y="240192"/>
                    <a:pt x="355835" y="236576"/>
                    <a:pt x="353819" y="233684"/>
                  </a:cubicBezTo>
                  <a:close/>
                </a:path>
              </a:pathLst>
            </a:custGeom>
            <a:solidFill>
              <a:schemeClr val="accent1"/>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5905329" y="5740659"/>
              <a:ext cx="114860" cy="144304"/>
            </a:xfrm>
            <a:custGeom>
              <a:avLst/>
              <a:gdLst>
                <a:gd name="connsiteX0" fmla="*/ 314362 w 316810"/>
                <a:gd name="connsiteY0" fmla="*/ 233684 h 477250"/>
                <a:gd name="connsiteX1" fmla="*/ 154805 w 316810"/>
                <a:gd name="connsiteY1" fmla="*/ 6628 h 477250"/>
                <a:gd name="connsiteX2" fmla="*/ 145013 w 316810"/>
                <a:gd name="connsiteY2" fmla="*/ 1808 h 477250"/>
                <a:gd name="connsiteX3" fmla="*/ 2160 w 316810"/>
                <a:gd name="connsiteY3" fmla="*/ 1808 h 477250"/>
                <a:gd name="connsiteX4" fmla="*/ 164597 w 316810"/>
                <a:gd name="connsiteY4" fmla="*/ 233443 h 477250"/>
                <a:gd name="connsiteX5" fmla="*/ 164597 w 316810"/>
                <a:gd name="connsiteY5" fmla="*/ 243566 h 477250"/>
                <a:gd name="connsiteX6" fmla="*/ 5904 w 316810"/>
                <a:gd name="connsiteY6" fmla="*/ 476648 h 477250"/>
                <a:gd name="connsiteX7" fmla="*/ 148757 w 316810"/>
                <a:gd name="connsiteY7" fmla="*/ 476648 h 477250"/>
                <a:gd name="connsiteX8" fmla="*/ 158837 w 316810"/>
                <a:gd name="connsiteY8" fmla="*/ 471827 h 477250"/>
                <a:gd name="connsiteX9" fmla="*/ 314362 w 316810"/>
                <a:gd name="connsiteY9" fmla="*/ 243325 h 477250"/>
                <a:gd name="connsiteX10" fmla="*/ 314362 w 316810"/>
                <a:gd name="connsiteY10" fmla="*/ 233684 h 477250"/>
              </a:gdLst>
              <a:ahLst/>
              <a:cxnLst/>
              <a:rect l="l" t="t" r="r" b="b"/>
              <a:pathLst>
                <a:path w="316810" h="477250">
                  <a:moveTo>
                    <a:pt x="314362" y="233684"/>
                  </a:moveTo>
                  <a:lnTo>
                    <a:pt x="154805" y="6628"/>
                  </a:lnTo>
                  <a:cubicBezTo>
                    <a:pt x="152789" y="3736"/>
                    <a:pt x="149045" y="1808"/>
                    <a:pt x="145013" y="1808"/>
                  </a:cubicBezTo>
                  <a:lnTo>
                    <a:pt x="2160" y="1808"/>
                  </a:lnTo>
                  <a:lnTo>
                    <a:pt x="164597" y="233443"/>
                  </a:lnTo>
                  <a:cubicBezTo>
                    <a:pt x="166901" y="236576"/>
                    <a:pt x="166901" y="240433"/>
                    <a:pt x="164597" y="243566"/>
                  </a:cubicBezTo>
                  <a:lnTo>
                    <a:pt x="5904" y="476648"/>
                  </a:lnTo>
                  <a:lnTo>
                    <a:pt x="148757" y="476648"/>
                  </a:lnTo>
                  <a:cubicBezTo>
                    <a:pt x="152789" y="476648"/>
                    <a:pt x="156821" y="474719"/>
                    <a:pt x="158837" y="471827"/>
                  </a:cubicBezTo>
                  <a:lnTo>
                    <a:pt x="314362" y="243325"/>
                  </a:lnTo>
                  <a:cubicBezTo>
                    <a:pt x="316378" y="240192"/>
                    <a:pt x="316378" y="236576"/>
                    <a:pt x="314362" y="233684"/>
                  </a:cubicBezTo>
                  <a:close/>
                </a:path>
              </a:pathLst>
            </a:custGeom>
            <a:solidFill>
              <a:schemeClr val="accent1">
                <a:alpha val="7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18" name="标题 1"/>
            <p:cNvSpPr txBox="1"/>
            <p:nvPr/>
          </p:nvSpPr>
          <p:spPr>
            <a:xfrm>
              <a:off x="5830917" y="5740659"/>
              <a:ext cx="86668" cy="144304"/>
            </a:xfrm>
            <a:custGeom>
              <a:avLst/>
              <a:gdLst>
                <a:gd name="connsiteX0" fmla="*/ 237463 w 239047"/>
                <a:gd name="connsiteY0" fmla="*/ 233684 h 477250"/>
                <a:gd name="connsiteX1" fmla="*/ 77906 w 239047"/>
                <a:gd name="connsiteY1" fmla="*/ 6628 h 477250"/>
                <a:gd name="connsiteX2" fmla="*/ 68114 w 239047"/>
                <a:gd name="connsiteY2" fmla="*/ 1808 h 477250"/>
                <a:gd name="connsiteX3" fmla="*/ 2160 w 239047"/>
                <a:gd name="connsiteY3" fmla="*/ 1808 h 477250"/>
                <a:gd name="connsiteX4" fmla="*/ 164597 w 239047"/>
                <a:gd name="connsiteY4" fmla="*/ 233443 h 477250"/>
                <a:gd name="connsiteX5" fmla="*/ 164597 w 239047"/>
                <a:gd name="connsiteY5" fmla="*/ 243566 h 477250"/>
                <a:gd name="connsiteX6" fmla="*/ 5904 w 239047"/>
                <a:gd name="connsiteY6" fmla="*/ 476648 h 477250"/>
                <a:gd name="connsiteX7" fmla="*/ 71858 w 239047"/>
                <a:gd name="connsiteY7" fmla="*/ 476648 h 477250"/>
                <a:gd name="connsiteX8" fmla="*/ 81939 w 239047"/>
                <a:gd name="connsiteY8" fmla="*/ 471827 h 477250"/>
                <a:gd name="connsiteX9" fmla="*/ 237463 w 239047"/>
                <a:gd name="connsiteY9" fmla="*/ 243325 h 477250"/>
                <a:gd name="connsiteX10" fmla="*/ 237463 w 239047"/>
                <a:gd name="connsiteY10" fmla="*/ 233684 h 477250"/>
              </a:gdLst>
              <a:ahLst/>
              <a:cxnLst/>
              <a:rect l="l" t="t" r="r" b="b"/>
              <a:pathLst>
                <a:path w="239047" h="477250">
                  <a:moveTo>
                    <a:pt x="237463" y="233684"/>
                  </a:moveTo>
                  <a:lnTo>
                    <a:pt x="77906" y="6628"/>
                  </a:lnTo>
                  <a:cubicBezTo>
                    <a:pt x="75890" y="3736"/>
                    <a:pt x="72146" y="1808"/>
                    <a:pt x="68114" y="1808"/>
                  </a:cubicBezTo>
                  <a:lnTo>
                    <a:pt x="2160" y="1808"/>
                  </a:lnTo>
                  <a:lnTo>
                    <a:pt x="164597" y="233443"/>
                  </a:lnTo>
                  <a:cubicBezTo>
                    <a:pt x="166901" y="236576"/>
                    <a:pt x="166901" y="240433"/>
                    <a:pt x="164597" y="243566"/>
                  </a:cubicBezTo>
                  <a:lnTo>
                    <a:pt x="5904" y="476648"/>
                  </a:lnTo>
                  <a:lnTo>
                    <a:pt x="71858" y="476648"/>
                  </a:lnTo>
                  <a:cubicBezTo>
                    <a:pt x="75890" y="476648"/>
                    <a:pt x="79923" y="474719"/>
                    <a:pt x="81939" y="471827"/>
                  </a:cubicBezTo>
                  <a:lnTo>
                    <a:pt x="237463" y="243325"/>
                  </a:lnTo>
                  <a:cubicBezTo>
                    <a:pt x="239480" y="240192"/>
                    <a:pt x="239480" y="236576"/>
                    <a:pt x="237463" y="233684"/>
                  </a:cubicBezTo>
                  <a:close/>
                </a:path>
              </a:pathLst>
            </a:custGeom>
            <a:solidFill>
              <a:schemeClr val="accent1">
                <a:alpha val="3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grpSp>
      <p:sp>
        <p:nvSpPr>
          <p:cNvPr id="19" name="标题 1"/>
          <p:cNvSpPr txBox="1"/>
          <p:nvPr/>
        </p:nvSpPr>
        <p:spPr>
          <a:xfrm>
            <a:off x="895184" y="4493260"/>
            <a:ext cx="92910" cy="1477122"/>
          </a:xfrm>
          <a:prstGeom prst="rect">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1072571" y="4865399"/>
            <a:ext cx="694805" cy="708475"/>
          </a:xfrm>
          <a:prstGeom prst="rect">
            <a:avLst/>
          </a:prstGeom>
          <a:noFill/>
          <a:ln>
            <a:noFill/>
          </a:ln>
        </p:spPr>
        <p:txBody>
          <a:bodyPr vert="horz" wrap="square" lIns="0" tIns="0" rIns="0" bIns="0" rtlCol="0" anchor="ctr"/>
          <a:lstStyle/>
          <a:p>
            <a:pPr algn="ctr">
              <a:lnSpc>
                <a:spcPct val="110000"/>
              </a:lnSpc>
            </a:pPr>
            <a:r>
              <a:rPr kumimoji="1" lang="en-US" altLang="zh-CN" sz="2400">
                <a:ln w="12700">
                  <a:noFill/>
                </a:ln>
                <a:gradFill>
                  <a:gsLst>
                    <a:gs pos="0">
                      <a:srgbClr val="353363">
                        <a:alpha val="100000"/>
                      </a:srgbClr>
                    </a:gs>
                    <a:gs pos="93000">
                      <a:srgbClr val="28264A">
                        <a:alpha val="100000"/>
                      </a:srgbClr>
                    </a:gs>
                  </a:gsLst>
                  <a:lin ang="2700000" scaled="0"/>
                </a:gradFill>
                <a:latin typeface="OPPOSans H" panose="00020600040101010101" charset="-122"/>
                <a:ea typeface="OPPOSans H" panose="00020600040101010101" charset="-122"/>
                <a:cs typeface="OPPOSans H" panose="00020600040101010101" charset="-122"/>
              </a:rPr>
              <a:t>03</a:t>
            </a:r>
            <a:endParaRPr kumimoji="1" lang="zh-CN" altLang="en-US"/>
          </a:p>
        </p:txBody>
      </p:sp>
      <p:sp>
        <p:nvSpPr>
          <p:cNvPr id="21" name="标题 1"/>
          <p:cNvSpPr txBox="1"/>
          <p:nvPr/>
        </p:nvSpPr>
        <p:spPr>
          <a:xfrm>
            <a:off x="895183" y="1325771"/>
            <a:ext cx="5344984" cy="1477122"/>
          </a:xfrm>
          <a:prstGeom prst="roundRect">
            <a:avLst>
              <a:gd name="adj" fmla="val 6926"/>
            </a:avLst>
          </a:prstGeom>
          <a:solidFill>
            <a:schemeClr val="bg1"/>
          </a:solidFill>
          <a:ln w="12700" cap="flat">
            <a:no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sp>
        <p:nvSpPr>
          <p:cNvPr id="22" name="标题 1"/>
          <p:cNvSpPr txBox="1"/>
          <p:nvPr/>
        </p:nvSpPr>
        <p:spPr>
          <a:xfrm>
            <a:off x="1903611" y="1426373"/>
            <a:ext cx="4102340" cy="1291101"/>
          </a:xfrm>
          <a:prstGeom prst="rect">
            <a:avLst/>
          </a:prstGeom>
          <a:noFill/>
          <a:ln>
            <a:noFill/>
          </a:ln>
        </p:spPr>
        <p:txBody>
          <a:bodyPr vert="horz" wrap="square" lIns="0" tIns="0" rIns="0" bIns="0" rtlCol="0" anchor="ctr"/>
          <a:lstStyle/>
          <a:p>
            <a:pPr algn="l">
              <a:lnSpc>
                <a:spcPct val="150000"/>
              </a:lnSpc>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数字下变频输出波形的时域特性，包括幅度和相位信息。</a:t>
            </a:r>
            <a:endParaRPr kumimoji="1" lang="zh-CN" altLang="en-US"/>
          </a:p>
        </p:txBody>
      </p:sp>
      <p:grpSp>
        <p:nvGrpSpPr>
          <p:cNvPr id="23" name="组合 22"/>
          <p:cNvGrpSpPr/>
          <p:nvPr/>
        </p:nvGrpSpPr>
        <p:grpSpPr>
          <a:xfrm>
            <a:off x="5830917" y="2573170"/>
            <a:ext cx="304513" cy="144304"/>
            <a:chOff x="5830917" y="2573170"/>
            <a:chExt cx="304513" cy="144304"/>
          </a:xfrm>
        </p:grpSpPr>
        <p:sp>
          <p:nvSpPr>
            <p:cNvPr id="24" name="标题 1"/>
            <p:cNvSpPr txBox="1"/>
            <p:nvPr/>
          </p:nvSpPr>
          <p:spPr>
            <a:xfrm>
              <a:off x="6005951" y="2573170"/>
              <a:ext cx="129479" cy="144304"/>
            </a:xfrm>
            <a:custGeom>
              <a:avLst/>
              <a:gdLst>
                <a:gd name="connsiteX0" fmla="*/ 353819 w 357131"/>
                <a:gd name="connsiteY0" fmla="*/ 233684 h 477250"/>
                <a:gd name="connsiteX1" fmla="*/ 194262 w 357131"/>
                <a:gd name="connsiteY1" fmla="*/ 6628 h 477250"/>
                <a:gd name="connsiteX2" fmla="*/ 184470 w 357131"/>
                <a:gd name="connsiteY2" fmla="*/ 1808 h 477250"/>
                <a:gd name="connsiteX3" fmla="*/ 2160 w 357131"/>
                <a:gd name="connsiteY3" fmla="*/ 1808 h 477250"/>
                <a:gd name="connsiteX4" fmla="*/ 164597 w 357131"/>
                <a:gd name="connsiteY4" fmla="*/ 233202 h 477250"/>
                <a:gd name="connsiteX5" fmla="*/ 164597 w 357131"/>
                <a:gd name="connsiteY5" fmla="*/ 243566 h 477250"/>
                <a:gd name="connsiteX6" fmla="*/ 5616 w 357131"/>
                <a:gd name="connsiteY6" fmla="*/ 476648 h 477250"/>
                <a:gd name="connsiteX7" fmla="*/ 187926 w 357131"/>
                <a:gd name="connsiteY7" fmla="*/ 476648 h 477250"/>
                <a:gd name="connsiteX8" fmla="*/ 198006 w 357131"/>
                <a:gd name="connsiteY8" fmla="*/ 471827 h 477250"/>
                <a:gd name="connsiteX9" fmla="*/ 353531 w 357131"/>
                <a:gd name="connsiteY9" fmla="*/ 243325 h 477250"/>
                <a:gd name="connsiteX10" fmla="*/ 353819 w 357131"/>
                <a:gd name="connsiteY10" fmla="*/ 233684 h 477250"/>
              </a:gdLst>
              <a:ahLst/>
              <a:cxnLst/>
              <a:rect l="l" t="t" r="r" b="b"/>
              <a:pathLst>
                <a:path w="357131" h="477250">
                  <a:moveTo>
                    <a:pt x="353819" y="233684"/>
                  </a:moveTo>
                  <a:lnTo>
                    <a:pt x="194262" y="6628"/>
                  </a:lnTo>
                  <a:cubicBezTo>
                    <a:pt x="192246" y="3736"/>
                    <a:pt x="188502" y="1808"/>
                    <a:pt x="184470" y="1808"/>
                  </a:cubicBezTo>
                  <a:lnTo>
                    <a:pt x="2160" y="1808"/>
                  </a:lnTo>
                  <a:lnTo>
                    <a:pt x="164597" y="233202"/>
                  </a:lnTo>
                  <a:cubicBezTo>
                    <a:pt x="166901" y="236335"/>
                    <a:pt x="166901" y="240433"/>
                    <a:pt x="164597" y="243566"/>
                  </a:cubicBezTo>
                  <a:lnTo>
                    <a:pt x="5616" y="476648"/>
                  </a:lnTo>
                  <a:lnTo>
                    <a:pt x="187926" y="476648"/>
                  </a:lnTo>
                  <a:cubicBezTo>
                    <a:pt x="191958" y="476648"/>
                    <a:pt x="195990" y="474719"/>
                    <a:pt x="198006" y="471827"/>
                  </a:cubicBezTo>
                  <a:lnTo>
                    <a:pt x="353531" y="243325"/>
                  </a:lnTo>
                  <a:cubicBezTo>
                    <a:pt x="355835" y="240192"/>
                    <a:pt x="355835" y="236576"/>
                    <a:pt x="353819" y="233684"/>
                  </a:cubicBezTo>
                  <a:close/>
                </a:path>
              </a:pathLst>
            </a:custGeom>
            <a:solidFill>
              <a:schemeClr val="accent1"/>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25" name="标题 1"/>
            <p:cNvSpPr txBox="1"/>
            <p:nvPr/>
          </p:nvSpPr>
          <p:spPr>
            <a:xfrm>
              <a:off x="5905329" y="2573170"/>
              <a:ext cx="114860" cy="144304"/>
            </a:xfrm>
            <a:custGeom>
              <a:avLst/>
              <a:gdLst>
                <a:gd name="connsiteX0" fmla="*/ 314362 w 316810"/>
                <a:gd name="connsiteY0" fmla="*/ 233684 h 477250"/>
                <a:gd name="connsiteX1" fmla="*/ 154805 w 316810"/>
                <a:gd name="connsiteY1" fmla="*/ 6628 h 477250"/>
                <a:gd name="connsiteX2" fmla="*/ 145013 w 316810"/>
                <a:gd name="connsiteY2" fmla="*/ 1808 h 477250"/>
                <a:gd name="connsiteX3" fmla="*/ 2160 w 316810"/>
                <a:gd name="connsiteY3" fmla="*/ 1808 h 477250"/>
                <a:gd name="connsiteX4" fmla="*/ 164597 w 316810"/>
                <a:gd name="connsiteY4" fmla="*/ 233443 h 477250"/>
                <a:gd name="connsiteX5" fmla="*/ 164597 w 316810"/>
                <a:gd name="connsiteY5" fmla="*/ 243566 h 477250"/>
                <a:gd name="connsiteX6" fmla="*/ 5904 w 316810"/>
                <a:gd name="connsiteY6" fmla="*/ 476648 h 477250"/>
                <a:gd name="connsiteX7" fmla="*/ 148757 w 316810"/>
                <a:gd name="connsiteY7" fmla="*/ 476648 h 477250"/>
                <a:gd name="connsiteX8" fmla="*/ 158837 w 316810"/>
                <a:gd name="connsiteY8" fmla="*/ 471827 h 477250"/>
                <a:gd name="connsiteX9" fmla="*/ 314362 w 316810"/>
                <a:gd name="connsiteY9" fmla="*/ 243325 h 477250"/>
                <a:gd name="connsiteX10" fmla="*/ 314362 w 316810"/>
                <a:gd name="connsiteY10" fmla="*/ 233684 h 477250"/>
              </a:gdLst>
              <a:ahLst/>
              <a:cxnLst/>
              <a:rect l="l" t="t" r="r" b="b"/>
              <a:pathLst>
                <a:path w="316810" h="477250">
                  <a:moveTo>
                    <a:pt x="314362" y="233684"/>
                  </a:moveTo>
                  <a:lnTo>
                    <a:pt x="154805" y="6628"/>
                  </a:lnTo>
                  <a:cubicBezTo>
                    <a:pt x="152789" y="3736"/>
                    <a:pt x="149045" y="1808"/>
                    <a:pt x="145013" y="1808"/>
                  </a:cubicBezTo>
                  <a:lnTo>
                    <a:pt x="2160" y="1808"/>
                  </a:lnTo>
                  <a:lnTo>
                    <a:pt x="164597" y="233443"/>
                  </a:lnTo>
                  <a:cubicBezTo>
                    <a:pt x="166901" y="236576"/>
                    <a:pt x="166901" y="240433"/>
                    <a:pt x="164597" y="243566"/>
                  </a:cubicBezTo>
                  <a:lnTo>
                    <a:pt x="5904" y="476648"/>
                  </a:lnTo>
                  <a:lnTo>
                    <a:pt x="148757" y="476648"/>
                  </a:lnTo>
                  <a:cubicBezTo>
                    <a:pt x="152789" y="476648"/>
                    <a:pt x="156821" y="474719"/>
                    <a:pt x="158837" y="471827"/>
                  </a:cubicBezTo>
                  <a:lnTo>
                    <a:pt x="314362" y="243325"/>
                  </a:lnTo>
                  <a:cubicBezTo>
                    <a:pt x="316378" y="240192"/>
                    <a:pt x="316378" y="236576"/>
                    <a:pt x="314362" y="233684"/>
                  </a:cubicBezTo>
                  <a:close/>
                </a:path>
              </a:pathLst>
            </a:custGeom>
            <a:solidFill>
              <a:schemeClr val="accent1">
                <a:alpha val="7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26" name="标题 1"/>
            <p:cNvSpPr txBox="1"/>
            <p:nvPr/>
          </p:nvSpPr>
          <p:spPr>
            <a:xfrm>
              <a:off x="5830917" y="2573170"/>
              <a:ext cx="86668" cy="144304"/>
            </a:xfrm>
            <a:custGeom>
              <a:avLst/>
              <a:gdLst>
                <a:gd name="connsiteX0" fmla="*/ 237463 w 239047"/>
                <a:gd name="connsiteY0" fmla="*/ 233684 h 477250"/>
                <a:gd name="connsiteX1" fmla="*/ 77906 w 239047"/>
                <a:gd name="connsiteY1" fmla="*/ 6628 h 477250"/>
                <a:gd name="connsiteX2" fmla="*/ 68114 w 239047"/>
                <a:gd name="connsiteY2" fmla="*/ 1808 h 477250"/>
                <a:gd name="connsiteX3" fmla="*/ 2160 w 239047"/>
                <a:gd name="connsiteY3" fmla="*/ 1808 h 477250"/>
                <a:gd name="connsiteX4" fmla="*/ 164597 w 239047"/>
                <a:gd name="connsiteY4" fmla="*/ 233443 h 477250"/>
                <a:gd name="connsiteX5" fmla="*/ 164597 w 239047"/>
                <a:gd name="connsiteY5" fmla="*/ 243566 h 477250"/>
                <a:gd name="connsiteX6" fmla="*/ 5904 w 239047"/>
                <a:gd name="connsiteY6" fmla="*/ 476648 h 477250"/>
                <a:gd name="connsiteX7" fmla="*/ 71858 w 239047"/>
                <a:gd name="connsiteY7" fmla="*/ 476648 h 477250"/>
                <a:gd name="connsiteX8" fmla="*/ 81939 w 239047"/>
                <a:gd name="connsiteY8" fmla="*/ 471827 h 477250"/>
                <a:gd name="connsiteX9" fmla="*/ 237463 w 239047"/>
                <a:gd name="connsiteY9" fmla="*/ 243325 h 477250"/>
                <a:gd name="connsiteX10" fmla="*/ 237463 w 239047"/>
                <a:gd name="connsiteY10" fmla="*/ 233684 h 477250"/>
              </a:gdLst>
              <a:ahLst/>
              <a:cxnLst/>
              <a:rect l="l" t="t" r="r" b="b"/>
              <a:pathLst>
                <a:path w="239047" h="477250">
                  <a:moveTo>
                    <a:pt x="237463" y="233684"/>
                  </a:moveTo>
                  <a:lnTo>
                    <a:pt x="77906" y="6628"/>
                  </a:lnTo>
                  <a:cubicBezTo>
                    <a:pt x="75890" y="3736"/>
                    <a:pt x="72146" y="1808"/>
                    <a:pt x="68114" y="1808"/>
                  </a:cubicBezTo>
                  <a:lnTo>
                    <a:pt x="2160" y="1808"/>
                  </a:lnTo>
                  <a:lnTo>
                    <a:pt x="164597" y="233443"/>
                  </a:lnTo>
                  <a:cubicBezTo>
                    <a:pt x="166901" y="236576"/>
                    <a:pt x="166901" y="240433"/>
                    <a:pt x="164597" y="243566"/>
                  </a:cubicBezTo>
                  <a:lnTo>
                    <a:pt x="5904" y="476648"/>
                  </a:lnTo>
                  <a:lnTo>
                    <a:pt x="71858" y="476648"/>
                  </a:lnTo>
                  <a:cubicBezTo>
                    <a:pt x="75890" y="476648"/>
                    <a:pt x="79923" y="474719"/>
                    <a:pt x="81939" y="471827"/>
                  </a:cubicBezTo>
                  <a:lnTo>
                    <a:pt x="237463" y="243325"/>
                  </a:lnTo>
                  <a:cubicBezTo>
                    <a:pt x="239480" y="240192"/>
                    <a:pt x="239480" y="236576"/>
                    <a:pt x="237463" y="233684"/>
                  </a:cubicBezTo>
                  <a:close/>
                </a:path>
              </a:pathLst>
            </a:custGeom>
            <a:solidFill>
              <a:schemeClr val="accent1">
                <a:alpha val="3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grpSp>
      <p:sp>
        <p:nvSpPr>
          <p:cNvPr id="27" name="标题 1"/>
          <p:cNvSpPr txBox="1"/>
          <p:nvPr/>
        </p:nvSpPr>
        <p:spPr>
          <a:xfrm>
            <a:off x="895184" y="1325771"/>
            <a:ext cx="92910" cy="1477122"/>
          </a:xfrm>
          <a:prstGeom prst="rect">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a:off x="1072571" y="1697910"/>
            <a:ext cx="694805" cy="708475"/>
          </a:xfrm>
          <a:prstGeom prst="rect">
            <a:avLst/>
          </a:prstGeom>
          <a:noFill/>
          <a:ln>
            <a:noFill/>
          </a:ln>
        </p:spPr>
        <p:txBody>
          <a:bodyPr vert="horz" wrap="square" lIns="0" tIns="0" rIns="0" bIns="0" rtlCol="0" anchor="ctr"/>
          <a:lstStyle/>
          <a:p>
            <a:pPr algn="ctr">
              <a:lnSpc>
                <a:spcPct val="110000"/>
              </a:lnSpc>
            </a:pPr>
            <a:r>
              <a:rPr kumimoji="1" lang="en-US" altLang="zh-CN" sz="2400">
                <a:ln w="12700">
                  <a:noFill/>
                </a:ln>
                <a:gradFill>
                  <a:gsLst>
                    <a:gs pos="0">
                      <a:srgbClr val="353363">
                        <a:alpha val="100000"/>
                      </a:srgbClr>
                    </a:gs>
                    <a:gs pos="93000">
                      <a:srgbClr val="28264A">
                        <a:alpha val="100000"/>
                      </a:srgbClr>
                    </a:gs>
                  </a:gsLst>
                  <a:lin ang="2700000" scaled="0"/>
                </a:gradFill>
                <a:latin typeface="OPPOSans H" panose="00020600040101010101" charset="-122"/>
                <a:ea typeface="OPPOSans H" panose="00020600040101010101" charset="-122"/>
                <a:cs typeface="OPPOSans H" panose="00020600040101010101" charset="-122"/>
              </a:rPr>
              <a:t>01</a:t>
            </a:r>
            <a:endParaRPr kumimoji="1" lang="zh-CN" altLang="en-US"/>
          </a:p>
        </p:txBody>
      </p:sp>
      <p:sp>
        <p:nvSpPr>
          <p:cNvPr id="30" name="标题 1"/>
          <p:cNvSpPr txBox="1"/>
          <p:nvPr/>
        </p:nvSpPr>
        <p:spPr>
          <a:xfrm>
            <a:off x="172720" y="247319"/>
            <a:ext cx="11442700" cy="543097"/>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800" dirty="0" err="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数字下变频分析</a:t>
            </a:r>
            <a:endParaRPr kumimoji="1" lang="zh-CN" altLang="en-US" dirty="0"/>
          </a:p>
        </p:txBody>
      </p:sp>
      <p:cxnSp>
        <p:nvCxnSpPr>
          <p:cNvPr id="31" name="标题 1"/>
          <p:cNvCxnSpPr/>
          <p:nvPr/>
        </p:nvCxnSpPr>
        <p:spPr>
          <a:xfrm>
            <a:off x="312738" y="770539"/>
            <a:ext cx="11307762" cy="0"/>
          </a:xfrm>
          <a:prstGeom prst="line">
            <a:avLst/>
          </a:prstGeom>
          <a:noFill/>
          <a:ln w="6350" cap="rnd">
            <a:solidFill>
              <a:schemeClr val="bg1">
                <a:lumMod val="65000"/>
              </a:schemeClr>
            </a:solidFill>
            <a:round/>
          </a:ln>
        </p:spPr>
      </p:cxnSp>
      <p:cxnSp>
        <p:nvCxnSpPr>
          <p:cNvPr id="32" name="标题 1"/>
          <p:cNvCxnSpPr/>
          <p:nvPr/>
        </p:nvCxnSpPr>
        <p:spPr>
          <a:xfrm>
            <a:off x="312738" y="770539"/>
            <a:ext cx="652463" cy="0"/>
          </a:xfrm>
          <a:prstGeom prst="line">
            <a:avLst/>
          </a:prstGeom>
          <a:noFill/>
          <a:ln w="44450" cap="sq">
            <a:solidFill>
              <a:schemeClr val="accent1"/>
            </a:solidFill>
            <a:round/>
          </a:ln>
        </p:spPr>
      </p:cxnSp>
      <p:pic>
        <p:nvPicPr>
          <p:cNvPr id="33" name="图片 32">
            <a:extLst>
              <a:ext uri="{FF2B5EF4-FFF2-40B4-BE49-F238E27FC236}">
                <a16:creationId xmlns:a16="http://schemas.microsoft.com/office/drawing/2014/main" id="{A6EF5E40-2D9F-4361-D628-74BD78F140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74864" y="1697910"/>
            <a:ext cx="3882439" cy="37911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52A50-6DCB-5C8A-C8FD-E55663DF1251}"/>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D4851F89-FC78-8116-C74C-E8B349CF3C25}"/>
              </a:ext>
            </a:extLst>
          </p:cNvPr>
          <p:cNvSpPr txBox="1"/>
          <p:nvPr/>
        </p:nvSpPr>
        <p:spPr>
          <a:xfrm>
            <a:off x="172720" y="247319"/>
            <a:ext cx="11442700" cy="543097"/>
          </a:xfrm>
          <a:prstGeom prst="rect">
            <a:avLst/>
          </a:prstGeom>
          <a:noFill/>
          <a:ln>
            <a:noFill/>
          </a:ln>
        </p:spPr>
        <p:txBody>
          <a:bodyPr vert="horz" wrap="square" lIns="91440" tIns="45720" rIns="91440" bIns="45720" rtlCol="0" anchor="t">
            <a:spAutoFit/>
          </a:bodyP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数字下变频</a:t>
            </a:r>
            <a:r>
              <a:rPr kumimoji="1" lang="en-US" altLang="zh-CN" sz="2800" dirty="0" err="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分析</a:t>
            </a:r>
            <a:endParaRPr kumimoji="1" lang="zh-CN" altLang="en-US" dirty="0"/>
          </a:p>
        </p:txBody>
      </p:sp>
      <p:cxnSp>
        <p:nvCxnSpPr>
          <p:cNvPr id="14" name="标题 1">
            <a:extLst>
              <a:ext uri="{FF2B5EF4-FFF2-40B4-BE49-F238E27FC236}">
                <a16:creationId xmlns:a16="http://schemas.microsoft.com/office/drawing/2014/main" id="{7EE6AC3B-7A93-FD9A-1BA1-35042DFC711D}"/>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5" name="标题 1">
            <a:extLst>
              <a:ext uri="{FF2B5EF4-FFF2-40B4-BE49-F238E27FC236}">
                <a16:creationId xmlns:a16="http://schemas.microsoft.com/office/drawing/2014/main" id="{9B5ED51C-9B8D-728A-1CD3-4C9D2B358426}"/>
              </a:ext>
            </a:extLst>
          </p:cNvPr>
          <p:cNvCxnSpPr/>
          <p:nvPr/>
        </p:nvCxnSpPr>
        <p:spPr>
          <a:xfrm>
            <a:off x="312738" y="770539"/>
            <a:ext cx="652463" cy="0"/>
          </a:xfrm>
          <a:prstGeom prst="line">
            <a:avLst/>
          </a:prstGeom>
          <a:noFill/>
          <a:ln w="44450" cap="sq">
            <a:solidFill>
              <a:schemeClr val="accent1"/>
            </a:solidFill>
            <a:round/>
          </a:ln>
        </p:spPr>
      </p:cxnSp>
      <p:sp>
        <p:nvSpPr>
          <p:cNvPr id="4" name="文本框 3">
            <a:extLst>
              <a:ext uri="{FF2B5EF4-FFF2-40B4-BE49-F238E27FC236}">
                <a16:creationId xmlns:a16="http://schemas.microsoft.com/office/drawing/2014/main" id="{A3ED38EA-5EDD-1EF7-B5E5-6DC2366AC76F}"/>
              </a:ext>
            </a:extLst>
          </p:cNvPr>
          <p:cNvSpPr txBox="1"/>
          <p:nvPr/>
        </p:nvSpPr>
        <p:spPr>
          <a:xfrm>
            <a:off x="172720" y="853803"/>
            <a:ext cx="8542723" cy="646331"/>
          </a:xfrm>
          <a:prstGeom prst="rect">
            <a:avLst/>
          </a:prstGeom>
          <a:noFill/>
        </p:spPr>
        <p:txBody>
          <a:bodyPr wrap="none" rtlCol="0">
            <a:spAutoFit/>
          </a:bodyPr>
          <a:lstStyle/>
          <a:p>
            <a:r>
              <a:rPr lang="zh-CN" altLang="en-US" dirty="0"/>
              <a:t>本次实验中软件无线电系统采集的基站信号的中心频率时</a:t>
            </a:r>
            <a:r>
              <a:rPr lang="en-US" altLang="zh-CN" dirty="0"/>
              <a:t>2123MHz</a:t>
            </a:r>
            <a:r>
              <a:rPr lang="zh-CN" altLang="en-US" dirty="0"/>
              <a:t>，带宽</a:t>
            </a:r>
            <a:r>
              <a:rPr lang="en-US" altLang="zh-CN" dirty="0"/>
              <a:t>25MHz</a:t>
            </a:r>
            <a:r>
              <a:rPr lang="zh-CN" altLang="en-US" dirty="0"/>
              <a:t>，</a:t>
            </a:r>
            <a:endParaRPr lang="en-US" altLang="zh-CN" dirty="0"/>
          </a:p>
          <a:p>
            <a:r>
              <a:rPr lang="zh-CN" altLang="en-US" dirty="0"/>
              <a:t>信号包含</a:t>
            </a:r>
            <a:r>
              <a:rPr lang="en-US" altLang="zh-CN" dirty="0"/>
              <a:t>2130-2135MHz</a:t>
            </a:r>
            <a:r>
              <a:rPr lang="zh-CN" altLang="en-US" dirty="0"/>
              <a:t>（</a:t>
            </a:r>
            <a:r>
              <a:rPr lang="en-US" altLang="zh-CN" dirty="0"/>
              <a:t>5M</a:t>
            </a:r>
            <a:r>
              <a:rPr lang="zh-CN" altLang="en-US" dirty="0"/>
              <a:t>带宽）、</a:t>
            </a:r>
            <a:r>
              <a:rPr lang="en-US" altLang="zh-CN" dirty="0"/>
              <a:t>2110-21230MHz</a:t>
            </a:r>
            <a:r>
              <a:rPr lang="zh-CN" altLang="en-US" dirty="0"/>
              <a:t>（</a:t>
            </a:r>
            <a:r>
              <a:rPr lang="en-US" altLang="zh-CN" dirty="0"/>
              <a:t>20M</a:t>
            </a:r>
            <a:r>
              <a:rPr lang="zh-CN" altLang="en-US" dirty="0"/>
              <a:t>带宽）。</a:t>
            </a:r>
          </a:p>
        </p:txBody>
      </p:sp>
      <p:sp>
        <p:nvSpPr>
          <p:cNvPr id="3" name="文本框 2">
            <a:extLst>
              <a:ext uri="{FF2B5EF4-FFF2-40B4-BE49-F238E27FC236}">
                <a16:creationId xmlns:a16="http://schemas.microsoft.com/office/drawing/2014/main" id="{30BA59CA-9C07-CA32-7979-238EAA10B9BE}"/>
              </a:ext>
            </a:extLst>
          </p:cNvPr>
          <p:cNvSpPr txBox="1"/>
          <p:nvPr/>
        </p:nvSpPr>
        <p:spPr>
          <a:xfrm>
            <a:off x="172720" y="1563521"/>
            <a:ext cx="11200674" cy="923330"/>
          </a:xfrm>
          <a:prstGeom prst="rect">
            <a:avLst/>
          </a:prstGeom>
          <a:noFill/>
        </p:spPr>
        <p:txBody>
          <a:bodyPr wrap="square" rtlCol="0">
            <a:spAutoFit/>
          </a:bodyPr>
          <a:lstStyle/>
          <a:p>
            <a:r>
              <a:rPr lang="zh-CN" altLang="en-US" dirty="0"/>
              <a:t>①接收</a:t>
            </a:r>
            <a:r>
              <a:rPr lang="en-US" altLang="zh-CN" dirty="0"/>
              <a:t>2110-2130MHz</a:t>
            </a:r>
            <a:r>
              <a:rPr lang="zh-CN" altLang="en-US" dirty="0"/>
              <a:t>和</a:t>
            </a:r>
            <a:r>
              <a:rPr lang="en-US" altLang="zh-CN" dirty="0"/>
              <a:t>2130-2135MHz</a:t>
            </a:r>
            <a:r>
              <a:rPr lang="zh-CN" altLang="en-US" dirty="0"/>
              <a:t>两个频段的基带信号。 </a:t>
            </a:r>
            <a:endParaRPr lang="en-US" altLang="zh-CN" dirty="0"/>
          </a:p>
          <a:p>
            <a:r>
              <a:rPr lang="zh-CN" altLang="en-US" dirty="0"/>
              <a:t>②在信号处理前，需要滤除</a:t>
            </a:r>
            <a:r>
              <a:rPr lang="en-US" altLang="zh-CN" dirty="0"/>
              <a:t>2130-2135MHz(5M</a:t>
            </a:r>
            <a:r>
              <a:rPr lang="zh-CN" altLang="en-US" dirty="0"/>
              <a:t>带宽</a:t>
            </a:r>
            <a:r>
              <a:rPr lang="en-US" altLang="zh-CN" dirty="0"/>
              <a:t>)</a:t>
            </a:r>
            <a:r>
              <a:rPr lang="zh-CN" altLang="en-US" dirty="0"/>
              <a:t>的基站信号，保留</a:t>
            </a:r>
            <a:r>
              <a:rPr lang="en-US" altLang="zh-CN" dirty="0"/>
              <a:t>2110-2130MHz(20M</a:t>
            </a:r>
            <a:r>
              <a:rPr lang="zh-CN" altLang="en-US" dirty="0"/>
              <a:t>带宽</a:t>
            </a:r>
            <a:r>
              <a:rPr lang="en-US" altLang="zh-CN" dirty="0"/>
              <a:t>)</a:t>
            </a:r>
            <a:r>
              <a:rPr lang="zh-CN" altLang="en-US" dirty="0"/>
              <a:t>的信号。</a:t>
            </a:r>
            <a:endParaRPr lang="en-US" altLang="zh-CN" dirty="0"/>
          </a:p>
          <a:p>
            <a:r>
              <a:rPr lang="zh-CN" altLang="en-US" dirty="0"/>
              <a:t>③将</a:t>
            </a:r>
            <a:r>
              <a:rPr lang="en-US" altLang="zh-CN" dirty="0"/>
              <a:t>2110-2130MHz(20M</a:t>
            </a:r>
            <a:r>
              <a:rPr lang="zh-CN" altLang="en-US" dirty="0"/>
              <a:t>带宽</a:t>
            </a:r>
            <a:r>
              <a:rPr lang="en-US" altLang="zh-CN" dirty="0"/>
              <a:t>)</a:t>
            </a:r>
            <a:r>
              <a:rPr lang="zh-CN" altLang="en-US" dirty="0"/>
              <a:t>信号</a:t>
            </a:r>
            <a:r>
              <a:rPr lang="zh-CN" altLang="en-US" b="1" u="sng" dirty="0"/>
              <a:t>变频到零中频</a:t>
            </a:r>
            <a:r>
              <a:rPr lang="zh-CN" altLang="en-US" dirty="0"/>
              <a:t>，再通过低通滤波器滤掉高频信号。</a:t>
            </a:r>
          </a:p>
        </p:txBody>
      </p:sp>
      <p:sp>
        <p:nvSpPr>
          <p:cNvPr id="10" name="文本框 9">
            <a:extLst>
              <a:ext uri="{FF2B5EF4-FFF2-40B4-BE49-F238E27FC236}">
                <a16:creationId xmlns:a16="http://schemas.microsoft.com/office/drawing/2014/main" id="{AE2D69C1-4764-763E-A98B-ADDECC14E0E0}"/>
              </a:ext>
            </a:extLst>
          </p:cNvPr>
          <p:cNvSpPr txBox="1"/>
          <p:nvPr/>
        </p:nvSpPr>
        <p:spPr>
          <a:xfrm>
            <a:off x="172720" y="2760617"/>
            <a:ext cx="7872549" cy="369332"/>
          </a:xfrm>
          <a:prstGeom prst="rect">
            <a:avLst/>
          </a:prstGeom>
          <a:noFill/>
        </p:spPr>
        <p:txBody>
          <a:bodyPr wrap="square" rtlCol="0">
            <a:spAutoFit/>
          </a:bodyPr>
          <a:lstStyle/>
          <a:p>
            <a:r>
              <a:rPr lang="zh-CN" altLang="en-US" dirty="0"/>
              <a:t>数字下变频输出的时域图与频域图：（以</a:t>
            </a:r>
            <a:r>
              <a:rPr lang="en-US" altLang="zh-CN" dirty="0"/>
              <a:t>data_1</a:t>
            </a:r>
            <a:r>
              <a:rPr lang="zh-CN" altLang="en-US" dirty="0"/>
              <a:t>为例，</a:t>
            </a:r>
            <a:r>
              <a:rPr lang="en-US" altLang="zh-CN" dirty="0" err="1"/>
              <a:t>f</a:t>
            </a:r>
            <a:r>
              <a:rPr lang="en-US" altLang="zh-CN" baseline="-25000" dirty="0" err="1"/>
              <a:t>o</a:t>
            </a:r>
            <a:r>
              <a:rPr lang="en-US" altLang="zh-CN" dirty="0"/>
              <a:t>=-3MHz</a:t>
            </a:r>
            <a:r>
              <a:rPr lang="zh-CN" altLang="en-US" dirty="0"/>
              <a:t>）</a:t>
            </a:r>
            <a:endParaRPr lang="zh-CN" altLang="en-US" baseline="-25000" dirty="0"/>
          </a:p>
        </p:txBody>
      </p:sp>
      <p:pic>
        <p:nvPicPr>
          <p:cNvPr id="12" name="图片 11">
            <a:extLst>
              <a:ext uri="{FF2B5EF4-FFF2-40B4-BE49-F238E27FC236}">
                <a16:creationId xmlns:a16="http://schemas.microsoft.com/office/drawing/2014/main" id="{E69D9D45-55EE-6EE4-532B-394C329FD4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9530" y="4623255"/>
            <a:ext cx="3212438" cy="1307056"/>
          </a:xfrm>
          <a:prstGeom prst="rect">
            <a:avLst/>
          </a:prstGeom>
        </p:spPr>
      </p:pic>
      <p:pic>
        <p:nvPicPr>
          <p:cNvPr id="17" name="图片 16">
            <a:extLst>
              <a:ext uri="{FF2B5EF4-FFF2-40B4-BE49-F238E27FC236}">
                <a16:creationId xmlns:a16="http://schemas.microsoft.com/office/drawing/2014/main" id="{93DABD5E-A653-77BD-231C-F70BE96F7F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60721" y="4623255"/>
            <a:ext cx="3403073" cy="1316316"/>
          </a:xfrm>
          <a:prstGeom prst="rect">
            <a:avLst/>
          </a:prstGeom>
        </p:spPr>
      </p:pic>
      <p:pic>
        <p:nvPicPr>
          <p:cNvPr id="19" name="图片 18">
            <a:extLst>
              <a:ext uri="{FF2B5EF4-FFF2-40B4-BE49-F238E27FC236}">
                <a16:creationId xmlns:a16="http://schemas.microsoft.com/office/drawing/2014/main" id="{9FC7EC52-6DFB-C29B-AEF7-CB1646D079D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7364" y="3194027"/>
            <a:ext cx="3056771" cy="1236603"/>
          </a:xfrm>
          <a:prstGeom prst="rect">
            <a:avLst/>
          </a:prstGeom>
        </p:spPr>
      </p:pic>
      <p:pic>
        <p:nvPicPr>
          <p:cNvPr id="21" name="图片 20">
            <a:extLst>
              <a:ext uri="{FF2B5EF4-FFF2-40B4-BE49-F238E27FC236}">
                <a16:creationId xmlns:a16="http://schemas.microsoft.com/office/drawing/2014/main" id="{13C85AB7-77C3-2609-7DFD-F9EE1B12163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0721" y="3194026"/>
            <a:ext cx="3284615" cy="1236603"/>
          </a:xfrm>
          <a:prstGeom prst="rect">
            <a:avLst/>
          </a:prstGeom>
        </p:spPr>
      </p:pic>
      <p:sp>
        <p:nvSpPr>
          <p:cNvPr id="22" name="文本框 21">
            <a:extLst>
              <a:ext uri="{FF2B5EF4-FFF2-40B4-BE49-F238E27FC236}">
                <a16:creationId xmlns:a16="http://schemas.microsoft.com/office/drawing/2014/main" id="{25B22AC9-BE70-F2D7-1806-F7BBB3654AB1}"/>
              </a:ext>
            </a:extLst>
          </p:cNvPr>
          <p:cNvSpPr txBox="1"/>
          <p:nvPr/>
        </p:nvSpPr>
        <p:spPr>
          <a:xfrm>
            <a:off x="1036318" y="6061335"/>
            <a:ext cx="3788230" cy="369332"/>
          </a:xfrm>
          <a:prstGeom prst="rect">
            <a:avLst/>
          </a:prstGeom>
          <a:noFill/>
        </p:spPr>
        <p:txBody>
          <a:bodyPr wrap="square" rtlCol="0">
            <a:spAutoFit/>
          </a:bodyPr>
          <a:lstStyle/>
          <a:p>
            <a:r>
              <a:rPr lang="zh-CN" altLang="en-US" dirty="0"/>
              <a:t>监测信号时域数字下变频输出图</a:t>
            </a:r>
          </a:p>
        </p:txBody>
      </p:sp>
      <p:sp>
        <p:nvSpPr>
          <p:cNvPr id="23" name="文本框 22">
            <a:extLst>
              <a:ext uri="{FF2B5EF4-FFF2-40B4-BE49-F238E27FC236}">
                <a16:creationId xmlns:a16="http://schemas.microsoft.com/office/drawing/2014/main" id="{76ABCB18-5077-2A80-95D7-9AA8A868439C}"/>
              </a:ext>
            </a:extLst>
          </p:cNvPr>
          <p:cNvSpPr txBox="1"/>
          <p:nvPr/>
        </p:nvSpPr>
        <p:spPr>
          <a:xfrm>
            <a:off x="7317178" y="5958943"/>
            <a:ext cx="3788230" cy="369332"/>
          </a:xfrm>
          <a:prstGeom prst="rect">
            <a:avLst/>
          </a:prstGeom>
          <a:noFill/>
        </p:spPr>
        <p:txBody>
          <a:bodyPr wrap="square" rtlCol="0">
            <a:spAutoFit/>
          </a:bodyPr>
          <a:lstStyle/>
          <a:p>
            <a:r>
              <a:rPr lang="zh-CN" altLang="en-US" dirty="0"/>
              <a:t>监测信号频域数字下变频输出图</a:t>
            </a:r>
          </a:p>
        </p:txBody>
      </p:sp>
      <p:cxnSp>
        <p:nvCxnSpPr>
          <p:cNvPr id="25" name="直接箭头连接符 24">
            <a:extLst>
              <a:ext uri="{FF2B5EF4-FFF2-40B4-BE49-F238E27FC236}">
                <a16:creationId xmlns:a16="http://schemas.microsoft.com/office/drawing/2014/main" id="{77B71E42-196C-1DA4-8086-20546DB24B3B}"/>
              </a:ext>
            </a:extLst>
          </p:cNvPr>
          <p:cNvCxnSpPr/>
          <p:nvPr/>
        </p:nvCxnSpPr>
        <p:spPr>
          <a:xfrm>
            <a:off x="9675222" y="3812327"/>
            <a:ext cx="324000" cy="1334439"/>
          </a:xfrm>
          <a:prstGeom prst="straightConnector1">
            <a:avLst/>
          </a:prstGeom>
          <a:ln w="38100">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26" name="文本框 25">
            <a:extLst>
              <a:ext uri="{FF2B5EF4-FFF2-40B4-BE49-F238E27FC236}">
                <a16:creationId xmlns:a16="http://schemas.microsoft.com/office/drawing/2014/main" id="{F02519F3-9844-11B3-BCC2-BDE16E03F081}"/>
              </a:ext>
            </a:extLst>
          </p:cNvPr>
          <p:cNvSpPr txBox="1"/>
          <p:nvPr/>
        </p:nvSpPr>
        <p:spPr>
          <a:xfrm>
            <a:off x="9931874" y="4342276"/>
            <a:ext cx="2111829" cy="369332"/>
          </a:xfrm>
          <a:prstGeom prst="rect">
            <a:avLst/>
          </a:prstGeom>
          <a:noFill/>
        </p:spPr>
        <p:txBody>
          <a:bodyPr wrap="square" rtlCol="0">
            <a:spAutoFit/>
          </a:bodyPr>
          <a:lstStyle/>
          <a:p>
            <a:r>
              <a:rPr lang="zh-CN" altLang="en-US" b="1" dirty="0"/>
              <a:t>频域图右移</a:t>
            </a:r>
            <a:r>
              <a:rPr lang="en-US" altLang="zh-CN" b="1" dirty="0"/>
              <a:t>3MHz</a:t>
            </a:r>
            <a:endParaRPr lang="zh-CN" altLang="en-US" b="1" dirty="0"/>
          </a:p>
        </p:txBody>
      </p:sp>
    </p:spTree>
    <p:extLst>
      <p:ext uri="{BB962C8B-B14F-4D97-AF65-F5344CB8AC3E}">
        <p14:creationId xmlns:p14="http://schemas.microsoft.com/office/powerpoint/2010/main" val="1870872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807CC-4255-1DBD-DD81-7E3BE6A3D38A}"/>
            </a:ext>
          </a:extLst>
        </p:cNvPr>
        <p:cNvGrpSpPr/>
        <p:nvPr/>
      </p:nvGrpSpPr>
      <p:grpSpPr>
        <a:xfrm>
          <a:off x="0" y="0"/>
          <a:ext cx="0" cy="0"/>
          <a:chOff x="0" y="0"/>
          <a:chExt cx="0" cy="0"/>
        </a:xfrm>
      </p:grpSpPr>
      <p:sp>
        <p:nvSpPr>
          <p:cNvPr id="10" name="标题 1">
            <a:extLst>
              <a:ext uri="{FF2B5EF4-FFF2-40B4-BE49-F238E27FC236}">
                <a16:creationId xmlns:a16="http://schemas.microsoft.com/office/drawing/2014/main" id="{58930B0C-E7A1-263C-9180-41BD87F08887}"/>
              </a:ext>
            </a:extLst>
          </p:cNvPr>
          <p:cNvSpPr txBox="1"/>
          <p:nvPr/>
        </p:nvSpPr>
        <p:spPr>
          <a:xfrm>
            <a:off x="5783650" y="2058806"/>
            <a:ext cx="612000" cy="554849"/>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cxnSp>
        <p:nvCxnSpPr>
          <p:cNvPr id="17" name="标题 1">
            <a:extLst>
              <a:ext uri="{FF2B5EF4-FFF2-40B4-BE49-F238E27FC236}">
                <a16:creationId xmlns:a16="http://schemas.microsoft.com/office/drawing/2014/main" id="{1C192E70-F8D9-A603-F88F-3972E7C400FB}"/>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8" name="标题 1">
            <a:extLst>
              <a:ext uri="{FF2B5EF4-FFF2-40B4-BE49-F238E27FC236}">
                <a16:creationId xmlns:a16="http://schemas.microsoft.com/office/drawing/2014/main" id="{E8C55471-07AB-B60E-7053-8BE219CBA5E1}"/>
              </a:ext>
            </a:extLst>
          </p:cNvPr>
          <p:cNvCxnSpPr/>
          <p:nvPr/>
        </p:nvCxnSpPr>
        <p:spPr>
          <a:xfrm>
            <a:off x="312738" y="770539"/>
            <a:ext cx="652463" cy="0"/>
          </a:xfrm>
          <a:prstGeom prst="line">
            <a:avLst/>
          </a:prstGeom>
          <a:noFill/>
          <a:ln w="44450" cap="sq">
            <a:solidFill>
              <a:schemeClr val="accent1"/>
            </a:solidFill>
            <a:round/>
          </a:ln>
        </p:spPr>
      </p:cxnSp>
      <p:sp>
        <p:nvSpPr>
          <p:cNvPr id="23" name="文本框 22">
            <a:extLst>
              <a:ext uri="{FF2B5EF4-FFF2-40B4-BE49-F238E27FC236}">
                <a16:creationId xmlns:a16="http://schemas.microsoft.com/office/drawing/2014/main" id="{9C375719-B813-E4BB-08B1-EC63362DE6DD}"/>
              </a:ext>
            </a:extLst>
          </p:cNvPr>
          <p:cNvSpPr txBox="1"/>
          <p:nvPr/>
        </p:nvSpPr>
        <p:spPr>
          <a:xfrm>
            <a:off x="223405" y="247319"/>
            <a:ext cx="5008418" cy="523220"/>
          </a:xfrm>
          <a:prstGeom prst="rect">
            <a:avLst/>
          </a:prstGeom>
          <a:noFill/>
        </p:spPr>
        <p:txBody>
          <a:bodyPr wrap="square" rtlCol="0">
            <a:spAutoFit/>
          </a:bodyPr>
          <a:lstStyle/>
          <a:p>
            <a:r>
              <a:rPr lang="zh-CN" altLang="en-US" sz="2800" b="1" dirty="0">
                <a:latin typeface="Source Han Sans" panose="020B0500000000000000" charset="-122"/>
                <a:ea typeface="Source Han Sans" panose="020B0500000000000000" charset="-122"/>
              </a:rPr>
              <a:t>时域图</a:t>
            </a:r>
            <a:r>
              <a:rPr lang="en-US" altLang="zh-CN" sz="2800" b="1" dirty="0">
                <a:latin typeface="Source Han Sans" panose="020B0500000000000000" charset="-122"/>
                <a:ea typeface="Source Han Sans" panose="020B0500000000000000" charset="-122"/>
              </a:rPr>
              <a:t>+</a:t>
            </a:r>
            <a:r>
              <a:rPr lang="zh-CN" altLang="en-US" sz="2800" b="1" dirty="0">
                <a:latin typeface="Source Han Sans" panose="020B0500000000000000" charset="-122"/>
                <a:ea typeface="Source Han Sans" panose="020B0500000000000000" charset="-122"/>
              </a:rPr>
              <a:t>频谱图</a:t>
            </a:r>
          </a:p>
        </p:txBody>
      </p:sp>
      <p:sp>
        <p:nvSpPr>
          <p:cNvPr id="24" name="文本框 23">
            <a:extLst>
              <a:ext uri="{FF2B5EF4-FFF2-40B4-BE49-F238E27FC236}">
                <a16:creationId xmlns:a16="http://schemas.microsoft.com/office/drawing/2014/main" id="{D55EA1AF-42BE-1C67-C2B0-F211789202C5}"/>
              </a:ext>
            </a:extLst>
          </p:cNvPr>
          <p:cNvSpPr txBox="1"/>
          <p:nvPr/>
        </p:nvSpPr>
        <p:spPr>
          <a:xfrm>
            <a:off x="7585561" y="1136327"/>
            <a:ext cx="3152107" cy="1477328"/>
          </a:xfrm>
          <a:prstGeom prst="rect">
            <a:avLst/>
          </a:prstGeom>
          <a:noFill/>
        </p:spPr>
        <p:txBody>
          <a:bodyPr wrap="square" rtlCol="0">
            <a:spAutoFit/>
          </a:bodyPr>
          <a:lstStyle/>
          <a:p>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注释：</a:t>
            </a:r>
            <a:endParaRPr kumimoji="1" lang="en-US" altLang="zh-CN" sz="1800"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sz="1800" b="1" dirty="0">
                <a:ln w="12700">
                  <a:noFill/>
                </a:ln>
                <a:solidFill>
                  <a:srgbClr val="262626">
                    <a:alpha val="100000"/>
                  </a:srgbClr>
                </a:solidFill>
                <a:latin typeface="Source Han Sans" panose="020B0500000000000000" charset="-122"/>
                <a:ea typeface="Source Han Sans" panose="020B0500000000000000" charset="-122"/>
              </a:rPr>
              <a:t>一到二行</a:t>
            </a:r>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分别为监测信号、参考信号的原始输出与数字下变频输出的时域图以及频谱图</a:t>
            </a: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p:txBody>
      </p:sp>
      <p:pic>
        <p:nvPicPr>
          <p:cNvPr id="2" name="图片 1">
            <a:extLst>
              <a:ext uri="{FF2B5EF4-FFF2-40B4-BE49-F238E27FC236}">
                <a16:creationId xmlns:a16="http://schemas.microsoft.com/office/drawing/2014/main" id="{0382DEAA-1DDE-620B-BD55-906A92B71E3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041" y="1084905"/>
            <a:ext cx="2750365" cy="2064926"/>
          </a:xfrm>
          <a:prstGeom prst="rect">
            <a:avLst/>
          </a:prstGeom>
          <a:noFill/>
          <a:ln>
            <a:noFill/>
          </a:ln>
        </p:spPr>
      </p:pic>
      <p:pic>
        <p:nvPicPr>
          <p:cNvPr id="3" name="图片 2">
            <a:extLst>
              <a:ext uri="{FF2B5EF4-FFF2-40B4-BE49-F238E27FC236}">
                <a16:creationId xmlns:a16="http://schemas.microsoft.com/office/drawing/2014/main" id="{940E80B5-D5E3-20BE-152D-38A45C479C7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2847" y="1036819"/>
            <a:ext cx="2900350" cy="2177532"/>
          </a:xfrm>
          <a:prstGeom prst="rect">
            <a:avLst/>
          </a:prstGeom>
          <a:noFill/>
          <a:ln>
            <a:noFill/>
          </a:ln>
        </p:spPr>
      </p:pic>
      <p:pic>
        <p:nvPicPr>
          <p:cNvPr id="4" name="图片 3">
            <a:extLst>
              <a:ext uri="{FF2B5EF4-FFF2-40B4-BE49-F238E27FC236}">
                <a16:creationId xmlns:a16="http://schemas.microsoft.com/office/drawing/2014/main" id="{B2BC301E-4FEB-A6E5-30AB-3FC1CCDD8F3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2040" y="3904846"/>
            <a:ext cx="2750365" cy="2064926"/>
          </a:xfrm>
          <a:prstGeom prst="rect">
            <a:avLst/>
          </a:prstGeom>
          <a:noFill/>
          <a:ln>
            <a:noFill/>
          </a:ln>
        </p:spPr>
      </p:pic>
      <p:pic>
        <p:nvPicPr>
          <p:cNvPr id="5" name="图片 4">
            <a:extLst>
              <a:ext uri="{FF2B5EF4-FFF2-40B4-BE49-F238E27FC236}">
                <a16:creationId xmlns:a16="http://schemas.microsoft.com/office/drawing/2014/main" id="{8CD346BE-A06A-6CB2-8007-F3D4CCD62A7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92847" y="3787157"/>
            <a:ext cx="3063875" cy="2300304"/>
          </a:xfrm>
          <a:prstGeom prst="rect">
            <a:avLst/>
          </a:prstGeom>
          <a:noFill/>
          <a:ln>
            <a:noFill/>
          </a:ln>
        </p:spPr>
      </p:pic>
      <p:sp>
        <p:nvSpPr>
          <p:cNvPr id="6" name="文本框 5">
            <a:extLst>
              <a:ext uri="{FF2B5EF4-FFF2-40B4-BE49-F238E27FC236}">
                <a16:creationId xmlns:a16="http://schemas.microsoft.com/office/drawing/2014/main" id="{61324E28-7EEE-C87B-D836-51443366B163}"/>
              </a:ext>
            </a:extLst>
          </p:cNvPr>
          <p:cNvSpPr txBox="1"/>
          <p:nvPr/>
        </p:nvSpPr>
        <p:spPr>
          <a:xfrm>
            <a:off x="260375" y="1617753"/>
            <a:ext cx="461665" cy="1015663"/>
          </a:xfrm>
          <a:prstGeom prst="rect">
            <a:avLst/>
          </a:prstGeom>
          <a:noFill/>
        </p:spPr>
        <p:txBody>
          <a:bodyPr vert="eaVert" wrap="none" rtlCol="0">
            <a:spAutoFit/>
          </a:bodyPr>
          <a:lstStyle/>
          <a:p>
            <a:r>
              <a:rPr lang="zh-CN" altLang="en-US" dirty="0"/>
              <a:t>监测信号</a:t>
            </a:r>
          </a:p>
        </p:txBody>
      </p:sp>
      <p:sp>
        <p:nvSpPr>
          <p:cNvPr id="7" name="文本框 6">
            <a:extLst>
              <a:ext uri="{FF2B5EF4-FFF2-40B4-BE49-F238E27FC236}">
                <a16:creationId xmlns:a16="http://schemas.microsoft.com/office/drawing/2014/main" id="{973B2017-40D8-8D15-B8CC-7016FEFA39AF}"/>
              </a:ext>
            </a:extLst>
          </p:cNvPr>
          <p:cNvSpPr txBox="1"/>
          <p:nvPr/>
        </p:nvSpPr>
        <p:spPr>
          <a:xfrm>
            <a:off x="260375" y="4345577"/>
            <a:ext cx="461665" cy="1015663"/>
          </a:xfrm>
          <a:prstGeom prst="rect">
            <a:avLst/>
          </a:prstGeom>
          <a:noFill/>
        </p:spPr>
        <p:txBody>
          <a:bodyPr vert="eaVert" wrap="none" rtlCol="0">
            <a:spAutoFit/>
          </a:bodyPr>
          <a:lstStyle/>
          <a:p>
            <a:r>
              <a:rPr lang="zh-CN" altLang="en-US" dirty="0"/>
              <a:t>参考信号</a:t>
            </a:r>
          </a:p>
        </p:txBody>
      </p:sp>
      <p:cxnSp>
        <p:nvCxnSpPr>
          <p:cNvPr id="9" name="直接连接符 8">
            <a:extLst>
              <a:ext uri="{FF2B5EF4-FFF2-40B4-BE49-F238E27FC236}">
                <a16:creationId xmlns:a16="http://schemas.microsoft.com/office/drawing/2014/main" id="{5BFC72B1-674B-D50F-452C-81414A595936}"/>
              </a:ext>
            </a:extLst>
          </p:cNvPr>
          <p:cNvCxnSpPr/>
          <p:nvPr/>
        </p:nvCxnSpPr>
        <p:spPr>
          <a:xfrm>
            <a:off x="2647406" y="4937760"/>
            <a:ext cx="0" cy="931817"/>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接连接符 10">
            <a:extLst>
              <a:ext uri="{FF2B5EF4-FFF2-40B4-BE49-F238E27FC236}">
                <a16:creationId xmlns:a16="http://schemas.microsoft.com/office/drawing/2014/main" id="{27752514-BD3E-986C-EBE6-71B7AEE93477}"/>
              </a:ext>
            </a:extLst>
          </p:cNvPr>
          <p:cNvCxnSpPr/>
          <p:nvPr/>
        </p:nvCxnSpPr>
        <p:spPr>
          <a:xfrm>
            <a:off x="6100355" y="4976992"/>
            <a:ext cx="0" cy="931817"/>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C523A59A-6937-93C2-FD64-CDD8CF130B4A}"/>
              </a:ext>
            </a:extLst>
          </p:cNvPr>
          <p:cNvCxnSpPr/>
          <p:nvPr/>
        </p:nvCxnSpPr>
        <p:spPr>
          <a:xfrm>
            <a:off x="6369523" y="4976992"/>
            <a:ext cx="0" cy="931817"/>
          </a:xfrm>
          <a:prstGeom prst="line">
            <a:avLst/>
          </a:prstGeom>
        </p:spPr>
        <p:style>
          <a:lnRef idx="3">
            <a:schemeClr val="accent2"/>
          </a:lnRef>
          <a:fillRef idx="0">
            <a:schemeClr val="accent2"/>
          </a:fillRef>
          <a:effectRef idx="2">
            <a:schemeClr val="accent2"/>
          </a:effectRef>
          <a:fontRef idx="minor">
            <a:schemeClr val="tx1"/>
          </a:fontRef>
        </p:style>
      </p:cxnSp>
      <p:sp>
        <p:nvSpPr>
          <p:cNvPr id="15" name="右大括号 14">
            <a:extLst>
              <a:ext uri="{FF2B5EF4-FFF2-40B4-BE49-F238E27FC236}">
                <a16:creationId xmlns:a16="http://schemas.microsoft.com/office/drawing/2014/main" id="{8081E9E6-E5B1-F4A5-7FE4-0C923B854ACE}"/>
              </a:ext>
            </a:extLst>
          </p:cNvPr>
          <p:cNvSpPr/>
          <p:nvPr/>
        </p:nvSpPr>
        <p:spPr>
          <a:xfrm rot="5400000">
            <a:off x="6162668" y="5842141"/>
            <a:ext cx="140187" cy="27352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ACCE8E84-3712-1917-C583-558D65B36DBC}"/>
              </a:ext>
            </a:extLst>
          </p:cNvPr>
          <p:cNvSpPr txBox="1"/>
          <p:nvPr/>
        </p:nvSpPr>
        <p:spPr>
          <a:xfrm>
            <a:off x="5860868" y="6048996"/>
            <a:ext cx="2194560" cy="369332"/>
          </a:xfrm>
          <a:prstGeom prst="rect">
            <a:avLst/>
          </a:prstGeom>
          <a:noFill/>
        </p:spPr>
        <p:txBody>
          <a:bodyPr wrap="square" rtlCol="0">
            <a:spAutoFit/>
          </a:bodyPr>
          <a:lstStyle/>
          <a:p>
            <a:r>
              <a:rPr lang="en-US" altLang="zh-CN" b="1" dirty="0"/>
              <a:t>3MHz</a:t>
            </a:r>
            <a:endParaRPr lang="zh-CN" altLang="en-US" b="1" dirty="0"/>
          </a:p>
        </p:txBody>
      </p:sp>
      <p:sp>
        <p:nvSpPr>
          <p:cNvPr id="19" name="文本框 18">
            <a:extLst>
              <a:ext uri="{FF2B5EF4-FFF2-40B4-BE49-F238E27FC236}">
                <a16:creationId xmlns:a16="http://schemas.microsoft.com/office/drawing/2014/main" id="{77A32F0E-EE69-CD28-0D12-4F565807124E}"/>
              </a:ext>
            </a:extLst>
          </p:cNvPr>
          <p:cNvSpPr txBox="1"/>
          <p:nvPr/>
        </p:nvSpPr>
        <p:spPr>
          <a:xfrm>
            <a:off x="7585561" y="4099829"/>
            <a:ext cx="3152107" cy="1754326"/>
          </a:xfrm>
          <a:prstGeom prst="rect">
            <a:avLst/>
          </a:prstGeom>
          <a:noFill/>
        </p:spPr>
        <p:txBody>
          <a:bodyPr wrap="square" rtlCol="0">
            <a:spAutoFit/>
          </a:bodyPr>
          <a:lstStyle/>
          <a:p>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问题：</a:t>
            </a:r>
            <a:endParaRPr kumimoji="1" lang="en-US" altLang="zh-CN" sz="1800"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监测信号与参考信号（无论是原始输出或是数字下变频输出），其时域图极其</a:t>
            </a:r>
            <a:r>
              <a:rPr kumimoji="1" lang="zh-CN" altLang="en-US" b="1" dirty="0">
                <a:ln w="12700">
                  <a:noFill/>
                </a:ln>
                <a:solidFill>
                  <a:srgbClr val="262626">
                    <a:alpha val="100000"/>
                  </a:srgbClr>
                </a:solidFill>
                <a:latin typeface="Source Han Sans" panose="020B0500000000000000" charset="-122"/>
                <a:ea typeface="Source Han Sans" panose="020B0500000000000000" charset="-122"/>
              </a:rPr>
              <a:t>复杂</a:t>
            </a: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，难以进行进一步分析。</a:t>
            </a: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p:txBody>
      </p:sp>
      <p:sp>
        <p:nvSpPr>
          <p:cNvPr id="8" name="文本框 7">
            <a:extLst>
              <a:ext uri="{FF2B5EF4-FFF2-40B4-BE49-F238E27FC236}">
                <a16:creationId xmlns:a16="http://schemas.microsoft.com/office/drawing/2014/main" id="{ECE6C604-FF90-C675-1F3E-88D550457D13}"/>
              </a:ext>
            </a:extLst>
          </p:cNvPr>
          <p:cNvSpPr txBox="1"/>
          <p:nvPr/>
        </p:nvSpPr>
        <p:spPr>
          <a:xfrm>
            <a:off x="4806327" y="3244334"/>
            <a:ext cx="1436914" cy="369332"/>
          </a:xfrm>
          <a:prstGeom prst="rect">
            <a:avLst/>
          </a:prstGeom>
          <a:noFill/>
        </p:spPr>
        <p:txBody>
          <a:bodyPr wrap="square" rtlCol="0">
            <a:spAutoFit/>
          </a:bodyPr>
          <a:lstStyle/>
          <a:p>
            <a:r>
              <a:rPr lang="zh-CN" altLang="en-US" b="1" dirty="0"/>
              <a:t>数字下变频</a:t>
            </a:r>
          </a:p>
        </p:txBody>
      </p:sp>
      <p:sp>
        <p:nvSpPr>
          <p:cNvPr id="12" name="文本框 11">
            <a:extLst>
              <a:ext uri="{FF2B5EF4-FFF2-40B4-BE49-F238E27FC236}">
                <a16:creationId xmlns:a16="http://schemas.microsoft.com/office/drawing/2014/main" id="{18C80DA2-323A-4362-7782-AB09A48C04DF}"/>
              </a:ext>
            </a:extLst>
          </p:cNvPr>
          <p:cNvSpPr txBox="1"/>
          <p:nvPr/>
        </p:nvSpPr>
        <p:spPr>
          <a:xfrm>
            <a:off x="1702526" y="3266467"/>
            <a:ext cx="1436914" cy="369332"/>
          </a:xfrm>
          <a:prstGeom prst="rect">
            <a:avLst/>
          </a:prstGeom>
          <a:noFill/>
        </p:spPr>
        <p:txBody>
          <a:bodyPr wrap="square" rtlCol="0">
            <a:spAutoFit/>
          </a:bodyPr>
          <a:lstStyle/>
          <a:p>
            <a:r>
              <a:rPr lang="zh-CN" altLang="en-US" b="1" dirty="0"/>
              <a:t>原始</a:t>
            </a:r>
          </a:p>
        </p:txBody>
      </p:sp>
    </p:spTree>
    <p:extLst>
      <p:ext uri="{BB962C8B-B14F-4D97-AF65-F5344CB8AC3E}">
        <p14:creationId xmlns:p14="http://schemas.microsoft.com/office/powerpoint/2010/main" val="3563056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E3606-2472-7834-7D0F-D1DD06D86BFA}"/>
            </a:ext>
          </a:extLst>
        </p:cNvPr>
        <p:cNvGrpSpPr/>
        <p:nvPr/>
      </p:nvGrpSpPr>
      <p:grpSpPr>
        <a:xfrm>
          <a:off x="0" y="0"/>
          <a:ext cx="0" cy="0"/>
          <a:chOff x="0" y="0"/>
          <a:chExt cx="0" cy="0"/>
        </a:xfrm>
      </p:grpSpPr>
      <p:pic>
        <p:nvPicPr>
          <p:cNvPr id="20" name="图片 19">
            <a:extLst>
              <a:ext uri="{FF2B5EF4-FFF2-40B4-BE49-F238E27FC236}">
                <a16:creationId xmlns:a16="http://schemas.microsoft.com/office/drawing/2014/main" id="{19540636-31A7-7CAB-5254-50EAF7030E3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56625" y="3874204"/>
            <a:ext cx="2833000" cy="2127112"/>
          </a:xfrm>
          <a:prstGeom prst="rect">
            <a:avLst/>
          </a:prstGeom>
          <a:noFill/>
          <a:ln>
            <a:noFill/>
          </a:ln>
        </p:spPr>
      </p:pic>
      <p:sp>
        <p:nvSpPr>
          <p:cNvPr id="10" name="标题 1">
            <a:extLst>
              <a:ext uri="{FF2B5EF4-FFF2-40B4-BE49-F238E27FC236}">
                <a16:creationId xmlns:a16="http://schemas.microsoft.com/office/drawing/2014/main" id="{07A17731-3CCA-45D0-5992-6719B369628E}"/>
              </a:ext>
            </a:extLst>
          </p:cNvPr>
          <p:cNvSpPr txBox="1"/>
          <p:nvPr/>
        </p:nvSpPr>
        <p:spPr>
          <a:xfrm>
            <a:off x="5783650" y="2058806"/>
            <a:ext cx="612000" cy="554849"/>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cxnSp>
        <p:nvCxnSpPr>
          <p:cNvPr id="17" name="标题 1">
            <a:extLst>
              <a:ext uri="{FF2B5EF4-FFF2-40B4-BE49-F238E27FC236}">
                <a16:creationId xmlns:a16="http://schemas.microsoft.com/office/drawing/2014/main" id="{0796F5C4-DD10-6839-1708-6C153268161E}"/>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8" name="标题 1">
            <a:extLst>
              <a:ext uri="{FF2B5EF4-FFF2-40B4-BE49-F238E27FC236}">
                <a16:creationId xmlns:a16="http://schemas.microsoft.com/office/drawing/2014/main" id="{AB1E4595-5C5D-E7B2-6CE1-A68BCAC6DE7D}"/>
              </a:ext>
            </a:extLst>
          </p:cNvPr>
          <p:cNvCxnSpPr/>
          <p:nvPr/>
        </p:nvCxnSpPr>
        <p:spPr>
          <a:xfrm>
            <a:off x="312738" y="770539"/>
            <a:ext cx="652463" cy="0"/>
          </a:xfrm>
          <a:prstGeom prst="line">
            <a:avLst/>
          </a:prstGeom>
          <a:noFill/>
          <a:ln w="44450" cap="sq">
            <a:solidFill>
              <a:schemeClr val="accent1"/>
            </a:solidFill>
            <a:round/>
          </a:ln>
        </p:spPr>
      </p:cxnSp>
      <p:sp>
        <p:nvSpPr>
          <p:cNvPr id="23" name="文本框 22">
            <a:extLst>
              <a:ext uri="{FF2B5EF4-FFF2-40B4-BE49-F238E27FC236}">
                <a16:creationId xmlns:a16="http://schemas.microsoft.com/office/drawing/2014/main" id="{09B1B57F-BE52-17ED-CCC6-65B1BD53D40E}"/>
              </a:ext>
            </a:extLst>
          </p:cNvPr>
          <p:cNvSpPr txBox="1"/>
          <p:nvPr/>
        </p:nvSpPr>
        <p:spPr>
          <a:xfrm>
            <a:off x="223405" y="247319"/>
            <a:ext cx="5008418" cy="523220"/>
          </a:xfrm>
          <a:prstGeom prst="rect">
            <a:avLst/>
          </a:prstGeom>
          <a:noFill/>
        </p:spPr>
        <p:txBody>
          <a:bodyPr wrap="square" rtlCol="0">
            <a:spAutoFit/>
          </a:bodyPr>
          <a:lstStyle/>
          <a:p>
            <a:r>
              <a:rPr lang="zh-CN" altLang="en-US" sz="2800" b="1" dirty="0">
                <a:latin typeface="Source Han Sans" panose="020B0500000000000000" charset="-122"/>
                <a:ea typeface="Source Han Sans" panose="020B0500000000000000" charset="-122"/>
              </a:rPr>
              <a:t>时域图</a:t>
            </a:r>
            <a:r>
              <a:rPr lang="en-US" altLang="zh-CN" sz="2800" b="1" dirty="0">
                <a:latin typeface="Source Han Sans" panose="020B0500000000000000" charset="-122"/>
                <a:ea typeface="Source Han Sans" panose="020B0500000000000000" charset="-122"/>
              </a:rPr>
              <a:t>+</a:t>
            </a:r>
            <a:r>
              <a:rPr lang="zh-CN" altLang="en-US" sz="2800" b="1" dirty="0">
                <a:latin typeface="Source Han Sans" panose="020B0500000000000000" charset="-122"/>
                <a:ea typeface="Source Han Sans" panose="020B0500000000000000" charset="-122"/>
              </a:rPr>
              <a:t>频谱图</a:t>
            </a:r>
          </a:p>
        </p:txBody>
      </p:sp>
      <p:sp>
        <p:nvSpPr>
          <p:cNvPr id="24" name="文本框 23">
            <a:extLst>
              <a:ext uri="{FF2B5EF4-FFF2-40B4-BE49-F238E27FC236}">
                <a16:creationId xmlns:a16="http://schemas.microsoft.com/office/drawing/2014/main" id="{3E6AD97D-69DF-30DD-1620-5864295EDCC2}"/>
              </a:ext>
            </a:extLst>
          </p:cNvPr>
          <p:cNvSpPr txBox="1"/>
          <p:nvPr/>
        </p:nvSpPr>
        <p:spPr>
          <a:xfrm>
            <a:off x="7718268" y="2764814"/>
            <a:ext cx="3604953" cy="2585323"/>
          </a:xfrm>
          <a:prstGeom prst="rect">
            <a:avLst/>
          </a:prstGeom>
          <a:noFill/>
        </p:spPr>
        <p:txBody>
          <a:bodyPr wrap="square" rtlCol="0">
            <a:spAutoFit/>
          </a:bodyPr>
          <a:lstStyle/>
          <a:p>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注释：</a:t>
            </a:r>
            <a:endParaRPr kumimoji="1" lang="en-US" altLang="zh-CN" sz="1800"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频谱图与示例频谱图较为</a:t>
            </a:r>
            <a:r>
              <a:rPr kumimoji="1" lang="zh-CN" altLang="en-US" sz="1800" b="1" dirty="0">
                <a:ln w="12700">
                  <a:noFill/>
                </a:ln>
                <a:solidFill>
                  <a:srgbClr val="262626">
                    <a:alpha val="100000"/>
                  </a:srgbClr>
                </a:solidFill>
                <a:latin typeface="Source Han Sans" panose="020B0500000000000000" charset="-122"/>
                <a:ea typeface="Source Han Sans" panose="020B0500000000000000" charset="-122"/>
              </a:rPr>
              <a:t>接近</a:t>
            </a:r>
            <a:endParaRPr kumimoji="1" lang="en-US" altLang="zh-CN" sz="1800" b="1"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前文问题通过限制坐标轴取值，以及仅对实部</a:t>
            </a:r>
            <a:r>
              <a:rPr kumimoji="1" lang="en-US" altLang="zh-CN" dirty="0">
                <a:ln w="12700">
                  <a:noFill/>
                </a:ln>
                <a:solidFill>
                  <a:srgbClr val="262626">
                    <a:alpha val="100000"/>
                  </a:srgbClr>
                </a:solidFill>
                <a:latin typeface="Source Han Sans" panose="020B0500000000000000" charset="-122"/>
                <a:ea typeface="Source Han Sans" panose="020B0500000000000000" charset="-122"/>
              </a:rPr>
              <a:t>/</a:t>
            </a: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虚部进行绘图，得出相对好</a:t>
            </a:r>
            <a:r>
              <a:rPr kumimoji="1" lang="zh-CN" altLang="en-US" b="1" dirty="0">
                <a:ln w="12700">
                  <a:noFill/>
                </a:ln>
                <a:solidFill>
                  <a:srgbClr val="262626">
                    <a:alpha val="100000"/>
                  </a:srgbClr>
                </a:solidFill>
                <a:latin typeface="Source Han Sans" panose="020B0500000000000000" charset="-122"/>
                <a:ea typeface="Source Han Sans" panose="020B0500000000000000" charset="-122"/>
              </a:rPr>
              <a:t>分析</a:t>
            </a: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的图像。</a:t>
            </a: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FontTx/>
              <a:buAutoNum type="arabicPeriod"/>
            </a:pP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幅度单位已全部转化为</a:t>
            </a:r>
            <a:r>
              <a:rPr kumimoji="1" lang="zh-CN" altLang="en-US" b="1" dirty="0">
                <a:ln w="12700">
                  <a:noFill/>
                </a:ln>
                <a:solidFill>
                  <a:srgbClr val="262626">
                    <a:alpha val="100000"/>
                  </a:srgbClr>
                </a:solidFill>
                <a:latin typeface="Source Han Sans" panose="020B0500000000000000" charset="-122"/>
                <a:ea typeface="Source Han Sans" panose="020B0500000000000000" charset="-122"/>
              </a:rPr>
              <a:t>分贝</a:t>
            </a:r>
            <a:endParaRPr kumimoji="1" lang="en-US" altLang="zh-CN" b="1"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p:txBody>
      </p:sp>
      <p:pic>
        <p:nvPicPr>
          <p:cNvPr id="2" name="图片 1">
            <a:extLst>
              <a:ext uri="{FF2B5EF4-FFF2-40B4-BE49-F238E27FC236}">
                <a16:creationId xmlns:a16="http://schemas.microsoft.com/office/drawing/2014/main" id="{174EDCBF-2927-E03D-56D5-BBA56392C14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041" y="1084905"/>
            <a:ext cx="2750365" cy="2064926"/>
          </a:xfrm>
          <a:prstGeom prst="rect">
            <a:avLst/>
          </a:prstGeom>
          <a:noFill/>
          <a:ln>
            <a:noFill/>
          </a:ln>
        </p:spPr>
      </p:pic>
      <p:pic>
        <p:nvPicPr>
          <p:cNvPr id="3" name="图片 2">
            <a:extLst>
              <a:ext uri="{FF2B5EF4-FFF2-40B4-BE49-F238E27FC236}">
                <a16:creationId xmlns:a16="http://schemas.microsoft.com/office/drawing/2014/main" id="{F4A7D5F0-1EA1-0B87-7C3A-BE8662EDCC3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92847" y="1036819"/>
            <a:ext cx="2900350" cy="2177532"/>
          </a:xfrm>
          <a:prstGeom prst="rect">
            <a:avLst/>
          </a:prstGeom>
          <a:noFill/>
          <a:ln>
            <a:noFill/>
          </a:ln>
        </p:spPr>
      </p:pic>
      <p:sp>
        <p:nvSpPr>
          <p:cNvPr id="6" name="文本框 5">
            <a:extLst>
              <a:ext uri="{FF2B5EF4-FFF2-40B4-BE49-F238E27FC236}">
                <a16:creationId xmlns:a16="http://schemas.microsoft.com/office/drawing/2014/main" id="{1001A595-24ED-E562-9581-C51DB9F3DD40}"/>
              </a:ext>
            </a:extLst>
          </p:cNvPr>
          <p:cNvSpPr txBox="1"/>
          <p:nvPr/>
        </p:nvSpPr>
        <p:spPr>
          <a:xfrm>
            <a:off x="260375" y="1617753"/>
            <a:ext cx="461665" cy="1015663"/>
          </a:xfrm>
          <a:prstGeom prst="rect">
            <a:avLst/>
          </a:prstGeom>
          <a:noFill/>
        </p:spPr>
        <p:txBody>
          <a:bodyPr vert="eaVert" wrap="none" rtlCol="0">
            <a:spAutoFit/>
          </a:bodyPr>
          <a:lstStyle/>
          <a:p>
            <a:r>
              <a:rPr lang="zh-CN" altLang="en-US" dirty="0"/>
              <a:t>监测信号</a:t>
            </a:r>
          </a:p>
        </p:txBody>
      </p:sp>
      <p:sp>
        <p:nvSpPr>
          <p:cNvPr id="7" name="文本框 6">
            <a:extLst>
              <a:ext uri="{FF2B5EF4-FFF2-40B4-BE49-F238E27FC236}">
                <a16:creationId xmlns:a16="http://schemas.microsoft.com/office/drawing/2014/main" id="{50CC1129-4D49-60EF-947C-23DF7539506B}"/>
              </a:ext>
            </a:extLst>
          </p:cNvPr>
          <p:cNvSpPr txBox="1"/>
          <p:nvPr/>
        </p:nvSpPr>
        <p:spPr>
          <a:xfrm>
            <a:off x="260375" y="4345577"/>
            <a:ext cx="461665" cy="1015663"/>
          </a:xfrm>
          <a:prstGeom prst="rect">
            <a:avLst/>
          </a:prstGeom>
          <a:noFill/>
        </p:spPr>
        <p:txBody>
          <a:bodyPr vert="eaVert" wrap="none" rtlCol="0">
            <a:spAutoFit/>
          </a:bodyPr>
          <a:lstStyle/>
          <a:p>
            <a:r>
              <a:rPr lang="zh-CN" altLang="en-US" dirty="0"/>
              <a:t>参考信号</a:t>
            </a:r>
          </a:p>
        </p:txBody>
      </p:sp>
      <p:sp>
        <p:nvSpPr>
          <p:cNvPr id="15" name="右大括号 14">
            <a:extLst>
              <a:ext uri="{FF2B5EF4-FFF2-40B4-BE49-F238E27FC236}">
                <a16:creationId xmlns:a16="http://schemas.microsoft.com/office/drawing/2014/main" id="{9E2A0C6E-D543-1817-11A5-3AD8D20DD891}"/>
              </a:ext>
            </a:extLst>
          </p:cNvPr>
          <p:cNvSpPr/>
          <p:nvPr/>
        </p:nvSpPr>
        <p:spPr>
          <a:xfrm rot="5400000">
            <a:off x="6162668" y="5842141"/>
            <a:ext cx="140187" cy="27352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AC9EDA2A-F6E4-B514-279B-D5BB1A2B0997}"/>
              </a:ext>
            </a:extLst>
          </p:cNvPr>
          <p:cNvSpPr txBox="1"/>
          <p:nvPr/>
        </p:nvSpPr>
        <p:spPr>
          <a:xfrm>
            <a:off x="5860868" y="6048996"/>
            <a:ext cx="2194560" cy="369332"/>
          </a:xfrm>
          <a:prstGeom prst="rect">
            <a:avLst/>
          </a:prstGeom>
          <a:noFill/>
        </p:spPr>
        <p:txBody>
          <a:bodyPr wrap="square" rtlCol="0">
            <a:spAutoFit/>
          </a:bodyPr>
          <a:lstStyle/>
          <a:p>
            <a:r>
              <a:rPr lang="en-US" altLang="zh-CN" b="1" dirty="0"/>
              <a:t>3MHz</a:t>
            </a:r>
            <a:endParaRPr lang="zh-CN" altLang="en-US" b="1" dirty="0"/>
          </a:p>
        </p:txBody>
      </p:sp>
      <p:pic>
        <p:nvPicPr>
          <p:cNvPr id="13" name="图片 12">
            <a:extLst>
              <a:ext uri="{FF2B5EF4-FFF2-40B4-BE49-F238E27FC236}">
                <a16:creationId xmlns:a16="http://schemas.microsoft.com/office/drawing/2014/main" id="{438EBD60-F032-D112-0906-3AF5A941FCD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4701" y="4000607"/>
            <a:ext cx="2483281" cy="1982599"/>
          </a:xfrm>
          <a:prstGeom prst="rect">
            <a:avLst/>
          </a:prstGeom>
          <a:noFill/>
          <a:ln>
            <a:noFill/>
          </a:ln>
        </p:spPr>
      </p:pic>
      <p:pic>
        <p:nvPicPr>
          <p:cNvPr id="8" name="图片 7">
            <a:extLst>
              <a:ext uri="{FF2B5EF4-FFF2-40B4-BE49-F238E27FC236}">
                <a16:creationId xmlns:a16="http://schemas.microsoft.com/office/drawing/2014/main" id="{F102F74B-0864-FF8F-1DB7-9A048B4192B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2040" y="1006669"/>
            <a:ext cx="3063875" cy="2300304"/>
          </a:xfrm>
          <a:prstGeom prst="rect">
            <a:avLst/>
          </a:prstGeom>
          <a:noFill/>
          <a:ln>
            <a:noFill/>
          </a:ln>
        </p:spPr>
      </p:pic>
      <p:pic>
        <p:nvPicPr>
          <p:cNvPr id="12" name="图片 11">
            <a:extLst>
              <a:ext uri="{FF2B5EF4-FFF2-40B4-BE49-F238E27FC236}">
                <a16:creationId xmlns:a16="http://schemas.microsoft.com/office/drawing/2014/main" id="{8650D3AB-0840-D9CF-502C-A0D93715DAC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04615" y="1036818"/>
            <a:ext cx="3152107" cy="2366926"/>
          </a:xfrm>
          <a:prstGeom prst="rect">
            <a:avLst/>
          </a:prstGeom>
          <a:noFill/>
          <a:ln>
            <a:noFill/>
          </a:ln>
        </p:spPr>
      </p:pic>
      <p:cxnSp>
        <p:nvCxnSpPr>
          <p:cNvPr id="9" name="直接连接符 8">
            <a:extLst>
              <a:ext uri="{FF2B5EF4-FFF2-40B4-BE49-F238E27FC236}">
                <a16:creationId xmlns:a16="http://schemas.microsoft.com/office/drawing/2014/main" id="{8016BCD6-763A-A24D-DA4D-ABC9D65AC5F6}"/>
              </a:ext>
            </a:extLst>
          </p:cNvPr>
          <p:cNvCxnSpPr/>
          <p:nvPr/>
        </p:nvCxnSpPr>
        <p:spPr>
          <a:xfrm>
            <a:off x="2647406" y="4937760"/>
            <a:ext cx="0" cy="931817"/>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接连接符 10">
            <a:extLst>
              <a:ext uri="{FF2B5EF4-FFF2-40B4-BE49-F238E27FC236}">
                <a16:creationId xmlns:a16="http://schemas.microsoft.com/office/drawing/2014/main" id="{FD51B024-CFB8-6A67-94EC-ECC07F0847B4}"/>
              </a:ext>
            </a:extLst>
          </p:cNvPr>
          <p:cNvCxnSpPr/>
          <p:nvPr/>
        </p:nvCxnSpPr>
        <p:spPr>
          <a:xfrm>
            <a:off x="6100355" y="4976992"/>
            <a:ext cx="0" cy="931817"/>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9C75F7E6-6D7F-6B7D-A901-706707BA626A}"/>
              </a:ext>
            </a:extLst>
          </p:cNvPr>
          <p:cNvCxnSpPr/>
          <p:nvPr/>
        </p:nvCxnSpPr>
        <p:spPr>
          <a:xfrm>
            <a:off x="6369523" y="4976992"/>
            <a:ext cx="0" cy="931817"/>
          </a:xfrm>
          <a:prstGeom prst="line">
            <a:avLst/>
          </a:prstGeom>
        </p:spPr>
        <p:style>
          <a:lnRef idx="3">
            <a:schemeClr val="accent2"/>
          </a:lnRef>
          <a:fillRef idx="0">
            <a:schemeClr val="accent2"/>
          </a:fillRef>
          <a:effectRef idx="2">
            <a:schemeClr val="accent2"/>
          </a:effectRef>
          <a:fontRef idx="minor">
            <a:schemeClr val="tx1"/>
          </a:fontRef>
        </p:style>
      </p:cxnSp>
      <p:sp>
        <p:nvSpPr>
          <p:cNvPr id="4" name="文本框 3">
            <a:extLst>
              <a:ext uri="{FF2B5EF4-FFF2-40B4-BE49-F238E27FC236}">
                <a16:creationId xmlns:a16="http://schemas.microsoft.com/office/drawing/2014/main" id="{CDAD3F57-B5D6-D6AF-3D68-9F6D9E110B83}"/>
              </a:ext>
            </a:extLst>
          </p:cNvPr>
          <p:cNvSpPr txBox="1"/>
          <p:nvPr/>
        </p:nvSpPr>
        <p:spPr>
          <a:xfrm>
            <a:off x="1928949" y="3411145"/>
            <a:ext cx="1436914" cy="369332"/>
          </a:xfrm>
          <a:prstGeom prst="rect">
            <a:avLst/>
          </a:prstGeom>
          <a:noFill/>
        </p:spPr>
        <p:txBody>
          <a:bodyPr wrap="square" rtlCol="0">
            <a:spAutoFit/>
          </a:bodyPr>
          <a:lstStyle/>
          <a:p>
            <a:r>
              <a:rPr lang="zh-CN" altLang="en-US" b="1" dirty="0"/>
              <a:t>原始</a:t>
            </a:r>
          </a:p>
        </p:txBody>
      </p:sp>
      <p:sp>
        <p:nvSpPr>
          <p:cNvPr id="5" name="文本框 4">
            <a:extLst>
              <a:ext uri="{FF2B5EF4-FFF2-40B4-BE49-F238E27FC236}">
                <a16:creationId xmlns:a16="http://schemas.microsoft.com/office/drawing/2014/main" id="{969B9CE2-952F-B338-1A9B-333954A7E888}"/>
              </a:ext>
            </a:extLst>
          </p:cNvPr>
          <p:cNvSpPr txBox="1"/>
          <p:nvPr/>
        </p:nvSpPr>
        <p:spPr>
          <a:xfrm>
            <a:off x="4762211" y="3411145"/>
            <a:ext cx="1436914" cy="369332"/>
          </a:xfrm>
          <a:prstGeom prst="rect">
            <a:avLst/>
          </a:prstGeom>
          <a:noFill/>
        </p:spPr>
        <p:txBody>
          <a:bodyPr wrap="square" rtlCol="0">
            <a:spAutoFit/>
          </a:bodyPr>
          <a:lstStyle/>
          <a:p>
            <a:r>
              <a:rPr lang="zh-CN" altLang="en-US" b="1" dirty="0"/>
              <a:t>数字下变频</a:t>
            </a:r>
          </a:p>
        </p:txBody>
      </p:sp>
    </p:spTree>
    <p:extLst>
      <p:ext uri="{BB962C8B-B14F-4D97-AF65-F5344CB8AC3E}">
        <p14:creationId xmlns:p14="http://schemas.microsoft.com/office/powerpoint/2010/main" val="1637952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308F-3123-2600-4D12-8875BD3B56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F15114-8BBA-905C-2877-05F006E9DBC8}"/>
              </a:ext>
            </a:extLst>
          </p:cNvPr>
          <p:cNvSpPr txBox="1"/>
          <p:nvPr/>
        </p:nvSpPr>
        <p:spPr>
          <a:xfrm>
            <a:off x="1" y="1"/>
            <a:ext cx="12192000" cy="6858000"/>
          </a:xfrm>
          <a:prstGeom prst="rect">
            <a:avLst/>
          </a:prstGeom>
          <a:gradFill>
            <a:gsLst>
              <a:gs pos="14000">
                <a:schemeClr val="accent1">
                  <a:lumMod val="20000"/>
                  <a:lumOff val="80000"/>
                  <a:alpha val="0"/>
                </a:schemeClr>
              </a:gs>
              <a:gs pos="100000">
                <a:schemeClr val="accent1">
                  <a:lumMod val="40000"/>
                  <a:lumOff val="60000"/>
                  <a:alpha val="1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a:extLst>
              <a:ext uri="{FF2B5EF4-FFF2-40B4-BE49-F238E27FC236}">
                <a16:creationId xmlns:a16="http://schemas.microsoft.com/office/drawing/2014/main" id="{C1A1A32A-9C94-3185-9DAB-E85C7B99F5B7}"/>
              </a:ext>
            </a:extLst>
          </p:cNvPr>
          <p:cNvSpPr txBox="1"/>
          <p:nvPr/>
        </p:nvSpPr>
        <p:spPr>
          <a:xfrm>
            <a:off x="-22412" y="5804149"/>
            <a:ext cx="12248030" cy="1053851"/>
          </a:xfrm>
          <a:custGeom>
            <a:avLst/>
            <a:gdLst>
              <a:gd name="connsiteX0" fmla="*/ 0 w 12191999"/>
              <a:gd name="connsiteY0" fmla="*/ 0 h 1053835"/>
              <a:gd name="connsiteX1" fmla="*/ 84912 w 12191999"/>
              <a:gd name="connsiteY1" fmla="*/ 44439 h 1053835"/>
              <a:gd name="connsiteX2" fmla="*/ 6096001 w 12191999"/>
              <a:gd name="connsiteY2" fmla="*/ 918960 h 1053835"/>
              <a:gd name="connsiteX3" fmla="*/ 12107089 w 12191999"/>
              <a:gd name="connsiteY3" fmla="*/ 44439 h 1053835"/>
              <a:gd name="connsiteX4" fmla="*/ 12191999 w 12191999"/>
              <a:gd name="connsiteY4" fmla="*/ 1 h 1053835"/>
              <a:gd name="connsiteX5" fmla="*/ 12191999 w 12191999"/>
              <a:gd name="connsiteY5" fmla="*/ 1053835 h 1053835"/>
              <a:gd name="connsiteX6" fmla="*/ 0 w 12191999"/>
              <a:gd name="connsiteY6" fmla="*/ 1053835 h 1053835"/>
            </a:gdLst>
            <a:ahLst/>
            <a:cxnLst/>
            <a:rect l="l" t="t" r="r" b="b"/>
            <a:pathLst>
              <a:path w="12191999" h="1053835">
                <a:moveTo>
                  <a:pt x="0" y="0"/>
                </a:moveTo>
                <a:lnTo>
                  <a:pt x="84912" y="44439"/>
                </a:lnTo>
                <a:cubicBezTo>
                  <a:pt x="1182612" y="562756"/>
                  <a:pt x="3462028" y="918960"/>
                  <a:pt x="6096001" y="918960"/>
                </a:cubicBezTo>
                <a:cubicBezTo>
                  <a:pt x="8729972" y="918960"/>
                  <a:pt x="11009388" y="562756"/>
                  <a:pt x="12107089" y="44439"/>
                </a:cubicBezTo>
                <a:lnTo>
                  <a:pt x="12191999" y="1"/>
                </a:lnTo>
                <a:lnTo>
                  <a:pt x="12191999" y="1053835"/>
                </a:lnTo>
                <a:lnTo>
                  <a:pt x="0" y="1053835"/>
                </a:lnTo>
                <a:close/>
              </a:path>
            </a:pathLst>
          </a:custGeom>
          <a:solidFill>
            <a:srgbClr val="FFFFFF">
              <a:alpha val="100000"/>
            </a:srgbClr>
          </a:solidFill>
          <a:ln w="254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4" name="标题 1">
            <a:extLst>
              <a:ext uri="{FF2B5EF4-FFF2-40B4-BE49-F238E27FC236}">
                <a16:creationId xmlns:a16="http://schemas.microsoft.com/office/drawing/2014/main" id="{8A1E1048-CBFF-C247-3E70-9A4DB11A7F46}"/>
              </a:ext>
            </a:extLst>
          </p:cNvPr>
          <p:cNvSpPr txBox="1"/>
          <p:nvPr/>
        </p:nvSpPr>
        <p:spPr>
          <a:xfrm>
            <a:off x="-10055" y="5826078"/>
            <a:ext cx="12248030" cy="1031922"/>
          </a:xfrm>
          <a:custGeom>
            <a:avLst/>
            <a:gdLst>
              <a:gd name="connsiteX0" fmla="*/ 0 w 12191999"/>
              <a:gd name="connsiteY0" fmla="*/ 0 h 1031906"/>
              <a:gd name="connsiteX1" fmla="*/ 97612 w 12191999"/>
              <a:gd name="connsiteY1" fmla="*/ 51085 h 1031906"/>
              <a:gd name="connsiteX2" fmla="*/ 6108700 w 12191999"/>
              <a:gd name="connsiteY2" fmla="*/ 925606 h 1031906"/>
              <a:gd name="connsiteX3" fmla="*/ 12119789 w 12191999"/>
              <a:gd name="connsiteY3" fmla="*/ 51085 h 1031906"/>
              <a:gd name="connsiteX4" fmla="*/ 12191999 w 12191999"/>
              <a:gd name="connsiteY4" fmla="*/ 13293 h 1031906"/>
              <a:gd name="connsiteX5" fmla="*/ 12191999 w 12191999"/>
              <a:gd name="connsiteY5" fmla="*/ 1031906 h 1031906"/>
              <a:gd name="connsiteX6" fmla="*/ 0 w 12191999"/>
              <a:gd name="connsiteY6" fmla="*/ 1031906 h 1031906"/>
            </a:gdLst>
            <a:ahLst/>
            <a:cxnLst/>
            <a:rect l="l" t="t" r="r" b="b"/>
            <a:pathLst>
              <a:path w="12191999" h="1031906">
                <a:moveTo>
                  <a:pt x="0" y="0"/>
                </a:moveTo>
                <a:lnTo>
                  <a:pt x="97612" y="51085"/>
                </a:lnTo>
                <a:cubicBezTo>
                  <a:pt x="1195312" y="569402"/>
                  <a:pt x="3474728" y="925606"/>
                  <a:pt x="6108700" y="925606"/>
                </a:cubicBezTo>
                <a:cubicBezTo>
                  <a:pt x="8742672" y="925606"/>
                  <a:pt x="11022088" y="569402"/>
                  <a:pt x="12119789" y="51085"/>
                </a:cubicBezTo>
                <a:lnTo>
                  <a:pt x="12191999" y="13293"/>
                </a:lnTo>
                <a:lnTo>
                  <a:pt x="12191999" y="1031906"/>
                </a:lnTo>
                <a:lnTo>
                  <a:pt x="0" y="1031906"/>
                </a:lnTo>
                <a:close/>
              </a:path>
            </a:pathLst>
          </a:custGeom>
          <a:solidFill>
            <a:schemeClr val="accent1"/>
          </a:solidFill>
          <a:ln w="254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5" name="标题 1">
            <a:extLst>
              <a:ext uri="{FF2B5EF4-FFF2-40B4-BE49-F238E27FC236}">
                <a16:creationId xmlns:a16="http://schemas.microsoft.com/office/drawing/2014/main" id="{FF213BAD-3E51-F654-6D6E-1D1B4A37520E}"/>
              </a:ext>
            </a:extLst>
          </p:cNvPr>
          <p:cNvSpPr txBox="1"/>
          <p:nvPr/>
        </p:nvSpPr>
        <p:spPr>
          <a:xfrm>
            <a:off x="895183" y="2902219"/>
            <a:ext cx="5344984" cy="1477122"/>
          </a:xfrm>
          <a:prstGeom prst="roundRect">
            <a:avLst>
              <a:gd name="adj" fmla="val 6926"/>
            </a:avLst>
          </a:prstGeom>
          <a:solidFill>
            <a:schemeClr val="bg1"/>
          </a:solidFill>
          <a:ln w="12700" cap="flat">
            <a:no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grpSp>
        <p:nvGrpSpPr>
          <p:cNvPr id="7" name="组合 6">
            <a:extLst>
              <a:ext uri="{FF2B5EF4-FFF2-40B4-BE49-F238E27FC236}">
                <a16:creationId xmlns:a16="http://schemas.microsoft.com/office/drawing/2014/main" id="{FE168CAC-7FF1-A23B-A920-A6D253BF4B82}"/>
              </a:ext>
            </a:extLst>
          </p:cNvPr>
          <p:cNvGrpSpPr/>
          <p:nvPr/>
        </p:nvGrpSpPr>
        <p:grpSpPr>
          <a:xfrm>
            <a:off x="5830917" y="4149618"/>
            <a:ext cx="304513" cy="144304"/>
            <a:chOff x="5830917" y="4149618"/>
            <a:chExt cx="304513" cy="144304"/>
          </a:xfrm>
        </p:grpSpPr>
        <p:sp>
          <p:nvSpPr>
            <p:cNvPr id="8" name="标题 1">
              <a:extLst>
                <a:ext uri="{FF2B5EF4-FFF2-40B4-BE49-F238E27FC236}">
                  <a16:creationId xmlns:a16="http://schemas.microsoft.com/office/drawing/2014/main" id="{1F1E537E-D8F9-8F08-0099-614173ADEB42}"/>
                </a:ext>
              </a:extLst>
            </p:cNvPr>
            <p:cNvSpPr txBox="1"/>
            <p:nvPr/>
          </p:nvSpPr>
          <p:spPr>
            <a:xfrm>
              <a:off x="6005951" y="4149618"/>
              <a:ext cx="129479" cy="144304"/>
            </a:xfrm>
            <a:custGeom>
              <a:avLst/>
              <a:gdLst>
                <a:gd name="connsiteX0" fmla="*/ 353819 w 357131"/>
                <a:gd name="connsiteY0" fmla="*/ 233684 h 477250"/>
                <a:gd name="connsiteX1" fmla="*/ 194262 w 357131"/>
                <a:gd name="connsiteY1" fmla="*/ 6628 h 477250"/>
                <a:gd name="connsiteX2" fmla="*/ 184470 w 357131"/>
                <a:gd name="connsiteY2" fmla="*/ 1808 h 477250"/>
                <a:gd name="connsiteX3" fmla="*/ 2160 w 357131"/>
                <a:gd name="connsiteY3" fmla="*/ 1808 h 477250"/>
                <a:gd name="connsiteX4" fmla="*/ 164597 w 357131"/>
                <a:gd name="connsiteY4" fmla="*/ 233202 h 477250"/>
                <a:gd name="connsiteX5" fmla="*/ 164597 w 357131"/>
                <a:gd name="connsiteY5" fmla="*/ 243566 h 477250"/>
                <a:gd name="connsiteX6" fmla="*/ 5616 w 357131"/>
                <a:gd name="connsiteY6" fmla="*/ 476648 h 477250"/>
                <a:gd name="connsiteX7" fmla="*/ 187926 w 357131"/>
                <a:gd name="connsiteY7" fmla="*/ 476648 h 477250"/>
                <a:gd name="connsiteX8" fmla="*/ 198006 w 357131"/>
                <a:gd name="connsiteY8" fmla="*/ 471827 h 477250"/>
                <a:gd name="connsiteX9" fmla="*/ 353531 w 357131"/>
                <a:gd name="connsiteY9" fmla="*/ 243325 h 477250"/>
                <a:gd name="connsiteX10" fmla="*/ 353819 w 357131"/>
                <a:gd name="connsiteY10" fmla="*/ 233684 h 477250"/>
              </a:gdLst>
              <a:ahLst/>
              <a:cxnLst/>
              <a:rect l="l" t="t" r="r" b="b"/>
              <a:pathLst>
                <a:path w="357131" h="477250">
                  <a:moveTo>
                    <a:pt x="353819" y="233684"/>
                  </a:moveTo>
                  <a:lnTo>
                    <a:pt x="194262" y="6628"/>
                  </a:lnTo>
                  <a:cubicBezTo>
                    <a:pt x="192246" y="3736"/>
                    <a:pt x="188502" y="1808"/>
                    <a:pt x="184470" y="1808"/>
                  </a:cubicBezTo>
                  <a:lnTo>
                    <a:pt x="2160" y="1808"/>
                  </a:lnTo>
                  <a:lnTo>
                    <a:pt x="164597" y="233202"/>
                  </a:lnTo>
                  <a:cubicBezTo>
                    <a:pt x="166901" y="236335"/>
                    <a:pt x="166901" y="240433"/>
                    <a:pt x="164597" y="243566"/>
                  </a:cubicBezTo>
                  <a:lnTo>
                    <a:pt x="5616" y="476648"/>
                  </a:lnTo>
                  <a:lnTo>
                    <a:pt x="187926" y="476648"/>
                  </a:lnTo>
                  <a:cubicBezTo>
                    <a:pt x="191958" y="476648"/>
                    <a:pt x="195990" y="474719"/>
                    <a:pt x="198006" y="471827"/>
                  </a:cubicBezTo>
                  <a:lnTo>
                    <a:pt x="353531" y="243325"/>
                  </a:lnTo>
                  <a:cubicBezTo>
                    <a:pt x="355835" y="240192"/>
                    <a:pt x="355835" y="236576"/>
                    <a:pt x="353819" y="233684"/>
                  </a:cubicBezTo>
                  <a:close/>
                </a:path>
              </a:pathLst>
            </a:custGeom>
            <a:solidFill>
              <a:schemeClr val="accent1"/>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a:extLst>
                <a:ext uri="{FF2B5EF4-FFF2-40B4-BE49-F238E27FC236}">
                  <a16:creationId xmlns:a16="http://schemas.microsoft.com/office/drawing/2014/main" id="{84A13BE0-5925-58E0-EDA5-1B3D563C85F6}"/>
                </a:ext>
              </a:extLst>
            </p:cNvPr>
            <p:cNvSpPr txBox="1"/>
            <p:nvPr/>
          </p:nvSpPr>
          <p:spPr>
            <a:xfrm>
              <a:off x="5905329" y="4149618"/>
              <a:ext cx="114860" cy="144304"/>
            </a:xfrm>
            <a:custGeom>
              <a:avLst/>
              <a:gdLst>
                <a:gd name="connsiteX0" fmla="*/ 314362 w 316810"/>
                <a:gd name="connsiteY0" fmla="*/ 233684 h 477250"/>
                <a:gd name="connsiteX1" fmla="*/ 154805 w 316810"/>
                <a:gd name="connsiteY1" fmla="*/ 6628 h 477250"/>
                <a:gd name="connsiteX2" fmla="*/ 145013 w 316810"/>
                <a:gd name="connsiteY2" fmla="*/ 1808 h 477250"/>
                <a:gd name="connsiteX3" fmla="*/ 2160 w 316810"/>
                <a:gd name="connsiteY3" fmla="*/ 1808 h 477250"/>
                <a:gd name="connsiteX4" fmla="*/ 164597 w 316810"/>
                <a:gd name="connsiteY4" fmla="*/ 233443 h 477250"/>
                <a:gd name="connsiteX5" fmla="*/ 164597 w 316810"/>
                <a:gd name="connsiteY5" fmla="*/ 243566 h 477250"/>
                <a:gd name="connsiteX6" fmla="*/ 5904 w 316810"/>
                <a:gd name="connsiteY6" fmla="*/ 476648 h 477250"/>
                <a:gd name="connsiteX7" fmla="*/ 148757 w 316810"/>
                <a:gd name="connsiteY7" fmla="*/ 476648 h 477250"/>
                <a:gd name="connsiteX8" fmla="*/ 158837 w 316810"/>
                <a:gd name="connsiteY8" fmla="*/ 471827 h 477250"/>
                <a:gd name="connsiteX9" fmla="*/ 314362 w 316810"/>
                <a:gd name="connsiteY9" fmla="*/ 243325 h 477250"/>
                <a:gd name="connsiteX10" fmla="*/ 314362 w 316810"/>
                <a:gd name="connsiteY10" fmla="*/ 233684 h 477250"/>
              </a:gdLst>
              <a:ahLst/>
              <a:cxnLst/>
              <a:rect l="l" t="t" r="r" b="b"/>
              <a:pathLst>
                <a:path w="316810" h="477250">
                  <a:moveTo>
                    <a:pt x="314362" y="233684"/>
                  </a:moveTo>
                  <a:lnTo>
                    <a:pt x="154805" y="6628"/>
                  </a:lnTo>
                  <a:cubicBezTo>
                    <a:pt x="152789" y="3736"/>
                    <a:pt x="149045" y="1808"/>
                    <a:pt x="145013" y="1808"/>
                  </a:cubicBezTo>
                  <a:lnTo>
                    <a:pt x="2160" y="1808"/>
                  </a:lnTo>
                  <a:lnTo>
                    <a:pt x="164597" y="233443"/>
                  </a:lnTo>
                  <a:cubicBezTo>
                    <a:pt x="166901" y="236576"/>
                    <a:pt x="166901" y="240433"/>
                    <a:pt x="164597" y="243566"/>
                  </a:cubicBezTo>
                  <a:lnTo>
                    <a:pt x="5904" y="476648"/>
                  </a:lnTo>
                  <a:lnTo>
                    <a:pt x="148757" y="476648"/>
                  </a:lnTo>
                  <a:cubicBezTo>
                    <a:pt x="152789" y="476648"/>
                    <a:pt x="156821" y="474719"/>
                    <a:pt x="158837" y="471827"/>
                  </a:cubicBezTo>
                  <a:lnTo>
                    <a:pt x="314362" y="243325"/>
                  </a:lnTo>
                  <a:cubicBezTo>
                    <a:pt x="316378" y="240192"/>
                    <a:pt x="316378" y="236576"/>
                    <a:pt x="314362" y="233684"/>
                  </a:cubicBezTo>
                  <a:close/>
                </a:path>
              </a:pathLst>
            </a:custGeom>
            <a:solidFill>
              <a:schemeClr val="accent1">
                <a:alpha val="7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a:extLst>
                <a:ext uri="{FF2B5EF4-FFF2-40B4-BE49-F238E27FC236}">
                  <a16:creationId xmlns:a16="http://schemas.microsoft.com/office/drawing/2014/main" id="{3D7D9428-A8D5-B5BC-7E6D-C79DFE3DF98E}"/>
                </a:ext>
              </a:extLst>
            </p:cNvPr>
            <p:cNvSpPr txBox="1"/>
            <p:nvPr/>
          </p:nvSpPr>
          <p:spPr>
            <a:xfrm>
              <a:off x="5830917" y="4149618"/>
              <a:ext cx="86668" cy="144304"/>
            </a:xfrm>
            <a:custGeom>
              <a:avLst/>
              <a:gdLst>
                <a:gd name="connsiteX0" fmla="*/ 237463 w 239047"/>
                <a:gd name="connsiteY0" fmla="*/ 233684 h 477250"/>
                <a:gd name="connsiteX1" fmla="*/ 77906 w 239047"/>
                <a:gd name="connsiteY1" fmla="*/ 6628 h 477250"/>
                <a:gd name="connsiteX2" fmla="*/ 68114 w 239047"/>
                <a:gd name="connsiteY2" fmla="*/ 1808 h 477250"/>
                <a:gd name="connsiteX3" fmla="*/ 2160 w 239047"/>
                <a:gd name="connsiteY3" fmla="*/ 1808 h 477250"/>
                <a:gd name="connsiteX4" fmla="*/ 164597 w 239047"/>
                <a:gd name="connsiteY4" fmla="*/ 233443 h 477250"/>
                <a:gd name="connsiteX5" fmla="*/ 164597 w 239047"/>
                <a:gd name="connsiteY5" fmla="*/ 243566 h 477250"/>
                <a:gd name="connsiteX6" fmla="*/ 5904 w 239047"/>
                <a:gd name="connsiteY6" fmla="*/ 476648 h 477250"/>
                <a:gd name="connsiteX7" fmla="*/ 71858 w 239047"/>
                <a:gd name="connsiteY7" fmla="*/ 476648 h 477250"/>
                <a:gd name="connsiteX8" fmla="*/ 81939 w 239047"/>
                <a:gd name="connsiteY8" fmla="*/ 471827 h 477250"/>
                <a:gd name="connsiteX9" fmla="*/ 237463 w 239047"/>
                <a:gd name="connsiteY9" fmla="*/ 243325 h 477250"/>
                <a:gd name="connsiteX10" fmla="*/ 237463 w 239047"/>
                <a:gd name="connsiteY10" fmla="*/ 233684 h 477250"/>
              </a:gdLst>
              <a:ahLst/>
              <a:cxnLst/>
              <a:rect l="l" t="t" r="r" b="b"/>
              <a:pathLst>
                <a:path w="239047" h="477250">
                  <a:moveTo>
                    <a:pt x="237463" y="233684"/>
                  </a:moveTo>
                  <a:lnTo>
                    <a:pt x="77906" y="6628"/>
                  </a:lnTo>
                  <a:cubicBezTo>
                    <a:pt x="75890" y="3736"/>
                    <a:pt x="72146" y="1808"/>
                    <a:pt x="68114" y="1808"/>
                  </a:cubicBezTo>
                  <a:lnTo>
                    <a:pt x="2160" y="1808"/>
                  </a:lnTo>
                  <a:lnTo>
                    <a:pt x="164597" y="233443"/>
                  </a:lnTo>
                  <a:cubicBezTo>
                    <a:pt x="166901" y="236576"/>
                    <a:pt x="166901" y="240433"/>
                    <a:pt x="164597" y="243566"/>
                  </a:cubicBezTo>
                  <a:lnTo>
                    <a:pt x="5904" y="476648"/>
                  </a:lnTo>
                  <a:lnTo>
                    <a:pt x="71858" y="476648"/>
                  </a:lnTo>
                  <a:cubicBezTo>
                    <a:pt x="75890" y="476648"/>
                    <a:pt x="79923" y="474719"/>
                    <a:pt x="81939" y="471827"/>
                  </a:cubicBezTo>
                  <a:lnTo>
                    <a:pt x="237463" y="243325"/>
                  </a:lnTo>
                  <a:cubicBezTo>
                    <a:pt x="239480" y="240192"/>
                    <a:pt x="239480" y="236576"/>
                    <a:pt x="237463" y="233684"/>
                  </a:cubicBezTo>
                  <a:close/>
                </a:path>
              </a:pathLst>
            </a:custGeom>
            <a:solidFill>
              <a:schemeClr val="accent1">
                <a:alpha val="3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grpSp>
      <p:sp>
        <p:nvSpPr>
          <p:cNvPr id="11" name="标题 1">
            <a:extLst>
              <a:ext uri="{FF2B5EF4-FFF2-40B4-BE49-F238E27FC236}">
                <a16:creationId xmlns:a16="http://schemas.microsoft.com/office/drawing/2014/main" id="{1C5154E6-F4DE-D09A-46C2-7A6E78BF8B6E}"/>
              </a:ext>
            </a:extLst>
          </p:cNvPr>
          <p:cNvSpPr txBox="1"/>
          <p:nvPr/>
        </p:nvSpPr>
        <p:spPr>
          <a:xfrm>
            <a:off x="895184" y="2902219"/>
            <a:ext cx="92910" cy="1477122"/>
          </a:xfrm>
          <a:prstGeom prst="rect">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2" name="标题 1">
            <a:extLst>
              <a:ext uri="{FF2B5EF4-FFF2-40B4-BE49-F238E27FC236}">
                <a16:creationId xmlns:a16="http://schemas.microsoft.com/office/drawing/2014/main" id="{498B6987-99D5-EB62-2B2F-68BB824E75D7}"/>
              </a:ext>
            </a:extLst>
          </p:cNvPr>
          <p:cNvSpPr txBox="1"/>
          <p:nvPr/>
        </p:nvSpPr>
        <p:spPr>
          <a:xfrm>
            <a:off x="1072571" y="3274358"/>
            <a:ext cx="694805" cy="708475"/>
          </a:xfrm>
          <a:prstGeom prst="rect">
            <a:avLst/>
          </a:prstGeom>
          <a:noFill/>
          <a:ln>
            <a:noFill/>
          </a:ln>
        </p:spPr>
        <p:txBody>
          <a:bodyPr vert="horz" wrap="square" lIns="0" tIns="0" rIns="0" bIns="0" rtlCol="0" anchor="ctr"/>
          <a:lstStyle/>
          <a:p>
            <a:pPr algn="ctr">
              <a:lnSpc>
                <a:spcPct val="110000"/>
              </a:lnSpc>
            </a:pPr>
            <a:r>
              <a:rPr kumimoji="1" lang="en-US" altLang="zh-CN" sz="2400">
                <a:ln w="12700">
                  <a:noFill/>
                </a:ln>
                <a:gradFill>
                  <a:gsLst>
                    <a:gs pos="0">
                      <a:srgbClr val="353363">
                        <a:alpha val="100000"/>
                      </a:srgbClr>
                    </a:gs>
                    <a:gs pos="93000">
                      <a:srgbClr val="28264A">
                        <a:alpha val="100000"/>
                      </a:srgbClr>
                    </a:gs>
                  </a:gsLst>
                  <a:lin ang="2700000" scaled="0"/>
                </a:gradFill>
                <a:latin typeface="OPPOSans H" panose="00020600040101010101" charset="-122"/>
                <a:ea typeface="OPPOSans H" panose="00020600040101010101" charset="-122"/>
                <a:cs typeface="OPPOSans H" panose="00020600040101010101" charset="-122"/>
              </a:rPr>
              <a:t>02</a:t>
            </a:r>
            <a:endParaRPr kumimoji="1" lang="zh-CN" altLang="en-US"/>
          </a:p>
        </p:txBody>
      </p:sp>
      <p:sp>
        <p:nvSpPr>
          <p:cNvPr id="13" name="标题 1">
            <a:extLst>
              <a:ext uri="{FF2B5EF4-FFF2-40B4-BE49-F238E27FC236}">
                <a16:creationId xmlns:a16="http://schemas.microsoft.com/office/drawing/2014/main" id="{1B59C956-E8C1-C346-954E-1069A0103401}"/>
              </a:ext>
            </a:extLst>
          </p:cNvPr>
          <p:cNvSpPr txBox="1"/>
          <p:nvPr/>
        </p:nvSpPr>
        <p:spPr>
          <a:xfrm>
            <a:off x="918640" y="4491671"/>
            <a:ext cx="5344984" cy="1477122"/>
          </a:xfrm>
          <a:prstGeom prst="roundRect">
            <a:avLst>
              <a:gd name="adj" fmla="val 6926"/>
            </a:avLst>
          </a:prstGeom>
          <a:solidFill>
            <a:schemeClr val="bg1"/>
          </a:solidFill>
          <a:ln w="12700" cap="flat">
            <a:no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grpSp>
        <p:nvGrpSpPr>
          <p:cNvPr id="15" name="组合 14">
            <a:extLst>
              <a:ext uri="{FF2B5EF4-FFF2-40B4-BE49-F238E27FC236}">
                <a16:creationId xmlns:a16="http://schemas.microsoft.com/office/drawing/2014/main" id="{70006F7B-9007-D3E8-8A13-C3AB4BF61BD0}"/>
              </a:ext>
            </a:extLst>
          </p:cNvPr>
          <p:cNvGrpSpPr/>
          <p:nvPr/>
        </p:nvGrpSpPr>
        <p:grpSpPr>
          <a:xfrm>
            <a:off x="5830917" y="5740659"/>
            <a:ext cx="304513" cy="144304"/>
            <a:chOff x="5830917" y="5740659"/>
            <a:chExt cx="304513" cy="144304"/>
          </a:xfrm>
        </p:grpSpPr>
        <p:sp>
          <p:nvSpPr>
            <p:cNvPr id="16" name="标题 1">
              <a:extLst>
                <a:ext uri="{FF2B5EF4-FFF2-40B4-BE49-F238E27FC236}">
                  <a16:creationId xmlns:a16="http://schemas.microsoft.com/office/drawing/2014/main" id="{CBF5EBEE-D0A6-07B0-D1B0-58BC6F0A456B}"/>
                </a:ext>
              </a:extLst>
            </p:cNvPr>
            <p:cNvSpPr txBox="1"/>
            <p:nvPr/>
          </p:nvSpPr>
          <p:spPr>
            <a:xfrm>
              <a:off x="6005951" y="5740659"/>
              <a:ext cx="129479" cy="144304"/>
            </a:xfrm>
            <a:custGeom>
              <a:avLst/>
              <a:gdLst>
                <a:gd name="connsiteX0" fmla="*/ 353819 w 357131"/>
                <a:gd name="connsiteY0" fmla="*/ 233684 h 477250"/>
                <a:gd name="connsiteX1" fmla="*/ 194262 w 357131"/>
                <a:gd name="connsiteY1" fmla="*/ 6628 h 477250"/>
                <a:gd name="connsiteX2" fmla="*/ 184470 w 357131"/>
                <a:gd name="connsiteY2" fmla="*/ 1808 h 477250"/>
                <a:gd name="connsiteX3" fmla="*/ 2160 w 357131"/>
                <a:gd name="connsiteY3" fmla="*/ 1808 h 477250"/>
                <a:gd name="connsiteX4" fmla="*/ 164597 w 357131"/>
                <a:gd name="connsiteY4" fmla="*/ 233202 h 477250"/>
                <a:gd name="connsiteX5" fmla="*/ 164597 w 357131"/>
                <a:gd name="connsiteY5" fmla="*/ 243566 h 477250"/>
                <a:gd name="connsiteX6" fmla="*/ 5616 w 357131"/>
                <a:gd name="connsiteY6" fmla="*/ 476648 h 477250"/>
                <a:gd name="connsiteX7" fmla="*/ 187926 w 357131"/>
                <a:gd name="connsiteY7" fmla="*/ 476648 h 477250"/>
                <a:gd name="connsiteX8" fmla="*/ 198006 w 357131"/>
                <a:gd name="connsiteY8" fmla="*/ 471827 h 477250"/>
                <a:gd name="connsiteX9" fmla="*/ 353531 w 357131"/>
                <a:gd name="connsiteY9" fmla="*/ 243325 h 477250"/>
                <a:gd name="connsiteX10" fmla="*/ 353819 w 357131"/>
                <a:gd name="connsiteY10" fmla="*/ 233684 h 477250"/>
              </a:gdLst>
              <a:ahLst/>
              <a:cxnLst/>
              <a:rect l="l" t="t" r="r" b="b"/>
              <a:pathLst>
                <a:path w="357131" h="477250">
                  <a:moveTo>
                    <a:pt x="353819" y="233684"/>
                  </a:moveTo>
                  <a:lnTo>
                    <a:pt x="194262" y="6628"/>
                  </a:lnTo>
                  <a:cubicBezTo>
                    <a:pt x="192246" y="3736"/>
                    <a:pt x="188502" y="1808"/>
                    <a:pt x="184470" y="1808"/>
                  </a:cubicBezTo>
                  <a:lnTo>
                    <a:pt x="2160" y="1808"/>
                  </a:lnTo>
                  <a:lnTo>
                    <a:pt x="164597" y="233202"/>
                  </a:lnTo>
                  <a:cubicBezTo>
                    <a:pt x="166901" y="236335"/>
                    <a:pt x="166901" y="240433"/>
                    <a:pt x="164597" y="243566"/>
                  </a:cubicBezTo>
                  <a:lnTo>
                    <a:pt x="5616" y="476648"/>
                  </a:lnTo>
                  <a:lnTo>
                    <a:pt x="187926" y="476648"/>
                  </a:lnTo>
                  <a:cubicBezTo>
                    <a:pt x="191958" y="476648"/>
                    <a:pt x="195990" y="474719"/>
                    <a:pt x="198006" y="471827"/>
                  </a:cubicBezTo>
                  <a:lnTo>
                    <a:pt x="353531" y="243325"/>
                  </a:lnTo>
                  <a:cubicBezTo>
                    <a:pt x="355835" y="240192"/>
                    <a:pt x="355835" y="236576"/>
                    <a:pt x="353819" y="233684"/>
                  </a:cubicBezTo>
                  <a:close/>
                </a:path>
              </a:pathLst>
            </a:custGeom>
            <a:solidFill>
              <a:schemeClr val="accent1"/>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17" name="标题 1">
              <a:extLst>
                <a:ext uri="{FF2B5EF4-FFF2-40B4-BE49-F238E27FC236}">
                  <a16:creationId xmlns:a16="http://schemas.microsoft.com/office/drawing/2014/main" id="{F16600F9-488B-03DA-E3B6-38791DD6227E}"/>
                </a:ext>
              </a:extLst>
            </p:cNvPr>
            <p:cNvSpPr txBox="1"/>
            <p:nvPr/>
          </p:nvSpPr>
          <p:spPr>
            <a:xfrm>
              <a:off x="5905329" y="5740659"/>
              <a:ext cx="114860" cy="144304"/>
            </a:xfrm>
            <a:custGeom>
              <a:avLst/>
              <a:gdLst>
                <a:gd name="connsiteX0" fmla="*/ 314362 w 316810"/>
                <a:gd name="connsiteY0" fmla="*/ 233684 h 477250"/>
                <a:gd name="connsiteX1" fmla="*/ 154805 w 316810"/>
                <a:gd name="connsiteY1" fmla="*/ 6628 h 477250"/>
                <a:gd name="connsiteX2" fmla="*/ 145013 w 316810"/>
                <a:gd name="connsiteY2" fmla="*/ 1808 h 477250"/>
                <a:gd name="connsiteX3" fmla="*/ 2160 w 316810"/>
                <a:gd name="connsiteY3" fmla="*/ 1808 h 477250"/>
                <a:gd name="connsiteX4" fmla="*/ 164597 w 316810"/>
                <a:gd name="connsiteY4" fmla="*/ 233443 h 477250"/>
                <a:gd name="connsiteX5" fmla="*/ 164597 w 316810"/>
                <a:gd name="connsiteY5" fmla="*/ 243566 h 477250"/>
                <a:gd name="connsiteX6" fmla="*/ 5904 w 316810"/>
                <a:gd name="connsiteY6" fmla="*/ 476648 h 477250"/>
                <a:gd name="connsiteX7" fmla="*/ 148757 w 316810"/>
                <a:gd name="connsiteY7" fmla="*/ 476648 h 477250"/>
                <a:gd name="connsiteX8" fmla="*/ 158837 w 316810"/>
                <a:gd name="connsiteY8" fmla="*/ 471827 h 477250"/>
                <a:gd name="connsiteX9" fmla="*/ 314362 w 316810"/>
                <a:gd name="connsiteY9" fmla="*/ 243325 h 477250"/>
                <a:gd name="connsiteX10" fmla="*/ 314362 w 316810"/>
                <a:gd name="connsiteY10" fmla="*/ 233684 h 477250"/>
              </a:gdLst>
              <a:ahLst/>
              <a:cxnLst/>
              <a:rect l="l" t="t" r="r" b="b"/>
              <a:pathLst>
                <a:path w="316810" h="477250">
                  <a:moveTo>
                    <a:pt x="314362" y="233684"/>
                  </a:moveTo>
                  <a:lnTo>
                    <a:pt x="154805" y="6628"/>
                  </a:lnTo>
                  <a:cubicBezTo>
                    <a:pt x="152789" y="3736"/>
                    <a:pt x="149045" y="1808"/>
                    <a:pt x="145013" y="1808"/>
                  </a:cubicBezTo>
                  <a:lnTo>
                    <a:pt x="2160" y="1808"/>
                  </a:lnTo>
                  <a:lnTo>
                    <a:pt x="164597" y="233443"/>
                  </a:lnTo>
                  <a:cubicBezTo>
                    <a:pt x="166901" y="236576"/>
                    <a:pt x="166901" y="240433"/>
                    <a:pt x="164597" y="243566"/>
                  </a:cubicBezTo>
                  <a:lnTo>
                    <a:pt x="5904" y="476648"/>
                  </a:lnTo>
                  <a:lnTo>
                    <a:pt x="148757" y="476648"/>
                  </a:lnTo>
                  <a:cubicBezTo>
                    <a:pt x="152789" y="476648"/>
                    <a:pt x="156821" y="474719"/>
                    <a:pt x="158837" y="471827"/>
                  </a:cubicBezTo>
                  <a:lnTo>
                    <a:pt x="314362" y="243325"/>
                  </a:lnTo>
                  <a:cubicBezTo>
                    <a:pt x="316378" y="240192"/>
                    <a:pt x="316378" y="236576"/>
                    <a:pt x="314362" y="233684"/>
                  </a:cubicBezTo>
                  <a:close/>
                </a:path>
              </a:pathLst>
            </a:custGeom>
            <a:solidFill>
              <a:schemeClr val="accent1">
                <a:alpha val="7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18" name="标题 1">
              <a:extLst>
                <a:ext uri="{FF2B5EF4-FFF2-40B4-BE49-F238E27FC236}">
                  <a16:creationId xmlns:a16="http://schemas.microsoft.com/office/drawing/2014/main" id="{9334B256-9711-B03C-7E4A-49B45035E8EC}"/>
                </a:ext>
              </a:extLst>
            </p:cNvPr>
            <p:cNvSpPr txBox="1"/>
            <p:nvPr/>
          </p:nvSpPr>
          <p:spPr>
            <a:xfrm>
              <a:off x="5830917" y="5740659"/>
              <a:ext cx="86668" cy="144304"/>
            </a:xfrm>
            <a:custGeom>
              <a:avLst/>
              <a:gdLst>
                <a:gd name="connsiteX0" fmla="*/ 237463 w 239047"/>
                <a:gd name="connsiteY0" fmla="*/ 233684 h 477250"/>
                <a:gd name="connsiteX1" fmla="*/ 77906 w 239047"/>
                <a:gd name="connsiteY1" fmla="*/ 6628 h 477250"/>
                <a:gd name="connsiteX2" fmla="*/ 68114 w 239047"/>
                <a:gd name="connsiteY2" fmla="*/ 1808 h 477250"/>
                <a:gd name="connsiteX3" fmla="*/ 2160 w 239047"/>
                <a:gd name="connsiteY3" fmla="*/ 1808 h 477250"/>
                <a:gd name="connsiteX4" fmla="*/ 164597 w 239047"/>
                <a:gd name="connsiteY4" fmla="*/ 233443 h 477250"/>
                <a:gd name="connsiteX5" fmla="*/ 164597 w 239047"/>
                <a:gd name="connsiteY5" fmla="*/ 243566 h 477250"/>
                <a:gd name="connsiteX6" fmla="*/ 5904 w 239047"/>
                <a:gd name="connsiteY6" fmla="*/ 476648 h 477250"/>
                <a:gd name="connsiteX7" fmla="*/ 71858 w 239047"/>
                <a:gd name="connsiteY7" fmla="*/ 476648 h 477250"/>
                <a:gd name="connsiteX8" fmla="*/ 81939 w 239047"/>
                <a:gd name="connsiteY8" fmla="*/ 471827 h 477250"/>
                <a:gd name="connsiteX9" fmla="*/ 237463 w 239047"/>
                <a:gd name="connsiteY9" fmla="*/ 243325 h 477250"/>
                <a:gd name="connsiteX10" fmla="*/ 237463 w 239047"/>
                <a:gd name="connsiteY10" fmla="*/ 233684 h 477250"/>
              </a:gdLst>
              <a:ahLst/>
              <a:cxnLst/>
              <a:rect l="l" t="t" r="r" b="b"/>
              <a:pathLst>
                <a:path w="239047" h="477250">
                  <a:moveTo>
                    <a:pt x="237463" y="233684"/>
                  </a:moveTo>
                  <a:lnTo>
                    <a:pt x="77906" y="6628"/>
                  </a:lnTo>
                  <a:cubicBezTo>
                    <a:pt x="75890" y="3736"/>
                    <a:pt x="72146" y="1808"/>
                    <a:pt x="68114" y="1808"/>
                  </a:cubicBezTo>
                  <a:lnTo>
                    <a:pt x="2160" y="1808"/>
                  </a:lnTo>
                  <a:lnTo>
                    <a:pt x="164597" y="233443"/>
                  </a:lnTo>
                  <a:cubicBezTo>
                    <a:pt x="166901" y="236576"/>
                    <a:pt x="166901" y="240433"/>
                    <a:pt x="164597" y="243566"/>
                  </a:cubicBezTo>
                  <a:lnTo>
                    <a:pt x="5904" y="476648"/>
                  </a:lnTo>
                  <a:lnTo>
                    <a:pt x="71858" y="476648"/>
                  </a:lnTo>
                  <a:cubicBezTo>
                    <a:pt x="75890" y="476648"/>
                    <a:pt x="79923" y="474719"/>
                    <a:pt x="81939" y="471827"/>
                  </a:cubicBezTo>
                  <a:lnTo>
                    <a:pt x="237463" y="243325"/>
                  </a:lnTo>
                  <a:cubicBezTo>
                    <a:pt x="239480" y="240192"/>
                    <a:pt x="239480" y="236576"/>
                    <a:pt x="237463" y="233684"/>
                  </a:cubicBezTo>
                  <a:close/>
                </a:path>
              </a:pathLst>
            </a:custGeom>
            <a:solidFill>
              <a:schemeClr val="accent1">
                <a:alpha val="3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grpSp>
      <p:sp>
        <p:nvSpPr>
          <p:cNvPr id="19" name="标题 1">
            <a:extLst>
              <a:ext uri="{FF2B5EF4-FFF2-40B4-BE49-F238E27FC236}">
                <a16:creationId xmlns:a16="http://schemas.microsoft.com/office/drawing/2014/main" id="{B3AB2F33-5054-61D5-231E-9725DC88D69C}"/>
              </a:ext>
            </a:extLst>
          </p:cNvPr>
          <p:cNvSpPr txBox="1"/>
          <p:nvPr/>
        </p:nvSpPr>
        <p:spPr>
          <a:xfrm>
            <a:off x="895184" y="4493260"/>
            <a:ext cx="92910" cy="1477122"/>
          </a:xfrm>
          <a:prstGeom prst="rect">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20" name="标题 1">
            <a:extLst>
              <a:ext uri="{FF2B5EF4-FFF2-40B4-BE49-F238E27FC236}">
                <a16:creationId xmlns:a16="http://schemas.microsoft.com/office/drawing/2014/main" id="{EE009EC9-BAE6-3A6D-39C1-962595CFAC4C}"/>
              </a:ext>
            </a:extLst>
          </p:cNvPr>
          <p:cNvSpPr txBox="1"/>
          <p:nvPr/>
        </p:nvSpPr>
        <p:spPr>
          <a:xfrm>
            <a:off x="1072571" y="4865399"/>
            <a:ext cx="694805" cy="708475"/>
          </a:xfrm>
          <a:prstGeom prst="rect">
            <a:avLst/>
          </a:prstGeom>
          <a:noFill/>
          <a:ln>
            <a:noFill/>
          </a:ln>
        </p:spPr>
        <p:txBody>
          <a:bodyPr vert="horz" wrap="square" lIns="0" tIns="0" rIns="0" bIns="0" rtlCol="0" anchor="ctr"/>
          <a:lstStyle/>
          <a:p>
            <a:pPr algn="ctr">
              <a:lnSpc>
                <a:spcPct val="110000"/>
              </a:lnSpc>
            </a:pPr>
            <a:r>
              <a:rPr kumimoji="1" lang="en-US" altLang="zh-CN" sz="2400">
                <a:ln w="12700">
                  <a:noFill/>
                </a:ln>
                <a:gradFill>
                  <a:gsLst>
                    <a:gs pos="0">
                      <a:srgbClr val="353363">
                        <a:alpha val="100000"/>
                      </a:srgbClr>
                    </a:gs>
                    <a:gs pos="93000">
                      <a:srgbClr val="28264A">
                        <a:alpha val="100000"/>
                      </a:srgbClr>
                    </a:gs>
                  </a:gsLst>
                  <a:lin ang="2700000" scaled="0"/>
                </a:gradFill>
                <a:latin typeface="OPPOSans H" panose="00020600040101010101" charset="-122"/>
                <a:ea typeface="OPPOSans H" panose="00020600040101010101" charset="-122"/>
                <a:cs typeface="OPPOSans H" panose="00020600040101010101" charset="-122"/>
              </a:rPr>
              <a:t>03</a:t>
            </a:r>
            <a:endParaRPr kumimoji="1" lang="zh-CN" altLang="en-US"/>
          </a:p>
        </p:txBody>
      </p:sp>
      <p:sp>
        <p:nvSpPr>
          <p:cNvPr id="21" name="标题 1">
            <a:extLst>
              <a:ext uri="{FF2B5EF4-FFF2-40B4-BE49-F238E27FC236}">
                <a16:creationId xmlns:a16="http://schemas.microsoft.com/office/drawing/2014/main" id="{2B79AAC6-51DC-7301-CDDF-C7210441C8C5}"/>
              </a:ext>
            </a:extLst>
          </p:cNvPr>
          <p:cNvSpPr txBox="1"/>
          <p:nvPr/>
        </p:nvSpPr>
        <p:spPr>
          <a:xfrm>
            <a:off x="895183" y="1325771"/>
            <a:ext cx="5344984" cy="1477122"/>
          </a:xfrm>
          <a:prstGeom prst="roundRect">
            <a:avLst>
              <a:gd name="adj" fmla="val 6926"/>
            </a:avLst>
          </a:prstGeom>
          <a:solidFill>
            <a:schemeClr val="bg1"/>
          </a:solidFill>
          <a:ln w="12700" cap="flat">
            <a:noFill/>
            <a:miter/>
          </a:ln>
          <a:effectLst>
            <a:outerShdw blurRad="952500" sx="102000" sy="102000" algn="ctr" rotWithShape="0">
              <a:schemeClr val="accent1">
                <a:alpha val="10000"/>
              </a:schemeClr>
            </a:outerShdw>
          </a:effectLst>
        </p:spPr>
        <p:txBody>
          <a:bodyPr vert="horz" wrap="square" lIns="22860" tIns="22860" rIns="22860" bIns="22860" rtlCol="0" anchor="ctr"/>
          <a:lstStyle/>
          <a:p>
            <a:pPr algn="ctr">
              <a:lnSpc>
                <a:spcPct val="150000"/>
              </a:lnSpc>
            </a:pPr>
            <a:endParaRPr kumimoji="1" lang="zh-CN" altLang="en-US"/>
          </a:p>
        </p:txBody>
      </p:sp>
      <p:grpSp>
        <p:nvGrpSpPr>
          <p:cNvPr id="23" name="组合 22">
            <a:extLst>
              <a:ext uri="{FF2B5EF4-FFF2-40B4-BE49-F238E27FC236}">
                <a16:creationId xmlns:a16="http://schemas.microsoft.com/office/drawing/2014/main" id="{E93910D5-2538-AEF1-8ED2-438CD5A8A353}"/>
              </a:ext>
            </a:extLst>
          </p:cNvPr>
          <p:cNvGrpSpPr/>
          <p:nvPr/>
        </p:nvGrpSpPr>
        <p:grpSpPr>
          <a:xfrm>
            <a:off x="5830917" y="2573170"/>
            <a:ext cx="304513" cy="144304"/>
            <a:chOff x="5830917" y="2573170"/>
            <a:chExt cx="304513" cy="144304"/>
          </a:xfrm>
        </p:grpSpPr>
        <p:sp>
          <p:nvSpPr>
            <p:cNvPr id="24" name="标题 1">
              <a:extLst>
                <a:ext uri="{FF2B5EF4-FFF2-40B4-BE49-F238E27FC236}">
                  <a16:creationId xmlns:a16="http://schemas.microsoft.com/office/drawing/2014/main" id="{A780C12D-430E-C2F5-D86B-F03ABC115716}"/>
                </a:ext>
              </a:extLst>
            </p:cNvPr>
            <p:cNvSpPr txBox="1"/>
            <p:nvPr/>
          </p:nvSpPr>
          <p:spPr>
            <a:xfrm>
              <a:off x="6005951" y="2573170"/>
              <a:ext cx="129479" cy="144304"/>
            </a:xfrm>
            <a:custGeom>
              <a:avLst/>
              <a:gdLst>
                <a:gd name="connsiteX0" fmla="*/ 353819 w 357131"/>
                <a:gd name="connsiteY0" fmla="*/ 233684 h 477250"/>
                <a:gd name="connsiteX1" fmla="*/ 194262 w 357131"/>
                <a:gd name="connsiteY1" fmla="*/ 6628 h 477250"/>
                <a:gd name="connsiteX2" fmla="*/ 184470 w 357131"/>
                <a:gd name="connsiteY2" fmla="*/ 1808 h 477250"/>
                <a:gd name="connsiteX3" fmla="*/ 2160 w 357131"/>
                <a:gd name="connsiteY3" fmla="*/ 1808 h 477250"/>
                <a:gd name="connsiteX4" fmla="*/ 164597 w 357131"/>
                <a:gd name="connsiteY4" fmla="*/ 233202 h 477250"/>
                <a:gd name="connsiteX5" fmla="*/ 164597 w 357131"/>
                <a:gd name="connsiteY5" fmla="*/ 243566 h 477250"/>
                <a:gd name="connsiteX6" fmla="*/ 5616 w 357131"/>
                <a:gd name="connsiteY6" fmla="*/ 476648 h 477250"/>
                <a:gd name="connsiteX7" fmla="*/ 187926 w 357131"/>
                <a:gd name="connsiteY7" fmla="*/ 476648 h 477250"/>
                <a:gd name="connsiteX8" fmla="*/ 198006 w 357131"/>
                <a:gd name="connsiteY8" fmla="*/ 471827 h 477250"/>
                <a:gd name="connsiteX9" fmla="*/ 353531 w 357131"/>
                <a:gd name="connsiteY9" fmla="*/ 243325 h 477250"/>
                <a:gd name="connsiteX10" fmla="*/ 353819 w 357131"/>
                <a:gd name="connsiteY10" fmla="*/ 233684 h 477250"/>
              </a:gdLst>
              <a:ahLst/>
              <a:cxnLst/>
              <a:rect l="l" t="t" r="r" b="b"/>
              <a:pathLst>
                <a:path w="357131" h="477250">
                  <a:moveTo>
                    <a:pt x="353819" y="233684"/>
                  </a:moveTo>
                  <a:lnTo>
                    <a:pt x="194262" y="6628"/>
                  </a:lnTo>
                  <a:cubicBezTo>
                    <a:pt x="192246" y="3736"/>
                    <a:pt x="188502" y="1808"/>
                    <a:pt x="184470" y="1808"/>
                  </a:cubicBezTo>
                  <a:lnTo>
                    <a:pt x="2160" y="1808"/>
                  </a:lnTo>
                  <a:lnTo>
                    <a:pt x="164597" y="233202"/>
                  </a:lnTo>
                  <a:cubicBezTo>
                    <a:pt x="166901" y="236335"/>
                    <a:pt x="166901" y="240433"/>
                    <a:pt x="164597" y="243566"/>
                  </a:cubicBezTo>
                  <a:lnTo>
                    <a:pt x="5616" y="476648"/>
                  </a:lnTo>
                  <a:lnTo>
                    <a:pt x="187926" y="476648"/>
                  </a:lnTo>
                  <a:cubicBezTo>
                    <a:pt x="191958" y="476648"/>
                    <a:pt x="195990" y="474719"/>
                    <a:pt x="198006" y="471827"/>
                  </a:cubicBezTo>
                  <a:lnTo>
                    <a:pt x="353531" y="243325"/>
                  </a:lnTo>
                  <a:cubicBezTo>
                    <a:pt x="355835" y="240192"/>
                    <a:pt x="355835" y="236576"/>
                    <a:pt x="353819" y="233684"/>
                  </a:cubicBezTo>
                  <a:close/>
                </a:path>
              </a:pathLst>
            </a:custGeom>
            <a:solidFill>
              <a:schemeClr val="accent1"/>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25" name="标题 1">
              <a:extLst>
                <a:ext uri="{FF2B5EF4-FFF2-40B4-BE49-F238E27FC236}">
                  <a16:creationId xmlns:a16="http://schemas.microsoft.com/office/drawing/2014/main" id="{1F3106E5-855D-C60D-0171-A71F129FA4B5}"/>
                </a:ext>
              </a:extLst>
            </p:cNvPr>
            <p:cNvSpPr txBox="1"/>
            <p:nvPr/>
          </p:nvSpPr>
          <p:spPr>
            <a:xfrm>
              <a:off x="5905329" y="2573170"/>
              <a:ext cx="114860" cy="144304"/>
            </a:xfrm>
            <a:custGeom>
              <a:avLst/>
              <a:gdLst>
                <a:gd name="connsiteX0" fmla="*/ 314362 w 316810"/>
                <a:gd name="connsiteY0" fmla="*/ 233684 h 477250"/>
                <a:gd name="connsiteX1" fmla="*/ 154805 w 316810"/>
                <a:gd name="connsiteY1" fmla="*/ 6628 h 477250"/>
                <a:gd name="connsiteX2" fmla="*/ 145013 w 316810"/>
                <a:gd name="connsiteY2" fmla="*/ 1808 h 477250"/>
                <a:gd name="connsiteX3" fmla="*/ 2160 w 316810"/>
                <a:gd name="connsiteY3" fmla="*/ 1808 h 477250"/>
                <a:gd name="connsiteX4" fmla="*/ 164597 w 316810"/>
                <a:gd name="connsiteY4" fmla="*/ 233443 h 477250"/>
                <a:gd name="connsiteX5" fmla="*/ 164597 w 316810"/>
                <a:gd name="connsiteY5" fmla="*/ 243566 h 477250"/>
                <a:gd name="connsiteX6" fmla="*/ 5904 w 316810"/>
                <a:gd name="connsiteY6" fmla="*/ 476648 h 477250"/>
                <a:gd name="connsiteX7" fmla="*/ 148757 w 316810"/>
                <a:gd name="connsiteY7" fmla="*/ 476648 h 477250"/>
                <a:gd name="connsiteX8" fmla="*/ 158837 w 316810"/>
                <a:gd name="connsiteY8" fmla="*/ 471827 h 477250"/>
                <a:gd name="connsiteX9" fmla="*/ 314362 w 316810"/>
                <a:gd name="connsiteY9" fmla="*/ 243325 h 477250"/>
                <a:gd name="connsiteX10" fmla="*/ 314362 w 316810"/>
                <a:gd name="connsiteY10" fmla="*/ 233684 h 477250"/>
              </a:gdLst>
              <a:ahLst/>
              <a:cxnLst/>
              <a:rect l="l" t="t" r="r" b="b"/>
              <a:pathLst>
                <a:path w="316810" h="477250">
                  <a:moveTo>
                    <a:pt x="314362" y="233684"/>
                  </a:moveTo>
                  <a:lnTo>
                    <a:pt x="154805" y="6628"/>
                  </a:lnTo>
                  <a:cubicBezTo>
                    <a:pt x="152789" y="3736"/>
                    <a:pt x="149045" y="1808"/>
                    <a:pt x="145013" y="1808"/>
                  </a:cubicBezTo>
                  <a:lnTo>
                    <a:pt x="2160" y="1808"/>
                  </a:lnTo>
                  <a:lnTo>
                    <a:pt x="164597" y="233443"/>
                  </a:lnTo>
                  <a:cubicBezTo>
                    <a:pt x="166901" y="236576"/>
                    <a:pt x="166901" y="240433"/>
                    <a:pt x="164597" y="243566"/>
                  </a:cubicBezTo>
                  <a:lnTo>
                    <a:pt x="5904" y="476648"/>
                  </a:lnTo>
                  <a:lnTo>
                    <a:pt x="148757" y="476648"/>
                  </a:lnTo>
                  <a:cubicBezTo>
                    <a:pt x="152789" y="476648"/>
                    <a:pt x="156821" y="474719"/>
                    <a:pt x="158837" y="471827"/>
                  </a:cubicBezTo>
                  <a:lnTo>
                    <a:pt x="314362" y="243325"/>
                  </a:lnTo>
                  <a:cubicBezTo>
                    <a:pt x="316378" y="240192"/>
                    <a:pt x="316378" y="236576"/>
                    <a:pt x="314362" y="233684"/>
                  </a:cubicBezTo>
                  <a:close/>
                </a:path>
              </a:pathLst>
            </a:custGeom>
            <a:solidFill>
              <a:schemeClr val="accent1">
                <a:alpha val="7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26" name="标题 1">
              <a:extLst>
                <a:ext uri="{FF2B5EF4-FFF2-40B4-BE49-F238E27FC236}">
                  <a16:creationId xmlns:a16="http://schemas.microsoft.com/office/drawing/2014/main" id="{B1BEBB1C-97B3-04F8-4998-AF448A143888}"/>
                </a:ext>
              </a:extLst>
            </p:cNvPr>
            <p:cNvSpPr txBox="1"/>
            <p:nvPr/>
          </p:nvSpPr>
          <p:spPr>
            <a:xfrm>
              <a:off x="5830917" y="2573170"/>
              <a:ext cx="86668" cy="144304"/>
            </a:xfrm>
            <a:custGeom>
              <a:avLst/>
              <a:gdLst>
                <a:gd name="connsiteX0" fmla="*/ 237463 w 239047"/>
                <a:gd name="connsiteY0" fmla="*/ 233684 h 477250"/>
                <a:gd name="connsiteX1" fmla="*/ 77906 w 239047"/>
                <a:gd name="connsiteY1" fmla="*/ 6628 h 477250"/>
                <a:gd name="connsiteX2" fmla="*/ 68114 w 239047"/>
                <a:gd name="connsiteY2" fmla="*/ 1808 h 477250"/>
                <a:gd name="connsiteX3" fmla="*/ 2160 w 239047"/>
                <a:gd name="connsiteY3" fmla="*/ 1808 h 477250"/>
                <a:gd name="connsiteX4" fmla="*/ 164597 w 239047"/>
                <a:gd name="connsiteY4" fmla="*/ 233443 h 477250"/>
                <a:gd name="connsiteX5" fmla="*/ 164597 w 239047"/>
                <a:gd name="connsiteY5" fmla="*/ 243566 h 477250"/>
                <a:gd name="connsiteX6" fmla="*/ 5904 w 239047"/>
                <a:gd name="connsiteY6" fmla="*/ 476648 h 477250"/>
                <a:gd name="connsiteX7" fmla="*/ 71858 w 239047"/>
                <a:gd name="connsiteY7" fmla="*/ 476648 h 477250"/>
                <a:gd name="connsiteX8" fmla="*/ 81939 w 239047"/>
                <a:gd name="connsiteY8" fmla="*/ 471827 h 477250"/>
                <a:gd name="connsiteX9" fmla="*/ 237463 w 239047"/>
                <a:gd name="connsiteY9" fmla="*/ 243325 h 477250"/>
                <a:gd name="connsiteX10" fmla="*/ 237463 w 239047"/>
                <a:gd name="connsiteY10" fmla="*/ 233684 h 477250"/>
              </a:gdLst>
              <a:ahLst/>
              <a:cxnLst/>
              <a:rect l="l" t="t" r="r" b="b"/>
              <a:pathLst>
                <a:path w="239047" h="477250">
                  <a:moveTo>
                    <a:pt x="237463" y="233684"/>
                  </a:moveTo>
                  <a:lnTo>
                    <a:pt x="77906" y="6628"/>
                  </a:lnTo>
                  <a:cubicBezTo>
                    <a:pt x="75890" y="3736"/>
                    <a:pt x="72146" y="1808"/>
                    <a:pt x="68114" y="1808"/>
                  </a:cubicBezTo>
                  <a:lnTo>
                    <a:pt x="2160" y="1808"/>
                  </a:lnTo>
                  <a:lnTo>
                    <a:pt x="164597" y="233443"/>
                  </a:lnTo>
                  <a:cubicBezTo>
                    <a:pt x="166901" y="236576"/>
                    <a:pt x="166901" y="240433"/>
                    <a:pt x="164597" y="243566"/>
                  </a:cubicBezTo>
                  <a:lnTo>
                    <a:pt x="5904" y="476648"/>
                  </a:lnTo>
                  <a:lnTo>
                    <a:pt x="71858" y="476648"/>
                  </a:lnTo>
                  <a:cubicBezTo>
                    <a:pt x="75890" y="476648"/>
                    <a:pt x="79923" y="474719"/>
                    <a:pt x="81939" y="471827"/>
                  </a:cubicBezTo>
                  <a:lnTo>
                    <a:pt x="237463" y="243325"/>
                  </a:lnTo>
                  <a:cubicBezTo>
                    <a:pt x="239480" y="240192"/>
                    <a:pt x="239480" y="236576"/>
                    <a:pt x="237463" y="233684"/>
                  </a:cubicBezTo>
                  <a:close/>
                </a:path>
              </a:pathLst>
            </a:custGeom>
            <a:solidFill>
              <a:schemeClr val="accent1">
                <a:alpha val="35000"/>
              </a:schemeClr>
            </a:solidFill>
            <a:ln w="9525" cap="flat">
              <a:noFill/>
              <a:miter/>
            </a:ln>
          </p:spPr>
          <p:txBody>
            <a:bodyPr vert="horz" wrap="square" lIns="91440" tIns="45720" rIns="91440" bIns="45720" rtlCol="0" anchor="ctr"/>
            <a:lstStyle/>
            <a:p>
              <a:pPr algn="l">
                <a:lnSpc>
                  <a:spcPct val="110000"/>
                </a:lnSpc>
              </a:pPr>
              <a:endParaRPr kumimoji="1" lang="zh-CN" altLang="en-US"/>
            </a:p>
          </p:txBody>
        </p:sp>
      </p:grpSp>
      <p:sp>
        <p:nvSpPr>
          <p:cNvPr id="27" name="标题 1">
            <a:extLst>
              <a:ext uri="{FF2B5EF4-FFF2-40B4-BE49-F238E27FC236}">
                <a16:creationId xmlns:a16="http://schemas.microsoft.com/office/drawing/2014/main" id="{F50EA386-DDB8-44E8-D5EB-46F6CFB3FD83}"/>
              </a:ext>
            </a:extLst>
          </p:cNvPr>
          <p:cNvSpPr txBox="1"/>
          <p:nvPr/>
        </p:nvSpPr>
        <p:spPr>
          <a:xfrm>
            <a:off x="895184" y="1325771"/>
            <a:ext cx="92910" cy="1477122"/>
          </a:xfrm>
          <a:prstGeom prst="rect">
            <a:avLst/>
          </a:pr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28" name="标题 1">
            <a:extLst>
              <a:ext uri="{FF2B5EF4-FFF2-40B4-BE49-F238E27FC236}">
                <a16:creationId xmlns:a16="http://schemas.microsoft.com/office/drawing/2014/main" id="{23CB252A-B9A3-F865-576C-E486F5B744CC}"/>
              </a:ext>
            </a:extLst>
          </p:cNvPr>
          <p:cNvSpPr txBox="1"/>
          <p:nvPr/>
        </p:nvSpPr>
        <p:spPr>
          <a:xfrm>
            <a:off x="1072571" y="1697910"/>
            <a:ext cx="694805" cy="708475"/>
          </a:xfrm>
          <a:prstGeom prst="rect">
            <a:avLst/>
          </a:prstGeom>
          <a:noFill/>
          <a:ln>
            <a:noFill/>
          </a:ln>
        </p:spPr>
        <p:txBody>
          <a:bodyPr vert="horz" wrap="square" lIns="0" tIns="0" rIns="0" bIns="0" rtlCol="0" anchor="ctr"/>
          <a:lstStyle/>
          <a:p>
            <a:pPr algn="ctr">
              <a:lnSpc>
                <a:spcPct val="110000"/>
              </a:lnSpc>
            </a:pPr>
            <a:r>
              <a:rPr kumimoji="1" lang="en-US" altLang="zh-CN" sz="2400">
                <a:ln w="12700">
                  <a:noFill/>
                </a:ln>
                <a:gradFill>
                  <a:gsLst>
                    <a:gs pos="0">
                      <a:srgbClr val="353363">
                        <a:alpha val="100000"/>
                      </a:srgbClr>
                    </a:gs>
                    <a:gs pos="93000">
                      <a:srgbClr val="28264A">
                        <a:alpha val="100000"/>
                      </a:srgbClr>
                    </a:gs>
                  </a:gsLst>
                  <a:lin ang="2700000" scaled="0"/>
                </a:gradFill>
                <a:latin typeface="OPPOSans H" panose="00020600040101010101" charset="-122"/>
                <a:ea typeface="OPPOSans H" panose="00020600040101010101" charset="-122"/>
                <a:cs typeface="OPPOSans H" panose="00020600040101010101" charset="-122"/>
              </a:rPr>
              <a:t>01</a:t>
            </a:r>
            <a:endParaRPr kumimoji="1" lang="zh-CN" altLang="en-US"/>
          </a:p>
        </p:txBody>
      </p:sp>
      <p:sp>
        <p:nvSpPr>
          <p:cNvPr id="30" name="标题 1">
            <a:extLst>
              <a:ext uri="{FF2B5EF4-FFF2-40B4-BE49-F238E27FC236}">
                <a16:creationId xmlns:a16="http://schemas.microsoft.com/office/drawing/2014/main" id="{EDC62486-678B-DCB4-4BD5-930A4447AAF3}"/>
              </a:ext>
            </a:extLst>
          </p:cNvPr>
          <p:cNvSpPr txBox="1"/>
          <p:nvPr/>
        </p:nvSpPr>
        <p:spPr>
          <a:xfrm>
            <a:off x="172720" y="247319"/>
            <a:ext cx="11442700" cy="543097"/>
          </a:xfrm>
          <a:prstGeom prst="rect">
            <a:avLst/>
          </a:prstGeom>
          <a:noFill/>
          <a:ln>
            <a:noFill/>
          </a:ln>
        </p:spPr>
        <p:txBody>
          <a:bodyPr vert="horz" wrap="square" lIns="91440" tIns="45720" rIns="91440" bIns="45720" rtlCol="0" anchor="t">
            <a:spAutoFit/>
          </a:bodyP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低通滤波</a:t>
            </a:r>
            <a:r>
              <a:rPr kumimoji="1" lang="en-US" altLang="zh-CN" sz="2800" dirty="0" err="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分析</a:t>
            </a:r>
            <a:endParaRPr kumimoji="1" lang="zh-CN" altLang="en-US" dirty="0"/>
          </a:p>
        </p:txBody>
      </p:sp>
      <p:cxnSp>
        <p:nvCxnSpPr>
          <p:cNvPr id="31" name="标题 1">
            <a:extLst>
              <a:ext uri="{FF2B5EF4-FFF2-40B4-BE49-F238E27FC236}">
                <a16:creationId xmlns:a16="http://schemas.microsoft.com/office/drawing/2014/main" id="{A52E6158-ACCF-6EEB-0E7B-082326CB86E0}"/>
              </a:ext>
            </a:extLst>
          </p:cNvPr>
          <p:cNvCxnSpPr/>
          <p:nvPr/>
        </p:nvCxnSpPr>
        <p:spPr>
          <a:xfrm>
            <a:off x="352070" y="770539"/>
            <a:ext cx="11307762" cy="0"/>
          </a:xfrm>
          <a:prstGeom prst="line">
            <a:avLst/>
          </a:prstGeom>
          <a:noFill/>
          <a:ln w="6350" cap="rnd">
            <a:solidFill>
              <a:schemeClr val="bg1">
                <a:lumMod val="65000"/>
              </a:schemeClr>
            </a:solidFill>
            <a:round/>
          </a:ln>
        </p:spPr>
      </p:cxnSp>
      <p:cxnSp>
        <p:nvCxnSpPr>
          <p:cNvPr id="32" name="标题 1">
            <a:extLst>
              <a:ext uri="{FF2B5EF4-FFF2-40B4-BE49-F238E27FC236}">
                <a16:creationId xmlns:a16="http://schemas.microsoft.com/office/drawing/2014/main" id="{D579B4BF-6E84-08F9-F2F6-AE371836B1E8}"/>
              </a:ext>
            </a:extLst>
          </p:cNvPr>
          <p:cNvCxnSpPr/>
          <p:nvPr/>
        </p:nvCxnSpPr>
        <p:spPr>
          <a:xfrm>
            <a:off x="312738" y="770539"/>
            <a:ext cx="652463" cy="0"/>
          </a:xfrm>
          <a:prstGeom prst="line">
            <a:avLst/>
          </a:prstGeom>
          <a:noFill/>
          <a:ln w="44450" cap="sq">
            <a:solidFill>
              <a:schemeClr val="accent1"/>
            </a:solidFill>
            <a:round/>
          </a:ln>
        </p:spPr>
      </p:cxnSp>
      <p:sp>
        <p:nvSpPr>
          <p:cNvPr id="14" name="标题 1">
            <a:extLst>
              <a:ext uri="{FF2B5EF4-FFF2-40B4-BE49-F238E27FC236}">
                <a16:creationId xmlns:a16="http://schemas.microsoft.com/office/drawing/2014/main" id="{536B5795-788A-882A-151E-959D07C2E8F6}"/>
              </a:ext>
            </a:extLst>
          </p:cNvPr>
          <p:cNvSpPr txBox="1"/>
          <p:nvPr/>
        </p:nvSpPr>
        <p:spPr>
          <a:xfrm>
            <a:off x="1757015" y="1426373"/>
            <a:ext cx="4102340" cy="1291101"/>
          </a:xfrm>
          <a:prstGeom prst="rect">
            <a:avLst/>
          </a:prstGeom>
          <a:noFill/>
          <a:ln>
            <a:noFill/>
          </a:ln>
        </p:spPr>
        <p:txBody>
          <a:bodyPr vert="horz" wrap="square" lIns="0" tIns="0" rIns="0" bIns="0" rtlCol="0" anchor="ctr"/>
          <a:lstStyle/>
          <a:p>
            <a:pPr algn="l">
              <a:lnSpc>
                <a:spcPct val="150000"/>
              </a:lnSpc>
            </a:pPr>
            <a:r>
              <a:rPr kumimoji="1" lang="zh-CN" altLang="en-US"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数字滤波器的验证</a:t>
            </a:r>
            <a:r>
              <a:rPr kumimoji="1" lang="en-US" altLang="zh-CN"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a:t>
            </a:r>
            <a:r>
              <a:rPr kumimoji="1" lang="en-US" altLang="zh-CN" sz="1400" dirty="0" err="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验证</a:t>
            </a:r>
            <a:r>
              <a:rPr kumimoji="1" lang="zh-CN" altLang="en-US"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低通滤波是否符合要求</a:t>
            </a:r>
            <a:r>
              <a:rPr kumimoji="1" lang="en-US" altLang="zh-CN"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a:t>
            </a:r>
            <a:endParaRPr kumimoji="1" lang="zh-CN" altLang="en-US" dirty="0"/>
          </a:p>
        </p:txBody>
      </p:sp>
      <p:pic>
        <p:nvPicPr>
          <p:cNvPr id="33" name="图片 32">
            <a:extLst>
              <a:ext uri="{FF2B5EF4-FFF2-40B4-BE49-F238E27FC236}">
                <a16:creationId xmlns:a16="http://schemas.microsoft.com/office/drawing/2014/main" id="{80F129DE-A0BE-150E-25F1-973025A85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602" y="1165238"/>
            <a:ext cx="3319776" cy="4951082"/>
          </a:xfrm>
          <a:prstGeom prst="rect">
            <a:avLst/>
          </a:prstGeom>
        </p:spPr>
      </p:pic>
      <p:sp>
        <p:nvSpPr>
          <p:cNvPr id="22" name="标题 1">
            <a:extLst>
              <a:ext uri="{FF2B5EF4-FFF2-40B4-BE49-F238E27FC236}">
                <a16:creationId xmlns:a16="http://schemas.microsoft.com/office/drawing/2014/main" id="{977A8926-A14D-69A3-C552-991455D2A8B6}"/>
              </a:ext>
            </a:extLst>
          </p:cNvPr>
          <p:cNvSpPr txBox="1"/>
          <p:nvPr/>
        </p:nvSpPr>
        <p:spPr>
          <a:xfrm>
            <a:off x="1713576" y="2989011"/>
            <a:ext cx="4102340" cy="1291101"/>
          </a:xfrm>
          <a:prstGeom prst="rect">
            <a:avLst/>
          </a:prstGeom>
          <a:noFill/>
          <a:ln>
            <a:noFill/>
          </a:ln>
        </p:spPr>
        <p:txBody>
          <a:bodyPr vert="horz" wrap="square" lIns="0" tIns="0" rIns="0" bIns="0" rtlCol="0" anchor="ctr"/>
          <a:lstStyle/>
          <a:p>
            <a:pPr algn="l">
              <a:lnSpc>
                <a:spcPct val="150000"/>
              </a:lnSpc>
            </a:pPr>
            <a:r>
              <a:rPr kumimoji="1" lang="zh-CN" altLang="en-US"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低通滤波</a:t>
            </a:r>
            <a:r>
              <a:rPr kumimoji="1" lang="en-US" altLang="zh-CN" sz="1400" dirty="0" err="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输出波形的时域特性，包括幅度和相位信息</a:t>
            </a:r>
            <a:r>
              <a:rPr kumimoji="1" lang="en-US" altLang="zh-CN"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a:t>
            </a:r>
            <a:endParaRPr kumimoji="1" lang="zh-CN" altLang="en-US" dirty="0"/>
          </a:p>
        </p:txBody>
      </p:sp>
      <p:sp>
        <p:nvSpPr>
          <p:cNvPr id="6" name="标题 1">
            <a:extLst>
              <a:ext uri="{FF2B5EF4-FFF2-40B4-BE49-F238E27FC236}">
                <a16:creationId xmlns:a16="http://schemas.microsoft.com/office/drawing/2014/main" id="{1A3FF134-8137-AE4B-3637-5F7993AB0610}"/>
              </a:ext>
            </a:extLst>
          </p:cNvPr>
          <p:cNvSpPr txBox="1"/>
          <p:nvPr/>
        </p:nvSpPr>
        <p:spPr>
          <a:xfrm>
            <a:off x="1739132" y="4574085"/>
            <a:ext cx="4102340" cy="1291101"/>
          </a:xfrm>
          <a:prstGeom prst="rect">
            <a:avLst/>
          </a:prstGeom>
          <a:noFill/>
          <a:ln>
            <a:noFill/>
          </a:ln>
        </p:spPr>
        <p:txBody>
          <a:bodyPr vert="horz" wrap="square" lIns="0" tIns="0" rIns="0" bIns="0" rtlCol="0" anchor="ctr"/>
          <a:lstStyle/>
          <a:p>
            <a:pPr algn="l">
              <a:lnSpc>
                <a:spcPct val="150000"/>
              </a:lnSpc>
            </a:pPr>
            <a:r>
              <a:rPr kumimoji="1" lang="zh-CN" altLang="en-US"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低通滤波</a:t>
            </a:r>
            <a:r>
              <a:rPr kumimoji="1" lang="en-US" altLang="zh-CN" sz="1400" dirty="0" err="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输出频谱的分析，展示信号的频率分布</a:t>
            </a:r>
            <a:r>
              <a:rPr kumimoji="1" lang="en-US" altLang="zh-CN" sz="1400" dirty="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a:t>
            </a:r>
            <a:endParaRPr kumimoji="1" lang="zh-CN" altLang="en-US" dirty="0"/>
          </a:p>
        </p:txBody>
      </p:sp>
    </p:spTree>
    <p:extLst>
      <p:ext uri="{BB962C8B-B14F-4D97-AF65-F5344CB8AC3E}">
        <p14:creationId xmlns:p14="http://schemas.microsoft.com/office/powerpoint/2010/main" val="3016759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3F46F-28E8-D4F3-1A70-F1D919409FE5}"/>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F2E0589D-AD49-4967-10AF-DB8F5F0899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96381" y="3216512"/>
            <a:ext cx="3328927" cy="1327933"/>
          </a:xfrm>
          <a:prstGeom prst="rect">
            <a:avLst/>
          </a:prstGeom>
        </p:spPr>
      </p:pic>
      <p:pic>
        <p:nvPicPr>
          <p:cNvPr id="9" name="图片 8">
            <a:extLst>
              <a:ext uri="{FF2B5EF4-FFF2-40B4-BE49-F238E27FC236}">
                <a16:creationId xmlns:a16="http://schemas.microsoft.com/office/drawing/2014/main" id="{90CDC88C-E212-A1F4-8899-20544A839C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1343" y="4611470"/>
            <a:ext cx="3382193" cy="1327933"/>
          </a:xfrm>
          <a:prstGeom prst="rect">
            <a:avLst/>
          </a:prstGeom>
        </p:spPr>
      </p:pic>
      <p:sp>
        <p:nvSpPr>
          <p:cNvPr id="13" name="标题 1">
            <a:extLst>
              <a:ext uri="{FF2B5EF4-FFF2-40B4-BE49-F238E27FC236}">
                <a16:creationId xmlns:a16="http://schemas.microsoft.com/office/drawing/2014/main" id="{DDD0DD84-D847-68CC-5EE7-4A97012A0351}"/>
              </a:ext>
            </a:extLst>
          </p:cNvPr>
          <p:cNvSpPr txBox="1"/>
          <p:nvPr/>
        </p:nvSpPr>
        <p:spPr>
          <a:xfrm>
            <a:off x="172720" y="247319"/>
            <a:ext cx="11442700" cy="543097"/>
          </a:xfrm>
          <a:prstGeom prst="rect">
            <a:avLst/>
          </a:prstGeom>
          <a:noFill/>
          <a:ln>
            <a:noFill/>
          </a:ln>
        </p:spPr>
        <p:txBody>
          <a:bodyPr vert="horz" wrap="square" lIns="91440" tIns="45720" rIns="91440" bIns="45720" rtlCol="0" anchor="t">
            <a:spAutoFit/>
          </a:bodyP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低通滤波</a:t>
            </a:r>
            <a:r>
              <a:rPr kumimoji="1" lang="en-US" altLang="zh-CN" sz="2800" dirty="0" err="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分析</a:t>
            </a:r>
            <a:endParaRPr kumimoji="1" lang="zh-CN" altLang="en-US" dirty="0"/>
          </a:p>
        </p:txBody>
      </p:sp>
      <p:cxnSp>
        <p:nvCxnSpPr>
          <p:cNvPr id="14" name="标题 1">
            <a:extLst>
              <a:ext uri="{FF2B5EF4-FFF2-40B4-BE49-F238E27FC236}">
                <a16:creationId xmlns:a16="http://schemas.microsoft.com/office/drawing/2014/main" id="{ED70D0F6-C2C9-055B-8DF6-E46681B07ADE}"/>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5" name="标题 1">
            <a:extLst>
              <a:ext uri="{FF2B5EF4-FFF2-40B4-BE49-F238E27FC236}">
                <a16:creationId xmlns:a16="http://schemas.microsoft.com/office/drawing/2014/main" id="{B6921C64-7A77-6F53-769E-2CA0E866C1F5}"/>
              </a:ext>
            </a:extLst>
          </p:cNvPr>
          <p:cNvCxnSpPr/>
          <p:nvPr/>
        </p:nvCxnSpPr>
        <p:spPr>
          <a:xfrm>
            <a:off x="312738" y="770539"/>
            <a:ext cx="652463" cy="0"/>
          </a:xfrm>
          <a:prstGeom prst="line">
            <a:avLst/>
          </a:prstGeom>
          <a:noFill/>
          <a:ln w="44450" cap="sq">
            <a:solidFill>
              <a:schemeClr val="accent1"/>
            </a:solidFill>
            <a:round/>
          </a:ln>
        </p:spPr>
      </p:cxnSp>
      <p:sp>
        <p:nvSpPr>
          <p:cNvPr id="4" name="文本框 3">
            <a:extLst>
              <a:ext uri="{FF2B5EF4-FFF2-40B4-BE49-F238E27FC236}">
                <a16:creationId xmlns:a16="http://schemas.microsoft.com/office/drawing/2014/main" id="{C283697F-E21A-29EF-3227-AE29D003573D}"/>
              </a:ext>
            </a:extLst>
          </p:cNvPr>
          <p:cNvSpPr txBox="1"/>
          <p:nvPr/>
        </p:nvSpPr>
        <p:spPr>
          <a:xfrm>
            <a:off x="172720" y="853803"/>
            <a:ext cx="8542723" cy="646331"/>
          </a:xfrm>
          <a:prstGeom prst="rect">
            <a:avLst/>
          </a:prstGeom>
          <a:noFill/>
        </p:spPr>
        <p:txBody>
          <a:bodyPr wrap="none" rtlCol="0">
            <a:spAutoFit/>
          </a:bodyPr>
          <a:lstStyle/>
          <a:p>
            <a:r>
              <a:rPr lang="zh-CN" altLang="en-US" dirty="0"/>
              <a:t>本次实验中软件无线电系统采集的基站信号的中心频率时</a:t>
            </a:r>
            <a:r>
              <a:rPr lang="en-US" altLang="zh-CN" dirty="0"/>
              <a:t>2123MHz</a:t>
            </a:r>
            <a:r>
              <a:rPr lang="zh-CN" altLang="en-US" dirty="0"/>
              <a:t>，带宽</a:t>
            </a:r>
            <a:r>
              <a:rPr lang="en-US" altLang="zh-CN" dirty="0"/>
              <a:t>25MHz</a:t>
            </a:r>
            <a:r>
              <a:rPr lang="zh-CN" altLang="en-US" dirty="0"/>
              <a:t>，</a:t>
            </a:r>
            <a:endParaRPr lang="en-US" altLang="zh-CN" dirty="0"/>
          </a:p>
          <a:p>
            <a:r>
              <a:rPr lang="zh-CN" altLang="en-US" dirty="0"/>
              <a:t>信号包含</a:t>
            </a:r>
            <a:r>
              <a:rPr lang="en-US" altLang="zh-CN" dirty="0"/>
              <a:t>2130-2135MHz</a:t>
            </a:r>
            <a:r>
              <a:rPr lang="zh-CN" altLang="en-US" dirty="0"/>
              <a:t>（</a:t>
            </a:r>
            <a:r>
              <a:rPr lang="en-US" altLang="zh-CN" dirty="0"/>
              <a:t>5M</a:t>
            </a:r>
            <a:r>
              <a:rPr lang="zh-CN" altLang="en-US" dirty="0"/>
              <a:t>带宽）、</a:t>
            </a:r>
            <a:r>
              <a:rPr lang="en-US" altLang="zh-CN" dirty="0"/>
              <a:t>2110-21230MHz</a:t>
            </a:r>
            <a:r>
              <a:rPr lang="zh-CN" altLang="en-US" dirty="0"/>
              <a:t>（</a:t>
            </a:r>
            <a:r>
              <a:rPr lang="en-US" altLang="zh-CN" dirty="0"/>
              <a:t>20M</a:t>
            </a:r>
            <a:r>
              <a:rPr lang="zh-CN" altLang="en-US" dirty="0"/>
              <a:t>带宽）。</a:t>
            </a:r>
          </a:p>
        </p:txBody>
      </p:sp>
      <p:sp>
        <p:nvSpPr>
          <p:cNvPr id="3" name="文本框 2">
            <a:extLst>
              <a:ext uri="{FF2B5EF4-FFF2-40B4-BE49-F238E27FC236}">
                <a16:creationId xmlns:a16="http://schemas.microsoft.com/office/drawing/2014/main" id="{B50244A6-5BC2-3C0A-DD2A-333EFA0F9D4A}"/>
              </a:ext>
            </a:extLst>
          </p:cNvPr>
          <p:cNvSpPr txBox="1"/>
          <p:nvPr/>
        </p:nvSpPr>
        <p:spPr>
          <a:xfrm>
            <a:off x="172720" y="1563521"/>
            <a:ext cx="11200674" cy="923330"/>
          </a:xfrm>
          <a:prstGeom prst="rect">
            <a:avLst/>
          </a:prstGeom>
          <a:noFill/>
        </p:spPr>
        <p:txBody>
          <a:bodyPr wrap="square" rtlCol="0">
            <a:spAutoFit/>
          </a:bodyPr>
          <a:lstStyle/>
          <a:p>
            <a:r>
              <a:rPr lang="zh-CN" altLang="en-US" dirty="0"/>
              <a:t>①接收</a:t>
            </a:r>
            <a:r>
              <a:rPr lang="en-US" altLang="zh-CN" dirty="0"/>
              <a:t>2110-2130MHz</a:t>
            </a:r>
            <a:r>
              <a:rPr lang="zh-CN" altLang="en-US" dirty="0"/>
              <a:t>和</a:t>
            </a:r>
            <a:r>
              <a:rPr lang="en-US" altLang="zh-CN" dirty="0"/>
              <a:t>2130-2135MHz</a:t>
            </a:r>
            <a:r>
              <a:rPr lang="zh-CN" altLang="en-US" dirty="0"/>
              <a:t>两个频段的基带信号。 </a:t>
            </a:r>
            <a:endParaRPr lang="en-US" altLang="zh-CN" dirty="0"/>
          </a:p>
          <a:p>
            <a:r>
              <a:rPr lang="zh-CN" altLang="en-US" dirty="0"/>
              <a:t>②在信号处理前，需要滤除</a:t>
            </a:r>
            <a:r>
              <a:rPr lang="en-US" altLang="zh-CN" dirty="0"/>
              <a:t>2130-2135MHz(5M</a:t>
            </a:r>
            <a:r>
              <a:rPr lang="zh-CN" altLang="en-US" dirty="0"/>
              <a:t>带宽</a:t>
            </a:r>
            <a:r>
              <a:rPr lang="en-US" altLang="zh-CN" dirty="0"/>
              <a:t>)</a:t>
            </a:r>
            <a:r>
              <a:rPr lang="zh-CN" altLang="en-US" dirty="0"/>
              <a:t>的基站信号，保留</a:t>
            </a:r>
            <a:r>
              <a:rPr lang="en-US" altLang="zh-CN" dirty="0"/>
              <a:t>2110-2130MHz(20M</a:t>
            </a:r>
            <a:r>
              <a:rPr lang="zh-CN" altLang="en-US" dirty="0"/>
              <a:t>带宽</a:t>
            </a:r>
            <a:r>
              <a:rPr lang="en-US" altLang="zh-CN" dirty="0"/>
              <a:t>)</a:t>
            </a:r>
            <a:r>
              <a:rPr lang="zh-CN" altLang="en-US" dirty="0"/>
              <a:t>的信号。</a:t>
            </a:r>
            <a:endParaRPr lang="en-US" altLang="zh-CN" dirty="0"/>
          </a:p>
          <a:p>
            <a:r>
              <a:rPr lang="zh-CN" altLang="en-US" dirty="0"/>
              <a:t>③将</a:t>
            </a:r>
            <a:r>
              <a:rPr lang="en-US" altLang="zh-CN" dirty="0"/>
              <a:t>2110-2130MHz(20M</a:t>
            </a:r>
            <a:r>
              <a:rPr lang="zh-CN" altLang="en-US" dirty="0"/>
              <a:t>带宽</a:t>
            </a:r>
            <a:r>
              <a:rPr lang="en-US" altLang="zh-CN" dirty="0"/>
              <a:t>)</a:t>
            </a:r>
            <a:r>
              <a:rPr lang="zh-CN" altLang="en-US" dirty="0"/>
              <a:t>信号变频到零中频，再通过</a:t>
            </a:r>
            <a:r>
              <a:rPr lang="zh-CN" altLang="en-US" b="1" u="sng" dirty="0"/>
              <a:t>低通滤波器滤掉高频信号</a:t>
            </a:r>
            <a:r>
              <a:rPr lang="zh-CN" altLang="en-US" dirty="0"/>
              <a:t>。</a:t>
            </a:r>
          </a:p>
        </p:txBody>
      </p:sp>
      <p:sp>
        <p:nvSpPr>
          <p:cNvPr id="10" name="文本框 9">
            <a:extLst>
              <a:ext uri="{FF2B5EF4-FFF2-40B4-BE49-F238E27FC236}">
                <a16:creationId xmlns:a16="http://schemas.microsoft.com/office/drawing/2014/main" id="{1AA4ECA8-2559-13BA-1440-65AEE2560A01}"/>
              </a:ext>
            </a:extLst>
          </p:cNvPr>
          <p:cNvSpPr txBox="1"/>
          <p:nvPr/>
        </p:nvSpPr>
        <p:spPr>
          <a:xfrm>
            <a:off x="172720" y="2760617"/>
            <a:ext cx="7872549" cy="369332"/>
          </a:xfrm>
          <a:prstGeom prst="rect">
            <a:avLst/>
          </a:prstGeom>
          <a:noFill/>
        </p:spPr>
        <p:txBody>
          <a:bodyPr wrap="square" rtlCol="0">
            <a:spAutoFit/>
          </a:bodyPr>
          <a:lstStyle/>
          <a:p>
            <a:r>
              <a:rPr lang="zh-CN" altLang="en-US" dirty="0"/>
              <a:t>数字下变频输出的时域图与频域图：（以</a:t>
            </a:r>
            <a:r>
              <a:rPr lang="en-US" altLang="zh-CN" dirty="0"/>
              <a:t>data_1</a:t>
            </a:r>
            <a:r>
              <a:rPr lang="zh-CN" altLang="en-US" dirty="0"/>
              <a:t>为例）</a:t>
            </a:r>
            <a:endParaRPr lang="zh-CN" altLang="en-US" baseline="-25000" dirty="0"/>
          </a:p>
        </p:txBody>
      </p:sp>
      <p:sp>
        <p:nvSpPr>
          <p:cNvPr id="22" name="文本框 21">
            <a:extLst>
              <a:ext uri="{FF2B5EF4-FFF2-40B4-BE49-F238E27FC236}">
                <a16:creationId xmlns:a16="http://schemas.microsoft.com/office/drawing/2014/main" id="{B0441EB3-0B10-31CF-143A-FD8FFA93A6B8}"/>
              </a:ext>
            </a:extLst>
          </p:cNvPr>
          <p:cNvSpPr txBox="1"/>
          <p:nvPr/>
        </p:nvSpPr>
        <p:spPr>
          <a:xfrm>
            <a:off x="1036318" y="6061335"/>
            <a:ext cx="3788230" cy="369332"/>
          </a:xfrm>
          <a:prstGeom prst="rect">
            <a:avLst/>
          </a:prstGeom>
          <a:noFill/>
        </p:spPr>
        <p:txBody>
          <a:bodyPr wrap="square" rtlCol="0">
            <a:spAutoFit/>
          </a:bodyPr>
          <a:lstStyle/>
          <a:p>
            <a:r>
              <a:rPr lang="zh-CN" altLang="en-US" dirty="0"/>
              <a:t>监测信号时域低通滤波输出图</a:t>
            </a:r>
          </a:p>
        </p:txBody>
      </p:sp>
      <p:sp>
        <p:nvSpPr>
          <p:cNvPr id="23" name="文本框 22">
            <a:extLst>
              <a:ext uri="{FF2B5EF4-FFF2-40B4-BE49-F238E27FC236}">
                <a16:creationId xmlns:a16="http://schemas.microsoft.com/office/drawing/2014/main" id="{162DF35C-71DA-68A2-2986-592F2B0530DC}"/>
              </a:ext>
            </a:extLst>
          </p:cNvPr>
          <p:cNvSpPr txBox="1"/>
          <p:nvPr/>
        </p:nvSpPr>
        <p:spPr>
          <a:xfrm>
            <a:off x="7317178" y="5958943"/>
            <a:ext cx="3788230" cy="369332"/>
          </a:xfrm>
          <a:prstGeom prst="rect">
            <a:avLst/>
          </a:prstGeom>
          <a:noFill/>
        </p:spPr>
        <p:txBody>
          <a:bodyPr wrap="square" rtlCol="0">
            <a:spAutoFit/>
          </a:bodyPr>
          <a:lstStyle/>
          <a:p>
            <a:r>
              <a:rPr lang="zh-CN" altLang="en-US" dirty="0"/>
              <a:t>监测信号频域低通滤波输出图</a:t>
            </a:r>
          </a:p>
        </p:txBody>
      </p:sp>
      <p:pic>
        <p:nvPicPr>
          <p:cNvPr id="5" name="图片 4">
            <a:extLst>
              <a:ext uri="{FF2B5EF4-FFF2-40B4-BE49-F238E27FC236}">
                <a16:creationId xmlns:a16="http://schemas.microsoft.com/office/drawing/2014/main" id="{48138258-CB67-F11A-6BE4-839576B620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376" y="3387971"/>
            <a:ext cx="2612573" cy="1030830"/>
          </a:xfrm>
          <a:prstGeom prst="rect">
            <a:avLst/>
          </a:prstGeom>
        </p:spPr>
      </p:pic>
      <p:pic>
        <p:nvPicPr>
          <p:cNvPr id="16" name="图片 15">
            <a:extLst>
              <a:ext uri="{FF2B5EF4-FFF2-40B4-BE49-F238E27FC236}">
                <a16:creationId xmlns:a16="http://schemas.microsoft.com/office/drawing/2014/main" id="{DAB9CE04-A952-E0B5-31A4-023A81267DA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82814" y="3403715"/>
            <a:ext cx="2532629" cy="975315"/>
          </a:xfrm>
          <a:prstGeom prst="rect">
            <a:avLst/>
          </a:prstGeom>
        </p:spPr>
      </p:pic>
      <p:pic>
        <p:nvPicPr>
          <p:cNvPr id="20" name="图片 19">
            <a:extLst>
              <a:ext uri="{FF2B5EF4-FFF2-40B4-BE49-F238E27FC236}">
                <a16:creationId xmlns:a16="http://schemas.microsoft.com/office/drawing/2014/main" id="{5AE0CF43-62BA-6ACE-0A25-A414C0B5E15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92084" y="3259956"/>
            <a:ext cx="3328927" cy="1340125"/>
          </a:xfrm>
          <a:prstGeom prst="rect">
            <a:avLst/>
          </a:prstGeom>
        </p:spPr>
      </p:pic>
      <p:pic>
        <p:nvPicPr>
          <p:cNvPr id="27" name="图片 26">
            <a:extLst>
              <a:ext uri="{FF2B5EF4-FFF2-40B4-BE49-F238E27FC236}">
                <a16:creationId xmlns:a16="http://schemas.microsoft.com/office/drawing/2014/main" id="{2595F19A-F507-65B5-DE9B-74AEEDEB761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40333" y="4558055"/>
            <a:ext cx="3150219" cy="1221862"/>
          </a:xfrm>
          <a:prstGeom prst="rect">
            <a:avLst/>
          </a:prstGeom>
        </p:spPr>
      </p:pic>
    </p:spTree>
    <p:extLst>
      <p:ext uri="{BB962C8B-B14F-4D97-AF65-F5344CB8AC3E}">
        <p14:creationId xmlns:p14="http://schemas.microsoft.com/office/powerpoint/2010/main" val="3522672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F8EB-F520-7909-E951-7D63A3CBFD7A}"/>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D10B1660-E4E3-6B19-BC6C-26B438AE4C1D}"/>
              </a:ext>
            </a:extLst>
          </p:cNvPr>
          <p:cNvSpPr txBox="1"/>
          <p:nvPr/>
        </p:nvSpPr>
        <p:spPr>
          <a:xfrm>
            <a:off x="172720" y="247319"/>
            <a:ext cx="11442700" cy="543097"/>
          </a:xfrm>
          <a:prstGeom prst="rect">
            <a:avLst/>
          </a:prstGeom>
          <a:noFill/>
          <a:ln>
            <a:noFill/>
          </a:ln>
        </p:spPr>
        <p:txBody>
          <a:bodyPr vert="horz" wrap="square" lIns="91440" tIns="45720" rIns="91440" bIns="45720" rtlCol="0" anchor="t">
            <a:spAutoFit/>
          </a:bodyP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低通滤波</a:t>
            </a:r>
            <a:r>
              <a:rPr kumimoji="1" lang="en-US" altLang="zh-CN" sz="2800" dirty="0" err="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分析</a:t>
            </a:r>
            <a:endParaRPr kumimoji="1" lang="zh-CN" altLang="en-US" dirty="0"/>
          </a:p>
        </p:txBody>
      </p:sp>
      <p:cxnSp>
        <p:nvCxnSpPr>
          <p:cNvPr id="14" name="标题 1">
            <a:extLst>
              <a:ext uri="{FF2B5EF4-FFF2-40B4-BE49-F238E27FC236}">
                <a16:creationId xmlns:a16="http://schemas.microsoft.com/office/drawing/2014/main" id="{A4FB2490-98A9-3B7B-23FC-7832CFD6B4B4}"/>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5" name="标题 1">
            <a:extLst>
              <a:ext uri="{FF2B5EF4-FFF2-40B4-BE49-F238E27FC236}">
                <a16:creationId xmlns:a16="http://schemas.microsoft.com/office/drawing/2014/main" id="{5A4E4901-BDF6-A030-6899-1AA829FBADE4}"/>
              </a:ext>
            </a:extLst>
          </p:cNvPr>
          <p:cNvCxnSpPr/>
          <p:nvPr/>
        </p:nvCxnSpPr>
        <p:spPr>
          <a:xfrm>
            <a:off x="312738" y="770539"/>
            <a:ext cx="652463" cy="0"/>
          </a:xfrm>
          <a:prstGeom prst="line">
            <a:avLst/>
          </a:prstGeom>
          <a:noFill/>
          <a:ln w="44450" cap="sq">
            <a:solidFill>
              <a:schemeClr val="accent1"/>
            </a:solidFill>
            <a:round/>
          </a:ln>
        </p:spPr>
      </p:cxnSp>
      <p:sp>
        <p:nvSpPr>
          <p:cNvPr id="4" name="文本框 3">
            <a:extLst>
              <a:ext uri="{FF2B5EF4-FFF2-40B4-BE49-F238E27FC236}">
                <a16:creationId xmlns:a16="http://schemas.microsoft.com/office/drawing/2014/main" id="{E21239C7-B204-8C03-D9BD-BE577388C1DC}"/>
              </a:ext>
            </a:extLst>
          </p:cNvPr>
          <p:cNvSpPr txBox="1"/>
          <p:nvPr/>
        </p:nvSpPr>
        <p:spPr>
          <a:xfrm>
            <a:off x="172720" y="923865"/>
            <a:ext cx="6205545" cy="646331"/>
          </a:xfrm>
          <a:prstGeom prst="rect">
            <a:avLst/>
          </a:prstGeom>
          <a:noFill/>
        </p:spPr>
        <p:txBody>
          <a:bodyPr wrap="none" rtlCol="0">
            <a:spAutoFit/>
          </a:bodyPr>
          <a:lstStyle/>
          <a:p>
            <a:r>
              <a:rPr lang="zh-CN" altLang="en-US" dirty="0"/>
              <a:t>巴特沃斯（</a:t>
            </a:r>
            <a:r>
              <a:rPr lang="en-US" altLang="zh-CN" dirty="0"/>
              <a:t>Butterworth</a:t>
            </a:r>
            <a:r>
              <a:rPr lang="zh-CN" altLang="en-US" dirty="0"/>
              <a:t>）滤波器是一种典型的电子滤波器。</a:t>
            </a:r>
            <a:endParaRPr lang="en-US" altLang="zh-CN" dirty="0"/>
          </a:p>
          <a:p>
            <a:r>
              <a:rPr lang="zh-CN" altLang="en-US" dirty="0"/>
              <a:t>我们采用</a:t>
            </a:r>
            <a:r>
              <a:rPr lang="en-US" altLang="zh-CN" dirty="0"/>
              <a:t>butter</a:t>
            </a:r>
            <a:r>
              <a:rPr lang="zh-CN" altLang="en-US" dirty="0"/>
              <a:t>函数设计低通滤波器。</a:t>
            </a:r>
          </a:p>
        </p:txBody>
      </p:sp>
      <p:sp>
        <p:nvSpPr>
          <p:cNvPr id="5" name="文本框 4">
            <a:extLst>
              <a:ext uri="{FF2B5EF4-FFF2-40B4-BE49-F238E27FC236}">
                <a16:creationId xmlns:a16="http://schemas.microsoft.com/office/drawing/2014/main" id="{E196FADD-DB07-2FF1-932D-D5CACABD781C}"/>
              </a:ext>
            </a:extLst>
          </p:cNvPr>
          <p:cNvSpPr txBox="1"/>
          <p:nvPr/>
        </p:nvSpPr>
        <p:spPr>
          <a:xfrm>
            <a:off x="172720" y="1941666"/>
            <a:ext cx="1800493" cy="369332"/>
          </a:xfrm>
          <a:prstGeom prst="rect">
            <a:avLst/>
          </a:prstGeom>
          <a:noFill/>
        </p:spPr>
        <p:txBody>
          <a:bodyPr wrap="none" rtlCol="0">
            <a:spAutoFit/>
          </a:bodyPr>
          <a:lstStyle/>
          <a:p>
            <a:pPr algn="l"/>
            <a:r>
              <a:rPr lang="zh-CN" altLang="en-US" dirty="0"/>
              <a:t>具体代码如下：</a:t>
            </a:r>
          </a:p>
        </p:txBody>
      </p:sp>
      <p:pic>
        <p:nvPicPr>
          <p:cNvPr id="10" name="图片 9">
            <a:extLst>
              <a:ext uri="{FF2B5EF4-FFF2-40B4-BE49-F238E27FC236}">
                <a16:creationId xmlns:a16="http://schemas.microsoft.com/office/drawing/2014/main" id="{5E4DEBBE-F217-0604-6BE6-693336BFCA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737" y="2310998"/>
            <a:ext cx="4694691" cy="4044527"/>
          </a:xfrm>
          <a:prstGeom prst="rect">
            <a:avLst/>
          </a:prstGeom>
        </p:spPr>
      </p:pic>
      <p:pic>
        <p:nvPicPr>
          <p:cNvPr id="11" name="图片 10">
            <a:extLst>
              <a:ext uri="{FF2B5EF4-FFF2-40B4-BE49-F238E27FC236}">
                <a16:creationId xmlns:a16="http://schemas.microsoft.com/office/drawing/2014/main" id="{78DA284B-3391-FD6B-389F-CEFDD9EA817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61279" y="2957329"/>
            <a:ext cx="4036392" cy="3028023"/>
          </a:xfrm>
          <a:prstGeom prst="rect">
            <a:avLst/>
          </a:prstGeom>
          <a:noFill/>
          <a:ln>
            <a:noFill/>
          </a:ln>
        </p:spPr>
      </p:pic>
      <p:sp>
        <p:nvSpPr>
          <p:cNvPr id="12" name="文本框 11">
            <a:extLst>
              <a:ext uri="{FF2B5EF4-FFF2-40B4-BE49-F238E27FC236}">
                <a16:creationId xmlns:a16="http://schemas.microsoft.com/office/drawing/2014/main" id="{ED4FC2C9-CD49-60BC-6C62-8110A3EB598A}"/>
              </a:ext>
            </a:extLst>
          </p:cNvPr>
          <p:cNvSpPr txBox="1"/>
          <p:nvPr/>
        </p:nvSpPr>
        <p:spPr>
          <a:xfrm>
            <a:off x="5261279" y="2191639"/>
            <a:ext cx="4694691" cy="646331"/>
          </a:xfrm>
          <a:prstGeom prst="rect">
            <a:avLst/>
          </a:prstGeom>
          <a:noFill/>
        </p:spPr>
        <p:txBody>
          <a:bodyPr wrap="square" rtlCol="0">
            <a:spAutoFit/>
          </a:bodyPr>
          <a:lstStyle/>
          <a:p>
            <a:r>
              <a:rPr lang="zh-CN" altLang="en-US" dirty="0"/>
              <a:t>采用</a:t>
            </a:r>
            <a:r>
              <a:rPr lang="en-US" altLang="zh-CN" dirty="0" err="1"/>
              <a:t>freqz</a:t>
            </a:r>
            <a:r>
              <a:rPr lang="zh-CN" altLang="en-US" dirty="0"/>
              <a:t>函数画出该低通滤波器的频率响应，</a:t>
            </a:r>
            <a:endParaRPr lang="en-US" altLang="zh-CN" dirty="0"/>
          </a:p>
          <a:p>
            <a:r>
              <a:rPr lang="zh-CN" altLang="en-US" dirty="0"/>
              <a:t>以进行验证该滤波器为一个合适的</a:t>
            </a:r>
            <a:r>
              <a:rPr lang="en-US" altLang="zh-CN" dirty="0"/>
              <a:t>LPF</a:t>
            </a:r>
            <a:r>
              <a:rPr lang="zh-CN" altLang="en-US" dirty="0"/>
              <a:t>。</a:t>
            </a:r>
          </a:p>
        </p:txBody>
      </p:sp>
      <p:sp>
        <p:nvSpPr>
          <p:cNvPr id="16" name="椭圆 15">
            <a:extLst>
              <a:ext uri="{FF2B5EF4-FFF2-40B4-BE49-F238E27FC236}">
                <a16:creationId xmlns:a16="http://schemas.microsoft.com/office/drawing/2014/main" id="{3202D8CC-4747-7F50-727A-96186F11803F}"/>
              </a:ext>
            </a:extLst>
          </p:cNvPr>
          <p:cNvSpPr/>
          <p:nvPr/>
        </p:nvSpPr>
        <p:spPr>
          <a:xfrm>
            <a:off x="5590902" y="5547360"/>
            <a:ext cx="175419" cy="209006"/>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cxnSp>
        <p:nvCxnSpPr>
          <p:cNvPr id="18" name="直接箭头连接符 17">
            <a:extLst>
              <a:ext uri="{FF2B5EF4-FFF2-40B4-BE49-F238E27FC236}">
                <a16:creationId xmlns:a16="http://schemas.microsoft.com/office/drawing/2014/main" id="{A75E39B6-F908-F599-F814-729ADC05E574}"/>
              </a:ext>
            </a:extLst>
          </p:cNvPr>
          <p:cNvCxnSpPr/>
          <p:nvPr/>
        </p:nvCxnSpPr>
        <p:spPr>
          <a:xfrm>
            <a:off x="5678611" y="5756366"/>
            <a:ext cx="245088" cy="3875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9" name="文本框 18">
            <a:extLst>
              <a:ext uri="{FF2B5EF4-FFF2-40B4-BE49-F238E27FC236}">
                <a16:creationId xmlns:a16="http://schemas.microsoft.com/office/drawing/2014/main" id="{D33117E6-5D87-AC31-EE68-43A1DB6747D4}"/>
              </a:ext>
            </a:extLst>
          </p:cNvPr>
          <p:cNvSpPr txBox="1"/>
          <p:nvPr/>
        </p:nvSpPr>
        <p:spPr>
          <a:xfrm>
            <a:off x="5147445" y="6143893"/>
            <a:ext cx="3186090" cy="369332"/>
          </a:xfrm>
          <a:prstGeom prst="rect">
            <a:avLst/>
          </a:prstGeom>
          <a:noFill/>
        </p:spPr>
        <p:txBody>
          <a:bodyPr wrap="square" rtlCol="0">
            <a:spAutoFit/>
          </a:bodyPr>
          <a:lstStyle/>
          <a:p>
            <a:r>
              <a:rPr lang="zh-CN" altLang="en-US" b="1" dirty="0"/>
              <a:t>信号强度降低</a:t>
            </a:r>
          </a:p>
        </p:txBody>
      </p:sp>
      <p:cxnSp>
        <p:nvCxnSpPr>
          <p:cNvPr id="21" name="直接箭头连接符 20">
            <a:extLst>
              <a:ext uri="{FF2B5EF4-FFF2-40B4-BE49-F238E27FC236}">
                <a16:creationId xmlns:a16="http://schemas.microsoft.com/office/drawing/2014/main" id="{14310808-627C-EB4A-5BBE-2C3832E5C8E8}"/>
              </a:ext>
            </a:extLst>
          </p:cNvPr>
          <p:cNvCxnSpPr/>
          <p:nvPr/>
        </p:nvCxnSpPr>
        <p:spPr>
          <a:xfrm flipV="1">
            <a:off x="8604069" y="5312896"/>
            <a:ext cx="984068" cy="33896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2" name="文本框 21">
            <a:extLst>
              <a:ext uri="{FF2B5EF4-FFF2-40B4-BE49-F238E27FC236}">
                <a16:creationId xmlns:a16="http://schemas.microsoft.com/office/drawing/2014/main" id="{805FFBE6-8B97-424C-C598-C1903E78D5BF}"/>
              </a:ext>
            </a:extLst>
          </p:cNvPr>
          <p:cNvSpPr txBox="1"/>
          <p:nvPr/>
        </p:nvSpPr>
        <p:spPr>
          <a:xfrm>
            <a:off x="9588137" y="4851231"/>
            <a:ext cx="2429692" cy="923330"/>
          </a:xfrm>
          <a:prstGeom prst="rect">
            <a:avLst/>
          </a:prstGeom>
          <a:noFill/>
        </p:spPr>
        <p:txBody>
          <a:bodyPr wrap="square" rtlCol="0">
            <a:spAutoFit/>
          </a:bodyPr>
          <a:lstStyle/>
          <a:p>
            <a:r>
              <a:rPr lang="zh-CN" altLang="en-US" b="1" dirty="0"/>
              <a:t>频率高于</a:t>
            </a:r>
            <a:r>
              <a:rPr lang="en-US" altLang="zh-CN" b="1" dirty="0"/>
              <a:t>9MHz</a:t>
            </a:r>
            <a:r>
              <a:rPr lang="zh-CN" altLang="en-US" b="1" dirty="0"/>
              <a:t>的区域为阻带，信号被显著削弱。</a:t>
            </a:r>
          </a:p>
        </p:txBody>
      </p:sp>
      <p:cxnSp>
        <p:nvCxnSpPr>
          <p:cNvPr id="24" name="直接箭头连接符 23">
            <a:extLst>
              <a:ext uri="{FF2B5EF4-FFF2-40B4-BE49-F238E27FC236}">
                <a16:creationId xmlns:a16="http://schemas.microsoft.com/office/drawing/2014/main" id="{735BB380-C0CB-5DA0-E1C7-C5EE324C3D1A}"/>
              </a:ext>
            </a:extLst>
          </p:cNvPr>
          <p:cNvCxnSpPr/>
          <p:nvPr/>
        </p:nvCxnSpPr>
        <p:spPr>
          <a:xfrm>
            <a:off x="8447314" y="3196046"/>
            <a:ext cx="1140823" cy="2329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5" name="文本框 24">
            <a:extLst>
              <a:ext uri="{FF2B5EF4-FFF2-40B4-BE49-F238E27FC236}">
                <a16:creationId xmlns:a16="http://schemas.microsoft.com/office/drawing/2014/main" id="{4360B726-192E-4214-84FB-297E098DAF95}"/>
              </a:ext>
            </a:extLst>
          </p:cNvPr>
          <p:cNvSpPr txBox="1"/>
          <p:nvPr/>
        </p:nvSpPr>
        <p:spPr>
          <a:xfrm>
            <a:off x="9588137" y="3310773"/>
            <a:ext cx="2185852" cy="1200329"/>
          </a:xfrm>
          <a:prstGeom prst="rect">
            <a:avLst/>
          </a:prstGeom>
          <a:noFill/>
        </p:spPr>
        <p:txBody>
          <a:bodyPr wrap="square" rtlCol="0">
            <a:spAutoFit/>
          </a:bodyPr>
          <a:lstStyle/>
          <a:p>
            <a:r>
              <a:rPr lang="zh-CN" altLang="en-US" b="1" dirty="0"/>
              <a:t>频率范围为</a:t>
            </a:r>
            <a:r>
              <a:rPr lang="en-US" altLang="zh-CN" b="1" dirty="0"/>
              <a:t>0~8MHz</a:t>
            </a:r>
            <a:r>
              <a:rPr lang="zh-CN" altLang="en-US" b="1" dirty="0"/>
              <a:t>内，信号的强度基本保持不变。</a:t>
            </a:r>
          </a:p>
        </p:txBody>
      </p:sp>
      <p:pic>
        <p:nvPicPr>
          <p:cNvPr id="27" name="图片 26">
            <a:extLst>
              <a:ext uri="{FF2B5EF4-FFF2-40B4-BE49-F238E27FC236}">
                <a16:creationId xmlns:a16="http://schemas.microsoft.com/office/drawing/2014/main" id="{AC244283-68D7-0D30-6DCE-3856C29628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51276" y="889899"/>
            <a:ext cx="2732897" cy="1201048"/>
          </a:xfrm>
          <a:prstGeom prst="rect">
            <a:avLst/>
          </a:prstGeom>
        </p:spPr>
      </p:pic>
    </p:spTree>
    <p:extLst>
      <p:ext uri="{BB962C8B-B14F-4D97-AF65-F5344CB8AC3E}">
        <p14:creationId xmlns:p14="http://schemas.microsoft.com/office/powerpoint/2010/main" val="395529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10EA4-2000-4276-8754-C97F48C56733}"/>
            </a:ext>
          </a:extLst>
        </p:cNvPr>
        <p:cNvGrpSpPr/>
        <p:nvPr/>
      </p:nvGrpSpPr>
      <p:grpSpPr>
        <a:xfrm>
          <a:off x="0" y="0"/>
          <a:ext cx="0" cy="0"/>
          <a:chOff x="0" y="0"/>
          <a:chExt cx="0" cy="0"/>
        </a:xfrm>
      </p:grpSpPr>
      <p:sp>
        <p:nvSpPr>
          <p:cNvPr id="10" name="标题 1">
            <a:extLst>
              <a:ext uri="{FF2B5EF4-FFF2-40B4-BE49-F238E27FC236}">
                <a16:creationId xmlns:a16="http://schemas.microsoft.com/office/drawing/2014/main" id="{EF03B8E5-DF73-D539-D405-BAAB5EDC44F9}"/>
              </a:ext>
            </a:extLst>
          </p:cNvPr>
          <p:cNvSpPr txBox="1"/>
          <p:nvPr/>
        </p:nvSpPr>
        <p:spPr>
          <a:xfrm>
            <a:off x="5783650" y="2058806"/>
            <a:ext cx="612000" cy="554849"/>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cxnSp>
        <p:nvCxnSpPr>
          <p:cNvPr id="17" name="标题 1">
            <a:extLst>
              <a:ext uri="{FF2B5EF4-FFF2-40B4-BE49-F238E27FC236}">
                <a16:creationId xmlns:a16="http://schemas.microsoft.com/office/drawing/2014/main" id="{49C23B9C-893C-4FA0-CC7E-B79D07A05AC4}"/>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8" name="标题 1">
            <a:extLst>
              <a:ext uri="{FF2B5EF4-FFF2-40B4-BE49-F238E27FC236}">
                <a16:creationId xmlns:a16="http://schemas.microsoft.com/office/drawing/2014/main" id="{8CEBA5DA-8DA8-F012-266B-614774B8FB5D}"/>
              </a:ext>
            </a:extLst>
          </p:cNvPr>
          <p:cNvCxnSpPr/>
          <p:nvPr/>
        </p:nvCxnSpPr>
        <p:spPr>
          <a:xfrm>
            <a:off x="312738" y="770539"/>
            <a:ext cx="652463" cy="0"/>
          </a:xfrm>
          <a:prstGeom prst="line">
            <a:avLst/>
          </a:prstGeom>
          <a:noFill/>
          <a:ln w="44450" cap="sq">
            <a:solidFill>
              <a:schemeClr val="accent1"/>
            </a:solidFill>
            <a:round/>
          </a:ln>
        </p:spPr>
      </p:cxnSp>
      <p:sp>
        <p:nvSpPr>
          <p:cNvPr id="23" name="文本框 22">
            <a:extLst>
              <a:ext uri="{FF2B5EF4-FFF2-40B4-BE49-F238E27FC236}">
                <a16:creationId xmlns:a16="http://schemas.microsoft.com/office/drawing/2014/main" id="{DAFBC2B2-30CE-6195-05E6-50F2C0464E79}"/>
              </a:ext>
            </a:extLst>
          </p:cNvPr>
          <p:cNvSpPr txBox="1"/>
          <p:nvPr/>
        </p:nvSpPr>
        <p:spPr>
          <a:xfrm>
            <a:off x="223405" y="247319"/>
            <a:ext cx="5008418" cy="523220"/>
          </a:xfrm>
          <a:prstGeom prst="rect">
            <a:avLst/>
          </a:prstGeom>
          <a:noFill/>
        </p:spPr>
        <p:txBody>
          <a:bodyPr wrap="square" rtlCol="0">
            <a:spAutoFit/>
          </a:bodyPr>
          <a:lstStyle/>
          <a:p>
            <a:r>
              <a:rPr lang="zh-CN" altLang="en-US" sz="2800" b="1" dirty="0">
                <a:latin typeface="Source Han Sans" panose="020B0500000000000000" charset="-122"/>
                <a:ea typeface="Source Han Sans" panose="020B0500000000000000" charset="-122"/>
              </a:rPr>
              <a:t>时域图</a:t>
            </a:r>
            <a:r>
              <a:rPr lang="en-US" altLang="zh-CN" sz="2800" b="1" dirty="0">
                <a:latin typeface="Source Han Sans" panose="020B0500000000000000" charset="-122"/>
                <a:ea typeface="Source Han Sans" panose="020B0500000000000000" charset="-122"/>
              </a:rPr>
              <a:t>+</a:t>
            </a:r>
            <a:r>
              <a:rPr lang="zh-CN" altLang="en-US" sz="2800" b="1" dirty="0">
                <a:latin typeface="Source Han Sans" panose="020B0500000000000000" charset="-122"/>
                <a:ea typeface="Source Han Sans" panose="020B0500000000000000" charset="-122"/>
              </a:rPr>
              <a:t>频谱图</a:t>
            </a:r>
          </a:p>
        </p:txBody>
      </p:sp>
      <p:sp>
        <p:nvSpPr>
          <p:cNvPr id="24" name="文本框 23">
            <a:extLst>
              <a:ext uri="{FF2B5EF4-FFF2-40B4-BE49-F238E27FC236}">
                <a16:creationId xmlns:a16="http://schemas.microsoft.com/office/drawing/2014/main" id="{AC0B3C98-FB7A-350A-E2BA-DE0C815B27FE}"/>
              </a:ext>
            </a:extLst>
          </p:cNvPr>
          <p:cNvSpPr txBox="1"/>
          <p:nvPr/>
        </p:nvSpPr>
        <p:spPr>
          <a:xfrm>
            <a:off x="8186453" y="1386920"/>
            <a:ext cx="3152107" cy="1477328"/>
          </a:xfrm>
          <a:prstGeom prst="rect">
            <a:avLst/>
          </a:prstGeom>
          <a:noFill/>
        </p:spPr>
        <p:txBody>
          <a:bodyPr wrap="square" rtlCol="0">
            <a:spAutoFit/>
          </a:bodyPr>
          <a:lstStyle/>
          <a:p>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注释：</a:t>
            </a:r>
            <a:endParaRPr kumimoji="1" lang="en-US" altLang="zh-CN" sz="1800"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sz="1800" b="1" dirty="0">
                <a:ln w="12700">
                  <a:noFill/>
                </a:ln>
                <a:solidFill>
                  <a:srgbClr val="262626">
                    <a:alpha val="100000"/>
                  </a:srgbClr>
                </a:solidFill>
                <a:latin typeface="Source Han Sans" panose="020B0500000000000000" charset="-122"/>
                <a:ea typeface="Source Han Sans" panose="020B0500000000000000" charset="-122"/>
              </a:rPr>
              <a:t>一到三行</a:t>
            </a:r>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分别为监测信号、参考信号的原始输出、数字下变频、低通滤波输出的时域图以及频谱图</a:t>
            </a: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p:txBody>
      </p:sp>
      <p:sp>
        <p:nvSpPr>
          <p:cNvPr id="6" name="文本框 5">
            <a:extLst>
              <a:ext uri="{FF2B5EF4-FFF2-40B4-BE49-F238E27FC236}">
                <a16:creationId xmlns:a16="http://schemas.microsoft.com/office/drawing/2014/main" id="{815F9587-C305-3485-8689-4ED6792271C5}"/>
              </a:ext>
            </a:extLst>
          </p:cNvPr>
          <p:cNvSpPr txBox="1"/>
          <p:nvPr/>
        </p:nvSpPr>
        <p:spPr>
          <a:xfrm>
            <a:off x="260375" y="1617753"/>
            <a:ext cx="461665" cy="1015663"/>
          </a:xfrm>
          <a:prstGeom prst="rect">
            <a:avLst/>
          </a:prstGeom>
          <a:noFill/>
        </p:spPr>
        <p:txBody>
          <a:bodyPr vert="eaVert" wrap="none" rtlCol="0">
            <a:spAutoFit/>
          </a:bodyPr>
          <a:lstStyle/>
          <a:p>
            <a:r>
              <a:rPr lang="zh-CN" altLang="en-US" dirty="0"/>
              <a:t>监测信号</a:t>
            </a:r>
          </a:p>
        </p:txBody>
      </p:sp>
      <p:sp>
        <p:nvSpPr>
          <p:cNvPr id="7" name="文本框 6">
            <a:extLst>
              <a:ext uri="{FF2B5EF4-FFF2-40B4-BE49-F238E27FC236}">
                <a16:creationId xmlns:a16="http://schemas.microsoft.com/office/drawing/2014/main" id="{92263F0D-C6D2-FDC0-C4AC-9409F022E605}"/>
              </a:ext>
            </a:extLst>
          </p:cNvPr>
          <p:cNvSpPr txBox="1"/>
          <p:nvPr/>
        </p:nvSpPr>
        <p:spPr>
          <a:xfrm>
            <a:off x="260375" y="4345577"/>
            <a:ext cx="461665" cy="1015663"/>
          </a:xfrm>
          <a:prstGeom prst="rect">
            <a:avLst/>
          </a:prstGeom>
          <a:noFill/>
        </p:spPr>
        <p:txBody>
          <a:bodyPr vert="eaVert" wrap="none" rtlCol="0">
            <a:spAutoFit/>
          </a:bodyPr>
          <a:lstStyle/>
          <a:p>
            <a:r>
              <a:rPr lang="zh-CN" altLang="en-US" dirty="0"/>
              <a:t>参考信号</a:t>
            </a:r>
          </a:p>
        </p:txBody>
      </p:sp>
      <p:sp>
        <p:nvSpPr>
          <p:cNvPr id="19" name="文本框 18">
            <a:extLst>
              <a:ext uri="{FF2B5EF4-FFF2-40B4-BE49-F238E27FC236}">
                <a16:creationId xmlns:a16="http://schemas.microsoft.com/office/drawing/2014/main" id="{A70E58FE-73FF-DF75-E0A4-A8B520DDA2EF}"/>
              </a:ext>
            </a:extLst>
          </p:cNvPr>
          <p:cNvSpPr txBox="1"/>
          <p:nvPr/>
        </p:nvSpPr>
        <p:spPr>
          <a:xfrm>
            <a:off x="8186452" y="4114744"/>
            <a:ext cx="3152107" cy="1200329"/>
          </a:xfrm>
          <a:prstGeom prst="rect">
            <a:avLst/>
          </a:prstGeom>
          <a:noFill/>
        </p:spPr>
        <p:txBody>
          <a:bodyPr wrap="square" rtlCol="0">
            <a:spAutoFit/>
          </a:bodyPr>
          <a:lstStyle/>
          <a:p>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问题：</a:t>
            </a:r>
            <a:endParaRPr kumimoji="1" lang="en-US" altLang="zh-CN" sz="1800"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监测信号与参考信号，其时域图极其</a:t>
            </a:r>
            <a:r>
              <a:rPr kumimoji="1" lang="zh-CN" altLang="en-US" b="1" dirty="0">
                <a:ln w="12700">
                  <a:noFill/>
                </a:ln>
                <a:solidFill>
                  <a:srgbClr val="262626">
                    <a:alpha val="100000"/>
                  </a:srgbClr>
                </a:solidFill>
                <a:latin typeface="Source Han Sans" panose="020B0500000000000000" charset="-122"/>
                <a:ea typeface="Source Han Sans" panose="020B0500000000000000" charset="-122"/>
              </a:rPr>
              <a:t>复杂</a:t>
            </a: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，难以进行进一步分析。</a:t>
            </a: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p:txBody>
      </p:sp>
      <p:pic>
        <p:nvPicPr>
          <p:cNvPr id="8" name="图片 7">
            <a:extLst>
              <a:ext uri="{FF2B5EF4-FFF2-40B4-BE49-F238E27FC236}">
                <a16:creationId xmlns:a16="http://schemas.microsoft.com/office/drawing/2014/main" id="{57168C41-69F7-B3EA-3E8E-10D14A6B086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035" y="1181653"/>
            <a:ext cx="2336635" cy="1754305"/>
          </a:xfrm>
          <a:prstGeom prst="rect">
            <a:avLst/>
          </a:prstGeom>
          <a:noFill/>
          <a:ln>
            <a:noFill/>
          </a:ln>
        </p:spPr>
      </p:pic>
      <p:pic>
        <p:nvPicPr>
          <p:cNvPr id="12" name="图片 11">
            <a:extLst>
              <a:ext uri="{FF2B5EF4-FFF2-40B4-BE49-F238E27FC236}">
                <a16:creationId xmlns:a16="http://schemas.microsoft.com/office/drawing/2014/main" id="{3599A216-523F-66AF-00AF-280E6B73B8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670" y="1210363"/>
            <a:ext cx="2260153" cy="1696884"/>
          </a:xfrm>
          <a:prstGeom prst="rect">
            <a:avLst/>
          </a:prstGeom>
          <a:noFill/>
          <a:ln>
            <a:noFill/>
          </a:ln>
        </p:spPr>
      </p:pic>
      <p:pic>
        <p:nvPicPr>
          <p:cNvPr id="13" name="图片 12">
            <a:extLst>
              <a:ext uri="{FF2B5EF4-FFF2-40B4-BE49-F238E27FC236}">
                <a16:creationId xmlns:a16="http://schemas.microsoft.com/office/drawing/2014/main" id="{5A7B3D27-C2BD-4057-1329-E6C89D382C5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1823" y="1181653"/>
            <a:ext cx="2336636" cy="1754305"/>
          </a:xfrm>
          <a:prstGeom prst="rect">
            <a:avLst/>
          </a:prstGeom>
          <a:noFill/>
          <a:ln>
            <a:noFill/>
          </a:ln>
        </p:spPr>
      </p:pic>
      <p:pic>
        <p:nvPicPr>
          <p:cNvPr id="20" name="图片 19">
            <a:extLst>
              <a:ext uri="{FF2B5EF4-FFF2-40B4-BE49-F238E27FC236}">
                <a16:creationId xmlns:a16="http://schemas.microsoft.com/office/drawing/2014/main" id="{77A57A4E-2268-FE07-7BDD-D830D3CB442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5007" y="3950754"/>
            <a:ext cx="2336663" cy="1754326"/>
          </a:xfrm>
          <a:prstGeom prst="rect">
            <a:avLst/>
          </a:prstGeom>
          <a:noFill/>
          <a:ln>
            <a:noFill/>
          </a:ln>
        </p:spPr>
      </p:pic>
      <p:pic>
        <p:nvPicPr>
          <p:cNvPr id="21" name="图片 20">
            <a:extLst>
              <a:ext uri="{FF2B5EF4-FFF2-40B4-BE49-F238E27FC236}">
                <a16:creationId xmlns:a16="http://schemas.microsoft.com/office/drawing/2014/main" id="{1EEAD6C3-45AE-319A-6055-77E4B235149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71670" y="3976245"/>
            <a:ext cx="2336663" cy="1754326"/>
          </a:xfrm>
          <a:prstGeom prst="rect">
            <a:avLst/>
          </a:prstGeom>
          <a:noFill/>
          <a:ln>
            <a:noFill/>
          </a:ln>
        </p:spPr>
      </p:pic>
      <p:pic>
        <p:nvPicPr>
          <p:cNvPr id="22" name="图片 21">
            <a:extLst>
              <a:ext uri="{FF2B5EF4-FFF2-40B4-BE49-F238E27FC236}">
                <a16:creationId xmlns:a16="http://schemas.microsoft.com/office/drawing/2014/main" id="{CDA994CA-EC17-C4E6-D2B0-280F38BC0C46}"/>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91071" y="4039975"/>
            <a:ext cx="2166892" cy="1626865"/>
          </a:xfrm>
          <a:prstGeom prst="rect">
            <a:avLst/>
          </a:prstGeom>
          <a:noFill/>
          <a:ln>
            <a:noFill/>
          </a:ln>
        </p:spPr>
      </p:pic>
      <p:sp>
        <p:nvSpPr>
          <p:cNvPr id="26" name="文本框 25">
            <a:extLst>
              <a:ext uri="{FF2B5EF4-FFF2-40B4-BE49-F238E27FC236}">
                <a16:creationId xmlns:a16="http://schemas.microsoft.com/office/drawing/2014/main" id="{5E648EDC-D9E2-0A3F-D6E4-DF582B6BD35F}"/>
              </a:ext>
            </a:extLst>
          </p:cNvPr>
          <p:cNvSpPr txBox="1"/>
          <p:nvPr/>
        </p:nvSpPr>
        <p:spPr>
          <a:xfrm>
            <a:off x="1534756" y="3244334"/>
            <a:ext cx="1436914" cy="369332"/>
          </a:xfrm>
          <a:prstGeom prst="rect">
            <a:avLst/>
          </a:prstGeom>
          <a:noFill/>
        </p:spPr>
        <p:txBody>
          <a:bodyPr wrap="square" rtlCol="0">
            <a:spAutoFit/>
          </a:bodyPr>
          <a:lstStyle/>
          <a:p>
            <a:r>
              <a:rPr lang="zh-CN" altLang="en-US" b="1" dirty="0"/>
              <a:t>原始</a:t>
            </a:r>
          </a:p>
        </p:txBody>
      </p:sp>
      <p:sp>
        <p:nvSpPr>
          <p:cNvPr id="27" name="文本框 26">
            <a:extLst>
              <a:ext uri="{FF2B5EF4-FFF2-40B4-BE49-F238E27FC236}">
                <a16:creationId xmlns:a16="http://schemas.microsoft.com/office/drawing/2014/main" id="{00854E81-1F42-78A3-6935-E74D8ED6426E}"/>
              </a:ext>
            </a:extLst>
          </p:cNvPr>
          <p:cNvSpPr txBox="1"/>
          <p:nvPr/>
        </p:nvSpPr>
        <p:spPr>
          <a:xfrm>
            <a:off x="3421544" y="3244334"/>
            <a:ext cx="1436914" cy="369332"/>
          </a:xfrm>
          <a:prstGeom prst="rect">
            <a:avLst/>
          </a:prstGeom>
          <a:noFill/>
        </p:spPr>
        <p:txBody>
          <a:bodyPr wrap="square" rtlCol="0">
            <a:spAutoFit/>
          </a:bodyPr>
          <a:lstStyle/>
          <a:p>
            <a:r>
              <a:rPr lang="zh-CN" altLang="en-US" b="1" dirty="0"/>
              <a:t>数字下变频</a:t>
            </a:r>
          </a:p>
        </p:txBody>
      </p:sp>
      <p:sp>
        <p:nvSpPr>
          <p:cNvPr id="28" name="文本框 27">
            <a:extLst>
              <a:ext uri="{FF2B5EF4-FFF2-40B4-BE49-F238E27FC236}">
                <a16:creationId xmlns:a16="http://schemas.microsoft.com/office/drawing/2014/main" id="{D55D3CC4-7FBA-C41D-7CC1-EAD05343F5E5}"/>
              </a:ext>
            </a:extLst>
          </p:cNvPr>
          <p:cNvSpPr txBox="1"/>
          <p:nvPr/>
        </p:nvSpPr>
        <p:spPr>
          <a:xfrm>
            <a:off x="5868873" y="3244334"/>
            <a:ext cx="1211287" cy="369332"/>
          </a:xfrm>
          <a:prstGeom prst="rect">
            <a:avLst/>
          </a:prstGeom>
          <a:noFill/>
        </p:spPr>
        <p:txBody>
          <a:bodyPr wrap="square" rtlCol="0">
            <a:spAutoFit/>
          </a:bodyPr>
          <a:lstStyle/>
          <a:p>
            <a:r>
              <a:rPr lang="zh-CN" altLang="en-US" b="1" dirty="0"/>
              <a:t>低通滤波</a:t>
            </a:r>
          </a:p>
        </p:txBody>
      </p:sp>
    </p:spTree>
    <p:extLst>
      <p:ext uri="{BB962C8B-B14F-4D97-AF65-F5344CB8AC3E}">
        <p14:creationId xmlns:p14="http://schemas.microsoft.com/office/powerpoint/2010/main" val="1534493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D5BBE-F4DE-31B4-7DD1-BFD98202F817}"/>
            </a:ext>
          </a:extLst>
        </p:cNvPr>
        <p:cNvGrpSpPr/>
        <p:nvPr/>
      </p:nvGrpSpPr>
      <p:grpSpPr>
        <a:xfrm>
          <a:off x="0" y="0"/>
          <a:ext cx="0" cy="0"/>
          <a:chOff x="0" y="0"/>
          <a:chExt cx="0" cy="0"/>
        </a:xfrm>
      </p:grpSpPr>
      <p:sp>
        <p:nvSpPr>
          <p:cNvPr id="10" name="标题 1">
            <a:extLst>
              <a:ext uri="{FF2B5EF4-FFF2-40B4-BE49-F238E27FC236}">
                <a16:creationId xmlns:a16="http://schemas.microsoft.com/office/drawing/2014/main" id="{60B91DD2-F969-D525-F38F-6E5FD10A9CCA}"/>
              </a:ext>
            </a:extLst>
          </p:cNvPr>
          <p:cNvSpPr txBox="1"/>
          <p:nvPr/>
        </p:nvSpPr>
        <p:spPr>
          <a:xfrm>
            <a:off x="5783650" y="2058806"/>
            <a:ext cx="612000" cy="554849"/>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cxnSp>
        <p:nvCxnSpPr>
          <p:cNvPr id="17" name="标题 1">
            <a:extLst>
              <a:ext uri="{FF2B5EF4-FFF2-40B4-BE49-F238E27FC236}">
                <a16:creationId xmlns:a16="http://schemas.microsoft.com/office/drawing/2014/main" id="{0E635A9D-38AB-A1E1-AE3F-2B49A59DDE4D}"/>
              </a:ext>
            </a:extLst>
          </p:cNvPr>
          <p:cNvCxnSpPr/>
          <p:nvPr/>
        </p:nvCxnSpPr>
        <p:spPr>
          <a:xfrm>
            <a:off x="312738" y="770539"/>
            <a:ext cx="11307762" cy="0"/>
          </a:xfrm>
          <a:prstGeom prst="line">
            <a:avLst/>
          </a:prstGeom>
          <a:noFill/>
          <a:ln w="6350" cap="rnd">
            <a:solidFill>
              <a:schemeClr val="bg1">
                <a:lumMod val="65000"/>
              </a:schemeClr>
            </a:solidFill>
            <a:round/>
          </a:ln>
        </p:spPr>
      </p:cxnSp>
      <p:cxnSp>
        <p:nvCxnSpPr>
          <p:cNvPr id="18" name="标题 1">
            <a:extLst>
              <a:ext uri="{FF2B5EF4-FFF2-40B4-BE49-F238E27FC236}">
                <a16:creationId xmlns:a16="http://schemas.microsoft.com/office/drawing/2014/main" id="{95AE63F8-312F-6E61-0D50-996D57A415E5}"/>
              </a:ext>
            </a:extLst>
          </p:cNvPr>
          <p:cNvCxnSpPr/>
          <p:nvPr/>
        </p:nvCxnSpPr>
        <p:spPr>
          <a:xfrm>
            <a:off x="312738" y="770539"/>
            <a:ext cx="652463" cy="0"/>
          </a:xfrm>
          <a:prstGeom prst="line">
            <a:avLst/>
          </a:prstGeom>
          <a:noFill/>
          <a:ln w="44450" cap="sq">
            <a:solidFill>
              <a:schemeClr val="accent1"/>
            </a:solidFill>
            <a:round/>
          </a:ln>
        </p:spPr>
      </p:cxnSp>
      <p:sp>
        <p:nvSpPr>
          <p:cNvPr id="23" name="文本框 22">
            <a:extLst>
              <a:ext uri="{FF2B5EF4-FFF2-40B4-BE49-F238E27FC236}">
                <a16:creationId xmlns:a16="http://schemas.microsoft.com/office/drawing/2014/main" id="{9D43D4A8-B05C-9A14-4DB4-D5D72ECF6CDA}"/>
              </a:ext>
            </a:extLst>
          </p:cNvPr>
          <p:cNvSpPr txBox="1"/>
          <p:nvPr/>
        </p:nvSpPr>
        <p:spPr>
          <a:xfrm>
            <a:off x="223405" y="247319"/>
            <a:ext cx="5008418" cy="523220"/>
          </a:xfrm>
          <a:prstGeom prst="rect">
            <a:avLst/>
          </a:prstGeom>
          <a:noFill/>
        </p:spPr>
        <p:txBody>
          <a:bodyPr wrap="square" rtlCol="0">
            <a:spAutoFit/>
          </a:bodyPr>
          <a:lstStyle/>
          <a:p>
            <a:r>
              <a:rPr lang="zh-CN" altLang="en-US" sz="2800" b="1" dirty="0">
                <a:latin typeface="Source Han Sans" panose="020B0500000000000000" charset="-122"/>
                <a:ea typeface="Source Han Sans" panose="020B0500000000000000" charset="-122"/>
              </a:rPr>
              <a:t>时域图</a:t>
            </a:r>
            <a:r>
              <a:rPr lang="en-US" altLang="zh-CN" sz="2800" b="1" dirty="0">
                <a:latin typeface="Source Han Sans" panose="020B0500000000000000" charset="-122"/>
                <a:ea typeface="Source Han Sans" panose="020B0500000000000000" charset="-122"/>
              </a:rPr>
              <a:t>+</a:t>
            </a:r>
            <a:r>
              <a:rPr lang="zh-CN" altLang="en-US" sz="2800" b="1" dirty="0">
                <a:latin typeface="Source Han Sans" panose="020B0500000000000000" charset="-122"/>
                <a:ea typeface="Source Han Sans" panose="020B0500000000000000" charset="-122"/>
              </a:rPr>
              <a:t>频谱图</a:t>
            </a:r>
          </a:p>
        </p:txBody>
      </p:sp>
      <p:sp>
        <p:nvSpPr>
          <p:cNvPr id="6" name="文本框 5">
            <a:extLst>
              <a:ext uri="{FF2B5EF4-FFF2-40B4-BE49-F238E27FC236}">
                <a16:creationId xmlns:a16="http://schemas.microsoft.com/office/drawing/2014/main" id="{3665284B-265D-A799-3E89-345E3476B212}"/>
              </a:ext>
            </a:extLst>
          </p:cNvPr>
          <p:cNvSpPr txBox="1"/>
          <p:nvPr/>
        </p:nvSpPr>
        <p:spPr>
          <a:xfrm>
            <a:off x="260375" y="1617753"/>
            <a:ext cx="461665" cy="1015663"/>
          </a:xfrm>
          <a:prstGeom prst="rect">
            <a:avLst/>
          </a:prstGeom>
          <a:noFill/>
        </p:spPr>
        <p:txBody>
          <a:bodyPr vert="eaVert" wrap="none" rtlCol="0">
            <a:spAutoFit/>
          </a:bodyPr>
          <a:lstStyle/>
          <a:p>
            <a:r>
              <a:rPr lang="zh-CN" altLang="en-US" dirty="0"/>
              <a:t>监测信号</a:t>
            </a:r>
          </a:p>
        </p:txBody>
      </p:sp>
      <p:sp>
        <p:nvSpPr>
          <p:cNvPr id="7" name="文本框 6">
            <a:extLst>
              <a:ext uri="{FF2B5EF4-FFF2-40B4-BE49-F238E27FC236}">
                <a16:creationId xmlns:a16="http://schemas.microsoft.com/office/drawing/2014/main" id="{FC726D34-AA07-1620-A722-E8B17D7F86D3}"/>
              </a:ext>
            </a:extLst>
          </p:cNvPr>
          <p:cNvSpPr txBox="1"/>
          <p:nvPr/>
        </p:nvSpPr>
        <p:spPr>
          <a:xfrm>
            <a:off x="260375" y="4345577"/>
            <a:ext cx="461665" cy="1015663"/>
          </a:xfrm>
          <a:prstGeom prst="rect">
            <a:avLst/>
          </a:prstGeom>
          <a:noFill/>
        </p:spPr>
        <p:txBody>
          <a:bodyPr vert="eaVert" wrap="none" rtlCol="0">
            <a:spAutoFit/>
          </a:bodyPr>
          <a:lstStyle/>
          <a:p>
            <a:r>
              <a:rPr lang="zh-CN" altLang="en-US" dirty="0"/>
              <a:t>参考信号</a:t>
            </a:r>
          </a:p>
        </p:txBody>
      </p:sp>
      <p:pic>
        <p:nvPicPr>
          <p:cNvPr id="8" name="图片 7">
            <a:extLst>
              <a:ext uri="{FF2B5EF4-FFF2-40B4-BE49-F238E27FC236}">
                <a16:creationId xmlns:a16="http://schemas.microsoft.com/office/drawing/2014/main" id="{BF593569-729B-AF77-0C58-1777B11EE0F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035" y="1181653"/>
            <a:ext cx="2336635" cy="1754305"/>
          </a:xfrm>
          <a:prstGeom prst="rect">
            <a:avLst/>
          </a:prstGeom>
          <a:noFill/>
          <a:ln>
            <a:noFill/>
          </a:ln>
        </p:spPr>
      </p:pic>
      <p:pic>
        <p:nvPicPr>
          <p:cNvPr id="12" name="图片 11">
            <a:extLst>
              <a:ext uri="{FF2B5EF4-FFF2-40B4-BE49-F238E27FC236}">
                <a16:creationId xmlns:a16="http://schemas.microsoft.com/office/drawing/2014/main" id="{255B5C67-1C0B-6EC3-C29B-3C023F77476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670" y="1210363"/>
            <a:ext cx="2260153" cy="1696884"/>
          </a:xfrm>
          <a:prstGeom prst="rect">
            <a:avLst/>
          </a:prstGeom>
          <a:noFill/>
          <a:ln>
            <a:noFill/>
          </a:ln>
        </p:spPr>
      </p:pic>
      <p:pic>
        <p:nvPicPr>
          <p:cNvPr id="13" name="图片 12">
            <a:extLst>
              <a:ext uri="{FF2B5EF4-FFF2-40B4-BE49-F238E27FC236}">
                <a16:creationId xmlns:a16="http://schemas.microsoft.com/office/drawing/2014/main" id="{7DA5F3C2-9893-92E5-EF90-9E5A211A8C3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1823" y="1181653"/>
            <a:ext cx="2336636" cy="1754305"/>
          </a:xfrm>
          <a:prstGeom prst="rect">
            <a:avLst/>
          </a:prstGeom>
          <a:noFill/>
          <a:ln>
            <a:noFill/>
          </a:ln>
        </p:spPr>
      </p:pic>
      <p:pic>
        <p:nvPicPr>
          <p:cNvPr id="20" name="图片 19">
            <a:extLst>
              <a:ext uri="{FF2B5EF4-FFF2-40B4-BE49-F238E27FC236}">
                <a16:creationId xmlns:a16="http://schemas.microsoft.com/office/drawing/2014/main" id="{42EF4189-A2CF-CADC-CB51-2C0C0849BB2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5007" y="3950754"/>
            <a:ext cx="2336663" cy="1754326"/>
          </a:xfrm>
          <a:prstGeom prst="rect">
            <a:avLst/>
          </a:prstGeom>
          <a:noFill/>
          <a:ln>
            <a:noFill/>
          </a:ln>
        </p:spPr>
      </p:pic>
      <p:pic>
        <p:nvPicPr>
          <p:cNvPr id="21" name="图片 20">
            <a:extLst>
              <a:ext uri="{FF2B5EF4-FFF2-40B4-BE49-F238E27FC236}">
                <a16:creationId xmlns:a16="http://schemas.microsoft.com/office/drawing/2014/main" id="{0CF0CB72-1AA4-6203-E230-BBD31D92051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71670" y="3976245"/>
            <a:ext cx="2336663" cy="1754326"/>
          </a:xfrm>
          <a:prstGeom prst="rect">
            <a:avLst/>
          </a:prstGeom>
          <a:noFill/>
          <a:ln>
            <a:noFill/>
          </a:ln>
        </p:spPr>
      </p:pic>
      <p:pic>
        <p:nvPicPr>
          <p:cNvPr id="22" name="图片 21">
            <a:extLst>
              <a:ext uri="{FF2B5EF4-FFF2-40B4-BE49-F238E27FC236}">
                <a16:creationId xmlns:a16="http://schemas.microsoft.com/office/drawing/2014/main" id="{E802FD46-814C-B303-9E75-D95B2B3F86C2}"/>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91071" y="4039975"/>
            <a:ext cx="2166892" cy="1626865"/>
          </a:xfrm>
          <a:prstGeom prst="rect">
            <a:avLst/>
          </a:prstGeom>
          <a:noFill/>
          <a:ln>
            <a:noFill/>
          </a:ln>
        </p:spPr>
      </p:pic>
      <p:sp>
        <p:nvSpPr>
          <p:cNvPr id="2" name="文本框 1">
            <a:extLst>
              <a:ext uri="{FF2B5EF4-FFF2-40B4-BE49-F238E27FC236}">
                <a16:creationId xmlns:a16="http://schemas.microsoft.com/office/drawing/2014/main" id="{5A126C7C-DF41-7D82-20EA-19FB6DD7AF78}"/>
              </a:ext>
            </a:extLst>
          </p:cNvPr>
          <p:cNvSpPr txBox="1"/>
          <p:nvPr/>
        </p:nvSpPr>
        <p:spPr>
          <a:xfrm>
            <a:off x="8012475" y="1307076"/>
            <a:ext cx="3604953" cy="2585323"/>
          </a:xfrm>
          <a:prstGeom prst="rect">
            <a:avLst/>
          </a:prstGeom>
          <a:noFill/>
        </p:spPr>
        <p:txBody>
          <a:bodyPr wrap="square" rtlCol="0">
            <a:spAutoFit/>
          </a:bodyPr>
          <a:lstStyle/>
          <a:p>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注释：</a:t>
            </a:r>
            <a:endParaRPr kumimoji="1" lang="en-US" altLang="zh-CN" sz="1800"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频谱图与示例频谱图较为</a:t>
            </a:r>
            <a:r>
              <a:rPr kumimoji="1" lang="zh-CN" altLang="en-US" sz="1800" b="1" dirty="0">
                <a:ln w="12700">
                  <a:noFill/>
                </a:ln>
                <a:solidFill>
                  <a:srgbClr val="262626">
                    <a:alpha val="100000"/>
                  </a:srgbClr>
                </a:solidFill>
                <a:latin typeface="Source Han Sans" panose="020B0500000000000000" charset="-122"/>
                <a:ea typeface="Source Han Sans" panose="020B0500000000000000" charset="-122"/>
              </a:rPr>
              <a:t>接近</a:t>
            </a:r>
            <a:endParaRPr kumimoji="1" lang="en-US" altLang="zh-CN" sz="1800" b="1"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前文问题通过限制坐标轴取值，以及仅对实部</a:t>
            </a:r>
            <a:r>
              <a:rPr kumimoji="1" lang="en-US" altLang="zh-CN" dirty="0">
                <a:ln w="12700">
                  <a:noFill/>
                </a:ln>
                <a:solidFill>
                  <a:srgbClr val="262626">
                    <a:alpha val="100000"/>
                  </a:srgbClr>
                </a:solidFill>
                <a:latin typeface="Source Han Sans" panose="020B0500000000000000" charset="-122"/>
                <a:ea typeface="Source Han Sans" panose="020B0500000000000000" charset="-122"/>
              </a:rPr>
              <a:t>/</a:t>
            </a: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虚部进行绘图，得出相对好</a:t>
            </a:r>
            <a:r>
              <a:rPr kumimoji="1" lang="zh-CN" altLang="en-US" b="1" dirty="0">
                <a:ln w="12700">
                  <a:noFill/>
                </a:ln>
                <a:solidFill>
                  <a:srgbClr val="262626">
                    <a:alpha val="100000"/>
                  </a:srgbClr>
                </a:solidFill>
                <a:latin typeface="Source Han Sans" panose="020B0500000000000000" charset="-122"/>
                <a:ea typeface="Source Han Sans" panose="020B0500000000000000" charset="-122"/>
              </a:rPr>
              <a:t>分析</a:t>
            </a: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的图像。</a:t>
            </a: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FontTx/>
              <a:buAutoNum type="arabicPeriod"/>
            </a:pP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幅度单位已全部转化为</a:t>
            </a:r>
            <a:r>
              <a:rPr kumimoji="1" lang="zh-CN" altLang="en-US" b="1" dirty="0">
                <a:ln w="12700">
                  <a:noFill/>
                </a:ln>
                <a:solidFill>
                  <a:srgbClr val="262626">
                    <a:alpha val="100000"/>
                  </a:srgbClr>
                </a:solidFill>
                <a:latin typeface="Source Han Sans" panose="020B0500000000000000" charset="-122"/>
                <a:ea typeface="Source Han Sans" panose="020B0500000000000000" charset="-122"/>
              </a:rPr>
              <a:t>分贝</a:t>
            </a:r>
            <a:endParaRPr kumimoji="1" lang="en-US" altLang="zh-CN" b="1"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p:txBody>
      </p:sp>
      <p:pic>
        <p:nvPicPr>
          <p:cNvPr id="3" name="图片 2">
            <a:extLst>
              <a:ext uri="{FF2B5EF4-FFF2-40B4-BE49-F238E27FC236}">
                <a16:creationId xmlns:a16="http://schemas.microsoft.com/office/drawing/2014/main" id="{9E7A96EA-2C18-D04C-D527-78983429750A}"/>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9621" y="1181000"/>
            <a:ext cx="2337505" cy="1754958"/>
          </a:xfrm>
          <a:prstGeom prst="rect">
            <a:avLst/>
          </a:prstGeom>
          <a:noFill/>
          <a:ln>
            <a:noFill/>
          </a:ln>
        </p:spPr>
      </p:pic>
      <p:pic>
        <p:nvPicPr>
          <p:cNvPr id="4" name="图片 3">
            <a:extLst>
              <a:ext uri="{FF2B5EF4-FFF2-40B4-BE49-F238E27FC236}">
                <a16:creationId xmlns:a16="http://schemas.microsoft.com/office/drawing/2014/main" id="{98CDED0C-CB10-79AD-287B-3913D0E734FC}"/>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94318" y="1210363"/>
            <a:ext cx="2337505" cy="1755239"/>
          </a:xfrm>
          <a:prstGeom prst="rect">
            <a:avLst/>
          </a:prstGeom>
          <a:noFill/>
          <a:ln>
            <a:noFill/>
          </a:ln>
        </p:spPr>
      </p:pic>
      <p:pic>
        <p:nvPicPr>
          <p:cNvPr id="5" name="图片 4">
            <a:extLst>
              <a:ext uri="{FF2B5EF4-FFF2-40B4-BE49-F238E27FC236}">
                <a16:creationId xmlns:a16="http://schemas.microsoft.com/office/drawing/2014/main" id="{52928497-ABB6-4852-3D70-A3C3613258B3}"/>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329992" y="1228555"/>
            <a:ext cx="2289049" cy="1718854"/>
          </a:xfrm>
          <a:prstGeom prst="rect">
            <a:avLst/>
          </a:prstGeom>
          <a:noFill/>
          <a:ln>
            <a:noFill/>
          </a:ln>
        </p:spPr>
      </p:pic>
      <p:pic>
        <p:nvPicPr>
          <p:cNvPr id="9" name="图片 8">
            <a:extLst>
              <a:ext uri="{FF2B5EF4-FFF2-40B4-BE49-F238E27FC236}">
                <a16:creationId xmlns:a16="http://schemas.microsoft.com/office/drawing/2014/main" id="{44820057-4FA1-7470-5D78-BEADDC787D8B}"/>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38969" y="3922043"/>
            <a:ext cx="2430837" cy="1824790"/>
          </a:xfrm>
          <a:prstGeom prst="rect">
            <a:avLst/>
          </a:prstGeom>
          <a:noFill/>
          <a:ln>
            <a:noFill/>
          </a:ln>
        </p:spPr>
      </p:pic>
      <p:pic>
        <p:nvPicPr>
          <p:cNvPr id="11" name="图片 10">
            <a:extLst>
              <a:ext uri="{FF2B5EF4-FFF2-40B4-BE49-F238E27FC236}">
                <a16:creationId xmlns:a16="http://schemas.microsoft.com/office/drawing/2014/main" id="{61483F9A-F575-CEB3-EDA7-08BC0B5F9A86}"/>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94318" y="3892399"/>
            <a:ext cx="2565956" cy="1926607"/>
          </a:xfrm>
          <a:prstGeom prst="rect">
            <a:avLst/>
          </a:prstGeom>
          <a:noFill/>
          <a:ln>
            <a:noFill/>
          </a:ln>
        </p:spPr>
      </p:pic>
      <p:pic>
        <p:nvPicPr>
          <p:cNvPr id="15" name="图片 14">
            <a:extLst>
              <a:ext uri="{FF2B5EF4-FFF2-40B4-BE49-F238E27FC236}">
                <a16:creationId xmlns:a16="http://schemas.microsoft.com/office/drawing/2014/main" id="{BD9D452C-11EE-8BCF-BAB3-1E2C80BD3263}"/>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41273" y="3940781"/>
            <a:ext cx="2501289" cy="1878225"/>
          </a:xfrm>
          <a:prstGeom prst="rect">
            <a:avLst/>
          </a:prstGeom>
          <a:noFill/>
          <a:ln>
            <a:noFill/>
          </a:ln>
        </p:spPr>
      </p:pic>
      <p:sp>
        <p:nvSpPr>
          <p:cNvPr id="16" name="文本框 15">
            <a:extLst>
              <a:ext uri="{FF2B5EF4-FFF2-40B4-BE49-F238E27FC236}">
                <a16:creationId xmlns:a16="http://schemas.microsoft.com/office/drawing/2014/main" id="{2C46C0E3-2150-678E-5363-8EEC21FEB174}"/>
              </a:ext>
            </a:extLst>
          </p:cNvPr>
          <p:cNvSpPr txBox="1"/>
          <p:nvPr/>
        </p:nvSpPr>
        <p:spPr>
          <a:xfrm>
            <a:off x="8012475" y="3828207"/>
            <a:ext cx="3604953" cy="2585323"/>
          </a:xfrm>
          <a:prstGeom prst="rect">
            <a:avLst/>
          </a:prstGeom>
          <a:noFill/>
        </p:spPr>
        <p:txBody>
          <a:bodyPr wrap="square" rtlCol="0">
            <a:spAutoFit/>
          </a:bodyPr>
          <a:lstStyle/>
          <a:p>
            <a:r>
              <a:rPr kumimoji="1" lang="zh-CN" altLang="en-US" sz="1800" dirty="0">
                <a:ln w="12700">
                  <a:noFill/>
                </a:ln>
                <a:solidFill>
                  <a:srgbClr val="262626">
                    <a:alpha val="100000"/>
                  </a:srgbClr>
                </a:solidFill>
                <a:latin typeface="Source Han Sans" panose="020B0500000000000000" charset="-122"/>
                <a:ea typeface="Source Han Sans" panose="020B0500000000000000" charset="-122"/>
              </a:rPr>
              <a:t>总结：</a:t>
            </a:r>
            <a:endParaRPr kumimoji="1" lang="en-US" altLang="zh-CN" sz="1800"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从第二列可以看出，信号片段发生了平移，对应</a:t>
            </a:r>
            <a:r>
              <a:rPr kumimoji="1" lang="zh-CN" altLang="en-US" b="1" dirty="0">
                <a:ln w="12700">
                  <a:noFill/>
                </a:ln>
                <a:solidFill>
                  <a:srgbClr val="262626">
                    <a:alpha val="100000"/>
                  </a:srgbClr>
                </a:solidFill>
                <a:latin typeface="Source Han Sans" panose="020B0500000000000000" charset="-122"/>
                <a:ea typeface="Source Han Sans" panose="020B0500000000000000" charset="-122"/>
              </a:rPr>
              <a:t>数字下变频</a:t>
            </a: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处理。</a:t>
            </a: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从第三列可以看出，信号片段保留了靠近中心的部分，对应</a:t>
            </a:r>
            <a:r>
              <a:rPr kumimoji="1" lang="zh-CN" altLang="en-US" b="1" dirty="0">
                <a:ln w="12700">
                  <a:noFill/>
                </a:ln>
                <a:solidFill>
                  <a:srgbClr val="262626">
                    <a:alpha val="100000"/>
                  </a:srgbClr>
                </a:solidFill>
                <a:latin typeface="Source Han Sans" panose="020B0500000000000000" charset="-122"/>
                <a:ea typeface="Source Han Sans" panose="020B0500000000000000" charset="-122"/>
              </a:rPr>
              <a:t>低通滤波</a:t>
            </a:r>
            <a:r>
              <a:rPr kumimoji="1" lang="zh-CN" altLang="en-US" dirty="0">
                <a:ln w="12700">
                  <a:noFill/>
                </a:ln>
                <a:solidFill>
                  <a:srgbClr val="262626">
                    <a:alpha val="100000"/>
                  </a:srgbClr>
                </a:solidFill>
                <a:latin typeface="Source Han Sans" panose="020B0500000000000000" charset="-122"/>
                <a:ea typeface="Source Han Sans" panose="020B0500000000000000" charset="-122"/>
              </a:rPr>
              <a:t>处理。</a:t>
            </a: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a:p>
            <a:pPr marL="342900" indent="-342900">
              <a:buAutoNum type="arabicPeriod"/>
            </a:pPr>
            <a:endParaRPr kumimoji="1" lang="en-US" altLang="zh-CN" dirty="0">
              <a:ln w="12700">
                <a:noFill/>
              </a:ln>
              <a:solidFill>
                <a:srgbClr val="262626">
                  <a:alpha val="100000"/>
                </a:srgbClr>
              </a:solidFill>
              <a:latin typeface="Source Han Sans" panose="020B0500000000000000" charset="-122"/>
              <a:ea typeface="Source Han Sans" panose="020B0500000000000000" charset="-122"/>
            </a:endParaRPr>
          </a:p>
        </p:txBody>
      </p:sp>
      <p:sp>
        <p:nvSpPr>
          <p:cNvPr id="25" name="文本框 24">
            <a:extLst>
              <a:ext uri="{FF2B5EF4-FFF2-40B4-BE49-F238E27FC236}">
                <a16:creationId xmlns:a16="http://schemas.microsoft.com/office/drawing/2014/main" id="{703D8A77-CF98-B297-F6C5-23AEA9C85796}"/>
              </a:ext>
            </a:extLst>
          </p:cNvPr>
          <p:cNvSpPr txBox="1"/>
          <p:nvPr/>
        </p:nvSpPr>
        <p:spPr>
          <a:xfrm>
            <a:off x="1534756" y="3244334"/>
            <a:ext cx="1436914" cy="369332"/>
          </a:xfrm>
          <a:prstGeom prst="rect">
            <a:avLst/>
          </a:prstGeom>
          <a:noFill/>
        </p:spPr>
        <p:txBody>
          <a:bodyPr wrap="square" rtlCol="0">
            <a:spAutoFit/>
          </a:bodyPr>
          <a:lstStyle/>
          <a:p>
            <a:r>
              <a:rPr lang="zh-CN" altLang="en-US" b="1" dirty="0"/>
              <a:t>原始</a:t>
            </a:r>
          </a:p>
        </p:txBody>
      </p:sp>
      <p:sp>
        <p:nvSpPr>
          <p:cNvPr id="26" name="文本框 25">
            <a:extLst>
              <a:ext uri="{FF2B5EF4-FFF2-40B4-BE49-F238E27FC236}">
                <a16:creationId xmlns:a16="http://schemas.microsoft.com/office/drawing/2014/main" id="{5AA50EB8-5F38-AE43-5ED1-E32598C16227}"/>
              </a:ext>
            </a:extLst>
          </p:cNvPr>
          <p:cNvSpPr txBox="1"/>
          <p:nvPr/>
        </p:nvSpPr>
        <p:spPr>
          <a:xfrm>
            <a:off x="3421544" y="3244334"/>
            <a:ext cx="1436914" cy="369332"/>
          </a:xfrm>
          <a:prstGeom prst="rect">
            <a:avLst/>
          </a:prstGeom>
          <a:noFill/>
        </p:spPr>
        <p:txBody>
          <a:bodyPr wrap="square" rtlCol="0">
            <a:spAutoFit/>
          </a:bodyPr>
          <a:lstStyle/>
          <a:p>
            <a:r>
              <a:rPr lang="zh-CN" altLang="en-US" b="1" dirty="0"/>
              <a:t>数字下变频</a:t>
            </a:r>
          </a:p>
        </p:txBody>
      </p:sp>
      <p:sp>
        <p:nvSpPr>
          <p:cNvPr id="27" name="文本框 26">
            <a:extLst>
              <a:ext uri="{FF2B5EF4-FFF2-40B4-BE49-F238E27FC236}">
                <a16:creationId xmlns:a16="http://schemas.microsoft.com/office/drawing/2014/main" id="{529F788D-7B28-D215-F699-8F2AA7BD9C8F}"/>
              </a:ext>
            </a:extLst>
          </p:cNvPr>
          <p:cNvSpPr txBox="1"/>
          <p:nvPr/>
        </p:nvSpPr>
        <p:spPr>
          <a:xfrm>
            <a:off x="5868873" y="3244334"/>
            <a:ext cx="1211287" cy="369332"/>
          </a:xfrm>
          <a:prstGeom prst="rect">
            <a:avLst/>
          </a:prstGeom>
          <a:noFill/>
        </p:spPr>
        <p:txBody>
          <a:bodyPr wrap="square" rtlCol="0">
            <a:spAutoFit/>
          </a:bodyPr>
          <a:lstStyle/>
          <a:p>
            <a:r>
              <a:rPr lang="zh-CN" altLang="en-US" b="1" dirty="0"/>
              <a:t>低通滤波</a:t>
            </a:r>
          </a:p>
        </p:txBody>
      </p:sp>
    </p:spTree>
    <p:extLst>
      <p:ext uri="{BB962C8B-B14F-4D97-AF65-F5344CB8AC3E}">
        <p14:creationId xmlns:p14="http://schemas.microsoft.com/office/powerpoint/2010/main" val="160049046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855</Words>
  <Application>Microsoft Office PowerPoint</Application>
  <PresentationFormat>宽屏</PresentationFormat>
  <Paragraphs>104</Paragraphs>
  <Slides>11</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OPPOSans H</vt:lpstr>
      <vt:lpstr>Source Han Sans</vt:lpstr>
      <vt:lpstr>Source Han Sans CN Bold</vt:lpstr>
      <vt:lpstr>等线 Light</vt:lpstr>
      <vt:lpstr>Arial</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衍宁 何</dc:creator>
  <cp:lastModifiedBy>衍宁 何</cp:lastModifiedBy>
  <cp:revision>2</cp:revision>
  <dcterms:created xsi:type="dcterms:W3CDTF">2024-12-24T12:38:44Z</dcterms:created>
  <dcterms:modified xsi:type="dcterms:W3CDTF">2024-12-24T14:46:30Z</dcterms:modified>
</cp:coreProperties>
</file>