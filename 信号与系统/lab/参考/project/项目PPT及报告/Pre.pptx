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77" r:id="rId4"/>
    <p:sldId id="258" r:id="rId5"/>
    <p:sldId id="259" r:id="rId6"/>
    <p:sldId id="265" r:id="rId7"/>
    <p:sldId id="260" r:id="rId8"/>
    <p:sldId id="261" r:id="rId9"/>
    <p:sldId id="262" r:id="rId10"/>
    <p:sldId id="263" r:id="rId11"/>
    <p:sldId id="264" r:id="rId12"/>
    <p:sldId id="266" r:id="rId13"/>
    <p:sldId id="268" r:id="rId14"/>
    <p:sldId id="269" r:id="rId15"/>
    <p:sldId id="278" r:id="rId16"/>
    <p:sldId id="267" r:id="rId17"/>
    <p:sldId id="270" r:id="rId18"/>
    <p:sldId id="271" r:id="rId19"/>
    <p:sldId id="272" r:id="rId20"/>
    <p:sldId id="273" r:id="rId21"/>
    <p:sldId id="275" r:id="rId22"/>
    <p:sldId id="274" r:id="rId23"/>
    <p:sldId id="279" r:id="rId24"/>
    <p:sldId id="283" r:id="rId25"/>
    <p:sldId id="284" r:id="rId26"/>
    <p:sldId id="276" r:id="rId27"/>
    <p:sldId id="282" r:id="rId28"/>
    <p:sldId id="280"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14" autoAdjust="0"/>
    <p:restoredTop sz="94660"/>
  </p:normalViewPr>
  <p:slideViewPr>
    <p:cSldViewPr snapToGrid="0">
      <p:cViewPr varScale="1">
        <p:scale>
          <a:sx n="150" d="100"/>
          <a:sy n="150" d="100"/>
        </p:scale>
        <p:origin x="696"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1C7A01-81CF-41BA-AA8F-5EC0B2DA99FC}" type="datetimeFigureOut">
              <a:rPr lang="zh-CN" altLang="en-US" smtClean="0"/>
              <a:t>2023/12/20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213DF3-BF94-4791-97B7-16920E310EF9}" type="slidenum">
              <a:rPr lang="zh-CN" altLang="en-US" smtClean="0"/>
              <a:t>‹#›</a:t>
            </a:fld>
            <a:endParaRPr lang="zh-CN" altLang="en-US"/>
          </a:p>
        </p:txBody>
      </p:sp>
    </p:spTree>
    <p:extLst>
      <p:ext uri="{BB962C8B-B14F-4D97-AF65-F5344CB8AC3E}">
        <p14:creationId xmlns:p14="http://schemas.microsoft.com/office/powerpoint/2010/main" val="4178312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1213DF3-BF94-4791-97B7-16920E310EF9}" type="slidenum">
              <a:rPr lang="zh-CN" altLang="en-US" smtClean="0"/>
              <a:t>17</a:t>
            </a:fld>
            <a:endParaRPr lang="zh-CN" altLang="en-US"/>
          </a:p>
        </p:txBody>
      </p:sp>
    </p:spTree>
    <p:extLst>
      <p:ext uri="{BB962C8B-B14F-4D97-AF65-F5344CB8AC3E}">
        <p14:creationId xmlns:p14="http://schemas.microsoft.com/office/powerpoint/2010/main" val="3215093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A8A52D-9FC4-F0BF-C68D-AA1B2B0BAA4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20A7CF7-5B98-07C9-7768-365124BDB3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5510402-1D95-58B3-2A96-09ACB67C7962}"/>
              </a:ext>
            </a:extLst>
          </p:cNvPr>
          <p:cNvSpPr>
            <a:spLocks noGrp="1"/>
          </p:cNvSpPr>
          <p:nvPr>
            <p:ph type="dt" sz="half" idx="10"/>
          </p:nvPr>
        </p:nvSpPr>
        <p:spPr/>
        <p:txBody>
          <a:bodyPr/>
          <a:lstStyle/>
          <a:p>
            <a:fld id="{C68C1F72-8528-4CD3-B801-D01C27E7637E}" type="datetimeFigureOut">
              <a:rPr lang="zh-CN" altLang="en-US" smtClean="0"/>
              <a:t>2023/12/20</a:t>
            </a:fld>
            <a:endParaRPr lang="zh-CN" altLang="en-US"/>
          </a:p>
        </p:txBody>
      </p:sp>
      <p:sp>
        <p:nvSpPr>
          <p:cNvPr id="5" name="页脚占位符 4">
            <a:extLst>
              <a:ext uri="{FF2B5EF4-FFF2-40B4-BE49-F238E27FC236}">
                <a16:creationId xmlns:a16="http://schemas.microsoft.com/office/drawing/2014/main" id="{C6C97093-258C-E0FF-5571-DA1D7925B7F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06A3748-EF30-6B60-E507-86A4C20769D8}"/>
              </a:ext>
            </a:extLst>
          </p:cNvPr>
          <p:cNvSpPr>
            <a:spLocks noGrp="1"/>
          </p:cNvSpPr>
          <p:nvPr>
            <p:ph type="sldNum" sz="quarter" idx="12"/>
          </p:nvPr>
        </p:nvSpPr>
        <p:spPr/>
        <p:txBody>
          <a:bodyPr/>
          <a:lstStyle/>
          <a:p>
            <a:fld id="{46C10A8A-C7BD-42E5-BD79-590A9105052B}" type="slidenum">
              <a:rPr lang="zh-CN" altLang="en-US" smtClean="0"/>
              <a:t>‹#›</a:t>
            </a:fld>
            <a:endParaRPr lang="zh-CN" altLang="en-US"/>
          </a:p>
        </p:txBody>
      </p:sp>
    </p:spTree>
    <p:extLst>
      <p:ext uri="{BB962C8B-B14F-4D97-AF65-F5344CB8AC3E}">
        <p14:creationId xmlns:p14="http://schemas.microsoft.com/office/powerpoint/2010/main" val="3843836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2BF8C-4151-85E5-85B8-1A1703EF68F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BF544B3-C49A-8A1F-2F59-1922D0457BD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7927C14-9719-37E2-6394-B829C4B1C632}"/>
              </a:ext>
            </a:extLst>
          </p:cNvPr>
          <p:cNvSpPr>
            <a:spLocks noGrp="1"/>
          </p:cNvSpPr>
          <p:nvPr>
            <p:ph type="dt" sz="half" idx="10"/>
          </p:nvPr>
        </p:nvSpPr>
        <p:spPr/>
        <p:txBody>
          <a:bodyPr/>
          <a:lstStyle/>
          <a:p>
            <a:fld id="{C68C1F72-8528-4CD3-B801-D01C27E7637E}" type="datetimeFigureOut">
              <a:rPr lang="zh-CN" altLang="en-US" smtClean="0"/>
              <a:t>2023/12/20</a:t>
            </a:fld>
            <a:endParaRPr lang="zh-CN" altLang="en-US"/>
          </a:p>
        </p:txBody>
      </p:sp>
      <p:sp>
        <p:nvSpPr>
          <p:cNvPr id="5" name="页脚占位符 4">
            <a:extLst>
              <a:ext uri="{FF2B5EF4-FFF2-40B4-BE49-F238E27FC236}">
                <a16:creationId xmlns:a16="http://schemas.microsoft.com/office/drawing/2014/main" id="{4F8D48C0-CD41-C7C1-7498-69EA2BB8B3B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0C68CED-3906-AD2D-A489-7CDCC1D35C7E}"/>
              </a:ext>
            </a:extLst>
          </p:cNvPr>
          <p:cNvSpPr>
            <a:spLocks noGrp="1"/>
          </p:cNvSpPr>
          <p:nvPr>
            <p:ph type="sldNum" sz="quarter" idx="12"/>
          </p:nvPr>
        </p:nvSpPr>
        <p:spPr/>
        <p:txBody>
          <a:bodyPr/>
          <a:lstStyle/>
          <a:p>
            <a:fld id="{46C10A8A-C7BD-42E5-BD79-590A9105052B}" type="slidenum">
              <a:rPr lang="zh-CN" altLang="en-US" smtClean="0"/>
              <a:t>‹#›</a:t>
            </a:fld>
            <a:endParaRPr lang="zh-CN" altLang="en-US"/>
          </a:p>
        </p:txBody>
      </p:sp>
    </p:spTree>
    <p:extLst>
      <p:ext uri="{BB962C8B-B14F-4D97-AF65-F5344CB8AC3E}">
        <p14:creationId xmlns:p14="http://schemas.microsoft.com/office/powerpoint/2010/main" val="3292000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A61A63-FB03-3B88-ECC2-C74A27875EC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43BDC96-4024-2D1A-87E3-EA6B76A693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8784452-32DD-2DAD-BD68-51CC727F6F47}"/>
              </a:ext>
            </a:extLst>
          </p:cNvPr>
          <p:cNvSpPr>
            <a:spLocks noGrp="1"/>
          </p:cNvSpPr>
          <p:nvPr>
            <p:ph type="dt" sz="half" idx="10"/>
          </p:nvPr>
        </p:nvSpPr>
        <p:spPr/>
        <p:txBody>
          <a:bodyPr/>
          <a:lstStyle/>
          <a:p>
            <a:fld id="{C68C1F72-8528-4CD3-B801-D01C27E7637E}" type="datetimeFigureOut">
              <a:rPr lang="zh-CN" altLang="en-US" smtClean="0"/>
              <a:t>2023/12/20</a:t>
            </a:fld>
            <a:endParaRPr lang="zh-CN" altLang="en-US"/>
          </a:p>
        </p:txBody>
      </p:sp>
      <p:sp>
        <p:nvSpPr>
          <p:cNvPr id="5" name="页脚占位符 4">
            <a:extLst>
              <a:ext uri="{FF2B5EF4-FFF2-40B4-BE49-F238E27FC236}">
                <a16:creationId xmlns:a16="http://schemas.microsoft.com/office/drawing/2014/main" id="{642CCDA7-3239-ABB5-E684-551B5094D9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BA4BE93-1B6D-6D2B-5CE6-1E749A54BCF0}"/>
              </a:ext>
            </a:extLst>
          </p:cNvPr>
          <p:cNvSpPr>
            <a:spLocks noGrp="1"/>
          </p:cNvSpPr>
          <p:nvPr>
            <p:ph type="sldNum" sz="quarter" idx="12"/>
          </p:nvPr>
        </p:nvSpPr>
        <p:spPr/>
        <p:txBody>
          <a:bodyPr/>
          <a:lstStyle/>
          <a:p>
            <a:fld id="{46C10A8A-C7BD-42E5-BD79-590A9105052B}" type="slidenum">
              <a:rPr lang="zh-CN" altLang="en-US" smtClean="0"/>
              <a:t>‹#›</a:t>
            </a:fld>
            <a:endParaRPr lang="zh-CN" altLang="en-US"/>
          </a:p>
        </p:txBody>
      </p:sp>
    </p:spTree>
    <p:extLst>
      <p:ext uri="{BB962C8B-B14F-4D97-AF65-F5344CB8AC3E}">
        <p14:creationId xmlns:p14="http://schemas.microsoft.com/office/powerpoint/2010/main" val="500693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5C5427-27F2-408A-8970-EBA7F3E36FF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9CE70AB-AADE-87AE-7F96-6EA95C9C2F6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6D1B41B-CA6D-B82E-89D1-D5DC98EDD6A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ED108CD-4BEE-945E-257F-BB165FE9A119}"/>
              </a:ext>
            </a:extLst>
          </p:cNvPr>
          <p:cNvSpPr>
            <a:spLocks noGrp="1"/>
          </p:cNvSpPr>
          <p:nvPr>
            <p:ph type="dt" sz="half" idx="10"/>
          </p:nvPr>
        </p:nvSpPr>
        <p:spPr/>
        <p:txBody>
          <a:bodyPr/>
          <a:lstStyle/>
          <a:p>
            <a:fld id="{C68C1F72-8528-4CD3-B801-D01C27E7637E}" type="datetimeFigureOut">
              <a:rPr lang="zh-CN" altLang="en-US" smtClean="0"/>
              <a:t>2023/12/20</a:t>
            </a:fld>
            <a:endParaRPr lang="zh-CN" altLang="en-US"/>
          </a:p>
        </p:txBody>
      </p:sp>
      <p:sp>
        <p:nvSpPr>
          <p:cNvPr id="6" name="页脚占位符 5">
            <a:extLst>
              <a:ext uri="{FF2B5EF4-FFF2-40B4-BE49-F238E27FC236}">
                <a16:creationId xmlns:a16="http://schemas.microsoft.com/office/drawing/2014/main" id="{63F8FEF0-F1BF-51CF-5C83-64EB0698835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F16CC4B-5386-1E9F-B4D8-598B1EBA53C0}"/>
              </a:ext>
            </a:extLst>
          </p:cNvPr>
          <p:cNvSpPr>
            <a:spLocks noGrp="1"/>
          </p:cNvSpPr>
          <p:nvPr>
            <p:ph type="sldNum" sz="quarter" idx="12"/>
          </p:nvPr>
        </p:nvSpPr>
        <p:spPr/>
        <p:txBody>
          <a:bodyPr/>
          <a:lstStyle/>
          <a:p>
            <a:fld id="{46C10A8A-C7BD-42E5-BD79-590A9105052B}" type="slidenum">
              <a:rPr lang="zh-CN" altLang="en-US" smtClean="0"/>
              <a:t>‹#›</a:t>
            </a:fld>
            <a:endParaRPr lang="zh-CN" altLang="en-US"/>
          </a:p>
        </p:txBody>
      </p:sp>
    </p:spTree>
    <p:extLst>
      <p:ext uri="{BB962C8B-B14F-4D97-AF65-F5344CB8AC3E}">
        <p14:creationId xmlns:p14="http://schemas.microsoft.com/office/powerpoint/2010/main" val="1089605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84DDF3-18ED-BF22-92AB-AA9127B6E79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70B2ECD-E590-FF3C-983B-A60641F44F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C3C43B5-5F21-D39F-EB0D-C8817005065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F4EA372-A3EE-2A21-298C-653AE937C5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FB1875A-057B-AE64-4588-48FC4B8626B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8551CA9-7BF4-3AAD-A258-5553DC7894C7}"/>
              </a:ext>
            </a:extLst>
          </p:cNvPr>
          <p:cNvSpPr>
            <a:spLocks noGrp="1"/>
          </p:cNvSpPr>
          <p:nvPr>
            <p:ph type="dt" sz="half" idx="10"/>
          </p:nvPr>
        </p:nvSpPr>
        <p:spPr/>
        <p:txBody>
          <a:bodyPr/>
          <a:lstStyle/>
          <a:p>
            <a:fld id="{C68C1F72-8528-4CD3-B801-D01C27E7637E}" type="datetimeFigureOut">
              <a:rPr lang="zh-CN" altLang="en-US" smtClean="0"/>
              <a:t>2023/12/20</a:t>
            </a:fld>
            <a:endParaRPr lang="zh-CN" altLang="en-US"/>
          </a:p>
        </p:txBody>
      </p:sp>
      <p:sp>
        <p:nvSpPr>
          <p:cNvPr id="8" name="页脚占位符 7">
            <a:extLst>
              <a:ext uri="{FF2B5EF4-FFF2-40B4-BE49-F238E27FC236}">
                <a16:creationId xmlns:a16="http://schemas.microsoft.com/office/drawing/2014/main" id="{A4193D5C-9E08-67C0-CFBC-5C239127A1F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120E8F6-107A-EC73-83D3-837EE2F94919}"/>
              </a:ext>
            </a:extLst>
          </p:cNvPr>
          <p:cNvSpPr>
            <a:spLocks noGrp="1"/>
          </p:cNvSpPr>
          <p:nvPr>
            <p:ph type="sldNum" sz="quarter" idx="12"/>
          </p:nvPr>
        </p:nvSpPr>
        <p:spPr/>
        <p:txBody>
          <a:bodyPr/>
          <a:lstStyle/>
          <a:p>
            <a:fld id="{46C10A8A-C7BD-42E5-BD79-590A9105052B}" type="slidenum">
              <a:rPr lang="zh-CN" altLang="en-US" smtClean="0"/>
              <a:t>‹#›</a:t>
            </a:fld>
            <a:endParaRPr lang="zh-CN" altLang="en-US"/>
          </a:p>
        </p:txBody>
      </p:sp>
    </p:spTree>
    <p:extLst>
      <p:ext uri="{BB962C8B-B14F-4D97-AF65-F5344CB8AC3E}">
        <p14:creationId xmlns:p14="http://schemas.microsoft.com/office/powerpoint/2010/main" val="2967048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B3E55C-573B-A9A9-0775-45FDED0BFC5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7105656-DECB-CDB2-EC2F-A7A02B3CF9F6}"/>
              </a:ext>
            </a:extLst>
          </p:cNvPr>
          <p:cNvSpPr>
            <a:spLocks noGrp="1"/>
          </p:cNvSpPr>
          <p:nvPr>
            <p:ph type="dt" sz="half" idx="10"/>
          </p:nvPr>
        </p:nvSpPr>
        <p:spPr/>
        <p:txBody>
          <a:bodyPr/>
          <a:lstStyle/>
          <a:p>
            <a:fld id="{C68C1F72-8528-4CD3-B801-D01C27E7637E}" type="datetimeFigureOut">
              <a:rPr lang="zh-CN" altLang="en-US" smtClean="0"/>
              <a:t>2023/12/20</a:t>
            </a:fld>
            <a:endParaRPr lang="zh-CN" altLang="en-US"/>
          </a:p>
        </p:txBody>
      </p:sp>
      <p:sp>
        <p:nvSpPr>
          <p:cNvPr id="4" name="页脚占位符 3">
            <a:extLst>
              <a:ext uri="{FF2B5EF4-FFF2-40B4-BE49-F238E27FC236}">
                <a16:creationId xmlns:a16="http://schemas.microsoft.com/office/drawing/2014/main" id="{C137A324-BD45-F80B-123E-44FAE6F2536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09203E5-AA2D-1AFB-FBAA-4BD7F23029BE}"/>
              </a:ext>
            </a:extLst>
          </p:cNvPr>
          <p:cNvSpPr>
            <a:spLocks noGrp="1"/>
          </p:cNvSpPr>
          <p:nvPr>
            <p:ph type="sldNum" sz="quarter" idx="12"/>
          </p:nvPr>
        </p:nvSpPr>
        <p:spPr/>
        <p:txBody>
          <a:bodyPr/>
          <a:lstStyle/>
          <a:p>
            <a:fld id="{46C10A8A-C7BD-42E5-BD79-590A9105052B}" type="slidenum">
              <a:rPr lang="zh-CN" altLang="en-US" smtClean="0"/>
              <a:t>‹#›</a:t>
            </a:fld>
            <a:endParaRPr lang="zh-CN" altLang="en-US"/>
          </a:p>
        </p:txBody>
      </p:sp>
    </p:spTree>
    <p:extLst>
      <p:ext uri="{BB962C8B-B14F-4D97-AF65-F5344CB8AC3E}">
        <p14:creationId xmlns:p14="http://schemas.microsoft.com/office/powerpoint/2010/main" val="2430907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006F3AE-1428-CCE1-CE8F-87C15412CF7C}"/>
              </a:ext>
            </a:extLst>
          </p:cNvPr>
          <p:cNvSpPr>
            <a:spLocks noGrp="1"/>
          </p:cNvSpPr>
          <p:nvPr>
            <p:ph type="dt" sz="half" idx="10"/>
          </p:nvPr>
        </p:nvSpPr>
        <p:spPr/>
        <p:txBody>
          <a:bodyPr/>
          <a:lstStyle/>
          <a:p>
            <a:fld id="{C68C1F72-8528-4CD3-B801-D01C27E7637E}" type="datetimeFigureOut">
              <a:rPr lang="zh-CN" altLang="en-US" smtClean="0"/>
              <a:t>2023/12/20</a:t>
            </a:fld>
            <a:endParaRPr lang="zh-CN" altLang="en-US"/>
          </a:p>
        </p:txBody>
      </p:sp>
      <p:sp>
        <p:nvSpPr>
          <p:cNvPr id="3" name="页脚占位符 2">
            <a:extLst>
              <a:ext uri="{FF2B5EF4-FFF2-40B4-BE49-F238E27FC236}">
                <a16:creationId xmlns:a16="http://schemas.microsoft.com/office/drawing/2014/main" id="{F087D3D5-50AD-15C6-1ED9-3556ECB14D1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8A6BE88-438A-19DE-DCFD-15B091A0EE31}"/>
              </a:ext>
            </a:extLst>
          </p:cNvPr>
          <p:cNvSpPr>
            <a:spLocks noGrp="1"/>
          </p:cNvSpPr>
          <p:nvPr>
            <p:ph type="sldNum" sz="quarter" idx="12"/>
          </p:nvPr>
        </p:nvSpPr>
        <p:spPr/>
        <p:txBody>
          <a:bodyPr/>
          <a:lstStyle/>
          <a:p>
            <a:fld id="{46C10A8A-C7BD-42E5-BD79-590A9105052B}" type="slidenum">
              <a:rPr lang="zh-CN" altLang="en-US" smtClean="0"/>
              <a:t>‹#›</a:t>
            </a:fld>
            <a:endParaRPr lang="zh-CN" altLang="en-US"/>
          </a:p>
        </p:txBody>
      </p:sp>
    </p:spTree>
    <p:extLst>
      <p:ext uri="{BB962C8B-B14F-4D97-AF65-F5344CB8AC3E}">
        <p14:creationId xmlns:p14="http://schemas.microsoft.com/office/powerpoint/2010/main" val="2250995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D41431-AEA1-0AFE-F894-765F916050C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B7E3FA6-6323-3AAC-2B69-BD21B4D78D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72311E3-1CF0-B8BC-1967-E7FEDF22AD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3FA9CA0-9749-2F01-7248-6A466A0E5A5D}"/>
              </a:ext>
            </a:extLst>
          </p:cNvPr>
          <p:cNvSpPr>
            <a:spLocks noGrp="1"/>
          </p:cNvSpPr>
          <p:nvPr>
            <p:ph type="dt" sz="half" idx="10"/>
          </p:nvPr>
        </p:nvSpPr>
        <p:spPr/>
        <p:txBody>
          <a:bodyPr/>
          <a:lstStyle/>
          <a:p>
            <a:fld id="{C68C1F72-8528-4CD3-B801-D01C27E7637E}" type="datetimeFigureOut">
              <a:rPr lang="zh-CN" altLang="en-US" smtClean="0"/>
              <a:t>2023/12/20</a:t>
            </a:fld>
            <a:endParaRPr lang="zh-CN" altLang="en-US"/>
          </a:p>
        </p:txBody>
      </p:sp>
      <p:sp>
        <p:nvSpPr>
          <p:cNvPr id="6" name="页脚占位符 5">
            <a:extLst>
              <a:ext uri="{FF2B5EF4-FFF2-40B4-BE49-F238E27FC236}">
                <a16:creationId xmlns:a16="http://schemas.microsoft.com/office/drawing/2014/main" id="{E8624C2A-0FB7-F8AE-1ADC-C8FFE1BEEF2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7643F8F-ED4D-03B1-092E-E25ABB61D176}"/>
              </a:ext>
            </a:extLst>
          </p:cNvPr>
          <p:cNvSpPr>
            <a:spLocks noGrp="1"/>
          </p:cNvSpPr>
          <p:nvPr>
            <p:ph type="sldNum" sz="quarter" idx="12"/>
          </p:nvPr>
        </p:nvSpPr>
        <p:spPr/>
        <p:txBody>
          <a:bodyPr/>
          <a:lstStyle/>
          <a:p>
            <a:fld id="{46C10A8A-C7BD-42E5-BD79-590A9105052B}" type="slidenum">
              <a:rPr lang="zh-CN" altLang="en-US" smtClean="0"/>
              <a:t>‹#›</a:t>
            </a:fld>
            <a:endParaRPr lang="zh-CN" altLang="en-US"/>
          </a:p>
        </p:txBody>
      </p:sp>
    </p:spTree>
    <p:extLst>
      <p:ext uri="{BB962C8B-B14F-4D97-AF65-F5344CB8AC3E}">
        <p14:creationId xmlns:p14="http://schemas.microsoft.com/office/powerpoint/2010/main" val="3715345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2BD9AC-3133-D929-10CC-3D41720125D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0AA17E2-F289-1323-0DE9-652F4CCF75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A536B19-E5F7-ED66-195A-1FDCEBFDC8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C451336-B9D3-2778-10E6-D8AAFAB84D83}"/>
              </a:ext>
            </a:extLst>
          </p:cNvPr>
          <p:cNvSpPr>
            <a:spLocks noGrp="1"/>
          </p:cNvSpPr>
          <p:nvPr>
            <p:ph type="dt" sz="half" idx="10"/>
          </p:nvPr>
        </p:nvSpPr>
        <p:spPr/>
        <p:txBody>
          <a:bodyPr/>
          <a:lstStyle/>
          <a:p>
            <a:fld id="{C68C1F72-8528-4CD3-B801-D01C27E7637E}" type="datetimeFigureOut">
              <a:rPr lang="zh-CN" altLang="en-US" smtClean="0"/>
              <a:t>2023/12/20</a:t>
            </a:fld>
            <a:endParaRPr lang="zh-CN" altLang="en-US"/>
          </a:p>
        </p:txBody>
      </p:sp>
      <p:sp>
        <p:nvSpPr>
          <p:cNvPr id="6" name="页脚占位符 5">
            <a:extLst>
              <a:ext uri="{FF2B5EF4-FFF2-40B4-BE49-F238E27FC236}">
                <a16:creationId xmlns:a16="http://schemas.microsoft.com/office/drawing/2014/main" id="{A6C9E21A-F82D-6649-C71C-49F65DAC610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7C393E3-4EBB-D08E-E724-7C4C6FF83D61}"/>
              </a:ext>
            </a:extLst>
          </p:cNvPr>
          <p:cNvSpPr>
            <a:spLocks noGrp="1"/>
          </p:cNvSpPr>
          <p:nvPr>
            <p:ph type="sldNum" sz="quarter" idx="12"/>
          </p:nvPr>
        </p:nvSpPr>
        <p:spPr/>
        <p:txBody>
          <a:bodyPr/>
          <a:lstStyle/>
          <a:p>
            <a:fld id="{46C10A8A-C7BD-42E5-BD79-590A9105052B}" type="slidenum">
              <a:rPr lang="zh-CN" altLang="en-US" smtClean="0"/>
              <a:t>‹#›</a:t>
            </a:fld>
            <a:endParaRPr lang="zh-CN" altLang="en-US"/>
          </a:p>
        </p:txBody>
      </p:sp>
    </p:spTree>
    <p:extLst>
      <p:ext uri="{BB962C8B-B14F-4D97-AF65-F5344CB8AC3E}">
        <p14:creationId xmlns:p14="http://schemas.microsoft.com/office/powerpoint/2010/main" val="3184822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FAE510-8F09-C08B-CDF8-5DA648264F3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211698E-90DD-C6FF-112E-AE5B0117DFC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44B2E2F-89AD-E4E1-CBC6-83333BE23D3B}"/>
              </a:ext>
            </a:extLst>
          </p:cNvPr>
          <p:cNvSpPr>
            <a:spLocks noGrp="1"/>
          </p:cNvSpPr>
          <p:nvPr>
            <p:ph type="dt" sz="half" idx="10"/>
          </p:nvPr>
        </p:nvSpPr>
        <p:spPr/>
        <p:txBody>
          <a:bodyPr/>
          <a:lstStyle/>
          <a:p>
            <a:fld id="{C68C1F72-8528-4CD3-B801-D01C27E7637E}" type="datetimeFigureOut">
              <a:rPr lang="zh-CN" altLang="en-US" smtClean="0"/>
              <a:t>2023/12/20</a:t>
            </a:fld>
            <a:endParaRPr lang="zh-CN" altLang="en-US"/>
          </a:p>
        </p:txBody>
      </p:sp>
      <p:sp>
        <p:nvSpPr>
          <p:cNvPr id="5" name="页脚占位符 4">
            <a:extLst>
              <a:ext uri="{FF2B5EF4-FFF2-40B4-BE49-F238E27FC236}">
                <a16:creationId xmlns:a16="http://schemas.microsoft.com/office/drawing/2014/main" id="{784B7CCC-12DD-142F-6A8F-165F2FE59B2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EE01CDB-B98E-549C-B99C-9472CE0EAAF7}"/>
              </a:ext>
            </a:extLst>
          </p:cNvPr>
          <p:cNvSpPr>
            <a:spLocks noGrp="1"/>
          </p:cNvSpPr>
          <p:nvPr>
            <p:ph type="sldNum" sz="quarter" idx="12"/>
          </p:nvPr>
        </p:nvSpPr>
        <p:spPr/>
        <p:txBody>
          <a:bodyPr/>
          <a:lstStyle/>
          <a:p>
            <a:fld id="{46C10A8A-C7BD-42E5-BD79-590A9105052B}" type="slidenum">
              <a:rPr lang="zh-CN" altLang="en-US" smtClean="0"/>
              <a:t>‹#›</a:t>
            </a:fld>
            <a:endParaRPr lang="zh-CN" altLang="en-US"/>
          </a:p>
        </p:txBody>
      </p:sp>
    </p:spTree>
    <p:extLst>
      <p:ext uri="{BB962C8B-B14F-4D97-AF65-F5344CB8AC3E}">
        <p14:creationId xmlns:p14="http://schemas.microsoft.com/office/powerpoint/2010/main" val="3191668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313328D-74BC-CF4B-6F22-4DF9FB6AE89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F655B91-2752-543C-0F86-DC23DD87879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DBCB6AE-E9F1-5C84-0C19-B7F5872502B4}"/>
              </a:ext>
            </a:extLst>
          </p:cNvPr>
          <p:cNvSpPr>
            <a:spLocks noGrp="1"/>
          </p:cNvSpPr>
          <p:nvPr>
            <p:ph type="dt" sz="half" idx="10"/>
          </p:nvPr>
        </p:nvSpPr>
        <p:spPr/>
        <p:txBody>
          <a:bodyPr/>
          <a:lstStyle/>
          <a:p>
            <a:fld id="{C68C1F72-8528-4CD3-B801-D01C27E7637E}" type="datetimeFigureOut">
              <a:rPr lang="zh-CN" altLang="en-US" smtClean="0"/>
              <a:t>2023/12/20</a:t>
            </a:fld>
            <a:endParaRPr lang="zh-CN" altLang="en-US"/>
          </a:p>
        </p:txBody>
      </p:sp>
      <p:sp>
        <p:nvSpPr>
          <p:cNvPr id="5" name="页脚占位符 4">
            <a:extLst>
              <a:ext uri="{FF2B5EF4-FFF2-40B4-BE49-F238E27FC236}">
                <a16:creationId xmlns:a16="http://schemas.microsoft.com/office/drawing/2014/main" id="{FE6D53CA-B1DA-20ED-E3C8-AB88331D25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E28AE7F-3BAC-1289-7199-D9CB2B07796F}"/>
              </a:ext>
            </a:extLst>
          </p:cNvPr>
          <p:cNvSpPr>
            <a:spLocks noGrp="1"/>
          </p:cNvSpPr>
          <p:nvPr>
            <p:ph type="sldNum" sz="quarter" idx="12"/>
          </p:nvPr>
        </p:nvSpPr>
        <p:spPr/>
        <p:txBody>
          <a:bodyPr/>
          <a:lstStyle/>
          <a:p>
            <a:fld id="{46C10A8A-C7BD-42E5-BD79-590A9105052B}" type="slidenum">
              <a:rPr lang="zh-CN" altLang="en-US" smtClean="0"/>
              <a:t>‹#›</a:t>
            </a:fld>
            <a:endParaRPr lang="zh-CN" altLang="en-US"/>
          </a:p>
        </p:txBody>
      </p:sp>
    </p:spTree>
    <p:extLst>
      <p:ext uri="{BB962C8B-B14F-4D97-AF65-F5344CB8AC3E}">
        <p14:creationId xmlns:p14="http://schemas.microsoft.com/office/powerpoint/2010/main" val="174096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E2BD3B9-DF2C-C57A-3936-9BEAEE748A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CD67A98-9AC1-58F5-37C0-535762EC7D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B56D48A-6C12-752D-F1BE-F863F4AD74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8C1F72-8528-4CD3-B801-D01C27E7637E}" type="datetimeFigureOut">
              <a:rPr lang="zh-CN" altLang="en-US" smtClean="0"/>
              <a:t>2023/12/20</a:t>
            </a:fld>
            <a:endParaRPr lang="zh-CN" altLang="en-US"/>
          </a:p>
        </p:txBody>
      </p:sp>
      <p:sp>
        <p:nvSpPr>
          <p:cNvPr id="5" name="页脚占位符 4">
            <a:extLst>
              <a:ext uri="{FF2B5EF4-FFF2-40B4-BE49-F238E27FC236}">
                <a16:creationId xmlns:a16="http://schemas.microsoft.com/office/drawing/2014/main" id="{DEB5C411-68BA-5D48-E0B8-EFD1258B82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CD4F113-87CE-A186-2D43-1FD3278794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C10A8A-C7BD-42E5-BD79-590A9105052B}" type="slidenum">
              <a:rPr lang="zh-CN" altLang="en-US" smtClean="0"/>
              <a:t>‹#›</a:t>
            </a:fld>
            <a:endParaRPr lang="zh-CN" altLang="en-US"/>
          </a:p>
        </p:txBody>
      </p:sp>
    </p:spTree>
    <p:extLst>
      <p:ext uri="{BB962C8B-B14F-4D97-AF65-F5344CB8AC3E}">
        <p14:creationId xmlns:p14="http://schemas.microsoft.com/office/powerpoint/2010/main" val="37533650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3.png"/><Relationship Id="rId7" Type="http://schemas.openxmlformats.org/officeDocument/2006/relationships/image" Target="../media/image46.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24.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0">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图片 26" descr="手机屏幕截图&#10;&#10;低可信度描述已自动生成">
            <a:extLst>
              <a:ext uri="{FF2B5EF4-FFF2-40B4-BE49-F238E27FC236}">
                <a16:creationId xmlns:a16="http://schemas.microsoft.com/office/drawing/2014/main" id="{7F7A3D97-7CD4-BCB8-7B13-D675571AB44B}"/>
              </a:ext>
            </a:extLst>
          </p:cNvPr>
          <p:cNvPicPr>
            <a:picLocks noChangeAspect="1"/>
          </p:cNvPicPr>
          <p:nvPr/>
        </p:nvPicPr>
        <p:blipFill rotWithShape="1">
          <a:blip r:embed="rId2">
            <a:extLst>
              <a:ext uri="{28A0092B-C50C-407E-A947-70E740481C1C}">
                <a14:useLocalDpi xmlns:a14="http://schemas.microsoft.com/office/drawing/2010/main" val="0"/>
              </a:ext>
            </a:extLst>
          </a:blip>
          <a:srcRect l="2" r="23184"/>
          <a:stretch/>
        </p:blipFill>
        <p:spPr>
          <a:xfrm>
            <a:off x="2350873" y="4498"/>
            <a:ext cx="9841127" cy="6853502"/>
          </a:xfrm>
          <a:prstGeom prst="rect">
            <a:avLst/>
          </a:prstGeom>
        </p:spPr>
      </p:pic>
      <p:sp>
        <p:nvSpPr>
          <p:cNvPr id="20" name="Rectangle 12">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标题 1">
            <a:extLst>
              <a:ext uri="{FF2B5EF4-FFF2-40B4-BE49-F238E27FC236}">
                <a16:creationId xmlns:a16="http://schemas.microsoft.com/office/drawing/2014/main" id="{EB38126E-424A-D4EA-5EE1-7344FA2C945B}"/>
              </a:ext>
            </a:extLst>
          </p:cNvPr>
          <p:cNvSpPr>
            <a:spLocks noGrp="1"/>
          </p:cNvSpPr>
          <p:nvPr>
            <p:ph type="ctrTitle"/>
          </p:nvPr>
        </p:nvSpPr>
        <p:spPr>
          <a:xfrm>
            <a:off x="477981" y="1122363"/>
            <a:ext cx="4023360" cy="3204134"/>
          </a:xfrm>
        </p:spPr>
        <p:txBody>
          <a:bodyPr anchor="b">
            <a:normAutofit/>
          </a:bodyPr>
          <a:lstStyle/>
          <a:p>
            <a:pPr algn="l"/>
            <a:r>
              <a:rPr lang="en-US" altLang="zh-CN" sz="4800" dirty="0"/>
              <a:t>FMCW</a:t>
            </a:r>
            <a:r>
              <a:rPr lang="zh-CN" altLang="en-US" sz="4800" dirty="0"/>
              <a:t>雷达实现测距、测速以及定位</a:t>
            </a:r>
          </a:p>
        </p:txBody>
      </p:sp>
      <p:sp>
        <p:nvSpPr>
          <p:cNvPr id="3" name="副标题 2">
            <a:extLst>
              <a:ext uri="{FF2B5EF4-FFF2-40B4-BE49-F238E27FC236}">
                <a16:creationId xmlns:a16="http://schemas.microsoft.com/office/drawing/2014/main" id="{B6669465-D978-0595-82FE-93A699128539}"/>
              </a:ext>
            </a:extLst>
          </p:cNvPr>
          <p:cNvSpPr>
            <a:spLocks noGrp="1"/>
          </p:cNvSpPr>
          <p:nvPr>
            <p:ph type="subTitle" idx="1"/>
          </p:nvPr>
        </p:nvSpPr>
        <p:spPr>
          <a:xfrm>
            <a:off x="477980" y="4872922"/>
            <a:ext cx="4023359" cy="1208141"/>
          </a:xfrm>
        </p:spPr>
        <p:txBody>
          <a:bodyPr>
            <a:normAutofit/>
          </a:bodyPr>
          <a:lstStyle/>
          <a:p>
            <a:pPr algn="l"/>
            <a:r>
              <a:rPr lang="en-US" altLang="zh-CN" sz="2000" dirty="0"/>
              <a:t>12211640 </a:t>
            </a:r>
            <a:r>
              <a:rPr lang="zh-CN" altLang="en-US" sz="2000" dirty="0"/>
              <a:t>郭泳铭</a:t>
            </a:r>
            <a:r>
              <a:rPr lang="en-US" altLang="zh-CN" sz="2000" dirty="0"/>
              <a:t> </a:t>
            </a:r>
          </a:p>
          <a:p>
            <a:pPr algn="l"/>
            <a:r>
              <a:rPr lang="en-US" altLang="zh-CN" sz="2000" dirty="0"/>
              <a:t>12111315 </a:t>
            </a:r>
            <a:r>
              <a:rPr lang="zh-CN" altLang="en-US" sz="2000" dirty="0"/>
              <a:t>李正豪</a:t>
            </a:r>
          </a:p>
        </p:txBody>
      </p:sp>
      <p:sp>
        <p:nvSpPr>
          <p:cNvPr id="21"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9449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26226E-05B3-6183-1CD3-7E115D8E3AB8}"/>
              </a:ext>
            </a:extLst>
          </p:cNvPr>
          <p:cNvSpPr>
            <a:spLocks noGrp="1"/>
          </p:cNvSpPr>
          <p:nvPr>
            <p:ph type="title"/>
          </p:nvPr>
        </p:nvSpPr>
        <p:spPr/>
        <p:txBody>
          <a:bodyPr/>
          <a:lstStyle/>
          <a:p>
            <a:r>
              <a:rPr lang="zh-CN" altLang="en-US" dirty="0"/>
              <a:t>大纲</a:t>
            </a:r>
          </a:p>
        </p:txBody>
      </p:sp>
      <p:sp>
        <p:nvSpPr>
          <p:cNvPr id="3" name="内容占位符 2">
            <a:extLst>
              <a:ext uri="{FF2B5EF4-FFF2-40B4-BE49-F238E27FC236}">
                <a16:creationId xmlns:a16="http://schemas.microsoft.com/office/drawing/2014/main" id="{F6A88C9B-2ADB-A692-E177-4CF5EEE6F7DA}"/>
              </a:ext>
            </a:extLst>
          </p:cNvPr>
          <p:cNvSpPr>
            <a:spLocks noGrp="1"/>
          </p:cNvSpPr>
          <p:nvPr>
            <p:ph idx="1"/>
          </p:nvPr>
        </p:nvSpPr>
        <p:spPr/>
        <p:txBody>
          <a:bodyPr/>
          <a:lstStyle/>
          <a:p>
            <a:r>
              <a:rPr lang="en-US" altLang="zh-CN" dirty="0"/>
              <a:t>FMCW</a:t>
            </a:r>
            <a:r>
              <a:rPr lang="zh-CN" altLang="en-US" dirty="0"/>
              <a:t>雷达背景</a:t>
            </a:r>
            <a:endParaRPr lang="en-US" altLang="zh-CN" dirty="0"/>
          </a:p>
          <a:p>
            <a:r>
              <a:rPr lang="zh-CN" altLang="en-US" dirty="0"/>
              <a:t>电路、理论分析及解决思路</a:t>
            </a:r>
            <a:endParaRPr lang="en-US" altLang="zh-CN" dirty="0"/>
          </a:p>
          <a:p>
            <a:r>
              <a:rPr lang="zh-CN" altLang="en-US" dirty="0"/>
              <a:t>结果呈现（</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a:t>
            </a:r>
            <a:r>
              <a:rPr lang="en-US" altLang="zh-CN" dirty="0"/>
              <a:t>e</a:t>
            </a:r>
            <a:r>
              <a:rPr lang="zh-CN" altLang="en-US" dirty="0"/>
              <a:t>）</a:t>
            </a:r>
            <a:endParaRPr lang="en-US" altLang="zh-CN" dirty="0"/>
          </a:p>
          <a:p>
            <a:r>
              <a:rPr lang="zh-CN" altLang="en-US" dirty="0"/>
              <a:t>项目总结</a:t>
            </a:r>
            <a:endParaRPr lang="en-US" altLang="zh-CN" dirty="0"/>
          </a:p>
          <a:p>
            <a:r>
              <a:rPr lang="en-US" altLang="zh-CN" dirty="0"/>
              <a:t>Q&amp;A</a:t>
            </a:r>
            <a:endParaRPr lang="zh-CN" altLang="en-US" dirty="0"/>
          </a:p>
        </p:txBody>
      </p:sp>
    </p:spTree>
    <p:extLst>
      <p:ext uri="{BB962C8B-B14F-4D97-AF65-F5344CB8AC3E}">
        <p14:creationId xmlns:p14="http://schemas.microsoft.com/office/powerpoint/2010/main" val="1249274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647DC6-39D2-B5C8-BD7B-D71BDC1D89F5}"/>
              </a:ext>
            </a:extLst>
          </p:cNvPr>
          <p:cNvSpPr>
            <a:spLocks noGrp="1"/>
          </p:cNvSpPr>
          <p:nvPr>
            <p:ph type="title"/>
          </p:nvPr>
        </p:nvSpPr>
        <p:spPr>
          <a:xfrm>
            <a:off x="3340100" y="1743075"/>
            <a:ext cx="4730750" cy="1325563"/>
          </a:xfrm>
        </p:spPr>
        <p:txBody>
          <a:bodyPr/>
          <a:lstStyle/>
          <a:p>
            <a:pPr algn="ctr"/>
            <a:r>
              <a:rPr lang="en-US" altLang="zh-CN"/>
              <a:t>FMCW</a:t>
            </a:r>
            <a:r>
              <a:rPr lang="zh-CN" altLang="en-US"/>
              <a:t>雷达背景</a:t>
            </a:r>
            <a:endParaRPr lang="en-US" altLang="zh-CN" dirty="0"/>
          </a:p>
        </p:txBody>
      </p:sp>
    </p:spTree>
    <p:extLst>
      <p:ext uri="{BB962C8B-B14F-4D97-AF65-F5344CB8AC3E}">
        <p14:creationId xmlns:p14="http://schemas.microsoft.com/office/powerpoint/2010/main" val="537547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148656-675B-A8FC-D7EB-66F56029A8AD}"/>
              </a:ext>
            </a:extLst>
          </p:cNvPr>
          <p:cNvSpPr>
            <a:spLocks noGrp="1"/>
          </p:cNvSpPr>
          <p:nvPr>
            <p:ph type="title"/>
          </p:nvPr>
        </p:nvSpPr>
        <p:spPr/>
        <p:txBody>
          <a:bodyPr/>
          <a:lstStyle/>
          <a:p>
            <a:r>
              <a:rPr lang="en-US" altLang="zh-CN" dirty="0"/>
              <a:t>FMCW</a:t>
            </a:r>
            <a:r>
              <a:rPr lang="zh-CN" altLang="en-US" dirty="0"/>
              <a:t>雷达背景</a:t>
            </a:r>
          </a:p>
        </p:txBody>
      </p:sp>
      <p:sp>
        <p:nvSpPr>
          <p:cNvPr id="3" name="文本框 2">
            <a:extLst>
              <a:ext uri="{FF2B5EF4-FFF2-40B4-BE49-F238E27FC236}">
                <a16:creationId xmlns:a16="http://schemas.microsoft.com/office/drawing/2014/main" id="{41548516-8EBF-E185-9084-8ABC5D4057F2}"/>
              </a:ext>
            </a:extLst>
          </p:cNvPr>
          <p:cNvSpPr txBox="1"/>
          <p:nvPr/>
        </p:nvSpPr>
        <p:spPr>
          <a:xfrm>
            <a:off x="838198" y="1506022"/>
            <a:ext cx="10075817" cy="369332"/>
          </a:xfrm>
          <a:prstGeom prst="rect">
            <a:avLst/>
          </a:prstGeom>
          <a:noFill/>
        </p:spPr>
        <p:txBody>
          <a:bodyPr wrap="square" rtlCol="0">
            <a:spAutoFit/>
          </a:bodyPr>
          <a:lstStyle/>
          <a:p>
            <a:r>
              <a:rPr lang="en-US" altLang="zh-CN" dirty="0"/>
              <a:t>FMCW</a:t>
            </a:r>
            <a:r>
              <a:rPr lang="zh-CN" altLang="en-US" dirty="0"/>
              <a:t>雷达全称</a:t>
            </a:r>
            <a:r>
              <a:rPr lang="en-US" altLang="zh-CN" dirty="0"/>
              <a:t>Frequency Modulated Continuous Wave Radar</a:t>
            </a:r>
            <a:r>
              <a:rPr lang="zh-CN" altLang="en-US" dirty="0"/>
              <a:t>（调频连续波雷达）</a:t>
            </a:r>
            <a:endParaRPr lang="en-US" altLang="zh-CN" dirty="0"/>
          </a:p>
        </p:txBody>
      </p:sp>
      <p:sp>
        <p:nvSpPr>
          <p:cNvPr id="4" name="文本框 3">
            <a:extLst>
              <a:ext uri="{FF2B5EF4-FFF2-40B4-BE49-F238E27FC236}">
                <a16:creationId xmlns:a16="http://schemas.microsoft.com/office/drawing/2014/main" id="{DA737C07-7031-6F49-7A3C-7CC3E33D1844}"/>
              </a:ext>
            </a:extLst>
          </p:cNvPr>
          <p:cNvSpPr txBox="1"/>
          <p:nvPr/>
        </p:nvSpPr>
        <p:spPr>
          <a:xfrm>
            <a:off x="838198" y="2150582"/>
            <a:ext cx="7136675" cy="369332"/>
          </a:xfrm>
          <a:prstGeom prst="rect">
            <a:avLst/>
          </a:prstGeom>
          <a:noFill/>
        </p:spPr>
        <p:txBody>
          <a:bodyPr wrap="square" rtlCol="0">
            <a:spAutoFit/>
          </a:bodyPr>
          <a:lstStyle/>
          <a:p>
            <a:r>
              <a:rPr lang="zh-CN" altLang="en-US" dirty="0"/>
              <a:t>调频连续波雷达，是指发射频率受特定信号调制的连续波雷达</a:t>
            </a:r>
          </a:p>
        </p:txBody>
      </p:sp>
      <p:sp>
        <p:nvSpPr>
          <p:cNvPr id="8" name="文本框 7">
            <a:extLst>
              <a:ext uri="{FF2B5EF4-FFF2-40B4-BE49-F238E27FC236}">
                <a16:creationId xmlns:a16="http://schemas.microsoft.com/office/drawing/2014/main" id="{6CE32D35-F061-28E7-3BA4-7D884E3779EA}"/>
              </a:ext>
            </a:extLst>
          </p:cNvPr>
          <p:cNvSpPr txBox="1"/>
          <p:nvPr/>
        </p:nvSpPr>
        <p:spPr>
          <a:xfrm>
            <a:off x="838198" y="2795143"/>
            <a:ext cx="8782595" cy="646331"/>
          </a:xfrm>
          <a:prstGeom prst="rect">
            <a:avLst/>
          </a:prstGeom>
          <a:noFill/>
        </p:spPr>
        <p:txBody>
          <a:bodyPr wrap="square">
            <a:spAutoFit/>
          </a:bodyPr>
          <a:lstStyle/>
          <a:p>
            <a:r>
              <a:rPr lang="zh-CN" altLang="en-US" dirty="0"/>
              <a:t>调频连续波雷达通过比较任意时刻回波信号频率与此时刻发射信号的频率之差的方法来得到目标的距离信息。目标的径向速度和距离可由测量的二者频率差处理后得到。</a:t>
            </a:r>
            <a:endParaRPr lang="en-US" altLang="zh-CN" dirty="0"/>
          </a:p>
        </p:txBody>
      </p:sp>
      <p:sp>
        <p:nvSpPr>
          <p:cNvPr id="10" name="文本框 9">
            <a:extLst>
              <a:ext uri="{FF2B5EF4-FFF2-40B4-BE49-F238E27FC236}">
                <a16:creationId xmlns:a16="http://schemas.microsoft.com/office/drawing/2014/main" id="{3C8E6F37-8843-CF69-EFB7-DD9F7FE82671}"/>
              </a:ext>
            </a:extLst>
          </p:cNvPr>
          <p:cNvSpPr txBox="1"/>
          <p:nvPr/>
        </p:nvSpPr>
        <p:spPr>
          <a:xfrm>
            <a:off x="882648" y="3841750"/>
            <a:ext cx="8442961" cy="2031325"/>
          </a:xfrm>
          <a:prstGeom prst="rect">
            <a:avLst/>
          </a:prstGeom>
          <a:noFill/>
        </p:spPr>
        <p:txBody>
          <a:bodyPr wrap="square">
            <a:spAutoFit/>
          </a:bodyPr>
          <a:lstStyle/>
          <a:p>
            <a:r>
              <a:rPr lang="zh-CN" altLang="en-US" dirty="0"/>
              <a:t>与其他测距测速雷达相比，调频连续波雷达的优势：</a:t>
            </a:r>
            <a:endParaRPr lang="en-US" altLang="zh-CN" dirty="0"/>
          </a:p>
          <a:p>
            <a:pPr marL="285750" indent="-285750">
              <a:buFont typeface="Arial" panose="020B0604020202020204" pitchFamily="34" charset="0"/>
              <a:buChar char="•"/>
            </a:pPr>
            <a:r>
              <a:rPr lang="zh-CN" altLang="en-US" dirty="0"/>
              <a:t>结构更简单</a:t>
            </a:r>
            <a:endParaRPr lang="en-US" altLang="zh-CN" dirty="0"/>
          </a:p>
          <a:p>
            <a:pPr marL="285750" indent="-285750">
              <a:buFont typeface="Arial" panose="020B0604020202020204" pitchFamily="34" charset="0"/>
              <a:buChar char="•"/>
            </a:pPr>
            <a:r>
              <a:rPr lang="en-US" altLang="zh-CN" dirty="0"/>
              <a:t>FMCW</a:t>
            </a:r>
            <a:r>
              <a:rPr lang="zh-CN" altLang="en-US" dirty="0"/>
              <a:t>雷达的技术经验较丰富</a:t>
            </a:r>
            <a:endParaRPr lang="en-US" altLang="zh-CN" dirty="0"/>
          </a:p>
          <a:p>
            <a:pPr marL="285750" indent="-285750">
              <a:buFont typeface="Arial" panose="020B0604020202020204" pitchFamily="34" charset="0"/>
              <a:buChar char="•"/>
            </a:pPr>
            <a:r>
              <a:rPr lang="zh-CN" altLang="en-US" dirty="0"/>
              <a:t>所需的发射功率峰值较低</a:t>
            </a:r>
            <a:endParaRPr lang="en-US" altLang="zh-CN" dirty="0"/>
          </a:p>
          <a:p>
            <a:pPr marL="285750" indent="-285750">
              <a:buFont typeface="Arial" panose="020B0604020202020204" pitchFamily="34" charset="0"/>
              <a:buChar char="•"/>
            </a:pPr>
            <a:r>
              <a:rPr lang="zh-CN" altLang="en-US" dirty="0"/>
              <a:t>容易调制</a:t>
            </a:r>
            <a:endParaRPr lang="en-US" altLang="zh-CN" dirty="0"/>
          </a:p>
          <a:p>
            <a:pPr marL="285750" indent="-285750">
              <a:buFont typeface="Arial" panose="020B0604020202020204" pitchFamily="34" charset="0"/>
              <a:buChar char="•"/>
            </a:pPr>
            <a:r>
              <a:rPr lang="zh-CN" altLang="en-US" dirty="0"/>
              <a:t>成本低</a:t>
            </a:r>
            <a:endParaRPr lang="en-US" altLang="zh-CN" dirty="0"/>
          </a:p>
          <a:p>
            <a:pPr marL="285750" indent="-285750">
              <a:buFont typeface="Arial" panose="020B0604020202020204" pitchFamily="34" charset="0"/>
              <a:buChar char="•"/>
            </a:pPr>
            <a:r>
              <a:rPr lang="zh-CN" altLang="en-US" dirty="0"/>
              <a:t>信号处理简单</a:t>
            </a:r>
          </a:p>
        </p:txBody>
      </p:sp>
    </p:spTree>
    <p:extLst>
      <p:ext uri="{BB962C8B-B14F-4D97-AF65-F5344CB8AC3E}">
        <p14:creationId xmlns:p14="http://schemas.microsoft.com/office/powerpoint/2010/main" val="3579912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969459-75EE-5EB4-378C-2707DD55AB96}"/>
              </a:ext>
            </a:extLst>
          </p:cNvPr>
          <p:cNvSpPr>
            <a:spLocks noGrp="1"/>
          </p:cNvSpPr>
          <p:nvPr>
            <p:ph type="title"/>
          </p:nvPr>
        </p:nvSpPr>
        <p:spPr/>
        <p:txBody>
          <a:bodyPr/>
          <a:lstStyle/>
          <a:p>
            <a:r>
              <a:rPr lang="en-US" altLang="zh-CN" dirty="0"/>
              <a:t>FMCW</a:t>
            </a:r>
            <a:r>
              <a:rPr lang="zh-CN" altLang="en-US" dirty="0"/>
              <a:t>雷达背景</a:t>
            </a:r>
          </a:p>
        </p:txBody>
      </p:sp>
      <p:pic>
        <p:nvPicPr>
          <p:cNvPr id="4" name="内容占位符 3">
            <a:extLst>
              <a:ext uri="{FF2B5EF4-FFF2-40B4-BE49-F238E27FC236}">
                <a16:creationId xmlns:a16="http://schemas.microsoft.com/office/drawing/2014/main" id="{8D4B5769-8B00-CC78-55FA-EB1E3926334D}"/>
              </a:ext>
            </a:extLst>
          </p:cNvPr>
          <p:cNvPicPr>
            <a:picLocks noGrp="1" noChangeAspect="1"/>
          </p:cNvPicPr>
          <p:nvPr>
            <p:ph idx="1"/>
          </p:nvPr>
        </p:nvPicPr>
        <p:blipFill>
          <a:blip r:embed="rId2"/>
          <a:stretch>
            <a:fillRect/>
          </a:stretch>
        </p:blipFill>
        <p:spPr>
          <a:xfrm>
            <a:off x="606011" y="1566228"/>
            <a:ext cx="4409400" cy="2729628"/>
          </a:xfrm>
          <a:prstGeom prst="rect">
            <a:avLst/>
          </a:prstGeom>
        </p:spPr>
      </p:pic>
      <p:sp>
        <p:nvSpPr>
          <p:cNvPr id="8" name="文本框 7">
            <a:extLst>
              <a:ext uri="{FF2B5EF4-FFF2-40B4-BE49-F238E27FC236}">
                <a16:creationId xmlns:a16="http://schemas.microsoft.com/office/drawing/2014/main" id="{E6AEA51E-8DB6-B2A3-3E2E-051B07F1C220}"/>
              </a:ext>
            </a:extLst>
          </p:cNvPr>
          <p:cNvSpPr txBox="1"/>
          <p:nvPr/>
        </p:nvSpPr>
        <p:spPr>
          <a:xfrm>
            <a:off x="1513659" y="4348471"/>
            <a:ext cx="2215787" cy="369332"/>
          </a:xfrm>
          <a:prstGeom prst="rect">
            <a:avLst/>
          </a:prstGeom>
          <a:noFill/>
        </p:spPr>
        <p:txBody>
          <a:bodyPr wrap="square">
            <a:spAutoFit/>
          </a:bodyPr>
          <a:lstStyle/>
          <a:p>
            <a:r>
              <a:rPr lang="en-US" altLang="zh-CN" dirty="0"/>
              <a:t>FMCW</a:t>
            </a:r>
            <a:r>
              <a:rPr lang="zh-CN" altLang="en-US" dirty="0"/>
              <a:t>雷达简化框图</a:t>
            </a:r>
          </a:p>
        </p:txBody>
      </p:sp>
      <p:pic>
        <p:nvPicPr>
          <p:cNvPr id="10" name="图片 9">
            <a:extLst>
              <a:ext uri="{FF2B5EF4-FFF2-40B4-BE49-F238E27FC236}">
                <a16:creationId xmlns:a16="http://schemas.microsoft.com/office/drawing/2014/main" id="{EADD591D-149C-3F4E-37CB-C5DF3BE2A6F4}"/>
              </a:ext>
            </a:extLst>
          </p:cNvPr>
          <p:cNvPicPr>
            <a:picLocks noChangeAspect="1"/>
          </p:cNvPicPr>
          <p:nvPr/>
        </p:nvPicPr>
        <p:blipFill>
          <a:blip r:embed="rId3"/>
          <a:stretch>
            <a:fillRect/>
          </a:stretch>
        </p:blipFill>
        <p:spPr>
          <a:xfrm>
            <a:off x="796939" y="5364872"/>
            <a:ext cx="3649225" cy="400601"/>
          </a:xfrm>
          <a:prstGeom prst="rect">
            <a:avLst/>
          </a:prstGeom>
        </p:spPr>
      </p:pic>
      <p:sp>
        <p:nvSpPr>
          <p:cNvPr id="13" name="文本框 12">
            <a:extLst>
              <a:ext uri="{FF2B5EF4-FFF2-40B4-BE49-F238E27FC236}">
                <a16:creationId xmlns:a16="http://schemas.microsoft.com/office/drawing/2014/main" id="{506B1CA9-D95D-C2C6-07F9-E3809629B8C2}"/>
              </a:ext>
            </a:extLst>
          </p:cNvPr>
          <p:cNvSpPr txBox="1"/>
          <p:nvPr/>
        </p:nvSpPr>
        <p:spPr>
          <a:xfrm>
            <a:off x="411479" y="4995540"/>
            <a:ext cx="1521823" cy="369332"/>
          </a:xfrm>
          <a:prstGeom prst="rect">
            <a:avLst/>
          </a:prstGeom>
          <a:noFill/>
        </p:spPr>
        <p:txBody>
          <a:bodyPr wrap="square" rtlCol="0">
            <a:spAutoFit/>
          </a:bodyPr>
          <a:lstStyle/>
          <a:p>
            <a:r>
              <a:rPr lang="zh-CN" altLang="en-US" dirty="0"/>
              <a:t>发射信号</a:t>
            </a:r>
          </a:p>
        </p:txBody>
      </p:sp>
      <p:sp>
        <p:nvSpPr>
          <p:cNvPr id="14" name="文本框 13">
            <a:extLst>
              <a:ext uri="{FF2B5EF4-FFF2-40B4-BE49-F238E27FC236}">
                <a16:creationId xmlns:a16="http://schemas.microsoft.com/office/drawing/2014/main" id="{D03FEA5C-50EF-F836-F1F2-F062BC823118}"/>
              </a:ext>
            </a:extLst>
          </p:cNvPr>
          <p:cNvSpPr txBox="1"/>
          <p:nvPr/>
        </p:nvSpPr>
        <p:spPr>
          <a:xfrm>
            <a:off x="4820195" y="3520440"/>
            <a:ext cx="1136468" cy="369332"/>
          </a:xfrm>
          <a:prstGeom prst="rect">
            <a:avLst/>
          </a:prstGeom>
          <a:noFill/>
        </p:spPr>
        <p:txBody>
          <a:bodyPr wrap="square" rtlCol="0">
            <a:spAutoFit/>
          </a:bodyPr>
          <a:lstStyle/>
          <a:p>
            <a:r>
              <a:rPr lang="zh-CN" altLang="en-US" dirty="0"/>
              <a:t>信号处理</a:t>
            </a:r>
          </a:p>
        </p:txBody>
      </p:sp>
    </p:spTree>
    <p:extLst>
      <p:ext uri="{BB962C8B-B14F-4D97-AF65-F5344CB8AC3E}">
        <p14:creationId xmlns:p14="http://schemas.microsoft.com/office/powerpoint/2010/main" val="394948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647DC6-39D2-B5C8-BD7B-D71BDC1D89F5}"/>
              </a:ext>
            </a:extLst>
          </p:cNvPr>
          <p:cNvSpPr>
            <a:spLocks noGrp="1"/>
          </p:cNvSpPr>
          <p:nvPr>
            <p:ph type="title"/>
          </p:nvPr>
        </p:nvSpPr>
        <p:spPr>
          <a:xfrm>
            <a:off x="3340100" y="1743075"/>
            <a:ext cx="4730750" cy="1325563"/>
          </a:xfrm>
        </p:spPr>
        <p:txBody>
          <a:bodyPr/>
          <a:lstStyle/>
          <a:p>
            <a:pPr algn="ctr"/>
            <a:r>
              <a:rPr lang="zh-CN" altLang="en-US" dirty="0"/>
              <a:t>电路、理论分析</a:t>
            </a:r>
          </a:p>
        </p:txBody>
      </p:sp>
    </p:spTree>
    <p:extLst>
      <p:ext uri="{BB962C8B-B14F-4D97-AF65-F5344CB8AC3E}">
        <p14:creationId xmlns:p14="http://schemas.microsoft.com/office/powerpoint/2010/main" val="134870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8552EE-30E9-C1E0-6BB6-9C5E02030BC4}"/>
              </a:ext>
            </a:extLst>
          </p:cNvPr>
          <p:cNvSpPr>
            <a:spLocks noGrp="1"/>
          </p:cNvSpPr>
          <p:nvPr>
            <p:ph type="title"/>
          </p:nvPr>
        </p:nvSpPr>
        <p:spPr/>
        <p:txBody>
          <a:bodyPr/>
          <a:lstStyle/>
          <a:p>
            <a:r>
              <a:rPr lang="zh-CN" altLang="en-US" dirty="0"/>
              <a:t>发射信号</a:t>
            </a:r>
          </a:p>
        </p:txBody>
      </p:sp>
      <p:pic>
        <p:nvPicPr>
          <p:cNvPr id="8" name="图片 7">
            <a:extLst>
              <a:ext uri="{FF2B5EF4-FFF2-40B4-BE49-F238E27FC236}">
                <a16:creationId xmlns:a16="http://schemas.microsoft.com/office/drawing/2014/main" id="{3607EFBA-62C3-E275-CA81-A05111107E0F}"/>
              </a:ext>
            </a:extLst>
          </p:cNvPr>
          <p:cNvPicPr>
            <a:picLocks noChangeAspect="1"/>
          </p:cNvPicPr>
          <p:nvPr/>
        </p:nvPicPr>
        <p:blipFill>
          <a:blip r:embed="rId2"/>
          <a:stretch>
            <a:fillRect/>
          </a:stretch>
        </p:blipFill>
        <p:spPr>
          <a:xfrm>
            <a:off x="1021197" y="1980509"/>
            <a:ext cx="1665927" cy="454344"/>
          </a:xfrm>
          <a:prstGeom prst="rect">
            <a:avLst/>
          </a:prstGeom>
        </p:spPr>
      </p:pic>
      <p:pic>
        <p:nvPicPr>
          <p:cNvPr id="10" name="图片 9">
            <a:extLst>
              <a:ext uri="{FF2B5EF4-FFF2-40B4-BE49-F238E27FC236}">
                <a16:creationId xmlns:a16="http://schemas.microsoft.com/office/drawing/2014/main" id="{A73516FA-ED87-3131-3420-59EC1DD7FE82}"/>
              </a:ext>
            </a:extLst>
          </p:cNvPr>
          <p:cNvPicPr>
            <a:picLocks noChangeAspect="1"/>
          </p:cNvPicPr>
          <p:nvPr/>
        </p:nvPicPr>
        <p:blipFill>
          <a:blip r:embed="rId3"/>
          <a:stretch>
            <a:fillRect/>
          </a:stretch>
        </p:blipFill>
        <p:spPr>
          <a:xfrm>
            <a:off x="3260990" y="1501940"/>
            <a:ext cx="4059571" cy="1411481"/>
          </a:xfrm>
          <a:prstGeom prst="rect">
            <a:avLst/>
          </a:prstGeom>
        </p:spPr>
      </p:pic>
      <p:pic>
        <p:nvPicPr>
          <p:cNvPr id="12" name="图片 11">
            <a:extLst>
              <a:ext uri="{FF2B5EF4-FFF2-40B4-BE49-F238E27FC236}">
                <a16:creationId xmlns:a16="http://schemas.microsoft.com/office/drawing/2014/main" id="{3512CFD2-6823-D806-C38C-663640F2DBBB}"/>
              </a:ext>
            </a:extLst>
          </p:cNvPr>
          <p:cNvPicPr>
            <a:picLocks noChangeAspect="1"/>
          </p:cNvPicPr>
          <p:nvPr/>
        </p:nvPicPr>
        <p:blipFill>
          <a:blip r:embed="rId4"/>
          <a:stretch>
            <a:fillRect/>
          </a:stretch>
        </p:blipFill>
        <p:spPr>
          <a:xfrm>
            <a:off x="430070" y="4307701"/>
            <a:ext cx="2697175" cy="885011"/>
          </a:xfrm>
          <a:prstGeom prst="rect">
            <a:avLst/>
          </a:prstGeom>
        </p:spPr>
      </p:pic>
      <p:pic>
        <p:nvPicPr>
          <p:cNvPr id="14" name="图片 13">
            <a:extLst>
              <a:ext uri="{FF2B5EF4-FFF2-40B4-BE49-F238E27FC236}">
                <a16:creationId xmlns:a16="http://schemas.microsoft.com/office/drawing/2014/main" id="{FB9ED3E0-E3FA-FF7C-EEAF-4E5FCB5E6BB0}"/>
              </a:ext>
            </a:extLst>
          </p:cNvPr>
          <p:cNvPicPr>
            <a:picLocks noChangeAspect="1"/>
          </p:cNvPicPr>
          <p:nvPr/>
        </p:nvPicPr>
        <p:blipFill>
          <a:blip r:embed="rId5"/>
          <a:stretch>
            <a:fillRect/>
          </a:stretch>
        </p:blipFill>
        <p:spPr>
          <a:xfrm>
            <a:off x="3756244" y="5074132"/>
            <a:ext cx="3069061" cy="1510553"/>
          </a:xfrm>
          <a:prstGeom prst="rect">
            <a:avLst/>
          </a:prstGeom>
        </p:spPr>
      </p:pic>
      <p:pic>
        <p:nvPicPr>
          <p:cNvPr id="16" name="图片 15">
            <a:extLst>
              <a:ext uri="{FF2B5EF4-FFF2-40B4-BE49-F238E27FC236}">
                <a16:creationId xmlns:a16="http://schemas.microsoft.com/office/drawing/2014/main" id="{167CB230-6119-FAF5-B041-5C609773269B}"/>
              </a:ext>
            </a:extLst>
          </p:cNvPr>
          <p:cNvPicPr>
            <a:picLocks noChangeAspect="1"/>
          </p:cNvPicPr>
          <p:nvPr/>
        </p:nvPicPr>
        <p:blipFill>
          <a:blip r:embed="rId6"/>
          <a:stretch>
            <a:fillRect/>
          </a:stretch>
        </p:blipFill>
        <p:spPr>
          <a:xfrm>
            <a:off x="3260990" y="3521911"/>
            <a:ext cx="4059571" cy="1405728"/>
          </a:xfrm>
          <a:prstGeom prst="rect">
            <a:avLst/>
          </a:prstGeom>
        </p:spPr>
      </p:pic>
      <p:pic>
        <p:nvPicPr>
          <p:cNvPr id="4" name="图片 3">
            <a:extLst>
              <a:ext uri="{FF2B5EF4-FFF2-40B4-BE49-F238E27FC236}">
                <a16:creationId xmlns:a16="http://schemas.microsoft.com/office/drawing/2014/main" id="{2F24882E-BF22-B3C5-3670-B912CCCE63EE}"/>
              </a:ext>
            </a:extLst>
          </p:cNvPr>
          <p:cNvPicPr>
            <a:picLocks noChangeAspect="1"/>
          </p:cNvPicPr>
          <p:nvPr/>
        </p:nvPicPr>
        <p:blipFill>
          <a:blip r:embed="rId7"/>
          <a:stretch>
            <a:fillRect/>
          </a:stretch>
        </p:blipFill>
        <p:spPr>
          <a:xfrm>
            <a:off x="7853540" y="765943"/>
            <a:ext cx="3230167" cy="2224687"/>
          </a:xfrm>
          <a:prstGeom prst="rect">
            <a:avLst/>
          </a:prstGeom>
        </p:spPr>
      </p:pic>
      <p:pic>
        <p:nvPicPr>
          <p:cNvPr id="6" name="图片 5">
            <a:extLst>
              <a:ext uri="{FF2B5EF4-FFF2-40B4-BE49-F238E27FC236}">
                <a16:creationId xmlns:a16="http://schemas.microsoft.com/office/drawing/2014/main" id="{0A544739-A4D5-6359-6F61-D315703FBA27}"/>
              </a:ext>
            </a:extLst>
          </p:cNvPr>
          <p:cNvPicPr>
            <a:picLocks noChangeAspect="1"/>
          </p:cNvPicPr>
          <p:nvPr/>
        </p:nvPicPr>
        <p:blipFill>
          <a:blip r:embed="rId8"/>
          <a:stretch>
            <a:fillRect/>
          </a:stretch>
        </p:blipFill>
        <p:spPr>
          <a:xfrm>
            <a:off x="7787159" y="2983313"/>
            <a:ext cx="2697175" cy="1884404"/>
          </a:xfrm>
          <a:prstGeom prst="rect">
            <a:avLst/>
          </a:prstGeom>
        </p:spPr>
      </p:pic>
      <p:pic>
        <p:nvPicPr>
          <p:cNvPr id="9" name="图片 8">
            <a:extLst>
              <a:ext uri="{FF2B5EF4-FFF2-40B4-BE49-F238E27FC236}">
                <a16:creationId xmlns:a16="http://schemas.microsoft.com/office/drawing/2014/main" id="{B457F401-3103-00CB-C79B-86D63798EF84}"/>
              </a:ext>
            </a:extLst>
          </p:cNvPr>
          <p:cNvPicPr>
            <a:picLocks noChangeAspect="1"/>
          </p:cNvPicPr>
          <p:nvPr/>
        </p:nvPicPr>
        <p:blipFill>
          <a:blip r:embed="rId9"/>
          <a:stretch>
            <a:fillRect/>
          </a:stretch>
        </p:blipFill>
        <p:spPr>
          <a:xfrm>
            <a:off x="8083302" y="4927639"/>
            <a:ext cx="2697176" cy="1659238"/>
          </a:xfrm>
          <a:prstGeom prst="rect">
            <a:avLst/>
          </a:prstGeom>
        </p:spPr>
      </p:pic>
    </p:spTree>
    <p:extLst>
      <p:ext uri="{BB962C8B-B14F-4D97-AF65-F5344CB8AC3E}">
        <p14:creationId xmlns:p14="http://schemas.microsoft.com/office/powerpoint/2010/main" val="607945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FABD2B-8391-491F-6E81-2DD4F4334104}"/>
              </a:ext>
            </a:extLst>
          </p:cNvPr>
          <p:cNvSpPr>
            <a:spLocks noGrp="1"/>
          </p:cNvSpPr>
          <p:nvPr>
            <p:ph type="title"/>
          </p:nvPr>
        </p:nvSpPr>
        <p:spPr/>
        <p:txBody>
          <a:bodyPr/>
          <a:lstStyle/>
          <a:p>
            <a:r>
              <a:rPr lang="zh-CN" altLang="en-US" dirty="0"/>
              <a:t>接收信号</a:t>
            </a:r>
          </a:p>
        </p:txBody>
      </p:sp>
      <p:pic>
        <p:nvPicPr>
          <p:cNvPr id="5" name="图片 4">
            <a:extLst>
              <a:ext uri="{FF2B5EF4-FFF2-40B4-BE49-F238E27FC236}">
                <a16:creationId xmlns:a16="http://schemas.microsoft.com/office/drawing/2014/main" id="{51C3CEB0-10D4-CFF3-6763-837DADCDFE20}"/>
              </a:ext>
            </a:extLst>
          </p:cNvPr>
          <p:cNvPicPr>
            <a:picLocks noChangeAspect="1"/>
          </p:cNvPicPr>
          <p:nvPr/>
        </p:nvPicPr>
        <p:blipFill>
          <a:blip r:embed="rId2"/>
          <a:stretch>
            <a:fillRect/>
          </a:stretch>
        </p:blipFill>
        <p:spPr>
          <a:xfrm>
            <a:off x="919302" y="1863774"/>
            <a:ext cx="2238095" cy="780952"/>
          </a:xfrm>
          <a:prstGeom prst="rect">
            <a:avLst/>
          </a:prstGeom>
        </p:spPr>
      </p:pic>
      <p:pic>
        <p:nvPicPr>
          <p:cNvPr id="7" name="图片 6">
            <a:extLst>
              <a:ext uri="{FF2B5EF4-FFF2-40B4-BE49-F238E27FC236}">
                <a16:creationId xmlns:a16="http://schemas.microsoft.com/office/drawing/2014/main" id="{1EE3D627-027B-F73B-EBC9-7E837587D437}"/>
              </a:ext>
            </a:extLst>
          </p:cNvPr>
          <p:cNvPicPr>
            <a:picLocks noChangeAspect="1"/>
          </p:cNvPicPr>
          <p:nvPr/>
        </p:nvPicPr>
        <p:blipFill>
          <a:blip r:embed="rId3"/>
          <a:stretch>
            <a:fillRect/>
          </a:stretch>
        </p:blipFill>
        <p:spPr>
          <a:xfrm>
            <a:off x="838200" y="3089305"/>
            <a:ext cx="4580952" cy="476190"/>
          </a:xfrm>
          <a:prstGeom prst="rect">
            <a:avLst/>
          </a:prstGeom>
        </p:spPr>
      </p:pic>
    </p:spTree>
    <p:extLst>
      <p:ext uri="{BB962C8B-B14F-4D97-AF65-F5344CB8AC3E}">
        <p14:creationId xmlns:p14="http://schemas.microsoft.com/office/powerpoint/2010/main" val="371808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AEAFC1-E58A-04BA-45F5-2BB4C547A2A9}"/>
              </a:ext>
            </a:extLst>
          </p:cNvPr>
          <p:cNvSpPr>
            <a:spLocks noGrp="1"/>
          </p:cNvSpPr>
          <p:nvPr>
            <p:ph type="title"/>
          </p:nvPr>
        </p:nvSpPr>
        <p:spPr/>
        <p:txBody>
          <a:bodyPr/>
          <a:lstStyle/>
          <a:p>
            <a:r>
              <a:rPr lang="zh-CN" altLang="en-US" dirty="0"/>
              <a:t>中频信号</a:t>
            </a:r>
          </a:p>
        </p:txBody>
      </p:sp>
      <p:pic>
        <p:nvPicPr>
          <p:cNvPr id="5" name="图片 4">
            <a:extLst>
              <a:ext uri="{FF2B5EF4-FFF2-40B4-BE49-F238E27FC236}">
                <a16:creationId xmlns:a16="http://schemas.microsoft.com/office/drawing/2014/main" id="{3A18B33F-598C-A2B2-4EF4-E8FC632A6E79}"/>
              </a:ext>
            </a:extLst>
          </p:cNvPr>
          <p:cNvPicPr>
            <a:picLocks noChangeAspect="1"/>
          </p:cNvPicPr>
          <p:nvPr/>
        </p:nvPicPr>
        <p:blipFill>
          <a:blip r:embed="rId2"/>
          <a:stretch>
            <a:fillRect/>
          </a:stretch>
        </p:blipFill>
        <p:spPr>
          <a:xfrm>
            <a:off x="929059" y="1790778"/>
            <a:ext cx="5952381" cy="1257143"/>
          </a:xfrm>
          <a:prstGeom prst="rect">
            <a:avLst/>
          </a:prstGeom>
        </p:spPr>
      </p:pic>
      <p:sp>
        <p:nvSpPr>
          <p:cNvPr id="9" name="文本框 8">
            <a:extLst>
              <a:ext uri="{FF2B5EF4-FFF2-40B4-BE49-F238E27FC236}">
                <a16:creationId xmlns:a16="http://schemas.microsoft.com/office/drawing/2014/main" id="{D9B6C35F-BEE9-8D3A-CB92-A6A2DF7E1DE8}"/>
              </a:ext>
            </a:extLst>
          </p:cNvPr>
          <p:cNvSpPr txBox="1"/>
          <p:nvPr/>
        </p:nvSpPr>
        <p:spPr>
          <a:xfrm>
            <a:off x="1339849" y="3047921"/>
            <a:ext cx="2565400" cy="939036"/>
          </a:xfrm>
          <a:prstGeom prst="rect">
            <a:avLst/>
          </a:prstGeom>
          <a:noFill/>
        </p:spPr>
        <p:txBody>
          <a:bodyPr wrap="square">
            <a:spAutoFit/>
          </a:bodyPr>
          <a:lstStyle/>
          <a:p>
            <a:r>
              <a:rPr lang="zh-CN" altLang="en-US" dirty="0"/>
              <a:t>在相对低的采样率下，高频信号在欠采样的情况下会被过滤掉</a:t>
            </a:r>
          </a:p>
        </p:txBody>
      </p:sp>
      <p:pic>
        <p:nvPicPr>
          <p:cNvPr id="11" name="图片 10">
            <a:extLst>
              <a:ext uri="{FF2B5EF4-FFF2-40B4-BE49-F238E27FC236}">
                <a16:creationId xmlns:a16="http://schemas.microsoft.com/office/drawing/2014/main" id="{946481ED-03F2-1E02-3180-FE7E51609411}"/>
              </a:ext>
            </a:extLst>
          </p:cNvPr>
          <p:cNvPicPr>
            <a:picLocks noChangeAspect="1"/>
          </p:cNvPicPr>
          <p:nvPr/>
        </p:nvPicPr>
        <p:blipFill>
          <a:blip r:embed="rId3"/>
          <a:stretch>
            <a:fillRect/>
          </a:stretch>
        </p:blipFill>
        <p:spPr>
          <a:xfrm>
            <a:off x="4102338" y="3986957"/>
            <a:ext cx="2565400" cy="442532"/>
          </a:xfrm>
          <a:prstGeom prst="rect">
            <a:avLst/>
          </a:prstGeom>
        </p:spPr>
      </p:pic>
      <p:cxnSp>
        <p:nvCxnSpPr>
          <p:cNvPr id="13" name="直接箭头连接符 12">
            <a:extLst>
              <a:ext uri="{FF2B5EF4-FFF2-40B4-BE49-F238E27FC236}">
                <a16:creationId xmlns:a16="http://schemas.microsoft.com/office/drawing/2014/main" id="{49835077-2DCF-1B36-4EA2-7442C112E546}"/>
              </a:ext>
            </a:extLst>
          </p:cNvPr>
          <p:cNvCxnSpPr>
            <a:cxnSpLocks/>
          </p:cNvCxnSpPr>
          <p:nvPr/>
        </p:nvCxnSpPr>
        <p:spPr>
          <a:xfrm>
            <a:off x="5334000" y="2957324"/>
            <a:ext cx="0" cy="1029633"/>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441189DD-D71C-4E00-BC08-4914E03E7FEF}"/>
              </a:ext>
            </a:extLst>
          </p:cNvPr>
          <p:cNvSpPr txBox="1"/>
          <p:nvPr/>
        </p:nvSpPr>
        <p:spPr>
          <a:xfrm>
            <a:off x="6667738" y="4028901"/>
            <a:ext cx="1860312" cy="369332"/>
          </a:xfrm>
          <a:prstGeom prst="rect">
            <a:avLst/>
          </a:prstGeom>
          <a:noFill/>
        </p:spPr>
        <p:txBody>
          <a:bodyPr wrap="square" rtlCol="0">
            <a:spAutoFit/>
          </a:bodyPr>
          <a:lstStyle/>
          <a:p>
            <a:r>
              <a:rPr lang="zh-CN" altLang="en-US" dirty="0"/>
              <a:t>得到的中频信号</a:t>
            </a:r>
          </a:p>
        </p:txBody>
      </p:sp>
    </p:spTree>
    <p:extLst>
      <p:ext uri="{BB962C8B-B14F-4D97-AF65-F5344CB8AC3E}">
        <p14:creationId xmlns:p14="http://schemas.microsoft.com/office/powerpoint/2010/main" val="1051004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6FBDB3-922F-D339-61B6-772F6D05BABC}"/>
              </a:ext>
            </a:extLst>
          </p:cNvPr>
          <p:cNvSpPr>
            <a:spLocks noGrp="1"/>
          </p:cNvSpPr>
          <p:nvPr>
            <p:ph type="title"/>
          </p:nvPr>
        </p:nvSpPr>
        <p:spPr/>
        <p:txBody>
          <a:bodyPr/>
          <a:lstStyle/>
          <a:p>
            <a:r>
              <a:rPr lang="zh-CN" altLang="en-US" dirty="0"/>
              <a:t>信号处理</a:t>
            </a:r>
          </a:p>
        </p:txBody>
      </p:sp>
      <p:pic>
        <p:nvPicPr>
          <p:cNvPr id="4" name="图片 3">
            <a:extLst>
              <a:ext uri="{FF2B5EF4-FFF2-40B4-BE49-F238E27FC236}">
                <a16:creationId xmlns:a16="http://schemas.microsoft.com/office/drawing/2014/main" id="{29B060F7-223A-1D85-752D-9A8DDBDD240C}"/>
              </a:ext>
            </a:extLst>
          </p:cNvPr>
          <p:cNvPicPr>
            <a:picLocks noChangeAspect="1"/>
          </p:cNvPicPr>
          <p:nvPr/>
        </p:nvPicPr>
        <p:blipFill>
          <a:blip r:embed="rId2"/>
          <a:stretch>
            <a:fillRect/>
          </a:stretch>
        </p:blipFill>
        <p:spPr>
          <a:xfrm>
            <a:off x="680449" y="2719264"/>
            <a:ext cx="3788991" cy="663442"/>
          </a:xfrm>
          <a:prstGeom prst="rect">
            <a:avLst/>
          </a:prstGeom>
        </p:spPr>
      </p:pic>
      <p:sp>
        <p:nvSpPr>
          <p:cNvPr id="5" name="文本框 4">
            <a:extLst>
              <a:ext uri="{FF2B5EF4-FFF2-40B4-BE49-F238E27FC236}">
                <a16:creationId xmlns:a16="http://schemas.microsoft.com/office/drawing/2014/main" id="{15B48691-BEC7-F91D-FA81-F8595CFB8AA4}"/>
              </a:ext>
            </a:extLst>
          </p:cNvPr>
          <p:cNvSpPr txBox="1"/>
          <p:nvPr/>
        </p:nvSpPr>
        <p:spPr>
          <a:xfrm>
            <a:off x="2019300" y="2241766"/>
            <a:ext cx="1606550" cy="369332"/>
          </a:xfrm>
          <a:prstGeom prst="rect">
            <a:avLst/>
          </a:prstGeom>
          <a:noFill/>
        </p:spPr>
        <p:txBody>
          <a:bodyPr wrap="square" rtlCol="0">
            <a:spAutoFit/>
          </a:bodyPr>
          <a:lstStyle/>
          <a:p>
            <a:r>
              <a:rPr lang="zh-CN" altLang="en-US" dirty="0"/>
              <a:t>理论上</a:t>
            </a:r>
          </a:p>
        </p:txBody>
      </p:sp>
      <p:pic>
        <p:nvPicPr>
          <p:cNvPr id="7" name="图片 6">
            <a:extLst>
              <a:ext uri="{FF2B5EF4-FFF2-40B4-BE49-F238E27FC236}">
                <a16:creationId xmlns:a16="http://schemas.microsoft.com/office/drawing/2014/main" id="{2EC6E569-94BD-3EA2-1B9A-AB9EDEB74AF0}"/>
              </a:ext>
            </a:extLst>
          </p:cNvPr>
          <p:cNvPicPr>
            <a:picLocks noChangeAspect="1"/>
          </p:cNvPicPr>
          <p:nvPr/>
        </p:nvPicPr>
        <p:blipFill>
          <a:blip r:embed="rId3"/>
          <a:stretch>
            <a:fillRect/>
          </a:stretch>
        </p:blipFill>
        <p:spPr>
          <a:xfrm>
            <a:off x="1271864" y="3490872"/>
            <a:ext cx="2119035" cy="2442586"/>
          </a:xfrm>
          <a:prstGeom prst="rect">
            <a:avLst/>
          </a:prstGeom>
        </p:spPr>
      </p:pic>
      <p:sp>
        <p:nvSpPr>
          <p:cNvPr id="8" name="文本框 7">
            <a:extLst>
              <a:ext uri="{FF2B5EF4-FFF2-40B4-BE49-F238E27FC236}">
                <a16:creationId xmlns:a16="http://schemas.microsoft.com/office/drawing/2014/main" id="{904C9428-4B2E-0140-1062-51A841511FF0}"/>
              </a:ext>
            </a:extLst>
          </p:cNvPr>
          <p:cNvSpPr txBox="1"/>
          <p:nvPr/>
        </p:nvSpPr>
        <p:spPr>
          <a:xfrm>
            <a:off x="6311900" y="2241766"/>
            <a:ext cx="1606550" cy="369332"/>
          </a:xfrm>
          <a:prstGeom prst="rect">
            <a:avLst/>
          </a:prstGeom>
          <a:noFill/>
        </p:spPr>
        <p:txBody>
          <a:bodyPr wrap="square" rtlCol="0">
            <a:spAutoFit/>
          </a:bodyPr>
          <a:lstStyle/>
          <a:p>
            <a:r>
              <a:rPr lang="zh-CN" altLang="en-US" dirty="0"/>
              <a:t>实际上</a:t>
            </a:r>
          </a:p>
        </p:txBody>
      </p:sp>
      <p:pic>
        <p:nvPicPr>
          <p:cNvPr id="9" name="图片 8">
            <a:extLst>
              <a:ext uri="{FF2B5EF4-FFF2-40B4-BE49-F238E27FC236}">
                <a16:creationId xmlns:a16="http://schemas.microsoft.com/office/drawing/2014/main" id="{63EC2EC1-5C7C-1EC1-FBD7-DFE9E6A9AB96}"/>
              </a:ext>
            </a:extLst>
          </p:cNvPr>
          <p:cNvPicPr>
            <a:picLocks noChangeAspect="1"/>
          </p:cNvPicPr>
          <p:nvPr/>
        </p:nvPicPr>
        <p:blipFill>
          <a:blip r:embed="rId4"/>
          <a:stretch>
            <a:fillRect/>
          </a:stretch>
        </p:blipFill>
        <p:spPr>
          <a:xfrm>
            <a:off x="3245088" y="1506212"/>
            <a:ext cx="2565400" cy="442532"/>
          </a:xfrm>
          <a:prstGeom prst="rect">
            <a:avLst/>
          </a:prstGeom>
        </p:spPr>
      </p:pic>
      <p:pic>
        <p:nvPicPr>
          <p:cNvPr id="12" name="图片 11">
            <a:extLst>
              <a:ext uri="{FF2B5EF4-FFF2-40B4-BE49-F238E27FC236}">
                <a16:creationId xmlns:a16="http://schemas.microsoft.com/office/drawing/2014/main" id="{F4EF5583-6A90-E826-F068-7F8CBBCE3AC7}"/>
              </a:ext>
            </a:extLst>
          </p:cNvPr>
          <p:cNvPicPr>
            <a:picLocks noChangeAspect="1"/>
          </p:cNvPicPr>
          <p:nvPr/>
        </p:nvPicPr>
        <p:blipFill>
          <a:blip r:embed="rId5"/>
          <a:stretch>
            <a:fillRect/>
          </a:stretch>
        </p:blipFill>
        <p:spPr>
          <a:xfrm>
            <a:off x="5434326" y="3270194"/>
            <a:ext cx="2884174" cy="366678"/>
          </a:xfrm>
          <a:prstGeom prst="rect">
            <a:avLst/>
          </a:prstGeom>
        </p:spPr>
      </p:pic>
      <p:sp>
        <p:nvSpPr>
          <p:cNvPr id="13" name="文本框 12">
            <a:extLst>
              <a:ext uri="{FF2B5EF4-FFF2-40B4-BE49-F238E27FC236}">
                <a16:creationId xmlns:a16="http://schemas.microsoft.com/office/drawing/2014/main" id="{E679D471-F9F5-FC3B-D765-92668A9B4D11}"/>
              </a:ext>
            </a:extLst>
          </p:cNvPr>
          <p:cNvSpPr txBox="1"/>
          <p:nvPr/>
        </p:nvSpPr>
        <p:spPr>
          <a:xfrm>
            <a:off x="5434326" y="2732029"/>
            <a:ext cx="2288236" cy="366679"/>
          </a:xfrm>
          <a:prstGeom prst="rect">
            <a:avLst/>
          </a:prstGeom>
          <a:noFill/>
        </p:spPr>
        <p:txBody>
          <a:bodyPr wrap="square" rtlCol="0">
            <a:spAutoFit/>
          </a:bodyPr>
          <a:lstStyle/>
          <a:p>
            <a:r>
              <a:rPr lang="zh-CN" altLang="en-US" dirty="0"/>
              <a:t>基本傅里叶变换对</a:t>
            </a:r>
          </a:p>
        </p:txBody>
      </p:sp>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EB9DA948-E069-8BCE-947A-90819B5BFA19}"/>
                  </a:ext>
                </a:extLst>
              </p:cNvPr>
              <p:cNvSpPr txBox="1"/>
              <p:nvPr/>
            </p:nvSpPr>
            <p:spPr>
              <a:xfrm>
                <a:off x="5434326" y="3842251"/>
                <a:ext cx="2288236" cy="369332"/>
              </a:xfrm>
              <a:prstGeom prst="rect">
                <a:avLst/>
              </a:prstGeom>
              <a:noFill/>
            </p:spPr>
            <p:txBody>
              <a:bodyPr wrap="square" rtlCol="0">
                <a:spAutoFit/>
              </a:bodyPr>
              <a:lstStyle/>
              <a:p>
                <a:r>
                  <a:rPr lang="zh-CN" altLang="en-US" dirty="0"/>
                  <a:t>找到</a:t>
                </a:r>
                <a14:m>
                  <m:oMath xmlns:m="http://schemas.openxmlformats.org/officeDocument/2006/math">
                    <m:sSub>
                      <m:sSubPr>
                        <m:ctrlPr>
                          <a:rPr lang="en-US" altLang="zh-CN" b="0" i="1" smtClean="0">
                            <a:latin typeface="Cambria Math" panose="02040503050406030204" pitchFamily="18" charset="0"/>
                          </a:rPr>
                        </m:ctrlPr>
                      </m:sSubPr>
                      <m:e>
                        <m:r>
                          <a:rPr lang="zh-CN" altLang="en-US" i="1" smtClean="0">
                            <a:latin typeface="Cambria Math" panose="02040503050406030204" pitchFamily="18" charset="0"/>
                          </a:rPr>
                          <m:t>𝜔</m:t>
                        </m:r>
                      </m:e>
                      <m:sub>
                        <m:r>
                          <a:rPr lang="en-US" altLang="zh-CN" b="0" i="1" smtClean="0">
                            <a:latin typeface="Cambria Math" panose="02040503050406030204" pitchFamily="18" charset="0"/>
                          </a:rPr>
                          <m:t>0</m:t>
                        </m:r>
                      </m:sub>
                    </m:sSub>
                  </m:oMath>
                </a14:m>
                <a:endParaRPr lang="zh-CN" altLang="en-US" dirty="0"/>
              </a:p>
            </p:txBody>
          </p:sp>
        </mc:Choice>
        <mc:Fallback>
          <p:sp>
            <p:nvSpPr>
              <p:cNvPr id="14" name="文本框 13">
                <a:extLst>
                  <a:ext uri="{FF2B5EF4-FFF2-40B4-BE49-F238E27FC236}">
                    <a16:creationId xmlns:a16="http://schemas.microsoft.com/office/drawing/2014/main" id="{EB9DA948-E069-8BCE-947A-90819B5BFA19}"/>
                  </a:ext>
                </a:extLst>
              </p:cNvPr>
              <p:cNvSpPr txBox="1">
                <a:spLocks noRot="1" noChangeAspect="1" noMove="1" noResize="1" noEditPoints="1" noAdjustHandles="1" noChangeArrowheads="1" noChangeShapeType="1" noTextEdit="1"/>
              </p:cNvSpPr>
              <p:nvPr/>
            </p:nvSpPr>
            <p:spPr>
              <a:xfrm>
                <a:off x="5434326" y="3842251"/>
                <a:ext cx="2288236" cy="369332"/>
              </a:xfrm>
              <a:prstGeom prst="rect">
                <a:avLst/>
              </a:prstGeom>
              <a:blipFill>
                <a:blip r:embed="rId6"/>
                <a:stretch>
                  <a:fillRect l="-2128" t="-8197" b="-24590"/>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546CC594-1A36-7888-AD17-EC0B6A75A073}"/>
              </a:ext>
            </a:extLst>
          </p:cNvPr>
          <p:cNvSpPr txBox="1"/>
          <p:nvPr/>
        </p:nvSpPr>
        <p:spPr>
          <a:xfrm>
            <a:off x="5434326" y="4493549"/>
            <a:ext cx="3766824" cy="369332"/>
          </a:xfrm>
          <a:prstGeom prst="rect">
            <a:avLst/>
          </a:prstGeom>
          <a:noFill/>
        </p:spPr>
        <p:txBody>
          <a:bodyPr wrap="square" rtlCol="0">
            <a:spAutoFit/>
          </a:bodyPr>
          <a:lstStyle/>
          <a:p>
            <a:r>
              <a:rPr lang="zh-CN" altLang="en-US" dirty="0"/>
              <a:t>再通过距离分辨率，计算距离</a:t>
            </a:r>
          </a:p>
        </p:txBody>
      </p:sp>
      <mc:AlternateContent xmlns:mc="http://schemas.openxmlformats.org/markup-compatibility/2006">
        <mc:Choice xmlns:a14="http://schemas.microsoft.com/office/drawing/2010/main" Requires="a14">
          <p:sp>
            <p:nvSpPr>
              <p:cNvPr id="16" name="文本框 15">
                <a:extLst>
                  <a:ext uri="{FF2B5EF4-FFF2-40B4-BE49-F238E27FC236}">
                    <a16:creationId xmlns:a16="http://schemas.microsoft.com/office/drawing/2014/main" id="{9F2DD68B-46C6-DB47-9A1A-07F05727B033}"/>
                  </a:ext>
                </a:extLst>
              </p:cNvPr>
              <p:cNvSpPr txBox="1"/>
              <p:nvPr/>
            </p:nvSpPr>
            <p:spPr>
              <a:xfrm>
                <a:off x="5664200" y="4812736"/>
                <a:ext cx="2273300" cy="66422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1800" i="1" kern="100" smtClean="0">
                          <a:effectLst/>
                          <a:latin typeface="Cambria Math" panose="02040503050406030204" pitchFamily="18" charset="0"/>
                          <a:ea typeface="等线" panose="02010600030101010101" pitchFamily="2" charset="-122"/>
                          <a:cs typeface="Times New Roman" panose="02020603050405020304" pitchFamily="18" charset="0"/>
                        </a:rPr>
                        <m:t>𝑅</m:t>
                      </m:r>
                      <m:r>
                        <a:rPr lang="en-US" altLang="zh-CN" sz="1800" i="1" kern="100" smtClean="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2</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𝐵</m:t>
                          </m:r>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𝑇</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𝑠</m:t>
                              </m:r>
                            </m:sub>
                          </m:sSub>
                        </m:num>
                        <m:den>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𝑁</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𝑟</m:t>
                              </m:r>
                            </m:sub>
                          </m:sSub>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𝑛</m:t>
                      </m:r>
                    </m:oMath>
                  </m:oMathPara>
                </a14:m>
                <a:endParaRPr lang="zh-CN" altLang="en-US" dirty="0"/>
              </a:p>
            </p:txBody>
          </p:sp>
        </mc:Choice>
        <mc:Fallback>
          <p:sp>
            <p:nvSpPr>
              <p:cNvPr id="16" name="文本框 15">
                <a:extLst>
                  <a:ext uri="{FF2B5EF4-FFF2-40B4-BE49-F238E27FC236}">
                    <a16:creationId xmlns:a16="http://schemas.microsoft.com/office/drawing/2014/main" id="{9F2DD68B-46C6-DB47-9A1A-07F05727B033}"/>
                  </a:ext>
                </a:extLst>
              </p:cNvPr>
              <p:cNvSpPr txBox="1">
                <a:spLocks noRot="1" noChangeAspect="1" noMove="1" noResize="1" noEditPoints="1" noAdjustHandles="1" noChangeArrowheads="1" noChangeShapeType="1" noTextEdit="1"/>
              </p:cNvSpPr>
              <p:nvPr/>
            </p:nvSpPr>
            <p:spPr>
              <a:xfrm>
                <a:off x="5664200" y="4812736"/>
                <a:ext cx="2273300" cy="664221"/>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54597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5B332D-5A7E-0C6A-2428-42700C6BAE2B}"/>
              </a:ext>
            </a:extLst>
          </p:cNvPr>
          <p:cNvSpPr>
            <a:spLocks noGrp="1"/>
          </p:cNvSpPr>
          <p:nvPr>
            <p:ph type="title"/>
          </p:nvPr>
        </p:nvSpPr>
        <p:spPr/>
        <p:txBody>
          <a:bodyPr/>
          <a:lstStyle/>
          <a:p>
            <a:r>
              <a:rPr lang="zh-CN" altLang="en-US" dirty="0"/>
              <a:t>信号处理</a:t>
            </a:r>
          </a:p>
        </p:txBody>
      </p:sp>
      <p:pic>
        <p:nvPicPr>
          <p:cNvPr id="5" name="图片 4">
            <a:extLst>
              <a:ext uri="{FF2B5EF4-FFF2-40B4-BE49-F238E27FC236}">
                <a16:creationId xmlns:a16="http://schemas.microsoft.com/office/drawing/2014/main" id="{CC57A6B6-E918-DF0C-B6F0-1699012EE8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927" y="2143016"/>
            <a:ext cx="3857473" cy="2658710"/>
          </a:xfrm>
          <a:prstGeom prst="rect">
            <a:avLst/>
          </a:prstGeom>
        </p:spPr>
      </p:pic>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F10A529C-B569-1120-0F60-FBB81B93B29B}"/>
                  </a:ext>
                </a:extLst>
              </p:cNvPr>
              <p:cNvSpPr txBox="1"/>
              <p:nvPr/>
            </p:nvSpPr>
            <p:spPr>
              <a:xfrm>
                <a:off x="5010150" y="2965450"/>
                <a:ext cx="1828800" cy="61901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𝜔</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zh-CN" altLang="en-US" b="0" i="1" smtClean="0">
                              <a:latin typeface="Cambria Math" panose="02040503050406030204" pitchFamily="18" charset="0"/>
                            </a:rPr>
                            <m:t>𝜕𝜑</m:t>
                          </m:r>
                        </m:num>
                        <m:den>
                          <m:r>
                            <a:rPr lang="zh-CN" altLang="en-US" b="0" i="1" smtClean="0">
                              <a:latin typeface="Cambria Math" panose="02040503050406030204" pitchFamily="18" charset="0"/>
                            </a:rPr>
                            <m:t>𝜕</m:t>
                          </m:r>
                          <m:r>
                            <a:rPr lang="en-US" altLang="zh-CN" b="0" i="1" smtClean="0">
                              <a:latin typeface="Cambria Math" panose="02040503050406030204" pitchFamily="18" charset="0"/>
                            </a:rPr>
                            <m:t>𝑡</m:t>
                          </m:r>
                        </m:den>
                      </m:f>
                    </m:oMath>
                  </m:oMathPara>
                </a14:m>
                <a:endParaRPr lang="zh-CN" altLang="en-US" dirty="0"/>
              </a:p>
            </p:txBody>
          </p:sp>
        </mc:Choice>
        <mc:Fallback>
          <p:sp>
            <p:nvSpPr>
              <p:cNvPr id="6" name="文本框 5">
                <a:extLst>
                  <a:ext uri="{FF2B5EF4-FFF2-40B4-BE49-F238E27FC236}">
                    <a16:creationId xmlns:a16="http://schemas.microsoft.com/office/drawing/2014/main" id="{F10A529C-B569-1120-0F60-FBB81B93B29B}"/>
                  </a:ext>
                </a:extLst>
              </p:cNvPr>
              <p:cNvSpPr txBox="1">
                <a:spLocks noRot="1" noChangeAspect="1" noMove="1" noResize="1" noEditPoints="1" noAdjustHandles="1" noChangeArrowheads="1" noChangeShapeType="1" noTextEdit="1"/>
              </p:cNvSpPr>
              <p:nvPr/>
            </p:nvSpPr>
            <p:spPr>
              <a:xfrm>
                <a:off x="5010150" y="2965450"/>
                <a:ext cx="1828800" cy="619016"/>
              </a:xfrm>
              <a:prstGeom prst="rect">
                <a:avLst/>
              </a:prstGeom>
              <a:blipFill>
                <a:blip r:embed="rId3"/>
                <a:stretch>
                  <a:fillRect/>
                </a:stretch>
              </a:blipFill>
            </p:spPr>
            <p:txBody>
              <a:bodyPr/>
              <a:lstStyle/>
              <a:p>
                <a:r>
                  <a:rPr lang="zh-CN" altLang="en-US">
                    <a:noFill/>
                  </a:rPr>
                  <a:t> </a:t>
                </a:r>
              </a:p>
            </p:txBody>
          </p:sp>
        </mc:Fallback>
      </mc:AlternateContent>
      <p:cxnSp>
        <p:nvCxnSpPr>
          <p:cNvPr id="8" name="直接箭头连接符 7">
            <a:extLst>
              <a:ext uri="{FF2B5EF4-FFF2-40B4-BE49-F238E27FC236}">
                <a16:creationId xmlns:a16="http://schemas.microsoft.com/office/drawing/2014/main" id="{086D609B-8AB7-8B6B-90D6-110BEA040D7D}"/>
              </a:ext>
            </a:extLst>
          </p:cNvPr>
          <p:cNvCxnSpPr>
            <a:stCxn id="6" idx="3"/>
          </p:cNvCxnSpPr>
          <p:nvPr/>
        </p:nvCxnSpPr>
        <p:spPr>
          <a:xfrm>
            <a:off x="6838950" y="3274958"/>
            <a:ext cx="120650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9" name="文本框 8">
            <a:extLst>
              <a:ext uri="{FF2B5EF4-FFF2-40B4-BE49-F238E27FC236}">
                <a16:creationId xmlns:a16="http://schemas.microsoft.com/office/drawing/2014/main" id="{856C78CE-47CA-94DF-FA3D-A8714702A38C}"/>
              </a:ext>
            </a:extLst>
          </p:cNvPr>
          <p:cNvSpPr txBox="1"/>
          <p:nvPr/>
        </p:nvSpPr>
        <p:spPr>
          <a:xfrm>
            <a:off x="6756400" y="2844800"/>
            <a:ext cx="1651000" cy="369332"/>
          </a:xfrm>
          <a:prstGeom prst="rect">
            <a:avLst/>
          </a:prstGeom>
          <a:noFill/>
        </p:spPr>
        <p:txBody>
          <a:bodyPr wrap="square" rtlCol="0">
            <a:spAutoFit/>
          </a:bodyPr>
          <a:lstStyle/>
          <a:p>
            <a:r>
              <a:rPr lang="zh-CN" altLang="en-US" dirty="0"/>
              <a:t>速度分辨率</a:t>
            </a:r>
          </a:p>
        </p:txBody>
      </p:sp>
      <mc:AlternateContent xmlns:mc="http://schemas.openxmlformats.org/markup-compatibility/2006">
        <mc:Choice xmlns:a14="http://schemas.microsoft.com/office/drawing/2010/main" Requires="a14">
          <p:sp>
            <p:nvSpPr>
              <p:cNvPr id="10" name="文本框 9">
                <a:extLst>
                  <a:ext uri="{FF2B5EF4-FFF2-40B4-BE49-F238E27FC236}">
                    <a16:creationId xmlns:a16="http://schemas.microsoft.com/office/drawing/2014/main" id="{188B8F4B-6E43-FA42-6713-1ABE97AFC6A2}"/>
                  </a:ext>
                </a:extLst>
              </p:cNvPr>
              <p:cNvSpPr txBox="1"/>
              <p:nvPr/>
            </p:nvSpPr>
            <p:spPr>
              <a:xfrm>
                <a:off x="6617531" y="3334782"/>
                <a:ext cx="1649337" cy="615233"/>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i="1"/>
                        <m:t>∆</m:t>
                      </m:r>
                      <m:r>
                        <a:rPr lang="en-US" altLang="zh-CN" i="1"/>
                        <m:t>𝑣</m:t>
                      </m:r>
                      <m:r>
                        <a:rPr lang="en-US" altLang="zh-CN" i="1"/>
                        <m:t>=</m:t>
                      </m:r>
                      <m:f>
                        <m:fPr>
                          <m:ctrlPr>
                            <a:rPr lang="zh-CN" altLang="zh-CN" i="1"/>
                          </m:ctrlPr>
                        </m:fPr>
                        <m:num>
                          <m:r>
                            <a:rPr lang="en-US" altLang="zh-CN" i="1"/>
                            <m:t>𝑐</m:t>
                          </m:r>
                        </m:num>
                        <m:den>
                          <m:r>
                            <a:rPr lang="en-US" altLang="zh-CN" i="1"/>
                            <m:t>2</m:t>
                          </m:r>
                          <m:sSub>
                            <m:sSubPr>
                              <m:ctrlPr>
                                <a:rPr lang="zh-CN" altLang="zh-CN" i="1"/>
                              </m:ctrlPr>
                            </m:sSubPr>
                            <m:e>
                              <m:r>
                                <a:rPr lang="en-US" altLang="zh-CN" i="1"/>
                                <m:t>𝑓</m:t>
                              </m:r>
                            </m:e>
                            <m:sub>
                              <m:r>
                                <a:rPr lang="en-US" altLang="zh-CN" i="1"/>
                                <m:t>𝑐</m:t>
                              </m:r>
                            </m:sub>
                          </m:sSub>
                          <m:sSub>
                            <m:sSubPr>
                              <m:ctrlPr>
                                <a:rPr lang="zh-CN" altLang="zh-CN" i="1"/>
                              </m:ctrlPr>
                            </m:sSubPr>
                            <m:e>
                              <m:r>
                                <a:rPr lang="en-US" altLang="zh-CN" i="1"/>
                                <m:t>𝑁</m:t>
                              </m:r>
                            </m:e>
                            <m:sub>
                              <m:r>
                                <a:rPr lang="en-US" altLang="zh-CN" i="1"/>
                                <m:t>𝑑</m:t>
                              </m:r>
                            </m:sub>
                          </m:sSub>
                          <m:r>
                            <a:rPr lang="en-US" altLang="zh-CN" i="1"/>
                            <m:t>𝑇</m:t>
                          </m:r>
                        </m:den>
                      </m:f>
                    </m:oMath>
                  </m:oMathPara>
                </a14:m>
                <a:endParaRPr lang="zh-CN" altLang="en-US" dirty="0"/>
              </a:p>
            </p:txBody>
          </p:sp>
        </mc:Choice>
        <mc:Fallback>
          <p:sp>
            <p:nvSpPr>
              <p:cNvPr id="10" name="文本框 9">
                <a:extLst>
                  <a:ext uri="{FF2B5EF4-FFF2-40B4-BE49-F238E27FC236}">
                    <a16:creationId xmlns:a16="http://schemas.microsoft.com/office/drawing/2014/main" id="{188B8F4B-6E43-FA42-6713-1ABE97AFC6A2}"/>
                  </a:ext>
                </a:extLst>
              </p:cNvPr>
              <p:cNvSpPr txBox="1">
                <a:spLocks noRot="1" noChangeAspect="1" noMove="1" noResize="1" noEditPoints="1" noAdjustHandles="1" noChangeArrowheads="1" noChangeShapeType="1" noTextEdit="1"/>
              </p:cNvSpPr>
              <p:nvPr/>
            </p:nvSpPr>
            <p:spPr>
              <a:xfrm>
                <a:off x="6617531" y="3334782"/>
                <a:ext cx="1649337" cy="615233"/>
              </a:xfrm>
              <a:prstGeom prst="rect">
                <a:avLst/>
              </a:prstGeom>
              <a:blipFill>
                <a:blip r:embed="rId4"/>
                <a:stretch>
                  <a:fillRect/>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99F20C4C-A4D2-488A-9CDA-4842A82BD958}"/>
              </a:ext>
            </a:extLst>
          </p:cNvPr>
          <p:cNvSpPr txBox="1"/>
          <p:nvPr/>
        </p:nvSpPr>
        <p:spPr>
          <a:xfrm>
            <a:off x="8489950" y="3086100"/>
            <a:ext cx="1460500" cy="369332"/>
          </a:xfrm>
          <a:prstGeom prst="rect">
            <a:avLst/>
          </a:prstGeom>
          <a:noFill/>
        </p:spPr>
        <p:txBody>
          <a:bodyPr wrap="square" rtlCol="0">
            <a:spAutoFit/>
          </a:bodyPr>
          <a:lstStyle/>
          <a:p>
            <a:r>
              <a:rPr lang="zh-CN" altLang="en-US" dirty="0"/>
              <a:t>得到速度</a:t>
            </a:r>
          </a:p>
        </p:txBody>
      </p:sp>
    </p:spTree>
    <p:extLst>
      <p:ext uri="{BB962C8B-B14F-4D97-AF65-F5344CB8AC3E}">
        <p14:creationId xmlns:p14="http://schemas.microsoft.com/office/powerpoint/2010/main" val="3860210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710745-CF48-EC8C-8D94-58B4FEFAC774}"/>
              </a:ext>
            </a:extLst>
          </p:cNvPr>
          <p:cNvSpPr>
            <a:spLocks noGrp="1"/>
          </p:cNvSpPr>
          <p:nvPr>
            <p:ph type="title"/>
          </p:nvPr>
        </p:nvSpPr>
        <p:spPr/>
        <p:txBody>
          <a:bodyPr/>
          <a:lstStyle/>
          <a:p>
            <a:r>
              <a:rPr lang="zh-CN" altLang="en-US" dirty="0"/>
              <a:t>定位</a:t>
            </a:r>
          </a:p>
        </p:txBody>
      </p:sp>
      <p:pic>
        <p:nvPicPr>
          <p:cNvPr id="7" name="图片 6">
            <a:extLst>
              <a:ext uri="{FF2B5EF4-FFF2-40B4-BE49-F238E27FC236}">
                <a16:creationId xmlns:a16="http://schemas.microsoft.com/office/drawing/2014/main" id="{683F5504-B61A-7B01-E0D5-3BF2B898D2DE}"/>
              </a:ext>
            </a:extLst>
          </p:cNvPr>
          <p:cNvPicPr>
            <a:picLocks noChangeAspect="1"/>
          </p:cNvPicPr>
          <p:nvPr/>
        </p:nvPicPr>
        <p:blipFill>
          <a:blip r:embed="rId2"/>
          <a:stretch>
            <a:fillRect/>
          </a:stretch>
        </p:blipFill>
        <p:spPr>
          <a:xfrm>
            <a:off x="4311688" y="4994332"/>
            <a:ext cx="609524" cy="933333"/>
          </a:xfrm>
          <a:prstGeom prst="rect">
            <a:avLst/>
          </a:prstGeom>
        </p:spPr>
      </p:pic>
      <p:pic>
        <p:nvPicPr>
          <p:cNvPr id="8" name="图片 7">
            <a:extLst>
              <a:ext uri="{FF2B5EF4-FFF2-40B4-BE49-F238E27FC236}">
                <a16:creationId xmlns:a16="http://schemas.microsoft.com/office/drawing/2014/main" id="{B5A902E7-C8A5-B392-96F6-04D00FB43BD8}"/>
              </a:ext>
            </a:extLst>
          </p:cNvPr>
          <p:cNvPicPr>
            <a:picLocks noChangeAspect="1"/>
          </p:cNvPicPr>
          <p:nvPr/>
        </p:nvPicPr>
        <p:blipFill>
          <a:blip r:embed="rId2"/>
          <a:stretch>
            <a:fillRect/>
          </a:stretch>
        </p:blipFill>
        <p:spPr>
          <a:xfrm>
            <a:off x="6146800" y="4994332"/>
            <a:ext cx="609524" cy="933333"/>
          </a:xfrm>
          <a:prstGeom prst="rect">
            <a:avLst/>
          </a:prstGeom>
        </p:spPr>
      </p:pic>
      <p:cxnSp>
        <p:nvCxnSpPr>
          <p:cNvPr id="5" name="直接连接符 4">
            <a:extLst>
              <a:ext uri="{FF2B5EF4-FFF2-40B4-BE49-F238E27FC236}">
                <a16:creationId xmlns:a16="http://schemas.microsoft.com/office/drawing/2014/main" id="{61BF0723-11D6-2FF8-3138-3C5F7DEBDE26}"/>
              </a:ext>
            </a:extLst>
          </p:cNvPr>
          <p:cNvCxnSpPr/>
          <p:nvPr/>
        </p:nvCxnSpPr>
        <p:spPr>
          <a:xfrm>
            <a:off x="2139950" y="5810250"/>
            <a:ext cx="7245350" cy="0"/>
          </a:xfrm>
          <a:prstGeom prst="line">
            <a:avLst/>
          </a:prstGeom>
          <a:ln w="57150"/>
        </p:spPr>
        <p:style>
          <a:lnRef idx="1">
            <a:schemeClr val="dk1"/>
          </a:lnRef>
          <a:fillRef idx="0">
            <a:schemeClr val="dk1"/>
          </a:fillRef>
          <a:effectRef idx="0">
            <a:schemeClr val="dk1"/>
          </a:effectRef>
          <a:fontRef idx="minor">
            <a:schemeClr val="tx1"/>
          </a:fontRef>
        </p:style>
      </p:cxnSp>
      <p:sp>
        <p:nvSpPr>
          <p:cNvPr id="10" name="椭圆 9">
            <a:extLst>
              <a:ext uri="{FF2B5EF4-FFF2-40B4-BE49-F238E27FC236}">
                <a16:creationId xmlns:a16="http://schemas.microsoft.com/office/drawing/2014/main" id="{EBEC2976-1FE2-FE80-D4FE-6EF58E2631CF}"/>
              </a:ext>
            </a:extLst>
          </p:cNvPr>
          <p:cNvSpPr/>
          <p:nvPr/>
        </p:nvSpPr>
        <p:spPr>
          <a:xfrm>
            <a:off x="2260600" y="2226484"/>
            <a:ext cx="241300" cy="2412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2" name="直接连接符 11">
            <a:extLst>
              <a:ext uri="{FF2B5EF4-FFF2-40B4-BE49-F238E27FC236}">
                <a16:creationId xmlns:a16="http://schemas.microsoft.com/office/drawing/2014/main" id="{49E904FD-2723-F06F-E45D-91945EB91EC6}"/>
              </a:ext>
            </a:extLst>
          </p:cNvPr>
          <p:cNvCxnSpPr>
            <a:endCxn id="7" idx="0"/>
          </p:cNvCxnSpPr>
          <p:nvPr/>
        </p:nvCxnSpPr>
        <p:spPr>
          <a:xfrm>
            <a:off x="2381250" y="2347126"/>
            <a:ext cx="2235200" cy="27646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4AACEDFF-6739-927F-A203-EDA9B4470D7E}"/>
              </a:ext>
            </a:extLst>
          </p:cNvPr>
          <p:cNvCxnSpPr>
            <a:cxnSpLocks/>
          </p:cNvCxnSpPr>
          <p:nvPr/>
        </p:nvCxnSpPr>
        <p:spPr>
          <a:xfrm>
            <a:off x="2381250" y="2347126"/>
            <a:ext cx="4070312" cy="27646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0A864D4A-186E-5166-6C9E-204DCC3C0E35}"/>
              </a:ext>
            </a:extLst>
          </p:cNvPr>
          <p:cNvCxnSpPr>
            <a:cxnSpLocks/>
          </p:cNvCxnSpPr>
          <p:nvPr/>
        </p:nvCxnSpPr>
        <p:spPr>
          <a:xfrm>
            <a:off x="4616450" y="5111750"/>
            <a:ext cx="183511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B2058EAE-F25E-A66B-1C65-E66C1AE6881E}"/>
              </a:ext>
            </a:extLst>
          </p:cNvPr>
          <p:cNvSpPr txBox="1"/>
          <p:nvPr/>
        </p:nvSpPr>
        <p:spPr>
          <a:xfrm>
            <a:off x="5264150" y="4994332"/>
            <a:ext cx="368300" cy="369332"/>
          </a:xfrm>
          <a:prstGeom prst="rect">
            <a:avLst/>
          </a:prstGeom>
          <a:noFill/>
        </p:spPr>
        <p:txBody>
          <a:bodyPr wrap="square" rtlCol="0">
            <a:spAutoFit/>
          </a:bodyPr>
          <a:lstStyle/>
          <a:p>
            <a:r>
              <a:rPr lang="en-US" altLang="zh-CN" dirty="0"/>
              <a:t>d</a:t>
            </a:r>
            <a:endParaRPr lang="zh-CN" altLang="en-US" dirty="0"/>
          </a:p>
        </p:txBody>
      </p:sp>
      <p:sp>
        <p:nvSpPr>
          <p:cNvPr id="21" name="文本框 20">
            <a:extLst>
              <a:ext uri="{FF2B5EF4-FFF2-40B4-BE49-F238E27FC236}">
                <a16:creationId xmlns:a16="http://schemas.microsoft.com/office/drawing/2014/main" id="{F459E2EE-70BF-1666-11A3-A61E493E3893}"/>
              </a:ext>
            </a:extLst>
          </p:cNvPr>
          <p:cNvSpPr txBox="1"/>
          <p:nvPr/>
        </p:nvSpPr>
        <p:spPr>
          <a:xfrm>
            <a:off x="2833659" y="3103878"/>
            <a:ext cx="508000" cy="369332"/>
          </a:xfrm>
          <a:prstGeom prst="rect">
            <a:avLst/>
          </a:prstGeom>
          <a:noFill/>
        </p:spPr>
        <p:txBody>
          <a:bodyPr wrap="square" rtlCol="0">
            <a:spAutoFit/>
          </a:bodyPr>
          <a:lstStyle/>
          <a:p>
            <a:r>
              <a:rPr lang="en-US" altLang="zh-CN" dirty="0"/>
              <a:t>r11</a:t>
            </a:r>
            <a:endParaRPr lang="zh-CN" altLang="en-US" dirty="0"/>
          </a:p>
        </p:txBody>
      </p:sp>
      <p:sp>
        <p:nvSpPr>
          <p:cNvPr id="22" name="文本框 21">
            <a:extLst>
              <a:ext uri="{FF2B5EF4-FFF2-40B4-BE49-F238E27FC236}">
                <a16:creationId xmlns:a16="http://schemas.microsoft.com/office/drawing/2014/main" id="{EB69CB73-39AA-84B4-5D90-5E566E249CE7}"/>
              </a:ext>
            </a:extLst>
          </p:cNvPr>
          <p:cNvSpPr txBox="1"/>
          <p:nvPr/>
        </p:nvSpPr>
        <p:spPr>
          <a:xfrm>
            <a:off x="3224165" y="2828362"/>
            <a:ext cx="508000" cy="369332"/>
          </a:xfrm>
          <a:prstGeom prst="rect">
            <a:avLst/>
          </a:prstGeom>
          <a:noFill/>
        </p:spPr>
        <p:txBody>
          <a:bodyPr wrap="square" rtlCol="0">
            <a:spAutoFit/>
          </a:bodyPr>
          <a:lstStyle/>
          <a:p>
            <a:r>
              <a:rPr lang="en-US" altLang="zh-CN" dirty="0"/>
              <a:t>r21</a:t>
            </a:r>
            <a:endParaRPr lang="zh-CN" altLang="en-US" dirty="0"/>
          </a:p>
        </p:txBody>
      </p:sp>
      <mc:AlternateContent xmlns:mc="http://schemas.openxmlformats.org/markup-compatibility/2006">
        <mc:Choice xmlns:a14="http://schemas.microsoft.com/office/drawing/2010/main" Requires="a14">
          <p:sp>
            <p:nvSpPr>
              <p:cNvPr id="23" name="文本框 22">
                <a:extLst>
                  <a:ext uri="{FF2B5EF4-FFF2-40B4-BE49-F238E27FC236}">
                    <a16:creationId xmlns:a16="http://schemas.microsoft.com/office/drawing/2014/main" id="{70F94245-285B-DDCB-936E-6C5C6ADEF933}"/>
                  </a:ext>
                </a:extLst>
              </p:cNvPr>
              <p:cNvSpPr txBox="1"/>
              <p:nvPr/>
            </p:nvSpPr>
            <p:spPr>
              <a:xfrm>
                <a:off x="7315200" y="4372768"/>
                <a:ext cx="2381250" cy="563296"/>
              </a:xfrm>
              <a:prstGeom prst="rect">
                <a:avLst/>
              </a:prstGeom>
              <a:noFill/>
            </p:spPr>
            <p:txBody>
              <a:bodyPr wrap="square" rtlCol="0">
                <a:spAutoFit/>
              </a:bodyPr>
              <a:lstStyle/>
              <a:p>
                <a14:m>
                  <m:oMath xmlns:m="http://schemas.openxmlformats.org/officeDocument/2006/math">
                    <m:r>
                      <a:rPr lang="zh-CN" altLang="en-US" b="0" i="1" smtClean="0">
                        <a:latin typeface="Cambria Math" panose="02040503050406030204" pitchFamily="18" charset="0"/>
                      </a:rPr>
                      <m:t>𝜃</m:t>
                    </m:r>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arccos</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𝑑</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2</m:t>
                            </m:r>
                          </m:sub>
                          <m:sup>
                            <m:r>
                              <a:rPr lang="en-US" altLang="zh-CN" b="0" i="1" smtClean="0">
                                <a:latin typeface="Cambria Math" panose="02040503050406030204" pitchFamily="18" charset="0"/>
                              </a:rPr>
                              <m:t>2</m:t>
                            </m:r>
                          </m:sup>
                        </m:sSubSup>
                      </m:num>
                      <m:den>
                        <m:r>
                          <a:rPr lang="en-US" altLang="zh-CN" b="0" i="1" smtClean="0">
                            <a:latin typeface="Cambria Math" panose="02040503050406030204" pitchFamily="18" charset="0"/>
                          </a:rPr>
                          <m:t>2</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𝑑</m:t>
                        </m:r>
                      </m:den>
                    </m:f>
                  </m:oMath>
                </a14:m>
                <a:r>
                  <a:rPr lang="en-US" altLang="zh-CN" dirty="0"/>
                  <a:t>)</a:t>
                </a:r>
                <a:endParaRPr lang="zh-CN" altLang="en-US" dirty="0"/>
              </a:p>
            </p:txBody>
          </p:sp>
        </mc:Choice>
        <mc:Fallback>
          <p:sp>
            <p:nvSpPr>
              <p:cNvPr id="23" name="文本框 22">
                <a:extLst>
                  <a:ext uri="{FF2B5EF4-FFF2-40B4-BE49-F238E27FC236}">
                    <a16:creationId xmlns:a16="http://schemas.microsoft.com/office/drawing/2014/main" id="{70F94245-285B-DDCB-936E-6C5C6ADEF933}"/>
                  </a:ext>
                </a:extLst>
              </p:cNvPr>
              <p:cNvSpPr txBox="1">
                <a:spLocks noRot="1" noChangeAspect="1" noMove="1" noResize="1" noEditPoints="1" noAdjustHandles="1" noChangeArrowheads="1" noChangeShapeType="1" noTextEdit="1"/>
              </p:cNvSpPr>
              <p:nvPr/>
            </p:nvSpPr>
            <p:spPr>
              <a:xfrm>
                <a:off x="7315200" y="4372768"/>
                <a:ext cx="2381250" cy="563296"/>
              </a:xfrm>
              <a:prstGeom prst="rect">
                <a:avLst/>
              </a:prstGeom>
              <a:blipFill>
                <a:blip r:embed="rId3"/>
                <a:stretch>
                  <a:fillRect/>
                </a:stretch>
              </a:blipFill>
            </p:spPr>
            <p:txBody>
              <a:bodyPr/>
              <a:lstStyle/>
              <a:p>
                <a:r>
                  <a:rPr lang="zh-CN" altLang="en-US">
                    <a:noFill/>
                  </a:rPr>
                  <a:t> </a:t>
                </a:r>
              </a:p>
            </p:txBody>
          </p:sp>
        </mc:Fallback>
      </mc:AlternateContent>
      <p:sp>
        <p:nvSpPr>
          <p:cNvPr id="25" name="弧形 24">
            <a:extLst>
              <a:ext uri="{FF2B5EF4-FFF2-40B4-BE49-F238E27FC236}">
                <a16:creationId xmlns:a16="http://schemas.microsoft.com/office/drawing/2014/main" id="{EC6FD397-BB44-A07D-A94F-EE1333D6BEFF}"/>
              </a:ext>
            </a:extLst>
          </p:cNvPr>
          <p:cNvSpPr/>
          <p:nvPr/>
        </p:nvSpPr>
        <p:spPr>
          <a:xfrm>
            <a:off x="4321194" y="4846389"/>
            <a:ext cx="571462" cy="563296"/>
          </a:xfrm>
          <a:prstGeom prst="arc">
            <a:avLst>
              <a:gd name="adj1" fmla="val 14151335"/>
              <a:gd name="adj2" fmla="val 21526863"/>
            </a:avLst>
          </a:pr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6" name="文本框 25">
                <a:extLst>
                  <a:ext uri="{FF2B5EF4-FFF2-40B4-BE49-F238E27FC236}">
                    <a16:creationId xmlns:a16="http://schemas.microsoft.com/office/drawing/2014/main" id="{2F5BE334-6E10-7A92-547A-01CAEA3E5808}"/>
                  </a:ext>
                </a:extLst>
              </p:cNvPr>
              <p:cNvSpPr txBox="1"/>
              <p:nvPr/>
            </p:nvSpPr>
            <p:spPr>
              <a:xfrm>
                <a:off x="4525991" y="4557753"/>
                <a:ext cx="276206"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𝜃</m:t>
                      </m:r>
                    </m:oMath>
                  </m:oMathPara>
                </a14:m>
                <a:endParaRPr lang="zh-CN" altLang="en-US" dirty="0"/>
              </a:p>
            </p:txBody>
          </p:sp>
        </mc:Choice>
        <mc:Fallback>
          <p:sp>
            <p:nvSpPr>
              <p:cNvPr id="26" name="文本框 25">
                <a:extLst>
                  <a:ext uri="{FF2B5EF4-FFF2-40B4-BE49-F238E27FC236}">
                    <a16:creationId xmlns:a16="http://schemas.microsoft.com/office/drawing/2014/main" id="{2F5BE334-6E10-7A92-547A-01CAEA3E5808}"/>
                  </a:ext>
                </a:extLst>
              </p:cNvPr>
              <p:cNvSpPr txBox="1">
                <a:spLocks noRot="1" noChangeAspect="1" noMove="1" noResize="1" noEditPoints="1" noAdjustHandles="1" noChangeArrowheads="1" noChangeShapeType="1" noTextEdit="1"/>
              </p:cNvSpPr>
              <p:nvPr/>
            </p:nvSpPr>
            <p:spPr>
              <a:xfrm>
                <a:off x="4525991" y="4557753"/>
                <a:ext cx="276206" cy="369332"/>
              </a:xfrm>
              <a:prstGeom prst="rect">
                <a:avLst/>
              </a:prstGeom>
              <a:blipFill>
                <a:blip r:embed="rId4"/>
                <a:stretch>
                  <a:fillRect r="-8696"/>
                </a:stretch>
              </a:blipFill>
            </p:spPr>
            <p:txBody>
              <a:bodyPr/>
              <a:lstStyle/>
              <a:p>
                <a:r>
                  <a:rPr lang="zh-CN" altLang="en-US">
                    <a:noFill/>
                  </a:rPr>
                  <a:t> </a:t>
                </a:r>
              </a:p>
            </p:txBody>
          </p:sp>
        </mc:Fallback>
      </mc:AlternateContent>
      <p:sp>
        <p:nvSpPr>
          <p:cNvPr id="27" name="椭圆 26">
            <a:extLst>
              <a:ext uri="{FF2B5EF4-FFF2-40B4-BE49-F238E27FC236}">
                <a16:creationId xmlns:a16="http://schemas.microsoft.com/office/drawing/2014/main" id="{7A25C131-56B9-AFC4-5CFF-6032B4582E12}"/>
              </a:ext>
            </a:extLst>
          </p:cNvPr>
          <p:cNvSpPr/>
          <p:nvPr/>
        </p:nvSpPr>
        <p:spPr>
          <a:xfrm>
            <a:off x="3587750" y="1840706"/>
            <a:ext cx="241300" cy="2412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28" name="直接连接符 27">
            <a:extLst>
              <a:ext uri="{FF2B5EF4-FFF2-40B4-BE49-F238E27FC236}">
                <a16:creationId xmlns:a16="http://schemas.microsoft.com/office/drawing/2014/main" id="{6B7BEA0B-C84F-D550-EA93-60D0E2241387}"/>
              </a:ext>
            </a:extLst>
          </p:cNvPr>
          <p:cNvCxnSpPr>
            <a:cxnSpLocks/>
          </p:cNvCxnSpPr>
          <p:nvPr/>
        </p:nvCxnSpPr>
        <p:spPr>
          <a:xfrm>
            <a:off x="3698932" y="1961348"/>
            <a:ext cx="939724" cy="316668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3F2BBAD-2521-7787-FF5F-9AEC9990686F}"/>
              </a:ext>
            </a:extLst>
          </p:cNvPr>
          <p:cNvCxnSpPr>
            <a:cxnSpLocks/>
          </p:cNvCxnSpPr>
          <p:nvPr/>
        </p:nvCxnSpPr>
        <p:spPr>
          <a:xfrm>
            <a:off x="3708400" y="1961348"/>
            <a:ext cx="2733618" cy="316668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A382CE52-C7AC-28F7-42B2-6C65606307BA}"/>
              </a:ext>
            </a:extLst>
          </p:cNvPr>
          <p:cNvSpPr txBox="1"/>
          <p:nvPr/>
        </p:nvSpPr>
        <p:spPr>
          <a:xfrm>
            <a:off x="1827222" y="2318822"/>
            <a:ext cx="466744" cy="369332"/>
          </a:xfrm>
          <a:prstGeom prst="rect">
            <a:avLst/>
          </a:prstGeom>
          <a:noFill/>
        </p:spPr>
        <p:txBody>
          <a:bodyPr wrap="square" rtlCol="0">
            <a:spAutoFit/>
          </a:bodyPr>
          <a:lstStyle/>
          <a:p>
            <a:r>
              <a:rPr lang="en-US" altLang="zh-CN" dirty="0"/>
              <a:t>v1</a:t>
            </a:r>
            <a:endParaRPr lang="zh-CN" altLang="en-US" dirty="0"/>
          </a:p>
        </p:txBody>
      </p:sp>
      <p:sp>
        <p:nvSpPr>
          <p:cNvPr id="37" name="文本框 36">
            <a:extLst>
              <a:ext uri="{FF2B5EF4-FFF2-40B4-BE49-F238E27FC236}">
                <a16:creationId xmlns:a16="http://schemas.microsoft.com/office/drawing/2014/main" id="{8AB2BC23-AD48-4BB1-13E4-F28BC1E99D72}"/>
              </a:ext>
            </a:extLst>
          </p:cNvPr>
          <p:cNvSpPr txBox="1"/>
          <p:nvPr/>
        </p:nvSpPr>
        <p:spPr>
          <a:xfrm>
            <a:off x="3905212" y="1811668"/>
            <a:ext cx="466744" cy="369332"/>
          </a:xfrm>
          <a:prstGeom prst="rect">
            <a:avLst/>
          </a:prstGeom>
          <a:noFill/>
        </p:spPr>
        <p:txBody>
          <a:bodyPr wrap="square" rtlCol="0">
            <a:spAutoFit/>
          </a:bodyPr>
          <a:lstStyle/>
          <a:p>
            <a:r>
              <a:rPr lang="en-US" altLang="zh-CN" dirty="0"/>
              <a:t>v2</a:t>
            </a:r>
            <a:endParaRPr lang="zh-CN" altLang="en-US" dirty="0"/>
          </a:p>
        </p:txBody>
      </p:sp>
      <p:sp>
        <p:nvSpPr>
          <p:cNvPr id="38" name="文本框 37">
            <a:extLst>
              <a:ext uri="{FF2B5EF4-FFF2-40B4-BE49-F238E27FC236}">
                <a16:creationId xmlns:a16="http://schemas.microsoft.com/office/drawing/2014/main" id="{67309D21-FBF0-682A-C7D4-5B8392569936}"/>
              </a:ext>
            </a:extLst>
          </p:cNvPr>
          <p:cNvSpPr txBox="1"/>
          <p:nvPr/>
        </p:nvSpPr>
        <p:spPr>
          <a:xfrm>
            <a:off x="3651212" y="2528577"/>
            <a:ext cx="508000" cy="369332"/>
          </a:xfrm>
          <a:prstGeom prst="rect">
            <a:avLst/>
          </a:prstGeom>
          <a:noFill/>
        </p:spPr>
        <p:txBody>
          <a:bodyPr wrap="square" rtlCol="0">
            <a:spAutoFit/>
          </a:bodyPr>
          <a:lstStyle/>
          <a:p>
            <a:r>
              <a:rPr lang="en-US" altLang="zh-CN" dirty="0"/>
              <a:t>r12</a:t>
            </a:r>
            <a:endParaRPr lang="zh-CN" altLang="en-US" dirty="0"/>
          </a:p>
        </p:txBody>
      </p:sp>
      <p:sp>
        <p:nvSpPr>
          <p:cNvPr id="39" name="文本框 38">
            <a:extLst>
              <a:ext uri="{FF2B5EF4-FFF2-40B4-BE49-F238E27FC236}">
                <a16:creationId xmlns:a16="http://schemas.microsoft.com/office/drawing/2014/main" id="{F6A801BB-140B-5BDB-2C1F-EDFCDC0DA50D}"/>
              </a:ext>
            </a:extLst>
          </p:cNvPr>
          <p:cNvSpPr txBox="1"/>
          <p:nvPr/>
        </p:nvSpPr>
        <p:spPr>
          <a:xfrm>
            <a:off x="4286269" y="2642711"/>
            <a:ext cx="508000" cy="369332"/>
          </a:xfrm>
          <a:prstGeom prst="rect">
            <a:avLst/>
          </a:prstGeom>
          <a:noFill/>
        </p:spPr>
        <p:txBody>
          <a:bodyPr wrap="square" rtlCol="0">
            <a:spAutoFit/>
          </a:bodyPr>
          <a:lstStyle/>
          <a:p>
            <a:r>
              <a:rPr lang="en-US" altLang="zh-CN" dirty="0"/>
              <a:t>r22</a:t>
            </a:r>
            <a:endParaRPr lang="zh-CN" altLang="en-US" dirty="0"/>
          </a:p>
        </p:txBody>
      </p:sp>
      <p:sp>
        <p:nvSpPr>
          <p:cNvPr id="40" name="文本框 39">
            <a:extLst>
              <a:ext uri="{FF2B5EF4-FFF2-40B4-BE49-F238E27FC236}">
                <a16:creationId xmlns:a16="http://schemas.microsoft.com/office/drawing/2014/main" id="{2602F390-C9CE-4A4D-829E-CD415D8DADD3}"/>
              </a:ext>
            </a:extLst>
          </p:cNvPr>
          <p:cNvSpPr txBox="1"/>
          <p:nvPr/>
        </p:nvSpPr>
        <p:spPr>
          <a:xfrm>
            <a:off x="6264199" y="2026705"/>
            <a:ext cx="3432251" cy="1477328"/>
          </a:xfrm>
          <a:prstGeom prst="rect">
            <a:avLst/>
          </a:prstGeom>
          <a:noFill/>
        </p:spPr>
        <p:txBody>
          <a:bodyPr wrap="square" rtlCol="0">
            <a:spAutoFit/>
          </a:bodyPr>
          <a:lstStyle/>
          <a:p>
            <a:r>
              <a:rPr lang="en-US" altLang="zh-CN" dirty="0"/>
              <a:t>r12</a:t>
            </a:r>
            <a:r>
              <a:rPr lang="zh-CN" altLang="en-US" dirty="0"/>
              <a:t>代表雷达</a:t>
            </a:r>
            <a:r>
              <a:rPr lang="en-US" altLang="zh-CN" dirty="0"/>
              <a:t>1</a:t>
            </a:r>
            <a:r>
              <a:rPr lang="zh-CN" altLang="en-US" dirty="0"/>
              <a:t>对物体</a:t>
            </a:r>
            <a:r>
              <a:rPr lang="en-US" altLang="zh-CN" dirty="0"/>
              <a:t>2</a:t>
            </a:r>
            <a:r>
              <a:rPr lang="zh-CN" altLang="en-US" dirty="0"/>
              <a:t>的测距</a:t>
            </a:r>
            <a:endParaRPr lang="en-US" altLang="zh-CN" dirty="0"/>
          </a:p>
          <a:p>
            <a:endParaRPr lang="en-US" altLang="zh-CN" dirty="0"/>
          </a:p>
          <a:p>
            <a:r>
              <a:rPr lang="zh-CN" altLang="en-US" dirty="0"/>
              <a:t>通过速度来分辨不同物体的距离</a:t>
            </a:r>
            <a:endParaRPr lang="en-US" altLang="zh-CN" dirty="0"/>
          </a:p>
          <a:p>
            <a:r>
              <a:rPr lang="en-US" altLang="zh-CN" dirty="0"/>
              <a:t>v1 </a:t>
            </a:r>
            <a:r>
              <a:rPr lang="en-US" altLang="zh-CN" dirty="0">
                <a:sym typeface="Wingdings" panose="05000000000000000000" pitchFamily="2" charset="2"/>
              </a:rPr>
              <a:t> r11 &amp; r21</a:t>
            </a:r>
          </a:p>
          <a:p>
            <a:r>
              <a:rPr lang="en-US" altLang="zh-CN" dirty="0"/>
              <a:t>v2 </a:t>
            </a:r>
            <a:r>
              <a:rPr lang="en-US" altLang="zh-CN" dirty="0">
                <a:sym typeface="Wingdings" panose="05000000000000000000" pitchFamily="2" charset="2"/>
              </a:rPr>
              <a:t> r12 &amp; r22</a:t>
            </a:r>
          </a:p>
        </p:txBody>
      </p:sp>
    </p:spTree>
    <p:extLst>
      <p:ext uri="{BB962C8B-B14F-4D97-AF65-F5344CB8AC3E}">
        <p14:creationId xmlns:p14="http://schemas.microsoft.com/office/powerpoint/2010/main" val="1393094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B73DD8-E48A-6066-B247-A9572A5E1C6D}"/>
              </a:ext>
            </a:extLst>
          </p:cNvPr>
          <p:cNvSpPr>
            <a:spLocks noGrp="1"/>
          </p:cNvSpPr>
          <p:nvPr>
            <p:ph type="title"/>
          </p:nvPr>
        </p:nvSpPr>
        <p:spPr/>
        <p:txBody>
          <a:bodyPr/>
          <a:lstStyle/>
          <a:p>
            <a:r>
              <a:rPr lang="zh-CN" altLang="en-US" dirty="0"/>
              <a:t>距离分辨率</a:t>
            </a:r>
          </a:p>
        </p:txBody>
      </p:sp>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94B6743D-AE0C-3DF9-E211-EB70960F0587}"/>
                  </a:ext>
                </a:extLst>
              </p:cNvPr>
              <p:cNvSpPr txBox="1"/>
              <p:nvPr/>
            </p:nvSpPr>
            <p:spPr>
              <a:xfrm>
                <a:off x="259802" y="2124131"/>
                <a:ext cx="6094902" cy="3297954"/>
              </a:xfrm>
              <a:prstGeom prst="rect">
                <a:avLst/>
              </a:prstGeom>
              <a:noFill/>
            </p:spPr>
            <p:txBody>
              <a:bodyPr wrap="square">
                <a:spAutoFit/>
              </a:bodyPr>
              <a:lstStyle/>
              <a:p>
                <a:pPr marL="228600"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方法一：</a:t>
                </a:r>
              </a:p>
              <a:p>
                <a:pPr marL="228600" indent="266700" algn="just"/>
                <a14:m>
                  <m:oMathPara xmlns:m="http://schemas.openxmlformats.org/officeDocument/2006/math">
                    <m:oMathParaPr>
                      <m:jc m:val="centerGroup"/>
                    </m:oMathParaPr>
                    <m:oMath xmlns:m="http://schemas.openxmlformats.org/officeDocument/2006/math">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𝑅</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𝜏</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2</m:t>
                          </m:r>
                        </m:den>
                      </m:f>
                    </m:oMath>
                  </m:oMathPara>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266700" algn="just"/>
                <a14:m>
                  <m:oMathPara xmlns:m="http://schemas.openxmlformats.org/officeDocument/2006/math">
                    <m:oMathParaPr>
                      <m:jc m:val="centerGroup"/>
                    </m:oMathParaPr>
                    <m:oMath xmlns:m="http://schemas.openxmlformats.org/officeDocument/2006/math">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𝐵</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𝐾</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𝑇</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𝑚</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 =</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𝐾</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𝜏</m:t>
                      </m:r>
                    </m:oMath>
                  </m:oMathPara>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266700" algn="just"/>
                <a14:m>
                  <m:oMathPara xmlns:m="http://schemas.openxmlformats.org/officeDocument/2006/math">
                    <m:oMathParaPr>
                      <m:jc m:val="centerGroup"/>
                    </m:oMathParaPr>
                    <m:oMath xmlns:m="http://schemas.openxmlformats.org/officeDocument/2006/math">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𝑅</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𝑚</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2</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𝐾</m:t>
                          </m:r>
                        </m:den>
                      </m:f>
                    </m:oMath>
                  </m:oMathPara>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266700" algn="just"/>
                <a14:m>
                  <m:oMathPara xmlns:m="http://schemas.openxmlformats.org/officeDocument/2006/math">
                    <m:oMathParaPr>
                      <m:jc m:val="centerGroup"/>
                    </m:oMathParaPr>
                    <m:oMath xmlns:m="http://schemas.openxmlformats.org/officeDocument/2006/math">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𝑅</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𝑚</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2</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𝑆</m:t>
                          </m:r>
                        </m:den>
                      </m:f>
                    </m:oMath>
                  </m:oMathPara>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266700" algn="just"/>
                <a14:m>
                  <m:oMathPara xmlns:m="http://schemas.openxmlformats.org/officeDocument/2006/math">
                    <m:oMathParaPr>
                      <m:jc m:val="centerGroup"/>
                    </m:oMathParaPr>
                    <m:oMath xmlns:m="http://schemas.openxmlformats.org/officeDocument/2006/math">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𝑚</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𝑠</m:t>
                              </m:r>
                            </m:sub>
                          </m:sSub>
                        </m:num>
                        <m:den>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𝑁</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𝑟</m:t>
                              </m:r>
                            </m:sub>
                          </m:sSub>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𝑠</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𝑁</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𝑟</m:t>
                              </m:r>
                            </m:sub>
                          </m:sSub>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𝑇</m:t>
                          </m:r>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𝑚</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𝑇</m:t>
                          </m:r>
                        </m:den>
                      </m:f>
                    </m:oMath>
                  </m:oMathPara>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266700" algn="just"/>
                <a14:m>
                  <m:oMathPara xmlns:m="http://schemas.openxmlformats.org/officeDocument/2006/math">
                    <m:oMathParaPr>
                      <m:jc m:val="centerGroup"/>
                    </m:oMathParaPr>
                    <m:oMath xmlns:m="http://schemas.openxmlformats.org/officeDocument/2006/math">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𝑅</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𝑚</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2</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𝐾</m:t>
                          </m:r>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2</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𝐾𝑇</m:t>
                          </m:r>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2</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𝐵</m:t>
                          </m:r>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3×</m:t>
                          </m:r>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10</m:t>
                              </m:r>
                            </m:e>
                            <m:sup>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8</m:t>
                              </m:r>
                            </m:sup>
                          </m:sSup>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2×150×</m:t>
                          </m:r>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10</m:t>
                              </m:r>
                            </m:e>
                            <m:sup>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6</m:t>
                              </m:r>
                            </m:sup>
                          </m:sSup>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𝑚</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=1</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𝑚</m:t>
                      </m:r>
                    </m:oMath>
                  </m:oMathPara>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7" name="文本框 6">
                <a:extLst>
                  <a:ext uri="{FF2B5EF4-FFF2-40B4-BE49-F238E27FC236}">
                    <a16:creationId xmlns:a16="http://schemas.microsoft.com/office/drawing/2014/main" id="{94B6743D-AE0C-3DF9-E211-EB70960F0587}"/>
                  </a:ext>
                </a:extLst>
              </p:cNvPr>
              <p:cNvSpPr txBox="1">
                <a:spLocks noRot="1" noChangeAspect="1" noMove="1" noResize="1" noEditPoints="1" noAdjustHandles="1" noChangeArrowheads="1" noChangeShapeType="1" noTextEdit="1"/>
              </p:cNvSpPr>
              <p:nvPr/>
            </p:nvSpPr>
            <p:spPr>
              <a:xfrm>
                <a:off x="259802" y="2124131"/>
                <a:ext cx="6094902" cy="3297954"/>
              </a:xfrm>
              <a:prstGeom prst="rect">
                <a:avLst/>
              </a:prstGeom>
              <a:blipFill>
                <a:blip r:embed="rId2"/>
                <a:stretch>
                  <a:fillRect t="-9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a:extLst>
                  <a:ext uri="{FF2B5EF4-FFF2-40B4-BE49-F238E27FC236}">
                    <a16:creationId xmlns:a16="http://schemas.microsoft.com/office/drawing/2014/main" id="{D9AC9928-600F-D17E-EAC8-092B44995A3A}"/>
                  </a:ext>
                </a:extLst>
              </p:cNvPr>
              <p:cNvSpPr txBox="1"/>
              <p:nvPr/>
            </p:nvSpPr>
            <p:spPr>
              <a:xfrm>
                <a:off x="5626100" y="2124131"/>
                <a:ext cx="6565900" cy="2146421"/>
              </a:xfrm>
              <a:prstGeom prst="rect">
                <a:avLst/>
              </a:prstGeom>
              <a:noFill/>
            </p:spPr>
            <p:txBody>
              <a:bodyPr wrap="square">
                <a:spAutoFit/>
              </a:bodyPr>
              <a:lstStyle/>
              <a:p>
                <a:pPr marL="228600"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方法二：</a:t>
                </a:r>
              </a:p>
              <a:p>
                <a:pPr marL="228600" indent="266700" algn="just"/>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𝑠</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𝑁</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𝑟</m:t>
                            </m:r>
                          </m:sub>
                        </m:sSub>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𝑇</m:t>
                        </m:r>
                      </m:den>
                    </m:f>
                  </m:oMath>
                </a14:m>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占</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1024</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份，</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𝑚</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𝑛</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𝑇</m:t>
                        </m:r>
                      </m:den>
                    </m:f>
                  </m:oMath>
                </a14:m>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占</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份，所以</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𝑚</m:t>
                        </m:r>
                      </m:sub>
                    </m:sSub>
                  </m:oMath>
                </a14:m>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是</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𝑠</m:t>
                        </m:r>
                      </m:sub>
                    </m:sSub>
                  </m:oMath>
                </a14:m>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a:t>
                </a:r>
                <a14:m>
                  <m:oMath xmlns:m="http://schemas.openxmlformats.org/officeDocument/2006/math">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𝑛</m:t>
                        </m:r>
                      </m:num>
                      <m:den>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𝑁</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𝑟</m:t>
                            </m:r>
                          </m:sub>
                        </m:sSub>
                      </m:den>
                    </m:f>
                  </m:oMath>
                </a14:m>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倍 </a:t>
                </a:r>
              </a:p>
              <a:p>
                <a:pPr marL="228600" indent="266700" algn="just"/>
                <a14:m>
                  <m:oMathPara xmlns:m="http://schemas.openxmlformats.org/officeDocument/2006/math">
                    <m:oMathParaPr>
                      <m:jc m:val="centerGroup"/>
                    </m:oMathParaPr>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𝑚</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𝑠</m:t>
                              </m:r>
                            </m:sub>
                          </m:sSub>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𝑁</m:t>
                          </m:r>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𝑛</m:t>
                      </m:r>
                    </m:oMath>
                  </m:oMathPara>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266700" algn="just"/>
                <a14:m>
                  <m:oMathPara xmlns:m="http://schemas.openxmlformats.org/officeDocument/2006/math">
                    <m:oMathParaPr>
                      <m:jc m:val="centerGroup"/>
                    </m:oMathParaPr>
                    <m:oMath xmlns:m="http://schemas.openxmlformats.org/officeDocument/2006/math">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𝑅</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𝑐𝑇</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𝑚</m:t>
                              </m:r>
                            </m:sub>
                          </m:sSub>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2</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𝐵</m:t>
                          </m:r>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𝑐𝑇</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2</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𝐵</m:t>
                          </m:r>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𝑠</m:t>
                              </m:r>
                            </m:sub>
                          </m:sSub>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𝑁</m:t>
                          </m:r>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𝑛</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2</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𝐵</m:t>
                          </m:r>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𝑇</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𝑠</m:t>
                              </m:r>
                            </m:sub>
                          </m:sSub>
                        </m:num>
                        <m:den>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𝑁</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𝑟</m:t>
                              </m:r>
                            </m:sub>
                          </m:sSub>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𝑛</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=1×1×</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𝑛</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=1×</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𝑛</m:t>
                      </m:r>
                    </m:oMath>
                  </m:oMathPara>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266700" algn="just"/>
                <a14:m>
                  <m:oMathPara xmlns:m="http://schemas.openxmlformats.org/officeDocument/2006/math">
                    <m:oMathParaPr>
                      <m:jc m:val="centerGroup"/>
                    </m:oMathParaPr>
                    <m:oMath xmlns:m="http://schemas.openxmlformats.org/officeDocument/2006/math">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𝑅</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=1</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𝑚</m:t>
                      </m:r>
                    </m:oMath>
                  </m:oMathPara>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9" name="文本框 8">
                <a:extLst>
                  <a:ext uri="{FF2B5EF4-FFF2-40B4-BE49-F238E27FC236}">
                    <a16:creationId xmlns:a16="http://schemas.microsoft.com/office/drawing/2014/main" id="{D9AC9928-600F-D17E-EAC8-092B44995A3A}"/>
                  </a:ext>
                </a:extLst>
              </p:cNvPr>
              <p:cNvSpPr txBox="1">
                <a:spLocks noRot="1" noChangeAspect="1" noMove="1" noResize="1" noEditPoints="1" noAdjustHandles="1" noChangeArrowheads="1" noChangeShapeType="1" noTextEdit="1"/>
              </p:cNvSpPr>
              <p:nvPr/>
            </p:nvSpPr>
            <p:spPr>
              <a:xfrm>
                <a:off x="5626100" y="2124131"/>
                <a:ext cx="6565900" cy="2146421"/>
              </a:xfrm>
              <a:prstGeom prst="rect">
                <a:avLst/>
              </a:prstGeom>
              <a:blipFill>
                <a:blip r:embed="rId3"/>
                <a:stretch>
                  <a:fillRect t="-141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229251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049507-60A6-3276-21A2-D32A483CBAB6}"/>
              </a:ext>
            </a:extLst>
          </p:cNvPr>
          <p:cNvSpPr>
            <a:spLocks noGrp="1"/>
          </p:cNvSpPr>
          <p:nvPr>
            <p:ph type="title"/>
          </p:nvPr>
        </p:nvSpPr>
        <p:spPr/>
        <p:txBody>
          <a:bodyPr/>
          <a:lstStyle/>
          <a:p>
            <a:r>
              <a:rPr lang="zh-CN" altLang="en-US" dirty="0"/>
              <a:t>速度分辨率</a:t>
            </a:r>
          </a:p>
        </p:txBody>
      </p:sp>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A6CD98D8-9A89-285D-0D58-E3332FE9F343}"/>
                  </a:ext>
                </a:extLst>
              </p:cNvPr>
              <p:cNvSpPr txBox="1"/>
              <p:nvPr/>
            </p:nvSpPr>
            <p:spPr>
              <a:xfrm>
                <a:off x="114300" y="2195144"/>
                <a:ext cx="6096000" cy="3090013"/>
              </a:xfrm>
              <a:prstGeom prst="rect">
                <a:avLst/>
              </a:prstGeom>
              <a:noFill/>
            </p:spPr>
            <p:txBody>
              <a:bodyPr wrap="square">
                <a:spAutoFit/>
              </a:bodyPr>
              <a:lstStyle/>
              <a:p>
                <a:pPr marL="228600"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方法一：</a:t>
                </a:r>
              </a:p>
              <a:p>
                <a:pPr marL="228600" indent="266700" algn="just"/>
                <a14:m>
                  <m:oMathPara xmlns:m="http://schemas.openxmlformats.org/officeDocument/2006/math">
                    <m:oMathParaPr>
                      <m:jc m:val="centerGroup"/>
                    </m:oMathParaPr>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𝜙</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0</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4</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𝜋</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𝑑</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𝜆</m:t>
                          </m:r>
                        </m:den>
                      </m:f>
                    </m:oMath>
                  </m:oMathPara>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两个相邻周期：</a:t>
                </a:r>
                <a14:m>
                  <m:oMath xmlns:m="http://schemas.openxmlformats.org/officeDocument/2006/math">
                    <m:r>
                      <m:rPr>
                        <m:sty m:val="p"/>
                      </m:rPr>
                      <a:rPr lang="en-US" altLang="zh-CN" sz="1800" kern="100">
                        <a:effectLst/>
                        <a:latin typeface="Cambria Math" panose="02040503050406030204" pitchFamily="18" charset="0"/>
                        <a:ea typeface="等线" panose="02010600030101010101" pitchFamily="2" charset="-122"/>
                        <a:cs typeface="Times New Roman" panose="02020603050405020304" pitchFamily="18" charset="0"/>
                      </a:rPr>
                      <m:t>Δ</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𝜙</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4</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𝜋</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𝑣𝑇</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𝜆</m:t>
                        </m:r>
                      </m:den>
                    </m:f>
                  </m:oMath>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266700" algn="just"/>
                <a14:m>
                  <m:oMathPara xmlns:m="http://schemas.openxmlformats.org/officeDocument/2006/math">
                    <m:oMathParaPr>
                      <m:jc m:val="centerGroup"/>
                    </m:oMathParaPr>
                    <m:oMath xmlns:m="http://schemas.openxmlformats.org/officeDocument/2006/math">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𝑣</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𝜆</m:t>
                          </m:r>
                          <m:r>
                            <m:rPr>
                              <m:sty m:val="p"/>
                            </m:rPr>
                            <a:rPr lang="en-US" altLang="zh-CN" sz="1800" kern="100">
                              <a:effectLst/>
                              <a:latin typeface="Cambria Math" panose="02040503050406030204" pitchFamily="18" charset="0"/>
                              <a:ea typeface="等线" panose="02010600030101010101" pitchFamily="2" charset="-122"/>
                              <a:cs typeface="Times New Roman" panose="02020603050405020304" pitchFamily="18" charset="0"/>
                            </a:rPr>
                            <m:t>Δ</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𝜙</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4</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𝜋</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𝑇</m:t>
                          </m:r>
                        </m:den>
                      </m:f>
                    </m:oMath>
                  </m:oMathPara>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266700" algn="just"/>
                <a14:m>
                  <m:oMathPara xmlns:m="http://schemas.openxmlformats.org/officeDocument/2006/math">
                    <m:oMathParaPr>
                      <m:jc m:val="centerGroup"/>
                    </m:oMathParaPr>
                    <m:oMath xmlns:m="http://schemas.openxmlformats.org/officeDocument/2006/math">
                      <m:r>
                        <m:rPr>
                          <m:sty m:val="p"/>
                        </m:rPr>
                        <a:rPr lang="en-US" altLang="zh-CN" sz="1800" kern="100">
                          <a:effectLst/>
                          <a:latin typeface="Cambria Math" panose="02040503050406030204" pitchFamily="18" charset="0"/>
                          <a:ea typeface="等线" panose="02010600030101010101" pitchFamily="2" charset="-122"/>
                          <a:cs typeface="Times New Roman" panose="02020603050405020304" pitchFamily="18" charset="0"/>
                        </a:rPr>
                        <m:t>Δ</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𝑣</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𝜆</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2</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𝑁</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𝑑</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𝑇</m:t>
                          </m:r>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m:t>
                              </m:r>
                            </m:num>
                            <m:den>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m:t>
                                  </m:r>
                                </m:sub>
                              </m:sSub>
                            </m:den>
                          </m:f>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2</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𝑁</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𝑑</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𝑇</m:t>
                          </m:r>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2</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𝑁</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𝑑</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𝑇</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m:t>
                              </m:r>
                            </m:sub>
                          </m:sSub>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3×10^8</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2×128×8×</m:t>
                          </m:r>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10</m:t>
                              </m:r>
                            </m:e>
                            <m:sup>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−6</m:t>
                              </m:r>
                            </m:sup>
                          </m:sSup>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×77×</m:t>
                          </m:r>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10</m:t>
                              </m:r>
                            </m:e>
                            <m:sup>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9</m:t>
                              </m:r>
                            </m:sup>
                          </m:sSup>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=1.9024</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𝑚</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𝑠</m:t>
                      </m:r>
                    </m:oMath>
                  </m:oMathPara>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5" name="文本框 4">
                <a:extLst>
                  <a:ext uri="{FF2B5EF4-FFF2-40B4-BE49-F238E27FC236}">
                    <a16:creationId xmlns:a16="http://schemas.microsoft.com/office/drawing/2014/main" id="{A6CD98D8-9A89-285D-0D58-E3332FE9F343}"/>
                  </a:ext>
                </a:extLst>
              </p:cNvPr>
              <p:cNvSpPr txBox="1">
                <a:spLocks noRot="1" noChangeAspect="1" noMove="1" noResize="1" noEditPoints="1" noAdjustHandles="1" noChangeArrowheads="1" noChangeShapeType="1" noTextEdit="1"/>
              </p:cNvSpPr>
              <p:nvPr/>
            </p:nvSpPr>
            <p:spPr>
              <a:xfrm>
                <a:off x="114300" y="2195144"/>
                <a:ext cx="6096000" cy="3090013"/>
              </a:xfrm>
              <a:prstGeom prst="rect">
                <a:avLst/>
              </a:prstGeom>
              <a:blipFill>
                <a:blip r:embed="rId2"/>
                <a:stretch>
                  <a:fillRect t="-98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EFA71AFE-5643-4D55-02D9-1D49E2386F9F}"/>
                  </a:ext>
                </a:extLst>
              </p:cNvPr>
              <p:cNvSpPr txBox="1"/>
              <p:nvPr/>
            </p:nvSpPr>
            <p:spPr>
              <a:xfrm>
                <a:off x="5537200" y="2195144"/>
                <a:ext cx="6337300" cy="3266728"/>
              </a:xfrm>
              <a:prstGeom prst="rect">
                <a:avLst/>
              </a:prstGeom>
              <a:noFill/>
            </p:spPr>
            <p:txBody>
              <a:bodyPr wrap="square">
                <a:spAutoFit/>
              </a:bodyPr>
              <a:lstStyle/>
              <a:p>
                <a:pPr marL="228600"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方法二：</a:t>
                </a:r>
              </a:p>
              <a:p>
                <a:pPr marL="228600" indent="266700" algn="just"/>
                <a14:m>
                  <m:oMathPara xmlns:m="http://schemas.openxmlformats.org/officeDocument/2006/math">
                    <m:oMathParaPr>
                      <m:jc m:val="centerGroup"/>
                    </m:oMathParaPr>
                    <m:oMath xmlns:m="http://schemas.openxmlformats.org/officeDocument/2006/math">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𝜔</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4</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𝜋</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𝑣𝑇</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m:t>
                          </m:r>
                        </m:den>
                      </m:f>
                    </m:oMath>
                  </m:oMathPara>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266700" algn="just"/>
                <a14:m>
                  <m:oMathPara xmlns:m="http://schemas.openxmlformats.org/officeDocument/2006/math">
                    <m:oMathParaPr>
                      <m:jc m:val="centerGroup"/>
                    </m:oMathParaPr>
                    <m:oMath xmlns:m="http://schemas.openxmlformats.org/officeDocument/2006/math">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𝑣</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𝜔</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4</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𝜋</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𝑇</m:t>
                          </m:r>
                        </m:den>
                      </m:f>
                    </m:oMath>
                  </m:oMathPara>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𝑁</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𝑑</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𝑇</m:t>
                    </m:r>
                  </m:oMath>
                </a14:m>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的时间里，采样波频率（采样的波数除以时间）为</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𝐹</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𝑠</m:t>
                        </m:r>
                      </m:sub>
                    </m:sSub>
                  </m:oMath>
                </a14:m>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，采样波数为</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𝑁</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𝑑</m:t>
                        </m:r>
                      </m:sub>
                    </m:sSub>
                  </m:oMath>
                </a14:m>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，所以</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𝐹</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𝑠</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𝑁</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𝑑</m:t>
                            </m:r>
                          </m:sub>
                        </m:sSub>
                      </m:num>
                      <m:den>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𝑁</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𝑑</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𝑇</m:t>
                        </m:r>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𝑇</m:t>
                        </m:r>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𝐹</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𝑠</m:t>
                            </m:r>
                          </m:sub>
                        </m:sSub>
                      </m:num>
                      <m:den>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𝑁</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𝑑</m:t>
                            </m:r>
                          </m:sub>
                        </m:sSub>
                      </m:den>
                    </m:f>
                  </m:oMath>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266700" algn="just"/>
                <a14:m>
                  <m:oMathPara xmlns:m="http://schemas.openxmlformats.org/officeDocument/2006/math">
                    <m:oMathParaPr>
                      <m:jc m:val="centerGroup"/>
                    </m:oMathParaPr>
                    <m:oMath xmlns:m="http://schemas.openxmlformats.org/officeDocument/2006/math">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𝜔</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=2</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𝜋</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num>
                        <m:den>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𝐹</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𝑠</m:t>
                              </m:r>
                            </m:sub>
                          </m:sSub>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2</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𝜋</m:t>
                          </m:r>
                        </m:num>
                        <m:den>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𝑁</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𝑑</m:t>
                              </m:r>
                            </m:sub>
                          </m:sSub>
                        </m:den>
                      </m:f>
                    </m:oMath>
                  </m:oMathPara>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266700" algn="just"/>
                <a14:m>
                  <m:oMathPara xmlns:m="http://schemas.openxmlformats.org/officeDocument/2006/math">
                    <m:oMathParaPr>
                      <m:jc m:val="centerGroup"/>
                    </m:oMathParaPr>
                    <m:oMath xmlns:m="http://schemas.openxmlformats.org/officeDocument/2006/math">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𝑣</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𝜔</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4</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𝜋</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𝑇</m:t>
                          </m:r>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m:t>
                          </m:r>
                        </m:num>
                        <m:den>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2</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𝑐</m:t>
                              </m:r>
                            </m:sub>
                          </m:sSub>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𝑁</m:t>
                              </m:r>
                            </m:e>
                            <m: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𝑑</m:t>
                              </m:r>
                            </m:sub>
                          </m:sSub>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𝑇</m:t>
                          </m:r>
                        </m:den>
                      </m:f>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=1.9024</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𝑚</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等线" panose="02010600030101010101" pitchFamily="2" charset="-122"/>
                          <a:cs typeface="Times New Roman" panose="02020603050405020304" pitchFamily="18" charset="0"/>
                        </a:rPr>
                        <m:t>𝑠</m:t>
                      </m:r>
                    </m:oMath>
                  </m:oMathPara>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7" name="文本框 6">
                <a:extLst>
                  <a:ext uri="{FF2B5EF4-FFF2-40B4-BE49-F238E27FC236}">
                    <a16:creationId xmlns:a16="http://schemas.microsoft.com/office/drawing/2014/main" id="{EFA71AFE-5643-4D55-02D9-1D49E2386F9F}"/>
                  </a:ext>
                </a:extLst>
              </p:cNvPr>
              <p:cNvSpPr txBox="1">
                <a:spLocks noRot="1" noChangeAspect="1" noMove="1" noResize="1" noEditPoints="1" noAdjustHandles="1" noChangeArrowheads="1" noChangeShapeType="1" noTextEdit="1"/>
              </p:cNvSpPr>
              <p:nvPr/>
            </p:nvSpPr>
            <p:spPr>
              <a:xfrm>
                <a:off x="5537200" y="2195144"/>
                <a:ext cx="6337300" cy="3266728"/>
              </a:xfrm>
              <a:prstGeom prst="rect">
                <a:avLst/>
              </a:prstGeom>
              <a:blipFill>
                <a:blip r:embed="rId3"/>
                <a:stretch>
                  <a:fillRect t="-933" r="-432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20283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647DC6-39D2-B5C8-BD7B-D71BDC1D89F5}"/>
              </a:ext>
            </a:extLst>
          </p:cNvPr>
          <p:cNvSpPr>
            <a:spLocks noGrp="1"/>
          </p:cNvSpPr>
          <p:nvPr>
            <p:ph type="title"/>
          </p:nvPr>
        </p:nvSpPr>
        <p:spPr>
          <a:xfrm>
            <a:off x="2451100" y="1768475"/>
            <a:ext cx="7054850" cy="1325563"/>
          </a:xfrm>
        </p:spPr>
        <p:txBody>
          <a:bodyPr/>
          <a:lstStyle/>
          <a:p>
            <a:r>
              <a:rPr lang="zh-CN" altLang="en-US" dirty="0"/>
              <a:t>结果呈现（</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a:t>
            </a:r>
            <a:r>
              <a:rPr lang="en-US" altLang="zh-CN" dirty="0"/>
              <a:t>e</a:t>
            </a:r>
            <a:r>
              <a:rPr lang="zh-CN" altLang="en-US" dirty="0"/>
              <a:t>）</a:t>
            </a:r>
            <a:endParaRPr lang="en-US" altLang="zh-CN" dirty="0"/>
          </a:p>
        </p:txBody>
      </p:sp>
    </p:spTree>
    <p:extLst>
      <p:ext uri="{BB962C8B-B14F-4D97-AF65-F5344CB8AC3E}">
        <p14:creationId xmlns:p14="http://schemas.microsoft.com/office/powerpoint/2010/main" val="3218081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25BE4E-CD6A-606A-860F-0925A5969CA3}"/>
              </a:ext>
            </a:extLst>
          </p:cNvPr>
          <p:cNvSpPr>
            <a:spLocks noGrp="1"/>
          </p:cNvSpPr>
          <p:nvPr>
            <p:ph type="title"/>
          </p:nvPr>
        </p:nvSpPr>
        <p:spPr/>
        <p:txBody>
          <a:bodyPr/>
          <a:lstStyle/>
          <a:p>
            <a:r>
              <a:rPr lang="zh-CN" altLang="en-US" dirty="0"/>
              <a:t>结果呈现（</a:t>
            </a:r>
            <a:r>
              <a:rPr lang="en-US" altLang="zh-CN" dirty="0"/>
              <a:t>a</a:t>
            </a:r>
            <a:r>
              <a:rPr lang="zh-CN" altLang="en-US" dirty="0"/>
              <a:t>）</a:t>
            </a:r>
          </a:p>
        </p:txBody>
      </p:sp>
      <p:pic>
        <p:nvPicPr>
          <p:cNvPr id="5" name="图片 4">
            <a:extLst>
              <a:ext uri="{FF2B5EF4-FFF2-40B4-BE49-F238E27FC236}">
                <a16:creationId xmlns:a16="http://schemas.microsoft.com/office/drawing/2014/main" id="{0AFE945B-1B56-8B9A-F25D-08E7FE0E8E14}"/>
              </a:ext>
            </a:extLst>
          </p:cNvPr>
          <p:cNvPicPr>
            <a:picLocks noChangeAspect="1"/>
          </p:cNvPicPr>
          <p:nvPr/>
        </p:nvPicPr>
        <p:blipFill>
          <a:blip r:embed="rId2"/>
          <a:stretch>
            <a:fillRect/>
          </a:stretch>
        </p:blipFill>
        <p:spPr>
          <a:xfrm>
            <a:off x="1294255" y="2055477"/>
            <a:ext cx="4204845" cy="3616280"/>
          </a:xfrm>
          <a:prstGeom prst="rect">
            <a:avLst/>
          </a:prstGeom>
        </p:spPr>
      </p:pic>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A088AE69-17F6-FD71-2DD8-BE036C479B09}"/>
                  </a:ext>
                </a:extLst>
              </p:cNvPr>
              <p:cNvSpPr txBox="1"/>
              <p:nvPr/>
            </p:nvSpPr>
            <p:spPr>
              <a:xfrm>
                <a:off x="5759452" y="3416300"/>
                <a:ext cx="4419598"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𝑅</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𝑅</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𝜔</m:t>
                      </m:r>
                      <m:r>
                        <a:rPr lang="en-US" altLang="zh-CN" b="0" i="1" smtClean="0">
                          <a:latin typeface="Cambria Math" panose="02040503050406030204" pitchFamily="18" charset="0"/>
                          <a:ea typeface="Cambria Math" panose="02040503050406030204" pitchFamily="18" charset="0"/>
                        </a:rPr>
                        <m:t>=1×89=89</m:t>
                      </m:r>
                      <m:r>
                        <m:rPr>
                          <m:sty m:val="p"/>
                        </m:rPr>
                        <a:rPr lang="en-US" altLang="zh-CN" i="1">
                          <a:latin typeface="Cambria Math" panose="02040503050406030204" pitchFamily="18" charset="0"/>
                          <a:ea typeface="Cambria Math" panose="02040503050406030204" pitchFamily="18" charset="0"/>
                        </a:rPr>
                        <m:t>m</m:t>
                      </m:r>
                    </m:oMath>
                  </m:oMathPara>
                </a14:m>
                <a:endParaRPr lang="zh-CN" altLang="en-US" dirty="0"/>
              </a:p>
            </p:txBody>
          </p:sp>
        </mc:Choice>
        <mc:Fallback>
          <p:sp>
            <p:nvSpPr>
              <p:cNvPr id="6" name="文本框 5">
                <a:extLst>
                  <a:ext uri="{FF2B5EF4-FFF2-40B4-BE49-F238E27FC236}">
                    <a16:creationId xmlns:a16="http://schemas.microsoft.com/office/drawing/2014/main" id="{A088AE69-17F6-FD71-2DD8-BE036C479B09}"/>
                  </a:ext>
                </a:extLst>
              </p:cNvPr>
              <p:cNvSpPr txBox="1">
                <a:spLocks noRot="1" noChangeAspect="1" noMove="1" noResize="1" noEditPoints="1" noAdjustHandles="1" noChangeArrowheads="1" noChangeShapeType="1" noTextEdit="1"/>
              </p:cNvSpPr>
              <p:nvPr/>
            </p:nvSpPr>
            <p:spPr>
              <a:xfrm>
                <a:off x="5759452" y="3416300"/>
                <a:ext cx="4419598" cy="369332"/>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19188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A863E9-649C-BD74-3191-ADE33DDDE5E5}"/>
              </a:ext>
            </a:extLst>
          </p:cNvPr>
          <p:cNvSpPr>
            <a:spLocks noGrp="1"/>
          </p:cNvSpPr>
          <p:nvPr>
            <p:ph type="title"/>
          </p:nvPr>
        </p:nvSpPr>
        <p:spPr/>
        <p:txBody>
          <a:bodyPr/>
          <a:lstStyle/>
          <a:p>
            <a:r>
              <a:rPr lang="zh-CN" altLang="en-US" dirty="0"/>
              <a:t>结果呈现（</a:t>
            </a:r>
            <a:r>
              <a:rPr lang="en-US" altLang="zh-CN" dirty="0"/>
              <a:t>b</a:t>
            </a:r>
            <a:r>
              <a:rPr lang="zh-CN" altLang="en-US" dirty="0"/>
              <a:t>）</a:t>
            </a:r>
          </a:p>
        </p:txBody>
      </p:sp>
      <p:pic>
        <p:nvPicPr>
          <p:cNvPr id="5" name="图片 4">
            <a:extLst>
              <a:ext uri="{FF2B5EF4-FFF2-40B4-BE49-F238E27FC236}">
                <a16:creationId xmlns:a16="http://schemas.microsoft.com/office/drawing/2014/main" id="{3124DA9D-7863-E9B2-1AD6-AE5428163DD2}"/>
              </a:ext>
            </a:extLst>
          </p:cNvPr>
          <p:cNvPicPr>
            <a:picLocks noChangeAspect="1"/>
          </p:cNvPicPr>
          <p:nvPr/>
        </p:nvPicPr>
        <p:blipFill>
          <a:blip r:embed="rId3"/>
          <a:stretch>
            <a:fillRect/>
          </a:stretch>
        </p:blipFill>
        <p:spPr>
          <a:xfrm>
            <a:off x="891007" y="2222841"/>
            <a:ext cx="3178646" cy="1325563"/>
          </a:xfrm>
          <a:prstGeom prst="rect">
            <a:avLst/>
          </a:prstGeom>
        </p:spPr>
      </p:pic>
      <p:pic>
        <p:nvPicPr>
          <p:cNvPr id="7" name="图片 6">
            <a:extLst>
              <a:ext uri="{FF2B5EF4-FFF2-40B4-BE49-F238E27FC236}">
                <a16:creationId xmlns:a16="http://schemas.microsoft.com/office/drawing/2014/main" id="{8499CEF3-8220-C970-06F5-E9692C449E45}"/>
              </a:ext>
            </a:extLst>
          </p:cNvPr>
          <p:cNvPicPr>
            <a:picLocks noChangeAspect="1"/>
          </p:cNvPicPr>
          <p:nvPr/>
        </p:nvPicPr>
        <p:blipFill>
          <a:blip r:embed="rId4"/>
          <a:stretch>
            <a:fillRect/>
          </a:stretch>
        </p:blipFill>
        <p:spPr>
          <a:xfrm>
            <a:off x="891007" y="4390481"/>
            <a:ext cx="3180831" cy="1271421"/>
          </a:xfrm>
          <a:prstGeom prst="rect">
            <a:avLst/>
          </a:prstGeom>
        </p:spPr>
      </p:pic>
      <p:sp>
        <p:nvSpPr>
          <p:cNvPr id="8" name="文本框 7">
            <a:extLst>
              <a:ext uri="{FF2B5EF4-FFF2-40B4-BE49-F238E27FC236}">
                <a16:creationId xmlns:a16="http://schemas.microsoft.com/office/drawing/2014/main" id="{6D6B7C24-05AB-7361-6CBD-A697FFEF9828}"/>
              </a:ext>
            </a:extLst>
          </p:cNvPr>
          <p:cNvSpPr txBox="1"/>
          <p:nvPr/>
        </p:nvSpPr>
        <p:spPr>
          <a:xfrm>
            <a:off x="1219200" y="1772098"/>
            <a:ext cx="2419350" cy="369332"/>
          </a:xfrm>
          <a:prstGeom prst="rect">
            <a:avLst/>
          </a:prstGeom>
          <a:noFill/>
        </p:spPr>
        <p:txBody>
          <a:bodyPr wrap="square" rtlCol="0">
            <a:spAutoFit/>
          </a:bodyPr>
          <a:lstStyle/>
          <a:p>
            <a:r>
              <a:rPr lang="zh-CN" altLang="en-US" dirty="0"/>
              <a:t>第一周期的混频信号</a:t>
            </a:r>
          </a:p>
        </p:txBody>
      </p:sp>
      <p:sp>
        <p:nvSpPr>
          <p:cNvPr id="9" name="文本框 8">
            <a:extLst>
              <a:ext uri="{FF2B5EF4-FFF2-40B4-BE49-F238E27FC236}">
                <a16:creationId xmlns:a16="http://schemas.microsoft.com/office/drawing/2014/main" id="{9B8A249C-7A84-A8CD-E5F8-45AE5FB77D7E}"/>
              </a:ext>
            </a:extLst>
          </p:cNvPr>
          <p:cNvSpPr txBox="1"/>
          <p:nvPr/>
        </p:nvSpPr>
        <p:spPr>
          <a:xfrm>
            <a:off x="1143655" y="3950148"/>
            <a:ext cx="2673350" cy="369332"/>
          </a:xfrm>
          <a:prstGeom prst="rect">
            <a:avLst/>
          </a:prstGeom>
          <a:noFill/>
        </p:spPr>
        <p:txBody>
          <a:bodyPr wrap="square" rtlCol="0">
            <a:spAutoFit/>
          </a:bodyPr>
          <a:lstStyle/>
          <a:p>
            <a:r>
              <a:rPr lang="zh-CN" altLang="en-US" dirty="0"/>
              <a:t>第一周期的傅里叶变换</a:t>
            </a:r>
          </a:p>
        </p:txBody>
      </p:sp>
      <p:pic>
        <p:nvPicPr>
          <p:cNvPr id="13" name="图片 12">
            <a:extLst>
              <a:ext uri="{FF2B5EF4-FFF2-40B4-BE49-F238E27FC236}">
                <a16:creationId xmlns:a16="http://schemas.microsoft.com/office/drawing/2014/main" id="{6BA3FE28-C155-34D9-4C16-C2761D42DF87}"/>
              </a:ext>
            </a:extLst>
          </p:cNvPr>
          <p:cNvPicPr>
            <a:picLocks noChangeAspect="1"/>
          </p:cNvPicPr>
          <p:nvPr/>
        </p:nvPicPr>
        <p:blipFill>
          <a:blip r:embed="rId5"/>
          <a:stretch>
            <a:fillRect/>
          </a:stretch>
        </p:blipFill>
        <p:spPr>
          <a:xfrm>
            <a:off x="5128443" y="1733377"/>
            <a:ext cx="2726509" cy="2034554"/>
          </a:xfrm>
          <a:prstGeom prst="rect">
            <a:avLst/>
          </a:prstGeom>
        </p:spPr>
      </p:pic>
      <p:sp>
        <p:nvSpPr>
          <p:cNvPr id="14" name="文本框 13">
            <a:extLst>
              <a:ext uri="{FF2B5EF4-FFF2-40B4-BE49-F238E27FC236}">
                <a16:creationId xmlns:a16="http://schemas.microsoft.com/office/drawing/2014/main" id="{9C67C9BE-4B49-38C3-98FF-4C5530247699}"/>
              </a:ext>
            </a:extLst>
          </p:cNvPr>
          <p:cNvSpPr txBox="1"/>
          <p:nvPr/>
        </p:nvSpPr>
        <p:spPr>
          <a:xfrm>
            <a:off x="5210993" y="1227820"/>
            <a:ext cx="2771808" cy="369332"/>
          </a:xfrm>
          <a:prstGeom prst="rect">
            <a:avLst/>
          </a:prstGeom>
          <a:noFill/>
        </p:spPr>
        <p:txBody>
          <a:bodyPr wrap="square" rtlCol="0">
            <a:spAutoFit/>
          </a:bodyPr>
          <a:lstStyle/>
          <a:p>
            <a:r>
              <a:rPr lang="zh-CN" altLang="en-US" dirty="0"/>
              <a:t>二维傅里叶变换后的图像</a:t>
            </a:r>
          </a:p>
        </p:txBody>
      </p:sp>
      <p:pic>
        <p:nvPicPr>
          <p:cNvPr id="16" name="图片 15">
            <a:extLst>
              <a:ext uri="{FF2B5EF4-FFF2-40B4-BE49-F238E27FC236}">
                <a16:creationId xmlns:a16="http://schemas.microsoft.com/office/drawing/2014/main" id="{649108E7-AF3B-4B9A-F169-10764723B6BF}"/>
              </a:ext>
            </a:extLst>
          </p:cNvPr>
          <p:cNvPicPr>
            <a:picLocks noChangeAspect="1"/>
          </p:cNvPicPr>
          <p:nvPr/>
        </p:nvPicPr>
        <p:blipFill>
          <a:blip r:embed="rId6"/>
          <a:stretch>
            <a:fillRect/>
          </a:stretch>
        </p:blipFill>
        <p:spPr>
          <a:xfrm>
            <a:off x="5127690" y="4390481"/>
            <a:ext cx="2726509" cy="1927627"/>
          </a:xfrm>
          <a:prstGeom prst="rect">
            <a:avLst/>
          </a:prstGeom>
        </p:spPr>
      </p:pic>
      <p:sp>
        <p:nvSpPr>
          <p:cNvPr id="17" name="文本框 16">
            <a:extLst>
              <a:ext uri="{FF2B5EF4-FFF2-40B4-BE49-F238E27FC236}">
                <a16:creationId xmlns:a16="http://schemas.microsoft.com/office/drawing/2014/main" id="{B1B614E8-6A59-5790-54F9-E09A39A2F220}"/>
              </a:ext>
            </a:extLst>
          </p:cNvPr>
          <p:cNvSpPr txBox="1"/>
          <p:nvPr/>
        </p:nvSpPr>
        <p:spPr>
          <a:xfrm>
            <a:off x="5105040" y="3929603"/>
            <a:ext cx="2771808" cy="369332"/>
          </a:xfrm>
          <a:prstGeom prst="rect">
            <a:avLst/>
          </a:prstGeom>
          <a:noFill/>
        </p:spPr>
        <p:txBody>
          <a:bodyPr wrap="square" rtlCol="0">
            <a:spAutoFit/>
          </a:bodyPr>
          <a:lstStyle/>
          <a:p>
            <a:pPr algn="ctr"/>
            <a:r>
              <a:rPr lang="zh-CN" altLang="en-US" dirty="0"/>
              <a:t>重点突出</a:t>
            </a:r>
          </a:p>
        </p:txBody>
      </p:sp>
      <p:sp>
        <p:nvSpPr>
          <p:cNvPr id="23" name="文本框 22">
            <a:extLst>
              <a:ext uri="{FF2B5EF4-FFF2-40B4-BE49-F238E27FC236}">
                <a16:creationId xmlns:a16="http://schemas.microsoft.com/office/drawing/2014/main" id="{42ABAA40-CE2A-7C9F-D92D-E0A7AE4DF9C9}"/>
              </a:ext>
            </a:extLst>
          </p:cNvPr>
          <p:cNvSpPr txBox="1"/>
          <p:nvPr/>
        </p:nvSpPr>
        <p:spPr>
          <a:xfrm>
            <a:off x="7956550" y="1852146"/>
            <a:ext cx="1797050" cy="369332"/>
          </a:xfrm>
          <a:prstGeom prst="rect">
            <a:avLst/>
          </a:prstGeom>
          <a:noFill/>
        </p:spPr>
        <p:txBody>
          <a:bodyPr wrap="square">
            <a:spAutoFit/>
          </a:bodyPr>
          <a:lstStyle/>
          <a:p>
            <a:r>
              <a:rPr lang="en-US" altLang="zh-CN" dirty="0"/>
              <a:t>range_res = 1;</a:t>
            </a:r>
            <a:endParaRPr lang="zh-CN" altLang="en-US" dirty="0"/>
          </a:p>
        </p:txBody>
      </p:sp>
      <p:sp>
        <p:nvSpPr>
          <p:cNvPr id="27" name="文本框 26">
            <a:extLst>
              <a:ext uri="{FF2B5EF4-FFF2-40B4-BE49-F238E27FC236}">
                <a16:creationId xmlns:a16="http://schemas.microsoft.com/office/drawing/2014/main" id="{11FD69E9-7F26-9796-7FEC-80A117A24344}"/>
              </a:ext>
            </a:extLst>
          </p:cNvPr>
          <p:cNvSpPr txBox="1"/>
          <p:nvPr/>
        </p:nvSpPr>
        <p:spPr>
          <a:xfrm>
            <a:off x="7956550" y="2513959"/>
            <a:ext cx="3556000" cy="369332"/>
          </a:xfrm>
          <a:prstGeom prst="rect">
            <a:avLst/>
          </a:prstGeom>
          <a:noFill/>
        </p:spPr>
        <p:txBody>
          <a:bodyPr wrap="square">
            <a:spAutoFit/>
          </a:bodyPr>
          <a:lstStyle/>
          <a:p>
            <a:r>
              <a:rPr lang="en-US" altLang="zh-CN" dirty="0"/>
              <a:t>vel_res = (c/fc)/(2*Tchirp*Nd);</a:t>
            </a:r>
            <a:endParaRPr lang="zh-CN" altLang="en-US" dirty="0"/>
          </a:p>
        </p:txBody>
      </p:sp>
      <p:sp>
        <p:nvSpPr>
          <p:cNvPr id="31" name="文本框 30">
            <a:extLst>
              <a:ext uri="{FF2B5EF4-FFF2-40B4-BE49-F238E27FC236}">
                <a16:creationId xmlns:a16="http://schemas.microsoft.com/office/drawing/2014/main" id="{86EDE741-E2DC-B2F8-407A-294258B7B815}"/>
              </a:ext>
            </a:extLst>
          </p:cNvPr>
          <p:cNvSpPr txBox="1"/>
          <p:nvPr/>
        </p:nvSpPr>
        <p:spPr>
          <a:xfrm>
            <a:off x="7956550" y="3121600"/>
            <a:ext cx="4235450" cy="646331"/>
          </a:xfrm>
          <a:prstGeom prst="rect">
            <a:avLst/>
          </a:prstGeom>
          <a:noFill/>
        </p:spPr>
        <p:txBody>
          <a:bodyPr wrap="square">
            <a:spAutoFit/>
          </a:bodyPr>
          <a:lstStyle/>
          <a:p>
            <a:r>
              <a:rPr lang="en-US" altLang="zh-CN" dirty="0"/>
              <a:t>doppler_axis = vel_res*((-Nd/2:Nd/2-1));</a:t>
            </a:r>
          </a:p>
          <a:p>
            <a:r>
              <a:rPr lang="en-US" altLang="zh-CN" dirty="0"/>
              <a:t>range_axis = range_res*((1:Nr/2));</a:t>
            </a:r>
            <a:endParaRPr lang="zh-CN" altLang="en-US" dirty="0"/>
          </a:p>
        </p:txBody>
      </p:sp>
      <p:sp>
        <p:nvSpPr>
          <p:cNvPr id="32" name="文本框 31">
            <a:extLst>
              <a:ext uri="{FF2B5EF4-FFF2-40B4-BE49-F238E27FC236}">
                <a16:creationId xmlns:a16="http://schemas.microsoft.com/office/drawing/2014/main" id="{6A4D3BC6-5B43-706E-5106-199774676BCB}"/>
              </a:ext>
            </a:extLst>
          </p:cNvPr>
          <p:cNvSpPr txBox="1"/>
          <p:nvPr/>
        </p:nvSpPr>
        <p:spPr>
          <a:xfrm>
            <a:off x="7982801" y="4870449"/>
            <a:ext cx="2470150" cy="646331"/>
          </a:xfrm>
          <a:prstGeom prst="rect">
            <a:avLst/>
          </a:prstGeom>
          <a:noFill/>
        </p:spPr>
        <p:txBody>
          <a:bodyPr wrap="square" rtlCol="0">
            <a:spAutoFit/>
          </a:bodyPr>
          <a:lstStyle/>
          <a:p>
            <a:r>
              <a:rPr lang="en-US" altLang="zh-CN" dirty="0"/>
              <a:t>89m</a:t>
            </a:r>
          </a:p>
          <a:p>
            <a:r>
              <a:rPr lang="en-US" altLang="zh-CN" dirty="0"/>
              <a:t>11.4144m/s</a:t>
            </a:r>
            <a:endParaRPr lang="zh-CN" altLang="en-US" dirty="0"/>
          </a:p>
        </p:txBody>
      </p:sp>
    </p:spTree>
    <p:extLst>
      <p:ext uri="{BB962C8B-B14F-4D97-AF65-F5344CB8AC3E}">
        <p14:creationId xmlns:p14="http://schemas.microsoft.com/office/powerpoint/2010/main" val="2965033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AD67BF-D9F4-9B4F-0A81-BE6A3D2ACB0B}"/>
              </a:ext>
            </a:extLst>
          </p:cNvPr>
          <p:cNvSpPr>
            <a:spLocks noGrp="1"/>
          </p:cNvSpPr>
          <p:nvPr>
            <p:ph type="title"/>
          </p:nvPr>
        </p:nvSpPr>
        <p:spPr/>
        <p:txBody>
          <a:bodyPr/>
          <a:lstStyle/>
          <a:p>
            <a:r>
              <a:rPr lang="zh-CN" altLang="en-US" dirty="0"/>
              <a:t>结果呈现（</a:t>
            </a:r>
            <a:r>
              <a:rPr lang="en-US" altLang="zh-CN" dirty="0"/>
              <a:t>c</a:t>
            </a:r>
            <a:r>
              <a:rPr lang="zh-CN" altLang="en-US" dirty="0"/>
              <a:t>）</a:t>
            </a:r>
          </a:p>
        </p:txBody>
      </p:sp>
      <p:sp>
        <p:nvSpPr>
          <p:cNvPr id="4" name="文本框 3">
            <a:extLst>
              <a:ext uri="{FF2B5EF4-FFF2-40B4-BE49-F238E27FC236}">
                <a16:creationId xmlns:a16="http://schemas.microsoft.com/office/drawing/2014/main" id="{0D813EE9-4128-1A8A-8FE9-A710EE3C959F}"/>
              </a:ext>
            </a:extLst>
          </p:cNvPr>
          <p:cNvSpPr txBox="1"/>
          <p:nvPr/>
        </p:nvSpPr>
        <p:spPr>
          <a:xfrm>
            <a:off x="1003300" y="1866900"/>
            <a:ext cx="5251450" cy="2031325"/>
          </a:xfrm>
          <a:prstGeom prst="rect">
            <a:avLst/>
          </a:prstGeom>
          <a:noFill/>
        </p:spPr>
        <p:txBody>
          <a:bodyPr wrap="square" rtlCol="0">
            <a:spAutoFit/>
          </a:bodyPr>
          <a:lstStyle/>
          <a:p>
            <a:r>
              <a:rPr lang="zh-CN" altLang="en-US" dirty="0"/>
              <a:t>由理论分析得：</a:t>
            </a:r>
            <a:endParaRPr lang="en-US" altLang="zh-CN" dirty="0"/>
          </a:p>
          <a:p>
            <a:r>
              <a:rPr lang="zh-CN" altLang="en-US" dirty="0"/>
              <a:t>范围：</a:t>
            </a:r>
            <a:endParaRPr lang="en-US" altLang="zh-CN" dirty="0"/>
          </a:p>
          <a:p>
            <a:r>
              <a:rPr lang="en-US" altLang="zh-CN" dirty="0"/>
              <a:t>1-512m</a:t>
            </a:r>
          </a:p>
          <a:p>
            <a:r>
              <a:rPr lang="en-US" altLang="zh-CN" dirty="0"/>
              <a:t>-1.9024*64~1.9024*63 = -121.7532~119.8509</a:t>
            </a:r>
          </a:p>
          <a:p>
            <a:r>
              <a:rPr lang="zh-CN" altLang="en-US" dirty="0"/>
              <a:t>精度：</a:t>
            </a:r>
            <a:endParaRPr lang="en-US" altLang="zh-CN" dirty="0"/>
          </a:p>
          <a:p>
            <a:r>
              <a:rPr lang="en-US" altLang="zh-CN" dirty="0"/>
              <a:t>1m</a:t>
            </a:r>
          </a:p>
          <a:p>
            <a:r>
              <a:rPr lang="en-US" altLang="zh-CN" dirty="0"/>
              <a:t>1.9024m/s</a:t>
            </a:r>
            <a:endParaRPr lang="zh-CN" altLang="en-US" dirty="0"/>
          </a:p>
        </p:txBody>
      </p:sp>
    </p:spTree>
    <p:extLst>
      <p:ext uri="{BB962C8B-B14F-4D97-AF65-F5344CB8AC3E}">
        <p14:creationId xmlns:p14="http://schemas.microsoft.com/office/powerpoint/2010/main" val="3383064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6F08F1-86F8-DE5F-99F0-F5CA9C5E4E4F}"/>
              </a:ext>
            </a:extLst>
          </p:cNvPr>
          <p:cNvSpPr>
            <a:spLocks noGrp="1"/>
          </p:cNvSpPr>
          <p:nvPr>
            <p:ph type="title"/>
          </p:nvPr>
        </p:nvSpPr>
        <p:spPr/>
        <p:txBody>
          <a:bodyPr/>
          <a:lstStyle/>
          <a:p>
            <a:r>
              <a:rPr lang="zh-CN" altLang="en-US" dirty="0"/>
              <a:t>结果呈现（</a:t>
            </a:r>
            <a:r>
              <a:rPr lang="en-US" altLang="zh-CN" dirty="0"/>
              <a:t>d</a:t>
            </a:r>
            <a:r>
              <a:rPr lang="zh-CN" altLang="en-US" dirty="0"/>
              <a:t>）</a:t>
            </a:r>
          </a:p>
        </p:txBody>
      </p:sp>
      <p:sp>
        <p:nvSpPr>
          <p:cNvPr id="4" name="矩形 3">
            <a:extLst>
              <a:ext uri="{FF2B5EF4-FFF2-40B4-BE49-F238E27FC236}">
                <a16:creationId xmlns:a16="http://schemas.microsoft.com/office/drawing/2014/main" id="{05DC4D68-137E-4E69-95F7-806E05A71404}"/>
              </a:ext>
            </a:extLst>
          </p:cNvPr>
          <p:cNvSpPr/>
          <p:nvPr/>
        </p:nvSpPr>
        <p:spPr>
          <a:xfrm>
            <a:off x="5514975" y="2832100"/>
            <a:ext cx="1162050" cy="78105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箭头连接符 5">
            <a:extLst>
              <a:ext uri="{FF2B5EF4-FFF2-40B4-BE49-F238E27FC236}">
                <a16:creationId xmlns:a16="http://schemas.microsoft.com/office/drawing/2014/main" id="{CA1AEC10-AC81-8E0B-C6B0-8816CC4E3017}"/>
              </a:ext>
            </a:extLst>
          </p:cNvPr>
          <p:cNvCxnSpPr/>
          <p:nvPr/>
        </p:nvCxnSpPr>
        <p:spPr>
          <a:xfrm>
            <a:off x="5730875" y="3492500"/>
            <a:ext cx="533400"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 name="直接箭头连接符 6">
            <a:extLst>
              <a:ext uri="{FF2B5EF4-FFF2-40B4-BE49-F238E27FC236}">
                <a16:creationId xmlns:a16="http://schemas.microsoft.com/office/drawing/2014/main" id="{6D4D7C7F-F88D-6B9E-DC2F-35795E33C3B1}"/>
              </a:ext>
            </a:extLst>
          </p:cNvPr>
          <p:cNvCxnSpPr>
            <a:cxnSpLocks/>
          </p:cNvCxnSpPr>
          <p:nvPr/>
        </p:nvCxnSpPr>
        <p:spPr>
          <a:xfrm flipV="1">
            <a:off x="5730875" y="3181350"/>
            <a:ext cx="0" cy="31115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1" name="直接连接符 10">
            <a:extLst>
              <a:ext uri="{FF2B5EF4-FFF2-40B4-BE49-F238E27FC236}">
                <a16:creationId xmlns:a16="http://schemas.microsoft.com/office/drawing/2014/main" id="{BAB5DF24-D2D4-44DF-AD50-1BA6976CA209}"/>
              </a:ext>
            </a:extLst>
          </p:cNvPr>
          <p:cNvCxnSpPr/>
          <p:nvPr/>
        </p:nvCxnSpPr>
        <p:spPr>
          <a:xfrm flipV="1">
            <a:off x="5730875" y="3181350"/>
            <a:ext cx="387350" cy="311150"/>
          </a:xfrm>
          <a:prstGeom prst="line">
            <a:avLst/>
          </a:prstGeom>
          <a:ln w="12700"/>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15AD005B-6222-6972-4908-CE07B687B8D5}"/>
              </a:ext>
            </a:extLst>
          </p:cNvPr>
          <p:cNvCxnSpPr>
            <a:cxnSpLocks/>
            <a:stCxn id="4" idx="1"/>
          </p:cNvCxnSpPr>
          <p:nvPr/>
        </p:nvCxnSpPr>
        <p:spPr>
          <a:xfrm flipH="1">
            <a:off x="2397125" y="3222625"/>
            <a:ext cx="3117850" cy="0"/>
          </a:xfrm>
          <a:prstGeom prst="line">
            <a:avLst/>
          </a:prstGeom>
          <a:ln w="28575"/>
        </p:spPr>
        <p:style>
          <a:lnRef idx="1">
            <a:schemeClr val="dk1"/>
          </a:lnRef>
          <a:fillRef idx="0">
            <a:schemeClr val="dk1"/>
          </a:fillRef>
          <a:effectRef idx="0">
            <a:schemeClr val="dk1"/>
          </a:effectRef>
          <a:fontRef idx="minor">
            <a:schemeClr val="tx1"/>
          </a:fontRef>
        </p:style>
      </p:cxnSp>
      <p:grpSp>
        <p:nvGrpSpPr>
          <p:cNvPr id="18" name="组合 17">
            <a:extLst>
              <a:ext uri="{FF2B5EF4-FFF2-40B4-BE49-F238E27FC236}">
                <a16:creationId xmlns:a16="http://schemas.microsoft.com/office/drawing/2014/main" id="{97C9D821-7D4A-7098-4F35-7B21C9EF9782}"/>
              </a:ext>
            </a:extLst>
          </p:cNvPr>
          <p:cNvGrpSpPr/>
          <p:nvPr/>
        </p:nvGrpSpPr>
        <p:grpSpPr>
          <a:xfrm>
            <a:off x="2263775" y="2627314"/>
            <a:ext cx="317500" cy="604043"/>
            <a:chOff x="1689100" y="1605757"/>
            <a:chExt cx="317500" cy="604043"/>
          </a:xfrm>
        </p:grpSpPr>
        <p:sp>
          <p:nvSpPr>
            <p:cNvPr id="15" name="等腰三角形 14">
              <a:extLst>
                <a:ext uri="{FF2B5EF4-FFF2-40B4-BE49-F238E27FC236}">
                  <a16:creationId xmlns:a16="http://schemas.microsoft.com/office/drawing/2014/main" id="{00B18D6E-8213-F63D-4E02-CD5DE007C87B}"/>
                </a:ext>
              </a:extLst>
            </p:cNvPr>
            <p:cNvSpPr/>
            <p:nvPr/>
          </p:nvSpPr>
          <p:spPr>
            <a:xfrm flipV="1">
              <a:off x="1689100" y="1605757"/>
              <a:ext cx="317500" cy="169862"/>
            </a:xfrm>
            <a:prstGeom prst="triangle">
              <a:avLst/>
            </a:prstGeom>
            <a:noFill/>
            <a:ln w="28575">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7176A5F6-3D2F-62E7-B91B-A906C9382158}"/>
                </a:ext>
              </a:extLst>
            </p:cNvPr>
            <p:cNvCxnSpPr>
              <a:cxnSpLocks/>
            </p:cNvCxnSpPr>
            <p:nvPr/>
          </p:nvCxnSpPr>
          <p:spPr>
            <a:xfrm flipV="1">
              <a:off x="1841500" y="1749425"/>
              <a:ext cx="0" cy="460375"/>
            </a:xfrm>
            <a:prstGeom prst="line">
              <a:avLst/>
            </a:prstGeom>
            <a:ln w="28575"/>
          </p:spPr>
          <p:style>
            <a:lnRef idx="1">
              <a:schemeClr val="dk1"/>
            </a:lnRef>
            <a:fillRef idx="0">
              <a:schemeClr val="dk1"/>
            </a:fillRef>
            <a:effectRef idx="0">
              <a:schemeClr val="dk1"/>
            </a:effectRef>
            <a:fontRef idx="minor">
              <a:schemeClr val="tx1"/>
            </a:fontRef>
          </p:style>
        </p:cxnSp>
      </p:grpSp>
      <p:cxnSp>
        <p:nvCxnSpPr>
          <p:cNvPr id="21" name="直接箭头连接符 20">
            <a:extLst>
              <a:ext uri="{FF2B5EF4-FFF2-40B4-BE49-F238E27FC236}">
                <a16:creationId xmlns:a16="http://schemas.microsoft.com/office/drawing/2014/main" id="{1637D1AB-585F-9E99-22B3-C34C038270F2}"/>
              </a:ext>
            </a:extLst>
          </p:cNvPr>
          <p:cNvCxnSpPr/>
          <p:nvPr/>
        </p:nvCxnSpPr>
        <p:spPr>
          <a:xfrm flipH="1">
            <a:off x="2994025" y="3222625"/>
            <a:ext cx="11557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2" name="组合 21">
            <a:extLst>
              <a:ext uri="{FF2B5EF4-FFF2-40B4-BE49-F238E27FC236}">
                <a16:creationId xmlns:a16="http://schemas.microsoft.com/office/drawing/2014/main" id="{36085C85-5B0A-3FB2-801C-CFCF4CF6040F}"/>
              </a:ext>
            </a:extLst>
          </p:cNvPr>
          <p:cNvGrpSpPr/>
          <p:nvPr/>
        </p:nvGrpSpPr>
        <p:grpSpPr>
          <a:xfrm>
            <a:off x="1566068" y="3796507"/>
            <a:ext cx="317500" cy="604043"/>
            <a:chOff x="1689100" y="1605757"/>
            <a:chExt cx="317500" cy="604043"/>
          </a:xfrm>
        </p:grpSpPr>
        <p:sp>
          <p:nvSpPr>
            <p:cNvPr id="23" name="等腰三角形 22">
              <a:extLst>
                <a:ext uri="{FF2B5EF4-FFF2-40B4-BE49-F238E27FC236}">
                  <a16:creationId xmlns:a16="http://schemas.microsoft.com/office/drawing/2014/main" id="{3E692398-E74F-3C48-2B10-E79F2DE897AF}"/>
                </a:ext>
              </a:extLst>
            </p:cNvPr>
            <p:cNvSpPr/>
            <p:nvPr/>
          </p:nvSpPr>
          <p:spPr>
            <a:xfrm flipV="1">
              <a:off x="1689100" y="1605757"/>
              <a:ext cx="317500" cy="169862"/>
            </a:xfrm>
            <a:prstGeom prst="triangle">
              <a:avLst/>
            </a:prstGeom>
            <a:noFill/>
            <a:ln w="28575">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24" name="直接连接符 23">
              <a:extLst>
                <a:ext uri="{FF2B5EF4-FFF2-40B4-BE49-F238E27FC236}">
                  <a16:creationId xmlns:a16="http://schemas.microsoft.com/office/drawing/2014/main" id="{860085BE-161F-3C0F-CFA5-C62ACC958F93}"/>
                </a:ext>
              </a:extLst>
            </p:cNvPr>
            <p:cNvCxnSpPr>
              <a:cxnSpLocks/>
            </p:cNvCxnSpPr>
            <p:nvPr/>
          </p:nvCxnSpPr>
          <p:spPr>
            <a:xfrm flipV="1">
              <a:off x="1841500" y="1749425"/>
              <a:ext cx="0" cy="460375"/>
            </a:xfrm>
            <a:prstGeom prst="line">
              <a:avLst/>
            </a:prstGeom>
            <a:ln w="28575"/>
          </p:spPr>
          <p:style>
            <a:lnRef idx="1">
              <a:schemeClr val="dk1"/>
            </a:lnRef>
            <a:fillRef idx="0">
              <a:schemeClr val="dk1"/>
            </a:fillRef>
            <a:effectRef idx="0">
              <a:schemeClr val="dk1"/>
            </a:effectRef>
            <a:fontRef idx="minor">
              <a:schemeClr val="tx1"/>
            </a:fontRef>
          </p:style>
        </p:cxnSp>
      </p:grpSp>
      <p:cxnSp>
        <p:nvCxnSpPr>
          <p:cNvPr id="25" name="直接箭头连接符 24">
            <a:extLst>
              <a:ext uri="{FF2B5EF4-FFF2-40B4-BE49-F238E27FC236}">
                <a16:creationId xmlns:a16="http://schemas.microsoft.com/office/drawing/2014/main" id="{4C0EF26A-5BF0-2045-ACD4-6561EA91D510}"/>
              </a:ext>
            </a:extLst>
          </p:cNvPr>
          <p:cNvCxnSpPr>
            <a:cxnSpLocks/>
          </p:cNvCxnSpPr>
          <p:nvPr/>
        </p:nvCxnSpPr>
        <p:spPr>
          <a:xfrm>
            <a:off x="1705768" y="4400550"/>
            <a:ext cx="4445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202BEC8E-B4B2-178E-F50C-22F73EC2AF18}"/>
              </a:ext>
            </a:extLst>
          </p:cNvPr>
          <p:cNvCxnSpPr>
            <a:cxnSpLocks/>
            <a:endCxn id="51" idx="1"/>
          </p:cNvCxnSpPr>
          <p:nvPr/>
        </p:nvCxnSpPr>
        <p:spPr>
          <a:xfrm flipH="1">
            <a:off x="3931831" y="3225800"/>
            <a:ext cx="1994" cy="98840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10B49160-6BE5-04C2-DDC2-1A73BA27B2D3}"/>
              </a:ext>
            </a:extLst>
          </p:cNvPr>
          <p:cNvCxnSpPr>
            <a:cxnSpLocks/>
          </p:cNvCxnSpPr>
          <p:nvPr/>
        </p:nvCxnSpPr>
        <p:spPr>
          <a:xfrm flipH="1" flipV="1">
            <a:off x="1857375" y="2316958"/>
            <a:ext cx="323850" cy="24447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B1A76979-54A9-6748-2754-12752A8F6FC2}"/>
              </a:ext>
            </a:extLst>
          </p:cNvPr>
          <p:cNvCxnSpPr>
            <a:cxnSpLocks/>
          </p:cNvCxnSpPr>
          <p:nvPr/>
        </p:nvCxnSpPr>
        <p:spPr>
          <a:xfrm>
            <a:off x="1191418" y="3379787"/>
            <a:ext cx="298450" cy="26987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774D5A15-7048-CF75-5D44-945EF9B6C2C4}"/>
              </a:ext>
            </a:extLst>
          </p:cNvPr>
          <p:cNvCxnSpPr>
            <a:cxnSpLocks/>
          </p:cNvCxnSpPr>
          <p:nvPr/>
        </p:nvCxnSpPr>
        <p:spPr>
          <a:xfrm>
            <a:off x="1140618" y="3608387"/>
            <a:ext cx="298450" cy="26987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18D87EFC-169E-4920-1E26-D26510B15FCB}"/>
              </a:ext>
            </a:extLst>
          </p:cNvPr>
          <p:cNvSpPr txBox="1"/>
          <p:nvPr/>
        </p:nvSpPr>
        <p:spPr>
          <a:xfrm>
            <a:off x="1711325" y="2454277"/>
            <a:ext cx="527050" cy="369332"/>
          </a:xfrm>
          <a:prstGeom prst="rect">
            <a:avLst/>
          </a:prstGeom>
          <a:noFill/>
        </p:spPr>
        <p:txBody>
          <a:bodyPr wrap="square" rtlCol="0">
            <a:spAutoFit/>
          </a:bodyPr>
          <a:lstStyle/>
          <a:p>
            <a:r>
              <a:rPr lang="en-US" altLang="zh-CN" dirty="0"/>
              <a:t>TX</a:t>
            </a:r>
            <a:endParaRPr lang="zh-CN" altLang="en-US" dirty="0"/>
          </a:p>
        </p:txBody>
      </p:sp>
      <p:sp>
        <p:nvSpPr>
          <p:cNvPr id="40" name="文本框 39">
            <a:extLst>
              <a:ext uri="{FF2B5EF4-FFF2-40B4-BE49-F238E27FC236}">
                <a16:creationId xmlns:a16="http://schemas.microsoft.com/office/drawing/2014/main" id="{A1A8E13A-FB40-24AB-907C-64A958EED8D0}"/>
              </a:ext>
            </a:extLst>
          </p:cNvPr>
          <p:cNvSpPr txBox="1"/>
          <p:nvPr/>
        </p:nvSpPr>
        <p:spPr>
          <a:xfrm>
            <a:off x="1183481" y="3094079"/>
            <a:ext cx="612775" cy="369332"/>
          </a:xfrm>
          <a:prstGeom prst="rect">
            <a:avLst/>
          </a:prstGeom>
          <a:noFill/>
        </p:spPr>
        <p:txBody>
          <a:bodyPr wrap="square" rtlCol="0">
            <a:spAutoFit/>
          </a:bodyPr>
          <a:lstStyle/>
          <a:p>
            <a:r>
              <a:rPr lang="en-US" altLang="zh-CN" dirty="0"/>
              <a:t>RX1</a:t>
            </a:r>
            <a:endParaRPr lang="zh-CN" altLang="en-US" dirty="0"/>
          </a:p>
        </p:txBody>
      </p:sp>
      <p:sp>
        <p:nvSpPr>
          <p:cNvPr id="41" name="文本框 40">
            <a:extLst>
              <a:ext uri="{FF2B5EF4-FFF2-40B4-BE49-F238E27FC236}">
                <a16:creationId xmlns:a16="http://schemas.microsoft.com/office/drawing/2014/main" id="{B0336206-0842-9BE5-C1F2-FE3A64830D4F}"/>
              </a:ext>
            </a:extLst>
          </p:cNvPr>
          <p:cNvSpPr txBox="1"/>
          <p:nvPr/>
        </p:nvSpPr>
        <p:spPr>
          <a:xfrm>
            <a:off x="859630" y="3804762"/>
            <a:ext cx="612775" cy="369332"/>
          </a:xfrm>
          <a:prstGeom prst="rect">
            <a:avLst/>
          </a:prstGeom>
          <a:noFill/>
        </p:spPr>
        <p:txBody>
          <a:bodyPr wrap="square" rtlCol="0">
            <a:spAutoFit/>
          </a:bodyPr>
          <a:lstStyle/>
          <a:p>
            <a:r>
              <a:rPr lang="en-US" altLang="zh-CN" dirty="0"/>
              <a:t>RX2</a:t>
            </a:r>
            <a:endParaRPr lang="zh-CN" altLang="en-US" dirty="0"/>
          </a:p>
        </p:txBody>
      </p:sp>
      <p:grpSp>
        <p:nvGrpSpPr>
          <p:cNvPr id="49" name="组合 48">
            <a:extLst>
              <a:ext uri="{FF2B5EF4-FFF2-40B4-BE49-F238E27FC236}">
                <a16:creationId xmlns:a16="http://schemas.microsoft.com/office/drawing/2014/main" id="{18674D63-4278-5556-7DD7-CDA30250F745}"/>
              </a:ext>
            </a:extLst>
          </p:cNvPr>
          <p:cNvGrpSpPr/>
          <p:nvPr/>
        </p:nvGrpSpPr>
        <p:grpSpPr>
          <a:xfrm>
            <a:off x="2143918" y="4215885"/>
            <a:ext cx="375841" cy="369491"/>
            <a:chOff x="2223293" y="3244335"/>
            <a:chExt cx="375841" cy="369491"/>
          </a:xfrm>
        </p:grpSpPr>
        <p:sp>
          <p:nvSpPr>
            <p:cNvPr id="43" name="椭圆 42">
              <a:extLst>
                <a:ext uri="{FF2B5EF4-FFF2-40B4-BE49-F238E27FC236}">
                  <a16:creationId xmlns:a16="http://schemas.microsoft.com/office/drawing/2014/main" id="{6943C23E-9787-F0A1-D254-148B6BB3634E}"/>
                </a:ext>
              </a:extLst>
            </p:cNvPr>
            <p:cNvSpPr/>
            <p:nvPr/>
          </p:nvSpPr>
          <p:spPr>
            <a:xfrm>
              <a:off x="2223293" y="3244335"/>
              <a:ext cx="375841" cy="369330"/>
            </a:xfrm>
            <a:prstGeom prst="ellipse">
              <a:avLst/>
            </a:prstGeom>
            <a:noFill/>
            <a:ln w="28575">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4" name="十字形 43">
              <a:extLst>
                <a:ext uri="{FF2B5EF4-FFF2-40B4-BE49-F238E27FC236}">
                  <a16:creationId xmlns:a16="http://schemas.microsoft.com/office/drawing/2014/main" id="{31042362-DB20-9CB5-3DB9-AFFDF756A13E}"/>
                </a:ext>
              </a:extLst>
            </p:cNvPr>
            <p:cNvSpPr/>
            <p:nvPr/>
          </p:nvSpPr>
          <p:spPr>
            <a:xfrm>
              <a:off x="2229643" y="3409948"/>
              <a:ext cx="369491" cy="45719"/>
            </a:xfrm>
            <a:prstGeom prst="plu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5" name="十字形 44">
              <a:extLst>
                <a:ext uri="{FF2B5EF4-FFF2-40B4-BE49-F238E27FC236}">
                  <a16:creationId xmlns:a16="http://schemas.microsoft.com/office/drawing/2014/main" id="{9BC87DE6-6940-F7E2-55DD-C1F193823E06}"/>
                </a:ext>
              </a:extLst>
            </p:cNvPr>
            <p:cNvSpPr/>
            <p:nvPr/>
          </p:nvSpPr>
          <p:spPr>
            <a:xfrm rot="5400000">
              <a:off x="2229643" y="3406221"/>
              <a:ext cx="369491" cy="45719"/>
            </a:xfrm>
            <a:prstGeom prst="plu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grpSp>
      <p:cxnSp>
        <p:nvCxnSpPr>
          <p:cNvPr id="46" name="直接箭头连接符 45">
            <a:extLst>
              <a:ext uri="{FF2B5EF4-FFF2-40B4-BE49-F238E27FC236}">
                <a16:creationId xmlns:a16="http://schemas.microsoft.com/office/drawing/2014/main" id="{0BA08B7F-B0E5-3563-7AF7-6507548EDA46}"/>
              </a:ext>
            </a:extLst>
          </p:cNvPr>
          <p:cNvCxnSpPr>
            <a:cxnSpLocks/>
            <a:endCxn id="51" idx="3"/>
          </p:cNvCxnSpPr>
          <p:nvPr/>
        </p:nvCxnSpPr>
        <p:spPr>
          <a:xfrm flipV="1">
            <a:off x="2519759" y="4399289"/>
            <a:ext cx="1227827" cy="126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94A69201-DEBF-92B7-B820-9890C2576299}"/>
              </a:ext>
            </a:extLst>
          </p:cNvPr>
          <p:cNvSpPr txBox="1"/>
          <p:nvPr/>
        </p:nvSpPr>
        <p:spPr>
          <a:xfrm>
            <a:off x="2481341" y="3975831"/>
            <a:ext cx="528637" cy="369332"/>
          </a:xfrm>
          <a:prstGeom prst="rect">
            <a:avLst/>
          </a:prstGeom>
          <a:noFill/>
        </p:spPr>
        <p:txBody>
          <a:bodyPr wrap="square" rtlCol="0">
            <a:spAutoFit/>
          </a:bodyPr>
          <a:lstStyle/>
          <a:p>
            <a:r>
              <a:rPr lang="en-US" altLang="zh-CN" dirty="0"/>
              <a:t>RX</a:t>
            </a:r>
            <a:endParaRPr lang="zh-CN" altLang="en-US" dirty="0"/>
          </a:p>
        </p:txBody>
      </p:sp>
      <p:grpSp>
        <p:nvGrpSpPr>
          <p:cNvPr id="50" name="组合 49">
            <a:extLst>
              <a:ext uri="{FF2B5EF4-FFF2-40B4-BE49-F238E27FC236}">
                <a16:creationId xmlns:a16="http://schemas.microsoft.com/office/drawing/2014/main" id="{85EDDCE1-3302-4B34-A8F9-385AEAF0E746}"/>
              </a:ext>
            </a:extLst>
          </p:cNvPr>
          <p:cNvGrpSpPr/>
          <p:nvPr/>
        </p:nvGrpSpPr>
        <p:grpSpPr>
          <a:xfrm rot="2692194">
            <a:off x="3745904" y="4215805"/>
            <a:ext cx="375841" cy="369491"/>
            <a:chOff x="2223293" y="3244335"/>
            <a:chExt cx="375841" cy="369491"/>
          </a:xfrm>
        </p:grpSpPr>
        <p:sp>
          <p:nvSpPr>
            <p:cNvPr id="51" name="椭圆 50">
              <a:extLst>
                <a:ext uri="{FF2B5EF4-FFF2-40B4-BE49-F238E27FC236}">
                  <a16:creationId xmlns:a16="http://schemas.microsoft.com/office/drawing/2014/main" id="{0EA496A8-194C-2004-9014-9F5BE119D7E5}"/>
                </a:ext>
              </a:extLst>
            </p:cNvPr>
            <p:cNvSpPr/>
            <p:nvPr/>
          </p:nvSpPr>
          <p:spPr>
            <a:xfrm>
              <a:off x="2223293" y="3244335"/>
              <a:ext cx="375841" cy="369330"/>
            </a:xfrm>
            <a:prstGeom prst="ellipse">
              <a:avLst/>
            </a:prstGeom>
            <a:noFill/>
            <a:ln w="28575">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2" name="十字形 51">
              <a:extLst>
                <a:ext uri="{FF2B5EF4-FFF2-40B4-BE49-F238E27FC236}">
                  <a16:creationId xmlns:a16="http://schemas.microsoft.com/office/drawing/2014/main" id="{69C09784-E639-6511-0850-FF2BB9DACA0F}"/>
                </a:ext>
              </a:extLst>
            </p:cNvPr>
            <p:cNvSpPr/>
            <p:nvPr/>
          </p:nvSpPr>
          <p:spPr>
            <a:xfrm>
              <a:off x="2229643" y="3409948"/>
              <a:ext cx="369491" cy="45719"/>
            </a:xfrm>
            <a:prstGeom prst="plu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3" name="十字形 52">
              <a:extLst>
                <a:ext uri="{FF2B5EF4-FFF2-40B4-BE49-F238E27FC236}">
                  <a16:creationId xmlns:a16="http://schemas.microsoft.com/office/drawing/2014/main" id="{3E660370-740A-1741-E617-59E914A193C6}"/>
                </a:ext>
              </a:extLst>
            </p:cNvPr>
            <p:cNvSpPr/>
            <p:nvPr/>
          </p:nvSpPr>
          <p:spPr>
            <a:xfrm rot="5400000">
              <a:off x="2229643" y="3406221"/>
              <a:ext cx="369491" cy="45719"/>
            </a:xfrm>
            <a:prstGeom prst="plu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grpSp>
      <p:sp>
        <p:nvSpPr>
          <p:cNvPr id="56" name="文本框 55">
            <a:extLst>
              <a:ext uri="{FF2B5EF4-FFF2-40B4-BE49-F238E27FC236}">
                <a16:creationId xmlns:a16="http://schemas.microsoft.com/office/drawing/2014/main" id="{91FD73B1-823E-FF5B-2FAF-994AE76904D6}"/>
              </a:ext>
            </a:extLst>
          </p:cNvPr>
          <p:cNvSpPr txBox="1"/>
          <p:nvPr/>
        </p:nvSpPr>
        <p:spPr>
          <a:xfrm>
            <a:off x="1974850" y="4623633"/>
            <a:ext cx="687706" cy="378260"/>
          </a:xfrm>
          <a:prstGeom prst="rect">
            <a:avLst/>
          </a:prstGeom>
          <a:noFill/>
        </p:spPr>
        <p:txBody>
          <a:bodyPr wrap="square" rtlCol="0">
            <a:spAutoFit/>
          </a:bodyPr>
          <a:lstStyle/>
          <a:p>
            <a:r>
              <a:rPr lang="zh-CN" altLang="en-US" dirty="0"/>
              <a:t>叠加</a:t>
            </a:r>
          </a:p>
        </p:txBody>
      </p:sp>
      <p:sp>
        <p:nvSpPr>
          <p:cNvPr id="57" name="文本框 56">
            <a:extLst>
              <a:ext uri="{FF2B5EF4-FFF2-40B4-BE49-F238E27FC236}">
                <a16:creationId xmlns:a16="http://schemas.microsoft.com/office/drawing/2014/main" id="{08ADAC6B-8CB8-44E1-989C-9D27F91E0997}"/>
              </a:ext>
            </a:extLst>
          </p:cNvPr>
          <p:cNvSpPr txBox="1"/>
          <p:nvPr/>
        </p:nvSpPr>
        <p:spPr>
          <a:xfrm>
            <a:off x="3612197" y="4623633"/>
            <a:ext cx="687706" cy="369332"/>
          </a:xfrm>
          <a:prstGeom prst="rect">
            <a:avLst/>
          </a:prstGeom>
          <a:noFill/>
        </p:spPr>
        <p:txBody>
          <a:bodyPr wrap="square" rtlCol="0">
            <a:spAutoFit/>
          </a:bodyPr>
          <a:lstStyle/>
          <a:p>
            <a:r>
              <a:rPr lang="zh-CN" altLang="en-US" dirty="0"/>
              <a:t>混频</a:t>
            </a:r>
          </a:p>
        </p:txBody>
      </p:sp>
      <p:cxnSp>
        <p:nvCxnSpPr>
          <p:cNvPr id="58" name="直接箭头连接符 57">
            <a:extLst>
              <a:ext uri="{FF2B5EF4-FFF2-40B4-BE49-F238E27FC236}">
                <a16:creationId xmlns:a16="http://schemas.microsoft.com/office/drawing/2014/main" id="{D87DF557-3396-512E-473B-6F8EBFE1D7EB}"/>
              </a:ext>
            </a:extLst>
          </p:cNvPr>
          <p:cNvCxnSpPr>
            <a:cxnSpLocks/>
            <a:stCxn id="51" idx="7"/>
          </p:cNvCxnSpPr>
          <p:nvPr/>
        </p:nvCxnSpPr>
        <p:spPr>
          <a:xfrm>
            <a:off x="4120177" y="4401697"/>
            <a:ext cx="152814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E3762D1A-2709-1B01-BE30-82BC67E48BD2}"/>
              </a:ext>
            </a:extLst>
          </p:cNvPr>
          <p:cNvSpPr txBox="1"/>
          <p:nvPr/>
        </p:nvSpPr>
        <p:spPr>
          <a:xfrm>
            <a:off x="5713035" y="4196832"/>
            <a:ext cx="1162051" cy="369332"/>
          </a:xfrm>
          <a:prstGeom prst="rect">
            <a:avLst/>
          </a:prstGeom>
          <a:noFill/>
        </p:spPr>
        <p:txBody>
          <a:bodyPr wrap="square" rtlCol="0">
            <a:spAutoFit/>
          </a:bodyPr>
          <a:lstStyle/>
          <a:p>
            <a:r>
              <a:rPr lang="zh-CN" altLang="en-US" dirty="0"/>
              <a:t>信号处理</a:t>
            </a:r>
          </a:p>
        </p:txBody>
      </p:sp>
    </p:spTree>
    <p:extLst>
      <p:ext uri="{BB962C8B-B14F-4D97-AF65-F5344CB8AC3E}">
        <p14:creationId xmlns:p14="http://schemas.microsoft.com/office/powerpoint/2010/main" val="3342014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CF0562-ABB7-BDD7-35DC-2319225A1F19}"/>
              </a:ext>
            </a:extLst>
          </p:cNvPr>
          <p:cNvSpPr>
            <a:spLocks noGrp="1"/>
          </p:cNvSpPr>
          <p:nvPr>
            <p:ph type="title"/>
          </p:nvPr>
        </p:nvSpPr>
        <p:spPr/>
        <p:txBody>
          <a:bodyPr/>
          <a:lstStyle/>
          <a:p>
            <a:r>
              <a:rPr lang="zh-CN" altLang="en-US" dirty="0"/>
              <a:t>结果呈现（</a:t>
            </a:r>
            <a:r>
              <a:rPr lang="en-US" altLang="zh-CN" dirty="0"/>
              <a:t>d</a:t>
            </a:r>
            <a:r>
              <a:rPr lang="zh-CN" altLang="en-US" dirty="0"/>
              <a:t>）</a:t>
            </a:r>
          </a:p>
        </p:txBody>
      </p:sp>
      <p:sp>
        <p:nvSpPr>
          <p:cNvPr id="6" name="文本框 5">
            <a:extLst>
              <a:ext uri="{FF2B5EF4-FFF2-40B4-BE49-F238E27FC236}">
                <a16:creationId xmlns:a16="http://schemas.microsoft.com/office/drawing/2014/main" id="{D0F3E107-F00F-FFD3-096A-A609404E5A7A}"/>
              </a:ext>
            </a:extLst>
          </p:cNvPr>
          <p:cNvSpPr txBox="1"/>
          <p:nvPr/>
        </p:nvSpPr>
        <p:spPr>
          <a:xfrm>
            <a:off x="1657350" y="1644134"/>
            <a:ext cx="2476500" cy="369332"/>
          </a:xfrm>
          <a:prstGeom prst="rect">
            <a:avLst/>
          </a:prstGeom>
          <a:noFill/>
        </p:spPr>
        <p:txBody>
          <a:bodyPr wrap="square">
            <a:spAutoFit/>
          </a:bodyPr>
          <a:lstStyle/>
          <a:p>
            <a:r>
              <a:rPr lang="zh-CN" altLang="en-US" dirty="0"/>
              <a:t>第一周期的混频信号</a:t>
            </a:r>
          </a:p>
        </p:txBody>
      </p:sp>
      <p:sp>
        <p:nvSpPr>
          <p:cNvPr id="7" name="文本框 6">
            <a:extLst>
              <a:ext uri="{FF2B5EF4-FFF2-40B4-BE49-F238E27FC236}">
                <a16:creationId xmlns:a16="http://schemas.microsoft.com/office/drawing/2014/main" id="{87D26130-A6D5-4725-602C-2263D11B1FBA}"/>
              </a:ext>
            </a:extLst>
          </p:cNvPr>
          <p:cNvSpPr txBox="1"/>
          <p:nvPr/>
        </p:nvSpPr>
        <p:spPr>
          <a:xfrm>
            <a:off x="1460500" y="3760515"/>
            <a:ext cx="2673350" cy="369332"/>
          </a:xfrm>
          <a:prstGeom prst="rect">
            <a:avLst/>
          </a:prstGeom>
          <a:noFill/>
        </p:spPr>
        <p:txBody>
          <a:bodyPr wrap="square" rtlCol="0">
            <a:spAutoFit/>
          </a:bodyPr>
          <a:lstStyle/>
          <a:p>
            <a:r>
              <a:rPr lang="zh-CN" altLang="en-US" dirty="0"/>
              <a:t>第一周期的傅里叶变换</a:t>
            </a:r>
          </a:p>
        </p:txBody>
      </p:sp>
      <p:pic>
        <p:nvPicPr>
          <p:cNvPr id="21" name="图片 20">
            <a:extLst>
              <a:ext uri="{FF2B5EF4-FFF2-40B4-BE49-F238E27FC236}">
                <a16:creationId xmlns:a16="http://schemas.microsoft.com/office/drawing/2014/main" id="{5FAF078B-D5AD-6DBF-E6CA-B622D6299427}"/>
              </a:ext>
            </a:extLst>
          </p:cNvPr>
          <p:cNvPicPr>
            <a:picLocks noChangeAspect="1"/>
          </p:cNvPicPr>
          <p:nvPr/>
        </p:nvPicPr>
        <p:blipFill>
          <a:blip r:embed="rId2"/>
          <a:stretch>
            <a:fillRect/>
          </a:stretch>
        </p:blipFill>
        <p:spPr>
          <a:xfrm>
            <a:off x="946149" y="2146071"/>
            <a:ext cx="3503193" cy="1334549"/>
          </a:xfrm>
          <a:prstGeom prst="rect">
            <a:avLst/>
          </a:prstGeom>
        </p:spPr>
      </p:pic>
      <p:pic>
        <p:nvPicPr>
          <p:cNvPr id="23" name="图片 22">
            <a:extLst>
              <a:ext uri="{FF2B5EF4-FFF2-40B4-BE49-F238E27FC236}">
                <a16:creationId xmlns:a16="http://schemas.microsoft.com/office/drawing/2014/main" id="{29760821-C64A-70CA-8D56-B829D5F1A717}"/>
              </a:ext>
            </a:extLst>
          </p:cNvPr>
          <p:cNvPicPr>
            <a:picLocks noChangeAspect="1"/>
          </p:cNvPicPr>
          <p:nvPr/>
        </p:nvPicPr>
        <p:blipFill>
          <a:blip r:embed="rId3"/>
          <a:stretch>
            <a:fillRect/>
          </a:stretch>
        </p:blipFill>
        <p:spPr>
          <a:xfrm>
            <a:off x="946149" y="4285970"/>
            <a:ext cx="3503193" cy="1324042"/>
          </a:xfrm>
          <a:prstGeom prst="rect">
            <a:avLst/>
          </a:prstGeom>
        </p:spPr>
      </p:pic>
      <p:pic>
        <p:nvPicPr>
          <p:cNvPr id="25" name="图片 24">
            <a:extLst>
              <a:ext uri="{FF2B5EF4-FFF2-40B4-BE49-F238E27FC236}">
                <a16:creationId xmlns:a16="http://schemas.microsoft.com/office/drawing/2014/main" id="{0C14B634-B58D-7EDE-CBEE-A8626E77292F}"/>
              </a:ext>
            </a:extLst>
          </p:cNvPr>
          <p:cNvPicPr>
            <a:picLocks noChangeAspect="1"/>
          </p:cNvPicPr>
          <p:nvPr/>
        </p:nvPicPr>
        <p:blipFill>
          <a:blip r:embed="rId4"/>
          <a:stretch>
            <a:fillRect/>
          </a:stretch>
        </p:blipFill>
        <p:spPr>
          <a:xfrm>
            <a:off x="304151" y="5778827"/>
            <a:ext cx="1893598" cy="711557"/>
          </a:xfrm>
          <a:prstGeom prst="rect">
            <a:avLst/>
          </a:prstGeom>
        </p:spPr>
      </p:pic>
      <p:cxnSp>
        <p:nvCxnSpPr>
          <p:cNvPr id="13" name="直接连接符 12">
            <a:extLst>
              <a:ext uri="{FF2B5EF4-FFF2-40B4-BE49-F238E27FC236}">
                <a16:creationId xmlns:a16="http://schemas.microsoft.com/office/drawing/2014/main" id="{F59C523F-A976-0BC2-6B14-201F516B481F}"/>
              </a:ext>
            </a:extLst>
          </p:cNvPr>
          <p:cNvCxnSpPr/>
          <p:nvPr/>
        </p:nvCxnSpPr>
        <p:spPr>
          <a:xfrm flipH="1">
            <a:off x="717550" y="4756150"/>
            <a:ext cx="533400" cy="1193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09CDD96E-6B49-A205-2D4B-670E918173B2}"/>
              </a:ext>
            </a:extLst>
          </p:cNvPr>
          <p:cNvCxnSpPr>
            <a:cxnSpLocks/>
          </p:cNvCxnSpPr>
          <p:nvPr/>
        </p:nvCxnSpPr>
        <p:spPr>
          <a:xfrm flipH="1">
            <a:off x="1397000" y="4762904"/>
            <a:ext cx="44450" cy="12505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7" name="图片 26">
            <a:extLst>
              <a:ext uri="{FF2B5EF4-FFF2-40B4-BE49-F238E27FC236}">
                <a16:creationId xmlns:a16="http://schemas.microsoft.com/office/drawing/2014/main" id="{93EE254C-3562-2E55-2EBC-263C4C1F0F16}"/>
              </a:ext>
            </a:extLst>
          </p:cNvPr>
          <p:cNvPicPr>
            <a:picLocks noChangeAspect="1"/>
          </p:cNvPicPr>
          <p:nvPr/>
        </p:nvPicPr>
        <p:blipFill>
          <a:blip r:embed="rId5"/>
          <a:stretch>
            <a:fillRect/>
          </a:stretch>
        </p:blipFill>
        <p:spPr>
          <a:xfrm>
            <a:off x="4907269" y="1462108"/>
            <a:ext cx="3185060" cy="2263557"/>
          </a:xfrm>
          <a:prstGeom prst="rect">
            <a:avLst/>
          </a:prstGeom>
        </p:spPr>
      </p:pic>
      <p:sp>
        <p:nvSpPr>
          <p:cNvPr id="28" name="文本框 27">
            <a:extLst>
              <a:ext uri="{FF2B5EF4-FFF2-40B4-BE49-F238E27FC236}">
                <a16:creationId xmlns:a16="http://schemas.microsoft.com/office/drawing/2014/main" id="{92154B29-1718-D4B8-BB59-E8AE4D878291}"/>
              </a:ext>
            </a:extLst>
          </p:cNvPr>
          <p:cNvSpPr txBox="1"/>
          <p:nvPr/>
        </p:nvSpPr>
        <p:spPr>
          <a:xfrm>
            <a:off x="5113895" y="1004085"/>
            <a:ext cx="2771808" cy="369332"/>
          </a:xfrm>
          <a:prstGeom prst="rect">
            <a:avLst/>
          </a:prstGeom>
          <a:noFill/>
        </p:spPr>
        <p:txBody>
          <a:bodyPr wrap="square" rtlCol="0">
            <a:spAutoFit/>
          </a:bodyPr>
          <a:lstStyle/>
          <a:p>
            <a:r>
              <a:rPr lang="zh-CN" altLang="en-US" dirty="0"/>
              <a:t>二维傅里叶变换后的图像</a:t>
            </a:r>
          </a:p>
        </p:txBody>
      </p:sp>
      <p:pic>
        <p:nvPicPr>
          <p:cNvPr id="30" name="图片 29">
            <a:extLst>
              <a:ext uri="{FF2B5EF4-FFF2-40B4-BE49-F238E27FC236}">
                <a16:creationId xmlns:a16="http://schemas.microsoft.com/office/drawing/2014/main" id="{F8D8ED6B-1605-D066-7558-3C6097837570}"/>
              </a:ext>
            </a:extLst>
          </p:cNvPr>
          <p:cNvPicPr>
            <a:picLocks noChangeAspect="1"/>
          </p:cNvPicPr>
          <p:nvPr/>
        </p:nvPicPr>
        <p:blipFill>
          <a:blip r:embed="rId6"/>
          <a:stretch>
            <a:fillRect/>
          </a:stretch>
        </p:blipFill>
        <p:spPr>
          <a:xfrm>
            <a:off x="8865748" y="1427258"/>
            <a:ext cx="3116590" cy="2298407"/>
          </a:xfrm>
          <a:prstGeom prst="rect">
            <a:avLst/>
          </a:prstGeom>
        </p:spPr>
      </p:pic>
      <p:sp>
        <p:nvSpPr>
          <p:cNvPr id="31" name="文本框 30">
            <a:extLst>
              <a:ext uri="{FF2B5EF4-FFF2-40B4-BE49-F238E27FC236}">
                <a16:creationId xmlns:a16="http://schemas.microsoft.com/office/drawing/2014/main" id="{941B1519-5ED3-99A4-28AE-ED9F1AF67FC4}"/>
              </a:ext>
            </a:extLst>
          </p:cNvPr>
          <p:cNvSpPr txBox="1"/>
          <p:nvPr/>
        </p:nvSpPr>
        <p:spPr>
          <a:xfrm>
            <a:off x="9177895" y="1004337"/>
            <a:ext cx="2771808" cy="369332"/>
          </a:xfrm>
          <a:prstGeom prst="rect">
            <a:avLst/>
          </a:prstGeom>
          <a:noFill/>
        </p:spPr>
        <p:txBody>
          <a:bodyPr wrap="square" rtlCol="0">
            <a:spAutoFit/>
          </a:bodyPr>
          <a:lstStyle/>
          <a:p>
            <a:pPr algn="ctr"/>
            <a:r>
              <a:rPr lang="zh-CN" altLang="en-US" dirty="0"/>
              <a:t>重点突出</a:t>
            </a:r>
          </a:p>
        </p:txBody>
      </p:sp>
      <p:graphicFrame>
        <p:nvGraphicFramePr>
          <p:cNvPr id="33" name="表格 33">
            <a:extLst>
              <a:ext uri="{FF2B5EF4-FFF2-40B4-BE49-F238E27FC236}">
                <a16:creationId xmlns:a16="http://schemas.microsoft.com/office/drawing/2014/main" id="{2E1172BA-B059-27C8-40EE-F37FDF0FC880}"/>
              </a:ext>
            </a:extLst>
          </p:cNvPr>
          <p:cNvGraphicFramePr>
            <a:graphicFrameLocks noGrp="1"/>
          </p:cNvGraphicFramePr>
          <p:nvPr>
            <p:extLst>
              <p:ext uri="{D42A27DB-BD31-4B8C-83A1-F6EECF244321}">
                <p14:modId xmlns:p14="http://schemas.microsoft.com/office/powerpoint/2010/main" val="842398268"/>
              </p:ext>
            </p:extLst>
          </p:nvPr>
        </p:nvGraphicFramePr>
        <p:xfrm>
          <a:off x="4991098" y="4129745"/>
          <a:ext cx="6731002" cy="1828800"/>
        </p:xfrm>
        <a:graphic>
          <a:graphicData uri="http://schemas.openxmlformats.org/drawingml/2006/table">
            <a:tbl>
              <a:tblPr firstRow="1" bandRow="1">
                <a:tableStyleId>{5C22544A-7EE6-4342-B048-85BDC9FD1C3A}</a:tableStyleId>
              </a:tblPr>
              <a:tblGrid>
                <a:gridCol w="753303">
                  <a:extLst>
                    <a:ext uri="{9D8B030D-6E8A-4147-A177-3AD203B41FA5}">
                      <a16:colId xmlns:a16="http://schemas.microsoft.com/office/drawing/2014/main" val="631482377"/>
                    </a:ext>
                  </a:extLst>
                </a:gridCol>
                <a:gridCol w="1283078">
                  <a:extLst>
                    <a:ext uri="{9D8B030D-6E8A-4147-A177-3AD203B41FA5}">
                      <a16:colId xmlns:a16="http://schemas.microsoft.com/office/drawing/2014/main" val="1293527681"/>
                    </a:ext>
                  </a:extLst>
                </a:gridCol>
                <a:gridCol w="1329121">
                  <a:extLst>
                    <a:ext uri="{9D8B030D-6E8A-4147-A177-3AD203B41FA5}">
                      <a16:colId xmlns:a16="http://schemas.microsoft.com/office/drawing/2014/main" val="3807394549"/>
                    </a:ext>
                  </a:extLst>
                </a:gridCol>
                <a:gridCol w="701993">
                  <a:extLst>
                    <a:ext uri="{9D8B030D-6E8A-4147-A177-3AD203B41FA5}">
                      <a16:colId xmlns:a16="http://schemas.microsoft.com/office/drawing/2014/main" val="781297947"/>
                    </a:ext>
                  </a:extLst>
                </a:gridCol>
                <a:gridCol w="1276350">
                  <a:extLst>
                    <a:ext uri="{9D8B030D-6E8A-4147-A177-3AD203B41FA5}">
                      <a16:colId xmlns:a16="http://schemas.microsoft.com/office/drawing/2014/main" val="3952749548"/>
                    </a:ext>
                  </a:extLst>
                </a:gridCol>
                <a:gridCol w="1387157">
                  <a:extLst>
                    <a:ext uri="{9D8B030D-6E8A-4147-A177-3AD203B41FA5}">
                      <a16:colId xmlns:a16="http://schemas.microsoft.com/office/drawing/2014/main" val="2677761805"/>
                    </a:ext>
                  </a:extLst>
                </a:gridCol>
              </a:tblGrid>
              <a:tr h="285281">
                <a:tc gridSpan="3">
                  <a:txBody>
                    <a:bodyPr/>
                    <a:lstStyle/>
                    <a:p>
                      <a:pPr algn="ctr"/>
                      <a:r>
                        <a:rPr lang="zh-CN" altLang="en-US" dirty="0"/>
                        <a:t>物体</a:t>
                      </a:r>
                      <a:r>
                        <a:rPr lang="en-US" altLang="zh-CN" dirty="0"/>
                        <a:t>1</a:t>
                      </a:r>
                      <a:endParaRPr lang="zh-CN" altLang="en-US" dirty="0"/>
                    </a:p>
                  </a:txBody>
                  <a:tcPr/>
                </a:tc>
                <a:tc hMerge="1">
                  <a:txBody>
                    <a:bodyPr/>
                    <a:lstStyle/>
                    <a:p>
                      <a:endParaRPr lang="zh-CN" altLang="en-US"/>
                    </a:p>
                  </a:txBody>
                  <a:tcPr/>
                </a:tc>
                <a:tc hMerge="1">
                  <a:txBody>
                    <a:bodyPr/>
                    <a:lstStyle/>
                    <a:p>
                      <a:endParaRPr lang="zh-CN" altLang="en-US" dirty="0"/>
                    </a:p>
                  </a:txBody>
                  <a:tcPr/>
                </a:tc>
                <a:tc gridSpan="3">
                  <a:txBody>
                    <a:bodyPr/>
                    <a:lstStyle/>
                    <a:p>
                      <a:pPr algn="ctr"/>
                      <a:r>
                        <a:rPr lang="zh-CN" altLang="en-US" dirty="0"/>
                        <a:t>物体</a:t>
                      </a:r>
                      <a:r>
                        <a:rPr lang="en-US" altLang="zh-CN" dirty="0"/>
                        <a:t>2</a:t>
                      </a:r>
                      <a:endParaRPr lang="zh-CN" altLang="en-US" dirty="0"/>
                    </a:p>
                  </a:txBody>
                  <a:tcPr/>
                </a:tc>
                <a:tc hMerge="1">
                  <a:txBody>
                    <a:bodyPr/>
                    <a:lstStyle/>
                    <a:p>
                      <a:endParaRPr lang="zh-CN" altLang="en-US"/>
                    </a:p>
                  </a:txBody>
                  <a:tcPr/>
                </a:tc>
                <a:tc hMerge="1">
                  <a:txBody>
                    <a:bodyPr/>
                    <a:lstStyle/>
                    <a:p>
                      <a:endParaRPr lang="zh-CN" altLang="en-US" dirty="0"/>
                    </a:p>
                  </a:txBody>
                  <a:tcPr/>
                </a:tc>
                <a:extLst>
                  <a:ext uri="{0D108BD9-81ED-4DB2-BD59-A6C34878D82A}">
                    <a16:rowId xmlns:a16="http://schemas.microsoft.com/office/drawing/2014/main" val="1109910875"/>
                  </a:ext>
                </a:extLst>
              </a:tr>
              <a:tr h="285281">
                <a:tc>
                  <a:txBody>
                    <a:bodyPr/>
                    <a:lstStyle/>
                    <a:p>
                      <a:pPr algn="ct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实际</a:t>
                      </a:r>
                    </a:p>
                  </a:txBody>
                  <a:tcPr/>
                </a:tc>
                <a:tc>
                  <a:txBody>
                    <a:bodyPr/>
                    <a:lstStyle/>
                    <a:p>
                      <a:pPr algn="ctr"/>
                      <a:r>
                        <a:rPr lang="zh-CN" altLang="en-US" dirty="0"/>
                        <a:t>计算</a:t>
                      </a:r>
                    </a:p>
                  </a:txBody>
                  <a:tcPr/>
                </a:tc>
                <a:tc>
                  <a:txBody>
                    <a:bodyPr/>
                    <a:lstStyle/>
                    <a:p>
                      <a:pPr algn="ct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实际</a:t>
                      </a:r>
                    </a:p>
                  </a:txBody>
                  <a:tcPr/>
                </a:tc>
                <a:tc>
                  <a:txBody>
                    <a:bodyPr/>
                    <a:lstStyle/>
                    <a:p>
                      <a:pPr algn="ctr"/>
                      <a:r>
                        <a:rPr lang="zh-CN" altLang="en-US" dirty="0"/>
                        <a:t>计算</a:t>
                      </a:r>
                    </a:p>
                  </a:txBody>
                  <a:tcPr/>
                </a:tc>
                <a:extLst>
                  <a:ext uri="{0D108BD9-81ED-4DB2-BD59-A6C34878D82A}">
                    <a16:rowId xmlns:a16="http://schemas.microsoft.com/office/drawing/2014/main" val="4290648785"/>
                  </a:ext>
                </a:extLst>
              </a:tr>
              <a:tr h="285281">
                <a:tc>
                  <a:txBody>
                    <a:bodyPr/>
                    <a:lstStyle/>
                    <a:p>
                      <a:pPr algn="ctr"/>
                      <a:r>
                        <a:rPr lang="zh-CN" altLang="en-US" dirty="0"/>
                        <a:t>距离</a:t>
                      </a:r>
                    </a:p>
                  </a:txBody>
                  <a:tcPr/>
                </a:tc>
                <a:tc>
                  <a:txBody>
                    <a:bodyPr/>
                    <a:lstStyle/>
                    <a:p>
                      <a:pPr algn="ctr"/>
                      <a:r>
                        <a:rPr lang="en-US" altLang="zh-CN" dirty="0"/>
                        <a:t>14</a:t>
                      </a:r>
                      <a:endParaRPr lang="zh-CN" altLang="en-US" dirty="0"/>
                    </a:p>
                  </a:txBody>
                  <a:tcPr/>
                </a:tc>
                <a:tc>
                  <a:txBody>
                    <a:bodyPr/>
                    <a:lstStyle/>
                    <a:p>
                      <a:pPr algn="ctr"/>
                      <a:r>
                        <a:rPr lang="en-US" altLang="zh-CN" dirty="0"/>
                        <a:t>14</a:t>
                      </a:r>
                      <a:endParaRPr lang="zh-CN" altLang="en-US" dirty="0"/>
                    </a:p>
                  </a:txBody>
                  <a:tcPr/>
                </a:tc>
                <a:tc>
                  <a:txBody>
                    <a:bodyPr/>
                    <a:lstStyle/>
                    <a:p>
                      <a:pPr algn="ctr"/>
                      <a:r>
                        <a:rPr lang="zh-CN" altLang="en-US" dirty="0"/>
                        <a:t>距离</a:t>
                      </a:r>
                    </a:p>
                  </a:txBody>
                  <a:tcPr/>
                </a:tc>
                <a:tc>
                  <a:txBody>
                    <a:bodyPr/>
                    <a:lstStyle/>
                    <a:p>
                      <a:pPr algn="ctr"/>
                      <a:r>
                        <a:rPr lang="en-US" altLang="zh-CN" dirty="0"/>
                        <a:t>10</a:t>
                      </a:r>
                      <a:endParaRPr lang="zh-CN" altLang="en-US" dirty="0"/>
                    </a:p>
                  </a:txBody>
                  <a:tcPr/>
                </a:tc>
                <a:tc>
                  <a:txBody>
                    <a:bodyPr/>
                    <a:lstStyle/>
                    <a:p>
                      <a:pPr algn="ctr"/>
                      <a:r>
                        <a:rPr lang="en-US" altLang="zh-CN" dirty="0"/>
                        <a:t>10</a:t>
                      </a:r>
                      <a:endParaRPr lang="zh-CN" altLang="en-US" dirty="0"/>
                    </a:p>
                  </a:txBody>
                  <a:tcPr/>
                </a:tc>
                <a:extLst>
                  <a:ext uri="{0D108BD9-81ED-4DB2-BD59-A6C34878D82A}">
                    <a16:rowId xmlns:a16="http://schemas.microsoft.com/office/drawing/2014/main" val="1218339049"/>
                  </a:ext>
                </a:extLst>
              </a:tr>
              <a:tr h="285281">
                <a:tc>
                  <a:txBody>
                    <a:bodyPr/>
                    <a:lstStyle/>
                    <a:p>
                      <a:pPr algn="ctr"/>
                      <a:r>
                        <a:rPr lang="zh-CN" altLang="en-US" dirty="0"/>
                        <a:t>速度</a:t>
                      </a:r>
                    </a:p>
                  </a:txBody>
                  <a:tcPr/>
                </a:tc>
                <a:tc>
                  <a:txBody>
                    <a:bodyPr/>
                    <a:lstStyle/>
                    <a:p>
                      <a:pPr algn="ctr"/>
                      <a:r>
                        <a:rPr lang="en-US" altLang="zh-CN" dirty="0"/>
                        <a:t>10</a:t>
                      </a:r>
                      <a:endParaRPr lang="zh-CN" altLang="en-US" dirty="0"/>
                    </a:p>
                  </a:txBody>
                  <a:tcPr/>
                </a:tc>
                <a:tc>
                  <a:txBody>
                    <a:bodyPr/>
                    <a:lstStyle/>
                    <a:p>
                      <a:pPr algn="ctr"/>
                      <a:r>
                        <a:rPr lang="en-US" altLang="zh-CN" dirty="0"/>
                        <a:t>11.4144</a:t>
                      </a:r>
                      <a:endParaRPr lang="zh-CN" altLang="en-US" dirty="0"/>
                    </a:p>
                  </a:txBody>
                  <a:tcPr/>
                </a:tc>
                <a:tc>
                  <a:txBody>
                    <a:bodyPr/>
                    <a:lstStyle/>
                    <a:p>
                      <a:pPr algn="ctr"/>
                      <a:r>
                        <a:rPr lang="zh-CN" altLang="en-US" dirty="0"/>
                        <a:t>速度</a:t>
                      </a:r>
                    </a:p>
                  </a:txBody>
                  <a:tcPr/>
                </a:tc>
                <a:tc>
                  <a:txBody>
                    <a:bodyPr/>
                    <a:lstStyle/>
                    <a:p>
                      <a:pPr algn="ctr"/>
                      <a:r>
                        <a:rPr lang="en-US" altLang="zh-CN" dirty="0"/>
                        <a:t>14</a:t>
                      </a:r>
                      <a:endParaRPr lang="zh-CN" altLang="en-US" dirty="0"/>
                    </a:p>
                  </a:txBody>
                  <a:tcPr/>
                </a:tc>
                <a:tc>
                  <a:txBody>
                    <a:bodyPr/>
                    <a:lstStyle/>
                    <a:p>
                      <a:pPr algn="ctr"/>
                      <a:r>
                        <a:rPr lang="en-US" altLang="zh-CN" dirty="0"/>
                        <a:t>15.2192</a:t>
                      </a:r>
                      <a:endParaRPr lang="zh-CN" altLang="en-US" dirty="0"/>
                    </a:p>
                  </a:txBody>
                  <a:tcPr/>
                </a:tc>
                <a:extLst>
                  <a:ext uri="{0D108BD9-81ED-4DB2-BD59-A6C34878D82A}">
                    <a16:rowId xmlns:a16="http://schemas.microsoft.com/office/drawing/2014/main" val="726147050"/>
                  </a:ext>
                </a:extLst>
              </a:tr>
              <a:tr h="285281">
                <a:tc>
                  <a:txBody>
                    <a:bodyPr/>
                    <a:lstStyle/>
                    <a:p>
                      <a:pPr algn="ctr"/>
                      <a:endParaRPr lang="zh-CN" altLang="en-US"/>
                    </a:p>
                  </a:txBody>
                  <a:tcPr/>
                </a:tc>
                <a:tc>
                  <a:txBody>
                    <a:bodyPr/>
                    <a:lstStyle/>
                    <a:p>
                      <a:pPr algn="ctr"/>
                      <a:endParaRPr lang="zh-CN" altLang="en-US" dirty="0"/>
                    </a:p>
                  </a:txBody>
                  <a:tcPr/>
                </a:tc>
                <a:tc>
                  <a:txBody>
                    <a:bodyPr/>
                    <a:lstStyle/>
                    <a:p>
                      <a:pPr algn="ctr"/>
                      <a:r>
                        <a:rPr lang="zh-CN" altLang="en-US" dirty="0"/>
                        <a:t>朝上取精度</a:t>
                      </a:r>
                    </a:p>
                  </a:txBody>
                  <a:tcPr/>
                </a:tc>
                <a:tc>
                  <a:txBody>
                    <a:bodyPr/>
                    <a:lstStyle/>
                    <a:p>
                      <a:pPr algn="ctr"/>
                      <a:endParaRPr lang="zh-CN" altLang="en-US"/>
                    </a:p>
                  </a:txBody>
                  <a:tcPr/>
                </a:tc>
                <a:tc>
                  <a:txBody>
                    <a:bodyPr/>
                    <a:lstStyle/>
                    <a:p>
                      <a:pPr algn="ctr"/>
                      <a:endParaRPr lang="zh-CN" altLang="en-US" dirty="0"/>
                    </a:p>
                  </a:txBody>
                  <a:tcPr/>
                </a:tc>
                <a:tc>
                  <a:txBody>
                    <a:bodyPr/>
                    <a:lstStyle/>
                    <a:p>
                      <a:pPr algn="ctr"/>
                      <a:r>
                        <a:rPr lang="zh-CN" altLang="en-US" dirty="0"/>
                        <a:t>朝上取精度</a:t>
                      </a:r>
                    </a:p>
                  </a:txBody>
                  <a:tcPr/>
                </a:tc>
                <a:extLst>
                  <a:ext uri="{0D108BD9-81ED-4DB2-BD59-A6C34878D82A}">
                    <a16:rowId xmlns:a16="http://schemas.microsoft.com/office/drawing/2014/main" val="3170112272"/>
                  </a:ext>
                </a:extLst>
              </a:tr>
            </a:tbl>
          </a:graphicData>
        </a:graphic>
      </p:graphicFrame>
    </p:spTree>
    <p:extLst>
      <p:ext uri="{BB962C8B-B14F-4D97-AF65-F5344CB8AC3E}">
        <p14:creationId xmlns:p14="http://schemas.microsoft.com/office/powerpoint/2010/main" val="22628471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1D51F9-B157-B154-06AE-39F7073FA416}"/>
              </a:ext>
            </a:extLst>
          </p:cNvPr>
          <p:cNvSpPr>
            <a:spLocks noGrp="1"/>
          </p:cNvSpPr>
          <p:nvPr>
            <p:ph type="title"/>
          </p:nvPr>
        </p:nvSpPr>
        <p:spPr/>
        <p:txBody>
          <a:bodyPr/>
          <a:lstStyle/>
          <a:p>
            <a:r>
              <a:rPr lang="zh-CN" altLang="en-US" dirty="0"/>
              <a:t>结果呈现（</a:t>
            </a:r>
            <a:r>
              <a:rPr lang="en-US" altLang="zh-CN" dirty="0"/>
              <a:t>e</a:t>
            </a:r>
            <a:r>
              <a:rPr lang="zh-CN" altLang="en-US" dirty="0"/>
              <a:t>）</a:t>
            </a:r>
          </a:p>
        </p:txBody>
      </p:sp>
      <p:pic>
        <p:nvPicPr>
          <p:cNvPr id="25" name="图片 24">
            <a:extLst>
              <a:ext uri="{FF2B5EF4-FFF2-40B4-BE49-F238E27FC236}">
                <a16:creationId xmlns:a16="http://schemas.microsoft.com/office/drawing/2014/main" id="{77563C6A-0803-D7E1-A4E6-1D4C84A25F93}"/>
              </a:ext>
            </a:extLst>
          </p:cNvPr>
          <p:cNvPicPr>
            <a:picLocks noChangeAspect="1"/>
          </p:cNvPicPr>
          <p:nvPr/>
        </p:nvPicPr>
        <p:blipFill>
          <a:blip r:embed="rId2"/>
          <a:stretch>
            <a:fillRect/>
          </a:stretch>
        </p:blipFill>
        <p:spPr>
          <a:xfrm>
            <a:off x="5305003" y="922440"/>
            <a:ext cx="2746850" cy="2037985"/>
          </a:xfrm>
          <a:prstGeom prst="rect">
            <a:avLst/>
          </a:prstGeom>
        </p:spPr>
      </p:pic>
      <p:pic>
        <p:nvPicPr>
          <p:cNvPr id="27" name="图片 26">
            <a:extLst>
              <a:ext uri="{FF2B5EF4-FFF2-40B4-BE49-F238E27FC236}">
                <a16:creationId xmlns:a16="http://schemas.microsoft.com/office/drawing/2014/main" id="{F2207A82-5458-5B34-18F1-A1C9C6BBBC09}"/>
              </a:ext>
            </a:extLst>
          </p:cNvPr>
          <p:cNvPicPr>
            <a:picLocks noChangeAspect="1"/>
          </p:cNvPicPr>
          <p:nvPr/>
        </p:nvPicPr>
        <p:blipFill>
          <a:blip r:embed="rId3"/>
          <a:stretch>
            <a:fillRect/>
          </a:stretch>
        </p:blipFill>
        <p:spPr>
          <a:xfrm>
            <a:off x="5310893" y="3186477"/>
            <a:ext cx="1742413" cy="238435"/>
          </a:xfrm>
          <a:prstGeom prst="rect">
            <a:avLst/>
          </a:prstGeom>
        </p:spPr>
      </p:pic>
      <p:pic>
        <p:nvPicPr>
          <p:cNvPr id="29" name="图片 28">
            <a:extLst>
              <a:ext uri="{FF2B5EF4-FFF2-40B4-BE49-F238E27FC236}">
                <a16:creationId xmlns:a16="http://schemas.microsoft.com/office/drawing/2014/main" id="{1673B599-6F3F-271C-F8FA-739D5E6BF834}"/>
              </a:ext>
            </a:extLst>
          </p:cNvPr>
          <p:cNvPicPr>
            <a:picLocks noChangeAspect="1"/>
          </p:cNvPicPr>
          <p:nvPr/>
        </p:nvPicPr>
        <p:blipFill>
          <a:blip r:embed="rId4"/>
          <a:stretch>
            <a:fillRect/>
          </a:stretch>
        </p:blipFill>
        <p:spPr>
          <a:xfrm>
            <a:off x="5305003" y="3707048"/>
            <a:ext cx="2333333" cy="219048"/>
          </a:xfrm>
          <a:prstGeom prst="rect">
            <a:avLst/>
          </a:prstGeom>
        </p:spPr>
      </p:pic>
      <p:sp>
        <p:nvSpPr>
          <p:cNvPr id="38" name="文本框 37">
            <a:extLst>
              <a:ext uri="{FF2B5EF4-FFF2-40B4-BE49-F238E27FC236}">
                <a16:creationId xmlns:a16="http://schemas.microsoft.com/office/drawing/2014/main" id="{341A1538-B303-AA3C-12DC-A6AF1E628A51}"/>
              </a:ext>
            </a:extLst>
          </p:cNvPr>
          <p:cNvSpPr txBox="1"/>
          <p:nvPr/>
        </p:nvSpPr>
        <p:spPr>
          <a:xfrm>
            <a:off x="9835425" y="512250"/>
            <a:ext cx="920979" cy="369332"/>
          </a:xfrm>
          <a:prstGeom prst="rect">
            <a:avLst/>
          </a:prstGeom>
          <a:noFill/>
        </p:spPr>
        <p:txBody>
          <a:bodyPr wrap="square" rtlCol="0">
            <a:spAutoFit/>
          </a:bodyPr>
          <a:lstStyle/>
          <a:p>
            <a:r>
              <a:rPr lang="zh-CN" altLang="en-US" dirty="0"/>
              <a:t>雷达</a:t>
            </a:r>
            <a:r>
              <a:rPr lang="en-US" altLang="zh-CN" dirty="0"/>
              <a:t>2</a:t>
            </a:r>
            <a:endParaRPr lang="zh-CN" altLang="en-US" dirty="0"/>
          </a:p>
        </p:txBody>
      </p:sp>
      <p:sp>
        <p:nvSpPr>
          <p:cNvPr id="39" name="文本框 38">
            <a:extLst>
              <a:ext uri="{FF2B5EF4-FFF2-40B4-BE49-F238E27FC236}">
                <a16:creationId xmlns:a16="http://schemas.microsoft.com/office/drawing/2014/main" id="{01D5B492-6E72-34EB-4B08-51FF3240E51B}"/>
              </a:ext>
            </a:extLst>
          </p:cNvPr>
          <p:cNvSpPr txBox="1"/>
          <p:nvPr/>
        </p:nvSpPr>
        <p:spPr>
          <a:xfrm>
            <a:off x="6335982" y="512250"/>
            <a:ext cx="920979" cy="369332"/>
          </a:xfrm>
          <a:prstGeom prst="rect">
            <a:avLst/>
          </a:prstGeom>
          <a:noFill/>
        </p:spPr>
        <p:txBody>
          <a:bodyPr wrap="square" rtlCol="0">
            <a:spAutoFit/>
          </a:bodyPr>
          <a:lstStyle/>
          <a:p>
            <a:r>
              <a:rPr lang="zh-CN" altLang="en-US" dirty="0"/>
              <a:t>雷达</a:t>
            </a:r>
            <a:r>
              <a:rPr lang="en-US" altLang="zh-CN" dirty="0"/>
              <a:t>1</a:t>
            </a:r>
            <a:endParaRPr lang="zh-CN" altLang="en-US" dirty="0"/>
          </a:p>
        </p:txBody>
      </p:sp>
      <p:pic>
        <p:nvPicPr>
          <p:cNvPr id="40" name="图片 39">
            <a:extLst>
              <a:ext uri="{FF2B5EF4-FFF2-40B4-BE49-F238E27FC236}">
                <a16:creationId xmlns:a16="http://schemas.microsoft.com/office/drawing/2014/main" id="{3D4C22AB-0F26-0602-40D0-4F2D0855C31F}"/>
              </a:ext>
            </a:extLst>
          </p:cNvPr>
          <p:cNvPicPr>
            <a:picLocks noChangeAspect="1"/>
          </p:cNvPicPr>
          <p:nvPr/>
        </p:nvPicPr>
        <p:blipFill>
          <a:blip r:embed="rId5"/>
          <a:stretch>
            <a:fillRect/>
          </a:stretch>
        </p:blipFill>
        <p:spPr>
          <a:xfrm>
            <a:off x="2603538" y="5183628"/>
            <a:ext cx="609524" cy="933333"/>
          </a:xfrm>
          <a:prstGeom prst="rect">
            <a:avLst/>
          </a:prstGeom>
        </p:spPr>
      </p:pic>
      <p:pic>
        <p:nvPicPr>
          <p:cNvPr id="41" name="图片 40">
            <a:extLst>
              <a:ext uri="{FF2B5EF4-FFF2-40B4-BE49-F238E27FC236}">
                <a16:creationId xmlns:a16="http://schemas.microsoft.com/office/drawing/2014/main" id="{95AA4214-81DA-C717-85A5-B7D488D7F600}"/>
              </a:ext>
            </a:extLst>
          </p:cNvPr>
          <p:cNvPicPr>
            <a:picLocks noChangeAspect="1"/>
          </p:cNvPicPr>
          <p:nvPr/>
        </p:nvPicPr>
        <p:blipFill>
          <a:blip r:embed="rId5"/>
          <a:stretch>
            <a:fillRect/>
          </a:stretch>
        </p:blipFill>
        <p:spPr>
          <a:xfrm>
            <a:off x="4438650" y="5183628"/>
            <a:ext cx="609524" cy="933333"/>
          </a:xfrm>
          <a:prstGeom prst="rect">
            <a:avLst/>
          </a:prstGeom>
        </p:spPr>
      </p:pic>
      <p:cxnSp>
        <p:nvCxnSpPr>
          <p:cNvPr id="42" name="直接连接符 41">
            <a:extLst>
              <a:ext uri="{FF2B5EF4-FFF2-40B4-BE49-F238E27FC236}">
                <a16:creationId xmlns:a16="http://schemas.microsoft.com/office/drawing/2014/main" id="{473051B0-3E64-8C75-4669-79D37A7ED1D1}"/>
              </a:ext>
            </a:extLst>
          </p:cNvPr>
          <p:cNvCxnSpPr>
            <a:cxnSpLocks/>
          </p:cNvCxnSpPr>
          <p:nvPr/>
        </p:nvCxnSpPr>
        <p:spPr>
          <a:xfrm>
            <a:off x="431800" y="5999546"/>
            <a:ext cx="6356350" cy="0"/>
          </a:xfrm>
          <a:prstGeom prst="line">
            <a:avLst/>
          </a:prstGeom>
          <a:ln w="57150"/>
        </p:spPr>
        <p:style>
          <a:lnRef idx="1">
            <a:schemeClr val="dk1"/>
          </a:lnRef>
          <a:fillRef idx="0">
            <a:schemeClr val="dk1"/>
          </a:fillRef>
          <a:effectRef idx="0">
            <a:schemeClr val="dk1"/>
          </a:effectRef>
          <a:fontRef idx="minor">
            <a:schemeClr val="tx1"/>
          </a:fontRef>
        </p:style>
      </p:cxnSp>
      <p:sp>
        <p:nvSpPr>
          <p:cNvPr id="43" name="椭圆 42">
            <a:extLst>
              <a:ext uri="{FF2B5EF4-FFF2-40B4-BE49-F238E27FC236}">
                <a16:creationId xmlns:a16="http://schemas.microsoft.com/office/drawing/2014/main" id="{6D5AAF03-000E-5B0D-E9D9-8ACFE01570E7}"/>
              </a:ext>
            </a:extLst>
          </p:cNvPr>
          <p:cNvSpPr/>
          <p:nvPr/>
        </p:nvSpPr>
        <p:spPr>
          <a:xfrm>
            <a:off x="939762" y="3367465"/>
            <a:ext cx="241300" cy="2412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44" name="直接连接符 43">
            <a:extLst>
              <a:ext uri="{FF2B5EF4-FFF2-40B4-BE49-F238E27FC236}">
                <a16:creationId xmlns:a16="http://schemas.microsoft.com/office/drawing/2014/main" id="{6F175DA5-B493-F667-B49B-436D022E84AB}"/>
              </a:ext>
            </a:extLst>
          </p:cNvPr>
          <p:cNvCxnSpPr>
            <a:cxnSpLocks/>
          </p:cNvCxnSpPr>
          <p:nvPr/>
        </p:nvCxnSpPr>
        <p:spPr>
          <a:xfrm>
            <a:off x="1067402" y="3488107"/>
            <a:ext cx="1840898" cy="184639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C0FAE9D8-46B9-35FD-506D-B157B3D30E78}"/>
              </a:ext>
            </a:extLst>
          </p:cNvPr>
          <p:cNvCxnSpPr>
            <a:cxnSpLocks/>
          </p:cNvCxnSpPr>
          <p:nvPr/>
        </p:nvCxnSpPr>
        <p:spPr>
          <a:xfrm>
            <a:off x="1062028" y="3488107"/>
            <a:ext cx="3681384" cy="18129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0F3B1E7E-DAF6-E222-3B0A-3683E26676E3}"/>
              </a:ext>
            </a:extLst>
          </p:cNvPr>
          <p:cNvCxnSpPr>
            <a:cxnSpLocks/>
          </p:cNvCxnSpPr>
          <p:nvPr/>
        </p:nvCxnSpPr>
        <p:spPr>
          <a:xfrm>
            <a:off x="2908300" y="5301046"/>
            <a:ext cx="183511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0D4E5243-E8E9-DEF7-EC8A-19569DAAA455}"/>
              </a:ext>
            </a:extLst>
          </p:cNvPr>
          <p:cNvSpPr txBox="1"/>
          <p:nvPr/>
        </p:nvSpPr>
        <p:spPr>
          <a:xfrm>
            <a:off x="3444149" y="5222255"/>
            <a:ext cx="699193" cy="369332"/>
          </a:xfrm>
          <a:prstGeom prst="rect">
            <a:avLst/>
          </a:prstGeom>
          <a:noFill/>
        </p:spPr>
        <p:txBody>
          <a:bodyPr wrap="square" rtlCol="0">
            <a:spAutoFit/>
          </a:bodyPr>
          <a:lstStyle/>
          <a:p>
            <a:r>
              <a:rPr lang="en-US" altLang="zh-CN" dirty="0"/>
              <a:t>10m</a:t>
            </a:r>
            <a:endParaRPr lang="zh-CN" altLang="en-US" dirty="0"/>
          </a:p>
        </p:txBody>
      </p:sp>
      <p:sp>
        <p:nvSpPr>
          <p:cNvPr id="53" name="椭圆 52">
            <a:extLst>
              <a:ext uri="{FF2B5EF4-FFF2-40B4-BE49-F238E27FC236}">
                <a16:creationId xmlns:a16="http://schemas.microsoft.com/office/drawing/2014/main" id="{8312650C-708B-9D88-A2D4-34E8FCE4E2AE}"/>
              </a:ext>
            </a:extLst>
          </p:cNvPr>
          <p:cNvSpPr/>
          <p:nvPr/>
        </p:nvSpPr>
        <p:spPr>
          <a:xfrm>
            <a:off x="2776490" y="3367465"/>
            <a:ext cx="241300" cy="2412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54" name="直接连接符 53">
            <a:extLst>
              <a:ext uri="{FF2B5EF4-FFF2-40B4-BE49-F238E27FC236}">
                <a16:creationId xmlns:a16="http://schemas.microsoft.com/office/drawing/2014/main" id="{7AFFF113-20CA-A175-F2A0-16E13F5C3183}"/>
              </a:ext>
            </a:extLst>
          </p:cNvPr>
          <p:cNvCxnSpPr>
            <a:cxnSpLocks/>
          </p:cNvCxnSpPr>
          <p:nvPr/>
        </p:nvCxnSpPr>
        <p:spPr>
          <a:xfrm>
            <a:off x="2895395" y="3488107"/>
            <a:ext cx="56112" cy="184639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F74619B-EA9E-7F0D-308D-1EB26190545E}"/>
              </a:ext>
            </a:extLst>
          </p:cNvPr>
          <p:cNvCxnSpPr>
            <a:cxnSpLocks/>
          </p:cNvCxnSpPr>
          <p:nvPr/>
        </p:nvCxnSpPr>
        <p:spPr>
          <a:xfrm>
            <a:off x="2897140" y="3488107"/>
            <a:ext cx="1836728" cy="182922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13F77D95-08BB-FBD5-A55F-448B9CAAB2C1}"/>
              </a:ext>
            </a:extLst>
          </p:cNvPr>
          <p:cNvSpPr txBox="1"/>
          <p:nvPr/>
        </p:nvSpPr>
        <p:spPr>
          <a:xfrm>
            <a:off x="838200" y="2981846"/>
            <a:ext cx="850900" cy="369332"/>
          </a:xfrm>
          <a:prstGeom prst="rect">
            <a:avLst/>
          </a:prstGeom>
          <a:noFill/>
        </p:spPr>
        <p:txBody>
          <a:bodyPr wrap="square" rtlCol="0">
            <a:spAutoFit/>
          </a:bodyPr>
          <a:lstStyle/>
          <a:p>
            <a:r>
              <a:rPr lang="en-US" altLang="zh-CN" dirty="0"/>
              <a:t>10m/s</a:t>
            </a:r>
            <a:endParaRPr lang="zh-CN" altLang="en-US" dirty="0"/>
          </a:p>
        </p:txBody>
      </p:sp>
      <p:sp>
        <p:nvSpPr>
          <p:cNvPr id="57" name="文本框 56">
            <a:extLst>
              <a:ext uri="{FF2B5EF4-FFF2-40B4-BE49-F238E27FC236}">
                <a16:creationId xmlns:a16="http://schemas.microsoft.com/office/drawing/2014/main" id="{E66ACEBD-3DF3-8B38-22BC-36F6C5844EE8}"/>
              </a:ext>
            </a:extLst>
          </p:cNvPr>
          <p:cNvSpPr txBox="1"/>
          <p:nvPr/>
        </p:nvSpPr>
        <p:spPr>
          <a:xfrm>
            <a:off x="2717762" y="2973248"/>
            <a:ext cx="850900" cy="369332"/>
          </a:xfrm>
          <a:prstGeom prst="rect">
            <a:avLst/>
          </a:prstGeom>
          <a:noFill/>
        </p:spPr>
        <p:txBody>
          <a:bodyPr wrap="square" rtlCol="0">
            <a:spAutoFit/>
          </a:bodyPr>
          <a:lstStyle/>
          <a:p>
            <a:r>
              <a:rPr lang="en-US" altLang="zh-CN" dirty="0"/>
              <a:t>14m/s</a:t>
            </a:r>
            <a:endParaRPr lang="zh-CN" altLang="en-US" dirty="0"/>
          </a:p>
        </p:txBody>
      </p:sp>
      <p:sp>
        <p:nvSpPr>
          <p:cNvPr id="71" name="文本框 70">
            <a:extLst>
              <a:ext uri="{FF2B5EF4-FFF2-40B4-BE49-F238E27FC236}">
                <a16:creationId xmlns:a16="http://schemas.microsoft.com/office/drawing/2014/main" id="{93C3ED03-CA52-9EAE-BEB2-A9B59E961764}"/>
              </a:ext>
            </a:extLst>
          </p:cNvPr>
          <p:cNvSpPr txBox="1"/>
          <p:nvPr/>
        </p:nvSpPr>
        <p:spPr>
          <a:xfrm>
            <a:off x="1843919" y="3608750"/>
            <a:ext cx="699193" cy="369332"/>
          </a:xfrm>
          <a:prstGeom prst="rect">
            <a:avLst/>
          </a:prstGeom>
          <a:noFill/>
        </p:spPr>
        <p:txBody>
          <a:bodyPr wrap="square" rtlCol="0">
            <a:spAutoFit/>
          </a:bodyPr>
          <a:lstStyle/>
          <a:p>
            <a:r>
              <a:rPr lang="en-US" altLang="zh-CN" dirty="0"/>
              <a:t>22m</a:t>
            </a:r>
            <a:endParaRPr lang="zh-CN" altLang="en-US" dirty="0"/>
          </a:p>
        </p:txBody>
      </p:sp>
      <p:sp>
        <p:nvSpPr>
          <p:cNvPr id="72" name="文本框 71">
            <a:extLst>
              <a:ext uri="{FF2B5EF4-FFF2-40B4-BE49-F238E27FC236}">
                <a16:creationId xmlns:a16="http://schemas.microsoft.com/office/drawing/2014/main" id="{B1900BC8-FC53-CCBC-35B9-5B139567B532}"/>
              </a:ext>
            </a:extLst>
          </p:cNvPr>
          <p:cNvSpPr txBox="1"/>
          <p:nvPr/>
        </p:nvSpPr>
        <p:spPr>
          <a:xfrm>
            <a:off x="1252766" y="4071915"/>
            <a:ext cx="699193" cy="369332"/>
          </a:xfrm>
          <a:prstGeom prst="rect">
            <a:avLst/>
          </a:prstGeom>
          <a:noFill/>
        </p:spPr>
        <p:txBody>
          <a:bodyPr wrap="square" rtlCol="0">
            <a:spAutoFit/>
          </a:bodyPr>
          <a:lstStyle/>
          <a:p>
            <a:r>
              <a:rPr lang="en-US" altLang="zh-CN" dirty="0"/>
              <a:t>14m</a:t>
            </a:r>
            <a:endParaRPr lang="zh-CN" altLang="en-US" dirty="0"/>
          </a:p>
        </p:txBody>
      </p:sp>
      <p:sp>
        <p:nvSpPr>
          <p:cNvPr id="73" name="文本框 72">
            <a:extLst>
              <a:ext uri="{FF2B5EF4-FFF2-40B4-BE49-F238E27FC236}">
                <a16:creationId xmlns:a16="http://schemas.microsoft.com/office/drawing/2014/main" id="{6205B9AF-AB73-6EDF-DCCD-A5B5C5A01337}"/>
              </a:ext>
            </a:extLst>
          </p:cNvPr>
          <p:cNvSpPr txBox="1"/>
          <p:nvPr/>
        </p:nvSpPr>
        <p:spPr>
          <a:xfrm>
            <a:off x="3513098" y="3887249"/>
            <a:ext cx="699193" cy="369332"/>
          </a:xfrm>
          <a:prstGeom prst="rect">
            <a:avLst/>
          </a:prstGeom>
          <a:noFill/>
        </p:spPr>
        <p:txBody>
          <a:bodyPr wrap="square" rtlCol="0">
            <a:spAutoFit/>
          </a:bodyPr>
          <a:lstStyle/>
          <a:p>
            <a:r>
              <a:rPr lang="en-US" altLang="zh-CN" dirty="0"/>
              <a:t>14m</a:t>
            </a:r>
            <a:endParaRPr lang="zh-CN" altLang="en-US" dirty="0"/>
          </a:p>
        </p:txBody>
      </p:sp>
      <p:sp>
        <p:nvSpPr>
          <p:cNvPr id="74" name="文本框 73">
            <a:extLst>
              <a:ext uri="{FF2B5EF4-FFF2-40B4-BE49-F238E27FC236}">
                <a16:creationId xmlns:a16="http://schemas.microsoft.com/office/drawing/2014/main" id="{77DAEFED-1AEC-60B4-A06E-E6EA9815CD85}"/>
              </a:ext>
            </a:extLst>
          </p:cNvPr>
          <p:cNvSpPr txBox="1"/>
          <p:nvPr/>
        </p:nvSpPr>
        <p:spPr>
          <a:xfrm>
            <a:off x="2856372" y="3927358"/>
            <a:ext cx="699193" cy="369332"/>
          </a:xfrm>
          <a:prstGeom prst="rect">
            <a:avLst/>
          </a:prstGeom>
          <a:noFill/>
        </p:spPr>
        <p:txBody>
          <a:bodyPr wrap="square" rtlCol="0">
            <a:spAutoFit/>
          </a:bodyPr>
          <a:lstStyle/>
          <a:p>
            <a:r>
              <a:rPr lang="en-US" altLang="zh-CN" dirty="0"/>
              <a:t>10m</a:t>
            </a:r>
            <a:endParaRPr lang="zh-CN" altLang="en-US" dirty="0"/>
          </a:p>
        </p:txBody>
      </p:sp>
      <p:pic>
        <p:nvPicPr>
          <p:cNvPr id="76" name="图片 75">
            <a:extLst>
              <a:ext uri="{FF2B5EF4-FFF2-40B4-BE49-F238E27FC236}">
                <a16:creationId xmlns:a16="http://schemas.microsoft.com/office/drawing/2014/main" id="{30F02FF7-7DBD-C566-5970-80CAC418ECAD}"/>
              </a:ext>
            </a:extLst>
          </p:cNvPr>
          <p:cNvPicPr>
            <a:picLocks noChangeAspect="1"/>
          </p:cNvPicPr>
          <p:nvPr/>
        </p:nvPicPr>
        <p:blipFill>
          <a:blip r:embed="rId6"/>
          <a:stretch>
            <a:fillRect/>
          </a:stretch>
        </p:blipFill>
        <p:spPr>
          <a:xfrm>
            <a:off x="8867353" y="912984"/>
            <a:ext cx="2655437" cy="2028529"/>
          </a:xfrm>
          <a:prstGeom prst="rect">
            <a:avLst/>
          </a:prstGeom>
        </p:spPr>
      </p:pic>
      <p:pic>
        <p:nvPicPr>
          <p:cNvPr id="78" name="图片 77">
            <a:extLst>
              <a:ext uri="{FF2B5EF4-FFF2-40B4-BE49-F238E27FC236}">
                <a16:creationId xmlns:a16="http://schemas.microsoft.com/office/drawing/2014/main" id="{FE407562-894B-3812-33A4-D923AF9D2FBB}"/>
              </a:ext>
            </a:extLst>
          </p:cNvPr>
          <p:cNvPicPr>
            <a:picLocks noChangeAspect="1"/>
          </p:cNvPicPr>
          <p:nvPr/>
        </p:nvPicPr>
        <p:blipFill>
          <a:blip r:embed="rId7"/>
          <a:stretch>
            <a:fillRect/>
          </a:stretch>
        </p:blipFill>
        <p:spPr>
          <a:xfrm>
            <a:off x="8902091" y="3215388"/>
            <a:ext cx="1866667" cy="209524"/>
          </a:xfrm>
          <a:prstGeom prst="rect">
            <a:avLst/>
          </a:prstGeom>
        </p:spPr>
      </p:pic>
      <p:pic>
        <p:nvPicPr>
          <p:cNvPr id="80" name="图片 79">
            <a:extLst>
              <a:ext uri="{FF2B5EF4-FFF2-40B4-BE49-F238E27FC236}">
                <a16:creationId xmlns:a16="http://schemas.microsoft.com/office/drawing/2014/main" id="{2D71658E-C6EF-6945-85AA-8A09FE9AC196}"/>
              </a:ext>
            </a:extLst>
          </p:cNvPr>
          <p:cNvPicPr>
            <a:picLocks noChangeAspect="1"/>
          </p:cNvPicPr>
          <p:nvPr/>
        </p:nvPicPr>
        <p:blipFill>
          <a:blip r:embed="rId8"/>
          <a:stretch>
            <a:fillRect/>
          </a:stretch>
        </p:blipFill>
        <p:spPr>
          <a:xfrm>
            <a:off x="8902091" y="3698787"/>
            <a:ext cx="2476190" cy="228571"/>
          </a:xfrm>
          <a:prstGeom prst="rect">
            <a:avLst/>
          </a:prstGeom>
        </p:spPr>
      </p:pic>
      <p:cxnSp>
        <p:nvCxnSpPr>
          <p:cNvPr id="83" name="直接箭头连接符 82">
            <a:extLst>
              <a:ext uri="{FF2B5EF4-FFF2-40B4-BE49-F238E27FC236}">
                <a16:creationId xmlns:a16="http://schemas.microsoft.com/office/drawing/2014/main" id="{501D651C-48AC-BB4A-55F0-F8A3E8EC1742}"/>
              </a:ext>
            </a:extLst>
          </p:cNvPr>
          <p:cNvCxnSpPr/>
          <p:nvPr/>
        </p:nvCxnSpPr>
        <p:spPr>
          <a:xfrm flipH="1" flipV="1">
            <a:off x="6942455" y="3385446"/>
            <a:ext cx="335461" cy="33958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5887D395-AEC2-7642-0E51-8CF43376EDC7}"/>
              </a:ext>
            </a:extLst>
          </p:cNvPr>
          <p:cNvCxnSpPr>
            <a:cxnSpLocks/>
          </p:cNvCxnSpPr>
          <p:nvPr/>
        </p:nvCxnSpPr>
        <p:spPr>
          <a:xfrm flipH="1" flipV="1">
            <a:off x="6672943" y="3385446"/>
            <a:ext cx="28848" cy="32160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接箭头连接符 85">
            <a:extLst>
              <a:ext uri="{FF2B5EF4-FFF2-40B4-BE49-F238E27FC236}">
                <a16:creationId xmlns:a16="http://schemas.microsoft.com/office/drawing/2014/main" id="{1A6E274F-F1B1-DB2F-FCB3-578B7705C7F0}"/>
              </a:ext>
            </a:extLst>
          </p:cNvPr>
          <p:cNvCxnSpPr>
            <a:cxnSpLocks/>
          </p:cNvCxnSpPr>
          <p:nvPr/>
        </p:nvCxnSpPr>
        <p:spPr>
          <a:xfrm flipH="1" flipV="1">
            <a:off x="10356944" y="3359763"/>
            <a:ext cx="28848" cy="32160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BEC84858-A138-FB6A-73F2-3162F4BB8C8B}"/>
              </a:ext>
            </a:extLst>
          </p:cNvPr>
          <p:cNvCxnSpPr/>
          <p:nvPr/>
        </p:nvCxnSpPr>
        <p:spPr>
          <a:xfrm flipH="1" flipV="1">
            <a:off x="10540728" y="3377267"/>
            <a:ext cx="335461" cy="33958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文本框 87">
            <a:extLst>
              <a:ext uri="{FF2B5EF4-FFF2-40B4-BE49-F238E27FC236}">
                <a16:creationId xmlns:a16="http://schemas.microsoft.com/office/drawing/2014/main" id="{0E976EF1-28CD-A9D1-FDF7-2832394A0F62}"/>
              </a:ext>
            </a:extLst>
          </p:cNvPr>
          <p:cNvSpPr txBox="1"/>
          <p:nvPr/>
        </p:nvSpPr>
        <p:spPr>
          <a:xfrm>
            <a:off x="6887495" y="5372896"/>
            <a:ext cx="4877246" cy="1200329"/>
          </a:xfrm>
          <a:prstGeom prst="rect">
            <a:avLst/>
          </a:prstGeom>
          <a:noFill/>
        </p:spPr>
        <p:txBody>
          <a:bodyPr wrap="square" rtlCol="0">
            <a:spAutoFit/>
          </a:bodyPr>
          <a:lstStyle/>
          <a:p>
            <a:r>
              <a:rPr lang="zh-CN" altLang="en-US" dirty="0"/>
              <a:t>速度</a:t>
            </a:r>
            <a:r>
              <a:rPr lang="en-US" altLang="zh-CN" dirty="0"/>
              <a:t>15.2192m/s</a:t>
            </a:r>
            <a:r>
              <a:rPr lang="zh-CN" altLang="en-US" dirty="0"/>
              <a:t>的物体</a:t>
            </a:r>
            <a:r>
              <a:rPr lang="en-US" altLang="zh-CN" dirty="0"/>
              <a:t>2</a:t>
            </a:r>
            <a:r>
              <a:rPr lang="zh-CN" altLang="en-US" dirty="0"/>
              <a:t>对雷达</a:t>
            </a:r>
            <a:r>
              <a:rPr lang="en-US" altLang="zh-CN" dirty="0"/>
              <a:t>1</a:t>
            </a:r>
            <a:r>
              <a:rPr lang="zh-CN" altLang="en-US" dirty="0"/>
              <a:t>的距离为</a:t>
            </a:r>
            <a:r>
              <a:rPr lang="en-US" altLang="zh-CN" dirty="0"/>
              <a:t>10m</a:t>
            </a:r>
          </a:p>
          <a:p>
            <a:r>
              <a:rPr lang="zh-CN" altLang="en-US" dirty="0"/>
              <a:t>速度</a:t>
            </a:r>
            <a:r>
              <a:rPr lang="en-US" altLang="zh-CN" dirty="0"/>
              <a:t>15.2192m/s</a:t>
            </a:r>
            <a:r>
              <a:rPr lang="zh-CN" altLang="en-US" dirty="0"/>
              <a:t>的物体</a:t>
            </a:r>
            <a:r>
              <a:rPr lang="en-US" altLang="zh-CN" dirty="0"/>
              <a:t>2</a:t>
            </a:r>
            <a:r>
              <a:rPr lang="zh-CN" altLang="en-US" dirty="0"/>
              <a:t>对雷达</a:t>
            </a:r>
            <a:r>
              <a:rPr lang="en-US" altLang="zh-CN" dirty="0"/>
              <a:t>2</a:t>
            </a:r>
            <a:r>
              <a:rPr lang="zh-CN" altLang="en-US" dirty="0"/>
              <a:t>的距离为</a:t>
            </a:r>
            <a:r>
              <a:rPr lang="en-US" altLang="zh-CN" dirty="0"/>
              <a:t>14m</a:t>
            </a:r>
          </a:p>
          <a:p>
            <a:r>
              <a:rPr lang="zh-CN" altLang="en-US" dirty="0"/>
              <a:t>速度</a:t>
            </a:r>
            <a:r>
              <a:rPr lang="en-US" altLang="zh-CN" dirty="0"/>
              <a:t>11.4144m/s</a:t>
            </a:r>
            <a:r>
              <a:rPr lang="zh-CN" altLang="en-US" dirty="0"/>
              <a:t>的物体</a:t>
            </a:r>
            <a:r>
              <a:rPr lang="en-US" altLang="zh-CN" dirty="0"/>
              <a:t>1</a:t>
            </a:r>
            <a:r>
              <a:rPr lang="zh-CN" altLang="en-US" dirty="0"/>
              <a:t>对雷达</a:t>
            </a:r>
            <a:r>
              <a:rPr lang="en-US" altLang="zh-CN" dirty="0"/>
              <a:t>1</a:t>
            </a:r>
            <a:r>
              <a:rPr lang="zh-CN" altLang="en-US" dirty="0"/>
              <a:t>的距离为</a:t>
            </a:r>
            <a:r>
              <a:rPr lang="en-US" altLang="zh-CN" dirty="0"/>
              <a:t>14m</a:t>
            </a:r>
          </a:p>
          <a:p>
            <a:r>
              <a:rPr lang="zh-CN" altLang="en-US" dirty="0"/>
              <a:t>速度</a:t>
            </a:r>
            <a:r>
              <a:rPr lang="en-US" altLang="zh-CN" dirty="0"/>
              <a:t>11.4144m/s</a:t>
            </a:r>
            <a:r>
              <a:rPr lang="zh-CN" altLang="en-US" dirty="0"/>
              <a:t>的物体</a:t>
            </a:r>
            <a:r>
              <a:rPr lang="en-US" altLang="zh-CN" dirty="0"/>
              <a:t>1</a:t>
            </a:r>
            <a:r>
              <a:rPr lang="zh-CN" altLang="en-US" dirty="0"/>
              <a:t>对雷达</a:t>
            </a:r>
            <a:r>
              <a:rPr lang="en-US" altLang="zh-CN" dirty="0"/>
              <a:t>2</a:t>
            </a:r>
            <a:r>
              <a:rPr lang="zh-CN" altLang="en-US" dirty="0"/>
              <a:t>的距离为</a:t>
            </a:r>
            <a:r>
              <a:rPr lang="en-US" altLang="zh-CN" dirty="0"/>
              <a:t>22m</a:t>
            </a:r>
          </a:p>
        </p:txBody>
      </p:sp>
      <p:sp>
        <p:nvSpPr>
          <p:cNvPr id="89" name="文本框 88">
            <a:extLst>
              <a:ext uri="{FF2B5EF4-FFF2-40B4-BE49-F238E27FC236}">
                <a16:creationId xmlns:a16="http://schemas.microsoft.com/office/drawing/2014/main" id="{ABF912AD-E48C-06D4-DF23-66684E4D0A6B}"/>
              </a:ext>
            </a:extLst>
          </p:cNvPr>
          <p:cNvSpPr txBox="1"/>
          <p:nvPr/>
        </p:nvSpPr>
        <p:spPr>
          <a:xfrm>
            <a:off x="4383528" y="6053337"/>
            <a:ext cx="920979" cy="369332"/>
          </a:xfrm>
          <a:prstGeom prst="rect">
            <a:avLst/>
          </a:prstGeom>
          <a:noFill/>
        </p:spPr>
        <p:txBody>
          <a:bodyPr wrap="square" rtlCol="0">
            <a:spAutoFit/>
          </a:bodyPr>
          <a:lstStyle/>
          <a:p>
            <a:r>
              <a:rPr lang="zh-CN" altLang="en-US" dirty="0"/>
              <a:t>雷达</a:t>
            </a:r>
            <a:r>
              <a:rPr lang="en-US" altLang="zh-CN" dirty="0"/>
              <a:t>2</a:t>
            </a:r>
            <a:endParaRPr lang="zh-CN" altLang="en-US" dirty="0"/>
          </a:p>
        </p:txBody>
      </p:sp>
      <p:sp>
        <p:nvSpPr>
          <p:cNvPr id="90" name="文本框 89">
            <a:extLst>
              <a:ext uri="{FF2B5EF4-FFF2-40B4-BE49-F238E27FC236}">
                <a16:creationId xmlns:a16="http://schemas.microsoft.com/office/drawing/2014/main" id="{0CDB5755-0DA4-9619-B37E-69C8322BD936}"/>
              </a:ext>
            </a:extLst>
          </p:cNvPr>
          <p:cNvSpPr txBox="1"/>
          <p:nvPr/>
        </p:nvSpPr>
        <p:spPr>
          <a:xfrm>
            <a:off x="2543112" y="6061461"/>
            <a:ext cx="920979" cy="369332"/>
          </a:xfrm>
          <a:prstGeom prst="rect">
            <a:avLst/>
          </a:prstGeom>
          <a:noFill/>
        </p:spPr>
        <p:txBody>
          <a:bodyPr wrap="square" rtlCol="0">
            <a:spAutoFit/>
          </a:bodyPr>
          <a:lstStyle/>
          <a:p>
            <a:r>
              <a:rPr lang="zh-CN" altLang="en-US" dirty="0"/>
              <a:t>雷达</a:t>
            </a:r>
            <a:r>
              <a:rPr lang="en-US" altLang="zh-CN" dirty="0"/>
              <a:t>1</a:t>
            </a:r>
            <a:endParaRPr lang="zh-CN" altLang="en-US" dirty="0"/>
          </a:p>
        </p:txBody>
      </p:sp>
      <p:sp>
        <p:nvSpPr>
          <p:cNvPr id="91" name="文本框 90">
            <a:extLst>
              <a:ext uri="{FF2B5EF4-FFF2-40B4-BE49-F238E27FC236}">
                <a16:creationId xmlns:a16="http://schemas.microsoft.com/office/drawing/2014/main" id="{57BCC655-7570-26FF-BA20-0C2C34A5ED46}"/>
              </a:ext>
            </a:extLst>
          </p:cNvPr>
          <p:cNvSpPr txBox="1"/>
          <p:nvPr/>
        </p:nvSpPr>
        <p:spPr>
          <a:xfrm>
            <a:off x="276905" y="3579472"/>
            <a:ext cx="920979" cy="369332"/>
          </a:xfrm>
          <a:prstGeom prst="rect">
            <a:avLst/>
          </a:prstGeom>
          <a:noFill/>
        </p:spPr>
        <p:txBody>
          <a:bodyPr wrap="square" rtlCol="0">
            <a:spAutoFit/>
          </a:bodyPr>
          <a:lstStyle/>
          <a:p>
            <a:r>
              <a:rPr lang="zh-CN" altLang="en-US" dirty="0"/>
              <a:t>物体</a:t>
            </a:r>
            <a:r>
              <a:rPr lang="en-US" altLang="zh-CN" dirty="0"/>
              <a:t>1</a:t>
            </a:r>
            <a:endParaRPr lang="zh-CN" altLang="en-US" dirty="0"/>
          </a:p>
        </p:txBody>
      </p:sp>
      <p:sp>
        <p:nvSpPr>
          <p:cNvPr id="92" name="文本框 91">
            <a:extLst>
              <a:ext uri="{FF2B5EF4-FFF2-40B4-BE49-F238E27FC236}">
                <a16:creationId xmlns:a16="http://schemas.microsoft.com/office/drawing/2014/main" id="{AB3845BA-D3D7-F41C-BBA3-80D6A6E07097}"/>
              </a:ext>
            </a:extLst>
          </p:cNvPr>
          <p:cNvSpPr txBox="1"/>
          <p:nvPr/>
        </p:nvSpPr>
        <p:spPr>
          <a:xfrm>
            <a:off x="3149485" y="3370571"/>
            <a:ext cx="920979" cy="369332"/>
          </a:xfrm>
          <a:prstGeom prst="rect">
            <a:avLst/>
          </a:prstGeom>
          <a:noFill/>
        </p:spPr>
        <p:txBody>
          <a:bodyPr wrap="square" rtlCol="0">
            <a:spAutoFit/>
          </a:bodyPr>
          <a:lstStyle/>
          <a:p>
            <a:r>
              <a:rPr lang="zh-CN" altLang="en-US" dirty="0"/>
              <a:t>物体</a:t>
            </a:r>
            <a:r>
              <a:rPr lang="en-US" altLang="zh-CN" dirty="0"/>
              <a:t>2</a:t>
            </a:r>
            <a:endParaRPr lang="zh-CN" altLang="en-US" dirty="0"/>
          </a:p>
        </p:txBody>
      </p:sp>
      <p:sp>
        <p:nvSpPr>
          <p:cNvPr id="94" name="文本框 93">
            <a:extLst>
              <a:ext uri="{FF2B5EF4-FFF2-40B4-BE49-F238E27FC236}">
                <a16:creationId xmlns:a16="http://schemas.microsoft.com/office/drawing/2014/main" id="{798E7FEF-AD05-57B3-F3A7-314467B1DF07}"/>
              </a:ext>
            </a:extLst>
          </p:cNvPr>
          <p:cNvSpPr txBox="1"/>
          <p:nvPr/>
        </p:nvSpPr>
        <p:spPr>
          <a:xfrm>
            <a:off x="5729754" y="4317656"/>
            <a:ext cx="4322296" cy="923330"/>
          </a:xfrm>
          <a:prstGeom prst="rect">
            <a:avLst/>
          </a:prstGeom>
          <a:noFill/>
        </p:spPr>
        <p:txBody>
          <a:bodyPr wrap="square">
            <a:spAutoFit/>
          </a:bodyPr>
          <a:lstStyle/>
          <a:p>
            <a:r>
              <a:rPr lang="zh-CN" altLang="en-US" dirty="0"/>
              <a:t>通过速度来分辨不同物体的距离</a:t>
            </a:r>
            <a:endParaRPr lang="en-US" altLang="zh-CN" dirty="0"/>
          </a:p>
          <a:p>
            <a:r>
              <a:rPr lang="en-US" altLang="zh-CN" dirty="0"/>
              <a:t>v1 </a:t>
            </a:r>
            <a:r>
              <a:rPr lang="en-US" altLang="zh-CN" dirty="0">
                <a:sym typeface="Wingdings" panose="05000000000000000000" pitchFamily="2" charset="2"/>
              </a:rPr>
              <a:t> r11 &amp; r21</a:t>
            </a:r>
          </a:p>
          <a:p>
            <a:r>
              <a:rPr lang="en-US" altLang="zh-CN" dirty="0"/>
              <a:t>v2 </a:t>
            </a:r>
            <a:r>
              <a:rPr lang="en-US" altLang="zh-CN" dirty="0">
                <a:sym typeface="Wingdings" panose="05000000000000000000" pitchFamily="2" charset="2"/>
              </a:rPr>
              <a:t> r12 &amp; r22</a:t>
            </a:r>
          </a:p>
        </p:txBody>
      </p:sp>
    </p:spTree>
    <p:extLst>
      <p:ext uri="{BB962C8B-B14F-4D97-AF65-F5344CB8AC3E}">
        <p14:creationId xmlns:p14="http://schemas.microsoft.com/office/powerpoint/2010/main" val="758179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1D51F9-B157-B154-06AE-39F7073FA416}"/>
              </a:ext>
            </a:extLst>
          </p:cNvPr>
          <p:cNvSpPr>
            <a:spLocks noGrp="1"/>
          </p:cNvSpPr>
          <p:nvPr>
            <p:ph type="title"/>
          </p:nvPr>
        </p:nvSpPr>
        <p:spPr/>
        <p:txBody>
          <a:bodyPr/>
          <a:lstStyle/>
          <a:p>
            <a:r>
              <a:rPr lang="zh-CN" altLang="en-US" dirty="0"/>
              <a:t>结果呈现（</a:t>
            </a:r>
            <a:r>
              <a:rPr lang="en-US" altLang="zh-CN" dirty="0"/>
              <a:t>e</a:t>
            </a:r>
            <a:r>
              <a:rPr lang="zh-CN" altLang="en-US" dirty="0"/>
              <a:t>）</a:t>
            </a:r>
          </a:p>
        </p:txBody>
      </p:sp>
      <p:sp>
        <p:nvSpPr>
          <p:cNvPr id="26" name="文本框 25">
            <a:extLst>
              <a:ext uri="{FF2B5EF4-FFF2-40B4-BE49-F238E27FC236}">
                <a16:creationId xmlns:a16="http://schemas.microsoft.com/office/drawing/2014/main" id="{E299ED7A-3D51-B8ED-D90E-E1E1BDC79EB5}"/>
              </a:ext>
            </a:extLst>
          </p:cNvPr>
          <p:cNvSpPr txBox="1"/>
          <p:nvPr/>
        </p:nvSpPr>
        <p:spPr>
          <a:xfrm>
            <a:off x="6359340" y="725785"/>
            <a:ext cx="4877246" cy="1200329"/>
          </a:xfrm>
          <a:prstGeom prst="rect">
            <a:avLst/>
          </a:prstGeom>
          <a:noFill/>
        </p:spPr>
        <p:txBody>
          <a:bodyPr wrap="square" rtlCol="0">
            <a:spAutoFit/>
          </a:bodyPr>
          <a:lstStyle/>
          <a:p>
            <a:r>
              <a:rPr lang="zh-CN" altLang="en-US" dirty="0"/>
              <a:t>速度</a:t>
            </a:r>
            <a:r>
              <a:rPr lang="en-US" altLang="zh-CN" dirty="0"/>
              <a:t>15.2192m/s</a:t>
            </a:r>
            <a:r>
              <a:rPr lang="zh-CN" altLang="en-US" dirty="0"/>
              <a:t>的物体</a:t>
            </a:r>
            <a:r>
              <a:rPr lang="en-US" altLang="zh-CN" dirty="0"/>
              <a:t>2</a:t>
            </a:r>
            <a:r>
              <a:rPr lang="zh-CN" altLang="en-US" dirty="0"/>
              <a:t>对雷达</a:t>
            </a:r>
            <a:r>
              <a:rPr lang="en-US" altLang="zh-CN" dirty="0"/>
              <a:t>1</a:t>
            </a:r>
            <a:r>
              <a:rPr lang="zh-CN" altLang="en-US" dirty="0"/>
              <a:t>的距离为</a:t>
            </a:r>
            <a:r>
              <a:rPr lang="en-US" altLang="zh-CN" dirty="0"/>
              <a:t>10m</a:t>
            </a:r>
          </a:p>
          <a:p>
            <a:r>
              <a:rPr lang="zh-CN" altLang="en-US" dirty="0"/>
              <a:t>速度</a:t>
            </a:r>
            <a:r>
              <a:rPr lang="en-US" altLang="zh-CN" dirty="0"/>
              <a:t>15.2192m/s</a:t>
            </a:r>
            <a:r>
              <a:rPr lang="zh-CN" altLang="en-US" dirty="0"/>
              <a:t>的物体</a:t>
            </a:r>
            <a:r>
              <a:rPr lang="en-US" altLang="zh-CN" dirty="0"/>
              <a:t>2</a:t>
            </a:r>
            <a:r>
              <a:rPr lang="zh-CN" altLang="en-US" dirty="0"/>
              <a:t>对雷达</a:t>
            </a:r>
            <a:r>
              <a:rPr lang="en-US" altLang="zh-CN" dirty="0"/>
              <a:t>2</a:t>
            </a:r>
            <a:r>
              <a:rPr lang="zh-CN" altLang="en-US" dirty="0"/>
              <a:t>的距离为</a:t>
            </a:r>
            <a:r>
              <a:rPr lang="en-US" altLang="zh-CN" dirty="0"/>
              <a:t>14m</a:t>
            </a:r>
          </a:p>
          <a:p>
            <a:r>
              <a:rPr lang="zh-CN" altLang="en-US" dirty="0"/>
              <a:t>速度</a:t>
            </a:r>
            <a:r>
              <a:rPr lang="en-US" altLang="zh-CN" dirty="0"/>
              <a:t>11.4144m/s</a:t>
            </a:r>
            <a:r>
              <a:rPr lang="zh-CN" altLang="en-US" dirty="0"/>
              <a:t>的物体</a:t>
            </a:r>
            <a:r>
              <a:rPr lang="en-US" altLang="zh-CN" dirty="0"/>
              <a:t>1</a:t>
            </a:r>
            <a:r>
              <a:rPr lang="zh-CN" altLang="en-US" dirty="0"/>
              <a:t>对雷达</a:t>
            </a:r>
            <a:r>
              <a:rPr lang="en-US" altLang="zh-CN" dirty="0"/>
              <a:t>1</a:t>
            </a:r>
            <a:r>
              <a:rPr lang="zh-CN" altLang="en-US" dirty="0"/>
              <a:t>的距离为</a:t>
            </a:r>
            <a:r>
              <a:rPr lang="en-US" altLang="zh-CN" dirty="0"/>
              <a:t>14m</a:t>
            </a:r>
          </a:p>
          <a:p>
            <a:r>
              <a:rPr lang="zh-CN" altLang="en-US" dirty="0"/>
              <a:t>速度</a:t>
            </a:r>
            <a:r>
              <a:rPr lang="en-US" altLang="zh-CN" dirty="0"/>
              <a:t>11.4144m/s</a:t>
            </a:r>
            <a:r>
              <a:rPr lang="zh-CN" altLang="en-US" dirty="0"/>
              <a:t>的物体</a:t>
            </a:r>
            <a:r>
              <a:rPr lang="en-US" altLang="zh-CN" dirty="0"/>
              <a:t>1</a:t>
            </a:r>
            <a:r>
              <a:rPr lang="zh-CN" altLang="en-US" dirty="0"/>
              <a:t>对雷达</a:t>
            </a:r>
            <a:r>
              <a:rPr lang="en-US" altLang="zh-CN" dirty="0"/>
              <a:t>2</a:t>
            </a:r>
            <a:r>
              <a:rPr lang="zh-CN" altLang="en-US" dirty="0"/>
              <a:t>的距离为</a:t>
            </a:r>
            <a:r>
              <a:rPr lang="en-US" altLang="zh-CN" dirty="0"/>
              <a:t>22m</a:t>
            </a:r>
          </a:p>
        </p:txBody>
      </p:sp>
      <p:pic>
        <p:nvPicPr>
          <p:cNvPr id="28" name="图片 27">
            <a:extLst>
              <a:ext uri="{FF2B5EF4-FFF2-40B4-BE49-F238E27FC236}">
                <a16:creationId xmlns:a16="http://schemas.microsoft.com/office/drawing/2014/main" id="{137957E5-CB0A-6446-A56D-EF0BDFA82081}"/>
              </a:ext>
            </a:extLst>
          </p:cNvPr>
          <p:cNvPicPr>
            <a:picLocks noChangeAspect="1"/>
          </p:cNvPicPr>
          <p:nvPr/>
        </p:nvPicPr>
        <p:blipFill>
          <a:blip r:embed="rId2"/>
          <a:stretch>
            <a:fillRect/>
          </a:stretch>
        </p:blipFill>
        <p:spPr>
          <a:xfrm>
            <a:off x="2635288" y="5057391"/>
            <a:ext cx="609524" cy="933333"/>
          </a:xfrm>
          <a:prstGeom prst="rect">
            <a:avLst/>
          </a:prstGeom>
        </p:spPr>
      </p:pic>
      <p:pic>
        <p:nvPicPr>
          <p:cNvPr id="29" name="图片 28">
            <a:extLst>
              <a:ext uri="{FF2B5EF4-FFF2-40B4-BE49-F238E27FC236}">
                <a16:creationId xmlns:a16="http://schemas.microsoft.com/office/drawing/2014/main" id="{2D56B2D4-B2BA-79E3-BDB1-1778E5A30D0A}"/>
              </a:ext>
            </a:extLst>
          </p:cNvPr>
          <p:cNvPicPr>
            <a:picLocks noChangeAspect="1"/>
          </p:cNvPicPr>
          <p:nvPr/>
        </p:nvPicPr>
        <p:blipFill>
          <a:blip r:embed="rId2"/>
          <a:stretch>
            <a:fillRect/>
          </a:stretch>
        </p:blipFill>
        <p:spPr>
          <a:xfrm>
            <a:off x="4470400" y="5057391"/>
            <a:ext cx="609524" cy="933333"/>
          </a:xfrm>
          <a:prstGeom prst="rect">
            <a:avLst/>
          </a:prstGeom>
        </p:spPr>
      </p:pic>
      <p:cxnSp>
        <p:nvCxnSpPr>
          <p:cNvPr id="30" name="直接连接符 29">
            <a:extLst>
              <a:ext uri="{FF2B5EF4-FFF2-40B4-BE49-F238E27FC236}">
                <a16:creationId xmlns:a16="http://schemas.microsoft.com/office/drawing/2014/main" id="{A7A0EF0D-9573-B521-583E-D11C7E2DF638}"/>
              </a:ext>
            </a:extLst>
          </p:cNvPr>
          <p:cNvCxnSpPr>
            <a:cxnSpLocks/>
          </p:cNvCxnSpPr>
          <p:nvPr/>
        </p:nvCxnSpPr>
        <p:spPr>
          <a:xfrm>
            <a:off x="463550" y="5873309"/>
            <a:ext cx="6356350" cy="0"/>
          </a:xfrm>
          <a:prstGeom prst="line">
            <a:avLst/>
          </a:prstGeom>
          <a:ln w="57150"/>
        </p:spPr>
        <p:style>
          <a:lnRef idx="1">
            <a:schemeClr val="dk1"/>
          </a:lnRef>
          <a:fillRef idx="0">
            <a:schemeClr val="dk1"/>
          </a:fillRef>
          <a:effectRef idx="0">
            <a:schemeClr val="dk1"/>
          </a:effectRef>
          <a:fontRef idx="minor">
            <a:schemeClr val="tx1"/>
          </a:fontRef>
        </p:style>
      </p:cxnSp>
      <p:sp>
        <p:nvSpPr>
          <p:cNvPr id="31" name="椭圆 30">
            <a:extLst>
              <a:ext uri="{FF2B5EF4-FFF2-40B4-BE49-F238E27FC236}">
                <a16:creationId xmlns:a16="http://schemas.microsoft.com/office/drawing/2014/main" id="{2B549D16-F94A-D808-3F80-0BF75DDE54EF}"/>
              </a:ext>
            </a:extLst>
          </p:cNvPr>
          <p:cNvSpPr/>
          <p:nvPr/>
        </p:nvSpPr>
        <p:spPr>
          <a:xfrm>
            <a:off x="971512" y="3241228"/>
            <a:ext cx="241300" cy="2412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32" name="直接连接符 31">
            <a:extLst>
              <a:ext uri="{FF2B5EF4-FFF2-40B4-BE49-F238E27FC236}">
                <a16:creationId xmlns:a16="http://schemas.microsoft.com/office/drawing/2014/main" id="{035C9B90-E95D-89BB-32FC-2937D9B07776}"/>
              </a:ext>
            </a:extLst>
          </p:cNvPr>
          <p:cNvCxnSpPr>
            <a:cxnSpLocks/>
          </p:cNvCxnSpPr>
          <p:nvPr/>
        </p:nvCxnSpPr>
        <p:spPr>
          <a:xfrm>
            <a:off x="1099152" y="3361870"/>
            <a:ext cx="1840898" cy="184639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2A2ED4E5-4635-B93F-3FEE-CECF8137CF5C}"/>
              </a:ext>
            </a:extLst>
          </p:cNvPr>
          <p:cNvCxnSpPr>
            <a:cxnSpLocks/>
          </p:cNvCxnSpPr>
          <p:nvPr/>
        </p:nvCxnSpPr>
        <p:spPr>
          <a:xfrm>
            <a:off x="1093778" y="3361870"/>
            <a:ext cx="3681384" cy="181293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05172F55-4F55-18B4-9EAC-72C45EC66293}"/>
              </a:ext>
            </a:extLst>
          </p:cNvPr>
          <p:cNvCxnSpPr>
            <a:cxnSpLocks/>
          </p:cNvCxnSpPr>
          <p:nvPr/>
        </p:nvCxnSpPr>
        <p:spPr>
          <a:xfrm>
            <a:off x="2940050" y="5174809"/>
            <a:ext cx="183511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DF96F247-481B-EFFF-6C1D-0649C0AC501D}"/>
              </a:ext>
            </a:extLst>
          </p:cNvPr>
          <p:cNvSpPr txBox="1"/>
          <p:nvPr/>
        </p:nvSpPr>
        <p:spPr>
          <a:xfrm>
            <a:off x="3475899" y="5096018"/>
            <a:ext cx="699193" cy="369332"/>
          </a:xfrm>
          <a:prstGeom prst="rect">
            <a:avLst/>
          </a:prstGeom>
          <a:noFill/>
        </p:spPr>
        <p:txBody>
          <a:bodyPr wrap="square" rtlCol="0">
            <a:spAutoFit/>
          </a:bodyPr>
          <a:lstStyle/>
          <a:p>
            <a:r>
              <a:rPr lang="en-US" altLang="zh-CN" dirty="0"/>
              <a:t>10m</a:t>
            </a:r>
            <a:endParaRPr lang="zh-CN" altLang="en-US" dirty="0"/>
          </a:p>
        </p:txBody>
      </p:sp>
      <p:sp>
        <p:nvSpPr>
          <p:cNvPr id="36" name="椭圆 35">
            <a:extLst>
              <a:ext uri="{FF2B5EF4-FFF2-40B4-BE49-F238E27FC236}">
                <a16:creationId xmlns:a16="http://schemas.microsoft.com/office/drawing/2014/main" id="{BCF154BC-E905-FE9E-5315-67F799D5768A}"/>
              </a:ext>
            </a:extLst>
          </p:cNvPr>
          <p:cNvSpPr/>
          <p:nvPr/>
        </p:nvSpPr>
        <p:spPr>
          <a:xfrm>
            <a:off x="2808240" y="3241228"/>
            <a:ext cx="241300" cy="2412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37" name="直接连接符 36">
            <a:extLst>
              <a:ext uri="{FF2B5EF4-FFF2-40B4-BE49-F238E27FC236}">
                <a16:creationId xmlns:a16="http://schemas.microsoft.com/office/drawing/2014/main" id="{1F0C837D-72B7-CE94-EDC7-9CB18E146844}"/>
              </a:ext>
            </a:extLst>
          </p:cNvPr>
          <p:cNvCxnSpPr>
            <a:cxnSpLocks/>
          </p:cNvCxnSpPr>
          <p:nvPr/>
        </p:nvCxnSpPr>
        <p:spPr>
          <a:xfrm>
            <a:off x="2927145" y="3361870"/>
            <a:ext cx="56112" cy="184639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24072F65-A55B-1CDB-6594-0C9398CDADE1}"/>
              </a:ext>
            </a:extLst>
          </p:cNvPr>
          <p:cNvCxnSpPr>
            <a:cxnSpLocks/>
          </p:cNvCxnSpPr>
          <p:nvPr/>
        </p:nvCxnSpPr>
        <p:spPr>
          <a:xfrm>
            <a:off x="2928890" y="3361870"/>
            <a:ext cx="1836728" cy="182922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0DF4CEE3-3C58-388D-F0CA-86931C24113A}"/>
              </a:ext>
            </a:extLst>
          </p:cNvPr>
          <p:cNvSpPr txBox="1"/>
          <p:nvPr/>
        </p:nvSpPr>
        <p:spPr>
          <a:xfrm>
            <a:off x="869950" y="2855609"/>
            <a:ext cx="850900" cy="369332"/>
          </a:xfrm>
          <a:prstGeom prst="rect">
            <a:avLst/>
          </a:prstGeom>
          <a:noFill/>
        </p:spPr>
        <p:txBody>
          <a:bodyPr wrap="square" rtlCol="0">
            <a:spAutoFit/>
          </a:bodyPr>
          <a:lstStyle/>
          <a:p>
            <a:r>
              <a:rPr lang="en-US" altLang="zh-CN" dirty="0"/>
              <a:t>10m/s</a:t>
            </a:r>
            <a:endParaRPr lang="zh-CN" altLang="en-US" dirty="0"/>
          </a:p>
        </p:txBody>
      </p:sp>
      <p:sp>
        <p:nvSpPr>
          <p:cNvPr id="40" name="文本框 39">
            <a:extLst>
              <a:ext uri="{FF2B5EF4-FFF2-40B4-BE49-F238E27FC236}">
                <a16:creationId xmlns:a16="http://schemas.microsoft.com/office/drawing/2014/main" id="{9BBF0319-6832-0044-2C39-DE332F4FA969}"/>
              </a:ext>
            </a:extLst>
          </p:cNvPr>
          <p:cNvSpPr txBox="1"/>
          <p:nvPr/>
        </p:nvSpPr>
        <p:spPr>
          <a:xfrm>
            <a:off x="2749512" y="2847011"/>
            <a:ext cx="850900" cy="369332"/>
          </a:xfrm>
          <a:prstGeom prst="rect">
            <a:avLst/>
          </a:prstGeom>
          <a:noFill/>
        </p:spPr>
        <p:txBody>
          <a:bodyPr wrap="square" rtlCol="0">
            <a:spAutoFit/>
          </a:bodyPr>
          <a:lstStyle/>
          <a:p>
            <a:r>
              <a:rPr lang="en-US" altLang="zh-CN" dirty="0"/>
              <a:t>14m/s</a:t>
            </a:r>
            <a:endParaRPr lang="zh-CN" altLang="en-US" dirty="0"/>
          </a:p>
        </p:txBody>
      </p:sp>
      <p:sp>
        <p:nvSpPr>
          <p:cNvPr id="41" name="文本框 40">
            <a:extLst>
              <a:ext uri="{FF2B5EF4-FFF2-40B4-BE49-F238E27FC236}">
                <a16:creationId xmlns:a16="http://schemas.microsoft.com/office/drawing/2014/main" id="{9CF916BC-B405-E309-236B-21E13121A868}"/>
              </a:ext>
            </a:extLst>
          </p:cNvPr>
          <p:cNvSpPr txBox="1"/>
          <p:nvPr/>
        </p:nvSpPr>
        <p:spPr>
          <a:xfrm>
            <a:off x="1875669" y="3482513"/>
            <a:ext cx="699193" cy="369332"/>
          </a:xfrm>
          <a:prstGeom prst="rect">
            <a:avLst/>
          </a:prstGeom>
          <a:noFill/>
        </p:spPr>
        <p:txBody>
          <a:bodyPr wrap="square" rtlCol="0">
            <a:spAutoFit/>
          </a:bodyPr>
          <a:lstStyle/>
          <a:p>
            <a:r>
              <a:rPr lang="en-US" altLang="zh-CN" dirty="0"/>
              <a:t>22m</a:t>
            </a:r>
            <a:endParaRPr lang="zh-CN" altLang="en-US" dirty="0"/>
          </a:p>
        </p:txBody>
      </p:sp>
      <p:sp>
        <p:nvSpPr>
          <p:cNvPr id="42" name="文本框 41">
            <a:extLst>
              <a:ext uri="{FF2B5EF4-FFF2-40B4-BE49-F238E27FC236}">
                <a16:creationId xmlns:a16="http://schemas.microsoft.com/office/drawing/2014/main" id="{7E5DD8A5-963F-8E06-A5D5-4B969DF8B672}"/>
              </a:ext>
            </a:extLst>
          </p:cNvPr>
          <p:cNvSpPr txBox="1"/>
          <p:nvPr/>
        </p:nvSpPr>
        <p:spPr>
          <a:xfrm>
            <a:off x="1284516" y="3945678"/>
            <a:ext cx="699193" cy="369332"/>
          </a:xfrm>
          <a:prstGeom prst="rect">
            <a:avLst/>
          </a:prstGeom>
          <a:noFill/>
        </p:spPr>
        <p:txBody>
          <a:bodyPr wrap="square" rtlCol="0">
            <a:spAutoFit/>
          </a:bodyPr>
          <a:lstStyle/>
          <a:p>
            <a:r>
              <a:rPr lang="en-US" altLang="zh-CN" dirty="0"/>
              <a:t>14m</a:t>
            </a:r>
            <a:endParaRPr lang="zh-CN" altLang="en-US" dirty="0"/>
          </a:p>
        </p:txBody>
      </p:sp>
      <p:sp>
        <p:nvSpPr>
          <p:cNvPr id="43" name="文本框 42">
            <a:extLst>
              <a:ext uri="{FF2B5EF4-FFF2-40B4-BE49-F238E27FC236}">
                <a16:creationId xmlns:a16="http://schemas.microsoft.com/office/drawing/2014/main" id="{77356055-103B-8575-7FC7-0DA0B200F8C7}"/>
              </a:ext>
            </a:extLst>
          </p:cNvPr>
          <p:cNvSpPr txBox="1"/>
          <p:nvPr/>
        </p:nvSpPr>
        <p:spPr>
          <a:xfrm>
            <a:off x="3544848" y="3761012"/>
            <a:ext cx="699193" cy="369332"/>
          </a:xfrm>
          <a:prstGeom prst="rect">
            <a:avLst/>
          </a:prstGeom>
          <a:noFill/>
        </p:spPr>
        <p:txBody>
          <a:bodyPr wrap="square" rtlCol="0">
            <a:spAutoFit/>
          </a:bodyPr>
          <a:lstStyle/>
          <a:p>
            <a:r>
              <a:rPr lang="en-US" altLang="zh-CN" dirty="0"/>
              <a:t>14m</a:t>
            </a:r>
            <a:endParaRPr lang="zh-CN" altLang="en-US" dirty="0"/>
          </a:p>
        </p:txBody>
      </p:sp>
      <p:sp>
        <p:nvSpPr>
          <p:cNvPr id="44" name="文本框 43">
            <a:extLst>
              <a:ext uri="{FF2B5EF4-FFF2-40B4-BE49-F238E27FC236}">
                <a16:creationId xmlns:a16="http://schemas.microsoft.com/office/drawing/2014/main" id="{7B2C3C33-D60A-32FC-9AC5-FCC915007D91}"/>
              </a:ext>
            </a:extLst>
          </p:cNvPr>
          <p:cNvSpPr txBox="1"/>
          <p:nvPr/>
        </p:nvSpPr>
        <p:spPr>
          <a:xfrm>
            <a:off x="2888122" y="3801121"/>
            <a:ext cx="699193" cy="369332"/>
          </a:xfrm>
          <a:prstGeom prst="rect">
            <a:avLst/>
          </a:prstGeom>
          <a:noFill/>
        </p:spPr>
        <p:txBody>
          <a:bodyPr wrap="square" rtlCol="0">
            <a:spAutoFit/>
          </a:bodyPr>
          <a:lstStyle/>
          <a:p>
            <a:r>
              <a:rPr lang="en-US" altLang="zh-CN" dirty="0"/>
              <a:t>10m</a:t>
            </a:r>
            <a:endParaRPr lang="zh-CN" altLang="en-US" dirty="0"/>
          </a:p>
        </p:txBody>
      </p:sp>
      <p:sp>
        <p:nvSpPr>
          <p:cNvPr id="46" name="文本框 45">
            <a:extLst>
              <a:ext uri="{FF2B5EF4-FFF2-40B4-BE49-F238E27FC236}">
                <a16:creationId xmlns:a16="http://schemas.microsoft.com/office/drawing/2014/main" id="{B7925956-26FC-1FD2-8FC4-75DA3F33DC2C}"/>
              </a:ext>
            </a:extLst>
          </p:cNvPr>
          <p:cNvSpPr txBox="1"/>
          <p:nvPr/>
        </p:nvSpPr>
        <p:spPr>
          <a:xfrm>
            <a:off x="4415278" y="5927100"/>
            <a:ext cx="920979" cy="369332"/>
          </a:xfrm>
          <a:prstGeom prst="rect">
            <a:avLst/>
          </a:prstGeom>
          <a:noFill/>
        </p:spPr>
        <p:txBody>
          <a:bodyPr wrap="square" rtlCol="0">
            <a:spAutoFit/>
          </a:bodyPr>
          <a:lstStyle/>
          <a:p>
            <a:r>
              <a:rPr lang="zh-CN" altLang="en-US" dirty="0"/>
              <a:t>雷达</a:t>
            </a:r>
            <a:r>
              <a:rPr lang="en-US" altLang="zh-CN" dirty="0"/>
              <a:t>2</a:t>
            </a:r>
            <a:endParaRPr lang="zh-CN" altLang="en-US" dirty="0"/>
          </a:p>
        </p:txBody>
      </p:sp>
      <p:sp>
        <p:nvSpPr>
          <p:cNvPr id="47" name="文本框 46">
            <a:extLst>
              <a:ext uri="{FF2B5EF4-FFF2-40B4-BE49-F238E27FC236}">
                <a16:creationId xmlns:a16="http://schemas.microsoft.com/office/drawing/2014/main" id="{E90E08C1-E19D-EC57-A352-9FEC8CE31F60}"/>
              </a:ext>
            </a:extLst>
          </p:cNvPr>
          <p:cNvSpPr txBox="1"/>
          <p:nvPr/>
        </p:nvSpPr>
        <p:spPr>
          <a:xfrm>
            <a:off x="2574862" y="5935224"/>
            <a:ext cx="920979" cy="369332"/>
          </a:xfrm>
          <a:prstGeom prst="rect">
            <a:avLst/>
          </a:prstGeom>
          <a:noFill/>
        </p:spPr>
        <p:txBody>
          <a:bodyPr wrap="square" rtlCol="0">
            <a:spAutoFit/>
          </a:bodyPr>
          <a:lstStyle/>
          <a:p>
            <a:r>
              <a:rPr lang="zh-CN" altLang="en-US" dirty="0"/>
              <a:t>雷达</a:t>
            </a:r>
            <a:r>
              <a:rPr lang="en-US" altLang="zh-CN" dirty="0"/>
              <a:t>1</a:t>
            </a:r>
            <a:endParaRPr lang="zh-CN" altLang="en-US" dirty="0"/>
          </a:p>
        </p:txBody>
      </p:sp>
      <p:sp>
        <p:nvSpPr>
          <p:cNvPr id="48" name="文本框 47">
            <a:extLst>
              <a:ext uri="{FF2B5EF4-FFF2-40B4-BE49-F238E27FC236}">
                <a16:creationId xmlns:a16="http://schemas.microsoft.com/office/drawing/2014/main" id="{FB2A6170-1FD1-5744-7199-017D056DCB64}"/>
              </a:ext>
            </a:extLst>
          </p:cNvPr>
          <p:cNvSpPr txBox="1"/>
          <p:nvPr/>
        </p:nvSpPr>
        <p:spPr>
          <a:xfrm>
            <a:off x="308655" y="3453235"/>
            <a:ext cx="920979" cy="369332"/>
          </a:xfrm>
          <a:prstGeom prst="rect">
            <a:avLst/>
          </a:prstGeom>
          <a:noFill/>
        </p:spPr>
        <p:txBody>
          <a:bodyPr wrap="square" rtlCol="0">
            <a:spAutoFit/>
          </a:bodyPr>
          <a:lstStyle/>
          <a:p>
            <a:r>
              <a:rPr lang="zh-CN" altLang="en-US" dirty="0"/>
              <a:t>物体</a:t>
            </a:r>
            <a:r>
              <a:rPr lang="en-US" altLang="zh-CN" dirty="0"/>
              <a:t>1</a:t>
            </a:r>
            <a:endParaRPr lang="zh-CN" altLang="en-US" dirty="0"/>
          </a:p>
        </p:txBody>
      </p:sp>
      <p:sp>
        <p:nvSpPr>
          <p:cNvPr id="49" name="文本框 48">
            <a:extLst>
              <a:ext uri="{FF2B5EF4-FFF2-40B4-BE49-F238E27FC236}">
                <a16:creationId xmlns:a16="http://schemas.microsoft.com/office/drawing/2014/main" id="{01E475D1-3B7A-F359-9371-421A8699FCE3}"/>
              </a:ext>
            </a:extLst>
          </p:cNvPr>
          <p:cNvSpPr txBox="1"/>
          <p:nvPr/>
        </p:nvSpPr>
        <p:spPr>
          <a:xfrm>
            <a:off x="3181235" y="3244334"/>
            <a:ext cx="920979" cy="369332"/>
          </a:xfrm>
          <a:prstGeom prst="rect">
            <a:avLst/>
          </a:prstGeom>
          <a:noFill/>
        </p:spPr>
        <p:txBody>
          <a:bodyPr wrap="square" rtlCol="0">
            <a:spAutoFit/>
          </a:bodyPr>
          <a:lstStyle/>
          <a:p>
            <a:r>
              <a:rPr lang="zh-CN" altLang="en-US" dirty="0"/>
              <a:t>物体</a:t>
            </a:r>
            <a:r>
              <a:rPr lang="en-US" altLang="zh-CN" dirty="0"/>
              <a:t>2</a:t>
            </a:r>
            <a:endParaRPr lang="zh-CN" altLang="en-US" dirty="0"/>
          </a:p>
        </p:txBody>
      </p:sp>
      <mc:AlternateContent xmlns:mc="http://schemas.openxmlformats.org/markup-compatibility/2006">
        <mc:Choice xmlns:a14="http://schemas.microsoft.com/office/drawing/2010/main" Requires="a14">
          <p:sp>
            <p:nvSpPr>
              <p:cNvPr id="50" name="文本框 49">
                <a:extLst>
                  <a:ext uri="{FF2B5EF4-FFF2-40B4-BE49-F238E27FC236}">
                    <a16:creationId xmlns:a16="http://schemas.microsoft.com/office/drawing/2014/main" id="{13A2F78D-4C0B-178A-55BF-C71DA7602CB4}"/>
                  </a:ext>
                </a:extLst>
              </p:cNvPr>
              <p:cNvSpPr txBox="1"/>
              <p:nvPr/>
            </p:nvSpPr>
            <p:spPr>
              <a:xfrm>
                <a:off x="7493000" y="2798574"/>
                <a:ext cx="2381250" cy="563296"/>
              </a:xfrm>
              <a:prstGeom prst="rect">
                <a:avLst/>
              </a:prstGeom>
              <a:noFill/>
            </p:spPr>
            <p:txBody>
              <a:bodyPr wrap="square" rtlCol="0">
                <a:spAutoFit/>
              </a:bodyPr>
              <a:lstStyle/>
              <a:p>
                <a14:m>
                  <m:oMath xmlns:m="http://schemas.openxmlformats.org/officeDocument/2006/math">
                    <m:r>
                      <a:rPr lang="zh-CN" altLang="en-US" b="0" i="1" smtClean="0">
                        <a:latin typeface="Cambria Math" panose="02040503050406030204" pitchFamily="18" charset="0"/>
                      </a:rPr>
                      <m:t>𝜃</m:t>
                    </m:r>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arccos</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𝑑</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2</m:t>
                            </m:r>
                          </m:sub>
                          <m:sup>
                            <m:r>
                              <a:rPr lang="en-US" altLang="zh-CN" b="0" i="1" smtClean="0">
                                <a:latin typeface="Cambria Math" panose="02040503050406030204" pitchFamily="18" charset="0"/>
                              </a:rPr>
                              <m:t>2</m:t>
                            </m:r>
                          </m:sup>
                        </m:sSubSup>
                      </m:num>
                      <m:den>
                        <m:r>
                          <a:rPr lang="en-US" altLang="zh-CN" b="0" i="1" smtClean="0">
                            <a:latin typeface="Cambria Math" panose="02040503050406030204" pitchFamily="18" charset="0"/>
                          </a:rPr>
                          <m:t>2</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𝑑</m:t>
                        </m:r>
                      </m:den>
                    </m:f>
                  </m:oMath>
                </a14:m>
                <a:r>
                  <a:rPr lang="en-US" altLang="zh-CN" dirty="0"/>
                  <a:t>)</a:t>
                </a:r>
                <a:endParaRPr lang="zh-CN" altLang="en-US" dirty="0"/>
              </a:p>
            </p:txBody>
          </p:sp>
        </mc:Choice>
        <mc:Fallback>
          <p:sp>
            <p:nvSpPr>
              <p:cNvPr id="50" name="文本框 49">
                <a:extLst>
                  <a:ext uri="{FF2B5EF4-FFF2-40B4-BE49-F238E27FC236}">
                    <a16:creationId xmlns:a16="http://schemas.microsoft.com/office/drawing/2014/main" id="{13A2F78D-4C0B-178A-55BF-C71DA7602CB4}"/>
                  </a:ext>
                </a:extLst>
              </p:cNvPr>
              <p:cNvSpPr txBox="1">
                <a:spLocks noRot="1" noChangeAspect="1" noMove="1" noResize="1" noEditPoints="1" noAdjustHandles="1" noChangeArrowheads="1" noChangeShapeType="1" noTextEdit="1"/>
              </p:cNvSpPr>
              <p:nvPr/>
            </p:nvSpPr>
            <p:spPr>
              <a:xfrm>
                <a:off x="7493000" y="2798574"/>
                <a:ext cx="2381250" cy="563296"/>
              </a:xfrm>
              <a:prstGeom prst="rect">
                <a:avLst/>
              </a:prstGeom>
              <a:blipFill>
                <a:blip r:embed="rId3"/>
                <a:stretch>
                  <a:fillRect b="-1087"/>
                </a:stretch>
              </a:blipFill>
            </p:spPr>
            <p:txBody>
              <a:bodyPr/>
              <a:lstStyle/>
              <a:p>
                <a:r>
                  <a:rPr lang="zh-CN" altLang="en-US">
                    <a:noFill/>
                  </a:rPr>
                  <a:t> </a:t>
                </a:r>
              </a:p>
            </p:txBody>
          </p:sp>
        </mc:Fallback>
      </mc:AlternateContent>
      <p:cxnSp>
        <p:nvCxnSpPr>
          <p:cNvPr id="51" name="直接箭头连接符 50">
            <a:extLst>
              <a:ext uri="{FF2B5EF4-FFF2-40B4-BE49-F238E27FC236}">
                <a16:creationId xmlns:a16="http://schemas.microsoft.com/office/drawing/2014/main" id="{815B8ED0-77B7-DC27-8C0F-364670C35C36}"/>
              </a:ext>
            </a:extLst>
          </p:cNvPr>
          <p:cNvCxnSpPr>
            <a:cxnSpLocks/>
          </p:cNvCxnSpPr>
          <p:nvPr/>
        </p:nvCxnSpPr>
        <p:spPr>
          <a:xfrm>
            <a:off x="8497116" y="2006390"/>
            <a:ext cx="0" cy="84062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51B49093-851E-FF30-D437-2ABF23DC8D04}"/>
              </a:ext>
            </a:extLst>
          </p:cNvPr>
          <p:cNvCxnSpPr>
            <a:cxnSpLocks/>
          </p:cNvCxnSpPr>
          <p:nvPr/>
        </p:nvCxnSpPr>
        <p:spPr>
          <a:xfrm>
            <a:off x="8497116" y="3305611"/>
            <a:ext cx="0" cy="84062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5" name="图片 54">
            <a:extLst>
              <a:ext uri="{FF2B5EF4-FFF2-40B4-BE49-F238E27FC236}">
                <a16:creationId xmlns:a16="http://schemas.microsoft.com/office/drawing/2014/main" id="{0D55325B-0084-4F56-6AAC-60F210020390}"/>
              </a:ext>
            </a:extLst>
          </p:cNvPr>
          <p:cNvPicPr>
            <a:picLocks noChangeAspect="1"/>
          </p:cNvPicPr>
          <p:nvPr/>
        </p:nvPicPr>
        <p:blipFill>
          <a:blip r:embed="rId4"/>
          <a:stretch>
            <a:fillRect/>
          </a:stretch>
        </p:blipFill>
        <p:spPr>
          <a:xfrm>
            <a:off x="7493000" y="4276483"/>
            <a:ext cx="2143745" cy="881223"/>
          </a:xfrm>
          <a:prstGeom prst="rect">
            <a:avLst/>
          </a:prstGeom>
        </p:spPr>
      </p:pic>
      <p:sp>
        <p:nvSpPr>
          <p:cNvPr id="56" name="文本框 55">
            <a:extLst>
              <a:ext uri="{FF2B5EF4-FFF2-40B4-BE49-F238E27FC236}">
                <a16:creationId xmlns:a16="http://schemas.microsoft.com/office/drawing/2014/main" id="{5D3E20A5-0261-31CC-BECD-5E18B8D70C54}"/>
              </a:ext>
            </a:extLst>
          </p:cNvPr>
          <p:cNvSpPr txBox="1"/>
          <p:nvPr/>
        </p:nvSpPr>
        <p:spPr>
          <a:xfrm>
            <a:off x="5908675" y="4400550"/>
            <a:ext cx="1822450" cy="369332"/>
          </a:xfrm>
          <a:prstGeom prst="rect">
            <a:avLst/>
          </a:prstGeom>
          <a:noFill/>
        </p:spPr>
        <p:txBody>
          <a:bodyPr wrap="square" rtlCol="0">
            <a:spAutoFit/>
          </a:bodyPr>
          <a:lstStyle/>
          <a:p>
            <a:r>
              <a:rPr lang="zh-CN" altLang="en-US" dirty="0"/>
              <a:t>以雷达</a:t>
            </a:r>
            <a:r>
              <a:rPr lang="en-US" altLang="zh-CN" dirty="0"/>
              <a:t>1</a:t>
            </a:r>
            <a:r>
              <a:rPr lang="zh-CN" altLang="en-US" dirty="0"/>
              <a:t>为基点</a:t>
            </a:r>
          </a:p>
        </p:txBody>
      </p:sp>
      <p:graphicFrame>
        <p:nvGraphicFramePr>
          <p:cNvPr id="58" name="表格 58">
            <a:extLst>
              <a:ext uri="{FF2B5EF4-FFF2-40B4-BE49-F238E27FC236}">
                <a16:creationId xmlns:a16="http://schemas.microsoft.com/office/drawing/2014/main" id="{79C80A5C-CEBF-116D-C907-10D096EA05ED}"/>
              </a:ext>
            </a:extLst>
          </p:cNvPr>
          <p:cNvGraphicFramePr>
            <a:graphicFrameLocks noGrp="1"/>
          </p:cNvGraphicFramePr>
          <p:nvPr>
            <p:extLst>
              <p:ext uri="{D42A27DB-BD31-4B8C-83A1-F6EECF244321}">
                <p14:modId xmlns:p14="http://schemas.microsoft.com/office/powerpoint/2010/main" val="3721394710"/>
              </p:ext>
            </p:extLst>
          </p:nvPr>
        </p:nvGraphicFramePr>
        <p:xfrm>
          <a:off x="6855744" y="5252302"/>
          <a:ext cx="5266407" cy="1112520"/>
        </p:xfrm>
        <a:graphic>
          <a:graphicData uri="http://schemas.openxmlformats.org/drawingml/2006/table">
            <a:tbl>
              <a:tblPr firstRow="1" bandRow="1">
                <a:tableStyleId>{5C22544A-7EE6-4342-B048-85BDC9FD1C3A}</a:tableStyleId>
              </a:tblPr>
              <a:tblGrid>
                <a:gridCol w="1755469">
                  <a:extLst>
                    <a:ext uri="{9D8B030D-6E8A-4147-A177-3AD203B41FA5}">
                      <a16:colId xmlns:a16="http://schemas.microsoft.com/office/drawing/2014/main" val="2802151534"/>
                    </a:ext>
                  </a:extLst>
                </a:gridCol>
                <a:gridCol w="1755469">
                  <a:extLst>
                    <a:ext uri="{9D8B030D-6E8A-4147-A177-3AD203B41FA5}">
                      <a16:colId xmlns:a16="http://schemas.microsoft.com/office/drawing/2014/main" val="916520741"/>
                    </a:ext>
                  </a:extLst>
                </a:gridCol>
                <a:gridCol w="1755469">
                  <a:extLst>
                    <a:ext uri="{9D8B030D-6E8A-4147-A177-3AD203B41FA5}">
                      <a16:colId xmlns:a16="http://schemas.microsoft.com/office/drawing/2014/main" val="661587872"/>
                    </a:ext>
                  </a:extLst>
                </a:gridCol>
              </a:tblGrid>
              <a:tr h="370840">
                <a:tc>
                  <a:txBody>
                    <a:bodyPr/>
                    <a:lstStyle/>
                    <a:p>
                      <a:pPr algn="ctr"/>
                      <a:r>
                        <a:rPr lang="zh-CN" altLang="en-US" dirty="0"/>
                        <a:t>相对与雷达</a:t>
                      </a:r>
                      <a:r>
                        <a:rPr lang="en-US" altLang="zh-CN" dirty="0"/>
                        <a:t>1</a:t>
                      </a:r>
                      <a:endParaRPr lang="zh-CN" altLang="en-US" dirty="0"/>
                    </a:p>
                  </a:txBody>
                  <a:tcPr/>
                </a:tc>
                <a:tc>
                  <a:txBody>
                    <a:bodyPr/>
                    <a:lstStyle/>
                    <a:p>
                      <a:pPr algn="ctr"/>
                      <a:r>
                        <a:rPr lang="zh-CN" altLang="en-US" dirty="0"/>
                        <a:t>物体</a:t>
                      </a:r>
                      <a:r>
                        <a:rPr lang="en-US" altLang="zh-CN" dirty="0"/>
                        <a:t>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物体</a:t>
                      </a:r>
                      <a:r>
                        <a:rPr lang="en-US" altLang="zh-CN" dirty="0"/>
                        <a:t>2</a:t>
                      </a:r>
                      <a:endParaRPr lang="zh-CN" altLang="en-US" dirty="0"/>
                    </a:p>
                  </a:txBody>
                  <a:tcPr/>
                </a:tc>
                <a:extLst>
                  <a:ext uri="{0D108BD9-81ED-4DB2-BD59-A6C34878D82A}">
                    <a16:rowId xmlns:a16="http://schemas.microsoft.com/office/drawing/2014/main" val="2696977323"/>
                  </a:ext>
                </a:extLst>
              </a:tr>
              <a:tr h="370840">
                <a:tc>
                  <a:txBody>
                    <a:bodyPr/>
                    <a:lstStyle/>
                    <a:p>
                      <a:pPr algn="ctr"/>
                      <a:r>
                        <a:rPr lang="zh-CN" altLang="en-US" dirty="0"/>
                        <a:t>距离</a:t>
                      </a:r>
                    </a:p>
                  </a:txBody>
                  <a:tcPr/>
                </a:tc>
                <a:tc>
                  <a:txBody>
                    <a:bodyPr/>
                    <a:lstStyle/>
                    <a:p>
                      <a:pPr algn="ctr"/>
                      <a:r>
                        <a:rPr lang="en-US" altLang="zh-CN" dirty="0"/>
                        <a:t>14m</a:t>
                      </a:r>
                      <a:endParaRPr lang="zh-CN" altLang="en-US" dirty="0"/>
                    </a:p>
                  </a:txBody>
                  <a:tcPr/>
                </a:tc>
                <a:tc>
                  <a:txBody>
                    <a:bodyPr/>
                    <a:lstStyle/>
                    <a:p>
                      <a:pPr algn="ctr"/>
                      <a:r>
                        <a:rPr lang="en-US" altLang="zh-CN" dirty="0"/>
                        <a:t>10m</a:t>
                      </a:r>
                      <a:endParaRPr lang="zh-CN" altLang="en-US" dirty="0"/>
                    </a:p>
                  </a:txBody>
                  <a:tcPr/>
                </a:tc>
                <a:extLst>
                  <a:ext uri="{0D108BD9-81ED-4DB2-BD59-A6C34878D82A}">
                    <a16:rowId xmlns:a16="http://schemas.microsoft.com/office/drawing/2014/main" val="1714315897"/>
                  </a:ext>
                </a:extLst>
              </a:tr>
              <a:tr h="370840">
                <a:tc>
                  <a:txBody>
                    <a:bodyPr/>
                    <a:lstStyle/>
                    <a:p>
                      <a:pPr algn="ctr"/>
                      <a:r>
                        <a:rPr lang="zh-CN" altLang="en-US" dirty="0"/>
                        <a:t>角度</a:t>
                      </a:r>
                    </a:p>
                  </a:txBody>
                  <a:tcPr/>
                </a:tc>
                <a:tc>
                  <a:txBody>
                    <a:bodyPr/>
                    <a:lstStyle/>
                    <a:p>
                      <a:pPr algn="ctr"/>
                      <a:r>
                        <a:rPr lang="en-US" altLang="zh-CN" dirty="0"/>
                        <a:t>2.3069=132.18°</a:t>
                      </a:r>
                      <a:endParaRPr lang="zh-CN" altLang="en-US" dirty="0"/>
                    </a:p>
                  </a:txBody>
                  <a:tcPr/>
                </a:tc>
                <a:tc>
                  <a:txBody>
                    <a:bodyPr/>
                    <a:lstStyle/>
                    <a:p>
                      <a:pPr algn="ctr"/>
                      <a:r>
                        <a:rPr lang="en-US" altLang="zh-CN" dirty="0"/>
                        <a:t>1.5508=88.85°</a:t>
                      </a:r>
                      <a:endParaRPr lang="zh-CN" altLang="en-US" dirty="0"/>
                    </a:p>
                  </a:txBody>
                  <a:tcPr/>
                </a:tc>
                <a:extLst>
                  <a:ext uri="{0D108BD9-81ED-4DB2-BD59-A6C34878D82A}">
                    <a16:rowId xmlns:a16="http://schemas.microsoft.com/office/drawing/2014/main" val="2269140771"/>
                  </a:ext>
                </a:extLst>
              </a:tr>
            </a:tbl>
          </a:graphicData>
        </a:graphic>
      </p:graphicFrame>
    </p:spTree>
    <p:extLst>
      <p:ext uri="{BB962C8B-B14F-4D97-AF65-F5344CB8AC3E}">
        <p14:creationId xmlns:p14="http://schemas.microsoft.com/office/powerpoint/2010/main" val="486085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647DC6-39D2-B5C8-BD7B-D71BDC1D89F5}"/>
              </a:ext>
            </a:extLst>
          </p:cNvPr>
          <p:cNvSpPr>
            <a:spLocks noGrp="1"/>
          </p:cNvSpPr>
          <p:nvPr>
            <p:ph type="title"/>
          </p:nvPr>
        </p:nvSpPr>
        <p:spPr>
          <a:xfrm>
            <a:off x="2451100" y="1768475"/>
            <a:ext cx="7054850" cy="1325563"/>
          </a:xfrm>
        </p:spPr>
        <p:txBody>
          <a:bodyPr/>
          <a:lstStyle/>
          <a:p>
            <a:pPr algn="ctr"/>
            <a:r>
              <a:rPr lang="zh-CN" altLang="en-US" dirty="0"/>
              <a:t>项目总结</a:t>
            </a:r>
            <a:endParaRPr lang="en-US" altLang="zh-CN" dirty="0"/>
          </a:p>
        </p:txBody>
      </p:sp>
    </p:spTree>
    <p:extLst>
      <p:ext uri="{BB962C8B-B14F-4D97-AF65-F5344CB8AC3E}">
        <p14:creationId xmlns:p14="http://schemas.microsoft.com/office/powerpoint/2010/main" val="40569557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047B97-2700-FFBB-9529-47BEB667122F}"/>
              </a:ext>
            </a:extLst>
          </p:cNvPr>
          <p:cNvSpPr>
            <a:spLocks noGrp="1"/>
          </p:cNvSpPr>
          <p:nvPr>
            <p:ph type="title"/>
          </p:nvPr>
        </p:nvSpPr>
        <p:spPr/>
        <p:txBody>
          <a:bodyPr/>
          <a:lstStyle/>
          <a:p>
            <a:r>
              <a:rPr lang="zh-CN" altLang="en-US" dirty="0"/>
              <a:t>问题</a:t>
            </a:r>
          </a:p>
        </p:txBody>
      </p:sp>
      <p:sp>
        <p:nvSpPr>
          <p:cNvPr id="3" name="文本框 2">
            <a:extLst>
              <a:ext uri="{FF2B5EF4-FFF2-40B4-BE49-F238E27FC236}">
                <a16:creationId xmlns:a16="http://schemas.microsoft.com/office/drawing/2014/main" id="{8BAAF09F-29DC-ACC1-415B-CF8D80E2D437}"/>
              </a:ext>
            </a:extLst>
          </p:cNvPr>
          <p:cNvSpPr txBox="1"/>
          <p:nvPr/>
        </p:nvSpPr>
        <p:spPr>
          <a:xfrm>
            <a:off x="838200" y="1619250"/>
            <a:ext cx="4813300" cy="2862322"/>
          </a:xfrm>
          <a:prstGeom prst="rect">
            <a:avLst/>
          </a:prstGeom>
          <a:noFill/>
        </p:spPr>
        <p:txBody>
          <a:bodyPr wrap="square" rtlCol="0">
            <a:spAutoFit/>
          </a:bodyPr>
          <a:lstStyle/>
          <a:p>
            <a:r>
              <a:rPr lang="en-US" altLang="zh-CN" dirty="0"/>
              <a:t>1.</a:t>
            </a:r>
            <a:r>
              <a:rPr lang="zh-CN" altLang="en-US" dirty="0"/>
              <a:t>这个问题困扰了我们好久，因为我们组比较注重理论分析的过程，希望从发射信号到撞击再到返回波等等全面的理解</a:t>
            </a:r>
            <a:r>
              <a:rPr lang="en-US" altLang="zh-CN" dirty="0"/>
              <a:t>FMCW</a:t>
            </a:r>
            <a:r>
              <a:rPr lang="zh-CN" altLang="en-US" dirty="0"/>
              <a:t>雷达，但是最开始的发射信号我们都无法在</a:t>
            </a:r>
            <a:r>
              <a:rPr lang="en-US" altLang="zh-CN" dirty="0"/>
              <a:t>MATLAB</a:t>
            </a:r>
            <a:r>
              <a:rPr lang="zh-CN" altLang="en-US" dirty="0"/>
              <a:t>中实现，导致我们非常受挫</a:t>
            </a:r>
            <a:endParaRPr lang="en-US" altLang="zh-CN" dirty="0"/>
          </a:p>
          <a:p>
            <a:r>
              <a:rPr lang="zh-CN" altLang="en-US" dirty="0"/>
              <a:t>最后发现是</a:t>
            </a:r>
            <a:r>
              <a:rPr lang="en-US" altLang="zh-CN" dirty="0"/>
              <a:t>MATLAB</a:t>
            </a:r>
            <a:r>
              <a:rPr lang="zh-CN" altLang="en-US" dirty="0"/>
              <a:t>的精度不足或者说</a:t>
            </a:r>
            <a:r>
              <a:rPr lang="en-US" altLang="zh-CN" dirty="0"/>
              <a:t>Nr</a:t>
            </a:r>
            <a:r>
              <a:rPr lang="zh-CN" altLang="en-US" dirty="0"/>
              <a:t>的精度不足（</a:t>
            </a:r>
            <a:r>
              <a:rPr lang="en-US" altLang="zh-CN" dirty="0"/>
              <a:t>Fs</a:t>
            </a:r>
            <a:r>
              <a:rPr lang="zh-CN" altLang="en-US" dirty="0"/>
              <a:t>太小）</a:t>
            </a:r>
            <a:endParaRPr lang="en-US" altLang="zh-CN" dirty="0"/>
          </a:p>
          <a:p>
            <a:r>
              <a:rPr lang="zh-CN" altLang="en-US" dirty="0"/>
              <a:t>学到：</a:t>
            </a:r>
            <a:br>
              <a:rPr lang="en-US" altLang="zh-CN" dirty="0"/>
            </a:br>
            <a:r>
              <a:rPr lang="zh-CN" altLang="en-US" dirty="0"/>
              <a:t>当一个问题推不动的时候，可以尝试去完成这个项目的其他方向，可能能得到灵感</a:t>
            </a:r>
          </a:p>
        </p:txBody>
      </p:sp>
      <p:pic>
        <p:nvPicPr>
          <p:cNvPr id="4" name="图片 3">
            <a:extLst>
              <a:ext uri="{FF2B5EF4-FFF2-40B4-BE49-F238E27FC236}">
                <a16:creationId xmlns:a16="http://schemas.microsoft.com/office/drawing/2014/main" id="{3B692468-DC8B-CCD9-CDA5-BD24BEC21CFF}"/>
              </a:ext>
            </a:extLst>
          </p:cNvPr>
          <p:cNvPicPr>
            <a:picLocks noChangeAspect="1"/>
          </p:cNvPicPr>
          <p:nvPr/>
        </p:nvPicPr>
        <p:blipFill>
          <a:blip r:embed="rId2"/>
          <a:stretch>
            <a:fillRect/>
          </a:stretch>
        </p:blipFill>
        <p:spPr>
          <a:xfrm>
            <a:off x="6612118" y="2896980"/>
            <a:ext cx="4059571" cy="1405728"/>
          </a:xfrm>
          <a:prstGeom prst="rect">
            <a:avLst/>
          </a:prstGeom>
        </p:spPr>
      </p:pic>
      <p:pic>
        <p:nvPicPr>
          <p:cNvPr id="5" name="图片 4">
            <a:extLst>
              <a:ext uri="{FF2B5EF4-FFF2-40B4-BE49-F238E27FC236}">
                <a16:creationId xmlns:a16="http://schemas.microsoft.com/office/drawing/2014/main" id="{ED678E97-E5D1-D50E-E861-57D288473543}"/>
              </a:ext>
            </a:extLst>
          </p:cNvPr>
          <p:cNvPicPr>
            <a:picLocks noChangeAspect="1"/>
          </p:cNvPicPr>
          <p:nvPr/>
        </p:nvPicPr>
        <p:blipFill>
          <a:blip r:embed="rId3"/>
          <a:stretch>
            <a:fillRect/>
          </a:stretch>
        </p:blipFill>
        <p:spPr>
          <a:xfrm>
            <a:off x="7107372" y="4576152"/>
            <a:ext cx="3069061" cy="1510553"/>
          </a:xfrm>
          <a:prstGeom prst="rect">
            <a:avLst/>
          </a:prstGeom>
        </p:spPr>
      </p:pic>
      <p:pic>
        <p:nvPicPr>
          <p:cNvPr id="6" name="图片 5">
            <a:extLst>
              <a:ext uri="{FF2B5EF4-FFF2-40B4-BE49-F238E27FC236}">
                <a16:creationId xmlns:a16="http://schemas.microsoft.com/office/drawing/2014/main" id="{090A102B-1C45-C41B-FB9E-16C7AC7E0077}"/>
              </a:ext>
            </a:extLst>
          </p:cNvPr>
          <p:cNvPicPr>
            <a:picLocks noChangeAspect="1"/>
          </p:cNvPicPr>
          <p:nvPr/>
        </p:nvPicPr>
        <p:blipFill>
          <a:blip r:embed="rId4"/>
          <a:stretch>
            <a:fillRect/>
          </a:stretch>
        </p:blipFill>
        <p:spPr>
          <a:xfrm>
            <a:off x="6612119" y="1027906"/>
            <a:ext cx="4059571" cy="1411481"/>
          </a:xfrm>
          <a:prstGeom prst="rect">
            <a:avLst/>
          </a:prstGeom>
        </p:spPr>
      </p:pic>
    </p:spTree>
    <p:extLst>
      <p:ext uri="{BB962C8B-B14F-4D97-AF65-F5344CB8AC3E}">
        <p14:creationId xmlns:p14="http://schemas.microsoft.com/office/powerpoint/2010/main" val="34174571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047B97-2700-FFBB-9529-47BEB667122F}"/>
              </a:ext>
            </a:extLst>
          </p:cNvPr>
          <p:cNvSpPr>
            <a:spLocks noGrp="1"/>
          </p:cNvSpPr>
          <p:nvPr>
            <p:ph type="title"/>
          </p:nvPr>
        </p:nvSpPr>
        <p:spPr/>
        <p:txBody>
          <a:bodyPr/>
          <a:lstStyle/>
          <a:p>
            <a:r>
              <a:rPr lang="zh-CN" altLang="en-US" dirty="0"/>
              <a:t>问题</a:t>
            </a:r>
          </a:p>
        </p:txBody>
      </p:sp>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8BAAF09F-29DC-ACC1-415B-CF8D80E2D437}"/>
                  </a:ext>
                </a:extLst>
              </p:cNvPr>
              <p:cNvSpPr txBox="1"/>
              <p:nvPr/>
            </p:nvSpPr>
            <p:spPr>
              <a:xfrm>
                <a:off x="406400" y="1678949"/>
                <a:ext cx="5168900" cy="3139321"/>
              </a:xfrm>
              <a:prstGeom prst="rect">
                <a:avLst/>
              </a:prstGeom>
              <a:noFill/>
            </p:spPr>
            <p:txBody>
              <a:bodyPr wrap="square" rtlCol="0">
                <a:spAutoFit/>
              </a:bodyPr>
              <a:lstStyle/>
              <a:p>
                <a:r>
                  <a:rPr lang="en-US" altLang="zh-CN" dirty="0"/>
                  <a:t>2.</a:t>
                </a:r>
                <a:r>
                  <a:rPr lang="zh-CN" altLang="en-US" dirty="0"/>
                  <a:t>当得到中频信号时，我们首先想到的是</a:t>
                </a:r>
                <a:r>
                  <a:rPr lang="en-US" altLang="zh-CN" dirty="0"/>
                  <a:t>arccos</a:t>
                </a:r>
                <a:r>
                  <a:rPr lang="zh-CN" altLang="en-US" dirty="0"/>
                  <a:t>，通过反三角函数的方法计算</a:t>
                </a:r>
                <a14:m>
                  <m:oMath xmlns:m="http://schemas.openxmlformats.org/officeDocument/2006/math">
                    <m:sSub>
                      <m:sSubPr>
                        <m:ctrlPr>
                          <a:rPr lang="en-US" altLang="zh-CN" b="0" i="1" smtClean="0">
                            <a:latin typeface="Cambria Math" panose="02040503050406030204" pitchFamily="18" charset="0"/>
                          </a:rPr>
                        </m:ctrlPr>
                      </m:sSubPr>
                      <m:e>
                        <m:r>
                          <a:rPr lang="zh-CN" altLang="en-US" i="1" smtClean="0">
                            <a:latin typeface="Cambria Math" panose="02040503050406030204" pitchFamily="18" charset="0"/>
                          </a:rPr>
                          <m:t>𝜑</m:t>
                        </m:r>
                      </m:e>
                      <m:sub>
                        <m:r>
                          <a:rPr lang="en-US" altLang="zh-CN" b="0" i="1" smtClean="0">
                            <a:latin typeface="Cambria Math" panose="02040503050406030204" pitchFamily="18" charset="0"/>
                          </a:rPr>
                          <m:t>𝑡</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𝜑</m:t>
                        </m:r>
                      </m:e>
                      <m:sub>
                        <m:r>
                          <a:rPr lang="en-US" altLang="zh-CN" b="0" i="1" smtClean="0">
                            <a:latin typeface="Cambria Math" panose="02040503050406030204" pitchFamily="18" charset="0"/>
                          </a:rPr>
                          <m:t>𝑟</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oMath>
                </a14:m>
                <a:r>
                  <a:rPr lang="zh-CN" altLang="en-US" dirty="0"/>
                  <a:t>，但是始终无法得到一次函数的那个图像</a:t>
                </a:r>
                <a:endParaRPr lang="en-US" altLang="zh-CN" dirty="0"/>
              </a:p>
              <a:p>
                <a:r>
                  <a:rPr lang="zh-CN" altLang="en-US" dirty="0"/>
                  <a:t>但我们想到信号与系统中非常重要的东西就是傅里叶变换，所以当我们尝试用傅里叶变换，把时域去转变成频域的时候，就能得到</a:t>
                </a:r>
                <a14:m>
                  <m:oMath xmlns:m="http://schemas.openxmlformats.org/officeDocument/2006/math">
                    <m:sSub>
                      <m:sSubPr>
                        <m:ctrlPr>
                          <a:rPr lang="en-US" altLang="zh-CN" b="0" i="1" smtClean="0">
                            <a:latin typeface="Cambria Math" panose="02040503050406030204" pitchFamily="18" charset="0"/>
                          </a:rPr>
                        </m:ctrlPr>
                      </m:sSubPr>
                      <m:e>
                        <m:r>
                          <a:rPr lang="zh-CN" altLang="en-US" i="1" smtClean="0">
                            <a:latin typeface="Cambria Math" panose="02040503050406030204" pitchFamily="18" charset="0"/>
                          </a:rPr>
                          <m:t>𝜔</m:t>
                        </m:r>
                      </m:e>
                      <m:sub>
                        <m:r>
                          <a:rPr lang="en-US" altLang="zh-CN" b="0" i="1" smtClean="0">
                            <a:latin typeface="Cambria Math" panose="02040503050406030204" pitchFamily="18" charset="0"/>
                          </a:rPr>
                          <m:t>0</m:t>
                        </m:r>
                      </m:sub>
                    </m:sSub>
                    <m:r>
                      <a:rPr lang="zh-CN" altLang="en-US" i="1">
                        <a:latin typeface="Cambria Math" panose="02040503050406030204" pitchFamily="18" charset="0"/>
                      </a:rPr>
                      <m:t>，</m:t>
                    </m:r>
                  </m:oMath>
                </a14:m>
                <a:r>
                  <a:rPr lang="zh-CN" altLang="en-US" dirty="0"/>
                  <a:t>得到比较好的效果</a:t>
                </a:r>
                <a:endParaRPr lang="en-US" altLang="zh-CN" dirty="0"/>
              </a:p>
              <a:p>
                <a:r>
                  <a:rPr lang="zh-CN" altLang="en-US" dirty="0"/>
                  <a:t>学到：</a:t>
                </a:r>
                <a:endParaRPr lang="en-US" altLang="zh-CN" dirty="0"/>
              </a:p>
              <a:p>
                <a:r>
                  <a:rPr lang="zh-CN" altLang="en-US" dirty="0"/>
                  <a:t>多角度去思考一个问题，当一个角度行不通时，尝试去回想自己学过的其他知识，或者与本学科最相关的知识</a:t>
                </a:r>
              </a:p>
            </p:txBody>
          </p:sp>
        </mc:Choice>
        <mc:Fallback>
          <p:sp>
            <p:nvSpPr>
              <p:cNvPr id="3" name="文本框 2">
                <a:extLst>
                  <a:ext uri="{FF2B5EF4-FFF2-40B4-BE49-F238E27FC236}">
                    <a16:creationId xmlns:a16="http://schemas.microsoft.com/office/drawing/2014/main" id="{8BAAF09F-29DC-ACC1-415B-CF8D80E2D437}"/>
                  </a:ext>
                </a:extLst>
              </p:cNvPr>
              <p:cNvSpPr txBox="1">
                <a:spLocks noRot="1" noChangeAspect="1" noMove="1" noResize="1" noEditPoints="1" noAdjustHandles="1" noChangeArrowheads="1" noChangeShapeType="1" noTextEdit="1"/>
              </p:cNvSpPr>
              <p:nvPr/>
            </p:nvSpPr>
            <p:spPr>
              <a:xfrm>
                <a:off x="406400" y="1678949"/>
                <a:ext cx="5168900" cy="3139321"/>
              </a:xfrm>
              <a:prstGeom prst="rect">
                <a:avLst/>
              </a:prstGeom>
              <a:blipFill>
                <a:blip r:embed="rId2"/>
                <a:stretch>
                  <a:fillRect l="-1061" t="-971" b="-2136"/>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39415E38-AE10-F83A-3DD3-4D49C91BD8CC}"/>
              </a:ext>
            </a:extLst>
          </p:cNvPr>
          <p:cNvPicPr>
            <a:picLocks noChangeAspect="1"/>
          </p:cNvPicPr>
          <p:nvPr/>
        </p:nvPicPr>
        <p:blipFill>
          <a:blip r:embed="rId3"/>
          <a:stretch>
            <a:fillRect/>
          </a:stretch>
        </p:blipFill>
        <p:spPr>
          <a:xfrm>
            <a:off x="5457906" y="2471802"/>
            <a:ext cx="5996372" cy="3046730"/>
          </a:xfrm>
          <a:prstGeom prst="rect">
            <a:avLst/>
          </a:prstGeom>
        </p:spPr>
      </p:pic>
      <p:pic>
        <p:nvPicPr>
          <p:cNvPr id="9" name="图片 8">
            <a:extLst>
              <a:ext uri="{FF2B5EF4-FFF2-40B4-BE49-F238E27FC236}">
                <a16:creationId xmlns:a16="http://schemas.microsoft.com/office/drawing/2014/main" id="{9064FC0F-E9F3-2F35-DB73-35EB22543B67}"/>
              </a:ext>
            </a:extLst>
          </p:cNvPr>
          <p:cNvPicPr>
            <a:picLocks noChangeAspect="1"/>
          </p:cNvPicPr>
          <p:nvPr/>
        </p:nvPicPr>
        <p:blipFill>
          <a:blip r:embed="rId4"/>
          <a:stretch>
            <a:fillRect/>
          </a:stretch>
        </p:blipFill>
        <p:spPr>
          <a:xfrm>
            <a:off x="6800850" y="1920892"/>
            <a:ext cx="2565400" cy="442532"/>
          </a:xfrm>
          <a:prstGeom prst="rect">
            <a:avLst/>
          </a:prstGeom>
        </p:spPr>
      </p:pic>
    </p:spTree>
    <p:extLst>
      <p:ext uri="{BB962C8B-B14F-4D97-AF65-F5344CB8AC3E}">
        <p14:creationId xmlns:p14="http://schemas.microsoft.com/office/powerpoint/2010/main" val="204366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047B97-2700-FFBB-9529-47BEB667122F}"/>
              </a:ext>
            </a:extLst>
          </p:cNvPr>
          <p:cNvSpPr>
            <a:spLocks noGrp="1"/>
          </p:cNvSpPr>
          <p:nvPr>
            <p:ph type="title"/>
          </p:nvPr>
        </p:nvSpPr>
        <p:spPr/>
        <p:txBody>
          <a:bodyPr/>
          <a:lstStyle/>
          <a:p>
            <a:r>
              <a:rPr lang="zh-CN" altLang="en-US" dirty="0"/>
              <a:t>引申思考</a:t>
            </a:r>
          </a:p>
        </p:txBody>
      </p:sp>
    </p:spTree>
    <p:extLst>
      <p:ext uri="{BB962C8B-B14F-4D97-AF65-F5344CB8AC3E}">
        <p14:creationId xmlns:p14="http://schemas.microsoft.com/office/powerpoint/2010/main" val="42455581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647DC6-39D2-B5C8-BD7B-D71BDC1D89F5}"/>
              </a:ext>
            </a:extLst>
          </p:cNvPr>
          <p:cNvSpPr>
            <a:spLocks noGrp="1"/>
          </p:cNvSpPr>
          <p:nvPr>
            <p:ph type="title"/>
          </p:nvPr>
        </p:nvSpPr>
        <p:spPr>
          <a:xfrm>
            <a:off x="2451100" y="1768475"/>
            <a:ext cx="7054850" cy="1325563"/>
          </a:xfrm>
        </p:spPr>
        <p:txBody>
          <a:bodyPr/>
          <a:lstStyle/>
          <a:p>
            <a:pPr algn="ctr"/>
            <a:r>
              <a:rPr lang="zh-CN" altLang="en-US" dirty="0"/>
              <a:t>谢谢大家</a:t>
            </a:r>
            <a:endParaRPr lang="en-US" altLang="zh-CN" dirty="0"/>
          </a:p>
        </p:txBody>
      </p:sp>
    </p:spTree>
    <p:extLst>
      <p:ext uri="{BB962C8B-B14F-4D97-AF65-F5344CB8AC3E}">
        <p14:creationId xmlns:p14="http://schemas.microsoft.com/office/powerpoint/2010/main" val="42433857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647DC6-39D2-B5C8-BD7B-D71BDC1D89F5}"/>
              </a:ext>
            </a:extLst>
          </p:cNvPr>
          <p:cNvSpPr>
            <a:spLocks noGrp="1"/>
          </p:cNvSpPr>
          <p:nvPr>
            <p:ph type="title"/>
          </p:nvPr>
        </p:nvSpPr>
        <p:spPr>
          <a:xfrm>
            <a:off x="2451100" y="1768475"/>
            <a:ext cx="7054850" cy="1325563"/>
          </a:xfrm>
        </p:spPr>
        <p:txBody>
          <a:bodyPr/>
          <a:lstStyle/>
          <a:p>
            <a:pPr algn="ctr"/>
            <a:r>
              <a:rPr lang="en-US" altLang="zh-CN" dirty="0"/>
              <a:t>Q&amp;A</a:t>
            </a:r>
          </a:p>
        </p:txBody>
      </p:sp>
    </p:spTree>
    <p:extLst>
      <p:ext uri="{BB962C8B-B14F-4D97-AF65-F5344CB8AC3E}">
        <p14:creationId xmlns:p14="http://schemas.microsoft.com/office/powerpoint/2010/main" val="39336946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439</TotalTime>
  <Words>1100</Words>
  <Application>Microsoft Office PowerPoint</Application>
  <PresentationFormat>宽屏</PresentationFormat>
  <Paragraphs>200</Paragraphs>
  <Slides>28</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28</vt:i4>
      </vt:variant>
    </vt:vector>
  </HeadingPairs>
  <TitlesOfParts>
    <vt:vector size="34" baseType="lpstr">
      <vt:lpstr>等线</vt:lpstr>
      <vt:lpstr>等线 Light</vt:lpstr>
      <vt:lpstr>Arial</vt:lpstr>
      <vt:lpstr>Calibri</vt:lpstr>
      <vt:lpstr>Cambria Math</vt:lpstr>
      <vt:lpstr>Office 主题​​</vt:lpstr>
      <vt:lpstr>FMCW雷达实现测距、测速以及定位</vt:lpstr>
      <vt:lpstr>大纲</vt:lpstr>
      <vt:lpstr>FMCW雷达背景</vt:lpstr>
      <vt:lpstr>FMCW雷达背景</vt:lpstr>
      <vt:lpstr>FMCW雷达背景</vt:lpstr>
      <vt:lpstr>电路、理论分析</vt:lpstr>
      <vt:lpstr>发射信号</vt:lpstr>
      <vt:lpstr>接收信号</vt:lpstr>
      <vt:lpstr>中频信号</vt:lpstr>
      <vt:lpstr>信号处理</vt:lpstr>
      <vt:lpstr>信号处理</vt:lpstr>
      <vt:lpstr>定位</vt:lpstr>
      <vt:lpstr>距离分辨率</vt:lpstr>
      <vt:lpstr>速度分辨率</vt:lpstr>
      <vt:lpstr>结果呈现（a、b、c、d、e）</vt:lpstr>
      <vt:lpstr>结果呈现（a）</vt:lpstr>
      <vt:lpstr>结果呈现（b）</vt:lpstr>
      <vt:lpstr>结果呈现（c）</vt:lpstr>
      <vt:lpstr>结果呈现（d）</vt:lpstr>
      <vt:lpstr>结果呈现（d）</vt:lpstr>
      <vt:lpstr>结果呈现（e）</vt:lpstr>
      <vt:lpstr>结果呈现（e）</vt:lpstr>
      <vt:lpstr>项目总结</vt:lpstr>
      <vt:lpstr>问题</vt:lpstr>
      <vt:lpstr>问题</vt:lpstr>
      <vt:lpstr>引申思考</vt:lpstr>
      <vt:lpstr>谢谢大家</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FMCW雷达实现测距和测速以及定位</dc:title>
  <dc:creator>Zhenghao Li</dc:creator>
  <cp:lastModifiedBy>Zhenghao Li</cp:lastModifiedBy>
  <cp:revision>72</cp:revision>
  <dcterms:created xsi:type="dcterms:W3CDTF">2023-12-20T06:12:00Z</dcterms:created>
  <dcterms:modified xsi:type="dcterms:W3CDTF">2023-12-20T15:00:36Z</dcterms:modified>
</cp:coreProperties>
</file>