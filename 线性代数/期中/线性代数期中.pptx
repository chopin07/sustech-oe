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1" r:id="rId9"/>
    <p:sldId id="260" r:id="rId10"/>
    <p:sldId id="265" r:id="rId11"/>
    <p:sldId id="267" r:id="rId12"/>
    <p:sldId id="266" r:id="rId13"/>
    <p:sldId id="269" r:id="rId14"/>
    <p:sldId id="268" r:id="rId15"/>
    <p:sldId id="271" r:id="rId16"/>
    <p:sldId id="270" r:id="rId17"/>
    <p:sldId id="274" r:id="rId18"/>
    <p:sldId id="273" r:id="rId19"/>
    <p:sldId id="275" r:id="rId20"/>
    <p:sldId id="272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E01F2-C9E5-DBDF-8C7B-EC0CBA4E8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0AC18B-49AC-A65D-F57C-2E39174A4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DC786-1296-2021-52E8-B97B81C98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4AD78-5011-91B7-07CB-45992A8F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F41E9-1791-BC4B-55A7-84279BF3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46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1F01B-BA67-F884-288F-C46CAEAC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AAF007-3A60-360C-AE0F-1467A7AE2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5FCF7-7FBA-A319-BC0B-4D981882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00F4CB-C0FD-99C7-53AD-60C5569D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57615-FEE5-7119-9713-49FA40F5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9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7DDC8-A507-D731-8680-C809C1C5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7D134-FABC-2A6C-3D08-9E9F33DDC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BE94C0-44F8-6C56-A6B7-B67D4F6B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FD50E-9D63-7691-D245-0794C9BD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F6D4-146D-0667-9825-9C1B5299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1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F951F-476D-7770-623B-BFB87A07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6F8BF-5D72-576B-E19C-82F0D0B55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8E3AF-C49C-7081-6228-4A4B67679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D7067F-0F04-EA0E-E382-C1619CF4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20577A-BB1E-2A04-238D-E3AF39AE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6AF38D-4219-B914-FF8C-C4D43486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18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03477-0FB6-B44A-0A07-76BD5E38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39FCD5-3782-9B9D-BB2F-EC0DFF0D4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F2F3F1-5235-08AA-50F3-B5687EE4B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577D62-4D62-C5BF-4700-0520B4F4E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DDC4E0-0535-66F7-CA22-835951356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A96C02-AB33-E4F4-8CC2-9DD93263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90A507-6DD7-BBB3-3947-CD863A75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6CAB33-D485-17FE-F082-0CCD7E9B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5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8B010-A3D0-FA8C-499F-C9C3A256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0B1C6B-93D3-A6D5-FD21-15032749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6A25A2-522F-12B5-48F1-C5350FBD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1A9C9B-9D85-D86A-C477-D31A8340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9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3F96D7-0E1C-A83D-3F54-3FE60EBB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AB9DCD-48BE-CDA1-DA56-5EEA318A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3BA3C4-CB59-DADD-FFCB-A328E640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49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6CC4B-3EC3-B2DC-768A-D44329149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630D1-EFB1-A029-6E8D-70DB91CC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83CDE3-6956-3D70-3C89-3AF5A36B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FCBB89-CF6D-233E-875F-AEC4275C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965AEF-0AE4-4526-FD7F-3BE4454D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9D348D-B2E1-0090-A6B2-02D99A7E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44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E4ED5-0680-CFF2-47CD-FD51EB4A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4FD25C-6641-E5C4-287E-AD2801BC2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FDE3B-0F74-19A8-4068-115E8A232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6F3F50-497B-171C-8487-659C0661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3D6EE-7106-4A9A-5FE5-FCD1FCAA7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A7D306-8B52-DD9F-6113-7EAB1288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67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1D78A-AA81-A5D4-2F32-B0D33232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BC3C77-1E04-F686-85D0-07436981D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ACAEC-C3E3-9C71-4B2B-B313009D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708A4-19F6-6FFC-F6A8-0A85DA33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F97F0-B995-3E53-8C70-BDFB4137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19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560861-3BBB-11B1-9359-9F13370F8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C3E4A0-07EF-1DAA-1019-07521285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F8AD4-D57F-A045-C6A9-0F34FB2F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BAE0C-D012-DCA8-F22F-F22B546E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523A4-37EB-94F7-2DD8-27BE5159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24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0F71D7-09A0-4C16-DD27-829646AD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417390-5C0F-9C58-A8E0-BDDB495D8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8A6BE3-07DE-5914-9AA1-02A5D8AC5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59F8E-F719-4377-B018-78EE1575B265}" type="datetimeFigureOut">
              <a:rPr lang="zh-CN" altLang="en-US" smtClean="0"/>
              <a:t>2024/4/12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26C38A-8D05-30B1-8F3C-C582677AA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903DB-3415-5EF3-3281-D33ADC084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13566-B35B-41F4-AEBC-633F41666E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0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8F16E-AEF6-21B2-CE75-B381295E5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期中复习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55499C-359E-3E66-42F4-D3158A06B8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34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AA1FB-D33A-F020-C87E-A2A329185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3C985-E7DD-F61E-FC05-EAD891CBE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LU</a:t>
            </a:r>
            <a:r>
              <a:rPr lang="zh-CN" altLang="en-US" dirty="0"/>
              <a:t>分解是指矩阵 </a:t>
            </a:r>
            <a:r>
              <a:rPr lang="en-US" altLang="zh-CN" dirty="0"/>
              <a:t>A</a:t>
            </a:r>
            <a:r>
              <a:rPr lang="zh-CN" altLang="en-US" dirty="0"/>
              <a:t>可以分解为 </a:t>
            </a:r>
            <a:r>
              <a:rPr lang="en-US" altLang="zh-CN" dirty="0"/>
              <a:t>LU</a:t>
            </a:r>
            <a:r>
              <a:rPr lang="zh-CN" altLang="en-US" dirty="0"/>
              <a:t>乘积的形式，其中 </a:t>
            </a:r>
            <a:r>
              <a:rPr lang="en-US" altLang="zh-CN" dirty="0"/>
              <a:t>L</a:t>
            </a:r>
            <a:r>
              <a:rPr lang="zh-CN" altLang="en-US" dirty="0"/>
              <a:t>是单位下三角矩阵， </a:t>
            </a:r>
            <a:r>
              <a:rPr lang="en-US" altLang="zh-CN" dirty="0"/>
              <a:t>U</a:t>
            </a:r>
            <a:r>
              <a:rPr lang="zh-CN" altLang="en-US" dirty="0"/>
              <a:t>是单位上三角矩阵。一般用</a:t>
            </a:r>
            <a:r>
              <a:rPr lang="en-US" altLang="zh-CN" dirty="0"/>
              <a:t>Gauss</a:t>
            </a:r>
            <a:r>
              <a:rPr lang="zh-CN" altLang="en-US" dirty="0"/>
              <a:t>消去法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对这个矩阵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BBAABB-0FD7-5D37-1B1E-A90E234E8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37" y="2876461"/>
            <a:ext cx="3772426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5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B7885-B62B-91E9-7A43-D3FCC8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6FAEF-9ABF-1780-8E57-4F2F2089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先求第一个变换矩阵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考虑分量等于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那么可以得到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2188B2-32E3-08FB-51BC-DDCBE611D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756" y="1747838"/>
            <a:ext cx="2781688" cy="1171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FB5C53-056F-E309-B81A-C544161B7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756" y="3309873"/>
            <a:ext cx="3057952" cy="924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625ECF-C7D3-3E87-6185-B8294F520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072" y="4790854"/>
            <a:ext cx="230537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0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B7885-B62B-91E9-7A43-D3FCC8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6FAEF-9ABF-1780-8E57-4F2F2089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接下来我们计算</a:t>
            </a:r>
            <a:r>
              <a:rPr lang="en-US" altLang="zh-CN" dirty="0"/>
              <a:t>L2</a:t>
            </a:r>
          </a:p>
          <a:p>
            <a:r>
              <a:rPr lang="zh-CN" altLang="en-US" dirty="0"/>
              <a:t>可以得到如下式子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因此可以得到</a:t>
            </a:r>
            <a:r>
              <a:rPr lang="en-US" altLang="zh-CN" dirty="0"/>
              <a:t>U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8CCA5B-2765-81EA-9FDF-045F75941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989" y="1330325"/>
            <a:ext cx="2667372" cy="13432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3DB6AF-0F1D-52F2-C7A2-5114E4CC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624" y="2497231"/>
            <a:ext cx="2695951" cy="5430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8A4443A-074E-1A4B-E8DC-113CB5DA1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3" y="3143170"/>
            <a:ext cx="2715004" cy="11431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8A5017-711B-DA02-A3E7-B5946E5F4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749" y="4036482"/>
            <a:ext cx="361047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9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B7885-B62B-91E9-7A43-D3FCC8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6FAEF-9ABF-1780-8E57-4F2F2089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除此之外，万不得已情况下可以使用待定系数法去硬做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224370-CC97-2681-13D4-3B8E68055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5112"/>
            <a:ext cx="6547256" cy="385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6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F943-E6F3-9288-B2F9-968DAD10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406630-99B0-B283-9A71-89D6CDCAC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154" y="1534115"/>
            <a:ext cx="7287642" cy="2915057"/>
          </a:xfrm>
        </p:spPr>
      </p:pic>
    </p:spTree>
    <p:extLst>
      <p:ext uri="{BB962C8B-B14F-4D97-AF65-F5344CB8AC3E}">
        <p14:creationId xmlns:p14="http://schemas.microsoft.com/office/powerpoint/2010/main" val="21467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F943-E6F3-9288-B2F9-968DAD10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0D9F86-1CDC-C548-BB8A-99F44B2FC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199" y="1690688"/>
            <a:ext cx="6639852" cy="3972479"/>
          </a:xfrm>
        </p:spPr>
      </p:pic>
    </p:spTree>
    <p:extLst>
      <p:ext uri="{BB962C8B-B14F-4D97-AF65-F5344CB8AC3E}">
        <p14:creationId xmlns:p14="http://schemas.microsoft.com/office/powerpoint/2010/main" val="2853221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F943-E6F3-9288-B2F9-968DAD10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LU</a:t>
            </a:r>
            <a:r>
              <a:rPr lang="zh-CN" altLang="en-US" dirty="0"/>
              <a:t>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833FE-F396-FE8B-F717-8A2B441D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注意到如果主对角矩阵不可逆，那么需要变换行</a:t>
            </a:r>
            <a:r>
              <a:rPr lang="en-US" altLang="zh-CN" dirty="0"/>
              <a:t>/</a:t>
            </a:r>
            <a:r>
              <a:rPr lang="zh-CN" altLang="en-US" dirty="0"/>
              <a:t>列，也就是变成</a:t>
            </a:r>
            <a:r>
              <a:rPr lang="en-US" altLang="zh-CN" dirty="0"/>
              <a:t>PA=LU</a:t>
            </a:r>
          </a:p>
          <a:p>
            <a:r>
              <a:rPr lang="en-US" altLang="zh-CN" dirty="0"/>
              <a:t>LU</a:t>
            </a:r>
            <a:r>
              <a:rPr lang="zh-CN" altLang="en-US" dirty="0"/>
              <a:t>分解是唯一的</a:t>
            </a:r>
            <a:endParaRPr lang="en-US" altLang="zh-CN" dirty="0"/>
          </a:p>
          <a:p>
            <a:r>
              <a:rPr lang="zh-CN" altLang="en-US" dirty="0"/>
              <a:t>可以提取</a:t>
            </a:r>
            <a:r>
              <a:rPr lang="en-US" altLang="zh-CN" dirty="0"/>
              <a:t>U</a:t>
            </a:r>
            <a:r>
              <a:rPr lang="zh-CN" altLang="en-US" dirty="0"/>
              <a:t>的对角元变成</a:t>
            </a:r>
            <a:r>
              <a:rPr lang="en-US" altLang="zh-CN" dirty="0"/>
              <a:t>LDU</a:t>
            </a:r>
            <a:r>
              <a:rPr lang="zh-CN" altLang="en-US" dirty="0"/>
              <a:t>分解，特别的，</a:t>
            </a:r>
            <a:r>
              <a:rPr lang="en-US" altLang="zh-CN" dirty="0"/>
              <a:t>At=A</a:t>
            </a:r>
            <a:r>
              <a:rPr lang="zh-CN" altLang="en-US" dirty="0"/>
              <a:t>时称为</a:t>
            </a:r>
            <a:r>
              <a:rPr lang="en-US" altLang="zh-CN" dirty="0" err="1"/>
              <a:t>LDLt</a:t>
            </a:r>
            <a:r>
              <a:rPr lang="zh-CN" altLang="en-US" dirty="0"/>
              <a:t>分解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588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F943-E6F3-9288-B2F9-968DAD10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二、增广矩阵与初等变换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833FE-F396-FE8B-F717-8A2B441D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增广矩阵意味着我们在原来矩阵基础上加上另外一个矩阵</a:t>
            </a:r>
            <a:r>
              <a:rPr lang="en-US" altLang="zh-CN" dirty="0"/>
              <a:t>/</a:t>
            </a:r>
            <a:r>
              <a:rPr lang="zh-CN" altLang="en-US" dirty="0"/>
              <a:t>向量</a:t>
            </a:r>
            <a:endParaRPr lang="en-US" altLang="zh-CN" dirty="0"/>
          </a:p>
          <a:p>
            <a:r>
              <a:rPr lang="zh-CN" altLang="en-US" dirty="0"/>
              <a:t>一般考点：</a:t>
            </a:r>
            <a:r>
              <a:rPr lang="en-US" altLang="zh-CN" dirty="0"/>
              <a:t>1</a:t>
            </a:r>
            <a:r>
              <a:rPr lang="zh-CN" altLang="en-US" dirty="0"/>
              <a:t>，增广矩阵求</a:t>
            </a:r>
            <a:r>
              <a:rPr lang="en-US" altLang="zh-CN" dirty="0"/>
              <a:t>Ax=b,2</a:t>
            </a:r>
            <a:r>
              <a:rPr lang="zh-CN" altLang="en-US" dirty="0"/>
              <a:t>，增广矩阵求逆</a:t>
            </a:r>
            <a:endParaRPr lang="en-US" altLang="zh-CN" dirty="0"/>
          </a:p>
          <a:p>
            <a:r>
              <a:rPr lang="zh-CN" altLang="en-US" dirty="0"/>
              <a:t>增广矩阵的初等变换</a:t>
            </a:r>
            <a:endParaRPr lang="en-US" altLang="zh-CN" dirty="0"/>
          </a:p>
          <a:p>
            <a:r>
              <a:rPr lang="zh-CN" altLang="en-US" dirty="0"/>
              <a:t>将某一行乘以一个非零常数</a:t>
            </a:r>
            <a:r>
              <a:rPr lang="en-US" altLang="zh-CN" dirty="0"/>
              <a:t>k </a:t>
            </a:r>
          </a:p>
          <a:p>
            <a:r>
              <a:rPr lang="zh-CN" altLang="en-US" dirty="0"/>
              <a:t>交换矩阵中的任意两行；</a:t>
            </a:r>
            <a:endParaRPr lang="en-US" altLang="zh-CN" dirty="0"/>
          </a:p>
          <a:p>
            <a:r>
              <a:rPr lang="zh-CN" altLang="en-US" dirty="0"/>
              <a:t>将某一行加上另外一行的</a:t>
            </a:r>
            <a:r>
              <a:rPr lang="en-US" altLang="zh-CN" dirty="0"/>
              <a:t>k </a:t>
            </a:r>
            <a:r>
              <a:rPr lang="zh-CN" altLang="en-US" dirty="0"/>
              <a:t>倍</a:t>
            </a:r>
            <a:endParaRPr lang="en-US" altLang="zh-CN" dirty="0"/>
          </a:p>
          <a:p>
            <a:r>
              <a:rPr lang="zh-CN" altLang="en-US" dirty="0"/>
              <a:t>不要对增广矩阵列变换！</a:t>
            </a:r>
          </a:p>
        </p:txBody>
      </p:sp>
    </p:spTree>
    <p:extLst>
      <p:ext uri="{BB962C8B-B14F-4D97-AF65-F5344CB8AC3E}">
        <p14:creationId xmlns:p14="http://schemas.microsoft.com/office/powerpoint/2010/main" val="193477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D166F-FE77-316B-E025-2EEE965E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二、增广矩阵与初等变换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41EE7-6CCA-E6E5-60DA-0B5A1F9FA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求解方程的办法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E505C8-4E54-A571-AE40-B26FAAF46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2352525"/>
            <a:ext cx="10945753" cy="1076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15B9EA-7A88-4E1F-3AAA-ECBA3928F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562125"/>
            <a:ext cx="2438740" cy="10574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BABB1A-E0FA-54DB-933E-BC2915152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67" y="4850491"/>
            <a:ext cx="3639058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37EDC-9A9B-C8F7-DD14-C5BA64391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二、增广矩阵与初等变换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7582B-A122-4DCC-37FA-4D925E651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增广矩阵求逆的原理</a:t>
            </a:r>
            <a:endParaRPr lang="en-US" altLang="zh-CN" dirty="0"/>
          </a:p>
          <a:p>
            <a:r>
              <a:rPr lang="zh-CN" altLang="en-US" dirty="0"/>
              <a:t>对增广矩阵进行行列变换等同于在增广矩阵左乘一个矩阵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67535F-2F51-E277-4A08-BD8C8787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283" y="3071762"/>
            <a:ext cx="3477110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8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二、增广矩阵与初等变换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以下是一个算例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747124-7D3D-ED6D-B011-09A162E50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16" y="2517226"/>
            <a:ext cx="7649643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0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二、增广矩阵和初等变换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70CCAA0-ABB3-681F-B96C-0D0AA1E1B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421" y="1690688"/>
            <a:ext cx="4139543" cy="25544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DEB8C3D-E736-8571-93AD-BFE92D5EB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948" y="1998676"/>
            <a:ext cx="4557396" cy="20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60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二、增广矩阵和初等变换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最后可以得到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同理可以用这个方法求解</a:t>
            </a:r>
            <a:r>
              <a:rPr lang="en-US" altLang="zh-CN" dirty="0"/>
              <a:t>AX=B</a:t>
            </a:r>
            <a:r>
              <a:rPr lang="zh-CN" altLang="en-US" dirty="0"/>
              <a:t>，其中</a:t>
            </a:r>
            <a:r>
              <a:rPr lang="en-US" altLang="zh-CN" dirty="0"/>
              <a:t>B</a:t>
            </a:r>
            <a:r>
              <a:rPr lang="zh-CN" altLang="en-US" dirty="0"/>
              <a:t>是矩阵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5A3006-C347-4DB5-F63A-8D06BC1E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74" y="2420212"/>
            <a:ext cx="678274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2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三、矩阵的秩和极大线性无关组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矩阵的秩：最大线性无关组的数量</a:t>
            </a:r>
            <a:endParaRPr lang="en-US" altLang="zh-CN" dirty="0"/>
          </a:p>
          <a:p>
            <a:r>
              <a:rPr lang="zh-CN" altLang="en-US" dirty="0"/>
              <a:t>行秩：行向量中最大线性无关组</a:t>
            </a:r>
            <a:endParaRPr lang="en-US" altLang="zh-CN" dirty="0"/>
          </a:p>
          <a:p>
            <a:r>
              <a:rPr lang="zh-CN" altLang="en-US" dirty="0"/>
              <a:t>列秩：列向量最大线性无关组</a:t>
            </a:r>
            <a:endParaRPr lang="en-US" altLang="zh-CN" dirty="0"/>
          </a:p>
          <a:p>
            <a:r>
              <a:rPr lang="zh-CN" altLang="en-US" dirty="0"/>
              <a:t>行秩</a:t>
            </a:r>
            <a:r>
              <a:rPr lang="en-US" altLang="zh-CN" dirty="0"/>
              <a:t>=</a:t>
            </a:r>
            <a:r>
              <a:rPr lang="zh-CN" altLang="en-US" dirty="0"/>
              <a:t>列秩</a:t>
            </a:r>
            <a:r>
              <a:rPr lang="en-US" altLang="zh-CN" dirty="0"/>
              <a:t>=</a:t>
            </a:r>
            <a:r>
              <a:rPr lang="zh-CN" altLang="en-US" dirty="0"/>
              <a:t>主元数量</a:t>
            </a:r>
            <a:endParaRPr lang="en-US" altLang="zh-CN" dirty="0"/>
          </a:p>
          <a:p>
            <a:r>
              <a:rPr lang="zh-CN" altLang="en-US" dirty="0"/>
              <a:t>求极大线性无关组，就是把向量排成矩阵然后直接求主元，主元行</a:t>
            </a:r>
            <a:r>
              <a:rPr lang="en-US" altLang="zh-CN" dirty="0"/>
              <a:t>/</a:t>
            </a:r>
            <a:r>
              <a:rPr lang="zh-CN" altLang="en-US" dirty="0"/>
              <a:t>列就是无关的向量组</a:t>
            </a:r>
          </a:p>
        </p:txBody>
      </p:sp>
    </p:spTree>
    <p:extLst>
      <p:ext uri="{BB962C8B-B14F-4D97-AF65-F5344CB8AC3E}">
        <p14:creationId xmlns:p14="http://schemas.microsoft.com/office/powerpoint/2010/main" val="4013169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三、矩阵的秩与极大线性无关组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2FE20D-F4C2-857A-A4E9-E370C5E3A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264" y="1690688"/>
            <a:ext cx="8401639" cy="4351338"/>
          </a:xfrm>
        </p:spPr>
      </p:pic>
    </p:spTree>
    <p:extLst>
      <p:ext uri="{BB962C8B-B14F-4D97-AF65-F5344CB8AC3E}">
        <p14:creationId xmlns:p14="http://schemas.microsoft.com/office/powerpoint/2010/main" val="1042807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三、矩阵的秩和极大线性无关组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498A29-A1D7-F512-513F-8C62B2555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081" y="1619148"/>
            <a:ext cx="6610457" cy="4351338"/>
          </a:xfrm>
        </p:spPr>
      </p:pic>
    </p:spTree>
    <p:extLst>
      <p:ext uri="{BB962C8B-B14F-4D97-AF65-F5344CB8AC3E}">
        <p14:creationId xmlns:p14="http://schemas.microsoft.com/office/powerpoint/2010/main" val="204706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三、矩阵的秩和极大线性无关组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对于非实向量空间的例子，我们可以选取一组基底，对于坐标进行上述操作</a:t>
            </a:r>
            <a:endParaRPr lang="en-US" altLang="zh-CN" dirty="0"/>
          </a:p>
          <a:p>
            <a:r>
              <a:rPr lang="zh-CN" altLang="en-US" dirty="0"/>
              <a:t>经典范例：极大无关的矩阵</a:t>
            </a:r>
            <a:endParaRPr lang="en-US" altLang="zh-CN" dirty="0"/>
          </a:p>
          <a:p>
            <a:r>
              <a:rPr lang="zh-CN" altLang="en-US" dirty="0"/>
              <a:t>定理：对于任意的向量组</a:t>
            </a:r>
            <a:r>
              <a:rPr lang="en-US" altLang="zh-CN" dirty="0" err="1"/>
              <a:t>yi</a:t>
            </a:r>
            <a:r>
              <a:rPr lang="en-US" altLang="zh-CN" dirty="0"/>
              <a:t>,</a:t>
            </a:r>
            <a:r>
              <a:rPr lang="zh-CN" altLang="en-US" dirty="0"/>
              <a:t>对于任意的基底，如果对应的坐标向量</a:t>
            </a:r>
            <a:r>
              <a:rPr lang="en-US" altLang="zh-CN" dirty="0"/>
              <a:t>xi</a:t>
            </a:r>
            <a:r>
              <a:rPr lang="zh-CN" altLang="en-US" dirty="0"/>
              <a:t>无关，那么</a:t>
            </a:r>
            <a:r>
              <a:rPr lang="en-US" altLang="zh-CN" dirty="0" err="1"/>
              <a:t>yi</a:t>
            </a:r>
            <a:r>
              <a:rPr lang="zh-CN" altLang="en-US" dirty="0"/>
              <a:t>无关！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350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Ax=0</a:t>
            </a:r>
            <a:r>
              <a:rPr lang="zh-CN" altLang="en-US" dirty="0"/>
              <a:t>和</a:t>
            </a:r>
            <a:r>
              <a:rPr lang="en-US" altLang="zh-CN" dirty="0"/>
              <a:t>Ax=b</a:t>
            </a:r>
            <a:r>
              <a:rPr lang="zh-CN" altLang="en-US" dirty="0"/>
              <a:t>的求解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属于</a:t>
            </a:r>
            <a:r>
              <a:rPr lang="en-US" altLang="zh-CN" dirty="0"/>
              <a:t>A</a:t>
            </a:r>
            <a:r>
              <a:rPr lang="zh-CN" altLang="en-US" dirty="0"/>
              <a:t>的列空间的时候，</a:t>
            </a:r>
            <a:r>
              <a:rPr lang="en-US" altLang="zh-CN" dirty="0"/>
              <a:t>Ax=b</a:t>
            </a:r>
            <a:r>
              <a:rPr lang="zh-CN" altLang="en-US" dirty="0"/>
              <a:t>才有解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行满秩，那么意味着</a:t>
            </a:r>
            <a:r>
              <a:rPr lang="en-US" altLang="zh-CN" dirty="0"/>
              <a:t>A</a:t>
            </a:r>
            <a:r>
              <a:rPr lang="zh-CN" altLang="en-US" dirty="0"/>
              <a:t>是不定</a:t>
            </a:r>
            <a:r>
              <a:rPr lang="en-US" altLang="zh-CN" dirty="0"/>
              <a:t>/</a:t>
            </a:r>
            <a:r>
              <a:rPr lang="zh-CN" altLang="en-US" dirty="0"/>
              <a:t>适定的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列满秩，那么</a:t>
            </a:r>
            <a:r>
              <a:rPr lang="en-US" altLang="zh-CN" dirty="0"/>
              <a:t>A</a:t>
            </a:r>
            <a:r>
              <a:rPr lang="zh-CN" altLang="en-US" dirty="0"/>
              <a:t>是超定</a:t>
            </a:r>
            <a:r>
              <a:rPr lang="en-US" altLang="zh-CN" dirty="0"/>
              <a:t>/</a:t>
            </a:r>
            <a:r>
              <a:rPr lang="zh-CN" altLang="en-US" dirty="0"/>
              <a:t>适定的，</a:t>
            </a:r>
            <a:r>
              <a:rPr lang="en-US" altLang="zh-CN" dirty="0"/>
              <a:t>Ax=0</a:t>
            </a:r>
            <a:r>
              <a:rPr lang="zh-CN" altLang="en-US" dirty="0"/>
              <a:t>只有零解</a:t>
            </a:r>
            <a:endParaRPr lang="en-US" altLang="zh-CN" dirty="0"/>
          </a:p>
          <a:p>
            <a:r>
              <a:rPr lang="zh-CN" altLang="en-US" dirty="0"/>
              <a:t>求解方法，</a:t>
            </a:r>
            <a:r>
              <a:rPr lang="en-US" altLang="zh-CN" dirty="0"/>
              <a:t>RREF</a:t>
            </a:r>
            <a:r>
              <a:rPr lang="zh-CN" altLang="en-US" dirty="0"/>
              <a:t>格式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C3F242-154B-F50C-D982-DF493868E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580" y="3315470"/>
            <a:ext cx="3588775" cy="30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08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BEEE9-B7D5-C886-BF06-D0247229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Ax=0</a:t>
            </a:r>
            <a:r>
              <a:rPr lang="zh-CN" altLang="en-US" dirty="0"/>
              <a:t>和</a:t>
            </a:r>
            <a:r>
              <a:rPr lang="en-US" altLang="zh-CN" dirty="0"/>
              <a:t>Ax=b</a:t>
            </a:r>
            <a:r>
              <a:rPr lang="zh-CN" altLang="en-US" dirty="0"/>
              <a:t>求解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27089-603B-6A05-AD1A-549B6EDD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RREF</a:t>
            </a:r>
            <a:r>
              <a:rPr lang="zh-CN" altLang="en-US" dirty="0"/>
              <a:t>格式的求解细节注意</a:t>
            </a:r>
            <a:endParaRPr lang="en-US" altLang="zh-CN" dirty="0"/>
          </a:p>
          <a:p>
            <a:r>
              <a:rPr lang="zh-CN" altLang="en-US" dirty="0"/>
              <a:t>主元和自由变量的关系，自由变量一个设置成</a:t>
            </a:r>
            <a:r>
              <a:rPr lang="en-US" altLang="zh-CN" dirty="0"/>
              <a:t>1</a:t>
            </a:r>
            <a:r>
              <a:rPr lang="zh-CN" altLang="en-US" dirty="0"/>
              <a:t>，别的设置为</a:t>
            </a:r>
            <a:r>
              <a:rPr lang="en-US" altLang="zh-CN" dirty="0"/>
              <a:t>0</a:t>
            </a:r>
            <a:r>
              <a:rPr lang="zh-CN" altLang="en-US" dirty="0"/>
              <a:t>，看主元对应的数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91A814-8F39-9CD0-E667-6C5AA99C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42" y="2801969"/>
            <a:ext cx="744006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08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925B6-7C08-D054-D864-58477754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</a:t>
            </a:r>
            <a:r>
              <a:rPr lang="en-US" altLang="zh-CN" dirty="0"/>
              <a:t>Ax=0</a:t>
            </a:r>
            <a:r>
              <a:rPr lang="zh-CN" altLang="en-US" dirty="0"/>
              <a:t>和</a:t>
            </a:r>
            <a:r>
              <a:rPr lang="en-US" altLang="zh-CN" dirty="0"/>
              <a:t>Ax=b</a:t>
            </a:r>
            <a:r>
              <a:rPr lang="zh-CN" altLang="en-US" dirty="0"/>
              <a:t>的求解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C996B-1407-33F3-AA70-EB431678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转化成</a:t>
            </a:r>
            <a:r>
              <a:rPr lang="en-US" altLang="zh-CN" dirty="0"/>
              <a:t>RREF</a:t>
            </a:r>
            <a:r>
              <a:rPr lang="zh-CN" altLang="en-US" dirty="0"/>
              <a:t>后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Ax=b</a:t>
            </a:r>
            <a:r>
              <a:rPr lang="zh-CN" altLang="en-US" dirty="0"/>
              <a:t>，猜一个解，然后写成</a:t>
            </a:r>
            <a:r>
              <a:rPr lang="en-US" altLang="zh-CN" dirty="0" err="1"/>
              <a:t>xp+xn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FD8872-91F5-6888-9FE8-D65D923F3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845" y="1576125"/>
            <a:ext cx="3048425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3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925B6-7C08-D054-D864-58477754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五、线性变换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C996B-1407-33F3-AA70-EB431678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满足数乘，满足加法</a:t>
            </a:r>
            <a:endParaRPr lang="en-US" altLang="zh-CN" dirty="0"/>
          </a:p>
          <a:p>
            <a:r>
              <a:rPr lang="zh-CN" altLang="en-US" dirty="0"/>
              <a:t>线性变换公式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48A2A0-419A-B82D-9619-0E0BFEDC9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40" y="2852486"/>
            <a:ext cx="6329948" cy="27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51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925B6-7C08-D054-D864-58477754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五、线性变换基本步骤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8C996B-1407-33F3-AA70-EB431678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、求</a:t>
            </a:r>
            <a:r>
              <a:rPr lang="en-US" altLang="zh-CN" dirty="0"/>
              <a:t>Tu1=xxx,Tu2=xxx,Tu3=xxx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、写成</a:t>
            </a:r>
            <a:r>
              <a:rPr lang="en-US" altLang="zh-CN" dirty="0"/>
              <a:t>TU=VR</a:t>
            </a:r>
            <a:r>
              <a:rPr lang="zh-CN" altLang="en-US" dirty="0"/>
              <a:t>的格式，</a:t>
            </a:r>
            <a:r>
              <a:rPr lang="en-US" altLang="zh-CN" dirty="0"/>
              <a:t>R</a:t>
            </a:r>
            <a:r>
              <a:rPr lang="zh-CN" altLang="en-US" dirty="0"/>
              <a:t>就是所求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4047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FC5C-77C3-0F96-4787-A1B26754D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六、旋转，投影矩阵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376FF9-68DA-1948-B484-B30CBE7E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旋转矩阵的公式</a:t>
            </a:r>
            <a:endParaRPr lang="en-US" altLang="zh-CN" dirty="0"/>
          </a:p>
          <a:p>
            <a:r>
              <a:rPr lang="zh-CN" altLang="en-US" dirty="0"/>
              <a:t>二维旋转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投影矩阵的公式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5BA8CA-A2CC-EF2D-115C-D2B8DA0F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52" y="2978867"/>
            <a:ext cx="6781800" cy="74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D4340E-CCB3-2F06-F95E-AC969F011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740" y="4687722"/>
            <a:ext cx="1586639" cy="74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37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F990F-A5DB-07AB-AC71-A5CECC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11FB48-D089-80B6-09AB-177D707F9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491" y="1019133"/>
            <a:ext cx="6547390" cy="5049675"/>
          </a:xfrm>
        </p:spPr>
      </p:pic>
    </p:spTree>
    <p:extLst>
      <p:ext uri="{BB962C8B-B14F-4D97-AF65-F5344CB8AC3E}">
        <p14:creationId xmlns:p14="http://schemas.microsoft.com/office/powerpoint/2010/main" val="13270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31E84-18F2-6826-58A5-1E9A559D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AE5C6B-E917-D5CA-83A1-331BBEA43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858" y="844228"/>
            <a:ext cx="6096000" cy="5878019"/>
          </a:xfrm>
        </p:spPr>
      </p:pic>
    </p:spTree>
    <p:extLst>
      <p:ext uri="{BB962C8B-B14F-4D97-AF65-F5344CB8AC3E}">
        <p14:creationId xmlns:p14="http://schemas.microsoft.com/office/powerpoint/2010/main" val="1210827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31E84-18F2-6826-58A5-1E9A559D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5227FDC-03FB-6BB3-A798-3EDC85C87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221" y="1936955"/>
            <a:ext cx="9023557" cy="3200288"/>
          </a:xfrm>
        </p:spPr>
      </p:pic>
    </p:spTree>
    <p:extLst>
      <p:ext uri="{BB962C8B-B14F-4D97-AF65-F5344CB8AC3E}">
        <p14:creationId xmlns:p14="http://schemas.microsoft.com/office/powerpoint/2010/main" val="254982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31E84-18F2-6826-58A5-1E9A559D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69F856C-12B9-31E6-F681-53E325F59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427" y="2203387"/>
            <a:ext cx="10783146" cy="3164324"/>
          </a:xfrm>
        </p:spPr>
      </p:pic>
    </p:spTree>
    <p:extLst>
      <p:ext uri="{BB962C8B-B14F-4D97-AF65-F5344CB8AC3E}">
        <p14:creationId xmlns:p14="http://schemas.microsoft.com/office/powerpoint/2010/main" val="344548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640</Words>
  <Application>Microsoft Office PowerPoint</Application>
  <PresentationFormat>宽屏</PresentationFormat>
  <Paragraphs>95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等线</vt:lpstr>
      <vt:lpstr>等线 Light</vt:lpstr>
      <vt:lpstr>Arial</vt:lpstr>
      <vt:lpstr>Office 主题​​</vt:lpstr>
      <vt:lpstr>期中复习</vt:lpstr>
      <vt:lpstr>一、LU分解</vt:lpstr>
      <vt:lpstr>一、LU分解</vt:lpstr>
      <vt:lpstr>一、LU分解</vt:lpstr>
      <vt:lpstr>一、LU分解</vt:lpstr>
      <vt:lpstr>一、LU分解</vt:lpstr>
      <vt:lpstr>一、LU分解</vt:lpstr>
      <vt:lpstr>一、LU分解</vt:lpstr>
      <vt:lpstr>二、增广矩阵与初等变换</vt:lpstr>
      <vt:lpstr>二、增广矩阵与初等变换</vt:lpstr>
      <vt:lpstr>二、增广矩阵与初等变换</vt:lpstr>
      <vt:lpstr>二、增广矩阵与初等变换</vt:lpstr>
      <vt:lpstr>二、增广矩阵和初等变换</vt:lpstr>
      <vt:lpstr>二、增广矩阵和初等变换</vt:lpstr>
      <vt:lpstr>三、矩阵的秩和极大线性无关组</vt:lpstr>
      <vt:lpstr>三、矩阵的秩与极大线性无关组</vt:lpstr>
      <vt:lpstr>三、矩阵的秩和极大线性无关组</vt:lpstr>
      <vt:lpstr>三、矩阵的秩和极大线性无关组</vt:lpstr>
      <vt:lpstr>四、Ax=0和Ax=b的求解</vt:lpstr>
      <vt:lpstr>四、Ax=0和Ax=b求解</vt:lpstr>
      <vt:lpstr>四、Ax=0和Ax=b的求解</vt:lpstr>
      <vt:lpstr>五、线性变换</vt:lpstr>
      <vt:lpstr>五、线性变换基本步骤</vt:lpstr>
      <vt:lpstr>六、旋转，投影矩阵</vt:lpstr>
      <vt:lpstr>习题</vt:lpstr>
      <vt:lpstr>习题</vt:lpstr>
      <vt:lpstr>习题</vt:lpstr>
      <vt:lpstr>习题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 袁</dc:creator>
  <cp:lastModifiedBy>靖 袁</cp:lastModifiedBy>
  <cp:revision>3</cp:revision>
  <dcterms:created xsi:type="dcterms:W3CDTF">2024-04-12T08:27:28Z</dcterms:created>
  <dcterms:modified xsi:type="dcterms:W3CDTF">2024-04-12T10:39:10Z</dcterms:modified>
</cp:coreProperties>
</file>