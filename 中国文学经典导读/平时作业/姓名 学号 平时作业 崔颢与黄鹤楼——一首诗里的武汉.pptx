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1993216be9479f" /><Relationship Type="http://schemas.openxmlformats.org/officeDocument/2006/relationships/extended-properties" Target="/docProps/app.xml" Id="R08095e1ed4924044" /><Relationship Type="http://schemas.openxmlformats.org/officeDocument/2006/relationships/officeDocument" Target="/ppt/presentation.xml" Id="R1e616fe310004e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2aed7868d4ec4"/>
  </p:sldMasterIdLst>
  <p:notesMasterIdLst>
    <p:notesMasterId xmlns:r="http://schemas.openxmlformats.org/officeDocument/2006/relationships" r:id="Rc6a620beb3d041eb"/>
  </p:notesMasterIdLst>
  <p:sldIdLst>
    <p:sldId xmlns:r="http://schemas.openxmlformats.org/officeDocument/2006/relationships" id="256" r:id="Rdf041b0387674a5c"/>
    <p:sldId xmlns:r="http://schemas.openxmlformats.org/officeDocument/2006/relationships" id="257" r:id="Rc0ed9c382a3a4780"/>
    <p:sldId xmlns:r="http://schemas.openxmlformats.org/officeDocument/2006/relationships" id="258" r:id="R8af1407f75ec4a48"/>
    <p:sldId xmlns:r="http://schemas.openxmlformats.org/officeDocument/2006/relationships" id="259" r:id="R4cbccb9bae214363"/>
    <p:sldId xmlns:r="http://schemas.openxmlformats.org/officeDocument/2006/relationships" id="260" r:id="Rfe56b0f774c64303"/>
    <p:sldId xmlns:r="http://schemas.openxmlformats.org/officeDocument/2006/relationships" id="261" r:id="R57199be9ecda4126"/>
    <p:sldId xmlns:r="http://schemas.openxmlformats.org/officeDocument/2006/relationships" id="262" r:id="R2c30b97b3a8044d5"/>
    <p:sldId xmlns:r="http://schemas.openxmlformats.org/officeDocument/2006/relationships" id="263" r:id="Rf3f5fbc6f32c4a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2aed7868d4ec4" /><Relationship Type="http://schemas.openxmlformats.org/officeDocument/2006/relationships/theme" Target="/ppt/theme/theme1.xml" Id="R52840d1e3e654727" /><Relationship Type="http://schemas.openxmlformats.org/officeDocument/2006/relationships/notesMaster" Target="/ppt/notesMasters/notesMaster1.xml" Id="Rc6a620beb3d041eb" /><Relationship Type="http://schemas.openxmlformats.org/officeDocument/2006/relationships/presProps" Target="/ppt/presProps.xml" Id="R85dd29ed8c2a443d" /><Relationship Type="http://schemas.openxmlformats.org/officeDocument/2006/relationships/viewProps" Target="/ppt/viewProps.xml" Id="Red2b026408c84862" /><Relationship Type="http://schemas.openxmlformats.org/officeDocument/2006/relationships/tableStyles" Target="/ppt/tableStyles.xml" Id="R90525a34830140f8" /><Relationship Type="http://schemas.openxmlformats.org/officeDocument/2006/relationships/slide" Target="/ppt/slides/slide1.xml" Id="Rdf041b0387674a5c" /><Relationship Type="http://schemas.openxmlformats.org/officeDocument/2006/relationships/slide" Target="/ppt/slides/slide2.xml" Id="Rc0ed9c382a3a4780" /><Relationship Type="http://schemas.openxmlformats.org/officeDocument/2006/relationships/slide" Target="/ppt/slides/slide3.xml" Id="R8af1407f75ec4a48" /><Relationship Type="http://schemas.openxmlformats.org/officeDocument/2006/relationships/slide" Target="/ppt/slides/slide4.xml" Id="R4cbccb9bae214363" /><Relationship Type="http://schemas.openxmlformats.org/officeDocument/2006/relationships/slide" Target="/ppt/slides/slide5.xml" Id="Rfe56b0f774c64303" /><Relationship Type="http://schemas.openxmlformats.org/officeDocument/2006/relationships/slide" Target="/ppt/slides/slide6.xml" Id="R57199be9ecda4126" /><Relationship Type="http://schemas.openxmlformats.org/officeDocument/2006/relationships/slide" Target="/ppt/slides/slide7.xml" Id="R2c30b97b3a8044d5" /><Relationship Type="http://schemas.openxmlformats.org/officeDocument/2006/relationships/slide" Target="/ppt/slides/slide8.xml" Id="Rf3f5fbc6f32c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44e6735cec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1e1ba00f94cf7" /><Relationship Type="http://schemas.openxmlformats.org/officeDocument/2006/relationships/notesMaster" Target="/ppt/notesMasters/notesMaster1.xml" Id="R916018009b164c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04f260e0b44a07" /><Relationship Type="http://schemas.openxmlformats.org/officeDocument/2006/relationships/notesMaster" Target="/ppt/notesMasters/notesMaster1.xml" Id="Rb979aaa1bbb64c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e71b240634bd2" /><Relationship Type="http://schemas.openxmlformats.org/officeDocument/2006/relationships/notesMaster" Target="/ppt/notesMasters/notesMaster1.xml" Id="Re80e1e1cce6248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7a671fd10f48f2" /><Relationship Type="http://schemas.openxmlformats.org/officeDocument/2006/relationships/notesMaster" Target="/ppt/notesMasters/notesMaster1.xml" Id="R472cda035c1e4c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265b3d773c4eb6" /><Relationship Type="http://schemas.openxmlformats.org/officeDocument/2006/relationships/notesMaster" Target="/ppt/notesMasters/notesMaster1.xml" Id="R08e6494a1260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d4f06e45324fdc" /><Relationship Type="http://schemas.openxmlformats.org/officeDocument/2006/relationships/notesMaster" Target="/ppt/notesMasters/notesMaster1.xml" Id="R8bdeb1e5722742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46e05a87b54239" /><Relationship Type="http://schemas.openxmlformats.org/officeDocument/2006/relationships/notesMaster" Target="/ppt/notesMasters/notesMaster1.xml" Id="Rc8967370b28544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61b771803c456e" /><Relationship Type="http://schemas.openxmlformats.org/officeDocument/2006/relationships/notesMaster" Target="/ppt/notesMasters/notesMaster1.xml" Id="R0c9350e9587a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80e76459a40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0aec6b4c6274105" /><Relationship Type="http://schemas.openxmlformats.org/officeDocument/2006/relationships/slideLayout" Target="/ppt/slideLayouts/slideLayout2.xml" Id="R8e4d50cfe1224a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4d50cfe1224a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f6dda56dcc47ee" /><Relationship Type="http://schemas.openxmlformats.org/officeDocument/2006/relationships/notesSlide" Target="/ppt/notesSlides/notesSlide1.xml" Id="Rbba9159aae1940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36c114aa70483f" /><Relationship Type="http://schemas.openxmlformats.org/officeDocument/2006/relationships/notesSlide" Target="/ppt/notesSlides/notesSlide2.xml" Id="Ra172d55d115f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b88b06bba454f" /><Relationship Type="http://schemas.openxmlformats.org/officeDocument/2006/relationships/notesSlide" Target="/ppt/notesSlides/notesSlide3.xml" Id="R48d555a7f98840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ba6a75cc74752" /><Relationship Type="http://schemas.openxmlformats.org/officeDocument/2006/relationships/notesSlide" Target="/ppt/notesSlides/notesSlide4.xml" Id="Rb1f3e45ec6e2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ad75c73304c36" /><Relationship Type="http://schemas.openxmlformats.org/officeDocument/2006/relationships/notesSlide" Target="/ppt/notesSlides/notesSlide5.xml" Id="Ra3ae130efce74d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f158b288d4481a" /><Relationship Type="http://schemas.openxmlformats.org/officeDocument/2006/relationships/notesSlide" Target="/ppt/notesSlides/notesSlide6.xml" Id="R4ee238e2e26d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76eefa8694b5b" /><Relationship Type="http://schemas.openxmlformats.org/officeDocument/2006/relationships/notesSlide" Target="/ppt/notesSlides/notesSlide7.xml" Id="R0bcde52d399444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4042dcb961415a" /><Relationship Type="http://schemas.openxmlformats.org/officeDocument/2006/relationships/notesSlide" Target="/ppt/notesSlides/notesSlide8.xml" Id="Rda41ea3497f04f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173FF-05FF-4BC0-961B-322E748C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6E692-1F4E-465B-923D-5787AF8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E89ED-B0E5-4C73-9C84-E3BAFE7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4DCA7-A283-4457-9D25-BA3F6E1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5250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平时作业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6417E-EFD5-45A4-84E9-5C00D55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崔颢与黄鹤楼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78CA-8CFD-4C62-883D-48D95B6C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一首诗里的武汉，一座城中的经典记忆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833AE-D1C7-4620-92B7-A887963B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E5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08FDB-D6D9-49CD-9C24-1E27DF9B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28750"/>
            <a:ext cx="2705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昔人已乘黄鹤去，此地空余黄鹤楼</a:t>
            </a:r>
          </a:p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黄鹤一去不复返，白云千载空悠悠</a:t>
            </a:r>
          </a:p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晴川历历汉阳树，芳草萋萋鹦鹉洲</a:t>
            </a:r>
          </a:p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日暮乡关何处是？烟波江上使人愁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138D6-D239-4FF1-8339-7ED3AE5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F6BF4-0355-4FA1-9D8B-14C10A3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关键词：唐代诗人 / 武汉文化地标 / 黄鹤楼诗意 / 文学经典与城市记忆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35F12-DA7E-4B2E-9614-4859B8BF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中国文学经典导读</a:t>
            </a:r>
          </a:p>
        </p:txBody>
      </p:sp>
    </p:spTree>
    <p:extLst>
      <p:ext uri="{BB962C8B-B14F-4D97-AF65-F5344CB8AC3E}">
        <p14:creationId xmlns:p14="http://schemas.microsoft.com/office/powerpoint/2010/main" val="19072911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3E215-48C5-4A81-A04B-FBA5842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B7ACC-B1D5-469F-BAB9-15E7AC2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7EFD8-35BA-4AC2-845A-680E8BC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445FA-9458-460F-9D90-F7C6748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选题缘由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10E38-6AD6-48F7-8365-DFB4B1E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3A1E7-4D90-480D-B3DE-88BB044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为什么选崔颢？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EC013-C8C9-4E1E-A5DE-B6DDDBA8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他不是武汉籍，却用一首诗深刻影响了后人理解武汉的方式。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07B78-A59B-4EF1-AAF9-D1786844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《黄鹤楼》是最能代表武汉文学意象的唐诗之一。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2410C-87F3-4981-A3D4-B8E3CE84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作品完整覆盖课程要求中的“作家概述 + 纪念活动 + 个人理解”。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510F4-E82E-437A-A066-2E85787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崔颢让黄鹤楼从地理名胜变成了文化名胜。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CC81E-D208-40BB-AFA4-4627B96E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53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E737B-7590-4FF4-A48E-2EF56585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860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4D045-B214-496F-82DE-1A193E60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051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FDA9C-F6F9-4CB8-977B-85298DCB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3009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与其说武汉因为黄鹤楼而有名，不如说黄鹤楼因为进入诗歌，才真正拥有了跨越千年的文化生命。</a:t>
            </a:r>
          </a:p>
        </p:txBody>
      </p:sp>
    </p:spTree>
    <p:extLst>
      <p:ext uri="{BB962C8B-B14F-4D97-AF65-F5344CB8AC3E}">
        <p14:creationId xmlns:p14="http://schemas.microsoft.com/office/powerpoint/2010/main" val="561601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073C53-84B1-46FA-B382-6C25DE26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2A36F-EA62-4AA2-828C-364E5502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5C839-0A4A-4949-8BD5-9E6E2725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684B9-82CD-424B-BBBE-A6F502C6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作家概述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14261-E8C8-4731-964B-3F22A53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1DF66-823A-4E08-BECE-F9C96F1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崔颢其人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63B0A-A237-4F33-AAC2-7B0DC3D2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盛唐诗人，最著名的代表作就是《黄鹤楼》。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8D7FD-3A76-46F4-9839-86954EF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时代：唐代盛唐时期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0F086-CDBF-4CF4-AF33-C3C471D2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风格：擅长写景，也善于把空间感与情绪融合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146D9-3BF1-44A5-A415-81D363D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代表意义：以一首《黄鹤楼》奠定文学史地位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543E7-66DF-4F74-B27D-BFB40C6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与武汉关系：通过黄鹤楼书写，进入江城文化核心记忆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C6589-D464-4A30-AF07-FA452648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D8D1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010EB-BC3A-413D-B5FF-50C42D5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55"/>
          </a:solidFill>
          <a:ln xmlns:a="http://schemas.openxmlformats.org/drawingml/2006/main" w="0">
            <a:solidFill>
              <a:srgbClr val="1E5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D4148-B031-4E5A-9021-82C31AA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盛唐诗歌成熟期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45DA9-83A5-4420-BDFB-D90F4B57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6499A-63E7-4B26-9E6F-3FF4D0E0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673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登临黄鹤楼写下名篇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37C41-446F-4623-8C16-35A0974C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55"/>
          </a:solidFill>
          <a:ln xmlns:a="http://schemas.openxmlformats.org/drawingml/2006/main" w="0">
            <a:solidFill>
              <a:srgbClr val="1E5A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388AE-4587-4458-9668-E9FB526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诗句进入武汉城市想象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F430B-A269-4778-9F84-F377715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ECBF3-1020-48BB-A522-5912E77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至今仍被持续传诵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60542-521D-4552-B029-9D38286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D4"/>
          </a:solidFill>
          <a:ln xmlns:a="http://schemas.openxmlformats.org/drawingml/2006/main" w="11430">
            <a:solidFill>
              <a:srgbClr val="A653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5545F-985A-492C-A44B-920F9CF0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05C81-C6E3-47DF-BCA8-FA511D31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F37DE-72F2-429C-96A1-1628B54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3009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崔颢不是“因为生于武汉”而相关，而是“因为写出武汉最经典的诗意表达”而相关。</a:t>
            </a:r>
          </a:p>
        </p:txBody>
      </p:sp>
    </p:spTree>
    <p:extLst>
      <p:ext uri="{BB962C8B-B14F-4D97-AF65-F5344CB8AC3E}">
        <p14:creationId xmlns:p14="http://schemas.microsoft.com/office/powerpoint/2010/main" val="10459227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16D39-0A56-42C1-B1BE-C702F91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A84F4-B567-4A36-AFED-DBA1D07E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BA3AF-DB5A-4666-881E-763849DA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092A5-F65A-44C3-883B-6E0475E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文本分析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74CE1-1FD4-4B49-92E8-F9FEC106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19D07-6A34-4886-B053-AF951CDC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《黄鹤楼》为什么动人？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F76A4-2224-4F9B-A59C-DB1C45B3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它把传说、眼前景色与个人乡愁写成了一个完整的精神空间。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A59F0-7249-4950-BC73-D8059DAD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5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25B15-5B81-43C8-81A3-93FF8BC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3352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昔人已乘黄鹤去，此地空余黄鹤楼</a:t>
            </a:r>
          </a:p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黄鹤一去不复返，白云千载空悠悠</a:t>
            </a:r>
          </a:p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晴川历历汉阳树，芳草萋萋鹦鹉洲</a:t>
            </a:r>
          </a:p>
          <a:p xmlns:a="http://schemas.openxmlformats.org/drawingml/2006/main">
            <a:pPr algn="ctr">
              <a:defRPr sz="1650" b="0">
                <a:solidFill>
                  <a:srgbClr val="1E5A55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1E5A55"/>
                </a:solidFill>
                <a:latin typeface="FangSong"/>
                <a:ea typeface="FangSong"/>
                <a:cs typeface="FangSong"/>
              </a:rPr>
              <a:t>日暮乡关何处是？烟波江上使人愁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1C95-3097-4E80-9D75-7EFAFFAB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前两联：从黄鹤传说写起，历史感与空茫感同时出现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3ACAC-DC88-4807-953A-6029DE2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颈联：汉阳树与鹦鹉洲展开开阔的武汉江景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5022A-F2F1-4E3E-8150-45AD626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尾联：景尽而情出，落到最普遍也最深沉的“乡愁”</a:t>
            </a:r>
          </a:p>
        </p:txBody>
      </p:sp>
    </p:spTree>
    <p:extLst>
      <p:ext uri="{BB962C8B-B14F-4D97-AF65-F5344CB8AC3E}">
        <p14:creationId xmlns:p14="http://schemas.microsoft.com/office/powerpoint/2010/main" val="7351018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6CB8B-267B-4526-9CDB-06565E0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BAC4D-A062-44DE-9D92-D249D479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733E4-FEFD-4FBF-B0AC-6550DBA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AC388-0A63-420E-88B0-BF8BE41B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经典意义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D952C-D69F-4D66-948F-28F0B68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0B7C-CA24-48AE-B06E-775ADA1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这首诗为什么会成为经典？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9891D-B310-4CFB-BC87-5B19E2A1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不是只有名句流传，更重要的是它塑造了后人看待黄鹤楼、看待武汉的方式。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50DC2-E313-4A54-B040-DC700C9B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5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DBFA8-0584-4242-BC02-F299EAFD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860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55"/>
          </a:solidFill>
          <a:ln xmlns:a="http://schemas.openxmlformats.org/drawingml/2006/main" w="0">
            <a:solidFill>
              <a:srgbClr val="1E5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24B70-2F1E-4032-BEC6-5750AF7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051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21304-7ADC-4C91-AEAA-CBD2394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67075"/>
            <a:ext cx="2438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神话与现实自然连接，让黄鹤楼拥有文化纵深。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C55A6-2265-431C-9F8A-FD38070A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53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BB787-AF89-4F3E-B8E5-7350FD1C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860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90FDC-D03B-40E4-8824-48DCF6F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051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00CD4-DF1E-4B8C-A99C-997173B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67075"/>
            <a:ext cx="2438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意象层次鲜明，黄鹤、白云、汉阳树、鹦鹉洲共同构成强画面感。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2EF44-3AEF-4AD3-8DA5-30CE714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8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08E6E-4F56-409E-B4F4-158F1BC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860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93C"/>
          </a:solidFill>
          <a:ln xmlns:a="http://schemas.openxmlformats.org/drawingml/2006/main" w="0">
            <a:solidFill>
              <a:srgbClr val="B789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616F3-64AF-4418-A0A8-0B2B82F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051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40BB6-EAC7-4DFB-AAB6-09B4D6C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67075"/>
            <a:ext cx="2438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最终落到“乡愁”，让作品跨越时代、持续被共鸣。</a:t>
            </a:r>
          </a:p>
        </p:txBody>
      </p:sp>
    </p:spTree>
    <p:extLst>
      <p:ext uri="{BB962C8B-B14F-4D97-AF65-F5344CB8AC3E}">
        <p14:creationId xmlns:p14="http://schemas.microsoft.com/office/powerpoint/2010/main" val="21217192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4E64C-0D83-43F1-BE24-14B365C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0F227-12C7-4E4C-AE6C-BE9329B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60AA9-0747-4541-AE43-0EE5DFA7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65E6D-54EA-4009-B58A-BE7E24F4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纪念活动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5D81E-C4D5-41DA-AC91-DC01D32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C2854-D8D2-44E3-8AD8-20EECE7F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武汉怎样纪念崔颢与《黄鹤楼》？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5A958-79C2-4FDE-958C-14EF5AD3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课程要求中的第二部分，可以从“城市文化空间”来理解。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A590F-BBD6-458E-B9E8-D0BCB01B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黄鹤楼景区长期以诗词讲解、碑刻展陈、文化展示强化《黄鹤楼》的地位。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011E8-4389-4617-9083-7F71E416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3275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晴川阁因“晴川历历汉阳树”而与崔颢诗句形成稳定的城市联想。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D93B4-6C06-4E2A-A8A4-F73C0AB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诗词邀请赛、背诗入园、夜游诗词互动，让经典进入当代公共文化生活。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33F5D-7D88-476A-8141-C25C795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D4"/>
          </a:solidFill>
          <a:ln xmlns:a="http://schemas.openxmlformats.org/drawingml/2006/main" w="11430">
            <a:solidFill>
              <a:srgbClr val="A653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EA235-FC95-4EA7-8D06-994E79F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336"/>
          </a:solidFill>
          <a:ln xmlns:a="http://schemas.openxmlformats.org/drawingml/2006/main" w="0">
            <a:solidFill>
              <a:srgbClr val="A653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7C65A-8928-4EA8-8F5C-11EEDC7A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可以强调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411AB-B40D-4468-A40E-76797405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1470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崔颢的纪念并不只是一座馆、一块碑，而是整座黄鹤楼文化空间对这首诗的持续引用与再生产。</a:t>
            </a:r>
          </a:p>
        </p:txBody>
      </p:sp>
    </p:spTree>
    <p:extLst>
      <p:ext uri="{BB962C8B-B14F-4D97-AF65-F5344CB8AC3E}">
        <p14:creationId xmlns:p14="http://schemas.microsoft.com/office/powerpoint/2010/main" val="18229963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32CFB-A0DA-485C-AF08-F89605E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2C40C-F961-4119-BBC3-F162278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1ACA4-1A1D-4C85-8450-54BC56C8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8ABBB-AF61-4F50-B7D7-60E4A0B7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个人理解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8432D-B3EA-4A65-9F4A-FAEE019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71F05-3376-4FC2-8909-B62B926D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我对“文学经典与中国文化”的理解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2184E-D5F2-4886-85EF-0200C02D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崔颢这首诗最打动我的，是它让城市空间获得了精神深度。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24378-1307-4935-9488-43CDB39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文学经典能够塑造地方意象，让“地点”变成“文化名胜”。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C591A-4EA3-402B-91C7-676F2594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中国古典诗歌常把情感寄托在山川楼阁之中，因此更容易被长期记忆。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9D9C5-931B-4839-BF13-F961EED7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• 经典并不只属于过去，它可以通过展陈、旅游、活动和教育继续活在当下。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4074D-6ED5-4D61-9DF7-CD0A07CF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11430">
            <a:solidFill>
              <a:srgbClr val="1E5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21823-BA92-491B-8F91-3FCC107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813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55"/>
          </a:solidFill>
          <a:ln xmlns:a="http://schemas.openxmlformats.org/drawingml/2006/main" w="0">
            <a:solidFill>
              <a:srgbClr val="1E5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F4ED0-2462-4AF7-A43B-2CB2EE03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006D9-CCB3-4BE1-B8FF-42A269B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62325"/>
            <a:ext cx="2914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黄鹤楼因为进入诗歌而成为经典地标，崔颢也因为写下黄鹤楼而成为与武汉紧密相连的古代作家。</a:t>
            </a:r>
          </a:p>
        </p:txBody>
      </p:sp>
    </p:spTree>
    <p:extLst>
      <p:ext uri="{BB962C8B-B14F-4D97-AF65-F5344CB8AC3E}">
        <p14:creationId xmlns:p14="http://schemas.microsoft.com/office/powerpoint/2010/main" val="16916863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2010B-CAFC-47DB-8E9B-CADA4F5B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78AA2-F966-464F-B315-BFF34FA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1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4C20B-1017-4E01-A3F2-6725F16A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4"/>
          </a:solidFill>
          <a:ln xmlns:a="http://schemas.openxmlformats.org/drawingml/2006/main" w="0">
            <a:solidFill>
              <a:srgbClr val="D9E9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71559-15BC-4D89-8CB9-052F6E16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06A9F-7DF3-4C49-9864-CB32662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E4EE0-9588-41A4-BD91-7E24865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rPr>
              <a:t>一首《黄鹤楼》，让崔颢留在了武汉，也让武汉留在了中国文学史里。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BA7A2-29FB-465F-9911-E03C5A8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666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5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E26A3-0B83-40B2-A54A-415D8425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590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5A55"/>
                </a:solidFill>
                <a:latin typeface="Microsoft YaHei"/>
                <a:ea typeface="Microsoft YaHei"/>
                <a:cs typeface="Microsoft YaHei"/>
              </a:rPr>
              <a:t>可以从“文学如何塑造城市记忆”这个角度结束发言。</a:t>
            </a:r>
          </a:p>
        </p:txBody>
      </p:sp>
    </p:spTree>
    <p:extLst>
      <p:ext uri="{BB962C8B-B14F-4D97-AF65-F5344CB8AC3E}">
        <p14:creationId xmlns:p14="http://schemas.microsoft.com/office/powerpoint/2010/main" val="693051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2026-05-23T05:55:15.5120000Z</dcterms:created>
  <dcterms:modified xsi:type="dcterms:W3CDTF">2026-05-23T05:55:15.5120000Z</dcterms:modified>
</coreProperties>
</file>