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4" r:id="rId3"/>
    <p:sldMasterId id="2147483657" r:id="rId4"/>
    <p:sldMasterId id="2147483660" r:id="rId5"/>
  </p:sldMasterIdLst>
  <p:notesMasterIdLst>
    <p:notesMasterId r:id="rId7"/>
  </p:notesMasterIdLst>
  <p:handoutMasterIdLst>
    <p:handoutMasterId r:id="rId26"/>
  </p:handoutMasterIdLst>
  <p:sldIdLst>
    <p:sldId id="426" r:id="rId6"/>
    <p:sldId id="446" r:id="rId8"/>
    <p:sldId id="453" r:id="rId9"/>
    <p:sldId id="447" r:id="rId10"/>
    <p:sldId id="427" r:id="rId11"/>
    <p:sldId id="441" r:id="rId12"/>
    <p:sldId id="434" r:id="rId13"/>
    <p:sldId id="443" r:id="rId14"/>
    <p:sldId id="455" r:id="rId15"/>
    <p:sldId id="456" r:id="rId16"/>
    <p:sldId id="458" r:id="rId17"/>
    <p:sldId id="460" r:id="rId18"/>
    <p:sldId id="461" r:id="rId19"/>
    <p:sldId id="462" r:id="rId20"/>
    <p:sldId id="452" r:id="rId21"/>
    <p:sldId id="445" r:id="rId22"/>
    <p:sldId id="457" r:id="rId23"/>
    <p:sldId id="433" r:id="rId24"/>
    <p:sldId id="454" r:id="rId2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288" userDrawn="1">
          <p15:clr>
            <a:srgbClr val="F26B43"/>
          </p15:clr>
        </p15:guide>
        <p15:guide id="3" orient="horz" pos="4056" userDrawn="1">
          <p15:clr>
            <a:srgbClr val="F26B43"/>
          </p15:clr>
        </p15:guide>
        <p15:guide id="4" orient="horz" pos="1488" userDrawn="1">
          <p15:clr>
            <a:srgbClr val="A4A3A4"/>
          </p15:clr>
        </p15:guide>
        <p15:guide id="5" pos="3807" userDrawn="1">
          <p15:clr>
            <a:srgbClr val="A4A3A4"/>
          </p15:clr>
        </p15:guide>
        <p15:guide id="6" pos="7416" userDrawn="1">
          <p15:clr>
            <a:srgbClr val="F26B43"/>
          </p15:clr>
        </p15:guide>
        <p15:guide id="7" orient="horz" pos="312" userDrawn="1">
          <p15:clr>
            <a:srgbClr val="F26B43"/>
          </p15:clr>
        </p15:guide>
        <p15:guide id="8" orient="horz" pos="2160" userDrawn="1">
          <p15:clr>
            <a:srgbClr val="A4A3A4"/>
          </p15:clr>
        </p15:guide>
        <p15:guide id="9" orient="horz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8438"/>
    <a:srgbClr val="E97F24"/>
    <a:srgbClr val="A1CAC9"/>
    <a:srgbClr val="A1C1C9"/>
    <a:srgbClr val="8C5896"/>
    <a:srgbClr val="7C6560"/>
    <a:srgbClr val="29282D"/>
    <a:srgbClr val="E288B6"/>
    <a:srgbClr val="D75078"/>
    <a:srgbClr val="B38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08" y="336"/>
      </p:cViewPr>
      <p:guideLst>
        <p:guide orient="horz" pos="3672"/>
        <p:guide pos="288"/>
        <p:guide orient="horz" pos="4056"/>
        <p:guide orient="horz" pos="1488"/>
        <p:guide pos="3807"/>
        <p:guide pos="7416"/>
        <p:guide orient="horz" pos="312"/>
        <p:guide orient="horz" pos="2160"/>
        <p:guide orient="horz" pos="23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32" y="12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99B01FE-A679-4D18-8263-6DA0D0EA8DFC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004FE7-BA7C-4FF4-9756-C6A1F2BCA37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A438F5E-330E-477C-8E16-C9BFA474A3CC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B83F1C3-4FA3-4491-97F4-43CA9C8BDFDF}" type="slidenum">
              <a:rPr lang="en-US" altLang="zh-CN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B83F1C3-4FA3-4491-97F4-43CA9C8BDFDF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17136"/>
            <a:ext cx="6581554" cy="1371600"/>
          </a:xfrm>
        </p:spPr>
        <p:txBody>
          <a:bodyPr rtlCol="0">
            <a:normAutofit/>
          </a:bodyPr>
          <a:lstStyle>
            <a:lvl1pPr>
              <a:lnSpc>
                <a:spcPts val="4600"/>
              </a:lnSpc>
              <a:defRPr sz="3600" cap="all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cap="all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3429000" y="2240280"/>
            <a:ext cx="4645152" cy="419709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zh-CN" altLang="en-US" noProof="0"/>
              <a:t>单击此处编辑文本</a:t>
            </a:r>
            <a:endParaRPr lang="zh-CN" altLang="en-US" noProof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630936" y="4498848"/>
            <a:ext cx="2121408" cy="621792"/>
          </a:xfrm>
          <a:prstGeom prst="rect">
            <a:avLst/>
          </a:prstGeom>
        </p:spPr>
        <p:txBody>
          <a:bodyPr lIns="0" rtlCol="0"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200" b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ts val="1800"/>
              </a:lnSpc>
              <a:spcBef>
                <a:spcPts val="0"/>
              </a:spcBef>
              <a:buNone/>
              <a:defRPr sz="1200" b="1"/>
            </a:lvl2pPr>
            <a:lvl3pPr marL="914400" indent="0">
              <a:lnSpc>
                <a:spcPts val="1800"/>
              </a:lnSpc>
              <a:spcBef>
                <a:spcPts val="0"/>
              </a:spcBef>
              <a:buNone/>
              <a:defRPr sz="1200" b="1"/>
            </a:lvl3pPr>
            <a:lvl4pPr marL="1371600" indent="0">
              <a:lnSpc>
                <a:spcPts val="1800"/>
              </a:lnSpc>
              <a:spcBef>
                <a:spcPts val="0"/>
              </a:spcBef>
              <a:buNone/>
              <a:defRPr sz="1200" b="1"/>
            </a:lvl4pPr>
            <a:lvl5pPr marL="1828800" indent="0">
              <a:lnSpc>
                <a:spcPts val="1800"/>
              </a:lnSpc>
              <a:spcBef>
                <a:spcPts val="0"/>
              </a:spcBef>
              <a:buNone/>
              <a:defRPr sz="1200" b="1"/>
            </a:lvl5pPr>
          </a:lstStyle>
          <a:p>
            <a:pPr lvl="0" rtl="0"/>
            <a:r>
              <a:rPr lang="zh-CN" altLang="en-US" noProof="0"/>
              <a:t>单击添加文本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调色板：均衡之道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>
            <a:lvl1pPr>
              <a:lnSpc>
                <a:spcPts val="4000"/>
              </a:lnSpc>
              <a:defRPr sz="3200" cap="all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  <a:endParaRPr lang="zh-CN" altLang="en-US" noProof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1" name="图片占位符 8"/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24" name="图片占位符 8"/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沉浸式调色板：平衡之道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/>
          <p:nvPr userDrawn="1"/>
        </p:nvSpPr>
        <p:spPr>
          <a:xfrm>
            <a:off x="0" y="2400300"/>
            <a:ext cx="4267200" cy="4457700"/>
          </a:xfrm>
          <a:prstGeom prst="rect">
            <a:avLst/>
          </a:prstGeom>
          <a:solidFill>
            <a:srgbClr val="D293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1399032"/>
            <a:ext cx="3619501" cy="877824"/>
          </a:xfrm>
        </p:spPr>
        <p:txBody>
          <a:bodyPr rtlCol="0"/>
          <a:lstStyle>
            <a:lvl1pPr>
              <a:defRPr cap="all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zh-CN" altLang="en-US" noProof="0"/>
              <a:t>单击此处编辑文本</a:t>
            </a:r>
            <a:endParaRPr lang="zh-CN" altLang="en-US" noProof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5"/>
          </p:nvPr>
        </p:nvSpPr>
        <p:spPr>
          <a:xfrm>
            <a:off x="4254500" y="0"/>
            <a:ext cx="7480300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8" name="长方形 7"/>
          <p:cNvSpPr/>
          <p:nvPr userDrawn="1"/>
        </p:nvSpPr>
        <p:spPr>
          <a:xfrm>
            <a:off x="11734800" y="4445000"/>
            <a:ext cx="457200" cy="2413000"/>
          </a:xfrm>
          <a:prstGeom prst="rect">
            <a:avLst/>
          </a:prstGeom>
          <a:solidFill>
            <a:srgbClr val="884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长方形 8"/>
          <p:cNvSpPr/>
          <p:nvPr userDrawn="1"/>
        </p:nvSpPr>
        <p:spPr>
          <a:xfrm>
            <a:off x="11734800" y="0"/>
            <a:ext cx="457200" cy="4462272"/>
          </a:xfrm>
          <a:prstGeom prst="rect">
            <a:avLst/>
          </a:prstGeom>
          <a:solidFill>
            <a:srgbClr val="86A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en-US" sz="1800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467601" cy="1572768"/>
          </a:xfrm>
        </p:spPr>
        <p:txBody>
          <a:bodyPr rtlCol="0"/>
          <a:lstStyle>
            <a:lvl1pPr>
              <a:lnSpc>
                <a:spcPts val="4600"/>
              </a:lnSpc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540000"/>
            <a:ext cx="6591300" cy="3403600"/>
          </a:xfrm>
          <a:prstGeom prst="rect">
            <a:avLst/>
          </a:prstGeom>
        </p:spPr>
        <p:txBody>
          <a:bodyPr rtlCol="0"/>
          <a:lstStyle>
            <a:lvl1pPr marL="342900" indent="-342900">
              <a:lnSpc>
                <a:spcPts val="3000"/>
              </a:lnSpc>
              <a:spcBef>
                <a:spcPts val="0"/>
              </a:spcBef>
              <a:buFont typeface="+mj-lt"/>
              <a:buAutoNum type="arabicPeriod"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zh-CN" altLang="en-US" noProof="0"/>
              <a:t>单击此处编辑文本</a:t>
            </a:r>
            <a:endParaRPr lang="zh-CN" altLang="en-US" noProof="0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8115300" y="1384300"/>
            <a:ext cx="3410712" cy="4572000"/>
          </a:xfrm>
          <a:prstGeom prst="roundRect">
            <a:avLst>
              <a:gd name="adj" fmla="val 2543"/>
            </a:avLst>
          </a:prstGeom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调色板：源泉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>
            <a:lvl1pPr>
              <a:lnSpc>
                <a:spcPts val="4000"/>
              </a:lnSpc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  <a:endParaRPr lang="zh-CN" altLang="en-US" noProof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1" name="图片占位符 8"/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4" name="图片占位符 8"/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沉浸式调色板：源泉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/>
          <p:nvPr userDrawn="1"/>
        </p:nvSpPr>
        <p:spPr>
          <a:xfrm>
            <a:off x="0" y="0"/>
            <a:ext cx="244548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长方形 8"/>
          <p:cNvSpPr/>
          <p:nvPr userDrawn="1"/>
        </p:nvSpPr>
        <p:spPr>
          <a:xfrm rot="5400000">
            <a:off x="10740656" y="5406656"/>
            <a:ext cx="2445488" cy="457200"/>
          </a:xfrm>
          <a:prstGeom prst="rect">
            <a:avLst/>
          </a:prstGeom>
          <a:solidFill>
            <a:srgbClr val="8A58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/>
          <p:cNvSpPr/>
          <p:nvPr userDrawn="1"/>
        </p:nvSpPr>
        <p:spPr>
          <a:xfrm>
            <a:off x="7982712" y="495300"/>
            <a:ext cx="3753612" cy="594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长方形 11"/>
          <p:cNvSpPr/>
          <p:nvPr userDrawn="1"/>
        </p:nvSpPr>
        <p:spPr>
          <a:xfrm>
            <a:off x="4251158" y="495300"/>
            <a:ext cx="3787056" cy="594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79776"/>
            <a:ext cx="3465576" cy="325526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zh-CN" altLang="en-US" noProof="0"/>
              <a:t>单击此处编辑文本</a:t>
            </a:r>
            <a:endParaRPr lang="zh-CN" altLang="en-US" noProof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5"/>
          </p:nvPr>
        </p:nvSpPr>
        <p:spPr>
          <a:xfrm>
            <a:off x="4709160" y="960120"/>
            <a:ext cx="6574536" cy="507492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3" name="长方形 12"/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4" name="直接连接符​​(S) 13"/>
          <p:cNvCxnSpPr/>
          <p:nvPr userDrawn="1"/>
        </p:nvCxnSpPr>
        <p:spPr>
          <a:xfrm>
            <a:off x="228600" y="2415910"/>
            <a:ext cx="4022558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 rtlCol="0"/>
          <a:lstStyle>
            <a:lvl1pPr>
              <a:lnSpc>
                <a:spcPts val="4320"/>
              </a:lnSpc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调色板：节目的明星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t" anchorCtr="0">
            <a:normAutofit/>
          </a:bodyPr>
          <a:lstStyle>
            <a:lvl1pPr>
              <a:lnSpc>
                <a:spcPts val="4000"/>
              </a:lnSpc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  <a:endParaRPr lang="zh-CN" altLang="en-US" noProof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1" name="图片占位符 8"/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4" name="图片占位符 8"/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沉浸式调色板：节目的明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/>
          <p:nvPr userDrawn="1"/>
        </p:nvSpPr>
        <p:spPr>
          <a:xfrm>
            <a:off x="0" y="495300"/>
            <a:ext cx="6057900" cy="133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长方形 8"/>
          <p:cNvSpPr/>
          <p:nvPr userDrawn="1"/>
        </p:nvSpPr>
        <p:spPr>
          <a:xfrm>
            <a:off x="6530703" y="495300"/>
            <a:ext cx="2931587" cy="2628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/>
          <p:cNvSpPr/>
          <p:nvPr userDrawn="1"/>
        </p:nvSpPr>
        <p:spPr>
          <a:xfrm>
            <a:off x="8852618" y="3863713"/>
            <a:ext cx="29210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长方形 11"/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489200"/>
            <a:ext cx="5202936" cy="3547872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zh-CN" altLang="en-US" noProof="0"/>
              <a:t>单击此处编辑文本</a:t>
            </a:r>
            <a:endParaRPr lang="zh-CN" altLang="en-US" noProof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5"/>
          </p:nvPr>
        </p:nvSpPr>
        <p:spPr>
          <a:xfrm>
            <a:off x="6997700" y="914400"/>
            <a:ext cx="4334256" cy="5093208"/>
          </a:xfrm>
          <a:prstGeom prst="rect">
            <a:avLst/>
          </a:prstGeom>
          <a:solidFill>
            <a:schemeClr val="accent3"/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调色板：开心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>
            <a:lvl1pPr>
              <a:lnSpc>
                <a:spcPts val="4000"/>
              </a:lnSpc>
              <a:defRPr sz="3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  <a:endParaRPr lang="zh-CN" altLang="en-US" noProof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4279392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4"/>
          </p:nvPr>
        </p:nvSpPr>
        <p:spPr>
          <a:xfrm>
            <a:off x="6227064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5"/>
          </p:nvPr>
        </p:nvSpPr>
        <p:spPr>
          <a:xfrm>
            <a:off x="8174736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16"/>
          </p:nvPr>
        </p:nvSpPr>
        <p:spPr>
          <a:xfrm>
            <a:off x="10122408" y="1463040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1" name="图片占位符 8"/>
          <p:cNvSpPr>
            <a:spLocks noGrp="1"/>
          </p:cNvSpPr>
          <p:nvPr>
            <p:ph type="pic" sz="quarter" idx="17"/>
          </p:nvPr>
        </p:nvSpPr>
        <p:spPr>
          <a:xfrm>
            <a:off x="4279392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8"/>
          </p:nvPr>
        </p:nvSpPr>
        <p:spPr>
          <a:xfrm>
            <a:off x="6227064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8174736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  <p:sp>
        <p:nvSpPr>
          <p:cNvPr id="24" name="图片占位符 8"/>
          <p:cNvSpPr>
            <a:spLocks noGrp="1"/>
          </p:cNvSpPr>
          <p:nvPr>
            <p:ph type="pic" sz="quarter" idx="20"/>
          </p:nvPr>
        </p:nvSpPr>
        <p:spPr>
          <a:xfrm>
            <a:off x="10122408" y="4087368"/>
            <a:ext cx="1499616" cy="2194560"/>
          </a:xfrm>
          <a:prstGeom prst="rect">
            <a:avLst/>
          </a:prstGeom>
        </p:spPr>
        <p:txBody>
          <a:bodyPr rtlCol="0"/>
          <a:lstStyle>
            <a:lvl1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沉浸式调色板：开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/>
          <p:nvPr userDrawn="1"/>
        </p:nvSpPr>
        <p:spPr>
          <a:xfrm>
            <a:off x="6712974" y="1651000"/>
            <a:ext cx="460459" cy="520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长方形 8"/>
          <p:cNvSpPr/>
          <p:nvPr userDrawn="1"/>
        </p:nvSpPr>
        <p:spPr>
          <a:xfrm>
            <a:off x="9271000" y="0"/>
            <a:ext cx="2921000" cy="53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/>
          <p:cNvSpPr/>
          <p:nvPr userDrawn="1"/>
        </p:nvSpPr>
        <p:spPr>
          <a:xfrm>
            <a:off x="0" y="2387600"/>
            <a:ext cx="5461000" cy="215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长方形 11"/>
          <p:cNvSpPr/>
          <p:nvPr userDrawn="1"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5605272" cy="1572126"/>
          </a:xfrm>
        </p:spPr>
        <p:txBody>
          <a:bodyPr rtlCol="0" anchor="ctr" anchorCtr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072384"/>
            <a:ext cx="4946904" cy="287121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 rtl="0"/>
            <a:r>
              <a:rPr lang="zh-CN" altLang="en-US" noProof="0"/>
              <a:t>单击此处编辑文本</a:t>
            </a:r>
            <a:endParaRPr lang="zh-CN" altLang="en-US" noProof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5"/>
          </p:nvPr>
        </p:nvSpPr>
        <p:spPr>
          <a:xfrm>
            <a:off x="7178040" y="457200"/>
            <a:ext cx="4562856" cy="640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endParaRPr lang="zh-CN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4AB7EB9-7468-4F67-9695-85A2AE04D89A}" type="datetime1">
              <a:rPr lang="zh-CN" altLang="en-US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5FADE3-B84E-4AF7-91CC-AB47E1A43619}" type="slidenum">
              <a:rPr lang="en-US" altLang="zh-CN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26070B0-EC17-4D59-925D-ED5F46FC2982}" type="datetime1">
              <a:rPr lang="zh-CN" altLang="en-US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5FADE3-B84E-4AF7-91CC-AB47E1A43619}" type="slidenum">
              <a:rPr lang="en-US" altLang="zh-CN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F4699FA-61D1-4597-B391-B4811E0F3D71}" type="datetime1">
              <a:rPr lang="zh-CN" altLang="en-US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5FADE3-B84E-4AF7-91CC-AB47E1A43619}" type="slidenum">
              <a:rPr lang="en-US" altLang="zh-CN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F5DC17A-E921-4DB8-B229-7014F6188440}" type="datetime1">
              <a:rPr lang="zh-CN" altLang="en-US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5FADE3-B84E-4AF7-91CC-AB47E1A43619}" type="slidenum">
              <a:rPr lang="en-US" altLang="zh-CN" smtClean="0"/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1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354723" y="1032641"/>
            <a:ext cx="6038193" cy="3090041"/>
          </a:xfrm>
        </p:spPr>
        <p:txBody>
          <a:bodyPr rtlCol="0"/>
          <a:lstStyle/>
          <a:p>
            <a:pPr rtl="0"/>
            <a:r>
              <a:rPr lang="en-US" altLang="zh-CN" sz="2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Legalizing Recreational Cannabis Promotes Economic Growth, Reduces Crime, and Enhances Public Health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1207" y="2900853"/>
            <a:ext cx="591995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altLang="zh-CN" sz="24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SOSTech</a:t>
            </a:r>
            <a:endParaRPr lang="en-US" altLang="zh-CN" sz="24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12310824 </a:t>
            </a:r>
            <a:endParaRPr lang="en-US" altLang="zh-CN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rtl="0"/>
            <a:r>
              <a:rPr lang="en-US" altLang="zh-C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12310825 </a:t>
            </a:r>
            <a:endParaRPr lang="en-US" altLang="zh-CN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rtl="0"/>
            <a:r>
              <a:rPr lang="en-US" altLang="zh-C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12311512 </a:t>
            </a:r>
            <a:endParaRPr lang="en-US" altLang="zh-CN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rtl="0"/>
            <a:r>
              <a:rPr lang="en-US" altLang="zh-C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12311520</a:t>
            </a:r>
            <a:endParaRPr lang="zh-CN" altLang="en-US" sz="24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9" name="图片占位符 8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rcRect l="14655" r="14655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抽象曲线图像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225" y="0"/>
            <a:ext cx="12191550" cy="6857999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3096" y="888966"/>
            <a:ext cx="10854559" cy="679704"/>
          </a:xfrm>
        </p:spPr>
        <p:txBody>
          <a:bodyPr rtlCol="0" anchor="t" anchorCtr="0">
            <a:normAutofit/>
          </a:bodyPr>
          <a:lstStyle/>
          <a:p>
            <a:pPr rtl="0"/>
            <a:r>
              <a:rPr lang="en-US" altLang="zh-CN" dirty="0">
                <a:latin typeface="+mj-ea"/>
                <a:ea typeface="+mj-ea"/>
              </a:rPr>
              <a:t>Background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365" y="1978571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DeepSeek-CJK-patch"/>
              </a:rPr>
              <a:t>Cannabis consumption is illegal globally.</a:t>
            </a:r>
            <a:endParaRPr lang="en-US" altLang="zh-CN" sz="2400" b="0" i="0" dirty="0">
              <a:solidFill>
                <a:schemeClr val="bg1"/>
              </a:solidFill>
              <a:effectLst/>
              <a:latin typeface="DeepSeek-CJK-patch"/>
            </a:endParaRPr>
          </a:p>
          <a:p>
            <a:endParaRPr lang="en-US" altLang="zh-CN" sz="2400" dirty="0">
              <a:solidFill>
                <a:schemeClr val="bg1"/>
              </a:solidFill>
              <a:latin typeface="DeepSeek-CJK-patch"/>
            </a:endParaRPr>
          </a:p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DeepSeek-CJK-patch"/>
              </a:rPr>
              <a:t>Becoming </a:t>
            </a:r>
            <a:r>
              <a:rPr lang="en-US" altLang="zh-CN" sz="2400" b="0" i="0" dirty="0" err="1">
                <a:solidFill>
                  <a:schemeClr val="bg1"/>
                </a:solidFill>
                <a:effectLst/>
                <a:latin typeface="DeepSeek-CJK-patch"/>
              </a:rPr>
              <a:t>legalised</a:t>
            </a:r>
            <a:r>
              <a:rPr lang="en-US" altLang="zh-CN" sz="2400" b="0" i="0" dirty="0">
                <a:solidFill>
                  <a:schemeClr val="bg1"/>
                </a:solidFill>
                <a:effectLst/>
                <a:latin typeface="DeepSeek-CJK-patch"/>
              </a:rPr>
              <a:t> in USA (2014)</a:t>
            </a:r>
            <a:endParaRPr lang="en-US" altLang="zh-CN" sz="2400" b="0" i="0" dirty="0">
              <a:solidFill>
                <a:schemeClr val="bg1"/>
              </a:solidFill>
              <a:effectLst/>
              <a:latin typeface="DeepSeek-CJK-patch"/>
            </a:endParaRPr>
          </a:p>
          <a:p>
            <a:endParaRPr lang="en-US" altLang="zh-CN" sz="2400" b="0" i="0" dirty="0">
              <a:solidFill>
                <a:schemeClr val="bg1"/>
              </a:solidFill>
              <a:effectLst/>
              <a:latin typeface="DeepSeek-CJK-patch"/>
            </a:endParaRPr>
          </a:p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DeepSeek-CJK-patch"/>
              </a:rPr>
              <a:t>Becoming </a:t>
            </a:r>
            <a:r>
              <a:rPr lang="en-US" altLang="zh-CN" sz="2400" b="0" i="0" dirty="0" err="1">
                <a:solidFill>
                  <a:schemeClr val="bg1"/>
                </a:solidFill>
                <a:effectLst/>
                <a:latin typeface="DeepSeek-CJK-patch"/>
              </a:rPr>
              <a:t>legalised</a:t>
            </a:r>
            <a:r>
              <a:rPr lang="en-US" altLang="zh-CN" sz="2400" b="0" i="0" dirty="0">
                <a:solidFill>
                  <a:schemeClr val="bg1"/>
                </a:solidFill>
                <a:effectLst/>
                <a:latin typeface="DeepSeek-CJK-patch"/>
              </a:rPr>
              <a:t> in Canada (2018)</a:t>
            </a:r>
            <a:endParaRPr lang="en-US" altLang="zh-CN" sz="2400" b="0" i="0" dirty="0">
              <a:solidFill>
                <a:schemeClr val="bg1"/>
              </a:solidFill>
              <a:effectLst/>
              <a:latin typeface="DeepSeek-CJK-patch"/>
            </a:endParaRPr>
          </a:p>
          <a:p>
            <a:endParaRPr lang="en-US" altLang="zh-CN" sz="2400" b="0" i="0" dirty="0">
              <a:solidFill>
                <a:schemeClr val="bg1"/>
              </a:solidFill>
              <a:effectLst/>
              <a:latin typeface="DeepSeek-CJK-patch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(Yimer,2025)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208" y="1450852"/>
            <a:ext cx="6225634" cy="45181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抽象曲线图像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450" y="86710"/>
            <a:ext cx="12191550" cy="6857999"/>
          </a:xfr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3096" y="888966"/>
            <a:ext cx="10854559" cy="679704"/>
          </a:xfrm>
        </p:spPr>
        <p:txBody>
          <a:bodyPr rtlCol="0" anchor="t" anchorCtr="0">
            <a:normAutofit fontScale="90000"/>
          </a:bodyPr>
          <a:lstStyle/>
          <a:p>
            <a:pPr rtl="0"/>
            <a:r>
              <a:rPr lang="en-US" altLang="zh-CN" dirty="0">
                <a:latin typeface="+mj-ea"/>
                <a:ea typeface="+mj-ea"/>
              </a:rPr>
              <a:t>overview</a:t>
            </a:r>
            <a:br>
              <a:rPr lang="en-US" altLang="zh-CN" dirty="0">
                <a:latin typeface="+mj-ea"/>
                <a:ea typeface="+mj-ea"/>
              </a:rPr>
            </a:b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096" y="1797268"/>
            <a:ext cx="88602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Legalizing Recreational Cannabis is beneficial:</a:t>
            </a:r>
            <a:endParaRPr lang="en-US" altLang="zh-CN" sz="2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DeepSeek-CJK-patch"/>
            </a:endParaRPr>
          </a:p>
          <a:p>
            <a:r>
              <a:rPr lang="en-US" altLang="zh-CN" sz="2800" b="0" i="0" dirty="0">
                <a:solidFill>
                  <a:schemeClr val="bg1"/>
                </a:solidFill>
                <a:effectLst/>
                <a:latin typeface="DeepSeek-CJK-patch"/>
              </a:rPr>
              <a:t>Reduction in crime rates</a:t>
            </a:r>
            <a:endParaRPr lang="en-US" altLang="zh-CN" sz="2800" b="0" i="0" dirty="0">
              <a:solidFill>
                <a:schemeClr val="bg1"/>
              </a:solidFill>
              <a:effectLst/>
              <a:latin typeface="DeepSeek-CJK-patch"/>
            </a:endParaRPr>
          </a:p>
          <a:p>
            <a:endParaRPr lang="en-US" altLang="zh-CN" sz="2800" dirty="0">
              <a:solidFill>
                <a:schemeClr val="bg1"/>
              </a:solidFill>
              <a:latin typeface="DeepSeek-CJK-patch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conomic growth</a:t>
            </a:r>
            <a:endParaRPr lang="en-US" altLang="zh-CN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Public health outcome improvements</a:t>
            </a:r>
            <a:endParaRPr lang="en-US" altLang="zh-CN" sz="2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 </a:t>
            </a:r>
            <a:r>
              <a:rPr lang="en-US" altLang="zh-CN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agrument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一个人站在岩石上，双臂伸展地望向大海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solidFill>
            <a:srgbClr val="6768AB">
              <a:alpha val="75000"/>
            </a:srgbClr>
          </a:solidFill>
        </p:spPr>
      </p:pic>
      <p:sp>
        <p:nvSpPr>
          <p:cNvPr id="9" name="长方形 8" descr="阴影覆盖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768AB">
              <a:alpha val="7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</p:spPr>
        <p:txBody>
          <a:bodyPr rtlCol="0"/>
          <a:lstStyle/>
          <a:p>
            <a:pPr rtl="0"/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Reduction in crime rates</a:t>
            </a:r>
            <a:endParaRPr lang="zh-CN" altLang="en-US" dirty="0"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6283325" y="1966595"/>
            <a:ext cx="5297170" cy="4197350"/>
          </a:xfrm>
        </p:spPr>
        <p:txBody>
          <a:bodyPr rtlCol="0"/>
          <a:lstStyle/>
          <a:p>
            <a:pPr rtl="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cannabis-related crimes: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76.3% decline in adult arrest rates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crimes not directly related to cannabis: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overall 12.5% reduction in violent crimes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2" name="图片 1" descr="R-C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3925"/>
            <a:ext cx="5238750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57199" y="1399032"/>
            <a:ext cx="3619501" cy="877824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zh-C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Reduction in crime rates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57200" y="2779776"/>
            <a:ext cx="3465576" cy="3255264"/>
          </a:xfrm>
        </p:spPr>
        <p:txBody>
          <a:bodyPr rtlCol="0">
            <a:noAutofit/>
          </a:bodyPr>
          <a:lstStyle/>
          <a:p>
            <a:pPr rtl="0"/>
            <a:r>
              <a:rPr 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Analysis:</a:t>
            </a:r>
            <a:endParaRPr lang="en-US" sz="1800" dirty="0">
              <a:effectLst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legal channels and behaviors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legal and regulated cannabis supply sources established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长方形 15"/>
          <p:cNvSpPr/>
          <p:nvPr/>
        </p:nvSpPr>
        <p:spPr>
          <a:xfrm>
            <a:off x="228600" y="241300"/>
            <a:ext cx="11772900" cy="6400800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占位符 3" descr="OIP-C (2)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4255770" y="241300"/>
            <a:ext cx="7484745" cy="4406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源泉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6" name="图片占位符 45" descr="颜色样本：绿荆棘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l="86" r="86"/>
          <a:stretch>
            <a:fillRect/>
          </a:stretch>
        </p:blipFill>
        <p:spPr>
          <a:xfrm>
            <a:off x="4279392" y="1463040"/>
            <a:ext cx="1499616" cy="2194560"/>
          </a:xfrm>
        </p:spPr>
      </p:pic>
      <p:pic>
        <p:nvPicPr>
          <p:cNvPr id="48" name="图片占位符 47" descr="颜色样本：植物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6" r="86"/>
          <a:stretch>
            <a:fillRect/>
          </a:stretch>
        </p:blipFill>
        <p:spPr>
          <a:xfrm>
            <a:off x="6227064" y="1463040"/>
            <a:ext cx="1499616" cy="2194560"/>
          </a:xfrm>
        </p:spPr>
      </p:pic>
      <p:pic>
        <p:nvPicPr>
          <p:cNvPr id="50" name="图片占位符 49" descr="颜色样本：树梢"/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86" r="86"/>
          <a:stretch>
            <a:fillRect/>
          </a:stretch>
        </p:blipFill>
        <p:spPr>
          <a:xfrm>
            <a:off x="8174736" y="1463040"/>
            <a:ext cx="1499616" cy="2194560"/>
          </a:xfrm>
        </p:spPr>
      </p:pic>
      <p:pic>
        <p:nvPicPr>
          <p:cNvPr id="52" name="图片占位符 51" descr="颜色样本：芹菜"/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l="86" r="86"/>
          <a:stretch>
            <a:fillRect/>
          </a:stretch>
        </p:blipFill>
        <p:spPr>
          <a:xfrm>
            <a:off x="10122408" y="1463040"/>
            <a:ext cx="1499616" cy="2194560"/>
          </a:xfrm>
        </p:spPr>
      </p:pic>
      <p:pic>
        <p:nvPicPr>
          <p:cNvPr id="54" name="图片占位符 53" descr="颜色样本：茶"/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86" r="86"/>
          <a:stretch>
            <a:fillRect/>
          </a:stretch>
        </p:blipFill>
        <p:spPr>
          <a:xfrm>
            <a:off x="4279392" y="4087368"/>
            <a:ext cx="1499616" cy="2194560"/>
          </a:xfrm>
        </p:spPr>
      </p:pic>
      <p:pic>
        <p:nvPicPr>
          <p:cNvPr id="56" name="图片占位符 55" descr="颜色样本：露莓"/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l="86" r="86"/>
          <a:stretch>
            <a:fillRect/>
          </a:stretch>
        </p:blipFill>
        <p:spPr>
          <a:xfrm>
            <a:off x="6227064" y="4087368"/>
            <a:ext cx="1499616" cy="2194560"/>
          </a:xfrm>
        </p:spPr>
      </p:pic>
      <p:pic>
        <p:nvPicPr>
          <p:cNvPr id="58" name="图片占位符 57" descr="颜色样本：长春花蓝"/>
          <p:cNvPicPr>
            <a:picLocks noGrp="1" noChangeAspect="1"/>
          </p:cNvPicPr>
          <p:nvPr>
            <p:ph type="pic" sz="quarter" idx="19"/>
          </p:nvPr>
        </p:nvPicPr>
        <p:blipFill>
          <a:blip r:embed="rId7"/>
          <a:srcRect l="86" r="86"/>
          <a:stretch>
            <a:fillRect/>
          </a:stretch>
        </p:blipFill>
        <p:spPr>
          <a:xfrm>
            <a:off x="8174736" y="4087368"/>
            <a:ext cx="1499616" cy="2194560"/>
          </a:xfrm>
        </p:spPr>
      </p:pic>
      <p:pic>
        <p:nvPicPr>
          <p:cNvPr id="60" name="图片占位符 59" descr="颜色样本：知更鸟蛋蓝"/>
          <p:cNvPicPr>
            <a:picLocks noGrp="1" noChangeAspect="1"/>
          </p:cNvPicPr>
          <p:nvPr>
            <p:ph type="pic" sz="quarter" idx="20"/>
          </p:nvPr>
        </p:nvPicPr>
        <p:blipFill>
          <a:blip r:embed="rId8"/>
          <a:srcRect l="86" r="86"/>
          <a:stretch>
            <a:fillRect/>
          </a:stretch>
        </p:blipFill>
        <p:spPr>
          <a:xfrm>
            <a:off x="10122408" y="4087368"/>
            <a:ext cx="1499616" cy="219456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源泉 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457200" y="2779776"/>
            <a:ext cx="3465576" cy="3255264"/>
          </a:xfrm>
        </p:spPr>
        <p:txBody>
          <a:bodyPr rtlCol="0"/>
          <a:lstStyle/>
          <a:p>
            <a:pPr rtl="0"/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如果您想要融合自然融合的色调，以突出绿色的兼容性以及这些美味微妙和滋养色调的“有益健康”特性，请使用此调色板。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" name="图片占位符 5" descr="黑色背景上的白色花朵特写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1" cstate="screen"/>
          <a:srcRect t="17178" b="17178"/>
          <a:stretch>
            <a:fillRect/>
          </a:stretch>
        </p:blipFill>
        <p:spPr>
          <a:xfrm>
            <a:off x="4708525" y="960438"/>
            <a:ext cx="6575425" cy="507523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2569464"/>
            <a:ext cx="3619501" cy="1179576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节目的明星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占位符 6" descr="颜色样本：无烟煤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l="86" r="86"/>
          <a:stretch>
            <a:fillRect/>
          </a:stretch>
        </p:blipFill>
        <p:spPr>
          <a:xfrm>
            <a:off x="4279392" y="1463040"/>
            <a:ext cx="1499616" cy="2194560"/>
          </a:xfrm>
        </p:spPr>
      </p:pic>
      <p:pic>
        <p:nvPicPr>
          <p:cNvPr id="24" name="图片占位符 23" descr="颜色样本：玻璃杯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6" r="86"/>
          <a:stretch>
            <a:fillRect/>
          </a:stretch>
        </p:blipFill>
        <p:spPr>
          <a:xfrm>
            <a:off x="6227064" y="1463040"/>
            <a:ext cx="1499616" cy="2194560"/>
          </a:xfrm>
        </p:spPr>
      </p:pic>
      <p:pic>
        <p:nvPicPr>
          <p:cNvPr id="30" name="图片占位符 29" descr="颜色样本：深灰褐色"/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90" r="290"/>
          <a:stretch>
            <a:fillRect/>
          </a:stretch>
        </p:blipFill>
        <p:spPr>
          <a:xfrm>
            <a:off x="8174736" y="1463040"/>
            <a:ext cx="1499616" cy="2194560"/>
          </a:xfrm>
        </p:spPr>
      </p:pic>
      <p:pic>
        <p:nvPicPr>
          <p:cNvPr id="32" name="图片占位符 31" descr="颜色样本：暗灰褐色"/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l="86" r="86"/>
          <a:stretch>
            <a:fillRect/>
          </a:stretch>
        </p:blipFill>
        <p:spPr>
          <a:xfrm>
            <a:off x="10122408" y="1463040"/>
            <a:ext cx="1499616" cy="2194560"/>
          </a:xfrm>
        </p:spPr>
      </p:pic>
      <p:pic>
        <p:nvPicPr>
          <p:cNvPr id="34" name="图片占位符 33" descr="颜色样本：白沙"/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86" r="86"/>
          <a:stretch>
            <a:fillRect/>
          </a:stretch>
        </p:blipFill>
        <p:spPr>
          <a:xfrm>
            <a:off x="4279392" y="4087368"/>
            <a:ext cx="1499616" cy="2194560"/>
          </a:xfrm>
        </p:spPr>
      </p:pic>
      <p:pic>
        <p:nvPicPr>
          <p:cNvPr id="36" name="图片占位符 35" descr="颜色样本：石化橡树"/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l="86" r="86"/>
          <a:stretch>
            <a:fillRect/>
          </a:stretch>
        </p:blipFill>
        <p:spPr>
          <a:xfrm>
            <a:off x="6227064" y="4087368"/>
            <a:ext cx="1499616" cy="2194560"/>
          </a:xfrm>
        </p:spPr>
      </p:pic>
      <p:pic>
        <p:nvPicPr>
          <p:cNvPr id="38" name="图片占位符 37" descr="颜色样本：云之舞"/>
          <p:cNvPicPr>
            <a:picLocks noGrp="1" noChangeAspect="1"/>
          </p:cNvPicPr>
          <p:nvPr>
            <p:ph type="pic" sz="quarter" idx="19"/>
          </p:nvPr>
        </p:nvPicPr>
        <p:blipFill>
          <a:blip r:embed="rId7"/>
          <a:srcRect l="86" r="86"/>
          <a:stretch>
            <a:fillRect/>
          </a:stretch>
        </p:blipFill>
        <p:spPr>
          <a:xfrm>
            <a:off x="8174736" y="4087368"/>
            <a:ext cx="1499616" cy="2194560"/>
          </a:xfrm>
        </p:spPr>
      </p:pic>
      <p:pic>
        <p:nvPicPr>
          <p:cNvPr id="40" name="图片占位符 39" descr="颜色样本：长春花蓝"/>
          <p:cNvPicPr>
            <a:picLocks noGrp="1" noChangeAspect="1"/>
          </p:cNvPicPr>
          <p:nvPr>
            <p:ph type="pic" sz="quarter" idx="20"/>
          </p:nvPr>
        </p:nvPicPr>
        <p:blipFill>
          <a:blip r:embed="rId8"/>
          <a:srcRect l="86" r="86"/>
          <a:stretch>
            <a:fillRect/>
          </a:stretch>
        </p:blipFill>
        <p:spPr>
          <a:xfrm>
            <a:off x="10122408" y="4087368"/>
            <a:ext cx="1499616" cy="219456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节目的明星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57200" y="2489200"/>
            <a:ext cx="5202936" cy="3547872"/>
          </a:xfrm>
        </p:spPr>
        <p:txBody>
          <a:bodyPr rtlCol="0"/>
          <a:lstStyle/>
          <a:p>
            <a:pPr rtl="0"/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当你希望以更加优雅的方式呈现内容，该调色板中 </a:t>
            </a:r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Pantone </a:t>
            </a: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长春花蓝的动感属性宛如节目的明星一般耀眼。该调色板主打经典和中性元素，低调的风格传达出隽永成熟的格调。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占位符 6" descr="旋转楼梯的图片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1"/>
          <a:srcRect t="9" b="9"/>
          <a:stretch>
            <a:fillRect/>
          </a:stretch>
        </p:blipFill>
        <p:spPr>
          <a:xfrm>
            <a:off x="6997700" y="914400"/>
            <a:ext cx="4333875" cy="5092700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700" y="914400"/>
            <a:ext cx="5516245" cy="3466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zh-CN" dirty="0"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Counter agrument</a:t>
            </a:r>
            <a:r>
              <a:rPr lang="zh-CN" altLang="en-US" dirty="0"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457200" y="2779776"/>
            <a:ext cx="3465576" cy="3255264"/>
          </a:xfrm>
        </p:spPr>
        <p:txBody>
          <a:bodyPr rtlCol="0"/>
          <a:lstStyle/>
          <a:p>
            <a:pPr rtl="0"/>
            <a:r>
              <a:rPr lang="en-US" altLang="zh-CN" sz="20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1 Black Markets Persistence</a:t>
            </a:r>
            <a:endParaRPr lang="en-US" altLang="zh-CN" sz="2000" dirty="0"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2 Crime Rate Debate</a:t>
            </a:r>
            <a:endParaRPr lang="en-US" altLang="zh-CN" sz="2000" dirty="0"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3 Social Concerns</a:t>
            </a:r>
            <a:endParaRPr lang="en-US" altLang="zh-CN" sz="2000" dirty="0"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effectLst/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4 Long-term Uncertainties</a:t>
            </a:r>
            <a:endParaRPr lang="en-US" altLang="zh-CN" sz="2000" dirty="0"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rtl="0"/>
            <a:endParaRPr lang="en-US" altLang="zh-CN" sz="2000" dirty="0"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135" y="1626235"/>
            <a:ext cx="5958205" cy="3744595"/>
          </a:xfrm>
          <a:prstGeom prst="rect">
            <a:avLst/>
          </a:prstGeom>
        </p:spPr>
      </p:pic>
      <p:pic>
        <p:nvPicPr>
          <p:cNvPr id="3" name="图片占位符 2"/>
          <p:cNvPicPr>
            <a:picLocks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4805045" y="1492250"/>
            <a:ext cx="6381750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一个人站在岩石上，双臂伸展地望向大海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solidFill>
            <a:srgbClr val="6768AB">
              <a:alpha val="75000"/>
            </a:srgbClr>
          </a:solidFill>
        </p:spPr>
      </p:pic>
      <p:sp>
        <p:nvSpPr>
          <p:cNvPr id="9" name="长方形 8" descr="阴影覆盖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CAC9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</p:spPr>
        <p:txBody>
          <a:bodyPr rtlCol="0"/>
          <a:lstStyle/>
          <a:p>
            <a:pPr rtl="0"/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Black market persistence</a:t>
            </a:r>
            <a:endParaRPr lang="en-US" altLang="zh-CN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6523355" y="2490470"/>
            <a:ext cx="5490845" cy="2616200"/>
          </a:xfrm>
        </p:spPr>
        <p:txBody>
          <a:bodyPr rtlCol="0"/>
          <a:lstStyle/>
          <a:p>
            <a:pPr rtl="0"/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Legal make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cannabis 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40%-60% 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more expensive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(Kilmer et al.,2013; CDOR,2023)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R-C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3925"/>
            <a:ext cx="5238750" cy="3209925"/>
          </a:xfrm>
          <a:prstGeom prst="rect">
            <a:avLst/>
          </a:prstGeom>
        </p:spPr>
      </p:pic>
      <p:pic>
        <p:nvPicPr>
          <p:cNvPr id="3" name="图片占位符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" y="1966595"/>
            <a:ext cx="5447665" cy="38785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23355" y="6109970"/>
            <a:ext cx="11510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</a:t>
            </a:r>
            <a:r>
              <a:rPr lang="en-US" altLang="zh-CN"/>
              <a:t>DOR: Colorado Department of Revenue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一个人站在岩石上，双臂伸展地望向大海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solidFill>
            <a:srgbClr val="6768AB">
              <a:alpha val="75000"/>
            </a:srgbClr>
          </a:solidFill>
        </p:spPr>
      </p:pic>
      <p:sp>
        <p:nvSpPr>
          <p:cNvPr id="9" name="长方形 8" descr="阴影覆盖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CAC9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</p:spPr>
        <p:txBody>
          <a:bodyPr rtlCol="0"/>
          <a:lstStyle/>
          <a:p>
            <a:pPr rtl="0"/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Crime Rate debate</a:t>
            </a:r>
            <a:endParaRPr lang="en-US" altLang="zh-CN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457200" y="2443480"/>
            <a:ext cx="5490845" cy="2616200"/>
          </a:xfrm>
        </p:spPr>
        <p:txBody>
          <a:bodyPr rtlCol="0"/>
          <a:lstStyle/>
          <a:p>
            <a:pPr rtl="0"/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legal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states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Illegal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states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(UNODC, 2020)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70" y="1680845"/>
            <a:ext cx="5763429" cy="28293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7200" y="5614035"/>
            <a:ext cx="5595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UNODC: United Nations Office on Drugs and Crime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一个人站在岩石上，双臂伸展地望向大海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solidFill>
            <a:srgbClr val="6768AB">
              <a:alpha val="75000"/>
            </a:srgbClr>
          </a:solidFill>
        </p:spPr>
      </p:pic>
      <p:sp>
        <p:nvSpPr>
          <p:cNvPr id="9" name="长方形 8" descr="阴影覆盖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CAC9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</p:spPr>
        <p:txBody>
          <a:bodyPr rtlCol="0"/>
          <a:lstStyle/>
          <a:p>
            <a:pPr rtl="0"/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Social concerns</a:t>
            </a:r>
            <a:endParaRPr lang="en-US" altLang="zh-CN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6523355" y="2490470"/>
            <a:ext cx="5490845" cy="2616200"/>
          </a:xfrm>
        </p:spPr>
        <p:txBody>
          <a:bodyPr rtlCol="0"/>
          <a:lstStyle/>
          <a:p>
            <a:pPr rtl="0"/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Low-income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addicted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2.3 times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than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rich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(Williams et al, 2023)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R-C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3925"/>
            <a:ext cx="5238750" cy="32099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883410"/>
            <a:ext cx="5887085" cy="38315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86710" y="1953260"/>
            <a:ext cx="4107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4E8438"/>
                </a:solidFill>
              </a:rPr>
              <a:t>Green: low-income people</a:t>
            </a:r>
            <a:endParaRPr lang="en-US" altLang="zh-CN" b="1">
              <a:solidFill>
                <a:srgbClr val="4E8438"/>
              </a:solidFill>
            </a:endParaRPr>
          </a:p>
          <a:p>
            <a:r>
              <a:rPr lang="en-US" altLang="zh-CN" b="1">
                <a:solidFill>
                  <a:srgbClr val="E97F24"/>
                </a:solidFill>
              </a:rPr>
              <a:t>Orange: rich people</a:t>
            </a:r>
            <a:endParaRPr lang="en-US" altLang="zh-CN" b="1">
              <a:solidFill>
                <a:srgbClr val="E97F24"/>
              </a:solidFill>
            </a:endParaRPr>
          </a:p>
          <a:p>
            <a:endParaRPr lang="en-US" altLang="zh-CN" b="1">
              <a:solidFill>
                <a:srgbClr val="E97F2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 descr="一个人站在岩石上，双臂伸展地望向大海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solidFill>
            <a:srgbClr val="6768AB">
              <a:alpha val="75000"/>
            </a:srgbClr>
          </a:solidFill>
        </p:spPr>
      </p:pic>
      <p:sp>
        <p:nvSpPr>
          <p:cNvPr id="9" name="长方形 8" descr="阴影覆盖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CAC9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57199" y="914400"/>
            <a:ext cx="11174819" cy="903767"/>
          </a:xfrm>
        </p:spPr>
        <p:txBody>
          <a:bodyPr rtlCol="0"/>
          <a:lstStyle/>
          <a:p>
            <a:pPr rtl="0"/>
            <a:r>
              <a:rPr lang="en-US" altLang="zh-CN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Long-term uncertainties</a:t>
            </a:r>
            <a:endParaRPr lang="en-US" altLang="zh-CN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>
          <a:xfrm>
            <a:off x="457200" y="2443480"/>
            <a:ext cx="5490845" cy="2616200"/>
          </a:xfrm>
        </p:spPr>
        <p:txBody>
          <a:bodyPr rtlCol="0"/>
          <a:lstStyle/>
          <a:p>
            <a:pPr rtl="0"/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Sell products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(over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75%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THC)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rtl="0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(Barry et al., 2022; NIH, 2023)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70" y="1680845"/>
            <a:ext cx="5763429" cy="28293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141" y="1681154"/>
            <a:ext cx="6344356" cy="417799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7200" y="5614035"/>
            <a:ext cx="4309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NIH: National Institutes of Health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199" y="2569464"/>
            <a:ext cx="3619501" cy="1179576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开心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22" name="图片占位符 21" descr="颜色样本：褐橙色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 l="86" r="86"/>
          <a:stretch>
            <a:fillRect/>
          </a:stretch>
        </p:blipFill>
        <p:spPr>
          <a:xfrm>
            <a:off x="4279392" y="1463040"/>
            <a:ext cx="1499616" cy="2194560"/>
          </a:xfrm>
        </p:spPr>
      </p:pic>
      <p:pic>
        <p:nvPicPr>
          <p:cNvPr id="24" name="图片占位符 23" descr="颜色样本：长春花蓝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6" r="86"/>
          <a:stretch>
            <a:fillRect/>
          </a:stretch>
        </p:blipFill>
        <p:spPr>
          <a:xfrm>
            <a:off x="6227064" y="1463040"/>
            <a:ext cx="1499616" cy="2194560"/>
          </a:xfrm>
        </p:spPr>
      </p:pic>
      <p:pic>
        <p:nvPicPr>
          <p:cNvPr id="26" name="图片占位符 25" descr="颜色样本：冰咖啡"/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86" r="86"/>
          <a:stretch>
            <a:fillRect/>
          </a:stretch>
        </p:blipFill>
        <p:spPr>
          <a:xfrm>
            <a:off x="8174736" y="1463040"/>
            <a:ext cx="1499616" cy="2194560"/>
          </a:xfrm>
        </p:spPr>
      </p:pic>
      <p:pic>
        <p:nvPicPr>
          <p:cNvPr id="28" name="图片占位符 27" descr="颜色样本：烈焰粉"/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l="86" r="86"/>
          <a:stretch>
            <a:fillRect/>
          </a:stretch>
        </p:blipFill>
        <p:spPr>
          <a:xfrm>
            <a:off x="10122408" y="1463040"/>
            <a:ext cx="1499616" cy="2194560"/>
          </a:xfrm>
        </p:spPr>
      </p:pic>
      <p:pic>
        <p:nvPicPr>
          <p:cNvPr id="30" name="图片占位符 29" descr="颜色样本：紫红色"/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86" r="86"/>
          <a:stretch>
            <a:fillRect/>
          </a:stretch>
        </p:blipFill>
        <p:spPr>
          <a:xfrm>
            <a:off x="4279392" y="4087368"/>
            <a:ext cx="1499616" cy="2194560"/>
          </a:xfrm>
        </p:spPr>
      </p:pic>
      <p:pic>
        <p:nvPicPr>
          <p:cNvPr id="32" name="图片占位符 31" descr="颜色样本：天堂粉色"/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l="86" r="86"/>
          <a:stretch>
            <a:fillRect/>
          </a:stretch>
        </p:blipFill>
        <p:spPr>
          <a:xfrm>
            <a:off x="6227064" y="4087368"/>
            <a:ext cx="1499616" cy="2194560"/>
          </a:xfrm>
        </p:spPr>
      </p:pic>
      <p:pic>
        <p:nvPicPr>
          <p:cNvPr id="34" name="图片占位符 33" descr="颜色样本：玉米鬚"/>
          <p:cNvPicPr>
            <a:picLocks noGrp="1" noChangeAspect="1"/>
          </p:cNvPicPr>
          <p:nvPr>
            <p:ph type="pic" sz="quarter" idx="19"/>
          </p:nvPr>
        </p:nvPicPr>
        <p:blipFill>
          <a:blip r:embed="rId7"/>
          <a:srcRect l="86" r="86"/>
          <a:stretch>
            <a:fillRect/>
          </a:stretch>
        </p:blipFill>
        <p:spPr>
          <a:xfrm>
            <a:off x="8174736" y="4087368"/>
            <a:ext cx="1499616" cy="2194560"/>
          </a:xfrm>
        </p:spPr>
      </p:pic>
      <p:pic>
        <p:nvPicPr>
          <p:cNvPr id="36" name="图片占位符 35" descr="颜色样本：电气石"/>
          <p:cNvPicPr>
            <a:picLocks noGrp="1" noChangeAspect="1"/>
          </p:cNvPicPr>
          <p:nvPr>
            <p:ph type="pic" sz="quarter" idx="20"/>
          </p:nvPr>
        </p:nvPicPr>
        <p:blipFill>
          <a:blip r:embed="rId8"/>
          <a:srcRect l="290" r="290"/>
          <a:stretch>
            <a:fillRect/>
          </a:stretch>
        </p:blipFill>
        <p:spPr>
          <a:xfrm>
            <a:off x="10122408" y="4087368"/>
            <a:ext cx="1499616" cy="219456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467601" cy="1572768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演示文稿中使用这些颜色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4"/>
          </p:nvPr>
        </p:nvSpPr>
        <p:spPr>
          <a:xfrm>
            <a:off x="457200" y="2540000"/>
            <a:ext cx="6591300" cy="3403600"/>
          </a:xfrm>
        </p:spPr>
        <p:txBody>
          <a:bodyPr tIns="0" bIns="0" rtlCol="0">
            <a:noAutofit/>
          </a:bodyPr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选择形状或文本框边框。执行此操作时，将显示“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形状格式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”选项卡。 </a:t>
            </a: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b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形状格式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”选项卡上，选择“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形状填充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  <a:r>
              <a:rPr lang="en-US" altLang="zh-CN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其他填充颜色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”。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颜色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”框中，选择“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自定义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”选项卡。 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输入要使用的颜色的</a:t>
            </a:r>
            <a:r>
              <a:rPr lang="zh-CN" altLang="en-US" b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十六进制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值。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934" y="3300967"/>
            <a:ext cx="6095342" cy="581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ts val="2000"/>
              </a:lnSpc>
            </a:pPr>
            <a:r>
              <a:rPr lang="zh-CN" alt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提示：</a:t>
            </a:r>
            <a:r>
              <a:rPr lang="zh-CN" altLang="en-US" sz="1400" i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若要更改多个形状或文本框，请单击第一个形状或文本框，然后在单击其他形状或文本框时长按 </a:t>
            </a:r>
            <a:r>
              <a:rPr lang="en-US" altLang="zh-CN" sz="1400" i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</a:t>
            </a:r>
            <a:r>
              <a:rPr lang="zh-CN" altLang="en-US" sz="1400" i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zh-CN" altLang="en-US" sz="1400" i="1">
              <a:solidFill>
                <a:schemeClr val="tx1">
                  <a:lumMod val="65000"/>
                  <a:lumOff val="3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25" name="图片占位符 24" descr="颜色菜单屏幕截图"/>
          <p:cNvPicPr>
            <a:picLocks noGrp="1" noChangeAspect="1"/>
          </p:cNvPicPr>
          <p:nvPr>
            <p:ph type="pic" sz="quarter" idx="15"/>
          </p:nvPr>
        </p:nvPicPr>
        <p:blipFill>
          <a:blip r:embed="rId1"/>
          <a:srcRect/>
          <a:stretch>
            <a:fillRect/>
          </a:stretch>
        </p:blipFill>
        <p:spPr>
          <a:xfrm>
            <a:off x="8116824" y="1384300"/>
            <a:ext cx="3407663" cy="4572000"/>
          </a:xfr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57199" y="1371600"/>
            <a:ext cx="3619501" cy="877824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altLang="zh-CN" dirty="0"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Counter agrument</a:t>
            </a:r>
            <a:r>
              <a:rPr lang="zh-CN" altLang="en-US" dirty="0"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457200" y="2779776"/>
            <a:ext cx="3465576" cy="3255264"/>
          </a:xfrm>
        </p:spPr>
        <p:txBody>
          <a:bodyPr rtlCol="0"/>
          <a:lstStyle/>
          <a:p>
            <a:pPr rtl="0"/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Black Markets Persistence</a:t>
            </a:r>
            <a:endParaRPr lang="en-US" altLang="zh-CN" sz="1800" dirty="0">
              <a:effectLst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 Crime Rate Debate</a:t>
            </a:r>
            <a:endParaRPr lang="en-US" altLang="zh-CN" sz="1800" dirty="0">
              <a:effectLst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 Social Concerns</a:t>
            </a:r>
            <a:endParaRPr lang="en-US" altLang="zh-CN" sz="1800" dirty="0">
              <a:effectLst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rtl="0"/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Long-term Uncertainties</a:t>
            </a:r>
            <a:endParaRPr lang="en-US" altLang="zh-CN" sz="1800" dirty="0">
              <a:effectLst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7135" y="1626235"/>
            <a:ext cx="5958205" cy="3744595"/>
          </a:xfrm>
          <a:prstGeom prst="rect">
            <a:avLst/>
          </a:prstGeom>
        </p:spPr>
      </p:pic>
      <p:pic>
        <p:nvPicPr>
          <p:cNvPr id="6" name="图片占位符 5"/>
          <p:cNvPicPr>
            <a:picLocks noChangeAspect="1"/>
          </p:cNvPicPr>
          <p:nvPr>
            <p:ph type="pic" sz="quarter" idx="15"/>
          </p:nvPr>
        </p:nvPicPr>
        <p:blipFill>
          <a:blip r:embed="rId2"/>
          <a:stretch>
            <a:fillRect/>
          </a:stretch>
        </p:blipFill>
        <p:spPr>
          <a:xfrm>
            <a:off x="5024755" y="1381760"/>
            <a:ext cx="5967095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节目的明星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57200" y="2489200"/>
            <a:ext cx="5202936" cy="3547872"/>
          </a:xfrm>
        </p:spPr>
        <p:txBody>
          <a:bodyPr rtlCol="0"/>
          <a:lstStyle/>
          <a:p>
            <a:pPr rtl="0"/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当你希望以更加优雅的方式呈现内容，该调色板中 </a:t>
            </a:r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Pantone </a:t>
            </a: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长春花蓝的动感属性宛如节目的明星一般耀眼。该调色板主打经典和中性元素，低调的风格传达出隽永成熟的格调。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占位符 6" descr="旋转楼梯的图片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1"/>
          <a:srcRect t="9" b="9"/>
          <a:stretch>
            <a:fillRect/>
          </a:stretch>
        </p:blipFill>
        <p:spPr>
          <a:xfrm>
            <a:off x="6997700" y="914400"/>
            <a:ext cx="4333875" cy="5092700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60" y="914400"/>
            <a:ext cx="6382641" cy="40105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797" y="2037267"/>
            <a:ext cx="4363059" cy="31055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5638801" cy="1572126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节目的明星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57200" y="2489200"/>
            <a:ext cx="5202936" cy="3547872"/>
          </a:xfrm>
        </p:spPr>
        <p:txBody>
          <a:bodyPr rtlCol="0"/>
          <a:lstStyle/>
          <a:p>
            <a:pPr rtl="0"/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当你希望以更加优雅的方式呈现内容，该调色板中 </a:t>
            </a:r>
            <a:r>
              <a:rPr lang="en-US" altLang="zh-CN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Pantone </a:t>
            </a:r>
            <a:r>
              <a:rPr lang="zh-CN" altLang="en-US" sz="1800" dirty="0"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长春花蓝的动感属性宛如节目的明星一般耀眼。该调色板主打经典和中性元素，低调的风格传达出隽永成熟的格调。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占位符 6" descr="旋转楼梯的图片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1"/>
          <a:srcRect t="9" b="9"/>
          <a:stretch>
            <a:fillRect/>
          </a:stretch>
        </p:blipFill>
        <p:spPr>
          <a:xfrm>
            <a:off x="6997700" y="914400"/>
            <a:ext cx="4333875" cy="5092700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3429" cy="2829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26" y="378155"/>
            <a:ext cx="6479382" cy="421674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656" y="1765609"/>
            <a:ext cx="6344356" cy="4177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平衡之道">
  <a:themeElements>
    <a:clrScheme name="Balancing Act">
      <a:dk1>
        <a:sysClr val="windowText" lastClr="000000"/>
      </a:dk1>
      <a:lt1>
        <a:sysClr val="window" lastClr="FFFFFF"/>
      </a:lt1>
      <a:dk2>
        <a:srgbClr val="8A4C5D"/>
      </a:dk2>
      <a:lt2>
        <a:srgbClr val="9E838E"/>
      </a:lt2>
      <a:accent1>
        <a:srgbClr val="C6ADB0"/>
      </a:accent1>
      <a:accent2>
        <a:srgbClr val="E3C0BF"/>
      </a:accent2>
      <a:accent3>
        <a:srgbClr val="D4937F"/>
      </a:accent3>
      <a:accent4>
        <a:srgbClr val="CCB87E"/>
      </a:accent4>
      <a:accent5>
        <a:srgbClr val="6667AB"/>
      </a:accent5>
      <a:accent6>
        <a:srgbClr val="86A094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源泉">
  <a:themeElements>
    <a:clrScheme name="Wellspring">
      <a:dk1>
        <a:sysClr val="windowText" lastClr="000000"/>
      </a:dk1>
      <a:lt1>
        <a:sysClr val="window" lastClr="FFFFFF"/>
      </a:lt1>
      <a:dk2>
        <a:srgbClr val="A1CAC9"/>
      </a:dk2>
      <a:lt2>
        <a:srgbClr val="48996B"/>
      </a:lt2>
      <a:accent1>
        <a:srgbClr val="759F51"/>
      </a:accent1>
      <a:accent2>
        <a:srgbClr val="436A2F"/>
      </a:accent2>
      <a:accent3>
        <a:srgbClr val="CFBF54"/>
      </a:accent3>
      <a:accent4>
        <a:srgbClr val="B3832F"/>
      </a:accent4>
      <a:accent5>
        <a:srgbClr val="8C5896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节目的明星">
  <a:themeElements>
    <a:clrScheme name="Star of the show">
      <a:dk1>
        <a:sysClr val="windowText" lastClr="000000"/>
      </a:dk1>
      <a:lt1>
        <a:sysClr val="window" lastClr="FFFFFF"/>
      </a:lt1>
      <a:dk2>
        <a:srgbClr val="29282D"/>
      </a:dk2>
      <a:lt2>
        <a:srgbClr val="625C60"/>
      </a:lt2>
      <a:accent1>
        <a:srgbClr val="7C6560"/>
      </a:accent1>
      <a:accent2>
        <a:srgbClr val="AEA392"/>
      </a:accent2>
      <a:accent3>
        <a:srgbClr val="DBD4D0"/>
      </a:accent3>
      <a:accent4>
        <a:srgbClr val="8E7961"/>
      </a:accent4>
      <a:accent5>
        <a:srgbClr val="F0EDE8"/>
      </a:accent5>
      <a:accent6>
        <a:srgbClr val="6667AB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开心">
  <a:themeElements>
    <a:clrScheme name="Amusements">
      <a:dk1>
        <a:sysClr val="windowText" lastClr="000000"/>
      </a:dk1>
      <a:lt1>
        <a:sysClr val="window" lastClr="FFFFFF"/>
      </a:lt1>
      <a:dk2>
        <a:srgbClr val="D77E6F"/>
      </a:dk2>
      <a:lt2>
        <a:srgbClr val="6667AB"/>
      </a:lt2>
      <a:accent1>
        <a:srgbClr val="B38F6A"/>
      </a:accent1>
      <a:accent2>
        <a:srgbClr val="D75078"/>
      </a:accent2>
      <a:accent3>
        <a:srgbClr val="E288B6"/>
      </a:accent3>
      <a:accent4>
        <a:srgbClr val="E9445D"/>
      </a:accent4>
      <a:accent5>
        <a:srgbClr val="EEC272"/>
      </a:accent5>
      <a:accent6>
        <a:srgbClr val="85A0A9"/>
      </a:accent6>
      <a:hlink>
        <a:srgbClr val="0563C1"/>
      </a:hlink>
      <a:folHlink>
        <a:srgbClr val="954F72"/>
      </a:folHlink>
    </a:clrScheme>
    <a:fontScheme name="Custom 15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 年的 Pantone 颜色</Template>
  <TotalTime>0</TotalTime>
  <Words>1899</Words>
  <Application>WPS 演示</Application>
  <PresentationFormat>宽屏</PresentationFormat>
  <Paragraphs>147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8" baseType="lpstr">
      <vt:lpstr>Arial</vt:lpstr>
      <vt:lpstr>宋体</vt:lpstr>
      <vt:lpstr>Wingdings</vt:lpstr>
      <vt:lpstr>Microsoft YaHei UI</vt:lpstr>
      <vt:lpstr>Times New Roman</vt:lpstr>
      <vt:lpstr>DeepSeek-CJK-patch</vt:lpstr>
      <vt:lpstr>AMGDT</vt:lpstr>
      <vt:lpstr>微软雅黑</vt:lpstr>
      <vt:lpstr>Segoe UI</vt:lpstr>
      <vt:lpstr>Arial Unicode MS</vt:lpstr>
      <vt:lpstr>Microsoft JhengHei</vt:lpstr>
      <vt:lpstr>微软雅黑 Light</vt:lpstr>
      <vt:lpstr>方正舒体</vt:lpstr>
      <vt:lpstr>华文细黑</vt:lpstr>
      <vt:lpstr>华文仿宋</vt:lpstr>
      <vt:lpstr>平衡之道</vt:lpstr>
      <vt:lpstr>源泉</vt:lpstr>
      <vt:lpstr>节目的明星</vt:lpstr>
      <vt:lpstr>开心</vt:lpstr>
      <vt:lpstr>PowerPoint 演示文稿</vt:lpstr>
      <vt:lpstr>Background</vt:lpstr>
      <vt:lpstr>overview </vt:lpstr>
      <vt:lpstr>Reduction in crime rates</vt:lpstr>
      <vt:lpstr>Reduction in crime rates</vt:lpstr>
      <vt:lpstr>源泉</vt:lpstr>
      <vt:lpstr>源泉 </vt:lpstr>
      <vt:lpstr>节目的明星</vt:lpstr>
      <vt:lpstr>节目的明星</vt:lpstr>
      <vt:lpstr>源泉 </vt:lpstr>
      <vt:lpstr>Reduction in crime rates</vt:lpstr>
      <vt:lpstr>Black market persistence</vt:lpstr>
      <vt:lpstr>Black market persistence</vt:lpstr>
      <vt:lpstr>Crime Rate debate</vt:lpstr>
      <vt:lpstr>开心</vt:lpstr>
      <vt:lpstr>在 PowerPoint 演示文稿中使用这些颜色</vt:lpstr>
      <vt:lpstr>Counter agrument </vt:lpstr>
      <vt:lpstr>节目的明星</vt:lpstr>
      <vt:lpstr>节目的明星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旭磊 刘</dc:creator>
  <cp:lastModifiedBy>Chopin</cp:lastModifiedBy>
  <cp:revision>4</cp:revision>
  <dcterms:created xsi:type="dcterms:W3CDTF">2025-04-04T05:58:00Z</dcterms:created>
  <dcterms:modified xsi:type="dcterms:W3CDTF">2025-04-06T03:48:10Z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570F36D8985041C69AC06C3C220B60B1_12</vt:lpwstr>
  </property>
  <property fmtid="{D5CDD505-2E9C-101B-9397-08002B2CF9AE}" pid="3" name="KSOProductBuildVer">
    <vt:lpwstr>2052-12.1.0.20305</vt:lpwstr>
  </property>
</Properties>
</file>